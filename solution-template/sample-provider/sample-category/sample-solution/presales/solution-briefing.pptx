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Presentation Layer:</a:t>
            </a:r>
            <a:r>
              <a:t> Modern web and mobile interfaces with responsive design and real-time updates</a:t>
            </a:r>
          </a:p>
          <a:p>
            <a:pPr lvl="1"/>
            <a:r>
              <a:rPr b="1"/>
              <a:t>Application Layer:</a:t>
            </a:r>
            <a:r>
              <a:t> API services handling business logic, authentication, and data orchestration</a:t>
            </a:r>
          </a:p>
          <a:p>
            <a:pPr lvl="1"/>
            <a:r>
              <a:rPr b="1"/>
              <a:t>Data Layer:</a:t>
            </a:r>
            <a:r>
              <a:t> 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73933"/>
            <a:ext cx="4337050" cy="24395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*(Months 1-2)*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</a:t>
            </a:r>
            <a:r>
              <a:t> *(Months 3-4)*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</a:t>
            </a:r>
            <a:r>
              <a:t> *(Months 5-6)*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Leader</a:t>
            </a:r>
          </a:p>
          <a:p>
            <a:pPr lvl="1"/>
            <a:r>
              <a:rPr b="1"/>
              <a:t>Client:</a:t>
            </a:r>
            <a:r>
              <a:t> Fortune 500 Manufacturing Company with 15,000+ employees across 30 countries</a:t>
            </a:r>
          </a:p>
          <a:p>
            <a:pPr lvl="1"/>
            <a:r>
              <a:rPr b="1"/>
              <a:t>Challenge:</a:t>
            </a:r>
            <a:r>
              <a:t> Legacy systems causing 40% operational inefficiency, $12M annual waste from manual processes, and inability to scale for market expansion</a:t>
            </a:r>
          </a:p>
          <a:p>
            <a:pPr lvl="1"/>
            <a:r>
              <a:rPr b="1"/>
              <a:t>Solution:</a:t>
            </a:r>
            <a:r>
              <a:t> Deployed cloud-native platform with automated workflows, real-time analytics, and integrated supply chain visibility across all manufacturing sites</a:t>
            </a:r>
          </a:p>
          <a:p>
            <a:pPr lvl="1"/>
            <a:r>
              <a:rPr b="1"/>
              <a:t>Results:</a:t>
            </a:r>
            <a:r>
              <a:t> 45% reduction in operational costs ($5.4M annual savings), 60% faster order-to-delivery cycle, 99.7% system uptime, full ROI achieved in 14 months</a:t>
            </a:r>
          </a:p>
          <a:p>
            <a:pPr lvl="1"/>
            <a:r>
              <a:rPr b="1"/>
              <a:t>Testimonial:</a:t>
            </a:r>
            <a:r>
              <a:t> "This transformation exceeded our expectations. We've not only modernized our operations but created a competitive advantage that positions us for the next decade of growth. The implementation was seamless and the results were measurable from day one." — </a:t>
            </a:r>
            <a:r>
              <a:rPr b="1"/>
              <a:t>Michael Chen, Chief Operations Officer</a:t>
            </a:r>
            <a:r>
              <a:t>, Global Manufacturing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technology solutions</a:t>
            </a:r>
          </a:p>
          <a:p>
            <a:pPr lvl="1"/>
            <a:r>
              <a:t>200+ successful implementations for Fortune 500 companies</a:t>
            </a:r>
          </a:p>
          <a:p>
            <a:pPr lvl="1"/>
            <a:r>
              <a:t>Premier partnerships with AWS, Azure, Google Cloud</a:t>
            </a:r>
          </a:p>
          <a:p>
            <a:pPr lvl="1"/>
            <a:r>
              <a:t>Certified solution architects with 10+ years expertise</a:t>
            </a:r>
          </a:p>
          <a:p>
            <a:pPr lvl="1"/>
            <a:r>
              <a:t>24/7 support with 99.5% SLA guarantee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accelerators fast-track your deployment</a:t>
            </a:r>
          </a:p>
          <a:p>
            <a:pPr lvl="1"/>
            <a:r>
              <a:t>Direct vendor escalation and early-access programs</a:t>
            </a:r>
          </a:p>
          <a:p>
            <a:pPr lvl="1"/>
            <a:r>
              <a:t>Comprehensive skills transfer for team self-sufficiency</a:t>
            </a:r>
          </a:p>
          <a:p>
            <a:pPr lvl="1"/>
            <a:r>
              <a:t>Best practices from 200+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1045311"/>
                <a:gridCol w="2003514"/>
                <a:gridCol w="1132421"/>
                <a:gridCol w="871093"/>
                <a:gridCol w="871093"/>
                <a:gridCol w="104531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$12,225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$11,235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$12,225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$12,225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$35,685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$64,300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$22,950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$84,175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($5,990)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$78,185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$19,875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$19,875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$117,935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[Specific decision needed by when]</a:t>
            </a:r>
          </a:p>
          <a:p>
            <a:pPr/>
            <a:r>
              <a:rPr b="1"/>
              <a:t>Kickoff:</a:t>
            </a:r>
            <a:r>
              <a:t> [Target start date]</a:t>
            </a:r>
          </a:p>
          <a:p>
            <a:pPr/>
            <a:r>
              <a:rPr b="1"/>
              <a:t>Team Formation:</a:t>
            </a:r>
            <a:r>
              <a:t> [Key team members required]</a:t>
            </a:r>
          </a:p>
          <a:p>
            <a:pPr/>
            <a:r>
              <a:rPr b="1"/>
              <a:t>Week 1:</a:t>
            </a:r>
            <a:r>
              <a:t> Contract finalization and legal review</a:t>
            </a:r>
          </a:p>
          <a:p>
            <a:pPr/>
            <a:r>
              <a:rPr b="1"/>
              <a:t>Week 2:</a:t>
            </a:r>
            <a:r>
              <a:t> Project initiation &amp; planning kickoff</a:t>
            </a:r>
          </a:p>
          <a:p>
            <a:pPr/>
            <a:r>
              <a:rPr b="1"/>
              <a:t>Week 3:</a:t>
            </a:r>
            <a:r>
              <a:t> Environment setup and access provisioning</a:t>
            </a:r>
          </a:p>
          <a:p>
            <a:pPr/>
            <a:r>
              <a:rPr b="1"/>
              <a:t>Week 4:</a:t>
            </a:r>
            <a:r>
              <a:t> Initial implementation begins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