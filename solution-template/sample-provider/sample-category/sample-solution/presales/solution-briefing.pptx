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5"/>
    <p:sldId id="257" r:id="rId4"/>
    <p:sldId id="258" r:id="rId3"/>
    <p:sldId id="259" r:id="rId2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787400"/>
            <a:ext cx="8548687" cy="3568700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747713"/>
            <a:ext cx="4462463" cy="36798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747713"/>
            <a:ext cx="4110037" cy="36798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Key Points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FAEFB5-8B48-8F55-D6C9-5B1A508AD28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57175" y="698500"/>
            <a:ext cx="8710613" cy="3765550"/>
          </a:xfrm>
          <a:prstGeom prst="rect">
            <a:avLst/>
          </a:prstGeom>
        </p:spPr>
        <p:txBody>
          <a:bodyPr/>
          <a:lstStyle>
            <a:lvl1pPr>
              <a:defRPr sz="220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800"/>
            <a:ext cx="4337050" cy="3741738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1"/>
            <a:ext cx="4449763" cy="3741738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4194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4910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5856" b="585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Test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10, 2025</a:t>
            </a:r>
          </a:p>
        </p:txBody>
      </p:sp>
      <p:pic>
        <p:nvPicPr>
          <p:cNvPr id="7" name="Picture 6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Accelerate digital transformation and modernize legacy systems to unlock new revenue streams</a:t>
            </a:r>
          </a:p>
          <a:p>
            <a:pPr lvl="1"/>
            <a:r>
              <a:t>Gain competitive advantage through data-driven insights and faster time-to-market</a:t>
            </a:r>
          </a:p>
          <a:p>
            <a:pPr lvl="1"/>
            <a:r>
              <a:t>Enable scalability and innovation while reducing operational costs by 30-40%</a:t>
            </a:r>
          </a:p>
          <a:p>
            <a:pPr/>
            <a:r>
              <a:rPr b="1"/>
              <a:t>Success Criteria</a:t>
            </a:r>
          </a:p>
          <a:p>
            <a:pPr lvl="1"/>
            <a:r>
              <a:t>Achieve measurable ROI within 12 months with quantified business value metrics</a:t>
            </a:r>
          </a:p>
          <a:p>
            <a:pPr lvl="1"/>
            <a:r>
              <a:t>Complete deployment across all business units with 95% user adoption rate</a:t>
            </a:r>
          </a:p>
          <a:p>
            <a:pPr lvl="1"/>
            <a:r>
              <a:t>Establish foundation for continuous innovation and future capability expansion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494" b="6494"/>
          <a:stretch>
            <a:fillRect/>
          </a:stretch>
        </p:blipFill>
        <p:spPr/>
      </p:pic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Presentation Layer:</a:t>
            </a:r>
            <a:r>
              <a:t> Modern web and mobile interfaces with responsive design and real-time updates</a:t>
            </a:r>
          </a:p>
          <a:p>
            <a:pPr lvl="1"/>
            <a:r>
              <a:rPr b="1"/>
              <a:t>Application Layer:</a:t>
            </a:r>
            <a:r>
              <a:t> API services handling business logic, authentication, and data orchestration</a:t>
            </a:r>
          </a:p>
          <a:p>
            <a:pPr lvl="1"/>
            <a:r>
              <a:rPr b="1"/>
              <a:t>Data Layer:</a:t>
            </a:r>
            <a:r>
              <a:t> Scalable database infrastructure with caching, backup, and disaster recovery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Cloud Platform: AWS, Azure, or GCP</a:t>
            </a:r>
          </a:p>
          <a:p>
            <a:pPr lvl="1"/>
            <a:r>
              <a:t>Containerization: Docker with Kubernetes</a:t>
            </a:r>
          </a:p>
          <a:p>
            <a:pPr lvl="1"/>
            <a:r>
              <a:t>API Framework: REST/GraphQL APIs</a:t>
            </a:r>
          </a:p>
          <a:p>
            <a:pPr lvl="1"/>
            <a:r>
              <a:t>Monitoring: Logging and observability</a:t>
            </a:r>
          </a:p>
        </p:txBody>
      </p:sp>
      <p:pic>
        <p:nvPicPr>
          <p:cNvPr id="6" name="Picture 5" descr="architecture-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2488" y="1336874"/>
            <a:ext cx="4337050" cy="243959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Why This Solution?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6314" b="631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[Key milestone 1]</a:t>
            </a:r>
          </a:p>
          <a:p>
            <a:pPr/>
            <a:r>
              <a:t>[Key milestone 2]</a:t>
            </a:r>
          </a:p>
          <a:p>
            <a:pPr/>
            <a:r>
              <a:t>Dedicated project team with executive sponsorship</a:t>
            </a:r>
          </a:p>
          <a:p>
            <a:pPr/>
            <a:r>
              <a:t>Structured change management and training</a:t>
            </a:r>
          </a:p>
          <a:p>
            <a:pPr/>
            <a:r>
              <a:t>Continuous monitoring and optimization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Timeline &amp; Milestones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[Early benefit 1] - Month 2</a:t>
            </a:r>
          </a:p>
          <a:p>
            <a:pPr/>
            <a:r>
              <a:t>[Early benefit 2] - Month 3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762" b="6762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2"/>
          <a:srcRect t="6404" b="6404"/>
          <a:stretch>
            <a:fillRect/>
          </a:stretch>
        </p:blipFill>
        <p:spPr/>
      </p:pic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[Years] years of experience in [domain]</a:t>
            </a:r>
          </a:p>
          <a:p>
            <a:pPr/>
            <a:r>
              <a:t>[Number] successful implementations</a:t>
            </a:r>
          </a:p>
          <a:p>
            <a:pPr/>
            <a:r>
              <a:t>[Certification/partnership level with key vendors]</a:t>
            </a:r>
          </a:p>
          <a:p>
            <a:pPr/>
            <a:r>
              <a:t>End-to-end implementation services</a:t>
            </a:r>
          </a:p>
          <a:p>
            <a:pPr/>
            <a:r>
              <a:t>24/7 support post-launch</a:t>
            </a:r>
          </a:p>
          <a:p>
            <a:pPr/>
            <a:r>
              <a:t>Ongoing optimization and innovation roadmap</a:t>
            </a:r>
          </a:p>
          <a:p>
            <a:pPr/>
            <a:r>
              <a:t>[Recognition 1]</a:t>
            </a:r>
          </a:p>
          <a:p>
            <a:pPr/>
            <a:r>
              <a:t>[Recognition 2]</a:t>
            </a:r>
          </a:p>
          <a:p>
            <a:pPr/>
            <a:r>
              <a:t>Solution architects with [domain] expertise</a:t>
            </a:r>
          </a:p>
          <a:p>
            <a:pPr/>
            <a:r>
              <a:t>Certified implementation specialists</a:t>
            </a:r>
          </a:p>
          <a:p>
            <a:pPr/>
            <a:r>
              <a:t>Dedicated account and support management</a:t>
            </a:r>
          </a:p>
        </p:txBody>
      </p:sp>
      <p:pic>
        <p:nvPicPr>
          <p:cNvPr id="5" name="Picture 4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pic>
        <p:nvPicPr>
          <p:cNvPr id="3" name="Picture Placeholder 2" descr="consulting_company_logo.png"/>
          <p:cNvPicPr>
            <a:picLocks noGrp="1" noChangeAspect="1"/>
          </p:cNvPicPr>
          <p:nvPr>
            <p:ph type="pic" idx="14" sz="quarter"/>
          </p:nvPr>
        </p:nvPicPr>
        <p:blipFill>
          <a:blip r:embed="rId2"/>
          <a:srcRect t="5949" b="5949"/>
          <a:stretch>
            <a:fillRect/>
          </a:stretch>
        </p:blipFill>
        <p:spPr/>
      </p:pic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Placeholder 1" descr="client_logo.png"/>
          <p:cNvPicPr>
            <a:picLocks noGrp="1" noChangeAspect="1"/>
          </p:cNvPicPr>
          <p:nvPr>
            <p:ph type="pic" idx="10" sz="quarter"/>
          </p:nvPr>
        </p:nvPicPr>
        <p:blipFill>
          <a:blip r:embed="rId2"/>
          <a:srcRect t="433" b="433"/>
          <a:stretch>
            <a:fillRect/>
          </a:stretch>
        </p:blipFill>
        <p:spPr/>
      </p:pic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 &amp; Next Steps</a:t>
            </a:r>
          </a:p>
        </p:txBody>
      </p:sp>
      <p:pic>
        <p:nvPicPr>
          <p:cNvPr id="4" name="Picture Placeholder 3" descr="consulting_company_logo.png"/>
          <p:cNvPicPr>
            <a:picLocks noGrp="1" noChangeAspect="1"/>
          </p:cNvPicPr>
          <p:nvPr>
            <p:ph type="pic" idx="13" sz="quarter"/>
          </p:nvPr>
        </p:nvPicPr>
        <p:blipFill>
          <a:blip r:embed="rId3"/>
          <a:srcRect t="7166" b="7166"/>
          <a:stretch>
            <a:fillRect/>
          </a:stretch>
        </p:blipFill>
        <p:spPr/>
      </p:pic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Decision: [Specific decision needed by when]</a:t>
            </a:r>
          </a:p>
          <a:p>
            <a:pPr/>
            <a:r>
              <a:t>Kickoff: [Target start date]</a:t>
            </a:r>
          </a:p>
          <a:p>
            <a:pPr/>
            <a:r>
              <a:t>Team Formation: [Key team members required]</a:t>
            </a:r>
          </a:p>
          <a:p>
            <a:pPr/>
            <a:r>
              <a:t>Week 1: Contract finalization</a:t>
            </a:r>
          </a:p>
          <a:p>
            <a:pPr/>
            <a:r>
              <a:t>Week 2: Project initiation &amp; planning</a:t>
            </a:r>
          </a:p>
          <a:p>
            <a:pPr/>
            <a:r>
              <a:t>Week 3: Environment setup</a:t>
            </a:r>
          </a:p>
          <a:p>
            <a:pPr/>
            <a:r>
              <a:t>Week 4: Initial implementation begins</a:t>
            </a:r>
          </a:p>
          <a:p>
            <a:pPr/>
            <a:r>
              <a:rPr b="1"/>
              <a:t>Project Lead:</a:t>
            </a:r>
            <a:r>
              <a:t> [Name, Title] | [Email] | [Phone]</a:t>
            </a:r>
          </a:p>
          <a:p>
            <a:pPr/>
            <a:r>
              <a:rPr b="1"/>
              <a:t>Technical Lead:</a:t>
            </a:r>
            <a:r>
              <a:t> [Name, Title] | [Email] | [Phone]</a:t>
            </a:r>
          </a:p>
          <a:p>
            <a:pPr/>
            <a:r>
              <a:rPr b="1"/>
              <a:t>Account Manager:</a:t>
            </a:r>
            <a:r>
              <a:t> [Name, Title] | [Email] | [Phone]</a:t>
            </a:r>
          </a:p>
        </p:txBody>
      </p:sp>
      <p:pic>
        <p:nvPicPr>
          <p:cNvPr id="6" name="Picture 5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220</TotalTime>
  <Words>16</Words>
  <Application>Microsoft Office PowerPoint</Application>
  <PresentationFormat>On-screen Show (16:9)</PresentationFormat>
  <Paragraphs>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6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65</cp:revision>
  <dcterms:created xsi:type="dcterms:W3CDTF">2025-11-01T21:16:10Z</dcterms:created>
  <dcterms:modified xsi:type="dcterms:W3CDTF">2025-11-10T21:55:14Z</dcterms:modified>
</cp:coreProperties>
</file>