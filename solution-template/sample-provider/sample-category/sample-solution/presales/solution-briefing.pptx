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273A1B3-664A-DD19-7B35-B4E3982A40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6863" y="685597"/>
            <a:ext cx="8509304" cy="377118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This is a single-column content slide. Use this layout for focused content with paragraphs or key messages.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Left Column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Right Column Text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09,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Challenge, Impact &amp; Success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1400">
                <a:solidFill>
                  <a:srgbClr val="000000"/>
                </a:solidFill>
              </a:rPr>
              <a:t>[Primary business driver or problem to solve]</a:t>
            </a:r>
          </a:p>
          <a:p>
            <a:pPr/>
            <a:r>
              <a:rPr sz="1400">
                <a:solidFill>
                  <a:srgbClr val="000000"/>
                </a:solidFill>
              </a:rPr>
              <a:t>[Underlying need or strategic opportunity]</a:t>
            </a:r>
          </a:p>
          <a:p>
            <a:pPr/>
            <a:r>
              <a:rPr sz="1400">
                <a:solidFill>
                  <a:srgbClr val="000000"/>
                </a:solidFill>
              </a:rPr>
              <a:t>[Challenge 1]: [Specific pain point with cost/operational impact]</a:t>
            </a:r>
          </a:p>
          <a:p>
            <a:pPr/>
            <a:r>
              <a:rPr sz="1400">
                <a:solidFill>
                  <a:srgbClr val="000000"/>
                </a:solidFill>
              </a:rPr>
              <a:t>[Challenge 2]: [Specific pain point with cost/operational impact]</a:t>
            </a:r>
          </a:p>
          <a:p>
            <a:pPr/>
            <a:r>
              <a:rPr sz="1400">
                <a:solidFill>
                  <a:srgbClr val="000000"/>
                </a:solidFill>
              </a:rPr>
              <a:t>[Challenge 3]: [Specific pain point with cost/operational impact]</a:t>
            </a:r>
          </a:p>
          <a:p>
            <a:pPr/>
            <a:r>
              <a:rPr sz="1400">
                <a:solidFill>
                  <a:srgbClr val="000000"/>
                </a:solidFill>
              </a:rPr>
              <a:t>Operational: [Impact on efficiency, productivity, cost reduction]</a:t>
            </a:r>
          </a:p>
          <a:p>
            <a:pPr/>
            <a:r>
              <a:rPr sz="1400">
                <a:solidFill>
                  <a:srgbClr val="000000"/>
                </a:solidFill>
              </a:rPr>
              <a:t>Competitive: [Strategic advantage and market positioning benefit]</a:t>
            </a:r>
          </a:p>
          <a:p>
            <a:pPr/>
            <a:r>
              <a:rPr sz="1400">
                <a:solidFill>
                  <a:srgbClr val="000000"/>
                </a:solidFill>
              </a:rPr>
              <a:t>Innovation: [Future capabilities and scalability enabled]</a:t>
            </a:r>
          </a:p>
          <a:p>
            <a:pPr/>
            <a:r>
              <a:rPr sz="1400">
                <a:solidFill>
                  <a:srgbClr val="000000"/>
                </a:solidFill>
              </a:rPr>
              <a:t>Risk: [Risk exposure reduction and compliance improvement]</a:t>
            </a:r>
          </a:p>
          <a:p>
            <a:pPr/>
            <a:r>
              <a:rPr sz="1400">
                <a:solidFill>
                  <a:srgbClr val="000000"/>
                </a:solidFill>
              </a:rPr>
              <a:t>[Measurable Outcome 1]: [How we'll measure success]</a:t>
            </a:r>
          </a:p>
          <a:p>
            <a:pPr/>
            <a:r>
              <a:rPr sz="1400">
                <a:solidFill>
                  <a:srgbClr val="000000"/>
                </a:solidFill>
              </a:rPr>
              <a:t>[Measurable Outcome 2]: [Timeline expectations]</a:t>
            </a:r>
          </a:p>
          <a:p>
            <a:pPr/>
            <a:r>
              <a:rPr sz="1400">
                <a:solidFill>
                  <a:srgbClr val="000000"/>
                </a:solidFill>
              </a:rPr>
              <a:t>[Strategic Outcome]: [Long-term value realization]</a:t>
            </a:r>
          </a:p>
          <a:p>
            <a:pPr/>
            <a:r>
              <a:rPr sz="1400">
                <a:solidFill>
                  <a:srgbClr val="000000"/>
                </a:solidFill>
              </a:rPr>
              <a:t>*"The cost of inaction: $[Amount] in lost value over [timeframe]"*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1400">
                <a:solidFill>
                  <a:srgbClr val="000000"/>
                </a:solidFill>
              </a:rPr>
              <a:t>[Component 1]: [Brief description]</a:t>
            </a:r>
          </a:p>
          <a:p>
            <a:pPr/>
            <a:r>
              <a:rPr sz="1400">
                <a:solidFill>
                  <a:srgbClr val="000000"/>
                </a:solidFill>
              </a:rPr>
              <a:t>[Component 2]: [Brief description]</a:t>
            </a:r>
          </a:p>
          <a:p>
            <a:pPr/>
            <a:r>
              <a:rPr sz="1400">
                <a:solidFill>
                  <a:srgbClr val="000000"/>
                </a:solidFill>
              </a:rPr>
              <a:t>[Component 3]: [Brief description]</a:t>
            </a:r>
          </a:p>
          <a:p>
            <a:pPr/>
            <a:r>
              <a:rPr sz="1400">
                <a:solidFill>
                  <a:srgbClr val="000000"/>
                </a:solidFill>
              </a:rPr>
              <a:t>[Platform/Technology 1]</a:t>
            </a:r>
          </a:p>
          <a:p>
            <a:pPr/>
            <a:r>
              <a:rPr sz="1400">
                <a:solidFill>
                  <a:srgbClr val="000000"/>
                </a:solidFill>
              </a:rPr>
              <a:t>[Platform/Technology 2]</a:t>
            </a:r>
          </a:p>
          <a:p>
            <a:pPr/>
            <a:r>
              <a:rPr sz="1400">
                <a:solidFill>
                  <a:srgbClr val="000000"/>
                </a:solidFill>
              </a:rPr>
              <a:t>[Architecture Diagram Placeholder]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pic>
        <p:nvPicPr>
          <p:cNvPr id="5" name="Picture Placeholder 4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6" name="Picture Placeholder 5"/>
          <p:cNvSpPr>
            <a:spLocks noGrp="1"/>
          </p:cNvSpPr>
          <p:nvPr>
            <p:ph type="pic" idx="15" sz="quarter"/>
          </p:nvPr>
        </p:nvSpPr>
        <p:spPr/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Why This Solution?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1400">
                <a:solidFill>
                  <a:srgbClr val="000000"/>
                </a:solidFill>
              </a:rPr>
              <a:t>[Relevant case study/metric]</a:t>
            </a:r>
          </a:p>
          <a:p>
            <a:pPr/>
            <a:r>
              <a:rPr sz="1400">
                <a:solidFill>
                  <a:srgbClr val="000000"/>
                </a:solidFill>
              </a:rPr>
              <a:t>[Industry recognition/certification]</a:t>
            </a:r>
          </a:p>
          <a:p>
            <a:pPr/>
            <a:r>
              <a:rPr sz="1400">
                <a:solidFill>
                  <a:srgbClr val="000000"/>
                </a:solidFill>
              </a:rPr>
              <a:t>[Unique capability 1]</a:t>
            </a:r>
          </a:p>
          <a:p>
            <a:pPr/>
            <a:r>
              <a:rPr sz="1400">
                <a:solidFill>
                  <a:srgbClr val="000000"/>
                </a:solidFill>
              </a:rPr>
              <a:t>[Unique capability 2]</a:t>
            </a:r>
          </a:p>
          <a:p>
            <a:pPr/>
            <a:r>
              <a:rPr sz="1400">
                <a:solidFill>
                  <a:srgbClr val="000000"/>
                </a:solidFill>
              </a:rPr>
              <a:t>Traditional Approach: [Current limitation 1]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400">
                <a:solidFill>
                  <a:srgbClr val="000000"/>
                </a:solidFill>
              </a:rPr>
              <a:t>  • Our Solution: ✅ [Our advantage 1]</a:t>
            </a:r>
          </a:p>
          <a:p>
            <a:pPr/>
            <a:r>
              <a:rPr sz="1400">
                <a:solidFill>
                  <a:srgbClr val="000000"/>
                </a:solidFill>
              </a:rPr>
              <a:t>Traditional Approach: [Current limitation 2]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Our Solution: ✅ [Our advantage 2]</a:t>
            </a:r>
          </a:p>
          <a:p>
            <a:pPr/>
            <a:r>
              <a:rPr sz="1400">
                <a:solidFill>
                  <a:srgbClr val="000000"/>
                </a:solidFill>
              </a:rPr>
              <a:t>Traditional Approach: [Current limitation 3]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Our Solution: ✅ [Our advantage 3]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pic>
        <p:nvPicPr>
          <p:cNvPr id="6" name="Picture Placeholder 5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8" name="Picture 7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1400">
                <a:solidFill>
                  <a:srgbClr val="000000"/>
                </a:solidFill>
              </a:rPr>
              <a:t>[Key milestone 1]</a:t>
            </a:r>
          </a:p>
          <a:p>
            <a:pPr/>
            <a:r>
              <a:rPr sz="1400">
                <a:solidFill>
                  <a:srgbClr val="000000"/>
                </a:solidFill>
              </a:rPr>
              <a:t>[Key milestone 2]</a:t>
            </a:r>
          </a:p>
          <a:p>
            <a:pPr/>
            <a:r>
              <a:rPr sz="1400">
                <a:solidFill>
                  <a:srgbClr val="000000"/>
                </a:solidFill>
              </a:rPr>
              <a:t>[Key milestone 1]</a:t>
            </a:r>
          </a:p>
          <a:p>
            <a:pPr/>
            <a:r>
              <a:rPr sz="1400">
                <a:solidFill>
                  <a:srgbClr val="000000"/>
                </a:solidFill>
              </a:rPr>
              <a:t>[Key milestone 2]</a:t>
            </a:r>
          </a:p>
          <a:p>
            <a:pPr/>
            <a:r>
              <a:rPr sz="1400">
                <a:solidFill>
                  <a:srgbClr val="000000"/>
                </a:solidFill>
              </a:rPr>
              <a:t>[Key milestone 1]</a:t>
            </a:r>
          </a:p>
          <a:p>
            <a:pPr/>
            <a:r>
              <a:rPr sz="1400">
                <a:solidFill>
                  <a:srgbClr val="000000"/>
                </a:solidFill>
              </a:rPr>
              <a:t>[Key milestone 2]</a:t>
            </a:r>
          </a:p>
          <a:p>
            <a:pPr/>
            <a:r>
              <a:rPr sz="1400">
                <a:solidFill>
                  <a:srgbClr val="000000"/>
                </a:solidFill>
              </a:rPr>
              <a:t>Dedicated project team with executive sponsorship</a:t>
            </a:r>
          </a:p>
          <a:p>
            <a:pPr/>
            <a:r>
              <a:rPr sz="1400">
                <a:solidFill>
                  <a:srgbClr val="000000"/>
                </a:solidFill>
              </a:rPr>
              <a:t>Structured change management and training</a:t>
            </a:r>
          </a:p>
          <a:p>
            <a:pPr/>
            <a:r>
              <a:rPr sz="1400">
                <a:solidFill>
                  <a:srgbClr val="000000"/>
                </a:solidFill>
              </a:rPr>
              <a:t>Continuous monitoring and optimization</a:t>
            </a:r>
          </a:p>
          <a:p>
            <a:pPr/>
            <a:r>
              <a:rPr sz="1400">
                <a:solidFill>
                  <a:srgbClr val="000000"/>
                </a:solidFill>
              </a:rPr>
              <a:t>Risk: [Risk 1]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Mitigation Strategy: [Mitigation approach]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Probability: [Low/Med/High]</a:t>
            </a:r>
          </a:p>
          <a:p>
            <a:pPr/>
            <a:r>
              <a:rPr sz="1400">
                <a:solidFill>
                  <a:srgbClr val="000000"/>
                </a:solidFill>
              </a:rPr>
              <a:t>Risk: [Risk 2]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Mitigation Strategy: [Mitigation approach]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Probability: [Low/Med/High]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Timeline &amp; Milestones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1400">
                <a:solidFill>
                  <a:srgbClr val="000000"/>
                </a:solidFill>
              </a:rPr>
              <a:t>[Early benefit 1] - Month 2</a:t>
            </a:r>
          </a:p>
          <a:p>
            <a:pPr/>
            <a:r>
              <a:rPr sz="1400">
                <a:solidFill>
                  <a:srgbClr val="000000"/>
                </a:solidFill>
              </a:rPr>
              <a:t>[Early benefit 2] - Month 3</a:t>
            </a:r>
          </a:p>
          <a:p>
            <a:pPr/>
            <a:r>
              <a:rPr sz="1400">
                <a:solidFill>
                  <a:srgbClr val="000000"/>
                </a:solidFill>
              </a:rPr>
              <a:t>Phase: Foundation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Timeline: Months 1-2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Key Deliverables: [Milestone 1], [Milestone 2]</a:t>
            </a:r>
          </a:p>
          <a:p>
            <a:pPr/>
            <a:r>
              <a:rPr sz="1400">
                <a:solidFill>
                  <a:srgbClr val="000000"/>
                </a:solidFill>
              </a:rPr>
              <a:t>Phase: Implementation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Timeline: Months 3-4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Key Deliverables: [Milestone 3], [Milestone 4]</a:t>
            </a:r>
          </a:p>
          <a:p>
            <a:pPr/>
            <a:r>
              <a:rPr sz="1400">
                <a:solidFill>
                  <a:srgbClr val="000000"/>
                </a:solidFill>
              </a:rPr>
              <a:t>Phase: Optimization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Timeline: Months 5-6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Key Deliverables: [Milestone 5], [Milestone 6]</a:t>
            </a:r>
          </a:p>
          <a:p>
            <a:pPr/>
            <a:r>
              <a:rPr sz="1400">
                <a:solidFill>
                  <a:srgbClr val="000000"/>
                </a:solidFill>
              </a:rPr>
              <a:t>Phase: Value Realization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Timeline: Month 7+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Key Deliverables: Full production deployment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1400">
                <a:solidFill>
                  <a:srgbClr val="000000"/>
                </a:solidFill>
              </a:rPr>
              <a:t>Aspect: Client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Details: [Similar Company Name]</a:t>
            </a:r>
          </a:p>
          <a:p>
            <a:pPr/>
            <a:r>
              <a:rPr sz="1400">
                <a:solidFill>
                  <a:srgbClr val="000000"/>
                </a:solidFill>
              </a:rPr>
              <a:t>Aspect: Challenge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Details: [Similar challenge they faced]</a:t>
            </a:r>
          </a:p>
          <a:p>
            <a:pPr/>
            <a:r>
              <a:rPr sz="1400">
                <a:solidFill>
                  <a:srgbClr val="000000"/>
                </a:solidFill>
              </a:rPr>
              <a:t>Aspect: Solution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Details: [Solution we implemented]</a:t>
            </a:r>
          </a:p>
          <a:p>
            <a:pPr/>
            <a:r>
              <a:rPr sz="1400">
                <a:solidFill>
                  <a:srgbClr val="000000"/>
                </a:solidFill>
              </a:rPr>
              <a:t>Aspect: Results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Details: [Quantified results - ROI, efficiency gains, cost savings]</a:t>
            </a:r>
          </a:p>
          <a:p>
            <a:pPr/>
            <a:r>
              <a:rPr sz="1400">
                <a:solidFill>
                  <a:srgbClr val="000000"/>
                </a:solidFill>
              </a:rPr>
              <a:t>Aspect: Industry Recognition</a:t>
            </a:r>
          </a:p>
          <a:p>
            <a:pPr/>
            <a:r>
              <a:rPr sz="1400">
                <a:solidFill>
                  <a:srgbClr val="000000"/>
                </a:solidFill>
              </a:rPr>
              <a:t>  • Details: [Award/recognition 1], [Award/recognition 2]</a:t>
            </a:r>
          </a:p>
          <a:p>
            <a:pPr/>
            <a:r>
              <a:rPr sz="1400">
                <a:solidFill>
                  <a:srgbClr val="000000"/>
                </a:solidFill>
              </a:rPr>
              <a:t>*"[Relevant quote from similar client showcasing business impact]"*</a:t>
            </a:r>
          </a:p>
          <a:p>
            <a:pPr/>
            <a:r>
              <a:rPr sz="1400">
                <a:solidFill>
                  <a:srgbClr val="000000"/>
                </a:solidFill>
              </a:rPr>
              <a:t>— [Client Name, Title, Company]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28</cp:revision>
  <dcterms:created xsi:type="dcterms:W3CDTF">2025-11-01T21:16:10Z</dcterms:created>
  <dcterms:modified xsi:type="dcterms:W3CDTF">2025-11-03T05:12:47Z</dcterms:modified>
</cp:coreProperties>
</file>