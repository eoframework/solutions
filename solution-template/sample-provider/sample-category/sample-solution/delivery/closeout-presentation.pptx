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time, on budget</a:t>
            </a:r>
          </a:p>
          <a:p>
            <a:r>
              <a:t>- Highlight zero critical defects as quality achievement</a:t>
            </a:r>
          </a:p>
          <a:p>
            <a:r>
              <a:t>- Business impact already exceeding projections</a:t>
            </a:r>
          </a:p>
          <a:p>
            <a:r>
              <a:t>- Set positive tone for remainder of presentation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the architecture from bottom to top</a:t>
            </a:r>
          </a:p>
          <a:p>
            <a:r>
              <a:t>- Highlight key design decisions and why they matter</a:t>
            </a:r>
          </a:p>
          <a:p>
            <a:r>
              <a:t>- Emphasize scalability and reliability built into the foundation</a:t>
            </a:r>
          </a:p>
          <a:p>
            <a:r>
              <a:t>- This architecture supports future growth and enhancements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</a:t>
            </a:r>
          </a:p>
          <a:p>
            <a:r>
              <a:t>- Infrastructure as Code enables repeatable deployments</a:t>
            </a:r>
          </a:p>
          <a:p>
            <a:r>
              <a:t>- Documentation supports knowledge transfer and ongoing operations</a:t>
            </a:r>
          </a:p>
          <a:p>
            <a:r>
              <a:t>- Training materials ensure team self-sufficiency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embedded throughout the delivery process</a:t>
            </a:r>
          </a:p>
          <a:p>
            <a:r>
              <a:t>- Zero critical defects demonstrates rigorous testing approach</a:t>
            </a:r>
          </a:p>
          <a:p>
            <a:r>
              <a:t>- Performance exceeds SLA requirements with headroom for growth</a:t>
            </a:r>
          </a:p>
          <a:p>
            <a:r>
              <a:t>- These metrics establish baseline for ongoing monitoring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Benefits are already being realized post go-live</a:t>
            </a:r>
          </a:p>
          <a:p>
            <a:r>
              <a:t>- Time savings translate directly to cost reduction</a:t>
            </a:r>
          </a:p>
          <a:p>
            <a:r>
              <a:t>- Customer satisfaction improvement validates business case</a:t>
            </a:r>
          </a:p>
          <a:p>
            <a:r>
              <a:t>- Full ROI expected 2 months ahead of schedule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Lessons learned documented for future projects</a:t>
            </a:r>
          </a:p>
          <a:p>
            <a:r>
              <a:t>- Challenges were addressed proactively without impacting timeline</a:t>
            </a:r>
          </a:p>
          <a:p>
            <a:r>
              <a:t>- Recommendations provide roadmap for continued value realization</a:t>
            </a:r>
          </a:p>
          <a:p>
            <a:r>
              <a:t>- Phase 2 planning can begin immediately if desired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structure ensures no disruption to operations</a:t>
            </a:r>
          </a:p>
          <a:p>
            <a:r>
              <a:t>- Hypercare provides safety net during initial production period</a:t>
            </a:r>
          </a:p>
          <a:p>
            <a:r>
              <a:t>- Clear escalation path for any issues that arise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success was a team effort</a:t>
            </a:r>
          </a:p>
          <a:p>
            <a:r>
              <a:t>- Keep next steps concrete and actionable</a:t>
            </a:r>
          </a:p>
          <a:p>
            <a:r>
              <a:t>- Emphasize continued engagement and support</a:t>
            </a:r>
          </a:p>
          <a:p>
            <a:r>
              <a:t>- Offer to schedule Phase 2 planning session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detail slides ready for deep-dive questions</a:t>
            </a:r>
          </a:p>
          <a:p>
            <a:r>
              <a:t>- Offer to schedule follow-up sessions for specific topics</a:t>
            </a:r>
          </a:p>
          <a:p>
            <a:r>
              <a:t>- End on positive note - celebrate the successful delivery together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18 weeks (on schedule)</a:t>
            </a:r>
          </a:p>
          <a:p>
            <a:pPr/>
            <a:r>
              <a:rPr b="1"/>
              <a:t>Budget:</a:t>
            </a:r>
            <a:r>
              <a:t> $850,000 (on budget, no overruns)</a:t>
            </a:r>
          </a:p>
          <a:p>
            <a:pPr/>
            <a:r>
              <a:rPr b="1"/>
              <a:t>Go-Live Date:</a:t>
            </a:r>
            <a:r>
              <a:t> [DATE] (as planned)</a:t>
            </a:r>
          </a:p>
          <a:p>
            <a:pPr/>
            <a:r>
              <a:rPr b="1"/>
              <a:t>Key Achievement:</a:t>
            </a:r>
            <a:r>
              <a:t> Zero critical defects at production launch</a:t>
            </a:r>
          </a:p>
          <a:p>
            <a:pPr/>
            <a:r>
              <a:rPr b="1"/>
              <a:t>Business Impact:</a:t>
            </a:r>
            <a:r>
              <a:t> 45 hours/week time savings, 92% error reduction</a:t>
            </a:r>
          </a:p>
          <a:p>
            <a:pPr/>
            <a:r>
              <a:rPr b="1"/>
              <a:t>ROI Status:</a:t>
            </a:r>
            <a:r>
              <a:t> On track for 10-month payback (vs. 12-month target)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  <p:txBody>
          <a:bodyPr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 decisions, data models, integration specifications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execution results, quality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cloud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Configuration management and application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Runbook &amp; SOPs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Operational procedures for day-2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guides, admin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Coverage: 94% (target: 80%)</a:t>
            </a:r>
          </a:p>
          <a:p>
            <a:pPr lvl="1"/>
            <a:r>
              <a:t>Test Cases Executed: 847/847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Defect Escape Rate: 0.2% (target: &lt;2%)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99.97% (target: 99.9%)</a:t>
            </a:r>
          </a:p>
          <a:p>
            <a:pPr lvl="1"/>
            <a:r>
              <a:t>Average Response Time: 1.2s (target: &lt;2s)</a:t>
            </a:r>
          </a:p>
          <a:p>
            <a:pPr lvl="1"/>
            <a:r>
              <a:t>Peak Load Handling: 12,000 users (target: 10,000)</a:t>
            </a:r>
          </a:p>
          <a:p>
            <a:pPr lvl="1"/>
            <a:r>
              <a:t>Database Query Performance: 45ms avg (target: &lt;100ms)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Weekly 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FTEs reallocated to strategic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Customer complaints down 85%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Same-day resolution now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ROI in 10 months vs 12-month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adoption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4.0/5.0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4.6/5.0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NPS increased by 25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stakeholder engagement ensured alignment throughout</a:t>
            </a:r>
          </a:p>
          <a:p>
            <a:pPr lvl="1"/>
            <a:r>
              <a:t>Agile methodology enabled rapid iteration and feedback</a:t>
            </a:r>
          </a:p>
          <a:p>
            <a:pPr lvl="1"/>
            <a:r>
              <a:t>Infrastructure as Code reduced deployment errors to zero</a:t>
            </a:r>
          </a:p>
          <a:p>
            <a:pPr lvl="1"/>
            <a:r>
              <a:t>Comprehensive testing prevented production incidents</a:t>
            </a:r>
          </a:p>
          <a:p>
            <a:pPr lvl="1"/>
            <a:r>
              <a:t>Weekly demos kept business engaged and informed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 migration: Resolved with phased approach</a:t>
            </a:r>
          </a:p>
          <a:p>
            <a:pPr lvl="1"/>
            <a:r>
              <a:t>User adoption concerns: Enhanced training program</a:t>
            </a:r>
          </a:p>
          <a:p>
            <a:pPr lvl="1"/>
            <a:r>
              <a:t>Integration complexity: Middleware abstraction layer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Invest in Phase 2 enhancements based on user feedback</a:t>
            </a:r>
          </a:p>
          <a:p>
            <a:pPr lvl="1"/>
            <a:r>
              <a:t>Implement AI/ML features for predictive analytics</a:t>
            </a:r>
          </a:p>
          <a:p>
            <a:pPr lvl="1"/>
            <a:r>
              <a:t>Expand mobile capabilities for field workforce</a:t>
            </a:r>
          </a:p>
          <a:p>
            <a:pPr lvl="1"/>
            <a:r>
              <a:t>Establish quarterly business reviews to track ROI</a:t>
            </a:r>
          </a:p>
          <a:p>
            <a:pPr lvl="1"/>
            <a:r>
              <a:t>Consider disaster recovery site in secondary region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Hypercare Period (Days 1-30)</a:t>
            </a:r>
          </a:p>
          <a:p>
            <a:pPr lvl="1"/>
            <a:r>
              <a:t>Dedicated support team available 24/7</a:t>
            </a:r>
          </a:p>
          <a:p>
            <a:pPr lvl="1"/>
            <a:r>
              <a:t>Daily standup calls at 9:00 AM for issue triage</a:t>
            </a:r>
          </a:p>
          <a:p>
            <a:pPr lvl="1"/>
            <a:r>
              <a:t>4-hour response SLA for critical issues</a:t>
            </a:r>
          </a:p>
          <a:p>
            <a:pPr lvl="1"/>
            <a:r>
              <a:t>Direct escalation path to implementation team</a:t>
            </a:r>
          </a:p>
          <a:p>
            <a:pPr/>
            <a:r>
              <a:rPr b="1"/>
              <a:t>Transition Period (Days 31-60)</a:t>
            </a:r>
          </a:p>
          <a:p>
            <a:pPr lvl="1"/>
            <a:r>
              <a:t>Shift to standard support model with 8-hour response SLA</a:t>
            </a:r>
          </a:p>
          <a:p>
            <a:pPr lvl="1"/>
            <a:r>
              <a:t>Weekly check-in calls transitioning to bi-weekly</a:t>
            </a:r>
          </a:p>
          <a:p>
            <a:pPr lvl="1"/>
            <a:r>
              <a:t>Knowledge transfer sessions for operations team</a:t>
            </a:r>
          </a:p>
          <a:p>
            <a:pPr/>
            <a:r>
              <a:rPr b="1"/>
              <a:t>Steady State (Day 61+)</a:t>
            </a:r>
          </a:p>
          <a:p>
            <a:pPr lvl="1"/>
            <a:r>
              <a:t>Monthly performance review meetings</a:t>
            </a:r>
          </a:p>
          <a:p>
            <a:pPr lvl="1"/>
            <a:r>
              <a:t>Quarterly business reviews for benefits tracking</a:t>
            </a:r>
          </a:p>
          <a:p>
            <a:pPr lvl="1"/>
            <a:r>
              <a:t>Enhancement backlog with 15 prioritized features</a:t>
            </a:r>
          </a:p>
          <a:p>
            <a:pPr/>
            <a:r>
              <a:rPr b="1"/>
              <a:t>Escalation Contacts</a:t>
            </a:r>
          </a:p>
          <a:p>
            <a:pPr lvl="1"/>
            <a:r>
              <a:t>L1 Support: support@company.com | 555-HELP</a:t>
            </a:r>
          </a:p>
          <a:p>
            <a:pPr lvl="1"/>
            <a:r>
              <a:t>L2 Technical: techsupport@company.com</a:t>
            </a:r>
          </a:p>
          <a:p>
            <a:pPr lvl="1"/>
            <a:r>
              <a:t>Account Manager: am@company.com | 555-123-4567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unwavering support and decisive leadership</a:t>
            </a:r>
          </a:p>
          <a:p>
            <a:pPr/>
            <a:r>
              <a:t>Business stakeholders for clear requirements and timely feedback</a:t>
            </a:r>
          </a:p>
          <a:p>
            <a:pPr/>
            <a:r>
              <a:t>Technical teams for exceptional delivery quality and problem-solving</a:t>
            </a:r>
          </a:p>
          <a:p>
            <a:pPr/>
            <a:r>
              <a:t>Change management team for driving 95% user adoption</a:t>
            </a:r>
          </a:p>
          <a:p>
            <a:pPr/>
            <a:r>
              <a:rPr b="1"/>
              <a:t>This Week:</a:t>
            </a:r>
            <a:r>
              <a:t> Final documentation handover and knowledge transfer completion</a:t>
            </a:r>
          </a:p>
          <a:p>
            <a:pPr/>
            <a:r>
              <a:rPr b="1"/>
              <a:t>Next 30 Days:</a:t>
            </a:r>
            <a:r>
              <a:t> Hypercare support with daily standups</a:t>
            </a:r>
          </a:p>
          <a:p>
            <a:pPr/>
            <a:r>
              <a:rPr b="1"/>
              <a:t>Next Quarter:</a:t>
            </a:r>
            <a:r>
              <a:t> Phase 2 planning workshop and enhancement prioritization</a:t>
            </a:r>
          </a:p>
          <a:p>
            <a:pPr/>
            <a:r>
              <a:rPr b="1"/>
              <a:t>Ongoing:</a:t>
            </a:r>
            <a:r>
              <a:t> Monthly performance reviews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