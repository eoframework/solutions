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with confidence - project delivered on time, on budget</a:t>
            </a:r>
          </a:p>
          <a:p>
            <a:r>
              <a:t>- Highlight zero critical defects as quality achievement</a:t>
            </a:r>
          </a:p>
          <a:p>
            <a:r>
              <a:t>- Business impact already exceeding projections</a:t>
            </a:r>
          </a:p>
          <a:p>
            <a:r>
              <a:t>- Set positive tone for remainder of presentation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Walk through the architecture from bottom to top</a:t>
            </a:r>
          </a:p>
          <a:p>
            <a:r>
              <a:t>- Highlight key design decisions and why they matter</a:t>
            </a:r>
          </a:p>
          <a:p>
            <a:r>
              <a:t>- Emphasize scalability and reliability built into the foundation</a:t>
            </a:r>
          </a:p>
          <a:p>
            <a:r>
              <a:t>- This architecture supports future growth and enhancements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All deliverables have been reviewed and accepted</a:t>
            </a:r>
          </a:p>
          <a:p>
            <a:r>
              <a:t>- Infrastructure as Code enables repeatable deployments</a:t>
            </a:r>
          </a:p>
          <a:p>
            <a:r>
              <a:t>- Documentation supports knowledge transfer and ongoing operations</a:t>
            </a:r>
          </a:p>
          <a:p>
            <a:r>
              <a:t>- Training materials ensure team self-sufficiency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Quality was embedded throughout the delivery process</a:t>
            </a:r>
          </a:p>
          <a:p>
            <a:r>
              <a:t>- Zero critical defects demonstrates rigorous testing approach</a:t>
            </a:r>
          </a:p>
          <a:p>
            <a:r>
              <a:t>- Performance exceeds SLA requirements with headroom for growth</a:t>
            </a:r>
          </a:p>
          <a:p>
            <a:r>
              <a:t>- These metrics establish baseline for ongoing monitoring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Benefits are already being realized post go-live</a:t>
            </a:r>
          </a:p>
          <a:p>
            <a:r>
              <a:t>- Time savings translate directly to cost reduction</a:t>
            </a:r>
          </a:p>
          <a:p>
            <a:r>
              <a:t>- Customer satisfaction improvement validates business case</a:t>
            </a:r>
          </a:p>
          <a:p>
            <a:r>
              <a:t>- Full ROI expected 2 months ahead of schedule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Lessons learned documented for future projects</a:t>
            </a:r>
          </a:p>
          <a:p>
            <a:r>
              <a:t>- Challenges were addressed proactively without impacting timeline</a:t>
            </a:r>
          </a:p>
          <a:p>
            <a:r>
              <a:t>- Recommendations provide roadmap for continued value realization</a:t>
            </a:r>
          </a:p>
          <a:p>
            <a:r>
              <a:t>- Phase 2 planning can begin immediately if desired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Support structure ensures no disruption to operations</a:t>
            </a:r>
          </a:p>
          <a:p>
            <a:r>
              <a:t>- Hypercare provides safety net during initial production period</a:t>
            </a:r>
          </a:p>
          <a:p>
            <a:r>
              <a:t>- Clear escalation path for any issues that arise</a:t>
            </a:r>
          </a:p>
          <a:p>
            <a:r>
              <a:t>- Enhancement backlog ready for prioritization discussions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Acknowledge the partnership - success was a team effort</a:t>
            </a:r>
          </a:p>
          <a:p>
            <a:r>
              <a:t>- Keep next steps concrete and actionable</a:t>
            </a:r>
          </a:p>
          <a:p>
            <a:r>
              <a:t>- Emphasize continued engagement and support</a:t>
            </a:r>
          </a:p>
          <a:p>
            <a:r>
              <a:t>- Offer to schedule Phase 2 planning session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the floor for questions and discussion</a:t>
            </a:r>
          </a:p>
          <a:p>
            <a:r>
              <a:t>- Have backup detail slides ready for deep-dive questions</a:t>
            </a:r>
          </a:p>
          <a:p>
            <a:r>
              <a:t>- Offer to schedule follow-up sessions for specific topics</a:t>
            </a:r>
          </a:p>
          <a:p>
            <a:r>
              <a:t>- End on positive note - celebrate the successful delivery together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Sample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26,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18 weeks, on schedule</a:t>
            </a:r>
          </a:p>
          <a:p>
            <a:pPr/>
            <a:r>
              <a:rPr b="1"/>
              <a:t>Budget:</a:t>
            </a:r>
            <a:r>
              <a:t> $850K delivered on budget</a:t>
            </a:r>
          </a:p>
          <a:p>
            <a:pPr/>
            <a:r>
              <a:rPr b="1"/>
              <a:t>Go-Live Date:</a:t>
            </a:r>
            <a:r>
              <a:t> [DATE] as planned</a:t>
            </a:r>
          </a:p>
          <a:p>
            <a:pPr/>
            <a:r>
              <a:rPr b="1"/>
              <a:t>Quality:</a:t>
            </a:r>
            <a:r>
              <a:t> Zero critical defects at launch</a:t>
            </a:r>
          </a:p>
          <a:p>
            <a:pPr/>
            <a:r>
              <a:rPr b="1"/>
              <a:t>Time Savings:</a:t>
            </a:r>
            <a:r>
              <a:t> 45 hours/week automated</a:t>
            </a:r>
          </a:p>
          <a:p>
            <a:pPr/>
            <a:r>
              <a:rPr b="1"/>
              <a:t>Error Reduction:</a:t>
            </a:r>
            <a:r>
              <a:t> 92% fewer manual errors</a:t>
            </a:r>
          </a:p>
          <a:p>
            <a:pPr/>
            <a:r>
              <a:rPr b="1"/>
              <a:t>ROI Status:</a:t>
            </a:r>
            <a:r>
              <a:t> 10-month payback on track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Infrastructure</a:t>
            </a:r>
          </a:p>
          <a:p>
            <a:pPr lvl="1"/>
            <a:r>
              <a:t>Multi-AZ cloud deployment</a:t>
            </a:r>
          </a:p>
          <a:p>
            <a:pPr lvl="1"/>
            <a:r>
              <a:t>Auto-scaling enabled</a:t>
            </a:r>
          </a:p>
          <a:p>
            <a:pPr lvl="1"/>
            <a:r>
              <a:t>Managed database services</a:t>
            </a:r>
          </a:p>
          <a:p>
            <a:pPr/>
            <a:r>
              <a:rPr b="1"/>
              <a:t>Application</a:t>
            </a:r>
          </a:p>
          <a:p>
            <a:pPr lvl="1"/>
            <a:r>
              <a:t>Kubernetes orchestration</a:t>
            </a:r>
          </a:p>
          <a:p>
            <a:pPr lvl="1"/>
            <a:r>
              <a:t>REST API architecture</a:t>
            </a:r>
          </a:p>
          <a:p>
            <a:pPr lvl="1"/>
            <a:r>
              <a:t>OAuth 2.0 security</a:t>
            </a:r>
          </a:p>
          <a:p>
            <a:pPr/>
            <a:r>
              <a:rPr b="1"/>
              <a:t>Integration</a:t>
            </a:r>
          </a:p>
          <a:p>
            <a:pPr lvl="1"/>
            <a:r>
              <a:t>5 enterprise systems connected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Detailed Design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Architecture decisions, data models, integration specifications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procedures with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resource allocation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 cases, execution results, quality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 Modules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as Code for all cloud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`/delivery/scripts/terraform/`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Ansible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Configuration management and application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`/delivery/scripts/ansible/`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Runbook &amp; SOPs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Operational procedures for day-2 operations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`/delivery/runbook.docx`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guides, admin guides, video tutorials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Testing Metrics</a:t>
            </a:r>
          </a:p>
          <a:p>
            <a:pPr lvl="1"/>
            <a:r>
              <a:t>Test Coverage: 94% (target: 80%)</a:t>
            </a:r>
          </a:p>
          <a:p>
            <a:pPr lvl="1"/>
            <a:r>
              <a:t>Test Cases Executed: 847/847 (100%)</a:t>
            </a:r>
          </a:p>
          <a:p>
            <a:pPr lvl="1"/>
            <a:r>
              <a:t>Critical Defects at Go-Live: 0</a:t>
            </a:r>
          </a:p>
          <a:p>
            <a:pPr lvl="1"/>
            <a:r>
              <a:t>Defect Escape Rate: 0.2% (target: &lt;2%)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Performance Metrics</a:t>
            </a:r>
          </a:p>
          <a:p>
            <a:pPr lvl="1"/>
            <a:r>
              <a:t>System Uptime: 99.97% (target: 99.9%)</a:t>
            </a:r>
          </a:p>
          <a:p>
            <a:pPr lvl="1"/>
            <a:r>
              <a:t>Average Response Time: 1.2s (target: &lt;2s)</a:t>
            </a:r>
          </a:p>
          <a:p>
            <a:pPr lvl="1"/>
            <a:r>
              <a:t>Peak Load Handling: 12,000 users (target: 10,000)</a:t>
            </a:r>
          </a:p>
          <a:p>
            <a:pPr lvl="1"/>
            <a:r>
              <a:t>Database Query Performance: 45ms avg (target: &lt;100ms)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Weekly Time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45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FTEs reallocated to strategic 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Error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92%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Customer complaints down 85%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Same-day resolution now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Annual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$400K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$450K projected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ROI in 10 months vs 12-month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Exceeded adoption targets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Customer Satisfaction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4.0/5.0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4.6/5.0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NPS increased by 25 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Early stakeholder engagement</a:t>
            </a:r>
          </a:p>
          <a:p>
            <a:pPr lvl="1"/>
            <a:r>
              <a:t>Agile methodology with rapid iteration</a:t>
            </a:r>
          </a:p>
          <a:p>
            <a:pPr lvl="1"/>
            <a:r>
              <a:t>Infrastructure as Code deployment</a:t>
            </a:r>
          </a:p>
          <a:p>
            <a:pPr lvl="1"/>
            <a:r>
              <a:t>Comprehensive testing approach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data: phased migration</a:t>
            </a:r>
          </a:p>
          <a:p>
            <a:pPr lvl="1"/>
            <a:r>
              <a:t>Adoption: enhanced training program</a:t>
            </a:r>
          </a:p>
          <a:p>
            <a:pPr lvl="1"/>
            <a:r>
              <a:t>Integration: middleware abstraction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Invest in Phase 2 enhancements</a:t>
            </a:r>
          </a:p>
          <a:p>
            <a:pPr lvl="1"/>
            <a:r>
              <a:t>Implement AI/ML analytics</a:t>
            </a:r>
          </a:p>
          <a:p>
            <a:pPr lvl="1"/>
            <a:r>
              <a:t>Expand mobile capabilities</a:t>
            </a:r>
          </a:p>
          <a:p>
            <a:pPr lvl="1"/>
            <a:r>
              <a:t>Establish quarterly reviews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(Days 1-30)</a:t>
            </a:r>
          </a:p>
          <a:p>
            <a:pPr lvl="1"/>
            <a:r>
              <a:t>Dedicated 24/7 support team</a:t>
            </a:r>
          </a:p>
          <a:p>
            <a:pPr lvl="1"/>
            <a:r>
              <a:t>Daily standup calls</a:t>
            </a:r>
          </a:p>
          <a:p>
            <a:pPr lvl="1"/>
            <a:r>
              <a:t>4-hour critical response SLA</a:t>
            </a:r>
          </a:p>
          <a:p>
            <a:pPr/>
            <a:r>
              <a:rPr b="1"/>
              <a:t>Transition (Days 31-60)</a:t>
            </a:r>
          </a:p>
          <a:p>
            <a:pPr lvl="1"/>
            <a:r>
              <a:t>Standard 8-hour response SLA</a:t>
            </a:r>
          </a:p>
          <a:p>
            <a:pPr lvl="1"/>
            <a:r>
              <a:t>Weekly to bi-weekly calls</a:t>
            </a:r>
          </a:p>
          <a:p>
            <a:pPr lvl="1"/>
            <a:r>
              <a:t>Knowledge transfer sessions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Steady State (Day 61+)</a:t>
            </a:r>
          </a:p>
          <a:p>
            <a:pPr lvl="1"/>
            <a:r>
              <a:t>Monthly performance reviews</a:t>
            </a:r>
          </a:p>
          <a:p>
            <a:pPr lvl="1"/>
            <a:r>
              <a:t>Quarterly business reviews</a:t>
            </a:r>
          </a:p>
          <a:p>
            <a:pPr lvl="1"/>
            <a:r>
              <a:t>Enhancement prioritization</a:t>
            </a:r>
          </a:p>
          <a:p>
            <a:pPr/>
            <a:r>
              <a:rPr b="1"/>
              <a:t>Escalation Contacts</a:t>
            </a:r>
          </a:p>
          <a:p>
            <a:pPr lvl="1"/>
            <a:r>
              <a:t>L1: support@company.com</a:t>
            </a:r>
          </a:p>
          <a:p>
            <a:pPr lvl="1"/>
            <a:r>
              <a:t>L2: techsupport@company.com</a:t>
            </a:r>
          </a:p>
          <a:p>
            <a:pPr lvl="1"/>
            <a:r>
              <a:t>Account: am@company.com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Executive sponsors for unwavering support and decisive leadership</a:t>
            </a:r>
          </a:p>
          <a:p>
            <a:pPr/>
            <a:r>
              <a:t>Business stakeholders for clear requirements and timely feedback</a:t>
            </a:r>
          </a:p>
          <a:p>
            <a:pPr/>
            <a:r>
              <a:t>Technical teams for exceptional delivery quality</a:t>
            </a:r>
          </a:p>
          <a:p>
            <a:pPr/>
            <a:r>
              <a:t>Change management team for driving 95% user adoption</a:t>
            </a:r>
          </a:p>
          <a:p>
            <a:pPr/>
            <a:r>
              <a:rPr b="1"/>
              <a:t>This Week:</a:t>
            </a:r>
            <a:r>
              <a:t> Final documentation handover</a:t>
            </a:r>
          </a:p>
          <a:p>
            <a:pPr/>
            <a:r>
              <a:rPr b="1"/>
              <a:t>Next 30 Days:</a:t>
            </a:r>
            <a:r>
              <a:t> Hypercare support with daily standups</a:t>
            </a:r>
          </a:p>
          <a:p>
            <a:pPr/>
            <a:r>
              <a:rPr b="1"/>
              <a:t>Next Quarter:</a:t>
            </a:r>
            <a:r>
              <a:t> Phase 2 planning workshop</a:t>
            </a:r>
          </a:p>
          <a:p>
            <a:pPr/>
            <a:r>
              <a:rPr b="1"/>
              <a:t>Ongoing:</a:t>
            </a:r>
            <a:r>
              <a:t> Monthly and quarterly business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