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Presentation will take approximately 45 minutes</a:t>
            </a:r>
          </a:p>
          <a:p>
            <a:r>
              <a:t>- Time for Q&amp;A at the end</a:t>
            </a:r>
          </a:p>
          <a:p>
            <a:r>
              <a:t>- Detailed documentation available for reference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Remind stakeholders of the original business case</a:t>
            </a:r>
          </a:p>
          <a:p>
            <a:r>
              <a:t>- Project duration: 18 weeks (on schedule)</a:t>
            </a:r>
          </a:p>
          <a:p>
            <a:r>
              <a:t>- Total investment: $850,000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*Key Highlights:*</a:t>
            </a:r>
          </a:p>
          <a:p>
            <a:r>
              <a:t>- All deliverables completed on time or early</a:t>
            </a:r>
          </a:p>
          <a:p>
            <a:r>
              <a:t>- Integration work completed a week ahead of schedule</a:t>
            </a:r>
          </a:p>
          <a:p>
            <a:r>
              <a:t>- No scope changes required during implementation</a:t>
            </a:r>
          </a:p>
          <a:p>
            <a:r>
              <a:t>- Smooth go-live with zero production incidents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Quality was a key focus throughout the project</a:t>
            </a:r>
          </a:p>
          <a:p>
            <a:r>
              <a:t>- Zero critical defects is testament to rigorous testing</a:t>
            </a:r>
          </a:p>
          <a:p>
            <a:r>
              <a:t>- Performance metrics exceed all SLA requirements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*Key Metrics:*</a:t>
            </a:r>
          </a:p>
          <a:p>
            <a:r>
              <a:t>- Benefits already exceeding projections</a:t>
            </a:r>
          </a:p>
          <a:p>
            <a:r>
              <a:t>- Full ROI expected within 10 months vs. 12-month target</a:t>
            </a:r>
          </a:p>
          <a:p>
            <a:r>
              <a:t>- User satisfaction scores averaging 4.6/5.0</a:t>
            </a:r>
          </a:p>
          <a:p>
            <a:r>
              <a:t>- 95% user adoption rate achieved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Key learning: invest more in change management upfront</a:t>
            </a:r>
          </a:p>
          <a:p>
            <a:r>
              <a:t>- User training was expanded based on early feedback</a:t>
            </a:r>
          </a:p>
          <a:p>
            <a:r>
              <a:t>- These insights captured in lessons learned document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Support team prepared to handle ongoing needs</a:t>
            </a:r>
          </a:p>
          <a:p>
            <a:r>
              <a:t>- Phase 2 planning can begin in 30 days</a:t>
            </a:r>
          </a:p>
          <a:p>
            <a:r>
              <a:t>- Enhancement backlog available for roadmap discussions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Take time to recognize each team member's contribution</a:t>
            </a:r>
          </a:p>
          <a:p>
            <a:r>
              <a:t>- This project succeeded because of exceptional teamwork</a:t>
            </a:r>
          </a:p>
          <a:p>
            <a:r>
              <a:t>- Client team members were instrumental to success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The transition plan ensures continuity of support</a:t>
            </a:r>
          </a:p>
          <a:p>
            <a:r>
              <a:t>- First quarterly review will measure sustained benefits</a:t>
            </a:r>
          </a:p>
          <a:p>
            <a:r>
              <a:t>- Enhancement backlog ready for prioritization discussions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*Talking Points:*</a:t>
            </a:r>
          </a:p>
          <a:p>
            <a:r>
              <a:t>- Open the floor for questions</a:t>
            </a:r>
          </a:p>
          <a:p>
            <a:r>
              <a:t>- Have backup slides ready for detailed technical questions</a:t>
            </a:r>
          </a:p>
          <a:p>
            <a:r>
              <a:t>- Offer to schedule follow-up sessions for deep dives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Project Closeout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Sample Solution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Project Manager | November 26,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Agenda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Summary</a:t>
            </a:r>
          </a:p>
          <a:p>
            <a:pPr lvl="1"/>
            <a:r>
              <a:t>Overview of original objectives and success criteria</a:t>
            </a:r>
          </a:p>
          <a:p>
            <a:pPr/>
            <a:r>
              <a:rPr b="1"/>
              <a:t>Delivery Achievements</a:t>
            </a:r>
          </a:p>
          <a:p>
            <a:pPr lvl="1"/>
            <a:r>
              <a:t>What was delivered and key milestones reached</a:t>
            </a:r>
          </a:p>
          <a:p>
            <a:pPr/>
            <a:r>
              <a:rPr b="1"/>
              <a:t>Benefits Realized</a:t>
            </a:r>
          </a:p>
          <a:p>
            <a:pPr lvl="1"/>
            <a:r>
              <a:t>Quantified business value and ROI metrics</a:t>
            </a:r>
          </a:p>
          <a:p>
            <a:pPr/>
            <a:r>
              <a:rPr b="1"/>
              <a:t>Lessons Learned</a:t>
            </a:r>
          </a:p>
          <a:p>
            <a:pPr lvl="1"/>
            <a:r>
              <a:t>What went well and challenges overcome</a:t>
            </a:r>
          </a:p>
          <a:p>
            <a:pPr/>
            <a:r>
              <a:rPr b="1"/>
              <a:t>Recommendations</a:t>
            </a:r>
          </a:p>
          <a:p>
            <a:pPr lvl="1"/>
            <a:r>
              <a:t>Next steps and ongoing support plan</a:t>
            </a:r>
          </a:p>
          <a:p>
            <a:pPr/>
            <a:r>
              <a:rPr b="1"/>
              <a:t>Team Recognition</a:t>
            </a:r>
          </a:p>
          <a:p>
            <a:pPr lvl="1"/>
            <a:r>
              <a:t>Acknowledgment of key contributors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Project 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Business Problem</a:t>
            </a:r>
          </a:p>
          <a:p>
            <a:pPr lvl="1"/>
            <a:r>
              <a:t>Manual processes causing 40+ hours/week overhead</a:t>
            </a:r>
          </a:p>
          <a:p>
            <a:pPr lvl="1"/>
            <a:r>
              <a:t>Error rates impacting customer satisfaction</a:t>
            </a:r>
          </a:p>
          <a:p>
            <a:pPr lvl="1"/>
            <a:r>
              <a:t>Inability to scale with business growth</a:t>
            </a:r>
          </a:p>
          <a:p>
            <a:pPr/>
            <a:r>
              <a:rPr b="1"/>
              <a:t>Objectives</a:t>
            </a:r>
          </a:p>
          <a:p>
            <a:pPr lvl="1"/>
            <a:r>
              <a:t>Automate workflows, reduce processing time by 75%</a:t>
            </a:r>
          </a:p>
          <a:p>
            <a:pPr lvl="1"/>
            <a:r>
              <a:t>Achieve 95%+ accuracy in automated processes</a:t>
            </a:r>
          </a:p>
          <a:p>
            <a:pPr lvl="1"/>
            <a:r>
              <a:t>Enable scalability without adding headcount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ROI achieved within 12 months</a:t>
            </a:r>
          </a:p>
          <a:p>
            <a:pPr lvl="1"/>
            <a:r>
              <a:t>User adoption rate of 90%+</a:t>
            </a:r>
          </a:p>
          <a:p>
            <a:pPr lvl="1"/>
            <a:r>
              <a:t>Zero critical defects at go-live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Delivery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1742186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Planned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Delivered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Core Platform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 (early)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Training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Go-Live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 18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Quality Metrics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Test Coverage</a:t>
            </a:r>
          </a:p>
          <a:p>
            <a:pPr lvl="1"/>
            <a:r>
              <a:t>94% code coverage achieved (target: 80%)</a:t>
            </a:r>
          </a:p>
          <a:p>
            <a:pPr/>
            <a:r>
              <a:rPr b="1"/>
              <a:t>Test Execution</a:t>
            </a:r>
          </a:p>
          <a:p>
            <a:pPr lvl="1"/>
            <a:r>
              <a:t>847 of 847 test cases executed (100%)</a:t>
            </a:r>
          </a:p>
          <a:p>
            <a:pPr/>
            <a:r>
              <a:rPr b="1"/>
              <a:t>Defect Performance</a:t>
            </a:r>
          </a:p>
          <a:p>
            <a:pPr lvl="1"/>
            <a:r>
              <a:t>Zero critical defects at go-live</a:t>
            </a:r>
          </a:p>
          <a:p>
            <a:pPr/>
            <a:r>
              <a:rPr b="1"/>
              <a:t>System Uptime</a:t>
            </a:r>
          </a:p>
          <a:p>
            <a:pPr lvl="1"/>
            <a:r>
              <a:t>99.97% availability (target: 99.9%)</a:t>
            </a:r>
          </a:p>
          <a:p>
            <a:pPr/>
            <a:r>
              <a:rPr b="1"/>
              <a:t>Response Time</a:t>
            </a:r>
          </a:p>
          <a:p>
            <a:pPr lvl="1"/>
            <a:r>
              <a:t>1.2 seconds average (target: 2 seconds)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Benefits Realized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13279"/>
                <a:gridCol w="1742186"/>
                <a:gridCol w="2177733"/>
                <a:gridCol w="2177733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Benefit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Target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Achieved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Status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Time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40 hrs/week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45 hrs/week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Error Reduction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80%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92%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Processing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75%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85% faster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Exceeded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Annual Savings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$400K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$450K projected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On Track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Lessons Learned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Went Well</a:t>
            </a:r>
          </a:p>
          <a:p>
            <a:pPr lvl="1"/>
            <a:r>
              <a:t>Early stakeholder engagement drove alignment</a:t>
            </a:r>
          </a:p>
          <a:p>
            <a:pPr lvl="1"/>
            <a:r>
              <a:t>Agile methodology enabled rapid iteration</a:t>
            </a:r>
          </a:p>
          <a:p>
            <a:pPr lvl="1"/>
            <a:r>
              <a:t>Strong vendor partnership accelerated delivery</a:t>
            </a:r>
          </a:p>
          <a:p>
            <a:pPr lvl="1"/>
            <a:r>
              <a:t>Comprehensive testing prevented production issues</a:t>
            </a:r>
          </a:p>
          <a:p>
            <a:pPr/>
            <a:r>
              <a:rPr b="1"/>
              <a:t>Challenges Overcome</a:t>
            </a:r>
          </a:p>
          <a:p>
            <a:pPr lvl="1"/>
            <a:r>
              <a:t>Legacy data migration resolved with phased approach</a:t>
            </a:r>
          </a:p>
          <a:p>
            <a:pPr lvl="1"/>
            <a:r>
              <a:t>User adoption concerns addressed with enhanced training</a:t>
            </a:r>
          </a:p>
          <a:p>
            <a:pPr lvl="1"/>
            <a:r>
              <a:t>Integration complexity solved with middleware solution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Recommendations for Future</a:t>
            </a:r>
          </a:p>
          <a:p>
            <a:pPr lvl="1"/>
            <a:r>
              <a:t>Invest more in change management upfront</a:t>
            </a:r>
          </a:p>
          <a:p>
            <a:pPr lvl="1"/>
            <a:r>
              <a:t>Allocate additional time for data migration</a:t>
            </a:r>
          </a:p>
          <a:p>
            <a:pPr lvl="1"/>
            <a:r>
              <a:t>Include super-users in testing earlier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Recommendations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Immediate (This Month)</a:t>
            </a:r>
          </a:p>
          <a:p>
            <a:pPr lvl="1"/>
            <a:r>
              <a:t>Establish monthly performance review cadence</a:t>
            </a:r>
          </a:p>
          <a:p>
            <a:pPr lvl="1"/>
            <a:r>
              <a:t>Complete operational handover documentation</a:t>
            </a:r>
          </a:p>
          <a:p>
            <a:pPr/>
            <a:r>
              <a:rPr b="1"/>
              <a:t>Short-term (Next Quarter)</a:t>
            </a:r>
          </a:p>
          <a:p>
            <a:pPr lvl="1"/>
            <a:r>
              <a:t>Plan Phase 2 enhancements based on user feedback</a:t>
            </a:r>
          </a:p>
          <a:p>
            <a:pPr lvl="1"/>
            <a:r>
              <a:t>Implement quick-win features from backlog</a:t>
            </a:r>
          </a:p>
          <a:p>
            <a:pPr/>
            <a:r>
              <a:rPr b="1"/>
              <a:t>Long-term (Next Year)</a:t>
            </a:r>
          </a:p>
          <a:p>
            <a:pPr lvl="1"/>
            <a:r>
              <a:t>Evaluate mobile app extension opportunity</a:t>
            </a:r>
          </a:p>
          <a:p>
            <a:pPr lvl="1"/>
            <a:r>
              <a:t>Consider AI/ML enhancements for automation</a:t>
            </a:r>
          </a:p>
          <a:p>
            <a:pPr/>
            <a:r>
              <a:rPr b="1"/>
              <a:t>Operational</a:t>
            </a:r>
          </a:p>
          <a:p>
            <a:pPr lvl="1"/>
            <a:r>
              <a:t>Maintain dedicated support for 90 days (hypercare)</a:t>
            </a:r>
          </a:p>
          <a:p>
            <a:pPr lvl="1"/>
            <a:r>
              <a:t>15 enhancement features prioritized in backlog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Team Recognition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Solution Architect:</a:t>
            </a:r>
            <a:r>
              <a:t> Jane Smith</a:t>
            </a:r>
          </a:p>
          <a:p>
            <a:pPr lvl="1"/>
            <a:r>
              <a:t>Outstanding technical leadership and architecture decisions</a:t>
            </a:r>
          </a:p>
          <a:p>
            <a:pPr/>
            <a:r>
              <a:rPr b="1"/>
              <a:t>Technical Lead:</a:t>
            </a:r>
            <a:r>
              <a:t> John Doe</a:t>
            </a:r>
          </a:p>
          <a:p>
            <a:pPr lvl="1"/>
            <a:r>
              <a:t>Exceptional delivery quality and team mentorship</a:t>
            </a:r>
          </a:p>
          <a:p>
            <a:pPr/>
            <a:r>
              <a:rPr b="1"/>
              <a:t>Business Analyst:</a:t>
            </a:r>
            <a:r>
              <a:t> Sarah Johnson</a:t>
            </a:r>
          </a:p>
          <a:p>
            <a:pPr lvl="1"/>
            <a:r>
              <a:t>Stakeholder alignment and requirements excellence</a:t>
            </a:r>
          </a:p>
          <a:p>
            <a:pPr/>
            <a:r>
              <a:rPr b="1"/>
              <a:t>QA Lead:</a:t>
            </a:r>
            <a:r>
              <a:t> Mike Wilson</a:t>
            </a:r>
          </a:p>
          <a:p>
            <a:pPr lvl="1"/>
            <a:r>
              <a:t>Zero defects achievement through rigorous testing</a:t>
            </a:r>
          </a:p>
          <a:p>
            <a:pPr/>
            <a:r>
              <a:rPr b="1"/>
              <a:t>DevOps Engineer:</a:t>
            </a:r>
            <a:r>
              <a:t> Lisa Chen</a:t>
            </a:r>
          </a:p>
          <a:p>
            <a:pPr lvl="1"/>
            <a:r>
              <a:t>Flawless deployments and infrastructure automation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This Week</a:t>
            </a:r>
          </a:p>
          <a:p>
            <a:pPr lvl="1"/>
            <a:r>
              <a:t>Complete operational handover documentation</a:t>
            </a:r>
          </a:p>
          <a:p>
            <a:pPr lvl="1"/>
            <a:r>
              <a:t>Final knowledge transfer sessions</a:t>
            </a:r>
          </a:p>
          <a:p>
            <a:pPr/>
            <a:r>
              <a:rPr b="1"/>
              <a:t>Next 30 Days</a:t>
            </a:r>
          </a:p>
          <a:p>
            <a:pPr lvl="1"/>
            <a:r>
              <a:t>Hypercare support period with dedicated team</a:t>
            </a:r>
          </a:p>
          <a:p>
            <a:pPr lvl="1"/>
            <a:r>
              <a:t>Daily standup calls for issue resolution</a:t>
            </a:r>
          </a:p>
          <a:p>
            <a:pPr/>
            <a:r>
              <a:rPr b="1"/>
              <a:t>Next 60 Days</a:t>
            </a:r>
          </a:p>
          <a:p>
            <a:pPr lvl="1"/>
            <a:r>
              <a:t>Transition to standard support model</a:t>
            </a:r>
          </a:p>
          <a:p>
            <a:pPr lvl="1"/>
            <a:r>
              <a:t>Monthly performance review meetings</a:t>
            </a:r>
          </a:p>
          <a:p>
            <a:pPr/>
            <a:r>
              <a:rPr b="1"/>
              <a:t>Next 90 Days</a:t>
            </a:r>
          </a:p>
          <a:p>
            <a:pPr lvl="1"/>
            <a:r>
              <a:t>First quarterly business review</a:t>
            </a:r>
          </a:p>
          <a:p>
            <a:pPr lvl="1"/>
            <a:r>
              <a:t>Benefits realization assessment</a:t>
            </a:r>
          </a:p>
          <a:p>
            <a:pPr/>
            <a:r>
              <a:rPr b="1"/>
              <a:t>Ongoing</a:t>
            </a:r>
          </a:p>
          <a:p>
            <a:pPr lvl="1"/>
            <a:r>
              <a:t>Continuous improvement program</a:t>
            </a:r>
          </a:p>
          <a:p>
            <a:pPr lvl="1"/>
            <a:r>
              <a:t>Enhancement roadmap execution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/>
            <a:r>
              <a:rPr sz="1100">
                <a:solidFill>
                  <a:srgbClr val="CC0000"/>
                </a:solidFill>
              </a:rPr>
              <a:t>Sample Solution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