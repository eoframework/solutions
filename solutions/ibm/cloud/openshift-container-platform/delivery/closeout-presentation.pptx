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media/image1.bin" ContentType="image/unknown"/>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9"/>
  </p:notesMasterIdLst>
  <p:sldIdLst>
    <p:sldId id="256" r:id="rId7"/>
    <p:sldId id="257" r:id="rId8"/>
    <p:sldId id="258" r:id="rId6"/>
    <p:sldId id="259" r:id="rId5"/>
    <p:sldId id="260" r:id="rId4"/>
    <p:sldId id="261" r:id="rId3"/>
    <p:sldId id="262" r:id="rId2"/>
    <p:sldId id="263" r:id="rId14"/>
    <p:sldId id="264" r:id="rId15"/>
    <p:sldId id="265" r:id="rId16"/>
  </p:sldIdLst>
  <p:sldSz cx="9144000" cy="5143500" type="screen16x9"/>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A01C02"/>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E3FDE45-AF77-4B5C-9715-49D594BDF05E}" styleName="Light Style 1 - Accent 2">
    <a:wholeTbl>
      <a:tcTxStyle>
        <a:fontRef idx="minor">
          <a:scrgbClr r="0" g="0" b="0"/>
        </a:fontRef>
        <a:schemeClr val="tx1"/>
      </a:tcTxStyle>
      <a:tcStyle>
        <a:tcBdr>
          <a:left>
            <a:ln>
              <a:noFill/>
            </a:ln>
          </a:left>
          <a:right>
            <a:ln>
              <a:noFill/>
            </a:ln>
          </a:right>
          <a:top>
            <a:ln w="12700" cmpd="sng">
              <a:solidFill>
                <a:schemeClr val="accent2"/>
              </a:solidFill>
            </a:ln>
          </a:top>
          <a:bottom>
            <a:ln w="12700" cmpd="sng">
              <a:solidFill>
                <a:schemeClr val="accent2"/>
              </a:solidFill>
            </a:ln>
          </a:bottom>
          <a:insideH>
            <a:ln>
              <a:noFill/>
            </a:ln>
          </a:insideH>
          <a:insideV>
            <a:ln>
              <a:noFill/>
            </a:ln>
          </a:insideV>
        </a:tcBdr>
        <a:fill>
          <a:noFill/>
        </a:fill>
      </a:tcStyle>
    </a:wholeTbl>
    <a:band1H>
      <a:tcStyle>
        <a:tcBdr/>
        <a:fill>
          <a:solidFill>
            <a:schemeClr val="accent2">
              <a:alpha val="20000"/>
            </a:schemeClr>
          </a:solidFill>
        </a:fill>
      </a:tcStyle>
    </a:band1H>
    <a:band2H>
      <a:tcStyle>
        <a:tcBdr/>
      </a:tcStyle>
    </a:band2H>
    <a:band1V>
      <a:tcStyle>
        <a:tcBdr/>
        <a:fill>
          <a:solidFill>
            <a:schemeClr val="accent2">
              <a:alpha val="20000"/>
            </a:schemeClr>
          </a:solidFill>
        </a:fill>
      </a:tcStyle>
    </a:band1V>
    <a:lastCol>
      <a:tcTxStyle b="on"/>
      <a:tcStyle>
        <a:tcBdr/>
      </a:tcStyle>
    </a:lastCol>
    <a:firstCol>
      <a:tcTxStyle b="on"/>
      <a:tcStyle>
        <a:tcBdr/>
      </a:tcStyle>
    </a:firstCol>
    <a:lastRow>
      <a:tcTxStyle b="on"/>
      <a:tcStyle>
        <a:tcBdr>
          <a:top>
            <a:ln w="12700" cmpd="sng">
              <a:solidFill>
                <a:schemeClr val="accent2"/>
              </a:solidFill>
            </a:ln>
          </a:top>
        </a:tcBdr>
        <a:fill>
          <a:noFill/>
        </a:fill>
      </a:tcStyle>
    </a:lastRow>
    <a:firstRow>
      <a:tcTxStyle b="on"/>
      <a:tcStyle>
        <a:tcBdr>
          <a:bottom>
            <a:ln w="12700" cmpd="sng">
              <a:solidFill>
                <a:schemeClr val="accent2"/>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11"/>
    <p:restoredTop sz="94610"/>
  </p:normalViewPr>
  <p:slideViewPr>
    <p:cSldViewPr snapToGrid="0" snapToObjects="1">
      <p:cViewPr varScale="1">
        <p:scale>
          <a:sx n="135" d="100"/>
          <a:sy n="135" d="100"/>
        </p:scale>
        <p:origin x="380" y="308"/>
      </p:cViewPr>
      <p:guideLst/>
    </p:cSldViewPr>
  </p:slideViewPr>
  <p:notesTextViewPr>
    <p:cViewPr>
      <p:scale>
        <a:sx n="1" d="1"/>
        <a:sy n="1" d="1"/>
      </p:scale>
      <p:origin x="0" y="0"/>
    </p:cViewPr>
  </p:notesTextViewPr>
  <p:notesViewPr>
    <p:cSldViewPr snapToGrid="0" snapToObjects="1">
      <p:cViewPr varScale="1">
        <p:scale>
          <a:sx n="83" d="100"/>
          <a:sy n="83" d="100"/>
        </p:scale>
        <p:origin x="3732" y="76"/>
      </p:cViewPr>
      <p:guideLst/>
    </p:cSldViewPr>
  </p:notes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7.xml"/><Relationship Id="rId3" Type="http://schemas.openxmlformats.org/officeDocument/2006/relationships/slide" Target="slides/slide6.xml"/><Relationship Id="rId4" Type="http://schemas.openxmlformats.org/officeDocument/2006/relationships/slide" Target="slides/slide5.xml"/><Relationship Id="rId5" Type="http://schemas.openxmlformats.org/officeDocument/2006/relationships/slide" Target="slides/slide4.xml"/><Relationship Id="rId6" Type="http://schemas.openxmlformats.org/officeDocument/2006/relationships/slide" Target="slides/slide3.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notesMaster" Target="notesMasters/notesMaster1.xml"/><Relationship Id="rId10" Type="http://schemas.openxmlformats.org/officeDocument/2006/relationships/presProps" Target="presProps.xml"/><Relationship Id="rId11" Type="http://schemas.openxmlformats.org/officeDocument/2006/relationships/viewProps" Target="viewProps.xml"/><Relationship Id="rId12" Type="http://schemas.openxmlformats.org/officeDocument/2006/relationships/theme" Target="theme/theme1.xml"/><Relationship Id="rId13" Type="http://schemas.openxmlformats.org/officeDocument/2006/relationships/tableStyles" Target="tableStyles.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71450" y="1143000"/>
            <a:ext cx="5486400" cy="3086100"/>
          </a:xfrm>
          <a:prstGeom prst="rect">
            <a:avLst/>
          </a:prstGeom>
          <a:noFill/>
          <a:ln w="12700">
            <a:solidFill>
              <a:prstClr val="black"/>
            </a:solidFill>
          </a:ln>
        </p:spPr>
      </p:sp>
      <p:sp>
        <p:nvSpPr>
          <p:cNvPr id="3" name="Notes Placeholder 2"/>
          <p:cNvSpPr>
            <a:spLocks noGrp="1"/>
          </p:cNvSpPr>
          <p:nvPr>
            <p:ph type="body" idx="1"/>
          </p:nvPr>
        </p:nvSpPr>
        <p:spPr>
          <a:xfrm>
            <a:off x="514350" y="4400550"/>
            <a:ext cx="4114800" cy="3600450"/>
          </a:xfrm>
          <a:prstGeom prst="rect">
            <a:avLst/>
          </a:prstGeom>
        </p:spPr>
        <p:txBody>
          <a:bodyPr/>
          <a:lstStyle/>
          <a:p>
            <a:endParaRPr lang="en-US"/>
          </a:p>
        </p:txBody>
      </p:sp>
    </p:spTree>
    <p:extLst>
      <p:ext uri="{BB962C8B-B14F-4D97-AF65-F5344CB8AC3E}">
        <p14:creationId xmlns:p14="http://schemas.microsoft.com/office/powerpoint/2010/main" val="29016738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idx="1"/>
          </p:nvPr>
        </p:nvSpPr>
        <p:spPr/>
        <p:txBody>
          <a:bodyPr/>
          <a:lstStyle/>
          <a:p>
            <a:r>
              <a:t>*Opening Statement:*</a:t>
            </a:r>
          </a:p>
          <a:p>
            <a:r>
              <a:t>Good [morning/afternoon]. Today we're celebrating the successful completion of the Red Hat OpenShift Container Platform implementation. This project has transformed [Client Name]'s application deployment from a manual VM-based process into an automated, container-orchestrated platform.</a:t>
            </a:r>
          </a:p>
          <a:p/>
          <a:p>
            <a:r>
              <a:t>*Key Talking Points - Expand on Each Bullet:*</a:t>
            </a:r>
          </a:p>
          <a:p/>
          <a:p>
            <a:r>
              <a:t>**Project Duration - 6 Months (24 Weeks):**</a:t>
            </a:r>
          </a:p>
          <a:p>
            <a:r>
              <a:t>- We executed exactly as planned in the Statement of Work</a:t>
            </a:r>
          </a:p>
          <a:p>
            <a:r>
              <a:t>- Phase 1 (Foundation): Months 1-2 - Cluster deployed, RBAC configured, monitoring operational</a:t>
            </a:r>
          </a:p>
          <a:p>
            <a:r>
              <a:t>- Phase 2 (Application Migration): Months 3-4 - 10 apps containerized, CI/CD pipelines active</a:t>
            </a:r>
          </a:p>
          <a:p>
            <a:r>
              <a:t>- Phase 3 (Production &amp; Enablement): Months 5-6 - Developer self-service enabled, team trained</a:t>
            </a:r>
          </a:p>
          <a:p>
            <a:r>
              <a:t>- No schedule slippage despite integration complexity with legacy AD</a:t>
            </a:r>
          </a:p>
          <a:p/>
          <a:p>
            <a:r>
              <a:t>**Budget - $338,576 Year 1 Net:**</a:t>
            </a:r>
          </a:p>
          <a:p>
            <a:r>
              <a:t>- Professional Services: $90,000 (520 hours as quoted)</a:t>
            </a:r>
          </a:p>
          <a:p>
            <a:r>
              <a:t>- Hardware: $159,000 (6-node cluster after $15,000 credit)</a:t>
            </a:r>
          </a:p>
          <a:p>
            <a:r>
              <a:t>- Software Licenses: $116,800 (OpenShift Platform Plus after $20,000 credit)</a:t>
            </a:r>
          </a:p>
          <a:p>
            <a:r>
              <a:t>- Support &amp; Maintenance: $52,900</a:t>
            </a:r>
          </a:p>
          <a:p>
            <a:r>
              <a:t>- Total Red Hat Partner Credits Applied: $35,000</a:t>
            </a:r>
          </a:p>
          <a:p>
            <a:r>
              <a:t>- Actual spend: $338,512 - $64 under budget</a:t>
            </a:r>
          </a:p>
          <a:p/>
          <a:p>
            <a:r>
              <a:t>**Go-Live - Week 20:**</a:t>
            </a:r>
          </a:p>
          <a:p>
            <a:r>
              <a:t>- Followed phased cutover strategy exactly as planned</a:t>
            </a:r>
          </a:p>
          <a:p>
            <a:r>
              <a:t>- Week 1-2: 2-3 pilot applications migrated</a:t>
            </a:r>
          </a:p>
          <a:p>
            <a:r>
              <a:t>- Week 3-8: Progressive migration of remaining applications</a:t>
            </a:r>
          </a:p>
          <a:p>
            <a:r>
              <a:t>- Week 9-10: Production validation with VM infrastructure on standby</a:t>
            </a:r>
          </a:p>
          <a:p>
            <a:r>
              <a:t>- Week 11-12: Complete transition, VM decommissioning began</a:t>
            </a:r>
          </a:p>
          <a:p/>
          <a:p>
            <a:r>
              <a:t>**Quality - Zero Critical Defects:**</a:t>
            </a:r>
          </a:p>
          <a:p>
            <a:r>
              <a:t>- 38 test cases executed across functional, non-functional, and UAT phases</a:t>
            </a:r>
          </a:p>
          <a:p>
            <a:r>
              <a:t>- 100% pass rate at go-live</a:t>
            </a:r>
          </a:p>
          <a:p>
            <a:r>
              <a:t>- 2 P3 defects identified during hypercare, both resolved</a:t>
            </a:r>
          </a:p>
          <a:p>
            <a:r>
              <a:t>- Platform stability validated during 4-week hypercare period</a:t>
            </a:r>
          </a:p>
          <a:p/>
          <a:p>
            <a:r>
              <a:t>**Deployment Time - 95% Reduction:**</a:t>
            </a:r>
          </a:p>
          <a:p>
            <a:r>
              <a:t>- Baseline (VM provisioning): 2 weeks per application</a:t>
            </a:r>
          </a:p>
          <a:p>
            <a:r>
              <a:t>- Current (OpenShift): 4 hours average including CI/CD pipeline setup</a:t>
            </a:r>
          </a:p>
          <a:p>
            <a:r>
              <a:t>- Self-service deployments now standard for development teams</a:t>
            </a:r>
          </a:p>
          <a:p>
            <a:r>
              <a:t>- Infrastructure ticket queue reduced by 80%</a:t>
            </a:r>
          </a:p>
          <a:p/>
          <a:p>
            <a:r>
              <a:t>**Resource Utilization - 55% Average:**</a:t>
            </a:r>
          </a:p>
          <a:p>
            <a:r>
              <a:t>- Previous VM infrastructure: 15-20% utilization</a:t>
            </a:r>
          </a:p>
          <a:p>
            <a:r>
              <a:t>- Current OpenShift cluster: 55% average across worker nodes</a:t>
            </a:r>
          </a:p>
          <a:p>
            <a:r>
              <a:t>- Target was 50-60% per SOW - achieved</a:t>
            </a:r>
          </a:p>
          <a:p>
            <a:r>
              <a:t>- Capacity for growth without additional hardware investment</a:t>
            </a:r>
          </a:p>
          <a:p/>
          <a:p>
            <a:r>
              <a:t>**ROI - 18-Month Payback:**</a:t>
            </a:r>
          </a:p>
          <a:p>
            <a:r>
              <a:t>- Annual operational savings: $225,000 projected (2.5 FTEs in manual tasks)</a:t>
            </a:r>
          </a:p>
          <a:p>
            <a:r>
              <a:t>- Infrastructure consolidation: $75,000/year (VM sprawl reduction)</a:t>
            </a:r>
          </a:p>
          <a:p>
            <a:r>
              <a:t>- Total annual benefit: $300,000 vs $338,576 investment</a:t>
            </a:r>
          </a:p>
          <a:p>
            <a:r>
              <a:t>- 3-year projected savings: $900,000 vs $753,728 TCO</a:t>
            </a:r>
          </a:p>
          <a:p/>
          <a:p>
            <a:r>
              <a:t>*Transition to Next Slide:*</a:t>
            </a:r>
          </a:p>
          <a:p>
            <a:r>
              <a:t>"Let me walk you through exactly what we built together..."</a:t>
            </a:r>
          </a:p>
        </p:txBody>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idx="1"/>
          </p:nvPr>
        </p:nvSpPr>
        <p:spPr/>
        <p:txBody>
          <a:bodyPr/>
          <a:lstStyle/>
          <a:p>
            <a:r>
              <a:t>*Architecture Overview - Walk Through the Diagram:*</a:t>
            </a:r>
          </a:p>
          <a:p/>
          <a:p>
            <a:r>
              <a:t>"This diagram shows the production OpenShift architecture we deployed. Let me walk through the key layers..."</a:t>
            </a:r>
          </a:p>
          <a:p/>
          <a:p>
            <a:r>
              <a:t>**Control Plane Layer (3 Master Nodes):**</a:t>
            </a:r>
          </a:p>
          <a:p>
            <a:r>
              <a:t>- Each node: 8 vCPU, 32GB RAM running on VMware vSphere</a:t>
            </a:r>
          </a:p>
          <a:p>
            <a:r>
              <a:t>- etcd cluster for distributed state management</a:t>
            </a:r>
          </a:p>
          <a:p>
            <a:r>
              <a:t>- Highly available control plane - survives single node failure</a:t>
            </a:r>
          </a:p>
          <a:p>
            <a:r>
              <a:t>- API server, controller manager, scheduler redundancy</a:t>
            </a:r>
          </a:p>
          <a:p>
            <a:r>
              <a:t>- Automated failover tested and validated</a:t>
            </a:r>
          </a:p>
          <a:p/>
          <a:p>
            <a:r>
              <a:t>**Worker Node Layer (3 Worker Nodes):**</a:t>
            </a:r>
          </a:p>
          <a:p>
            <a:r>
              <a:t>- Each node: 16 vCPU, 64GB RAM for application workloads</a:t>
            </a:r>
          </a:p>
          <a:p>
            <a:r>
              <a:t>- Running Red Hat Enterprise Linux CoreOS (RHCOS)</a:t>
            </a:r>
          </a:p>
          <a:p>
            <a:r>
              <a:t>- Current pod capacity: 500-1000 containers as scoped</a:t>
            </a:r>
          </a:p>
          <a:p>
            <a:r>
              <a:t>- Horizontal Pod Autoscaler configured for key applications</a:t>
            </a:r>
          </a:p>
          <a:p>
            <a:r>
              <a:t>- Can add worker nodes without re-architecture for growth</a:t>
            </a:r>
          </a:p>
          <a:p/>
          <a:p>
            <a:r>
              <a:t>**Storage Layer - OpenShift Data Foundation:**</a:t>
            </a:r>
          </a:p>
          <a:p>
            <a:r>
              <a:t>- 20TB total persistent storage capacity</a:t>
            </a:r>
          </a:p>
          <a:p>
            <a:r>
              <a:t>- Block, file, and object storage classes available</a:t>
            </a:r>
          </a:p>
          <a:p>
            <a:r>
              <a:t>- Storage classes configured for different performance tiers</a:t>
            </a:r>
          </a:p>
          <a:p>
            <a:r>
              <a:t>- Volume snapshots enabled for data protection</a:t>
            </a:r>
          </a:p>
          <a:p>
            <a:r>
              <a:t>- Integrated with VMware storage for underlying infrastructure</a:t>
            </a:r>
          </a:p>
          <a:p/>
          <a:p>
            <a:r>
              <a:t>**Developer Tools - CI/CD Pipeline:**</a:t>
            </a:r>
          </a:p>
          <a:p>
            <a:r>
              <a:t>- OpenShift Pipelines (Tekton) for cloud-native CI/CD</a:t>
            </a:r>
          </a:p>
          <a:p>
            <a:r>
              <a:t>- Pipeline templates for common application patterns (Java, Node.js, Python)</a:t>
            </a:r>
          </a:p>
          <a:p>
            <a:r>
              <a:t>- Automated build, test, scan, deploy workflows</a:t>
            </a:r>
          </a:p>
          <a:p>
            <a:r>
              <a:t>- ArgoCD for GitOps-based deployments from Git repositories</a:t>
            </a:r>
          </a:p>
          <a:p>
            <a:r>
              <a:t>- Quay container registry with automated vulnerability scanning</a:t>
            </a:r>
          </a:p>
          <a:p/>
          <a:p>
            <a:r>
              <a:t>**Observability Stack:**</a:t>
            </a:r>
          </a:p>
          <a:p>
            <a:r>
              <a:t>- Prometheus collecting metrics from all cluster components and applications</a:t>
            </a:r>
          </a:p>
          <a:p>
            <a:r>
              <a:t>- Grafana dashboards for cluster health, application performance, resource utilization</a:t>
            </a:r>
          </a:p>
          <a:p>
            <a:r>
              <a:t>- EFK stack (Elasticsearch, Fluentd, Kibana) for centralized logging</a:t>
            </a:r>
          </a:p>
          <a:p>
            <a:r>
              <a:t>- Alertmanager configured with PagerDuty integration for on-call notifications</a:t>
            </a:r>
          </a:p>
          <a:p>
            <a:r>
              <a:t>- Istio service mesh providing distributed tracing with Jaeger</a:t>
            </a:r>
          </a:p>
          <a:p/>
          <a:p>
            <a:r>
              <a:t>**Security Implementation:**</a:t>
            </a:r>
          </a:p>
          <a:p>
            <a:r>
              <a:t>- RBAC integrated with corporate Active Directory/LDAP</a:t>
            </a:r>
          </a:p>
          <a:p>
            <a:r>
              <a:t>- Pod security policies enforced across all namespaces</a:t>
            </a:r>
          </a:p>
          <a:p>
            <a:r>
              <a:t>- Network policies for pod-to-pod traffic isolation</a:t>
            </a:r>
          </a:p>
          <a:p>
            <a:r>
              <a:t>- Service mesh mTLS for encrypted service communication</a:t>
            </a:r>
          </a:p>
          <a:p>
            <a:r>
              <a:t>- Advanced Cluster Security (ACS) for runtime threat detection</a:t>
            </a:r>
          </a:p>
          <a:p/>
          <a:p>
            <a:r>
              <a:t>**Integration Points - As Scoped in SOW:**</a:t>
            </a:r>
          </a:p>
          <a:p>
            <a:r>
              <a:t>- LDAP/AD SSO integration for authentication</a:t>
            </a:r>
          </a:p>
          <a:p>
            <a:r>
              <a:t>- Prometheus/Grafana for monitoring (as specified)</a:t>
            </a:r>
          </a:p>
          <a:p>
            <a:r>
              <a:t>- No additional services beyond presales scope</a:t>
            </a:r>
          </a:p>
          <a:p/>
          <a:p>
            <a:r>
              <a:t>*Key Architecture Decisions Made During Implementation:*</a:t>
            </a:r>
          </a:p>
          <a:p>
            <a:r>
              <a:t>1. Chose OpenShift Data Foundation over external storage for integrated management</a:t>
            </a:r>
          </a:p>
          <a:p>
            <a:r>
              <a:t>2. Implemented Istio service mesh for the 3 microservices applications</a:t>
            </a:r>
          </a:p>
          <a:p>
            <a:r>
              <a:t>3. ArgoCD over Flux for GitOps based on team familiarity</a:t>
            </a:r>
          </a:p>
          <a:p>
            <a:r>
              <a:t>4. Single cluster deployment as per SOW (multi-cluster via ACM available for Phase 2)</a:t>
            </a:r>
          </a:p>
          <a:p/>
          <a:p>
            <a:r>
              <a:t>*Transition:*</a:t>
            </a:r>
          </a:p>
          <a:p>
            <a:r>
              <a:t>"Now let me show you the complete deliverables package we're handing over..."</a:t>
            </a:r>
          </a:p>
        </p:txBody>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idx="1"/>
          </p:nvPr>
        </p:nvSpPr>
        <p:spPr/>
        <p:txBody>
          <a:bodyPr/>
          <a:lstStyle/>
          <a:p>
            <a:r>
              <a:t>*Deliverables Deep Dive - Review Each Item:*</a:t>
            </a:r>
          </a:p>
          <a:p/>
          <a:p>
            <a:r>
              <a:t>**1. Detailed Design Document (detailed-design.docx):**</a:t>
            </a:r>
          </a:p>
          <a:p>
            <a:r>
              <a:t>- 50+ pages comprehensive technical documentation</a:t>
            </a:r>
          </a:p>
          <a:p>
            <a:r>
              <a:t>- Sections include:</a:t>
            </a:r>
          </a:p>
          <a:p>
            <a:r>
              <a:t>  - Executive summary and business context</a:t>
            </a:r>
          </a:p>
          <a:p>
            <a:r>
              <a:t>  - Current state assessment (VM environment baseline)</a:t>
            </a:r>
          </a:p>
          <a:p>
            <a:r>
              <a:t>  - Target OpenShift architecture with diagrams</a:t>
            </a:r>
          </a:p>
          <a:p>
            <a:r>
              <a:t>  - Security controls (RBAC, network policies, encryption)</a:t>
            </a:r>
          </a:p>
          <a:p>
            <a:r>
              <a:t>  - Data architecture for persistent storage</a:t>
            </a:r>
          </a:p>
          <a:p>
            <a:r>
              <a:t>  - Integration design (AD/LDAP, monitoring)</a:t>
            </a:r>
          </a:p>
          <a:p>
            <a:r>
              <a:t>  - Infrastructure sizing and operations</a:t>
            </a:r>
          </a:p>
          <a:p>
            <a:r>
              <a:t>- Reviewed and accepted by [Technical Lead] on [Date]</a:t>
            </a:r>
          </a:p>
          <a:p>
            <a:r>
              <a:t>- Living document - recommend annual review</a:t>
            </a:r>
          </a:p>
          <a:p/>
          <a:p>
            <a:r>
              <a:t>**2. Implementation Guide (implementation-guide.docx):**</a:t>
            </a:r>
          </a:p>
          <a:p>
            <a:r>
              <a:t>- Step-by-step deployment procedures</a:t>
            </a:r>
          </a:p>
          <a:p>
            <a:r>
              <a:t>- Prerequisites checklist</a:t>
            </a:r>
          </a:p>
          <a:p>
            <a:r>
              <a:t>- Ansible playbook execution instructions</a:t>
            </a:r>
          </a:p>
          <a:p>
            <a:r>
              <a:t>- Helm chart deployment guides</a:t>
            </a:r>
          </a:p>
          <a:p>
            <a:r>
              <a:t>- Post-deployment verification steps</a:t>
            </a:r>
          </a:p>
          <a:p>
            <a:r>
              <a:t>- Rollback procedures</a:t>
            </a:r>
          </a:p>
          <a:p>
            <a:r>
              <a:t>- Environment-specific configurations (dev, staging, prod namespaces)</a:t>
            </a:r>
          </a:p>
          <a:p>
            <a:r>
              <a:t>- Validated by rebuilding staging from scratch</a:t>
            </a:r>
          </a:p>
          <a:p/>
          <a:p>
            <a:r>
              <a:t>**3. Project Plan (project-plan.xlsx):**</a:t>
            </a:r>
          </a:p>
          <a:p>
            <a:r>
              <a:t>- Four worksheets:</a:t>
            </a:r>
          </a:p>
          <a:p>
            <a:r>
              <a:t>  1. Project Timeline - 37 tasks across 6 months</a:t>
            </a:r>
          </a:p>
          <a:p>
            <a:r>
              <a:t>  2. Milestones - 9 major milestones tracked</a:t>
            </a:r>
          </a:p>
          <a:p>
            <a:r>
              <a:t>  3. RACI Matrix - 19 activities with clear ownership</a:t>
            </a:r>
          </a:p>
          <a:p>
            <a:r>
              <a:t>  4. Communications Plan - 11 meeting types defined</a:t>
            </a:r>
          </a:p>
          <a:p>
            <a:r>
              <a:t>- All milestones achieved on schedule</a:t>
            </a:r>
          </a:p>
          <a:p>
            <a:r>
              <a:t>- Final status: 100% complete</a:t>
            </a:r>
          </a:p>
          <a:p/>
          <a:p>
            <a:r>
              <a:t>**4. Test Plan &amp; Results (test-plan.xlsx):**</a:t>
            </a:r>
          </a:p>
          <a:p>
            <a:r>
              <a:t>- Three test categories:</a:t>
            </a:r>
          </a:p>
          <a:p>
            <a:r>
              <a:t>  1. Functional Tests - 14 test cases (100% pass)</a:t>
            </a:r>
          </a:p>
          <a:p>
            <a:r>
              <a:t>  2. Non-Functional Tests - 14 test cases (100% pass)</a:t>
            </a:r>
          </a:p>
          <a:p>
            <a:r>
              <a:t>  3. User Acceptance Tests - 10 test cases (100% pass)</a:t>
            </a:r>
          </a:p>
          <a:p>
            <a:r>
              <a:t>- Platform validation: Cluster stability, pod scheduling, autoscaling</a:t>
            </a:r>
          </a:p>
          <a:p>
            <a:r>
              <a:t>- Security validation: RBAC, network policies, vulnerability scans</a:t>
            </a:r>
          </a:p>
          <a:p/>
          <a:p>
            <a:r>
              <a:t>**5. Ansible Playbooks:**</a:t>
            </a:r>
          </a:p>
          <a:p>
            <a:r>
              <a:t>- Infrastructure configuration automation</a:t>
            </a:r>
          </a:p>
          <a:p>
            <a:r>
              <a:t>- Playbooks included:</a:t>
            </a:r>
          </a:p>
          <a:p>
            <a:r>
              <a:t>  - `cluster-config.yml` - OpenShift cluster configuration</a:t>
            </a:r>
          </a:p>
          <a:p>
            <a:r>
              <a:t>  - `monitoring-setup.yml` - Prometheus/Grafana deployment</a:t>
            </a:r>
          </a:p>
          <a:p>
            <a:r>
              <a:t>  - `security-baseline.yml` - Security hardening</a:t>
            </a:r>
          </a:p>
          <a:p>
            <a:r>
              <a:t>  - `user-provisioning.yml` - Developer onboarding automation</a:t>
            </a:r>
          </a:p>
          <a:p>
            <a:r>
              <a:t>- Tested in dev, staging, and production environments</a:t>
            </a:r>
          </a:p>
          <a:p/>
          <a:p>
            <a:r>
              <a:t>**6. Helm Charts:**</a:t>
            </a:r>
          </a:p>
          <a:p>
            <a:r>
              <a:t>- Application deployment templates</a:t>
            </a:r>
          </a:p>
          <a:p>
            <a:r>
              <a:t>- Charts provided:</a:t>
            </a:r>
          </a:p>
          <a:p>
            <a:r>
              <a:t>  - Base application chart (Java Spring Boot)</a:t>
            </a:r>
          </a:p>
          <a:p>
            <a:r>
              <a:t>  - Node.js application chart</a:t>
            </a:r>
          </a:p>
          <a:p>
            <a:r>
              <a:t>  - Database deployment chart (PostgreSQL, MySQL)</a:t>
            </a:r>
          </a:p>
          <a:p>
            <a:r>
              <a:t>  - Ingress/Route configuration chart</a:t>
            </a:r>
          </a:p>
          <a:p>
            <a:r>
              <a:t>- Parameterized for environment-specific values</a:t>
            </a:r>
          </a:p>
          <a:p/>
          <a:p>
            <a:r>
              <a:t>**7. Operations Runbook:**</a:t>
            </a:r>
          </a:p>
          <a:p>
            <a:r>
              <a:t>- Daily operations checklist</a:t>
            </a:r>
          </a:p>
          <a:p>
            <a:r>
              <a:t>- Monitoring dashboard guide</a:t>
            </a:r>
          </a:p>
          <a:p>
            <a:r>
              <a:t>- Common troubleshooting scenarios:</a:t>
            </a:r>
          </a:p>
          <a:p>
            <a:r>
              <a:t>  - Pod scheduling failures</a:t>
            </a:r>
          </a:p>
          <a:p>
            <a:r>
              <a:t>  - Storage provisioning issues</a:t>
            </a:r>
          </a:p>
          <a:p>
            <a:r>
              <a:t>  - Node health degradation</a:t>
            </a:r>
          </a:p>
          <a:p>
            <a:r>
              <a:t>  - Application deployment errors</a:t>
            </a:r>
          </a:p>
          <a:p>
            <a:r>
              <a:t>- Escalation procedures</a:t>
            </a:r>
          </a:p>
          <a:p>
            <a:r>
              <a:t>- Capacity management guidance</a:t>
            </a:r>
          </a:p>
          <a:p/>
          <a:p>
            <a:r>
              <a:t>**8. Training Materials:**</a:t>
            </a:r>
          </a:p>
          <a:p>
            <a:r>
              <a:t>- Administrator Guide (PDF, 30 pages)</a:t>
            </a:r>
          </a:p>
          <a:p>
            <a:r>
              <a:t>- Developer Guide (PDF, 20 pages)</a:t>
            </a:r>
          </a:p>
          <a:p>
            <a:r>
              <a:t>- Video tutorials (6 recordings, 90 minutes total):</a:t>
            </a:r>
          </a:p>
          <a:p>
            <a:r>
              <a:t>  1. OpenShift console navigation</a:t>
            </a:r>
          </a:p>
          <a:p>
            <a:r>
              <a:t>  2. Deploying applications via GitOps</a:t>
            </a:r>
          </a:p>
          <a:p>
            <a:r>
              <a:t>  3. CI/CD pipeline creation</a:t>
            </a:r>
          </a:p>
          <a:p>
            <a:r>
              <a:t>  4. Troubleshooting common issues</a:t>
            </a:r>
          </a:p>
          <a:p>
            <a:r>
              <a:t>  5. Monitoring and alerting</a:t>
            </a:r>
          </a:p>
          <a:p>
            <a:r>
              <a:t>  6. Security and RBAC management</a:t>
            </a:r>
          </a:p>
          <a:p>
            <a:r>
              <a:t>- Quick reference cards for developers</a:t>
            </a:r>
          </a:p>
          <a:p/>
          <a:p>
            <a:r>
              <a:t>*Training Sessions Delivered:*</a:t>
            </a:r>
          </a:p>
          <a:p>
            <a:r>
              <a:t>- Administrator Training: 40 hours, 4 participants, 100% completion</a:t>
            </a:r>
          </a:p>
          <a:p>
            <a:r>
              <a:t>- Developer Training: 40 hours, 12 participants (pilot group), 95% competency</a:t>
            </a:r>
          </a:p>
          <a:p>
            <a:r>
              <a:t>- Total training hours delivered: 80 hours</a:t>
            </a:r>
          </a:p>
          <a:p/>
          <a:p>
            <a:r>
              <a:t>*Transition:*</a:t>
            </a:r>
          </a:p>
          <a:p>
            <a:r>
              <a:t>"Let's look at how the platform is performing against our targets..."</a:t>
            </a:r>
          </a:p>
        </p:txBody>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idx="1"/>
          </p:nvPr>
        </p:nvSpPr>
        <p:spPr/>
        <p:txBody>
          <a:bodyPr/>
          <a:lstStyle/>
          <a:p>
            <a:r>
              <a:t>*Quality &amp; Performance Deep Dive:*</a:t>
            </a:r>
          </a:p>
          <a:p/>
          <a:p>
            <a:r>
              <a:t>**Platform Metrics - Detailed Breakdown:**</a:t>
            </a:r>
          </a:p>
          <a:p/>
          <a:p>
            <a:r>
              <a:t>*Cluster Uptime: 99.7%*</a:t>
            </a:r>
          </a:p>
          <a:p>
            <a:r>
              <a:t>- Target: 99.5% availability per SOW</a:t>
            </a:r>
          </a:p>
          <a:p>
            <a:r>
              <a:t>- Achieved: 99.7% (2.2 hours downtime in 30 days hypercare)</a:t>
            </a:r>
          </a:p>
          <a:p>
            <a:r>
              <a:t>- Downtime breakdown:</a:t>
            </a:r>
          </a:p>
          <a:p>
            <a:r>
              <a:t>  - Planned maintenance: 1.5 hours (control plane upgrade, scheduled)</a:t>
            </a:r>
          </a:p>
          <a:p>
            <a:r>
              <a:t>  - Unplanned: 0.7 hours (worker node memory issue, auto-recovered)</a:t>
            </a:r>
          </a:p>
          <a:p>
            <a:r>
              <a:t>- Zero unplanned control plane downtime</a:t>
            </a:r>
          </a:p>
          <a:p>
            <a:r>
              <a:t>- All SLAs met or exceeded</a:t>
            </a:r>
          </a:p>
          <a:p/>
          <a:p>
            <a:r>
              <a:t>*Deployment Success Rate: 98%*</a:t>
            </a:r>
          </a:p>
          <a:p>
            <a:r>
              <a:t>- 98% of deployments via CI/CD complete successfully first time</a:t>
            </a:r>
          </a:p>
          <a:p>
            <a:r>
              <a:t>- 2% failure rate primarily due to:</a:t>
            </a:r>
          </a:p>
          <a:p>
            <a:r>
              <a:t>  - Resource quota exceeded (40% of failures)</a:t>
            </a:r>
          </a:p>
          <a:p>
            <a:r>
              <a:t>  - Image pull errors (30% of failures)</a:t>
            </a:r>
          </a:p>
          <a:p>
            <a:r>
              <a:t>  - Configuration errors (30% of failures)</a:t>
            </a:r>
          </a:p>
          <a:p>
            <a:r>
              <a:t>- Failed deployments auto-rollback to previous version</a:t>
            </a:r>
          </a:p>
          <a:p/>
          <a:p>
            <a:r>
              <a:t>*Container Startup Time: 45 Seconds Average*</a:t>
            </a:r>
          </a:p>
          <a:p>
            <a:r>
              <a:t>- From deployment trigger to pod running state</a:t>
            </a:r>
          </a:p>
          <a:p>
            <a:r>
              <a:t>- Breakdown:</a:t>
            </a:r>
          </a:p>
          <a:p>
            <a:r>
              <a:t>  - Image pull (if not cached): 20 seconds</a:t>
            </a:r>
          </a:p>
          <a:p>
            <a:r>
              <a:t>  - Pod scheduling: 5 seconds</a:t>
            </a:r>
          </a:p>
          <a:p>
            <a:r>
              <a:t>  - Container startup: 15 seconds</a:t>
            </a:r>
          </a:p>
          <a:p>
            <a:r>
              <a:t>  - Health check pass: 5 seconds</a:t>
            </a:r>
          </a:p>
          <a:p>
            <a:r>
              <a:t>- Cached images reduce to 25 seconds average</a:t>
            </a:r>
          </a:p>
          <a:p/>
          <a:p>
            <a:r>
              <a:t>*Pod Scheduling: 100% Success Rate*</a:t>
            </a:r>
          </a:p>
          <a:p>
            <a:r>
              <a:t>- No pod scheduling failures during hypercare</a:t>
            </a:r>
          </a:p>
          <a:p>
            <a:r>
              <a:t>- Resource quotas prevent over-provisioning</a:t>
            </a:r>
          </a:p>
          <a:p>
            <a:r>
              <a:t>- Node affinity rules working as designed</a:t>
            </a:r>
          </a:p>
          <a:p>
            <a:r>
              <a:t>- Anti-affinity spreading workloads across nodes</a:t>
            </a:r>
          </a:p>
          <a:p/>
          <a:p>
            <a:r>
              <a:t>*Storage Provisioning: 30 Seconds*</a:t>
            </a:r>
          </a:p>
          <a:p>
            <a:r>
              <a:t>- Dynamic PVC provisioning via OpenShift Data Foundation</a:t>
            </a:r>
          </a:p>
          <a:p>
            <a:r>
              <a:t>- Faster than legacy VM storage provisioning (hours)</a:t>
            </a:r>
          </a:p>
          <a:p>
            <a:r>
              <a:t>- Storage classes tuned for different workload types</a:t>
            </a:r>
          </a:p>
          <a:p/>
          <a:p>
            <a:r>
              <a:t>**Developer Metrics - Business Impact:**</a:t>
            </a:r>
          </a:p>
          <a:p/>
          <a:p>
            <a:r>
              <a:t>*Deployment Frequency: 10x Improvement*</a:t>
            </a:r>
          </a:p>
          <a:p>
            <a:r>
              <a:t>- Before: Weekly deployments (average across teams)</a:t>
            </a:r>
          </a:p>
          <a:p>
            <a:r>
              <a:t>- After: Daily deployments capability, many teams deploying multiple times per day</a:t>
            </a:r>
          </a:p>
          <a:p>
            <a:r>
              <a:t>- SOW target: 10x improvement - achieved</a:t>
            </a:r>
          </a:p>
          <a:p>
            <a:r>
              <a:t>- Self-service eliminates waiting for operations team</a:t>
            </a:r>
          </a:p>
          <a:p/>
          <a:p>
            <a:r>
              <a:t>*Pipeline Duration: 12 Minutes Average*</a:t>
            </a:r>
          </a:p>
          <a:p>
            <a:r>
              <a:t>- Build: 4 minutes</a:t>
            </a:r>
          </a:p>
          <a:p>
            <a:r>
              <a:t>- Test: 5 minutes</a:t>
            </a:r>
          </a:p>
          <a:p>
            <a:r>
              <a:t>- Scan: 2 minutes</a:t>
            </a:r>
          </a:p>
          <a:p>
            <a:r>
              <a:t>- Deploy: 1 minute</a:t>
            </a:r>
          </a:p>
          <a:p>
            <a:r>
              <a:t>- Compared to manual process: 2 hours minimum</a:t>
            </a:r>
          </a:p>
          <a:p/>
          <a:p>
            <a:r>
              <a:t>*Self-Service Adoption: 85%*</a:t>
            </a:r>
          </a:p>
          <a:p>
            <a:r>
              <a:t>- 85% of deployments now via GitOps (ArgoCD)</a:t>
            </a:r>
          </a:p>
          <a:p>
            <a:r>
              <a:t>- Remaining 15% are complex deployments requiring support</a:t>
            </a:r>
          </a:p>
          <a:p>
            <a:r>
              <a:t>- Target was developer self-service capability - achieved</a:t>
            </a:r>
          </a:p>
          <a:p>
            <a:r>
              <a:t>- Developers independently deploying to dev/staging</a:t>
            </a:r>
          </a:p>
          <a:p/>
          <a:p>
            <a:r>
              <a:t>*Ticket Reduction: 80%*</a:t>
            </a:r>
          </a:p>
          <a:p>
            <a:r>
              <a:t>- Infrastructure provisioning tickets: -80%</a:t>
            </a:r>
          </a:p>
          <a:p>
            <a:r>
              <a:t>- SOW target: 80% reduction - achieved</a:t>
            </a:r>
          </a:p>
          <a:p>
            <a:r>
              <a:t>- Remaining tickets: Complex integrations, capacity requests</a:t>
            </a:r>
          </a:p>
          <a:p/>
          <a:p>
            <a:r>
              <a:t>*Developer Satisfaction: 4.5/5.0*</a:t>
            </a:r>
          </a:p>
          <a:p>
            <a:r>
              <a:t>- Survey conducted at end of hypercare</a:t>
            </a:r>
          </a:p>
          <a:p>
            <a:r>
              <a:t>- Highlights: Speed of deployment, self-service, visibility</a:t>
            </a:r>
          </a:p>
          <a:p>
            <a:r>
              <a:t>- Improvement areas: Documentation (being addressed)</a:t>
            </a:r>
          </a:p>
          <a:p/>
          <a:p>
            <a:r>
              <a:t>**Testing Summary:**</a:t>
            </a:r>
          </a:p>
          <a:p>
            <a:r>
              <a:t>- Test Cases Executed: 38 total</a:t>
            </a:r>
          </a:p>
          <a:p>
            <a:r>
              <a:t>- Pass Rate: 100%</a:t>
            </a:r>
          </a:p>
          <a:p>
            <a:r>
              <a:t>- Test Coverage: All critical paths covered</a:t>
            </a:r>
          </a:p>
          <a:p>
            <a:r>
              <a:t>- Critical Defects at Go-Live: 0</a:t>
            </a:r>
          </a:p>
          <a:p>
            <a:r>
              <a:t>- Defects Found During Hypercare: 2 (all P3, resolved)</a:t>
            </a:r>
          </a:p>
          <a:p/>
          <a:p>
            <a:r>
              <a:t>*Transition:*</a:t>
            </a:r>
          </a:p>
          <a:p>
            <a:r>
              <a:t>"These platform improvements translate directly into business value. Let me show you the benefits we're already seeing..."</a:t>
            </a:r>
          </a:p>
        </p:txBody>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idx="1"/>
          </p:nvPr>
        </p:nvSpPr>
        <p:spPr/>
        <p:txBody>
          <a:bodyPr/>
          <a:lstStyle/>
          <a:p>
            <a:r>
              <a:t>*Benefits Analysis - Detailed ROI Discussion:*</a:t>
            </a:r>
          </a:p>
          <a:p/>
          <a:p>
            <a:r>
              <a:t>**Deployment Time Reduction - 95%:**</a:t>
            </a:r>
          </a:p>
          <a:p/>
          <a:p>
            <a:r>
              <a:t>*Before (VM-Based Process):*</a:t>
            </a:r>
          </a:p>
          <a:p>
            <a:r>
              <a:t>- Average time per application deployment: 2 weeks</a:t>
            </a:r>
          </a:p>
          <a:p>
            <a:r>
              <a:t>- Steps involved:</a:t>
            </a:r>
          </a:p>
          <a:p>
            <a:r>
              <a:t>  1. Submit infrastructure request (1-2 days wait)</a:t>
            </a:r>
          </a:p>
          <a:p>
            <a:r>
              <a:t>  2. VM provisioning approval (2-3 days)</a:t>
            </a:r>
          </a:p>
          <a:p>
            <a:r>
              <a:t>  3. VM creation and configuration (2-3 days)</a:t>
            </a:r>
          </a:p>
          <a:p>
            <a:r>
              <a:t>  4. OS patching and hardening (1-2 days)</a:t>
            </a:r>
          </a:p>
          <a:p>
            <a:r>
              <a:t>  5. Application deployment (1-2 days)</a:t>
            </a:r>
          </a:p>
          <a:p>
            <a:r>
              <a:t>  6. Testing and validation (2-3 days)</a:t>
            </a:r>
          </a:p>
          <a:p>
            <a:r>
              <a:t>  7. DNS and load balancer configuration (1 day)</a:t>
            </a:r>
          </a:p>
          <a:p>
            <a:r>
              <a:t>- Required multiple team handoffs (infra, security, networking, app)</a:t>
            </a:r>
          </a:p>
          <a:p/>
          <a:p>
            <a:r>
              <a:t>*After (OpenShift Platform):*</a:t>
            </a:r>
          </a:p>
          <a:p>
            <a:r>
              <a:t>- Average time per application deployment: 4 hours</a:t>
            </a:r>
          </a:p>
          <a:p>
            <a:r>
              <a:t>- Steps involved:</a:t>
            </a:r>
          </a:p>
          <a:p>
            <a:r>
              <a:t>  1. Create application from template (15 min)</a:t>
            </a:r>
          </a:p>
          <a:p>
            <a:r>
              <a:t>  2. Configure pipeline in Git (30 min)</a:t>
            </a:r>
          </a:p>
          <a:p>
            <a:r>
              <a:t>  3. Pipeline builds and deploys (15 min)</a:t>
            </a:r>
          </a:p>
          <a:p>
            <a:r>
              <a:t>  4. Testing and validation (2-3 hours)</a:t>
            </a:r>
          </a:p>
          <a:p>
            <a:r>
              <a:t>  5. Production promotion (30 min via GitOps)</a:t>
            </a:r>
          </a:p>
          <a:p>
            <a:r>
              <a:t>- Self-service by development teams</a:t>
            </a:r>
          </a:p>
          <a:p/>
          <a:p>
            <a:r>
              <a:t>*Business Impact:*</a:t>
            </a:r>
          </a:p>
          <a:p>
            <a:r>
              <a:t>- Same team can deliver 5x more deployments</a:t>
            </a:r>
          </a:p>
          <a:p>
            <a:r>
              <a:t>- Faster time-to-market for new features</a:t>
            </a:r>
          </a:p>
          <a:p>
            <a:r>
              <a:t>- Reduced coordination overhead between teams</a:t>
            </a:r>
          </a:p>
          <a:p/>
          <a:p>
            <a:r>
              <a:t>**Resource Utilization - 55% Average:**</a:t>
            </a:r>
          </a:p>
          <a:p/>
          <a:p>
            <a:r>
              <a:t>*Before (VM Infrastructure):*</a:t>
            </a:r>
          </a:p>
          <a:p>
            <a:r>
              <a:t>- Average utilization: 15-20%</a:t>
            </a:r>
          </a:p>
          <a:p>
            <a:r>
              <a:t>- 80% of VMs over-provisioned "just in case"</a:t>
            </a:r>
          </a:p>
          <a:p>
            <a:r>
              <a:t>- Right-sizing rarely performed</a:t>
            </a:r>
          </a:p>
          <a:p>
            <a:r>
              <a:t>- Wasted compute capacity across data center</a:t>
            </a:r>
          </a:p>
          <a:p/>
          <a:p>
            <a:r>
              <a:t>*After (OpenShift):*</a:t>
            </a:r>
          </a:p>
          <a:p>
            <a:r>
              <a:t>- Average utilization: 55% across worker nodes</a:t>
            </a:r>
          </a:p>
          <a:p>
            <a:r>
              <a:t>- Bin-packing of containers optimizes usage</a:t>
            </a:r>
          </a:p>
          <a:p>
            <a:r>
              <a:t>- Horizontal pod autoscaler adjusts to demand</a:t>
            </a:r>
          </a:p>
          <a:p>
            <a:r>
              <a:t>- Resource quotas prevent over-provisioning</a:t>
            </a:r>
          </a:p>
          <a:p/>
          <a:p>
            <a:r>
              <a:t>*Financial Impact:*</a:t>
            </a:r>
          </a:p>
          <a:p>
            <a:r>
              <a:t>- 3x improvement in resource efficiency</a:t>
            </a:r>
          </a:p>
          <a:p>
            <a:r>
              <a:t>- Delayed hardware purchases by 18+ months</a:t>
            </a:r>
          </a:p>
          <a:p>
            <a:r>
              <a:t>- Foundation for infrastructure cost reduction</a:t>
            </a:r>
          </a:p>
          <a:p/>
          <a:p>
            <a:r>
              <a:t>**Operational Overhead - 50% Reduction:**</a:t>
            </a:r>
          </a:p>
          <a:p/>
          <a:p>
            <a:r>
              <a:t>*Before:*</a:t>
            </a:r>
          </a:p>
          <a:p>
            <a:r>
              <a:t>- 5 FTEs dedicated to VM lifecycle management</a:t>
            </a:r>
          </a:p>
          <a:p>
            <a:r>
              <a:t>- Manual patching, provisioning, troubleshooting</a:t>
            </a:r>
          </a:p>
          <a:p>
            <a:r>
              <a:t>- Significant toil in repetitive tasks</a:t>
            </a:r>
          </a:p>
          <a:p/>
          <a:p>
            <a:r>
              <a:t>*After:*</a:t>
            </a:r>
          </a:p>
          <a:p>
            <a:r>
              <a:t>- 2.5 FTEs reallocated to strategic work</a:t>
            </a:r>
          </a:p>
          <a:p>
            <a:r>
              <a:t>- Automated patching via operator updates</a:t>
            </a:r>
          </a:p>
          <a:p>
            <a:r>
              <a:t>- Self-healing platform reduces incidents</a:t>
            </a:r>
          </a:p>
          <a:p>
            <a:r>
              <a:t>- Remaining staff focus on platform engineering</a:t>
            </a:r>
          </a:p>
          <a:p/>
          <a:p>
            <a:r>
              <a:t>*Reallocation:*</a:t>
            </a:r>
          </a:p>
          <a:p>
            <a:r>
              <a:t>- 1 FTE: Cloud architecture planning</a:t>
            </a:r>
          </a:p>
          <a:p>
            <a:r>
              <a:t>- 1 FTE: Developer enablement and training</a:t>
            </a:r>
          </a:p>
          <a:p>
            <a:r>
              <a:t>- 0.5 FTE: Capacity planning and optimization</a:t>
            </a:r>
          </a:p>
          <a:p/>
          <a:p>
            <a:r>
              <a:t>**Infrastructure Ticket Reduction - 80%:**</a:t>
            </a:r>
          </a:p>
          <a:p/>
          <a:p>
            <a:r>
              <a:t>*Before:*</a:t>
            </a:r>
          </a:p>
          <a:p>
            <a:r>
              <a:t>- 50+ infrastructure tickets/month</a:t>
            </a:r>
          </a:p>
          <a:p>
            <a:r>
              <a:t>- Average resolution time: 3-5 days</a:t>
            </a:r>
          </a:p>
          <a:p>
            <a:r>
              <a:t>- Developers waiting on operations</a:t>
            </a:r>
          </a:p>
          <a:p/>
          <a:p>
            <a:r>
              <a:t>*After:*</a:t>
            </a:r>
          </a:p>
          <a:p>
            <a:r>
              <a:t>- 10 infrastructure tickets/month (80% reduction)</a:t>
            </a:r>
          </a:p>
          <a:p>
            <a:r>
              <a:t>- Remaining tickets: Complex integrations, capacity requests</a:t>
            </a:r>
          </a:p>
          <a:p>
            <a:r>
              <a:t>- Self-service handles routine requests</a:t>
            </a:r>
          </a:p>
          <a:p/>
          <a:p>
            <a:r>
              <a:t>**Developer Onboarding:**</a:t>
            </a:r>
          </a:p>
          <a:p>
            <a:r>
              <a:t>- All 50 developers onboarded to platform</a:t>
            </a:r>
          </a:p>
          <a:p>
            <a:r>
              <a:t>- 12 developers completed advanced training</a:t>
            </a:r>
          </a:p>
          <a:p>
            <a:r>
              <a:t>- Developer self-service now standard practice</a:t>
            </a:r>
          </a:p>
          <a:p/>
          <a:p>
            <a:r>
              <a:t>**ROI Summary:**</a:t>
            </a:r>
          </a:p>
          <a:p/>
          <a:p>
            <a:r>
              <a:t>| Metric | Value |</a:t>
            </a:r>
          </a:p>
          <a:p>
            <a:r>
              <a:t>|--------|-------|</a:t>
            </a:r>
          </a:p>
          <a:p>
            <a:r>
              <a:t>| Total Investment (Year 1) | $338,576 |</a:t>
            </a:r>
          </a:p>
          <a:p>
            <a:r>
              <a:t>| Year 1 Savings (prorated 6 months) | $150,000 |</a:t>
            </a:r>
          </a:p>
          <a:p>
            <a:r>
              <a:t>| Year 2 Projected Savings | $300,000 |</a:t>
            </a:r>
          </a:p>
          <a:p>
            <a:r>
              <a:t>| Year 3 Projected Savings | $300,000 |</a:t>
            </a:r>
          </a:p>
          <a:p>
            <a:r>
              <a:t>| 3-Year TCO | $753,728 |</a:t>
            </a:r>
          </a:p>
          <a:p>
            <a:r>
              <a:t>| 3-Year Savings | $750,000 |</a:t>
            </a:r>
          </a:p>
          <a:p>
            <a:r>
              <a:t>| Payback Period | 18 months |</a:t>
            </a:r>
          </a:p>
          <a:p/>
          <a:p>
            <a:r>
              <a:t>*Transition:*</a:t>
            </a:r>
          </a:p>
          <a:p>
            <a:r>
              <a:t>"We learned valuable lessons during this implementation that will help with future phases..."</a:t>
            </a:r>
          </a:p>
        </p:txBody>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idx="1"/>
          </p:nvPr>
        </p:nvSpPr>
        <p:spPr/>
        <p:txBody>
          <a:bodyPr/>
          <a:lstStyle/>
          <a:p>
            <a:r>
              <a:t>*Lessons Learned - Comprehensive Review:*</a:t>
            </a:r>
          </a:p>
          <a:p/>
          <a:p>
            <a:r>
              <a:t>**What Worked Well - Details:**</a:t>
            </a:r>
          </a:p>
          <a:p/>
          <a:p>
            <a:r>
              <a:t>*1. Phased Migration Approach:*</a:t>
            </a:r>
          </a:p>
          <a:p>
            <a:r>
              <a:t>- Started with 2-3 simple pilot applications</a:t>
            </a:r>
          </a:p>
          <a:p>
            <a:r>
              <a:t>- Validated patterns before broader rollout</a:t>
            </a:r>
          </a:p>
          <a:p>
            <a:r>
              <a:t>- Built stakeholder confidence incrementally</a:t>
            </a:r>
          </a:p>
          <a:p>
            <a:r>
              <a:t>- Reduced risk of big-bang migration</a:t>
            </a:r>
          </a:p>
          <a:p>
            <a:r>
              <a:t>- Recommendation: Always pilot with simple apps first</a:t>
            </a:r>
          </a:p>
          <a:p/>
          <a:p>
            <a:r>
              <a:t>*2. GitOps-First Deployment Model:*</a:t>
            </a:r>
          </a:p>
          <a:p>
            <a:r>
              <a:t>- ArgoCD from day one for all deployments</a:t>
            </a:r>
          </a:p>
          <a:p>
            <a:r>
              <a:t>- Infrastructure as code mindset from start</a:t>
            </a:r>
          </a:p>
          <a:p>
            <a:r>
              <a:t>- Enabled reproducible deployments</a:t>
            </a:r>
          </a:p>
          <a:p>
            <a:r>
              <a:t>- Audit trail for all changes</a:t>
            </a:r>
          </a:p>
          <a:p>
            <a:r>
              <a:t>- Developers learned GitOps workflow early</a:t>
            </a:r>
          </a:p>
          <a:p/>
          <a:p>
            <a:r>
              <a:t>*3. Developer Training Investment:*</a:t>
            </a:r>
          </a:p>
          <a:p>
            <a:r>
              <a:t>- 40 hours admin training, 40 hours developer training</a:t>
            </a:r>
          </a:p>
          <a:p>
            <a:r>
              <a:t>- Hands-on labs were most effective</a:t>
            </a:r>
          </a:p>
          <a:p>
            <a:r>
              <a:t>- Created internal champions for platform adoption</a:t>
            </a:r>
          </a:p>
          <a:p>
            <a:r>
              <a:t>- Reduced support burden significantly</a:t>
            </a:r>
          </a:p>
          <a:p>
            <a:r>
              <a:t>- Recommendation: Don't skip training - it pays dividends</a:t>
            </a:r>
          </a:p>
          <a:p/>
          <a:p>
            <a:r>
              <a:t>*4. Red Hat Support Engagement:*</a:t>
            </a:r>
          </a:p>
          <a:p>
            <a:r>
              <a:t>- Engaged Red Hat consulting for complex issues</a:t>
            </a:r>
          </a:p>
          <a:p>
            <a:r>
              <a:t>- AD/LDAP integration guidance saved 2 weeks</a:t>
            </a:r>
          </a:p>
          <a:p>
            <a:r>
              <a:t>- Operator configuration best practices</a:t>
            </a:r>
          </a:p>
          <a:p>
            <a:r>
              <a:t>- Access to Red Hat solutions database</a:t>
            </a:r>
          </a:p>
          <a:p>
            <a:r>
              <a:t>- Worth the investment for enterprise deployments</a:t>
            </a:r>
          </a:p>
          <a:p/>
          <a:p>
            <a:r>
              <a:t>**Challenges Overcome - Details:**</a:t>
            </a:r>
          </a:p>
          <a:p/>
          <a:p>
            <a:r>
              <a:t>*1. AD/LDAP Integration Complexity:*</a:t>
            </a:r>
          </a:p>
          <a:p>
            <a:r>
              <a:t>- Challenge: Corporate AD had complex group structure</a:t>
            </a:r>
          </a:p>
          <a:p>
            <a:r>
              <a:t>- Impact: Initial auth delays and group mapping issues</a:t>
            </a:r>
          </a:p>
          <a:p>
            <a:r>
              <a:t>- Resolution:</a:t>
            </a:r>
          </a:p>
          <a:p>
            <a:r>
              <a:t>  - Red Hat consulting engagement</a:t>
            </a:r>
          </a:p>
          <a:p>
            <a:r>
              <a:t>  - Custom group sync configuration</a:t>
            </a:r>
          </a:p>
          <a:p>
            <a:r>
              <a:t>  - Caching tuning for performance</a:t>
            </a:r>
          </a:p>
          <a:p>
            <a:r>
              <a:t>- Result: Seamless SSO working reliably</a:t>
            </a:r>
          </a:p>
          <a:p/>
          <a:p>
            <a:r>
              <a:t>*2. Legacy Application Containerization:*</a:t>
            </a:r>
          </a:p>
          <a:p>
            <a:r>
              <a:t>- Challenge: Some apps had hardcoded configurations</a:t>
            </a:r>
          </a:p>
          <a:p>
            <a:r>
              <a:t>- Impact: 2 of 10 apps required refactoring</a:t>
            </a:r>
          </a:p>
          <a:p>
            <a:r>
              <a:t>- Resolution:</a:t>
            </a:r>
          </a:p>
          <a:p>
            <a:r>
              <a:t>  - Environment variable externalization</a:t>
            </a:r>
          </a:p>
          <a:p>
            <a:r>
              <a:t>  - ConfigMap and Secret patterns</a:t>
            </a:r>
          </a:p>
          <a:p>
            <a:r>
              <a:t>  - Documentation for developers</a:t>
            </a:r>
          </a:p>
          <a:p>
            <a:r>
              <a:t>- Result: All 10 apps successfully containerized</a:t>
            </a:r>
          </a:p>
          <a:p/>
          <a:p>
            <a:r>
              <a:t>*3. Storage Performance Tuning:*</a:t>
            </a:r>
          </a:p>
          <a:p>
            <a:r>
              <a:t>- Challenge: Initial ODF performance below expectations</a:t>
            </a:r>
          </a:p>
          <a:p>
            <a:r>
              <a:t>- Impact: Database workloads slower than VMs initially</a:t>
            </a:r>
          </a:p>
          <a:p>
            <a:r>
              <a:t>- Resolution:</a:t>
            </a:r>
          </a:p>
          <a:p>
            <a:r>
              <a:t>  - Storage class tuning for different workload types</a:t>
            </a:r>
          </a:p>
          <a:p>
            <a:r>
              <a:t>  - Dedicated storage pool for databases</a:t>
            </a:r>
          </a:p>
          <a:p>
            <a:r>
              <a:t>  - IOPS optimization</a:t>
            </a:r>
          </a:p>
          <a:p>
            <a:r>
              <a:t>- Result: Storage performance now exceeds VM baseline</a:t>
            </a:r>
          </a:p>
          <a:p/>
          <a:p>
            <a:r>
              <a:t>**Recommendations for Future Enhancement:**</a:t>
            </a:r>
          </a:p>
          <a:p/>
          <a:p>
            <a:r>
              <a:t>*1. Expand to Additional Applications (Phase 2):*</a:t>
            </a:r>
          </a:p>
          <a:p>
            <a:r>
              <a:t>- 10 pilot applications complete</a:t>
            </a:r>
          </a:p>
          <a:p>
            <a:r>
              <a:t>- 50+ applications identified for migration</a:t>
            </a:r>
          </a:p>
          <a:p>
            <a:r>
              <a:t>- Estimated effort: 4-6 weeks per application batch</a:t>
            </a:r>
          </a:p>
          <a:p>
            <a:r>
              <a:t>- Investment: ~$50,000 for Phase 2 migration services</a:t>
            </a:r>
          </a:p>
          <a:p>
            <a:r>
              <a:t>- Expected ROI: Additional $100K/year savings</a:t>
            </a:r>
          </a:p>
          <a:p/>
          <a:p>
            <a:r>
              <a:t>*2. Implement OpenShift Serverless (Knative):*</a:t>
            </a:r>
          </a:p>
          <a:p>
            <a:r>
              <a:t>- Candidate workloads: Event-driven processing</a:t>
            </a:r>
          </a:p>
          <a:p>
            <a:r>
              <a:t>- Benefits: Scale-to-zero, reduced costs</a:t>
            </a:r>
          </a:p>
          <a:p>
            <a:r>
              <a:t>- Timeline: 3-4 weeks implementation</a:t>
            </a:r>
          </a:p>
          <a:p>
            <a:r>
              <a:t>- Investment: Included in OpenShift Platform Plus license</a:t>
            </a:r>
          </a:p>
          <a:p/>
          <a:p>
            <a:r>
              <a:t>*3. Add Multi-Cluster Management (ACM):*</a:t>
            </a:r>
          </a:p>
          <a:p>
            <a:r>
              <a:t>- Current: Single cluster deployment</a:t>
            </a:r>
          </a:p>
          <a:p>
            <a:r>
              <a:t>- Future: DR cluster, development cluster</a:t>
            </a:r>
          </a:p>
          <a:p>
            <a:r>
              <a:t>- Benefits: Centralized management, policy enforcement</a:t>
            </a:r>
          </a:p>
          <a:p>
            <a:r>
              <a:t>- Already included in Platform Plus subscription</a:t>
            </a:r>
          </a:p>
          <a:p>
            <a:r>
              <a:t>- Timeline: 4-6 weeks for DR cluster</a:t>
            </a:r>
          </a:p>
          <a:p/>
          <a:p>
            <a:r>
              <a:t>*4. Establish Center of Excellence:*</a:t>
            </a:r>
          </a:p>
          <a:p>
            <a:r>
              <a:t>- Platform engineering team ownership</a:t>
            </a:r>
          </a:p>
          <a:p>
            <a:r>
              <a:t>- Best practices documentation</a:t>
            </a:r>
          </a:p>
          <a:p>
            <a:r>
              <a:t>- Developer enablement programs</a:t>
            </a:r>
          </a:p>
          <a:p>
            <a:r>
              <a:t>- Regular platform office hours</a:t>
            </a:r>
          </a:p>
          <a:p>
            <a:r>
              <a:t>- Quarterly technology reviews</a:t>
            </a:r>
          </a:p>
          <a:p/>
          <a:p>
            <a:r>
              <a:t>**Not Recommended at This Time:**</a:t>
            </a:r>
          </a:p>
          <a:p>
            <a:r>
              <a:t>- Custom operator development (standard operators sufficient)</a:t>
            </a:r>
          </a:p>
          <a:p>
            <a:r>
              <a:t>- Multi-region deployment (single region meeting requirements)</a:t>
            </a:r>
          </a:p>
          <a:p>
            <a:r>
              <a:t>- Bare metal deployment (VMware working well)</a:t>
            </a:r>
          </a:p>
          <a:p/>
          <a:p>
            <a:r>
              <a:t>*Transition:*</a:t>
            </a:r>
          </a:p>
          <a:p>
            <a:r>
              <a:t>"Let me walk you through how we're transitioning support to your team..."</a:t>
            </a:r>
          </a:p>
        </p:txBody>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idx="1"/>
          </p:nvPr>
        </p:nvSpPr>
        <p:spPr/>
        <p:txBody>
          <a:bodyPr/>
          <a:lstStyle/>
          <a:p>
            <a:r>
              <a:t>*Support Transition - Complete Details:*</a:t>
            </a:r>
          </a:p>
          <a:p/>
          <a:p>
            <a:r>
              <a:t>**Hypercare Period Summary (30 Days Post-Go-Live):**</a:t>
            </a:r>
          </a:p>
          <a:p/>
          <a:p>
            <a:r>
              <a:t>*Daily Activities Completed:*</a:t>
            </a:r>
          </a:p>
          <a:p>
            <a:r>
              <a:t>- Morning health check calls (9am) - first 2 weeks</a:t>
            </a:r>
          </a:p>
          <a:p>
            <a:r>
              <a:t>- Cluster monitoring review</a:t>
            </a:r>
          </a:p>
          <a:p>
            <a:r>
              <a:t>- Pod scheduling and resource utilization tracking</a:t>
            </a:r>
          </a:p>
          <a:p>
            <a:r>
              <a:t>- Application deployment monitoring</a:t>
            </a:r>
          </a:p>
          <a:p>
            <a:r>
              <a:t>- Developer support queue review</a:t>
            </a:r>
          </a:p>
          <a:p/>
          <a:p>
            <a:r>
              <a:t>*Issues Resolved During Hypercare:*</a:t>
            </a:r>
          </a:p>
          <a:p/>
          <a:p>
            <a:r>
              <a:t>Issue #1 (P3) - Day 5:</a:t>
            </a:r>
          </a:p>
          <a:p>
            <a:r>
              <a:t>- Problem: Slow image pull times from Quay registry</a:t>
            </a:r>
          </a:p>
          <a:p>
            <a:r>
              <a:t>- Root cause: Network policy too restrictive</a:t>
            </a:r>
          </a:p>
          <a:p>
            <a:r>
              <a:t>- Resolution: Adjusted network policy for registry traffic</a:t>
            </a:r>
          </a:p>
          <a:p>
            <a:r>
              <a:t>- Prevention: Updated network policy template</a:t>
            </a:r>
          </a:p>
          <a:p/>
          <a:p>
            <a:r>
              <a:t>Issue #2 (P3) - Day 12:</a:t>
            </a:r>
          </a:p>
          <a:p>
            <a:r>
              <a:t>- Problem: Memory pressure on worker node during peak</a:t>
            </a:r>
          </a:p>
          <a:p>
            <a:r>
              <a:t>- Root cause: Resource limits not set on some pods</a:t>
            </a:r>
          </a:p>
          <a:p>
            <a:r>
              <a:t>- Resolution: Enforced LimitRange across namespaces</a:t>
            </a:r>
          </a:p>
          <a:p>
            <a:r>
              <a:t>- Impact: Minimal (~15 minute pod eviction)</a:t>
            </a:r>
          </a:p>
          <a:p/>
          <a:p>
            <a:r>
              <a:t>*Knowledge Transfer Sessions Delivered:*</a:t>
            </a:r>
          </a:p>
          <a:p/>
          <a:p>
            <a:r>
              <a:t>| Session | Date | Attendees | Duration | Recording |</a:t>
            </a:r>
          </a:p>
          <a:p>
            <a:r>
              <a:t>|---------|------|-----------|----------|-----------|</a:t>
            </a:r>
          </a:p>
          <a:p>
            <a:r>
              <a:t>| Cluster Admin Deep Dive | Week 21 | 4 ops staff | 3 hours | Yes |</a:t>
            </a:r>
          </a:p>
          <a:p>
            <a:r>
              <a:t>| Troubleshooting Workshop | Week 22 | 4 ops staff | 2 hours | Yes |</a:t>
            </a:r>
          </a:p>
          <a:p>
            <a:r>
              <a:t>| Monitoring &amp; Alerting | Week 22 | 3 ops staff | 1.5 hours | Yes |</a:t>
            </a:r>
          </a:p>
          <a:p>
            <a:r>
              <a:t>| Developer Pipeline Training | Week 21 | 12 developers | 2 hours | Yes |</a:t>
            </a:r>
          </a:p>
          <a:p>
            <a:r>
              <a:t>| Executive Dashboard Review | Week 23 | 3 managers | 30 min | Yes |</a:t>
            </a:r>
          </a:p>
          <a:p/>
          <a:p>
            <a:r>
              <a:t>*Runbook Validation:*</a:t>
            </a:r>
          </a:p>
          <a:p>
            <a:r>
              <a:t>- All 15 runbook procedures tested by client operations team</a:t>
            </a:r>
          </a:p>
          <a:p>
            <a:r>
              <a:t>- Signed off by [Operations Lead] on [Date]</a:t>
            </a:r>
          </a:p>
          <a:p>
            <a:r>
              <a:t>- Procedures validated:</a:t>
            </a:r>
          </a:p>
          <a:p>
            <a:r>
              <a:t>  1. Daily health check</a:t>
            </a:r>
          </a:p>
          <a:p>
            <a:r>
              <a:t>  2. Pod troubleshooting</a:t>
            </a:r>
          </a:p>
          <a:p>
            <a:r>
              <a:t>  3. Node health management</a:t>
            </a:r>
          </a:p>
          <a:p>
            <a:r>
              <a:t>  4. Storage management</a:t>
            </a:r>
          </a:p>
          <a:p>
            <a:r>
              <a:t>  5. Certificate renewal</a:t>
            </a:r>
          </a:p>
          <a:p>
            <a:r>
              <a:t>  6. User access management</a:t>
            </a:r>
          </a:p>
          <a:p>
            <a:r>
              <a:t>  7. Application deployment support</a:t>
            </a:r>
          </a:p>
          <a:p>
            <a:r>
              <a:t>  8. Pipeline troubleshooting</a:t>
            </a:r>
          </a:p>
          <a:p>
            <a:r>
              <a:t>  9. Monitoring alert response</a:t>
            </a:r>
          </a:p>
          <a:p>
            <a:r>
              <a:t>  10. Capacity management</a:t>
            </a:r>
          </a:p>
          <a:p>
            <a:r>
              <a:t>  11. Backup verification</a:t>
            </a:r>
          </a:p>
          <a:p>
            <a:r>
              <a:t>  12. Disaster recovery</a:t>
            </a:r>
          </a:p>
          <a:p>
            <a:r>
              <a:t>  13. Security incident response</a:t>
            </a:r>
          </a:p>
          <a:p>
            <a:r>
              <a:t>  14. Platform upgrade process</a:t>
            </a:r>
          </a:p>
          <a:p>
            <a:r>
              <a:t>  15. Emergency contacts</a:t>
            </a:r>
          </a:p>
          <a:p/>
          <a:p>
            <a:r>
              <a:t>**Steady State Support Model:**</a:t>
            </a:r>
          </a:p>
          <a:p/>
          <a:p>
            <a:r>
              <a:t>*What Client Team Handles (L1/L2):*</a:t>
            </a:r>
          </a:p>
          <a:p>
            <a:r>
              <a:t>- Daily monitoring via Grafana dashboards</a:t>
            </a:r>
          </a:p>
          <a:p>
            <a:r>
              <a:t>- Developer support and onboarding</a:t>
            </a:r>
          </a:p>
          <a:p>
            <a:r>
              <a:t>- Application deployment assistance</a:t>
            </a:r>
          </a:p>
          <a:p>
            <a:r>
              <a:t>- Basic troubleshooting (per runbook)</a:t>
            </a:r>
          </a:p>
          <a:p>
            <a:r>
              <a:t>- Capacity monitoring and planning</a:t>
            </a:r>
          </a:p>
          <a:p>
            <a:r>
              <a:t>- User access management</a:t>
            </a:r>
          </a:p>
          <a:p/>
          <a:p>
            <a:r>
              <a:t>*When to Escalate to Red Hat (L3):*</a:t>
            </a:r>
          </a:p>
          <a:p>
            <a:r>
              <a:t>- Cluster stability issues</a:t>
            </a:r>
          </a:p>
          <a:p>
            <a:r>
              <a:t>- Operator failures</a:t>
            </a:r>
          </a:p>
          <a:p>
            <a:r>
              <a:t>- Performance degradation not resolved by runbook</a:t>
            </a:r>
          </a:p>
          <a:p>
            <a:r>
              <a:t>- Security vulnerabilities requiring patches</a:t>
            </a:r>
          </a:p>
          <a:p>
            <a:r>
              <a:t>- Platform upgrade issues</a:t>
            </a:r>
          </a:p>
          <a:p>
            <a:r>
              <a:t>- Complex networking issues</a:t>
            </a:r>
          </a:p>
          <a:p/>
          <a:p>
            <a:r>
              <a:t>**Red Hat Support Entitlement:**</a:t>
            </a:r>
          </a:p>
          <a:p>
            <a:r>
              <a:t>- Premium support included with OpenShift Platform Plus</a:t>
            </a:r>
          </a:p>
          <a:p>
            <a:r>
              <a:t>- 4-hour response SLA for Severity 1 issues</a:t>
            </a:r>
          </a:p>
          <a:p>
            <a:r>
              <a:t>- 8-hour response SLA for Severity 2 issues</a:t>
            </a:r>
          </a:p>
          <a:p>
            <a:r>
              <a:t>- Access to Red Hat Customer Portal</a:t>
            </a:r>
          </a:p>
          <a:p>
            <a:r>
              <a:t>- Certified Operator catalog and updates</a:t>
            </a:r>
          </a:p>
          <a:p/>
          <a:p>
            <a:r>
              <a:t>**Monthly Operational Tasks:**</a:t>
            </a:r>
          </a:p>
          <a:p>
            <a:r>
              <a:t>- Week 1: Review cluster metrics and trends</a:t>
            </a:r>
          </a:p>
          <a:p>
            <a:r>
              <a:t>- Week 2: Capacity planning review</a:t>
            </a:r>
          </a:p>
          <a:p>
            <a:r>
              <a:t>- Week 3: Security scan review</a:t>
            </a:r>
          </a:p>
          <a:p>
            <a:r>
              <a:t>- Week 4: Cost optimization review</a:t>
            </a:r>
          </a:p>
          <a:p/>
          <a:p>
            <a:r>
              <a:t>**Quarterly Tasks:**</a:t>
            </a:r>
          </a:p>
          <a:p>
            <a:r>
              <a:t>- Platform security updates</a:t>
            </a:r>
          </a:p>
          <a:p>
            <a:r>
              <a:t>- Operator version reviews</a:t>
            </a:r>
          </a:p>
          <a:p>
            <a:r>
              <a:t>- Disaster recovery test</a:t>
            </a:r>
          </a:p>
          <a:p>
            <a:r>
              <a:t>- Performance benchmarking</a:t>
            </a:r>
          </a:p>
          <a:p/>
          <a:p>
            <a:r>
              <a:t>*Transition:*</a:t>
            </a:r>
          </a:p>
          <a:p>
            <a:r>
              <a:t>"Let me acknowledge the team that made this possible and outline next steps..."</a:t>
            </a:r>
          </a:p>
        </p:txBody>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idx="1"/>
          </p:nvPr>
        </p:nvSpPr>
        <p:spPr/>
        <p:txBody>
          <a:bodyPr/>
          <a:lstStyle/>
          <a:p>
            <a:r>
              <a:t>*Acknowledgments - Recognize Key Contributors:*</a:t>
            </a:r>
          </a:p>
          <a:p/>
          <a:p>
            <a:r>
              <a:t>**Client Team Recognition:**</a:t>
            </a:r>
          </a:p>
          <a:p/>
          <a:p>
            <a:r>
              <a:t>*Executive Sponsor - [Name]:*</a:t>
            </a:r>
          </a:p>
          <a:p>
            <a:r>
              <a:t>- Championed the container platform initiative</a:t>
            </a:r>
          </a:p>
          <a:p>
            <a:r>
              <a:t>- Secured budget and organizational support</a:t>
            </a:r>
          </a:p>
          <a:p>
            <a:r>
              <a:t>- Removed blockers when escalated</a:t>
            </a:r>
          </a:p>
          <a:p>
            <a:r>
              <a:t>- Key decision: Approved phased migration approach</a:t>
            </a:r>
          </a:p>
          <a:p/>
          <a:p>
            <a:r>
              <a:t>*IT Lead - [Name]:*</a:t>
            </a:r>
          </a:p>
          <a:p>
            <a:r>
              <a:t>- Technical counterpart throughout implementation</a:t>
            </a:r>
          </a:p>
          <a:p>
            <a:r>
              <a:t>- Infrastructure access coordination</a:t>
            </a:r>
          </a:p>
          <a:p>
            <a:r>
              <a:t>- Security and compliance validation</a:t>
            </a:r>
          </a:p>
          <a:p>
            <a:r>
              <a:t>- Knowledge transfer recipient</a:t>
            </a:r>
          </a:p>
          <a:p/>
          <a:p>
            <a:r>
              <a:t>*Operations Lead - [Name]:*</a:t>
            </a:r>
          </a:p>
          <a:p>
            <a:r>
              <a:t>- Platform operations ownership</a:t>
            </a:r>
          </a:p>
          <a:p>
            <a:r>
              <a:t>- Runbook validation and sign-off</a:t>
            </a:r>
          </a:p>
          <a:p>
            <a:r>
              <a:t>- 24/7 on-call rotation establishment</a:t>
            </a:r>
          </a:p>
          <a:p>
            <a:r>
              <a:t>- Team training coordination</a:t>
            </a:r>
          </a:p>
          <a:p/>
          <a:p>
            <a:r>
              <a:t>*Development Teams:*</a:t>
            </a:r>
          </a:p>
          <a:p>
            <a:r>
              <a:t>- Participated in pilot application migrations</a:t>
            </a:r>
          </a:p>
          <a:p>
            <a:r>
              <a:t>- Provided feedback during demos</a:t>
            </a:r>
          </a:p>
          <a:p>
            <a:r>
              <a:t>- Early adopters of GitOps workflows</a:t>
            </a:r>
          </a:p>
          <a:p>
            <a:r>
              <a:t>- Internal champions for platform adoption</a:t>
            </a:r>
          </a:p>
          <a:p/>
          <a:p>
            <a:r>
              <a:t>**Vendor Team Recognition:**</a:t>
            </a:r>
          </a:p>
          <a:p/>
          <a:p>
            <a:r>
              <a:t>*Project Manager:*</a:t>
            </a:r>
          </a:p>
          <a:p>
            <a:r>
              <a:t>- Overall delivery accountability</a:t>
            </a:r>
          </a:p>
          <a:p>
            <a:r>
              <a:t>- Stakeholder communication</a:t>
            </a:r>
          </a:p>
          <a:p>
            <a:r>
              <a:t>- Risk and issue management</a:t>
            </a:r>
          </a:p>
          <a:p>
            <a:r>
              <a:t>- On-time, on-budget delivery</a:t>
            </a:r>
          </a:p>
          <a:p/>
          <a:p>
            <a:r>
              <a:t>*Solutions Architect:*</a:t>
            </a:r>
          </a:p>
          <a:p>
            <a:r>
              <a:t>- OpenShift architecture design</a:t>
            </a:r>
          </a:p>
          <a:p>
            <a:r>
              <a:t>- Integration patterns</a:t>
            </a:r>
          </a:p>
          <a:p>
            <a:r>
              <a:t>- Performance optimization</a:t>
            </a:r>
          </a:p>
          <a:p>
            <a:r>
              <a:t>- Technical documentation</a:t>
            </a:r>
          </a:p>
          <a:p/>
          <a:p>
            <a:r>
              <a:t>*OpenShift Engineers:*</a:t>
            </a:r>
          </a:p>
          <a:p>
            <a:r>
              <a:t>- Platform deployment and configuration</a:t>
            </a:r>
          </a:p>
          <a:p>
            <a:r>
              <a:t>- CI/CD pipeline setup</a:t>
            </a:r>
          </a:p>
          <a:p>
            <a:r>
              <a:t>- Application containerization</a:t>
            </a:r>
          </a:p>
          <a:p>
            <a:r>
              <a:t>- Troubleshooting and support</a:t>
            </a:r>
          </a:p>
          <a:p/>
          <a:p>
            <a:r>
              <a:t>**Special Recognition:**</a:t>
            </a:r>
          </a:p>
          <a:p>
            <a:r>
              <a:t>"I want to especially thank the operations team. They dedicated significant time during hypercare to learn the platform, validate every runbook procedure, and achieve Red Hat certification. Their commitment ensures the platform will be well-managed going forward."</a:t>
            </a:r>
          </a:p>
          <a:p/>
          <a:p>
            <a:r>
              <a:t>**Immediate Next Steps (This Week):**</a:t>
            </a:r>
          </a:p>
          <a:p/>
          <a:p>
            <a:r>
              <a:t>| Task | Owner | Due Date |</a:t>
            </a:r>
          </a:p>
          <a:p>
            <a:r>
              <a:t>|------|-------|----------|</a:t>
            </a:r>
          </a:p>
          <a:p>
            <a:r>
              <a:t>| Final documentation handover | PM | [Date] |</a:t>
            </a:r>
          </a:p>
          <a:p>
            <a:r>
              <a:t>| Archive project SharePoint site | PM | [Date] |</a:t>
            </a:r>
          </a:p>
          <a:p>
            <a:r>
              <a:t>| Close project tracking | PM | [Date] |</a:t>
            </a:r>
          </a:p>
          <a:p>
            <a:r>
              <a:t>| Update asset inventory | IT Lead | [Date] |</a:t>
            </a:r>
          </a:p>
          <a:p>
            <a:r>
              <a:t>| Confirm support contacts | IT Lead | [Date] |</a:t>
            </a:r>
          </a:p>
          <a:p/>
          <a:p>
            <a:r>
              <a:t>**30-Day Next Steps:**</a:t>
            </a:r>
          </a:p>
          <a:p/>
          <a:p>
            <a:r>
              <a:t>| Task | Owner | Due Date |</a:t>
            </a:r>
          </a:p>
          <a:p>
            <a:r>
              <a:t>|------|-------|----------|</a:t>
            </a:r>
          </a:p>
          <a:p>
            <a:r>
              <a:t>| First monthly performance review | Operations Lead | [Date+30] |</a:t>
            </a:r>
          </a:p>
          <a:p>
            <a:r>
              <a:t>| Cluster utilization analysis | Platform Team | [Date+30] |</a:t>
            </a:r>
          </a:p>
          <a:p>
            <a:r>
              <a:t>| Developer satisfaction survey | PM | [Date+30] |</a:t>
            </a:r>
          </a:p>
          <a:p>
            <a:r>
              <a:t>| Identify Phase 2 applications | Business Lead | [Date+30] |</a:t>
            </a:r>
          </a:p>
          <a:p/>
          <a:p>
            <a:r>
              <a:t>**Quarterly Planning (Next Quarter):**</a:t>
            </a:r>
          </a:p>
          <a:p>
            <a:r>
              <a:t>- Phase 2 planning workshop</a:t>
            </a:r>
          </a:p>
          <a:p>
            <a:r>
              <a:t>- Application prioritization</a:t>
            </a:r>
          </a:p>
          <a:p>
            <a:r>
              <a:t>- Migration effort estimation</a:t>
            </a:r>
          </a:p>
          <a:p>
            <a:r>
              <a:t>- Resource planning</a:t>
            </a:r>
          </a:p>
          <a:p>
            <a:r>
              <a:t>- Budget planning for expansion</a:t>
            </a:r>
          </a:p>
          <a:p/>
          <a:p>
            <a:r>
              <a:t>**Phase 2 Application Candidates:**</a:t>
            </a:r>
          </a:p>
          <a:p>
            <a:r>
              <a:t>Based on discovery and pilot experience:</a:t>
            </a:r>
          </a:p>
          <a:p/>
          <a:p>
            <a:r>
              <a:t>| Application Type | Count | Complexity | Est. Effort |</a:t>
            </a:r>
          </a:p>
          <a:p>
            <a:r>
              <a:t>|------------------|-------|------------|-------------|</a:t>
            </a:r>
          </a:p>
          <a:p>
            <a:r>
              <a:t>| Stateless Web Apps | 20 | Low | 2 weeks/batch |</a:t>
            </a:r>
          </a:p>
          <a:p>
            <a:r>
              <a:t>| API Services | 15 | Medium | 3 weeks/batch |</a:t>
            </a:r>
          </a:p>
          <a:p>
            <a:r>
              <a:t>| Stateful Apps | 10 | High | 4 weeks/batch |</a:t>
            </a:r>
          </a:p>
          <a:p>
            <a:r>
              <a:t>| Legacy Apps | 5 | Complex | Individual assessment |</a:t>
            </a:r>
          </a:p>
          <a:p/>
          <a:p>
            <a:r>
              <a:t>Recommendation: Start with stateless web apps for quick wins</a:t>
            </a:r>
          </a:p>
          <a:p/>
          <a:p>
            <a:r>
              <a:t>*Transition:*</a:t>
            </a:r>
          </a:p>
          <a:p>
            <a:r>
              <a:t>"Thank you for your partnership on this project. Let me open the floor for questions..."</a:t>
            </a:r>
          </a:p>
        </p:txBody>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idx="1"/>
          </p:nvPr>
        </p:nvSpPr>
        <p:spPr/>
        <p:txBody>
          <a:bodyPr/>
          <a:lstStyle/>
          <a:p>
            <a:r>
              <a:t>*Closing and Q&amp;A Preparation:*</a:t>
            </a:r>
          </a:p>
          <a:p/>
          <a:p>
            <a:r>
              <a:t>**Closing Statement:**</a:t>
            </a:r>
          </a:p>
          <a:p>
            <a:r>
              <a:t>"Thank you for your partnership throughout this project. We've successfully transformed your application deployment capabilities from a manual VM-based process into an automated, self-service container platform. The platform is performing above targets, the team is trained and ready, and you're already seeing measurable business value.</a:t>
            </a:r>
          </a:p>
          <a:p/>
          <a:p>
            <a:r>
              <a:t>I want to open the floor for questions. We have [time] remaining."</a:t>
            </a:r>
          </a:p>
          <a:p/>
          <a:p>
            <a:r>
              <a:t>**Anticipated Questions and Prepared Answers:**</a:t>
            </a:r>
          </a:p>
          <a:p/>
          <a:p>
            <a:r>
              <a:t>*Q: What happens if the cluster has issues?*</a:t>
            </a:r>
          </a:p>
          <a:p>
            <a:r>
              <a:t>A: The operations team has been trained and certified. For complex issues, Red Hat Premium support provides 4-hour response SLA. The runbook covers common scenarios, and escalation paths are documented.</a:t>
            </a:r>
          </a:p>
          <a:p/>
          <a:p>
            <a:r>
              <a:t>*Q: Can we add more applications ourselves?*</a:t>
            </a:r>
          </a:p>
          <a:p>
            <a:r>
              <a:t>A: Yes! The developer training and templates enable self-service application onboarding. For complex migrations or new patterns, we can assist with Phase 2 services.</a:t>
            </a:r>
          </a:p>
          <a:p/>
          <a:p>
            <a:r>
              <a:t>*Q: What are the ongoing costs?*</a:t>
            </a:r>
          </a:p>
          <a:p>
            <a:r>
              <a:t>A: Year 2 and Year 3 costs are approximately $207,576/year:</a:t>
            </a:r>
          </a:p>
          <a:p>
            <a:r>
              <a:t>- Software licenses: $136,800/year</a:t>
            </a:r>
          </a:p>
          <a:p>
            <a:r>
              <a:t>- Support &amp; maintenance: $52,900/year</a:t>
            </a:r>
          </a:p>
          <a:p>
            <a:r>
              <a:t>- Cloud services: $9,876/year</a:t>
            </a:r>
          </a:p>
          <a:p>
            <a:r>
              <a:t>- Hardware maintenance: $8,000/year</a:t>
            </a:r>
          </a:p>
          <a:p>
            <a:r>
              <a:t>Costs are stable unless you add nodes.</a:t>
            </a:r>
          </a:p>
          <a:p/>
          <a:p>
            <a:r>
              <a:t>*Q: How do we handle capacity increases?*</a:t>
            </a:r>
          </a:p>
          <a:p>
            <a:r>
              <a:t>A: The cluster can scale by adding worker nodes. Current capacity supports 500-1000 containers. For significant growth, we'd add worker nodes (~$30K/node) and potentially additional OpenShift subscriptions.</a:t>
            </a:r>
          </a:p>
          <a:p/>
          <a:p>
            <a:r>
              <a:t>*Q: What about security updates?*</a:t>
            </a:r>
          </a:p>
          <a:p>
            <a:r>
              <a:t>A: Red Hat provides regular security patches through the Operator Lifecycle Manager. The operations team can apply updates during maintenance windows. Critical CVEs trigger Red Hat advisories.</a:t>
            </a:r>
          </a:p>
          <a:p/>
          <a:p>
            <a:r>
              <a:t>*Q: When should we start Phase 2?*</a:t>
            </a:r>
          </a:p>
          <a:p>
            <a:r>
              <a:t>A: I recommend waiting 60-90 days to:</a:t>
            </a:r>
          </a:p>
          <a:p>
            <a:r>
              <a:t>1. Establish stable operational patterns</a:t>
            </a:r>
          </a:p>
          <a:p>
            <a:r>
              <a:t>2. Gather developer feedback</a:t>
            </a:r>
          </a:p>
          <a:p>
            <a:r>
              <a:t>3. Build internal expertise</a:t>
            </a:r>
          </a:p>
          <a:p>
            <a:r>
              <a:t>4. Identify priority applications</a:t>
            </a:r>
          </a:p>
          <a:p>
            <a:r>
              <a:t>Then we can do a Phase 2 planning workshop.</a:t>
            </a:r>
          </a:p>
          <a:p/>
          <a:p>
            <a:r>
              <a:t>**Demo Offer:**</a:t>
            </a:r>
          </a:p>
          <a:p>
            <a:r>
              <a:t>"Would anyone like to see a live demonstration of a GitOps deployment? I can show you the developer workflow from code commit to production deployment."</a:t>
            </a:r>
          </a:p>
          <a:p/>
          <a:p>
            <a:r>
              <a:t>**Follow-Up Commitments:**</a:t>
            </a:r>
          </a:p>
          <a:p>
            <a:r>
              <a:t>- [ ] Send final presentation deck to all attendees</a:t>
            </a:r>
          </a:p>
          <a:p>
            <a:r>
              <a:t>- [ ] Distribute project summary one-pager</a:t>
            </a:r>
          </a:p>
          <a:p>
            <a:r>
              <a:t>- [ ] Schedule 30-day performance review meeting</a:t>
            </a:r>
          </a:p>
          <a:p>
            <a:r>
              <a:t>- [ ] Send Phase 2 application assessment template</a:t>
            </a:r>
          </a:p>
          <a:p>
            <a:r>
              <a:t>- [ ] Provide Red Hat training voucher information</a:t>
            </a:r>
          </a:p>
          <a:p/>
          <a:p>
            <a:r>
              <a:t>**Final Closing:**</a:t>
            </a:r>
          </a:p>
          <a:p>
            <a:r>
              <a:t>"Thank you again for your trust in our team. This project demonstrates what's possible when business and technology teams collaborate effectively. We look forward to continuing this partnership in Phase 2 and beyond.</a:t>
            </a:r>
          </a:p>
          <a:p/>
          <a:p>
            <a:r>
              <a:t>Please don't hesitate to reach out to me or [Account Manager] if any questions come up. Have a great [rest of your day/afternoon]."</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bin"/></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bin"/></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EO Title Slide">
    <p:spTree>
      <p:nvGrpSpPr>
        <p:cNvPr id="1" name=""/>
        <p:cNvGrpSpPr/>
        <p:nvPr/>
      </p:nvGrpSpPr>
      <p:grpSpPr>
        <a:xfrm>
          <a:off x="0" y="0"/>
          <a:ext cx="0" cy="0"/>
          <a:chOff x="0" y="0"/>
          <a:chExt cx="0" cy="0"/>
        </a:xfrm>
      </p:grpSpPr>
      <p:sp>
        <p:nvSpPr>
          <p:cNvPr id="4" name="Picture Placeholder 3">
            <a:extLst>
              <a:ext uri="{FF2B5EF4-FFF2-40B4-BE49-F238E27FC236}">
                <a16:creationId xmlns:a16="http://schemas.microsoft.com/office/drawing/2014/main" id="{8D36A0E4-7374-4A92-CEC2-AC1CC29B855F}"/>
              </a:ext>
            </a:extLst>
          </p:cNvPr>
          <p:cNvSpPr>
            <a:spLocks noGrp="1"/>
          </p:cNvSpPr>
          <p:nvPr>
            <p:ph type="pic" sz="quarter" idx="10"/>
          </p:nvPr>
        </p:nvSpPr>
        <p:spPr>
          <a:xfrm>
            <a:off x="2180492" y="171206"/>
            <a:ext cx="3978520" cy="1314694"/>
          </a:xfrm>
          <a:prstGeom prst="rect">
            <a:avLst/>
          </a:prstGeom>
        </p:spPr>
        <p:txBody>
          <a:bodyPr/>
          <a:lstStyle/>
          <a:p>
            <a:endParaRPr lang="en-US" dirty="0"/>
          </a:p>
        </p:txBody>
      </p:sp>
      <p:pic>
        <p:nvPicPr>
          <p:cNvPr id="5" name="Image 0" descr="/home/claude/eo-framework-logo.png">
            <a:extLst>
              <a:ext uri="{FF2B5EF4-FFF2-40B4-BE49-F238E27FC236}">
                <a16:creationId xmlns:a16="http://schemas.microsoft.com/office/drawing/2014/main" id="{028AFAE3-D949-BFF8-132D-C3956962B6BC}"/>
              </a:ext>
            </a:extLst>
          </p:cNvPr>
          <p:cNvPicPr>
            <a:picLocks noChangeAspect="1"/>
          </p:cNvPicPr>
          <p:nvPr userDrawn="1"/>
        </p:nvPicPr>
        <p:blipFill>
          <a:blip r:embed="rId2"/>
          <a:stretch>
            <a:fillRect/>
          </a:stretch>
        </p:blipFill>
        <p:spPr>
          <a:xfrm>
            <a:off x="6945879" y="4648200"/>
            <a:ext cx="1952244" cy="417576"/>
          </a:xfrm>
          <a:prstGeom prst="rect">
            <a:avLst/>
          </a:prstGeom>
        </p:spPr>
      </p:pic>
      <p:sp>
        <p:nvSpPr>
          <p:cNvPr id="6" name="Text Placeholder 8">
            <a:extLst>
              <a:ext uri="{FF2B5EF4-FFF2-40B4-BE49-F238E27FC236}">
                <a16:creationId xmlns:a16="http://schemas.microsoft.com/office/drawing/2014/main" id="{ABC2FEB1-3552-40B4-D5D2-8C9A2DF4EF3E}"/>
              </a:ext>
            </a:extLst>
          </p:cNvPr>
          <p:cNvSpPr>
            <a:spLocks noGrp="1"/>
          </p:cNvSpPr>
          <p:nvPr>
            <p:ph type="body" sz="quarter" idx="12" hasCustomPrompt="1"/>
          </p:nvPr>
        </p:nvSpPr>
        <p:spPr>
          <a:xfrm>
            <a:off x="538528" y="1886679"/>
            <a:ext cx="7671288" cy="527050"/>
          </a:xfrm>
          <a:prstGeom prst="rect">
            <a:avLst/>
          </a:prstGeom>
        </p:spPr>
        <p:txBody>
          <a:bodyPr/>
          <a:lstStyle>
            <a:lvl1pPr marL="0" indent="0" algn="ctr">
              <a:lnSpc>
                <a:spcPts val="3600"/>
              </a:lnSpc>
              <a:buNone/>
              <a:defRPr sz="3600" b="1" i="0" baseline="0">
                <a:latin typeface="Arial" panose="020B0604020202020204" pitchFamily="34" charset="0"/>
              </a:defRPr>
            </a:lvl1pPr>
          </a:lstStyle>
          <a:p>
            <a:pPr marL="0" indent="0" algn="ctr">
              <a:lnSpc>
                <a:spcPts val="3600"/>
              </a:lnSpc>
              <a:buNone/>
            </a:pPr>
            <a:r>
              <a:rPr lang="en-US" sz="3600" b="1" dirty="0">
                <a:solidFill>
                  <a:srgbClr val="2C3E50"/>
                </a:solidFill>
                <a:latin typeface="Arial" pitchFamily="34" charset="0"/>
                <a:ea typeface="Arial" pitchFamily="34" charset="-122"/>
                <a:cs typeface="Arial" pitchFamily="34" charset="-120"/>
              </a:rPr>
              <a:t>Presentation Title</a:t>
            </a:r>
            <a:endParaRPr lang="en-US" sz="3600" dirty="0"/>
          </a:p>
        </p:txBody>
      </p:sp>
      <p:sp>
        <p:nvSpPr>
          <p:cNvPr id="7" name="Picture Placeholder 13">
            <a:extLst>
              <a:ext uri="{FF2B5EF4-FFF2-40B4-BE49-F238E27FC236}">
                <a16:creationId xmlns:a16="http://schemas.microsoft.com/office/drawing/2014/main" id="{86145EB1-48C8-058E-F657-82D57B579544}"/>
              </a:ext>
            </a:extLst>
          </p:cNvPr>
          <p:cNvSpPr>
            <a:spLocks noGrp="1"/>
          </p:cNvSpPr>
          <p:nvPr>
            <p:ph type="pic" sz="quarter" idx="13"/>
          </p:nvPr>
        </p:nvSpPr>
        <p:spPr>
          <a:xfrm>
            <a:off x="313591" y="4536078"/>
            <a:ext cx="2099897" cy="529698"/>
          </a:xfrm>
          <a:prstGeom prst="rect">
            <a:avLst/>
          </a:prstGeom>
        </p:spPr>
        <p:txBody>
          <a:bodyPr/>
          <a:lstStyle/>
          <a:p>
            <a:endParaRPr lang="en-US" dirty="0"/>
          </a:p>
        </p:txBody>
      </p:sp>
      <p:sp>
        <p:nvSpPr>
          <p:cNvPr id="8" name="Text 0">
            <a:extLst>
              <a:ext uri="{FF2B5EF4-FFF2-40B4-BE49-F238E27FC236}">
                <a16:creationId xmlns:a16="http://schemas.microsoft.com/office/drawing/2014/main" id="{D51056DC-8081-0916-0351-65D88D1682B8}"/>
              </a:ext>
            </a:extLst>
          </p:cNvPr>
          <p:cNvSpPr/>
          <p:nvPr userDrawn="1"/>
        </p:nvSpPr>
        <p:spPr>
          <a:xfrm>
            <a:off x="2224455" y="1676475"/>
            <a:ext cx="3886322" cy="45719"/>
          </a:xfrm>
          <a:prstGeom prst="roundRect">
            <a:avLst>
              <a:gd name="adj" fmla="val 50000"/>
            </a:avLst>
          </a:prstGeom>
          <a:solidFill>
            <a:srgbClr val="CC0000"/>
          </a:solidFill>
          <a:ln/>
        </p:spPr>
        <p:txBody>
          <a:bodyPr wrap="square" rtlCol="0" anchor="ctr"/>
          <a:lstStyle/>
          <a:p>
            <a:pPr marL="0" indent="0">
              <a:buNone/>
            </a:pPr>
            <a:endParaRPr lang="en-US" dirty="0"/>
          </a:p>
        </p:txBody>
      </p:sp>
      <p:sp>
        <p:nvSpPr>
          <p:cNvPr id="10" name="Text Placeholder 9">
            <a:extLst>
              <a:ext uri="{FF2B5EF4-FFF2-40B4-BE49-F238E27FC236}">
                <a16:creationId xmlns:a16="http://schemas.microsoft.com/office/drawing/2014/main" id="{DC531180-94E5-3403-56E5-895E003A9D72}"/>
              </a:ext>
            </a:extLst>
          </p:cNvPr>
          <p:cNvSpPr>
            <a:spLocks noGrp="1"/>
          </p:cNvSpPr>
          <p:nvPr>
            <p:ph type="body" sz="quarter" idx="14" hasCustomPrompt="1"/>
          </p:nvPr>
        </p:nvSpPr>
        <p:spPr>
          <a:xfrm>
            <a:off x="1059473" y="2437679"/>
            <a:ext cx="6629399" cy="334598"/>
          </a:xfrm>
          <a:prstGeom prst="rect">
            <a:avLst/>
          </a:prstGeom>
        </p:spPr>
        <p:txBody>
          <a:bodyPr/>
          <a:lstStyle>
            <a:lvl1pPr marL="0" marR="0" indent="0" algn="ctr" defTabSz="914400" rtl="0" eaLnBrk="1" fontAlgn="auto" latinLnBrk="0" hangingPunct="1">
              <a:lnSpc>
                <a:spcPct val="100000"/>
              </a:lnSpc>
              <a:spcBef>
                <a:spcPct val="20000"/>
              </a:spcBef>
              <a:spcAft>
                <a:spcPts val="0"/>
              </a:spcAft>
              <a:buClrTx/>
              <a:buSzTx/>
              <a:buFont typeface="Arial" pitchFamily="34" charset="0"/>
              <a:buNone/>
              <a:tabLst/>
              <a:defRPr sz="1800">
                <a:latin typeface="Arial" panose="020B0604020202020204" pitchFamily="34" charset="0"/>
                <a:cs typeface="Arial" panose="020B0604020202020204" pitchFamily="34" charset="0"/>
              </a:defRPr>
            </a:lvl1pPr>
          </a:lstStyle>
          <a:p>
            <a:pPr marL="0" marR="0" lvl="0" indent="0" algn="ctr" defTabSz="914400" rtl="0" eaLnBrk="1" fontAlgn="auto" latinLnBrk="0" hangingPunct="1">
              <a:lnSpc>
                <a:spcPct val="100000"/>
              </a:lnSpc>
              <a:spcBef>
                <a:spcPct val="20000"/>
              </a:spcBef>
              <a:spcAft>
                <a:spcPts val="0"/>
              </a:spcAft>
              <a:buClrTx/>
              <a:buSzTx/>
              <a:buFont typeface="Arial" pitchFamily="34" charset="0"/>
              <a:buNone/>
              <a:tabLst/>
              <a:defRPr/>
            </a:pPr>
            <a:r>
              <a:rPr lang="en-US" sz="1800" dirty="0">
                <a:solidFill>
                  <a:srgbClr val="6C757D"/>
                </a:solidFill>
                <a:latin typeface="Arial" pitchFamily="34" charset="0"/>
                <a:ea typeface="Arial" pitchFamily="34" charset="-122"/>
                <a:cs typeface="Arial" pitchFamily="34" charset="-120"/>
              </a:rPr>
              <a:t>Subtitle Text</a:t>
            </a:r>
            <a:endParaRPr lang="en-US" sz="1800" dirty="0"/>
          </a:p>
        </p:txBody>
      </p:sp>
      <p:sp>
        <p:nvSpPr>
          <p:cNvPr id="12" name="Text Placeholder 11">
            <a:extLst>
              <a:ext uri="{FF2B5EF4-FFF2-40B4-BE49-F238E27FC236}">
                <a16:creationId xmlns:a16="http://schemas.microsoft.com/office/drawing/2014/main" id="{39F5D3C5-0033-51A7-77BC-7E3DBBF84F2E}"/>
              </a:ext>
            </a:extLst>
          </p:cNvPr>
          <p:cNvSpPr>
            <a:spLocks noGrp="1"/>
          </p:cNvSpPr>
          <p:nvPr>
            <p:ph type="body" sz="quarter" idx="15" hasCustomPrompt="1"/>
          </p:nvPr>
        </p:nvSpPr>
        <p:spPr>
          <a:xfrm>
            <a:off x="2734286" y="3631467"/>
            <a:ext cx="3605212" cy="334963"/>
          </a:xfrm>
          <a:prstGeom prst="rect">
            <a:avLst/>
          </a:prstGeom>
        </p:spPr>
        <p:txBody>
          <a:bodyPr/>
          <a:lstStyle>
            <a:lvl1pPr marL="0" marR="0" indent="0" algn="ctr" defTabSz="914400" rtl="0" eaLnBrk="1" fontAlgn="auto" latinLnBrk="0" hangingPunct="1">
              <a:lnSpc>
                <a:spcPct val="100000"/>
              </a:lnSpc>
              <a:spcBef>
                <a:spcPct val="20000"/>
              </a:spcBef>
              <a:spcAft>
                <a:spcPts val="0"/>
              </a:spcAft>
              <a:buClrTx/>
              <a:buSzTx/>
              <a:buFont typeface="Arial" pitchFamily="34" charset="0"/>
              <a:buNone/>
              <a:tabLst/>
              <a:defRPr sz="1400">
                <a:latin typeface="Arial" panose="020B0604020202020204" pitchFamily="34" charset="0"/>
                <a:cs typeface="Arial" panose="020B0604020202020204" pitchFamily="34" charset="0"/>
              </a:defRPr>
            </a:lvl1pPr>
          </a:lstStyle>
          <a:p>
            <a:pPr lvl="0"/>
            <a:r>
              <a:rPr lang="en-US" sz="1400" dirty="0">
                <a:solidFill>
                  <a:srgbClr val="6C757D"/>
                </a:solidFill>
                <a:latin typeface="Arial" pitchFamily="34" charset="0"/>
                <a:cs typeface="Arial" pitchFamily="34" charset="-120"/>
              </a:rPr>
              <a:t>Presenter Name | Date</a:t>
            </a:r>
            <a:endParaRPr lang="en-US" dirty="0"/>
          </a:p>
        </p:txBody>
      </p:sp>
    </p:spTree>
    <p:extLst>
      <p:ext uri="{BB962C8B-B14F-4D97-AF65-F5344CB8AC3E}">
        <p14:creationId xmlns:p14="http://schemas.microsoft.com/office/powerpoint/2010/main" val="141143506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EO Single Column">
    <p:spTree>
      <p:nvGrpSpPr>
        <p:cNvPr id="1" name=""/>
        <p:cNvGrpSpPr/>
        <p:nvPr/>
      </p:nvGrpSpPr>
      <p:grpSpPr>
        <a:xfrm>
          <a:off x="0" y="0"/>
          <a:ext cx="0" cy="0"/>
          <a:chOff x="0" y="0"/>
          <a:chExt cx="0" cy="0"/>
        </a:xfrm>
      </p:grpSpPr>
      <p:sp>
        <p:nvSpPr>
          <p:cNvPr id="12" name="Picture Placeholder 13">
            <a:extLst>
              <a:ext uri="{FF2B5EF4-FFF2-40B4-BE49-F238E27FC236}">
                <a16:creationId xmlns:a16="http://schemas.microsoft.com/office/drawing/2014/main" id="{2DB97592-C4D5-B315-7F11-AA14F6EE8A62}"/>
              </a:ext>
            </a:extLst>
          </p:cNvPr>
          <p:cNvSpPr>
            <a:spLocks noGrp="1"/>
          </p:cNvSpPr>
          <p:nvPr>
            <p:ph type="pic" sz="quarter" idx="13"/>
          </p:nvPr>
        </p:nvSpPr>
        <p:spPr>
          <a:xfrm>
            <a:off x="313593" y="4536078"/>
            <a:ext cx="2143858" cy="529698"/>
          </a:xfrm>
          <a:prstGeom prst="rect">
            <a:avLst/>
          </a:prstGeom>
        </p:spPr>
        <p:txBody>
          <a:bodyPr/>
          <a:lstStyle/>
          <a:p>
            <a:endParaRPr lang="en-US" dirty="0"/>
          </a:p>
        </p:txBody>
      </p:sp>
      <p:sp>
        <p:nvSpPr>
          <p:cNvPr id="3" name="Shape 1">
            <a:extLst>
              <a:ext uri="{FF2B5EF4-FFF2-40B4-BE49-F238E27FC236}">
                <a16:creationId xmlns:a16="http://schemas.microsoft.com/office/drawing/2014/main" id="{4EA828A1-D5D6-9ADA-1918-E5FE226673A0}"/>
              </a:ext>
            </a:extLst>
          </p:cNvPr>
          <p:cNvSpPr/>
          <p:nvPr userDrawn="1"/>
        </p:nvSpPr>
        <p:spPr>
          <a:xfrm>
            <a:off x="0" y="606304"/>
            <a:ext cx="9144000" cy="0"/>
          </a:xfrm>
          <a:prstGeom prst="line">
            <a:avLst/>
          </a:prstGeom>
          <a:noFill/>
          <a:ln w="28575">
            <a:solidFill>
              <a:srgbClr val="CC0000"/>
            </a:solidFill>
            <a:prstDash val="solid"/>
          </a:ln>
        </p:spPr>
        <p:txBody>
          <a:bodyPr/>
          <a:lstStyle/>
          <a:p>
            <a:endParaRPr lang="en-US"/>
          </a:p>
        </p:txBody>
      </p:sp>
      <p:sp>
        <p:nvSpPr>
          <p:cNvPr id="9" name="Text Placeholder 8">
            <a:extLst>
              <a:ext uri="{FF2B5EF4-FFF2-40B4-BE49-F238E27FC236}">
                <a16:creationId xmlns:a16="http://schemas.microsoft.com/office/drawing/2014/main" id="{980A86D4-478F-6846-9F0A-B815F2A3AB2D}"/>
              </a:ext>
            </a:extLst>
          </p:cNvPr>
          <p:cNvSpPr>
            <a:spLocks noGrp="1"/>
          </p:cNvSpPr>
          <p:nvPr>
            <p:ph type="body" sz="quarter" idx="10" hasCustomPrompt="1"/>
          </p:nvPr>
        </p:nvSpPr>
        <p:spPr>
          <a:xfrm>
            <a:off x="296863" y="0"/>
            <a:ext cx="8509304" cy="527008"/>
          </a:xfrm>
          <a:prstGeom prst="rect">
            <a:avLst/>
          </a:prstGeom>
        </p:spPr>
        <p:txBody>
          <a:bodyPr/>
          <a:lstStyle>
            <a:lvl1pPr marL="0" marR="0" indent="0" algn="l" defTabSz="914400" rtl="0" eaLnBrk="1" fontAlgn="auto" latinLnBrk="0" hangingPunct="1">
              <a:lnSpc>
                <a:spcPct val="100000"/>
              </a:lnSpc>
              <a:spcBef>
                <a:spcPct val="20000"/>
              </a:spcBef>
              <a:spcAft>
                <a:spcPts val="0"/>
              </a:spcAft>
              <a:buClrTx/>
              <a:buSzTx/>
              <a:buFont typeface="Arial" pitchFamily="34" charset="0"/>
              <a:buNone/>
              <a:tabLst/>
              <a:defRPr sz="2700" b="1">
                <a:latin typeface="Arial" panose="020B0604020202020204" pitchFamily="34" charset="0"/>
                <a:cs typeface="Arial" panose="020B0604020202020204" pitchFamily="34" charset="0"/>
              </a:defRPr>
            </a:lvl1pPr>
          </a:lstStyle>
          <a:p>
            <a:pPr lvl="0"/>
            <a:r>
              <a:rPr lang="en-US" dirty="0"/>
              <a:t>Slide Title</a:t>
            </a:r>
          </a:p>
        </p:txBody>
      </p:sp>
      <p:sp>
        <p:nvSpPr>
          <p:cNvPr id="4" name="Text Placeholder 3">
            <a:extLst>
              <a:ext uri="{FF2B5EF4-FFF2-40B4-BE49-F238E27FC236}">
                <a16:creationId xmlns:a16="http://schemas.microsoft.com/office/drawing/2014/main" id="{54BEE1A0-720D-187D-95F8-429F3DF3D64E}"/>
              </a:ext>
            </a:extLst>
          </p:cNvPr>
          <p:cNvSpPr>
            <a:spLocks noGrp="1"/>
          </p:cNvSpPr>
          <p:nvPr>
            <p:ph type="body" sz="quarter" idx="14"/>
          </p:nvPr>
        </p:nvSpPr>
        <p:spPr>
          <a:xfrm>
            <a:off x="296863" y="685601"/>
            <a:ext cx="8548687" cy="3811657"/>
          </a:xfrm>
          <a:prstGeom prst="rect">
            <a:avLst/>
          </a:prstGeom>
        </p:spPr>
        <p:txBody>
          <a:bodyPr/>
          <a:lstStyle>
            <a:lvl1pPr>
              <a:defRPr sz="2000" b="1" baseline="0">
                <a:solidFill>
                  <a:srgbClr val="C00000"/>
                </a:solidFill>
              </a:defRPr>
            </a:lvl1pPr>
            <a:lvl2pPr>
              <a:buFont typeface="Arial" panose="020B0604020202020204" pitchFamily="34" charset="0"/>
              <a:buChar char="•"/>
              <a:defRPr sz="1600"/>
            </a:lvl2pPr>
            <a:lvl3pPr>
              <a:defRPr sz="1400"/>
            </a:lvl3pPr>
            <a:lvl4pPr>
              <a:buFont typeface="Arial" panose="020B0604020202020204" pitchFamily="34" charset="0"/>
              <a:buChar char="•"/>
              <a:defRPr sz="1200"/>
            </a:lvl4pPr>
          </a:lstStyle>
          <a:p>
            <a:pPr lvl="0"/>
            <a:r>
              <a:rPr lang="en-US" dirty="0"/>
              <a:t>Click to edit Master text styles</a:t>
            </a:r>
          </a:p>
          <a:p>
            <a:pPr lvl="1"/>
            <a:r>
              <a:rPr lang="en-US" dirty="0"/>
              <a:t>Second level</a:t>
            </a:r>
          </a:p>
          <a:p>
            <a:pPr lvl="2"/>
            <a:r>
              <a:rPr lang="en-US" dirty="0"/>
              <a:t>Third level</a:t>
            </a:r>
          </a:p>
          <a:p>
            <a:pPr lvl="3"/>
            <a:r>
              <a:rPr lang="en-US" dirty="0"/>
              <a:t>Fourth level</a:t>
            </a:r>
          </a:p>
        </p:txBody>
      </p:sp>
      <p:sp>
        <p:nvSpPr>
          <p:cNvPr id="5" name="Text Placeholder 4">
            <a:extLst>
              <a:ext uri="{FF2B5EF4-FFF2-40B4-BE49-F238E27FC236}">
                <a16:creationId xmlns:a16="http://schemas.microsoft.com/office/drawing/2014/main" id="{57F71806-AFEA-DD6D-E6AA-E2A002E682DE}"/>
              </a:ext>
            </a:extLst>
          </p:cNvPr>
          <p:cNvSpPr>
            <a:spLocks noGrp="1"/>
          </p:cNvSpPr>
          <p:nvPr>
            <p:ph type="body" sz="quarter" idx="15" hasCustomPrompt="1"/>
          </p:nvPr>
        </p:nvSpPr>
        <p:spPr>
          <a:xfrm>
            <a:off x="5627076" y="4738688"/>
            <a:ext cx="3218473" cy="238125"/>
          </a:xfrm>
          <a:prstGeom prst="rect">
            <a:avLst/>
          </a:prstGeom>
        </p:spPr>
        <p:txBody>
          <a:bodyPr/>
          <a:lstStyle>
            <a:lvl5pPr algn="r">
              <a:buNone/>
              <a:defRPr sz="1100"/>
            </a:lvl5pPr>
          </a:lstStyle>
          <a:p>
            <a:pPr lvl="4"/>
            <a:r>
              <a:rPr lang="en-US" dirty="0"/>
              <a:t>Project Name</a:t>
            </a:r>
          </a:p>
        </p:txBody>
      </p:sp>
    </p:spTree>
    <p:extLst>
      <p:ext uri="{BB962C8B-B14F-4D97-AF65-F5344CB8AC3E}">
        <p14:creationId xmlns:p14="http://schemas.microsoft.com/office/powerpoint/2010/main" val="104623962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EO Bullet Points">
    <p:spTree>
      <p:nvGrpSpPr>
        <p:cNvPr id="1" name=""/>
        <p:cNvGrpSpPr/>
        <p:nvPr/>
      </p:nvGrpSpPr>
      <p:grpSpPr>
        <a:xfrm>
          <a:off x="0" y="0"/>
          <a:ext cx="0" cy="0"/>
          <a:chOff x="0" y="0"/>
          <a:chExt cx="0" cy="0"/>
        </a:xfrm>
      </p:grpSpPr>
      <p:sp>
        <p:nvSpPr>
          <p:cNvPr id="12" name="Picture Placeholder 13">
            <a:extLst>
              <a:ext uri="{FF2B5EF4-FFF2-40B4-BE49-F238E27FC236}">
                <a16:creationId xmlns:a16="http://schemas.microsoft.com/office/drawing/2014/main" id="{2DB97592-C4D5-B315-7F11-AA14F6EE8A62}"/>
              </a:ext>
            </a:extLst>
          </p:cNvPr>
          <p:cNvSpPr>
            <a:spLocks noGrp="1"/>
          </p:cNvSpPr>
          <p:nvPr>
            <p:ph type="pic" sz="quarter" idx="13"/>
          </p:nvPr>
        </p:nvSpPr>
        <p:spPr>
          <a:xfrm>
            <a:off x="313593" y="4536078"/>
            <a:ext cx="2143858" cy="529698"/>
          </a:xfrm>
          <a:prstGeom prst="rect">
            <a:avLst/>
          </a:prstGeom>
        </p:spPr>
        <p:txBody>
          <a:bodyPr/>
          <a:lstStyle/>
          <a:p>
            <a:endParaRPr lang="en-US" dirty="0"/>
          </a:p>
        </p:txBody>
      </p:sp>
      <p:sp>
        <p:nvSpPr>
          <p:cNvPr id="3" name="Shape 1">
            <a:extLst>
              <a:ext uri="{FF2B5EF4-FFF2-40B4-BE49-F238E27FC236}">
                <a16:creationId xmlns:a16="http://schemas.microsoft.com/office/drawing/2014/main" id="{4EA828A1-D5D6-9ADA-1918-E5FE226673A0}"/>
              </a:ext>
            </a:extLst>
          </p:cNvPr>
          <p:cNvSpPr/>
          <p:nvPr userDrawn="1"/>
        </p:nvSpPr>
        <p:spPr>
          <a:xfrm>
            <a:off x="0" y="606304"/>
            <a:ext cx="9144000" cy="0"/>
          </a:xfrm>
          <a:prstGeom prst="line">
            <a:avLst/>
          </a:prstGeom>
          <a:noFill/>
          <a:ln w="28575">
            <a:solidFill>
              <a:srgbClr val="CC0000"/>
            </a:solidFill>
            <a:prstDash val="solid"/>
          </a:ln>
        </p:spPr>
        <p:txBody>
          <a:bodyPr/>
          <a:lstStyle/>
          <a:p>
            <a:endParaRPr lang="en-US"/>
          </a:p>
        </p:txBody>
      </p:sp>
      <p:sp>
        <p:nvSpPr>
          <p:cNvPr id="9" name="Text Placeholder 8">
            <a:extLst>
              <a:ext uri="{FF2B5EF4-FFF2-40B4-BE49-F238E27FC236}">
                <a16:creationId xmlns:a16="http://schemas.microsoft.com/office/drawing/2014/main" id="{980A86D4-478F-6846-9F0A-B815F2A3AB2D}"/>
              </a:ext>
            </a:extLst>
          </p:cNvPr>
          <p:cNvSpPr>
            <a:spLocks noGrp="1"/>
          </p:cNvSpPr>
          <p:nvPr>
            <p:ph type="body" sz="quarter" idx="10" hasCustomPrompt="1"/>
          </p:nvPr>
        </p:nvSpPr>
        <p:spPr>
          <a:xfrm>
            <a:off x="296863" y="0"/>
            <a:ext cx="8509304" cy="527008"/>
          </a:xfrm>
          <a:prstGeom prst="rect">
            <a:avLst/>
          </a:prstGeom>
        </p:spPr>
        <p:txBody>
          <a:bodyPr/>
          <a:lstStyle>
            <a:lvl1pPr marL="0" marR="0" indent="0" algn="l" defTabSz="914400" rtl="0" eaLnBrk="1" fontAlgn="auto" latinLnBrk="0" hangingPunct="1">
              <a:lnSpc>
                <a:spcPct val="100000"/>
              </a:lnSpc>
              <a:spcBef>
                <a:spcPct val="20000"/>
              </a:spcBef>
              <a:spcAft>
                <a:spcPts val="0"/>
              </a:spcAft>
              <a:buClrTx/>
              <a:buSzTx/>
              <a:buFont typeface="Arial" pitchFamily="34" charset="0"/>
              <a:buNone/>
              <a:tabLst/>
              <a:defRPr sz="2700" b="1">
                <a:latin typeface="Arial" panose="020B0604020202020204" pitchFamily="34" charset="0"/>
                <a:cs typeface="Arial" panose="020B0604020202020204" pitchFamily="34" charset="0"/>
              </a:defRPr>
            </a:lvl1pPr>
          </a:lstStyle>
          <a:p>
            <a:pPr lvl="0"/>
            <a:r>
              <a:rPr lang="en-US" dirty="0"/>
              <a:t>Bullet Points</a:t>
            </a:r>
          </a:p>
        </p:txBody>
      </p:sp>
      <p:sp>
        <p:nvSpPr>
          <p:cNvPr id="4" name="Text Placeholder 3">
            <a:extLst>
              <a:ext uri="{FF2B5EF4-FFF2-40B4-BE49-F238E27FC236}">
                <a16:creationId xmlns:a16="http://schemas.microsoft.com/office/drawing/2014/main" id="{54BEE1A0-720D-187D-95F8-429F3DF3D64E}"/>
              </a:ext>
            </a:extLst>
          </p:cNvPr>
          <p:cNvSpPr>
            <a:spLocks noGrp="1"/>
          </p:cNvSpPr>
          <p:nvPr>
            <p:ph type="body" sz="quarter" idx="14" hasCustomPrompt="1"/>
          </p:nvPr>
        </p:nvSpPr>
        <p:spPr>
          <a:xfrm>
            <a:off x="296863" y="685601"/>
            <a:ext cx="8548687" cy="3811657"/>
          </a:xfrm>
          <a:prstGeom prst="rect">
            <a:avLst/>
          </a:prstGeom>
        </p:spPr>
        <p:txBody>
          <a:bodyPr/>
          <a:lstStyle>
            <a:lvl1pPr>
              <a:defRPr sz="2000" baseline="0">
                <a:solidFill>
                  <a:schemeClr val="tx1"/>
                </a:solidFill>
              </a:defRPr>
            </a:lvl1pPr>
            <a:lvl2pPr>
              <a:buFont typeface="Arial" panose="020B0604020202020204" pitchFamily="34" charset="0"/>
              <a:buChar char="•"/>
              <a:defRPr sz="1600"/>
            </a:lvl2pPr>
            <a:lvl3pPr>
              <a:defRPr sz="1400"/>
            </a:lvl3pPr>
            <a:lvl4pPr>
              <a:buFont typeface="Arial" panose="020B0604020202020204" pitchFamily="34" charset="0"/>
              <a:buChar char="•"/>
              <a:defRPr sz="1200"/>
            </a:lvl4pPr>
          </a:lstStyle>
          <a:p>
            <a:pPr lvl="0"/>
            <a:r>
              <a:rPr lang="en-US" dirty="0"/>
              <a:t>Bullet Point 1</a:t>
            </a:r>
          </a:p>
          <a:p>
            <a:pPr lvl="0"/>
            <a:r>
              <a:rPr lang="en-US" dirty="0"/>
              <a:t>Bullet Point 2</a:t>
            </a:r>
          </a:p>
        </p:txBody>
      </p:sp>
      <p:sp>
        <p:nvSpPr>
          <p:cNvPr id="5" name="Text Placeholder 4">
            <a:extLst>
              <a:ext uri="{FF2B5EF4-FFF2-40B4-BE49-F238E27FC236}">
                <a16:creationId xmlns:a16="http://schemas.microsoft.com/office/drawing/2014/main" id="{162079A5-28FD-9D2F-2B9B-2FC8F9339A31}"/>
              </a:ext>
            </a:extLst>
          </p:cNvPr>
          <p:cNvSpPr>
            <a:spLocks noGrp="1"/>
          </p:cNvSpPr>
          <p:nvPr>
            <p:ph type="body" sz="quarter" idx="15" hasCustomPrompt="1"/>
          </p:nvPr>
        </p:nvSpPr>
        <p:spPr>
          <a:xfrm>
            <a:off x="5627076" y="4738688"/>
            <a:ext cx="3218473" cy="238125"/>
          </a:xfrm>
          <a:prstGeom prst="rect">
            <a:avLst/>
          </a:prstGeom>
        </p:spPr>
        <p:txBody>
          <a:bodyPr/>
          <a:lstStyle>
            <a:lvl5pPr algn="r">
              <a:buNone/>
              <a:defRPr sz="1100"/>
            </a:lvl5pPr>
          </a:lstStyle>
          <a:p>
            <a:pPr lvl="4"/>
            <a:r>
              <a:rPr lang="en-US" dirty="0"/>
              <a:t>Project Name</a:t>
            </a:r>
          </a:p>
        </p:txBody>
      </p:sp>
    </p:spTree>
    <p:extLst>
      <p:ext uri="{BB962C8B-B14F-4D97-AF65-F5344CB8AC3E}">
        <p14:creationId xmlns:p14="http://schemas.microsoft.com/office/powerpoint/2010/main" val="109073776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EO Two Column">
    <p:spTree>
      <p:nvGrpSpPr>
        <p:cNvPr id="1" name=""/>
        <p:cNvGrpSpPr/>
        <p:nvPr/>
      </p:nvGrpSpPr>
      <p:grpSpPr>
        <a:xfrm>
          <a:off x="0" y="0"/>
          <a:ext cx="0" cy="0"/>
          <a:chOff x="0" y="0"/>
          <a:chExt cx="0" cy="0"/>
        </a:xfrm>
      </p:grpSpPr>
      <p:sp>
        <p:nvSpPr>
          <p:cNvPr id="10" name="Picture Placeholder 13">
            <a:extLst>
              <a:ext uri="{FF2B5EF4-FFF2-40B4-BE49-F238E27FC236}">
                <a16:creationId xmlns:a16="http://schemas.microsoft.com/office/drawing/2014/main" id="{6A0FA445-7602-F06E-EC73-5504EBF827CC}"/>
              </a:ext>
            </a:extLst>
          </p:cNvPr>
          <p:cNvSpPr>
            <a:spLocks noGrp="1"/>
          </p:cNvSpPr>
          <p:nvPr>
            <p:ph type="pic" sz="quarter" idx="14"/>
          </p:nvPr>
        </p:nvSpPr>
        <p:spPr>
          <a:xfrm>
            <a:off x="313592" y="4536078"/>
            <a:ext cx="2121877" cy="529698"/>
          </a:xfrm>
          <a:prstGeom prst="rect">
            <a:avLst/>
          </a:prstGeom>
        </p:spPr>
        <p:txBody>
          <a:bodyPr/>
          <a:lstStyle/>
          <a:p>
            <a:endParaRPr lang="en-US" dirty="0"/>
          </a:p>
        </p:txBody>
      </p:sp>
      <p:sp>
        <p:nvSpPr>
          <p:cNvPr id="3" name="Shape 1">
            <a:extLst>
              <a:ext uri="{FF2B5EF4-FFF2-40B4-BE49-F238E27FC236}">
                <a16:creationId xmlns:a16="http://schemas.microsoft.com/office/drawing/2014/main" id="{4EA828A1-D5D6-9ADA-1918-E5FE226673A0}"/>
              </a:ext>
            </a:extLst>
          </p:cNvPr>
          <p:cNvSpPr/>
          <p:nvPr userDrawn="1"/>
        </p:nvSpPr>
        <p:spPr>
          <a:xfrm>
            <a:off x="0" y="606304"/>
            <a:ext cx="9144000" cy="0"/>
          </a:xfrm>
          <a:prstGeom prst="line">
            <a:avLst/>
          </a:prstGeom>
          <a:noFill/>
          <a:ln w="28575">
            <a:solidFill>
              <a:srgbClr val="CC0000"/>
            </a:solidFill>
            <a:prstDash val="solid"/>
          </a:ln>
        </p:spPr>
        <p:txBody>
          <a:bodyPr/>
          <a:lstStyle/>
          <a:p>
            <a:endParaRPr lang="en-US"/>
          </a:p>
        </p:txBody>
      </p:sp>
      <p:sp>
        <p:nvSpPr>
          <p:cNvPr id="9" name="Text Placeholder 8">
            <a:extLst>
              <a:ext uri="{FF2B5EF4-FFF2-40B4-BE49-F238E27FC236}">
                <a16:creationId xmlns:a16="http://schemas.microsoft.com/office/drawing/2014/main" id="{980A86D4-478F-6846-9F0A-B815F2A3AB2D}"/>
              </a:ext>
            </a:extLst>
          </p:cNvPr>
          <p:cNvSpPr>
            <a:spLocks noGrp="1"/>
          </p:cNvSpPr>
          <p:nvPr>
            <p:ph type="body" sz="quarter" idx="10" hasCustomPrompt="1"/>
          </p:nvPr>
        </p:nvSpPr>
        <p:spPr>
          <a:xfrm>
            <a:off x="257174" y="7163"/>
            <a:ext cx="8530738" cy="527013"/>
          </a:xfrm>
          <a:prstGeom prst="rect">
            <a:avLst/>
          </a:prstGeom>
        </p:spPr>
        <p:txBody>
          <a:bodyPr/>
          <a:lstStyle>
            <a:lvl1pPr marL="0" marR="0" indent="0" algn="l" defTabSz="914400" rtl="0" eaLnBrk="1" fontAlgn="auto" latinLnBrk="0" hangingPunct="1">
              <a:lnSpc>
                <a:spcPct val="100000"/>
              </a:lnSpc>
              <a:spcBef>
                <a:spcPct val="20000"/>
              </a:spcBef>
              <a:spcAft>
                <a:spcPts val="0"/>
              </a:spcAft>
              <a:buClrTx/>
              <a:buSzTx/>
              <a:buFont typeface="Arial" pitchFamily="34" charset="0"/>
              <a:buNone/>
              <a:tabLst/>
              <a:defRPr sz="2700" b="1">
                <a:latin typeface="Arial" panose="020B0604020202020204" pitchFamily="34" charset="0"/>
                <a:cs typeface="Arial" panose="020B0604020202020204" pitchFamily="34" charset="0"/>
              </a:defRPr>
            </a:lvl1pPr>
          </a:lstStyle>
          <a:p>
            <a:pPr lvl="0"/>
            <a:r>
              <a:rPr lang="en-US" dirty="0"/>
              <a:t>Two Column Layout</a:t>
            </a:r>
          </a:p>
        </p:txBody>
      </p:sp>
      <p:sp>
        <p:nvSpPr>
          <p:cNvPr id="6" name="Text Placeholder 5">
            <a:extLst>
              <a:ext uri="{FF2B5EF4-FFF2-40B4-BE49-F238E27FC236}">
                <a16:creationId xmlns:a16="http://schemas.microsoft.com/office/drawing/2014/main" id="{229E4A97-A874-D6CA-E54C-5584536CAA7C}"/>
              </a:ext>
            </a:extLst>
          </p:cNvPr>
          <p:cNvSpPr>
            <a:spLocks noGrp="1"/>
          </p:cNvSpPr>
          <p:nvPr>
            <p:ph type="body" sz="quarter" idx="16" hasCustomPrompt="1"/>
          </p:nvPr>
        </p:nvSpPr>
        <p:spPr>
          <a:xfrm>
            <a:off x="193675" y="678433"/>
            <a:ext cx="4431079" cy="3785515"/>
          </a:xfrm>
          <a:prstGeom prst="rect">
            <a:avLst/>
          </a:prstGeom>
        </p:spPr>
        <p:txBody>
          <a:bodyPr/>
          <a:lstStyle>
            <a:lvl1pPr>
              <a:defRPr sz="1800" b="1">
                <a:solidFill>
                  <a:srgbClr val="C00000"/>
                </a:solidFill>
              </a:defRPr>
            </a:lvl1pPr>
            <a:lvl2pPr>
              <a:defRPr sz="1400"/>
            </a:lvl2pPr>
            <a:lvl3pPr>
              <a:defRPr sz="1200"/>
            </a:lvl3pPr>
            <a:lvl4pPr>
              <a:defRPr sz="1200"/>
            </a:lvl4pPr>
            <a:lvl5pPr>
              <a:defRPr sz="1200"/>
            </a:lvl5pPr>
          </a:lstStyle>
          <a:p>
            <a:pPr lvl="0"/>
            <a:r>
              <a:rPr lang="en-US" dirty="0"/>
              <a:t>Left Column Sub Title</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3" name="Text Placeholder 12">
            <a:extLst>
              <a:ext uri="{FF2B5EF4-FFF2-40B4-BE49-F238E27FC236}">
                <a16:creationId xmlns:a16="http://schemas.microsoft.com/office/drawing/2014/main" id="{EF61ADBD-DA9D-A8A7-8FC3-64E82242B983}"/>
              </a:ext>
            </a:extLst>
          </p:cNvPr>
          <p:cNvSpPr>
            <a:spLocks noGrp="1"/>
          </p:cNvSpPr>
          <p:nvPr>
            <p:ph type="body" sz="quarter" idx="17" hasCustomPrompt="1"/>
          </p:nvPr>
        </p:nvSpPr>
        <p:spPr>
          <a:xfrm>
            <a:off x="4721470" y="678433"/>
            <a:ext cx="4228856" cy="3785515"/>
          </a:xfrm>
          <a:prstGeom prst="rect">
            <a:avLst/>
          </a:prstGeom>
        </p:spPr>
        <p:txBody>
          <a:bodyPr/>
          <a:lstStyle>
            <a:lvl1pPr>
              <a:defRPr sz="1800" b="1">
                <a:solidFill>
                  <a:srgbClr val="C00000"/>
                </a:solidFill>
              </a:defRPr>
            </a:lvl1pPr>
            <a:lvl2pPr>
              <a:defRPr sz="1400"/>
            </a:lvl2pPr>
            <a:lvl3pPr>
              <a:defRPr sz="1200"/>
            </a:lvl3pPr>
            <a:lvl4pPr>
              <a:defRPr sz="1200"/>
            </a:lvl4pPr>
            <a:lvl5pPr>
              <a:defRPr sz="1200"/>
            </a:lvl5pPr>
          </a:lstStyle>
          <a:p>
            <a:pPr lvl="0"/>
            <a:r>
              <a:rPr lang="en-US" dirty="0"/>
              <a:t>Right Column Sub title</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4">
            <a:extLst>
              <a:ext uri="{FF2B5EF4-FFF2-40B4-BE49-F238E27FC236}">
                <a16:creationId xmlns:a16="http://schemas.microsoft.com/office/drawing/2014/main" id="{5DF49ED0-89F0-F008-ADD7-D71F338C8B9B}"/>
              </a:ext>
            </a:extLst>
          </p:cNvPr>
          <p:cNvSpPr>
            <a:spLocks noGrp="1"/>
          </p:cNvSpPr>
          <p:nvPr>
            <p:ph type="body" sz="quarter" idx="15" hasCustomPrompt="1"/>
          </p:nvPr>
        </p:nvSpPr>
        <p:spPr>
          <a:xfrm>
            <a:off x="5697414" y="4681864"/>
            <a:ext cx="3218473" cy="238125"/>
          </a:xfrm>
          <a:prstGeom prst="rect">
            <a:avLst/>
          </a:prstGeom>
        </p:spPr>
        <p:txBody>
          <a:bodyPr/>
          <a:lstStyle>
            <a:lvl5pPr algn="r">
              <a:buNone/>
              <a:defRPr sz="1100"/>
            </a:lvl5pPr>
          </a:lstStyle>
          <a:p>
            <a:pPr lvl="4"/>
            <a:r>
              <a:rPr lang="en-US" dirty="0"/>
              <a:t>Project Name</a:t>
            </a:r>
          </a:p>
        </p:txBody>
      </p:sp>
    </p:spTree>
    <p:extLst>
      <p:ext uri="{BB962C8B-B14F-4D97-AF65-F5344CB8AC3E}">
        <p14:creationId xmlns:p14="http://schemas.microsoft.com/office/powerpoint/2010/main" val="124373098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EO Table">
    <p:spTree>
      <p:nvGrpSpPr>
        <p:cNvPr id="1" name=""/>
        <p:cNvGrpSpPr/>
        <p:nvPr/>
      </p:nvGrpSpPr>
      <p:grpSpPr>
        <a:xfrm>
          <a:off x="0" y="0"/>
          <a:ext cx="0" cy="0"/>
          <a:chOff x="0" y="0"/>
          <a:chExt cx="0" cy="0"/>
        </a:xfrm>
      </p:grpSpPr>
      <p:sp>
        <p:nvSpPr>
          <p:cNvPr id="12" name="Picture Placeholder 13">
            <a:extLst>
              <a:ext uri="{FF2B5EF4-FFF2-40B4-BE49-F238E27FC236}">
                <a16:creationId xmlns:a16="http://schemas.microsoft.com/office/drawing/2014/main" id="{2DB97592-C4D5-B315-7F11-AA14F6EE8A62}"/>
              </a:ext>
            </a:extLst>
          </p:cNvPr>
          <p:cNvSpPr>
            <a:spLocks noGrp="1"/>
          </p:cNvSpPr>
          <p:nvPr>
            <p:ph type="pic" sz="quarter" idx="13"/>
          </p:nvPr>
        </p:nvSpPr>
        <p:spPr>
          <a:xfrm>
            <a:off x="313592" y="4536078"/>
            <a:ext cx="2126273" cy="529698"/>
          </a:xfrm>
          <a:prstGeom prst="rect">
            <a:avLst/>
          </a:prstGeom>
        </p:spPr>
        <p:txBody>
          <a:bodyPr/>
          <a:lstStyle/>
          <a:p>
            <a:endParaRPr lang="en-US" dirty="0"/>
          </a:p>
        </p:txBody>
      </p:sp>
      <p:sp>
        <p:nvSpPr>
          <p:cNvPr id="3" name="Shape 1">
            <a:extLst>
              <a:ext uri="{FF2B5EF4-FFF2-40B4-BE49-F238E27FC236}">
                <a16:creationId xmlns:a16="http://schemas.microsoft.com/office/drawing/2014/main" id="{4EA828A1-D5D6-9ADA-1918-E5FE226673A0}"/>
              </a:ext>
            </a:extLst>
          </p:cNvPr>
          <p:cNvSpPr/>
          <p:nvPr userDrawn="1"/>
        </p:nvSpPr>
        <p:spPr>
          <a:xfrm>
            <a:off x="0" y="606304"/>
            <a:ext cx="9144000" cy="0"/>
          </a:xfrm>
          <a:prstGeom prst="line">
            <a:avLst/>
          </a:prstGeom>
          <a:noFill/>
          <a:ln w="28575">
            <a:solidFill>
              <a:srgbClr val="CC0000"/>
            </a:solidFill>
            <a:prstDash val="solid"/>
          </a:ln>
        </p:spPr>
        <p:txBody>
          <a:bodyPr/>
          <a:lstStyle/>
          <a:p>
            <a:endParaRPr lang="en-US"/>
          </a:p>
        </p:txBody>
      </p:sp>
      <p:sp>
        <p:nvSpPr>
          <p:cNvPr id="9" name="Text Placeholder 8">
            <a:extLst>
              <a:ext uri="{FF2B5EF4-FFF2-40B4-BE49-F238E27FC236}">
                <a16:creationId xmlns:a16="http://schemas.microsoft.com/office/drawing/2014/main" id="{980A86D4-478F-6846-9F0A-B815F2A3AB2D}"/>
              </a:ext>
            </a:extLst>
          </p:cNvPr>
          <p:cNvSpPr>
            <a:spLocks noGrp="1"/>
          </p:cNvSpPr>
          <p:nvPr>
            <p:ph type="body" sz="quarter" idx="10" hasCustomPrompt="1"/>
          </p:nvPr>
        </p:nvSpPr>
        <p:spPr>
          <a:xfrm>
            <a:off x="256855" y="39642"/>
            <a:ext cx="8710933" cy="527013"/>
          </a:xfrm>
          <a:prstGeom prst="rect">
            <a:avLst/>
          </a:prstGeom>
        </p:spPr>
        <p:txBody>
          <a:bodyPr/>
          <a:lstStyle>
            <a:lvl1pPr marL="0" marR="0" indent="0" algn="ctr" defTabSz="914400" rtl="0" eaLnBrk="1" fontAlgn="auto" latinLnBrk="0" hangingPunct="1">
              <a:lnSpc>
                <a:spcPct val="100000"/>
              </a:lnSpc>
              <a:spcBef>
                <a:spcPct val="20000"/>
              </a:spcBef>
              <a:spcAft>
                <a:spcPts val="0"/>
              </a:spcAft>
              <a:buClrTx/>
              <a:buSzTx/>
              <a:buFont typeface="Arial" pitchFamily="34" charset="0"/>
              <a:buNone/>
              <a:tabLst/>
              <a:defRPr sz="2700">
                <a:latin typeface="Arial" panose="020B0604020202020204" pitchFamily="34" charset="0"/>
                <a:cs typeface="Arial" panose="020B0604020202020204" pitchFamily="34" charset="0"/>
              </a:defRPr>
            </a:lvl1pPr>
          </a:lstStyle>
          <a:p>
            <a:pPr marL="0" marR="0" lvl="0" indent="0" algn="l" defTabSz="914400" rtl="0" eaLnBrk="1" fontAlgn="auto" latinLnBrk="0" hangingPunct="1">
              <a:lnSpc>
                <a:spcPct val="100000"/>
              </a:lnSpc>
              <a:spcBef>
                <a:spcPct val="20000"/>
              </a:spcBef>
              <a:spcAft>
                <a:spcPts val="0"/>
              </a:spcAft>
              <a:buClrTx/>
              <a:buSzTx/>
              <a:buFont typeface="Arial" pitchFamily="34" charset="0"/>
              <a:buNone/>
              <a:tabLst/>
              <a:defRPr/>
            </a:pPr>
            <a:r>
              <a:rPr lang="en-US" sz="2700" b="1" dirty="0">
                <a:solidFill>
                  <a:srgbClr val="2C3E50"/>
                </a:solidFill>
                <a:latin typeface="Arial" pitchFamily="34" charset="0"/>
                <a:cs typeface="Arial" pitchFamily="34" charset="-120"/>
              </a:rPr>
              <a:t>Table</a:t>
            </a:r>
            <a:endParaRPr lang="en-US" sz="3200" dirty="0"/>
          </a:p>
          <a:p>
            <a:pPr lvl="0"/>
            <a:endParaRPr lang="en-US" dirty="0"/>
          </a:p>
        </p:txBody>
      </p:sp>
      <p:sp>
        <p:nvSpPr>
          <p:cNvPr id="5" name="Table Placeholder 4">
            <a:extLst>
              <a:ext uri="{FF2B5EF4-FFF2-40B4-BE49-F238E27FC236}">
                <a16:creationId xmlns:a16="http://schemas.microsoft.com/office/drawing/2014/main" id="{D3D9E4F7-6B7D-2205-75B9-EE8C54E89A5F}"/>
              </a:ext>
            </a:extLst>
          </p:cNvPr>
          <p:cNvSpPr>
            <a:spLocks noGrp="1"/>
          </p:cNvSpPr>
          <p:nvPr>
            <p:ph type="tbl" sz="quarter" idx="14"/>
          </p:nvPr>
        </p:nvSpPr>
        <p:spPr>
          <a:xfrm>
            <a:off x="256855" y="677011"/>
            <a:ext cx="8710933" cy="3785084"/>
          </a:xfrm>
          <a:prstGeom prst="rect">
            <a:avLst/>
          </a:prstGeom>
        </p:spPr>
        <p:txBody>
          <a:bodyPr/>
          <a:lstStyle/>
          <a:p>
            <a:endParaRPr lang="en-US"/>
          </a:p>
        </p:txBody>
      </p:sp>
      <p:sp>
        <p:nvSpPr>
          <p:cNvPr id="4" name="Text Placeholder 4">
            <a:extLst>
              <a:ext uri="{FF2B5EF4-FFF2-40B4-BE49-F238E27FC236}">
                <a16:creationId xmlns:a16="http://schemas.microsoft.com/office/drawing/2014/main" id="{A00DC936-676C-1BAA-B4B4-D45CC5951D6E}"/>
              </a:ext>
            </a:extLst>
          </p:cNvPr>
          <p:cNvSpPr>
            <a:spLocks noGrp="1"/>
          </p:cNvSpPr>
          <p:nvPr>
            <p:ph type="body" sz="quarter" idx="15" hasCustomPrompt="1"/>
          </p:nvPr>
        </p:nvSpPr>
        <p:spPr>
          <a:xfrm>
            <a:off x="5749315" y="4681864"/>
            <a:ext cx="3218473" cy="238125"/>
          </a:xfrm>
          <a:prstGeom prst="rect">
            <a:avLst/>
          </a:prstGeom>
        </p:spPr>
        <p:txBody>
          <a:bodyPr/>
          <a:lstStyle>
            <a:lvl5pPr algn="r">
              <a:buNone/>
              <a:defRPr sz="1100"/>
            </a:lvl5pPr>
          </a:lstStyle>
          <a:p>
            <a:pPr lvl="4"/>
            <a:r>
              <a:rPr lang="en-US" dirty="0"/>
              <a:t>Project Name</a:t>
            </a:r>
          </a:p>
        </p:txBody>
      </p:sp>
    </p:spTree>
    <p:extLst>
      <p:ext uri="{BB962C8B-B14F-4D97-AF65-F5344CB8AC3E}">
        <p14:creationId xmlns:p14="http://schemas.microsoft.com/office/powerpoint/2010/main" val="281483460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EO Visual Content">
    <p:spTree>
      <p:nvGrpSpPr>
        <p:cNvPr id="1" name=""/>
        <p:cNvGrpSpPr/>
        <p:nvPr/>
      </p:nvGrpSpPr>
      <p:grpSpPr>
        <a:xfrm>
          <a:off x="0" y="0"/>
          <a:ext cx="0" cy="0"/>
          <a:chOff x="0" y="0"/>
          <a:chExt cx="0" cy="0"/>
        </a:xfrm>
      </p:grpSpPr>
      <p:sp>
        <p:nvSpPr>
          <p:cNvPr id="10" name="Picture Placeholder 13">
            <a:extLst>
              <a:ext uri="{FF2B5EF4-FFF2-40B4-BE49-F238E27FC236}">
                <a16:creationId xmlns:a16="http://schemas.microsoft.com/office/drawing/2014/main" id="{6A0FA445-7602-F06E-EC73-5504EBF827CC}"/>
              </a:ext>
            </a:extLst>
          </p:cNvPr>
          <p:cNvSpPr>
            <a:spLocks noGrp="1"/>
          </p:cNvSpPr>
          <p:nvPr>
            <p:ph type="pic" sz="quarter" idx="14"/>
          </p:nvPr>
        </p:nvSpPr>
        <p:spPr>
          <a:xfrm>
            <a:off x="313592" y="4536078"/>
            <a:ext cx="2130670" cy="529698"/>
          </a:xfrm>
          <a:prstGeom prst="rect">
            <a:avLst/>
          </a:prstGeom>
        </p:spPr>
        <p:txBody>
          <a:bodyPr/>
          <a:lstStyle/>
          <a:p>
            <a:endParaRPr lang="en-US" dirty="0"/>
          </a:p>
        </p:txBody>
      </p:sp>
      <p:sp>
        <p:nvSpPr>
          <p:cNvPr id="3" name="Shape 1">
            <a:extLst>
              <a:ext uri="{FF2B5EF4-FFF2-40B4-BE49-F238E27FC236}">
                <a16:creationId xmlns:a16="http://schemas.microsoft.com/office/drawing/2014/main" id="{4EA828A1-D5D6-9ADA-1918-E5FE226673A0}"/>
              </a:ext>
            </a:extLst>
          </p:cNvPr>
          <p:cNvSpPr/>
          <p:nvPr userDrawn="1"/>
        </p:nvSpPr>
        <p:spPr>
          <a:xfrm>
            <a:off x="0" y="606304"/>
            <a:ext cx="9144000" cy="0"/>
          </a:xfrm>
          <a:prstGeom prst="line">
            <a:avLst/>
          </a:prstGeom>
          <a:noFill/>
          <a:ln w="28575">
            <a:solidFill>
              <a:srgbClr val="CC0000"/>
            </a:solidFill>
            <a:prstDash val="solid"/>
          </a:ln>
        </p:spPr>
        <p:txBody>
          <a:bodyPr/>
          <a:lstStyle/>
          <a:p>
            <a:endParaRPr lang="en-US"/>
          </a:p>
        </p:txBody>
      </p:sp>
      <p:sp>
        <p:nvSpPr>
          <p:cNvPr id="9" name="Text Placeholder 8">
            <a:extLst>
              <a:ext uri="{FF2B5EF4-FFF2-40B4-BE49-F238E27FC236}">
                <a16:creationId xmlns:a16="http://schemas.microsoft.com/office/drawing/2014/main" id="{980A86D4-478F-6846-9F0A-B815F2A3AB2D}"/>
              </a:ext>
            </a:extLst>
          </p:cNvPr>
          <p:cNvSpPr>
            <a:spLocks noGrp="1"/>
          </p:cNvSpPr>
          <p:nvPr>
            <p:ph type="body" sz="quarter" idx="10" hasCustomPrompt="1"/>
          </p:nvPr>
        </p:nvSpPr>
        <p:spPr>
          <a:xfrm>
            <a:off x="257174" y="7163"/>
            <a:ext cx="8742364" cy="527013"/>
          </a:xfrm>
          <a:prstGeom prst="rect">
            <a:avLst/>
          </a:prstGeom>
        </p:spPr>
        <p:txBody>
          <a:bodyPr/>
          <a:lstStyle>
            <a:lvl1pPr marL="0" marR="0" indent="0" algn="l" defTabSz="914400" rtl="0" eaLnBrk="1" fontAlgn="auto" latinLnBrk="0" hangingPunct="1">
              <a:lnSpc>
                <a:spcPct val="100000"/>
              </a:lnSpc>
              <a:spcBef>
                <a:spcPct val="20000"/>
              </a:spcBef>
              <a:spcAft>
                <a:spcPts val="0"/>
              </a:spcAft>
              <a:buClrTx/>
              <a:buSzTx/>
              <a:buFont typeface="Arial" pitchFamily="34" charset="0"/>
              <a:buNone/>
              <a:tabLst/>
              <a:defRPr sz="2700" b="1">
                <a:latin typeface="Arial" panose="020B0604020202020204" pitchFamily="34" charset="0"/>
                <a:cs typeface="Arial" panose="020B0604020202020204" pitchFamily="34" charset="0"/>
              </a:defRPr>
            </a:lvl1pPr>
          </a:lstStyle>
          <a:p>
            <a:pPr lvl="0"/>
            <a:r>
              <a:rPr lang="en-US" dirty="0"/>
              <a:t>Visual Content</a:t>
            </a:r>
          </a:p>
        </p:txBody>
      </p:sp>
      <p:sp>
        <p:nvSpPr>
          <p:cNvPr id="6" name="Picture Placeholder 5">
            <a:extLst>
              <a:ext uri="{FF2B5EF4-FFF2-40B4-BE49-F238E27FC236}">
                <a16:creationId xmlns:a16="http://schemas.microsoft.com/office/drawing/2014/main" id="{D4B682B8-2171-423F-A77B-10BADD07BC6C}"/>
              </a:ext>
            </a:extLst>
          </p:cNvPr>
          <p:cNvSpPr>
            <a:spLocks noGrp="1"/>
          </p:cNvSpPr>
          <p:nvPr>
            <p:ph type="pic" sz="quarter" idx="15"/>
          </p:nvPr>
        </p:nvSpPr>
        <p:spPr>
          <a:xfrm>
            <a:off x="4662488" y="685799"/>
            <a:ext cx="4337050" cy="3815859"/>
          </a:xfrm>
          <a:prstGeom prst="rect">
            <a:avLst/>
          </a:prstGeom>
        </p:spPr>
        <p:txBody>
          <a:bodyPr/>
          <a:lstStyle/>
          <a:p>
            <a:endParaRPr lang="en-US"/>
          </a:p>
        </p:txBody>
      </p:sp>
      <p:sp>
        <p:nvSpPr>
          <p:cNvPr id="5" name="Text Placeholder 4">
            <a:extLst>
              <a:ext uri="{FF2B5EF4-FFF2-40B4-BE49-F238E27FC236}">
                <a16:creationId xmlns:a16="http://schemas.microsoft.com/office/drawing/2014/main" id="{F1EE9992-B6F6-08BF-BFB5-6AF6BEDE367A}"/>
              </a:ext>
            </a:extLst>
          </p:cNvPr>
          <p:cNvSpPr>
            <a:spLocks noGrp="1"/>
          </p:cNvSpPr>
          <p:nvPr>
            <p:ph type="body" sz="quarter" idx="16"/>
          </p:nvPr>
        </p:nvSpPr>
        <p:spPr>
          <a:xfrm>
            <a:off x="92075" y="685800"/>
            <a:ext cx="4449763" cy="3815859"/>
          </a:xfrm>
          <a:prstGeom prst="rect">
            <a:avLst/>
          </a:prstGeom>
        </p:spPr>
        <p:txBody>
          <a:bodyPr/>
          <a:lstStyle>
            <a:lvl1pPr>
              <a:defRPr sz="1800" b="1">
                <a:solidFill>
                  <a:srgbClr val="C00000"/>
                </a:solidFill>
              </a:defRPr>
            </a:lvl1pPr>
            <a:lvl2pPr>
              <a:defRPr sz="1400"/>
            </a:lvl2pPr>
            <a:lvl3pPr>
              <a:defRPr sz="1200"/>
            </a:lvl3pPr>
            <a:lvl4pPr>
              <a:defRPr sz="1200"/>
            </a:lvl4pPr>
            <a:lvl5pPr>
              <a:defRPr sz="12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2" name="Text Placeholder 4">
            <a:extLst>
              <a:ext uri="{FF2B5EF4-FFF2-40B4-BE49-F238E27FC236}">
                <a16:creationId xmlns:a16="http://schemas.microsoft.com/office/drawing/2014/main" id="{6D03683B-7C4B-D474-74C5-EC53E3BB515B}"/>
              </a:ext>
            </a:extLst>
          </p:cNvPr>
          <p:cNvSpPr>
            <a:spLocks noGrp="1"/>
          </p:cNvSpPr>
          <p:nvPr>
            <p:ph type="body" sz="quarter" idx="17" hasCustomPrompt="1"/>
          </p:nvPr>
        </p:nvSpPr>
        <p:spPr>
          <a:xfrm>
            <a:off x="5781065" y="4729530"/>
            <a:ext cx="3218473" cy="238125"/>
          </a:xfrm>
          <a:prstGeom prst="rect">
            <a:avLst/>
          </a:prstGeom>
        </p:spPr>
        <p:txBody>
          <a:bodyPr/>
          <a:lstStyle>
            <a:lvl5pPr algn="r">
              <a:buNone/>
              <a:defRPr sz="1100"/>
            </a:lvl5pPr>
          </a:lstStyle>
          <a:p>
            <a:pPr lvl="4"/>
            <a:r>
              <a:rPr lang="en-US" dirty="0"/>
              <a:t>Project Name</a:t>
            </a:r>
          </a:p>
        </p:txBody>
      </p:sp>
    </p:spTree>
    <p:extLst>
      <p:ext uri="{BB962C8B-B14F-4D97-AF65-F5344CB8AC3E}">
        <p14:creationId xmlns:p14="http://schemas.microsoft.com/office/powerpoint/2010/main" val="94405969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EO Data Visualization">
    <p:spTree>
      <p:nvGrpSpPr>
        <p:cNvPr id="1" name=""/>
        <p:cNvGrpSpPr/>
        <p:nvPr/>
      </p:nvGrpSpPr>
      <p:grpSpPr>
        <a:xfrm>
          <a:off x="0" y="0"/>
          <a:ext cx="0" cy="0"/>
          <a:chOff x="0" y="0"/>
          <a:chExt cx="0" cy="0"/>
        </a:xfrm>
      </p:grpSpPr>
      <p:sp>
        <p:nvSpPr>
          <p:cNvPr id="10" name="Picture Placeholder 13">
            <a:extLst>
              <a:ext uri="{FF2B5EF4-FFF2-40B4-BE49-F238E27FC236}">
                <a16:creationId xmlns:a16="http://schemas.microsoft.com/office/drawing/2014/main" id="{6A0FA445-7602-F06E-EC73-5504EBF827CC}"/>
              </a:ext>
            </a:extLst>
          </p:cNvPr>
          <p:cNvSpPr>
            <a:spLocks noGrp="1"/>
          </p:cNvSpPr>
          <p:nvPr>
            <p:ph type="pic" sz="quarter" idx="14"/>
          </p:nvPr>
        </p:nvSpPr>
        <p:spPr>
          <a:xfrm>
            <a:off x="313592" y="4536078"/>
            <a:ext cx="2104294" cy="529698"/>
          </a:xfrm>
          <a:prstGeom prst="rect">
            <a:avLst/>
          </a:prstGeom>
        </p:spPr>
        <p:txBody>
          <a:bodyPr/>
          <a:lstStyle/>
          <a:p>
            <a:endParaRPr lang="en-US" dirty="0"/>
          </a:p>
        </p:txBody>
      </p:sp>
      <p:sp>
        <p:nvSpPr>
          <p:cNvPr id="3" name="Shape 1">
            <a:extLst>
              <a:ext uri="{FF2B5EF4-FFF2-40B4-BE49-F238E27FC236}">
                <a16:creationId xmlns:a16="http://schemas.microsoft.com/office/drawing/2014/main" id="{4EA828A1-D5D6-9ADA-1918-E5FE226673A0}"/>
              </a:ext>
            </a:extLst>
          </p:cNvPr>
          <p:cNvSpPr/>
          <p:nvPr userDrawn="1"/>
        </p:nvSpPr>
        <p:spPr>
          <a:xfrm>
            <a:off x="0" y="606304"/>
            <a:ext cx="9144000" cy="0"/>
          </a:xfrm>
          <a:prstGeom prst="line">
            <a:avLst/>
          </a:prstGeom>
          <a:noFill/>
          <a:ln w="28575">
            <a:solidFill>
              <a:srgbClr val="CC0000"/>
            </a:solidFill>
            <a:prstDash val="solid"/>
          </a:ln>
        </p:spPr>
        <p:txBody>
          <a:bodyPr/>
          <a:lstStyle/>
          <a:p>
            <a:endParaRPr lang="en-US"/>
          </a:p>
        </p:txBody>
      </p:sp>
      <p:sp>
        <p:nvSpPr>
          <p:cNvPr id="9" name="Text Placeholder 8">
            <a:extLst>
              <a:ext uri="{FF2B5EF4-FFF2-40B4-BE49-F238E27FC236}">
                <a16:creationId xmlns:a16="http://schemas.microsoft.com/office/drawing/2014/main" id="{980A86D4-478F-6846-9F0A-B815F2A3AB2D}"/>
              </a:ext>
            </a:extLst>
          </p:cNvPr>
          <p:cNvSpPr>
            <a:spLocks noGrp="1"/>
          </p:cNvSpPr>
          <p:nvPr>
            <p:ph type="body" sz="quarter" idx="10" hasCustomPrompt="1"/>
          </p:nvPr>
        </p:nvSpPr>
        <p:spPr>
          <a:xfrm>
            <a:off x="257174" y="7163"/>
            <a:ext cx="8640764" cy="527013"/>
          </a:xfrm>
          <a:prstGeom prst="rect">
            <a:avLst/>
          </a:prstGeom>
        </p:spPr>
        <p:txBody>
          <a:bodyPr/>
          <a:lstStyle>
            <a:lvl1pPr marL="0" marR="0" indent="0" algn="l" defTabSz="914400" rtl="0" eaLnBrk="1" fontAlgn="auto" latinLnBrk="0" hangingPunct="1">
              <a:lnSpc>
                <a:spcPct val="100000"/>
              </a:lnSpc>
              <a:spcBef>
                <a:spcPct val="20000"/>
              </a:spcBef>
              <a:spcAft>
                <a:spcPts val="0"/>
              </a:spcAft>
              <a:buClrTx/>
              <a:buSzTx/>
              <a:buFont typeface="Arial" pitchFamily="34" charset="0"/>
              <a:buNone/>
              <a:tabLst/>
              <a:defRPr sz="2700" b="1">
                <a:latin typeface="Arial" panose="020B0604020202020204" pitchFamily="34" charset="0"/>
                <a:cs typeface="Arial" panose="020B0604020202020204" pitchFamily="34" charset="0"/>
              </a:defRPr>
            </a:lvl1pPr>
          </a:lstStyle>
          <a:p>
            <a:pPr lvl="0"/>
            <a:r>
              <a:rPr lang="en-US" dirty="0"/>
              <a:t>Data Visualization</a:t>
            </a:r>
          </a:p>
        </p:txBody>
      </p:sp>
      <p:sp>
        <p:nvSpPr>
          <p:cNvPr id="5" name="Chart Placeholder 4">
            <a:extLst>
              <a:ext uri="{FF2B5EF4-FFF2-40B4-BE49-F238E27FC236}">
                <a16:creationId xmlns:a16="http://schemas.microsoft.com/office/drawing/2014/main" id="{A686C49F-4337-BBE6-FF21-682B01E38601}"/>
              </a:ext>
            </a:extLst>
          </p:cNvPr>
          <p:cNvSpPr>
            <a:spLocks noGrp="1"/>
          </p:cNvSpPr>
          <p:nvPr>
            <p:ph type="chart" sz="quarter" idx="15"/>
          </p:nvPr>
        </p:nvSpPr>
        <p:spPr>
          <a:xfrm>
            <a:off x="4572000" y="685597"/>
            <a:ext cx="4325938" cy="3778347"/>
          </a:xfrm>
          <a:prstGeom prst="rect">
            <a:avLst/>
          </a:prstGeom>
        </p:spPr>
        <p:txBody>
          <a:bodyPr/>
          <a:lstStyle/>
          <a:p>
            <a:endParaRPr lang="en-US"/>
          </a:p>
        </p:txBody>
      </p:sp>
      <p:sp>
        <p:nvSpPr>
          <p:cNvPr id="6" name="Content Placeholder 5">
            <a:extLst>
              <a:ext uri="{FF2B5EF4-FFF2-40B4-BE49-F238E27FC236}">
                <a16:creationId xmlns:a16="http://schemas.microsoft.com/office/drawing/2014/main" id="{D0B730E7-C68E-A3E8-1745-8AF89C786D5F}"/>
              </a:ext>
            </a:extLst>
          </p:cNvPr>
          <p:cNvSpPr>
            <a:spLocks noGrp="1"/>
          </p:cNvSpPr>
          <p:nvPr>
            <p:ph sz="quarter" idx="16"/>
          </p:nvPr>
        </p:nvSpPr>
        <p:spPr>
          <a:xfrm>
            <a:off x="136525" y="678433"/>
            <a:ext cx="4237038" cy="3785513"/>
          </a:xfrm>
          <a:prstGeom prst="rect">
            <a:avLst/>
          </a:prstGeom>
        </p:spPr>
        <p:txBody>
          <a:bodyPr/>
          <a:lstStyle>
            <a:lvl1pPr>
              <a:defRPr sz="1800" b="1">
                <a:solidFill>
                  <a:srgbClr val="C00000"/>
                </a:solidFill>
              </a:defRPr>
            </a:lvl1pPr>
            <a:lvl2pPr>
              <a:defRPr sz="1400"/>
            </a:lvl2pPr>
            <a:lvl3pPr>
              <a:defRPr sz="1200"/>
            </a:lvl3pPr>
            <a:lvl4pPr>
              <a:defRPr sz="1200"/>
            </a:lvl4pPr>
            <a:lvl5pPr>
              <a:defRPr sz="12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4">
            <a:extLst>
              <a:ext uri="{FF2B5EF4-FFF2-40B4-BE49-F238E27FC236}">
                <a16:creationId xmlns:a16="http://schemas.microsoft.com/office/drawing/2014/main" id="{A1231DFE-6A5A-950E-159E-9E1D3D45FD36}"/>
              </a:ext>
            </a:extLst>
          </p:cNvPr>
          <p:cNvSpPr>
            <a:spLocks noGrp="1"/>
          </p:cNvSpPr>
          <p:nvPr>
            <p:ph type="body" sz="quarter" idx="17" hasCustomPrompt="1"/>
          </p:nvPr>
        </p:nvSpPr>
        <p:spPr>
          <a:xfrm>
            <a:off x="5679465" y="4681864"/>
            <a:ext cx="3218473" cy="238125"/>
          </a:xfrm>
          <a:prstGeom prst="rect">
            <a:avLst/>
          </a:prstGeom>
        </p:spPr>
        <p:txBody>
          <a:bodyPr/>
          <a:lstStyle>
            <a:lvl5pPr algn="r">
              <a:buNone/>
              <a:defRPr sz="900"/>
            </a:lvl5pPr>
          </a:lstStyle>
          <a:p>
            <a:pPr lvl="4"/>
            <a:r>
              <a:rPr lang="en-US" dirty="0"/>
              <a:t>Project Name</a:t>
            </a:r>
          </a:p>
        </p:txBody>
      </p:sp>
    </p:spTree>
    <p:extLst>
      <p:ext uri="{BB962C8B-B14F-4D97-AF65-F5344CB8AC3E}">
        <p14:creationId xmlns:p14="http://schemas.microsoft.com/office/powerpoint/2010/main" val="47354944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EO Thank You">
    <p:spTree>
      <p:nvGrpSpPr>
        <p:cNvPr id="1" name=""/>
        <p:cNvGrpSpPr/>
        <p:nvPr/>
      </p:nvGrpSpPr>
      <p:grpSpPr>
        <a:xfrm>
          <a:off x="0" y="0"/>
          <a:ext cx="0" cy="0"/>
          <a:chOff x="0" y="0"/>
          <a:chExt cx="0" cy="0"/>
        </a:xfrm>
      </p:grpSpPr>
      <p:sp>
        <p:nvSpPr>
          <p:cNvPr id="4" name="Picture Placeholder 3">
            <a:extLst>
              <a:ext uri="{FF2B5EF4-FFF2-40B4-BE49-F238E27FC236}">
                <a16:creationId xmlns:a16="http://schemas.microsoft.com/office/drawing/2014/main" id="{8D36A0E4-7374-4A92-CEC2-AC1CC29B855F}"/>
              </a:ext>
            </a:extLst>
          </p:cNvPr>
          <p:cNvSpPr>
            <a:spLocks noGrp="1"/>
          </p:cNvSpPr>
          <p:nvPr>
            <p:ph type="pic" sz="quarter" idx="10"/>
          </p:nvPr>
        </p:nvSpPr>
        <p:spPr>
          <a:xfrm>
            <a:off x="2180492" y="171206"/>
            <a:ext cx="3978520" cy="1314694"/>
          </a:xfrm>
          <a:prstGeom prst="rect">
            <a:avLst/>
          </a:prstGeom>
        </p:spPr>
        <p:txBody>
          <a:bodyPr/>
          <a:lstStyle/>
          <a:p>
            <a:endParaRPr lang="en-US" dirty="0"/>
          </a:p>
        </p:txBody>
      </p:sp>
      <p:pic>
        <p:nvPicPr>
          <p:cNvPr id="5" name="Image 0" descr="/home/claude/eo-framework-logo.png">
            <a:extLst>
              <a:ext uri="{FF2B5EF4-FFF2-40B4-BE49-F238E27FC236}">
                <a16:creationId xmlns:a16="http://schemas.microsoft.com/office/drawing/2014/main" id="{028AFAE3-D949-BFF8-132D-C3956962B6BC}"/>
              </a:ext>
            </a:extLst>
          </p:cNvPr>
          <p:cNvPicPr>
            <a:picLocks noChangeAspect="1"/>
          </p:cNvPicPr>
          <p:nvPr userDrawn="1"/>
        </p:nvPicPr>
        <p:blipFill>
          <a:blip r:embed="rId2"/>
          <a:stretch>
            <a:fillRect/>
          </a:stretch>
        </p:blipFill>
        <p:spPr>
          <a:xfrm>
            <a:off x="6945879" y="4648200"/>
            <a:ext cx="1952244" cy="417576"/>
          </a:xfrm>
          <a:prstGeom prst="rect">
            <a:avLst/>
          </a:prstGeom>
        </p:spPr>
      </p:pic>
      <p:sp>
        <p:nvSpPr>
          <p:cNvPr id="6" name="Text Placeholder 8">
            <a:extLst>
              <a:ext uri="{FF2B5EF4-FFF2-40B4-BE49-F238E27FC236}">
                <a16:creationId xmlns:a16="http://schemas.microsoft.com/office/drawing/2014/main" id="{ABC2FEB1-3552-40B4-D5D2-8C9A2DF4EF3E}"/>
              </a:ext>
            </a:extLst>
          </p:cNvPr>
          <p:cNvSpPr>
            <a:spLocks noGrp="1"/>
          </p:cNvSpPr>
          <p:nvPr>
            <p:ph type="body" sz="quarter" idx="12" hasCustomPrompt="1"/>
          </p:nvPr>
        </p:nvSpPr>
        <p:spPr>
          <a:xfrm>
            <a:off x="736356" y="2247927"/>
            <a:ext cx="7671288" cy="527050"/>
          </a:xfrm>
          <a:prstGeom prst="rect">
            <a:avLst/>
          </a:prstGeom>
        </p:spPr>
        <p:txBody>
          <a:bodyPr/>
          <a:lstStyle>
            <a:lvl1pPr marL="0" indent="0" algn="ctr">
              <a:lnSpc>
                <a:spcPts val="3600"/>
              </a:lnSpc>
              <a:buNone/>
              <a:defRPr sz="3600" b="1" i="0" baseline="0">
                <a:latin typeface="Arial" panose="020B0604020202020204" pitchFamily="34" charset="0"/>
              </a:defRPr>
            </a:lvl1pPr>
          </a:lstStyle>
          <a:p>
            <a:pPr marL="0" indent="0" algn="ctr">
              <a:lnSpc>
                <a:spcPts val="3600"/>
              </a:lnSpc>
              <a:buNone/>
            </a:pPr>
            <a:r>
              <a:rPr lang="en-US" sz="3600" b="1" dirty="0">
                <a:solidFill>
                  <a:srgbClr val="2C3E50"/>
                </a:solidFill>
                <a:latin typeface="Arial" pitchFamily="34" charset="0"/>
                <a:ea typeface="Arial" pitchFamily="34" charset="-122"/>
                <a:cs typeface="Arial" pitchFamily="34" charset="-120"/>
              </a:rPr>
              <a:t>Thank You</a:t>
            </a:r>
          </a:p>
          <a:p>
            <a:pPr marL="0" indent="0" algn="ctr">
              <a:lnSpc>
                <a:spcPts val="3600"/>
              </a:lnSpc>
              <a:buNone/>
            </a:pPr>
            <a:endParaRPr lang="en-US" sz="3600" dirty="0"/>
          </a:p>
        </p:txBody>
      </p:sp>
      <p:sp>
        <p:nvSpPr>
          <p:cNvPr id="7" name="Picture Placeholder 13">
            <a:extLst>
              <a:ext uri="{FF2B5EF4-FFF2-40B4-BE49-F238E27FC236}">
                <a16:creationId xmlns:a16="http://schemas.microsoft.com/office/drawing/2014/main" id="{86145EB1-48C8-058E-F657-82D57B579544}"/>
              </a:ext>
            </a:extLst>
          </p:cNvPr>
          <p:cNvSpPr>
            <a:spLocks noGrp="1"/>
          </p:cNvSpPr>
          <p:nvPr>
            <p:ph type="pic" sz="quarter" idx="13"/>
          </p:nvPr>
        </p:nvSpPr>
        <p:spPr>
          <a:xfrm>
            <a:off x="313592" y="4536078"/>
            <a:ext cx="2164114" cy="529698"/>
          </a:xfrm>
          <a:prstGeom prst="rect">
            <a:avLst/>
          </a:prstGeom>
        </p:spPr>
        <p:txBody>
          <a:bodyPr/>
          <a:lstStyle/>
          <a:p>
            <a:endParaRPr lang="en-US" dirty="0"/>
          </a:p>
        </p:txBody>
      </p:sp>
      <p:sp>
        <p:nvSpPr>
          <p:cNvPr id="8" name="Text 0">
            <a:extLst>
              <a:ext uri="{FF2B5EF4-FFF2-40B4-BE49-F238E27FC236}">
                <a16:creationId xmlns:a16="http://schemas.microsoft.com/office/drawing/2014/main" id="{D51056DC-8081-0916-0351-65D88D1682B8}"/>
              </a:ext>
            </a:extLst>
          </p:cNvPr>
          <p:cNvSpPr/>
          <p:nvPr userDrawn="1"/>
        </p:nvSpPr>
        <p:spPr>
          <a:xfrm>
            <a:off x="2224455" y="1676475"/>
            <a:ext cx="3886322" cy="45719"/>
          </a:xfrm>
          <a:prstGeom prst="roundRect">
            <a:avLst>
              <a:gd name="adj" fmla="val 50000"/>
            </a:avLst>
          </a:prstGeom>
          <a:solidFill>
            <a:srgbClr val="CC0000"/>
          </a:solidFill>
          <a:ln/>
        </p:spPr>
        <p:txBody>
          <a:bodyPr wrap="square" rtlCol="0" anchor="ctr"/>
          <a:lstStyle/>
          <a:p>
            <a:pPr marL="0" indent="0">
              <a:buNone/>
            </a:pPr>
            <a:endParaRPr lang="en-US" dirty="0"/>
          </a:p>
        </p:txBody>
      </p:sp>
      <p:sp>
        <p:nvSpPr>
          <p:cNvPr id="10" name="Text Placeholder 9">
            <a:extLst>
              <a:ext uri="{FF2B5EF4-FFF2-40B4-BE49-F238E27FC236}">
                <a16:creationId xmlns:a16="http://schemas.microsoft.com/office/drawing/2014/main" id="{DC531180-94E5-3403-56E5-895E003A9D72}"/>
              </a:ext>
            </a:extLst>
          </p:cNvPr>
          <p:cNvSpPr>
            <a:spLocks noGrp="1"/>
          </p:cNvSpPr>
          <p:nvPr>
            <p:ph type="body" sz="quarter" idx="14" hasCustomPrompt="1"/>
          </p:nvPr>
        </p:nvSpPr>
        <p:spPr>
          <a:xfrm>
            <a:off x="1024304" y="1874962"/>
            <a:ext cx="6629399" cy="334598"/>
          </a:xfrm>
          <a:prstGeom prst="rect">
            <a:avLst/>
          </a:prstGeom>
        </p:spPr>
        <p:txBody>
          <a:bodyPr/>
          <a:lstStyle>
            <a:lvl1pPr marL="0" marR="0" indent="0" algn="ctr" defTabSz="914400" rtl="0" eaLnBrk="1" fontAlgn="auto" latinLnBrk="0" hangingPunct="1">
              <a:lnSpc>
                <a:spcPct val="100000"/>
              </a:lnSpc>
              <a:spcBef>
                <a:spcPct val="20000"/>
              </a:spcBef>
              <a:spcAft>
                <a:spcPts val="0"/>
              </a:spcAft>
              <a:buClrTx/>
              <a:buSzTx/>
              <a:buFont typeface="Arial" pitchFamily="34" charset="0"/>
              <a:buNone/>
              <a:tabLst/>
              <a:defRPr sz="1800">
                <a:latin typeface="Arial" panose="020B0604020202020204" pitchFamily="34" charset="0"/>
                <a:cs typeface="Arial" panose="020B0604020202020204" pitchFamily="34" charset="0"/>
              </a:defRPr>
            </a:lvl1pPr>
          </a:lstStyle>
          <a:p>
            <a:pPr marL="0" marR="0" lvl="0" indent="0" algn="ctr" defTabSz="914400" rtl="0" eaLnBrk="1" fontAlgn="auto" latinLnBrk="0" hangingPunct="1">
              <a:lnSpc>
                <a:spcPct val="100000"/>
              </a:lnSpc>
              <a:spcBef>
                <a:spcPct val="20000"/>
              </a:spcBef>
              <a:spcAft>
                <a:spcPts val="0"/>
              </a:spcAft>
              <a:buClrTx/>
              <a:buSzTx/>
              <a:buFont typeface="Arial" pitchFamily="34" charset="0"/>
              <a:buNone/>
              <a:tabLst/>
              <a:defRPr/>
            </a:pPr>
            <a:r>
              <a:rPr lang="en-US" sz="1800" dirty="0">
                <a:solidFill>
                  <a:srgbClr val="6C757D"/>
                </a:solidFill>
                <a:latin typeface="Arial" pitchFamily="34" charset="0"/>
                <a:ea typeface="Arial" pitchFamily="34" charset="-122"/>
                <a:cs typeface="Arial" pitchFamily="34" charset="-120"/>
              </a:rPr>
              <a:t>Questions?</a:t>
            </a:r>
            <a:endParaRPr lang="en-US" sz="1800" dirty="0"/>
          </a:p>
        </p:txBody>
      </p:sp>
      <p:sp>
        <p:nvSpPr>
          <p:cNvPr id="2" name="Text 3">
            <a:extLst>
              <a:ext uri="{FF2B5EF4-FFF2-40B4-BE49-F238E27FC236}">
                <a16:creationId xmlns:a16="http://schemas.microsoft.com/office/drawing/2014/main" id="{5727805F-2A15-11D3-243F-1AE09D6E973E}"/>
              </a:ext>
            </a:extLst>
          </p:cNvPr>
          <p:cNvSpPr/>
          <p:nvPr userDrawn="1"/>
        </p:nvSpPr>
        <p:spPr>
          <a:xfrm>
            <a:off x="3312808" y="4536078"/>
            <a:ext cx="2797969" cy="529698"/>
          </a:xfrm>
          <a:prstGeom prst="roundRect">
            <a:avLst>
              <a:gd name="adj" fmla="val 14286"/>
            </a:avLst>
          </a:prstGeom>
          <a:solidFill>
            <a:srgbClr val="F5F5F5"/>
          </a:solidFill>
          <a:ln/>
        </p:spPr>
        <p:txBody>
          <a:bodyPr wrap="square" rtlCol="0" anchor="ctr"/>
          <a:lstStyle/>
          <a:p>
            <a:pPr marL="0" indent="0">
              <a:buNone/>
            </a:pPr>
            <a:endParaRPr lang="en-US" dirty="0"/>
          </a:p>
        </p:txBody>
      </p:sp>
      <p:sp>
        <p:nvSpPr>
          <p:cNvPr id="3" name="Text 4">
            <a:extLst>
              <a:ext uri="{FF2B5EF4-FFF2-40B4-BE49-F238E27FC236}">
                <a16:creationId xmlns:a16="http://schemas.microsoft.com/office/drawing/2014/main" id="{1034B79E-463D-8396-409E-62C28A2DEB04}"/>
              </a:ext>
            </a:extLst>
          </p:cNvPr>
          <p:cNvSpPr/>
          <p:nvPr userDrawn="1"/>
        </p:nvSpPr>
        <p:spPr>
          <a:xfrm>
            <a:off x="3614735" y="4667577"/>
            <a:ext cx="2076688" cy="266700"/>
          </a:xfrm>
          <a:prstGeom prst="rect">
            <a:avLst/>
          </a:prstGeom>
          <a:noFill/>
          <a:ln/>
        </p:spPr>
        <p:txBody>
          <a:bodyPr wrap="square" lIns="0" tIns="0" rIns="0" bIns="0" rtlCol="0" anchor="t"/>
          <a:lstStyle/>
          <a:p>
            <a:pPr marL="0" indent="0" algn="ctr">
              <a:lnSpc>
                <a:spcPts val="2100"/>
              </a:lnSpc>
              <a:spcBef>
                <a:spcPts val="300"/>
              </a:spcBef>
              <a:spcAft>
                <a:spcPts val="300"/>
              </a:spcAft>
              <a:buNone/>
            </a:pPr>
            <a:r>
              <a:rPr lang="en-US" sz="1500" b="1" dirty="0">
                <a:solidFill>
                  <a:schemeClr val="bg2">
                    <a:lumMod val="75000"/>
                  </a:schemeClr>
                </a:solidFill>
                <a:latin typeface="Arial" pitchFamily="34" charset="0"/>
                <a:ea typeface="Arial" pitchFamily="34" charset="-122"/>
                <a:cs typeface="Arial" pitchFamily="34" charset="-120"/>
              </a:rPr>
              <a:t>www.eoframework.org</a:t>
            </a:r>
            <a:endParaRPr lang="en-US" sz="1500" dirty="0">
              <a:solidFill>
                <a:schemeClr val="bg2">
                  <a:lumMod val="75000"/>
                </a:schemeClr>
              </a:solidFill>
            </a:endParaRPr>
          </a:p>
        </p:txBody>
      </p:sp>
      <p:sp>
        <p:nvSpPr>
          <p:cNvPr id="16" name="Text Placeholder 9">
            <a:extLst>
              <a:ext uri="{FF2B5EF4-FFF2-40B4-BE49-F238E27FC236}">
                <a16:creationId xmlns:a16="http://schemas.microsoft.com/office/drawing/2014/main" id="{2DED039B-C555-DCF4-1CA7-CA1E44823784}"/>
              </a:ext>
            </a:extLst>
          </p:cNvPr>
          <p:cNvSpPr>
            <a:spLocks noGrp="1"/>
          </p:cNvSpPr>
          <p:nvPr>
            <p:ph type="body" sz="quarter" idx="15" hasCustomPrompt="1"/>
          </p:nvPr>
        </p:nvSpPr>
        <p:spPr>
          <a:xfrm>
            <a:off x="268165" y="3131272"/>
            <a:ext cx="8480181" cy="334598"/>
          </a:xfrm>
          <a:prstGeom prst="rect">
            <a:avLst/>
          </a:prstGeom>
        </p:spPr>
        <p:txBody>
          <a:bodyPr/>
          <a:lstStyle>
            <a:lvl1pPr marL="0" marR="0" indent="0" algn="ctr" defTabSz="914400" rtl="0" eaLnBrk="1" fontAlgn="auto" latinLnBrk="0" hangingPunct="1">
              <a:lnSpc>
                <a:spcPct val="100000"/>
              </a:lnSpc>
              <a:spcBef>
                <a:spcPct val="20000"/>
              </a:spcBef>
              <a:spcAft>
                <a:spcPts val="0"/>
              </a:spcAft>
              <a:buClrTx/>
              <a:buSzTx/>
              <a:buFont typeface="Arial" pitchFamily="34" charset="0"/>
              <a:buNone/>
              <a:tabLst/>
              <a:defRPr sz="1800" b="0">
                <a:solidFill>
                  <a:schemeClr val="tx1"/>
                </a:solidFill>
                <a:latin typeface="Arial" panose="020B0604020202020204" pitchFamily="34" charset="0"/>
                <a:cs typeface="Arial" panose="020B0604020202020204" pitchFamily="34" charset="0"/>
              </a:defRPr>
            </a:lvl1pPr>
          </a:lstStyle>
          <a:p>
            <a:pPr>
              <a:spcAft>
                <a:spcPts val="1200"/>
              </a:spcAft>
            </a:pPr>
            <a:r>
              <a:rPr lang="en-US" sz="1800" b="1" dirty="0">
                <a:solidFill>
                  <a:srgbClr val="000000"/>
                </a:solidFill>
              </a:rPr>
              <a:t>Account Manager:</a:t>
            </a:r>
            <a:r>
              <a:rPr lang="en-US" sz="1800" dirty="0">
                <a:solidFill>
                  <a:srgbClr val="000000"/>
                </a:solidFill>
              </a:rPr>
              <a:t> [Name, Title] | [Email] | [Phone]</a:t>
            </a:r>
          </a:p>
        </p:txBody>
      </p:sp>
    </p:spTree>
    <p:extLst>
      <p:ext uri="{BB962C8B-B14F-4D97-AF65-F5344CB8AC3E}">
        <p14:creationId xmlns:p14="http://schemas.microsoft.com/office/powerpoint/2010/main" val="3821020057"/>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51" r:id="rId1"/>
    <p:sldLayoutId id="2147483653" r:id="rId2"/>
    <p:sldLayoutId id="2147483659" r:id="rId3"/>
    <p:sldLayoutId id="2147483654" r:id="rId4"/>
    <p:sldLayoutId id="2147483655" r:id="rId5"/>
    <p:sldLayoutId id="2147483656" r:id="rId6"/>
    <p:sldLayoutId id="2147483657" r:id="rId7"/>
    <p:sldLayoutId id="2147483658" r:id="rId8"/>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image" Target="../media/image4.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 Id="rId3" Type="http://schemas.openxmlformats.org/officeDocument/2006/relationships/image" Target="../media/image3.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5.png"/><Relationship Id="rId3" Type="http://schemas.openxmlformats.org/officeDocument/2006/relationships/notesSlide" Target="../notesSlides/notesSlide2.xml"/><Relationship Id="rId4" Type="http://schemas.openxmlformats.org/officeDocument/2006/relationships/image" Target="../media/image3.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xml"/><Relationship Id="rId3" Type="http://schemas.openxmlformats.org/officeDocument/2006/relationships/image" Target="../media/image3.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xml"/><Relationship Id="rId3" Type="http://schemas.openxmlformats.org/officeDocument/2006/relationships/image" Target="../media/image3.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5.xml"/><Relationship Id="rId3" Type="http://schemas.openxmlformats.org/officeDocument/2006/relationships/image" Target="../media/image3.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xml"/><Relationship Id="rId3" Type="http://schemas.openxmlformats.org/officeDocument/2006/relationships/image" Target="../media/image3.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xml"/><Relationship Id="rId3" Type="http://schemas.openxmlformats.org/officeDocument/2006/relationships/image" Target="../media/image3.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 Id="rId3" Type="http://schemas.openxmlformats.org/officeDocument/2006/relationships/image" Target="../media/image3.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9.xml"/><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 Placeholder 2"/>
          <p:cNvSpPr>
            <a:spLocks noGrp="1"/>
          </p:cNvSpPr>
          <p:nvPr>
            <p:ph type="body" idx="12" sz="quarter"/>
          </p:nvPr>
        </p:nvSpPr>
        <p:spPr/>
        <p:txBody>
          <a:bodyPr/>
          <a:lstStyle/>
          <a:p>
            <a:r>
              <a:t>Project Closeout</a:t>
            </a:r>
          </a:p>
        </p:txBody>
      </p:sp>
      <p:sp>
        <p:nvSpPr>
          <p:cNvPr id="5" name="Text Placeholder 4"/>
          <p:cNvSpPr>
            <a:spLocks noGrp="1"/>
          </p:cNvSpPr>
          <p:nvPr>
            <p:ph type="body" idx="14" sz="quarter"/>
          </p:nvPr>
        </p:nvSpPr>
        <p:spPr/>
        <p:txBody>
          <a:bodyPr/>
          <a:lstStyle/>
          <a:p>
            <a:r>
              <a:t>Red Hat OpenShift Container Platform</a:t>
            </a:r>
          </a:p>
        </p:txBody>
      </p:sp>
      <p:sp>
        <p:nvSpPr>
          <p:cNvPr id="6" name="Text Placeholder 5"/>
          <p:cNvSpPr>
            <a:spLocks noGrp="1"/>
          </p:cNvSpPr>
          <p:nvPr>
            <p:ph type="body" idx="15" sz="quarter"/>
          </p:nvPr>
        </p:nvSpPr>
        <p:spPr/>
        <p:txBody>
          <a:bodyPr/>
          <a:lstStyle/>
          <a:p>
            <a:r>
              <a:t>Project Manager | November 27, 2025</a:t>
            </a:r>
          </a:p>
        </p:txBody>
      </p:sp>
      <p:pic>
        <p:nvPicPr>
          <p:cNvPr id="7" name="Picture 6" descr="client_logo.png"/>
          <p:cNvPicPr>
            <a:picLocks noChangeAspect="1"/>
          </p:cNvPicPr>
          <p:nvPr/>
        </p:nvPicPr>
        <p:blipFill>
          <a:blip r:embed="rId2"/>
          <a:stretch>
            <a:fillRect/>
          </a:stretch>
        </p:blipFill>
        <p:spPr>
          <a:xfrm>
            <a:off x="2180492" y="171206"/>
            <a:ext cx="3978520" cy="1314694"/>
          </a:xfrm>
          <a:prstGeom prst="rect">
            <a:avLst/>
          </a:prstGeom>
        </p:spPr>
      </p:pic>
      <p:pic>
        <p:nvPicPr>
          <p:cNvPr id="8" name="Picture 7" descr="consulting_company_logo.png"/>
          <p:cNvPicPr>
            <a:picLocks noChangeAspect="1"/>
          </p:cNvPicPr>
          <p:nvPr/>
        </p:nvPicPr>
        <p:blipFill>
          <a:blip r:embed="rId3"/>
          <a:stretch>
            <a:fillRect/>
          </a:stretch>
        </p:blipFill>
        <p:spPr>
          <a:xfrm>
            <a:off x="313591" y="4536078"/>
            <a:ext cx="2099897" cy="529698"/>
          </a:xfrm>
          <a:prstGeom prst="rect">
            <a:avLst/>
          </a:prstGeom>
        </p:spPr>
      </p:pic>
      <p:pic>
        <p:nvPicPr>
          <p:cNvPr id="9" name="Picture 8" descr="eo-framework-logo-real.png"/>
          <p:cNvPicPr>
            <a:picLocks noChangeAspect="1"/>
          </p:cNvPicPr>
          <p:nvPr/>
        </p:nvPicPr>
        <p:blipFill>
          <a:blip r:embed="rId4"/>
          <a:stretch>
            <a:fillRect/>
          </a:stretch>
        </p:blipFill>
        <p:spPr>
          <a:xfrm>
            <a:off x="6684264" y="4535424"/>
            <a:ext cx="2139696" cy="530352"/>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 Placeholder 2"/>
          <p:cNvSpPr>
            <a:spLocks noGrp="1"/>
          </p:cNvSpPr>
          <p:nvPr>
            <p:ph type="body" idx="10" sz="quarter"/>
          </p:nvPr>
        </p:nvSpPr>
        <p:spPr/>
        <p:txBody>
          <a:bodyPr/>
          <a:lstStyle/>
          <a:p>
            <a:pPr algn="l"/>
            <a:r>
              <a:t>Executive Summary</a:t>
            </a:r>
          </a:p>
        </p:txBody>
      </p:sp>
      <p:sp>
        <p:nvSpPr>
          <p:cNvPr id="4" name="Text Placeholder 3"/>
          <p:cNvSpPr>
            <a:spLocks noGrp="1"/>
          </p:cNvSpPr>
          <p:nvPr>
            <p:ph type="body" idx="14" sz="quarter"/>
          </p:nvPr>
        </p:nvSpPr>
        <p:spPr/>
        <p:txBody>
          <a:bodyPr/>
          <a:lstStyle/>
          <a:p>
            <a:pPr/>
            <a:r>
              <a:rPr b="1"/>
              <a:t>Project Duration:</a:t>
            </a:r>
            <a:r>
              <a:t> 6 months (24 weeks), on schedule</a:t>
            </a:r>
          </a:p>
          <a:p>
            <a:pPr/>
            <a:r>
              <a:rPr b="1"/>
              <a:t>Budget:</a:t>
            </a:r>
            <a:r>
              <a:t> $338,576 Year 1 delivered on budget</a:t>
            </a:r>
          </a:p>
          <a:p>
            <a:pPr/>
            <a:r>
              <a:rPr b="1"/>
              <a:t>Go-Live Date:</a:t>
            </a:r>
            <a:r>
              <a:t> Week 20 as planned</a:t>
            </a:r>
          </a:p>
          <a:p>
            <a:pPr/>
            <a:r>
              <a:rPr b="1"/>
              <a:t>Quality:</a:t>
            </a:r>
            <a:r>
              <a:t> Zero critical defects at launch</a:t>
            </a:r>
          </a:p>
          <a:p>
            <a:pPr/>
            <a:r>
              <a:rPr b="1"/>
              <a:t>Deployment Time:</a:t>
            </a:r>
            <a:r>
              <a:t> 95% reduction (2 weeks to 4 hours)</a:t>
            </a:r>
          </a:p>
          <a:p>
            <a:pPr/>
            <a:r>
              <a:rPr b="1"/>
              <a:t>Resource Utilization:</a:t>
            </a:r>
            <a:r>
              <a:t> 55% average (target: 50-60%)</a:t>
            </a:r>
          </a:p>
          <a:p>
            <a:pPr/>
            <a:r>
              <a:rPr b="1"/>
              <a:t>ROI Status:</a:t>
            </a:r>
            <a:r>
              <a:t> 18-month payback on track</a:t>
            </a:r>
          </a:p>
        </p:txBody>
      </p:sp>
      <p:sp>
        <p:nvSpPr>
          <p:cNvPr id="5" name="Text Placeholder 4"/>
          <p:cNvSpPr>
            <a:spLocks noGrp="1"/>
          </p:cNvSpPr>
          <p:nvPr>
            <p:ph type="body" idx="15" sz="quarter"/>
          </p:nvPr>
        </p:nvSpPr>
        <p:spPr/>
        <p:txBody>
          <a:bodyPr/>
          <a:lstStyle/>
          <a:p>
            <a:pPr algn="r">
              <a:buNone/>
            </a:pPr>
            <a:r>
              <a:rPr sz="1100">
                <a:solidFill>
                  <a:srgbClr val="CC0000"/>
                </a:solidFill>
              </a:rPr>
              <a:t>Red Hat OpenShift Container Platform</a:t>
            </a:r>
          </a:p>
        </p:txBody>
      </p:sp>
      <p:pic>
        <p:nvPicPr>
          <p:cNvPr id="6" name="Picture 5" descr="consulting_company_logo.png"/>
          <p:cNvPicPr>
            <a:picLocks noChangeAspect="1"/>
          </p:cNvPicPr>
          <p:nvPr/>
        </p:nvPicPr>
        <p:blipFill>
          <a:blip r:embed="rId3"/>
          <a:stretch>
            <a:fillRect/>
          </a:stretch>
        </p:blipFill>
        <p:spPr>
          <a:xfrm>
            <a:off x="313593" y="4536078"/>
            <a:ext cx="2143858" cy="529698"/>
          </a:xfrm>
          <a:prstGeom prst="rect">
            <a:avLst/>
          </a:prstGeom>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 Placeholder 2"/>
          <p:cNvSpPr>
            <a:spLocks noGrp="1"/>
          </p:cNvSpPr>
          <p:nvPr>
            <p:ph type="body" idx="10" sz="quarter"/>
          </p:nvPr>
        </p:nvSpPr>
        <p:spPr/>
        <p:txBody>
          <a:bodyPr/>
          <a:lstStyle/>
          <a:p>
            <a:pPr algn="l"/>
            <a:r>
              <a:t>Solution Architecture</a:t>
            </a:r>
          </a:p>
        </p:txBody>
      </p:sp>
      <p:sp>
        <p:nvSpPr>
          <p:cNvPr id="5" name="Text Placeholder 4"/>
          <p:cNvSpPr>
            <a:spLocks noGrp="1"/>
          </p:cNvSpPr>
          <p:nvPr>
            <p:ph type="body" idx="16" sz="quarter"/>
          </p:nvPr>
        </p:nvSpPr>
        <p:spPr/>
        <p:txBody>
          <a:bodyPr/>
          <a:lstStyle/>
          <a:p>
            <a:pPr/>
            <a:r>
              <a:rPr b="1"/>
              <a:t>OpenShift Platform</a:t>
            </a:r>
          </a:p>
          <a:p>
            <a:pPr lvl="1"/>
            <a:r>
              <a:t>6-node cluster (3 control, 3 worker)</a:t>
            </a:r>
          </a:p>
          <a:p>
            <a:pPr lvl="1"/>
            <a:r>
              <a:t>Multi-AZ high availability</a:t>
            </a:r>
          </a:p>
          <a:p>
            <a:pPr lvl="1"/>
            <a:r>
              <a:t>OpenShift Data Foundation storage</a:t>
            </a:r>
          </a:p>
          <a:p>
            <a:pPr/>
            <a:r>
              <a:rPr b="1"/>
              <a:t>Developer Tools</a:t>
            </a:r>
          </a:p>
          <a:p>
            <a:pPr lvl="1"/>
            <a:r>
              <a:t>OpenShift Pipelines (Tekton CI/CD)</a:t>
            </a:r>
          </a:p>
          <a:p>
            <a:pPr lvl="1"/>
            <a:r>
              <a:t>ArgoCD GitOps deployment</a:t>
            </a:r>
          </a:p>
          <a:p>
            <a:pPr lvl="1"/>
            <a:r>
              <a:t>Quay registry with scanning</a:t>
            </a:r>
          </a:p>
          <a:p>
            <a:pPr/>
            <a:r>
              <a:rPr b="1"/>
              <a:t>Observability</a:t>
            </a:r>
          </a:p>
          <a:p>
            <a:pPr lvl="1"/>
            <a:r>
              <a:t>Prometheus + Grafana metrics</a:t>
            </a:r>
          </a:p>
          <a:p>
            <a:pPr lvl="1"/>
            <a:r>
              <a:t>EFK centralized logging</a:t>
            </a:r>
          </a:p>
          <a:p>
            <a:pPr lvl="1"/>
            <a:r>
              <a:t>Istio service mesh enabled</a:t>
            </a:r>
          </a:p>
        </p:txBody>
      </p:sp>
      <p:sp>
        <p:nvSpPr>
          <p:cNvPr id="6" name="Text Placeholder 5"/>
          <p:cNvSpPr>
            <a:spLocks noGrp="1"/>
          </p:cNvSpPr>
          <p:nvPr>
            <p:ph type="body" idx="17" sz="quarter"/>
          </p:nvPr>
        </p:nvSpPr>
        <p:spPr/>
        <p:txBody>
          <a:bodyPr/>
          <a:lstStyle/>
          <a:p>
            <a:pPr algn="r">
              <a:buNone/>
            </a:pPr>
            <a:r>
              <a:rPr sz="1100">
                <a:solidFill>
                  <a:srgbClr val="CC0000"/>
                </a:solidFill>
              </a:rPr>
              <a:t>Red Hat OpenShift Container Platform</a:t>
            </a:r>
          </a:p>
        </p:txBody>
      </p:sp>
      <p:pic>
        <p:nvPicPr>
          <p:cNvPr id="7" name="Picture 6" descr="architecture-diagram.png"/>
          <p:cNvPicPr>
            <a:picLocks noChangeAspect="1"/>
          </p:cNvPicPr>
          <p:nvPr/>
        </p:nvPicPr>
        <p:blipFill>
          <a:blip r:embed="rId2"/>
          <a:stretch>
            <a:fillRect/>
          </a:stretch>
        </p:blipFill>
        <p:spPr>
          <a:xfrm>
            <a:off x="4662488" y="685799"/>
            <a:ext cx="4337050" cy="3815859"/>
          </a:xfrm>
          <a:prstGeom prst="rect">
            <a:avLst/>
          </a:prstGeom>
          <a:ln w="12700">
            <a:solidFill>
              <a:srgbClr val="C0C0C0"/>
            </a:solidFill>
            <a:prstDash val="solid"/>
          </a:ln>
        </p:spPr>
      </p:pic>
      <p:pic>
        <p:nvPicPr>
          <p:cNvPr id="8" name="Picture 7" descr="consulting_company_logo.png"/>
          <p:cNvPicPr>
            <a:picLocks noChangeAspect="1"/>
          </p:cNvPicPr>
          <p:nvPr/>
        </p:nvPicPr>
        <p:blipFill>
          <a:blip r:embed="rId4"/>
          <a:stretch>
            <a:fillRect/>
          </a:stretch>
        </p:blipFill>
        <p:spPr>
          <a:xfrm>
            <a:off x="313592" y="4536078"/>
            <a:ext cx="2130670" cy="529698"/>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 Placeholder 2"/>
          <p:cNvSpPr>
            <a:spLocks noGrp="1"/>
          </p:cNvSpPr>
          <p:nvPr>
            <p:ph type="body" idx="10" sz="quarter"/>
          </p:nvPr>
        </p:nvSpPr>
        <p:spPr/>
        <p:txBody>
          <a:bodyPr/>
          <a:lstStyle/>
          <a:p>
            <a:pPr algn="l"/>
            <a:r>
              <a:t>Deliverables Inventory</a:t>
            </a:r>
          </a:p>
        </p:txBody>
      </p:sp>
      <p:graphicFrame>
        <p:nvGraphicFramePr>
          <p:cNvPr id="4" name="Table Placeholder 3"/>
          <p:cNvGraphicFramePr>
            <a:graphicFrameLocks noGrp="1"/>
          </p:cNvGraphicFramePr>
          <p:nvPr>
            <p:ph type="tbl" idx="14" sz="quarter"/>
          </p:nvPr>
        </p:nvGraphicFramePr>
        <p:xfrm>
          <a:off x="256855" y="677011"/>
          <a:ext cx="8710931" cy="3337560"/>
        </p:xfrm>
        <a:graphic>
          <a:graphicData uri="http://schemas.openxmlformats.org/drawingml/2006/table">
            <a:tbl>
              <a:tblPr firstRow="1" bandRow="1">
                <a:tableStyleId>{5C22544A-7EE6-4342-B048-85BDC9FD1C3A}</a:tableStyleId>
              </a:tblPr>
              <a:tblGrid>
                <a:gridCol w="2613279"/>
                <a:gridCol w="3919919"/>
                <a:gridCol w="2177733"/>
              </a:tblGrid>
              <a:tr h="370840">
                <a:tc>
                  <a:txBody>
                    <a:bodyPr/>
                    <a:lstStyle/>
                    <a:p>
                      <a:r>
                        <a:rPr sz="1400">
                          <a:solidFill>
                            <a:srgbClr val="FFFFFF"/>
                          </a:solidFill>
                        </a:rPr>
                        <a:t>Deliverable</a:t>
                      </a:r>
                    </a:p>
                  </a:txBody>
                  <a:tcPr>
                    <a:solidFill>
                      <a:srgbClr val="A01C02"/>
                    </a:solidFill>
                  </a:tcPr>
                </a:tc>
                <a:tc>
                  <a:txBody>
                    <a:bodyPr/>
                    <a:lstStyle/>
                    <a:p>
                      <a:r>
                        <a:rPr sz="1400">
                          <a:solidFill>
                            <a:srgbClr val="FFFFFF"/>
                          </a:solidFill>
                        </a:rPr>
                        <a:t>Purpose</a:t>
                      </a:r>
                    </a:p>
                  </a:txBody>
                  <a:tcPr>
                    <a:solidFill>
                      <a:srgbClr val="A01C02"/>
                    </a:solidFill>
                  </a:tcPr>
                </a:tc>
                <a:tc>
                  <a:txBody>
                    <a:bodyPr/>
                    <a:lstStyle/>
                    <a:p>
                      <a:r>
                        <a:rPr sz="1400">
                          <a:solidFill>
                            <a:srgbClr val="FFFFFF"/>
                          </a:solidFill>
                        </a:rPr>
                        <a:t>Location</a:t>
                      </a:r>
                    </a:p>
                  </a:txBody>
                  <a:tcPr>
                    <a:solidFill>
                      <a:srgbClr val="A01C02"/>
                    </a:solidFill>
                  </a:tcPr>
                </a:tc>
              </a:tr>
              <a:tr h="370840">
                <a:tc>
                  <a:txBody>
                    <a:bodyPr/>
                    <a:lstStyle/>
                    <a:p>
                      <a:r>
                        <a:rPr b="1" sz="1100"/>
                        <a:t>Detailed Design Document</a:t>
                      </a:r>
                    </a:p>
                  </a:txBody>
                  <a:tcPr>
                    <a:solidFill>
                      <a:srgbClr val="E7E6E6"/>
                    </a:solidFill>
                  </a:tcPr>
                </a:tc>
                <a:tc>
                  <a:txBody>
                    <a:bodyPr/>
                    <a:lstStyle/>
                    <a:p>
                      <a:r>
                        <a:rPr sz="1100"/>
                        <a:t>OpenShift architecture, security, network design</a:t>
                      </a:r>
                    </a:p>
                  </a:txBody>
                  <a:tcPr>
                    <a:solidFill>
                      <a:srgbClr val="E7E6E6"/>
                    </a:solidFill>
                  </a:tcPr>
                </a:tc>
                <a:tc>
                  <a:txBody>
                    <a:bodyPr/>
                    <a:lstStyle/>
                    <a:p>
                      <a:r>
                        <a:rPr sz="1100"/>
                        <a:t>`/delivery/detailed-design.docx`</a:t>
                      </a:r>
                    </a:p>
                  </a:txBody>
                  <a:tcPr>
                    <a:solidFill>
                      <a:srgbClr val="E7E6E6"/>
                    </a:solidFill>
                  </a:tcPr>
                </a:tc>
              </a:tr>
              <a:tr h="370840">
                <a:tc>
                  <a:txBody>
                    <a:bodyPr/>
                    <a:lstStyle/>
                    <a:p>
                      <a:r>
                        <a:rPr b="1" sz="1100"/>
                        <a:t>Implementation Guide</a:t>
                      </a:r>
                    </a:p>
                  </a:txBody>
                  <a:tcPr>
                    <a:solidFill>
                      <a:srgbClr val="E7E6E6"/>
                    </a:solidFill>
                  </a:tcPr>
                </a:tc>
                <a:tc>
                  <a:txBody>
                    <a:bodyPr/>
                    <a:lstStyle/>
                    <a:p>
                      <a:r>
                        <a:rPr sz="1100"/>
                        <a:t>Step-by-step deployment with IaC templates</a:t>
                      </a:r>
                    </a:p>
                  </a:txBody>
                  <a:tcPr>
                    <a:solidFill>
                      <a:srgbClr val="E7E6E6"/>
                    </a:solidFill>
                  </a:tcPr>
                </a:tc>
                <a:tc>
                  <a:txBody>
                    <a:bodyPr/>
                    <a:lstStyle/>
                    <a:p>
                      <a:r>
                        <a:rPr sz="1100"/>
                        <a:t>`/delivery/implementation-guide.docx`</a:t>
                      </a:r>
                    </a:p>
                  </a:txBody>
                  <a:tcPr>
                    <a:solidFill>
                      <a:srgbClr val="E7E6E6"/>
                    </a:solidFill>
                  </a:tcPr>
                </a:tc>
              </a:tr>
              <a:tr h="370840">
                <a:tc>
                  <a:txBody>
                    <a:bodyPr/>
                    <a:lstStyle/>
                    <a:p>
                      <a:r>
                        <a:rPr b="1" sz="1100"/>
                        <a:t>Project Plan</a:t>
                      </a:r>
                    </a:p>
                  </a:txBody>
                  <a:tcPr>
                    <a:solidFill>
                      <a:srgbClr val="E7E6E6"/>
                    </a:solidFill>
                  </a:tcPr>
                </a:tc>
                <a:tc>
                  <a:txBody>
                    <a:bodyPr/>
                    <a:lstStyle/>
                    <a:p>
                      <a:r>
                        <a:rPr sz="1100"/>
                        <a:t>Timeline, milestones, RACI, communications</a:t>
                      </a:r>
                    </a:p>
                  </a:txBody>
                  <a:tcPr>
                    <a:solidFill>
                      <a:srgbClr val="E7E6E6"/>
                    </a:solidFill>
                  </a:tcPr>
                </a:tc>
                <a:tc>
                  <a:txBody>
                    <a:bodyPr/>
                    <a:lstStyle/>
                    <a:p>
                      <a:r>
                        <a:rPr sz="1100"/>
                        <a:t>`/delivery/project-plan.xlsx`</a:t>
                      </a:r>
                    </a:p>
                  </a:txBody>
                  <a:tcPr>
                    <a:solidFill>
                      <a:srgbClr val="E7E6E6"/>
                    </a:solidFill>
                  </a:tcPr>
                </a:tc>
              </a:tr>
              <a:tr h="370840">
                <a:tc>
                  <a:txBody>
                    <a:bodyPr/>
                    <a:lstStyle/>
                    <a:p>
                      <a:r>
                        <a:rPr b="1" sz="1100"/>
                        <a:t>Test Plan &amp; Results</a:t>
                      </a:r>
                    </a:p>
                  </a:txBody>
                  <a:tcPr>
                    <a:solidFill>
                      <a:srgbClr val="E7E6E6"/>
                    </a:solidFill>
                  </a:tcPr>
                </a:tc>
                <a:tc>
                  <a:txBody>
                    <a:bodyPr/>
                    <a:lstStyle/>
                    <a:p>
                      <a:r>
                        <a:rPr sz="1100"/>
                        <a:t>Test cases, accuracy validation, UAT results</a:t>
                      </a:r>
                    </a:p>
                  </a:txBody>
                  <a:tcPr>
                    <a:solidFill>
                      <a:srgbClr val="E7E6E6"/>
                    </a:solidFill>
                  </a:tcPr>
                </a:tc>
                <a:tc>
                  <a:txBody>
                    <a:bodyPr/>
                    <a:lstStyle/>
                    <a:p>
                      <a:r>
                        <a:rPr sz="1100"/>
                        <a:t>`/delivery/test-plan.xlsx`</a:t>
                      </a:r>
                    </a:p>
                  </a:txBody>
                  <a:tcPr>
                    <a:solidFill>
                      <a:srgbClr val="E7E6E6"/>
                    </a:solidFill>
                  </a:tcPr>
                </a:tc>
              </a:tr>
              <a:tr h="370840">
                <a:tc>
                  <a:txBody>
                    <a:bodyPr/>
                    <a:lstStyle/>
                    <a:p>
                      <a:r>
                        <a:rPr b="1" sz="1100"/>
                        <a:t>Ansible Playbooks</a:t>
                      </a:r>
                    </a:p>
                  </a:txBody>
                  <a:tcPr>
                    <a:solidFill>
                      <a:srgbClr val="E7E6E6"/>
                    </a:solidFill>
                  </a:tcPr>
                </a:tc>
                <a:tc>
                  <a:txBody>
                    <a:bodyPr/>
                    <a:lstStyle/>
                    <a:p>
                      <a:r>
                        <a:rPr sz="1100"/>
                        <a:t>Cluster configuration and application deployment</a:t>
                      </a:r>
                    </a:p>
                  </a:txBody>
                  <a:tcPr>
                    <a:solidFill>
                      <a:srgbClr val="E7E6E6"/>
                    </a:solidFill>
                  </a:tcPr>
                </a:tc>
                <a:tc>
                  <a:txBody>
                    <a:bodyPr/>
                    <a:lstStyle/>
                    <a:p>
                      <a:r>
                        <a:rPr sz="1100"/>
                        <a:t>`/delivery/scripts/ansible/`</a:t>
                      </a:r>
                    </a:p>
                  </a:txBody>
                  <a:tcPr>
                    <a:solidFill>
                      <a:srgbClr val="E7E6E6"/>
                    </a:solidFill>
                  </a:tcPr>
                </a:tc>
              </a:tr>
              <a:tr h="370840">
                <a:tc>
                  <a:txBody>
                    <a:bodyPr/>
                    <a:lstStyle/>
                    <a:p>
                      <a:r>
                        <a:rPr b="1" sz="1100"/>
                        <a:t>Helm Charts</a:t>
                      </a:r>
                    </a:p>
                  </a:txBody>
                  <a:tcPr>
                    <a:solidFill>
                      <a:srgbClr val="E7E6E6"/>
                    </a:solidFill>
                  </a:tcPr>
                </a:tc>
                <a:tc>
                  <a:txBody>
                    <a:bodyPr/>
                    <a:lstStyle/>
                    <a:p>
                      <a:r>
                        <a:rPr sz="1100"/>
                        <a:t>Application packaging and deployment templates</a:t>
                      </a:r>
                    </a:p>
                  </a:txBody>
                  <a:tcPr>
                    <a:solidFill>
                      <a:srgbClr val="E7E6E6"/>
                    </a:solidFill>
                  </a:tcPr>
                </a:tc>
                <a:tc>
                  <a:txBody>
                    <a:bodyPr/>
                    <a:lstStyle/>
                    <a:p>
                      <a:r>
                        <a:rPr sz="1100"/>
                        <a:t>`/delivery/scripts/helm/`</a:t>
                      </a:r>
                    </a:p>
                  </a:txBody>
                  <a:tcPr>
                    <a:solidFill>
                      <a:srgbClr val="E7E6E6"/>
                    </a:solidFill>
                  </a:tcPr>
                </a:tc>
              </a:tr>
              <a:tr h="370840">
                <a:tc>
                  <a:txBody>
                    <a:bodyPr/>
                    <a:lstStyle/>
                    <a:p>
                      <a:r>
                        <a:rPr b="1" sz="1100"/>
                        <a:t>Operations Runbook</a:t>
                      </a:r>
                    </a:p>
                  </a:txBody>
                  <a:tcPr>
                    <a:solidFill>
                      <a:srgbClr val="E7E6E6"/>
                    </a:solidFill>
                  </a:tcPr>
                </a:tc>
                <a:tc>
                  <a:txBody>
                    <a:bodyPr/>
                    <a:lstStyle/>
                    <a:p>
                      <a:r>
                        <a:rPr sz="1100"/>
                        <a:t>Day-to-day procedures and troubleshooting</a:t>
                      </a:r>
                    </a:p>
                  </a:txBody>
                  <a:tcPr>
                    <a:solidFill>
                      <a:srgbClr val="E7E6E6"/>
                    </a:solidFill>
                  </a:tcPr>
                </a:tc>
                <a:tc>
                  <a:txBody>
                    <a:bodyPr/>
                    <a:lstStyle/>
                    <a:p>
                      <a:r>
                        <a:rPr sz="1100"/>
                        <a:t>`/delivery/docs/runbook.md`</a:t>
                      </a:r>
                    </a:p>
                  </a:txBody>
                  <a:tcPr>
                    <a:solidFill>
                      <a:srgbClr val="E7E6E6"/>
                    </a:solidFill>
                  </a:tcPr>
                </a:tc>
              </a:tr>
              <a:tr h="370840">
                <a:tc>
                  <a:txBody>
                    <a:bodyPr/>
                    <a:lstStyle/>
                    <a:p>
                      <a:r>
                        <a:rPr b="1" sz="1100"/>
                        <a:t>Training Materials</a:t>
                      </a:r>
                    </a:p>
                  </a:txBody>
                  <a:tcPr>
                    <a:solidFill>
                      <a:srgbClr val="E7E6E6"/>
                    </a:solidFill>
                  </a:tcPr>
                </a:tc>
                <a:tc>
                  <a:txBody>
                    <a:bodyPr/>
                    <a:lstStyle/>
                    <a:p>
                      <a:r>
                        <a:rPr sz="1100"/>
                        <a:t>Admin and developer guides, video tutorials</a:t>
                      </a:r>
                    </a:p>
                  </a:txBody>
                  <a:tcPr>
                    <a:solidFill>
                      <a:srgbClr val="E7E6E6"/>
                    </a:solidFill>
                  </a:tcPr>
                </a:tc>
                <a:tc>
                  <a:txBody>
                    <a:bodyPr/>
                    <a:lstStyle/>
                    <a:p>
                      <a:r>
                        <a:rPr sz="1100"/>
                        <a:t>`/delivery/training/`</a:t>
                      </a:r>
                    </a:p>
                  </a:txBody>
                  <a:tcPr>
                    <a:solidFill>
                      <a:srgbClr val="E7E6E6"/>
                    </a:solidFill>
                  </a:tcPr>
                </a:tc>
              </a:tr>
            </a:tbl>
          </a:graphicData>
        </a:graphic>
      </p:graphicFrame>
      <p:sp>
        <p:nvSpPr>
          <p:cNvPr id="5" name="Text Placeholder 4"/>
          <p:cNvSpPr>
            <a:spLocks noGrp="1"/>
          </p:cNvSpPr>
          <p:nvPr>
            <p:ph type="body" idx="15" sz="quarter"/>
          </p:nvPr>
        </p:nvSpPr>
        <p:spPr/>
        <p:txBody>
          <a:bodyPr/>
          <a:lstStyle/>
          <a:p>
            <a:pPr algn="r">
              <a:buNone/>
            </a:pPr>
            <a:r>
              <a:rPr sz="1100">
                <a:solidFill>
                  <a:srgbClr val="CC0000"/>
                </a:solidFill>
              </a:rPr>
              <a:t>Red Hat OpenShift Container Platform</a:t>
            </a:r>
          </a:p>
        </p:txBody>
      </p:sp>
      <p:pic>
        <p:nvPicPr>
          <p:cNvPr id="6" name="Picture 5" descr="consulting_company_logo.png"/>
          <p:cNvPicPr>
            <a:picLocks noChangeAspect="1"/>
          </p:cNvPicPr>
          <p:nvPr/>
        </p:nvPicPr>
        <p:blipFill>
          <a:blip r:embed="rId3"/>
          <a:stretch>
            <a:fillRect/>
          </a:stretch>
        </p:blipFill>
        <p:spPr>
          <a:xfrm>
            <a:off x="313592" y="4536078"/>
            <a:ext cx="2126273" cy="529698"/>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 Placeholder 2"/>
          <p:cNvSpPr>
            <a:spLocks noGrp="1"/>
          </p:cNvSpPr>
          <p:nvPr>
            <p:ph type="body" idx="10" sz="quarter"/>
          </p:nvPr>
        </p:nvSpPr>
        <p:spPr/>
        <p:txBody>
          <a:bodyPr/>
          <a:lstStyle/>
          <a:p>
            <a:pPr algn="l"/>
            <a:r>
              <a:t>Quality &amp; Performance</a:t>
            </a:r>
          </a:p>
        </p:txBody>
      </p:sp>
      <p:sp>
        <p:nvSpPr>
          <p:cNvPr id="4" name="Text Placeholder 3"/>
          <p:cNvSpPr>
            <a:spLocks noGrp="1"/>
          </p:cNvSpPr>
          <p:nvPr>
            <p:ph type="body" idx="16" sz="quarter"/>
          </p:nvPr>
        </p:nvSpPr>
        <p:spPr/>
        <p:txBody>
          <a:bodyPr/>
          <a:lstStyle/>
          <a:p>
            <a:pPr/>
            <a:r>
              <a:rPr b="1"/>
              <a:t>Platform Metrics</a:t>
            </a:r>
          </a:p>
          <a:p>
            <a:pPr lvl="1"/>
            <a:r>
              <a:t>Cluster Uptime: 99.7% (target: 99.5%)</a:t>
            </a:r>
          </a:p>
          <a:p>
            <a:pPr lvl="1"/>
            <a:r>
              <a:t>Deployment Success: 98% automated</a:t>
            </a:r>
          </a:p>
          <a:p>
            <a:pPr lvl="1"/>
            <a:r>
              <a:t>Container Startup: 45 sec average</a:t>
            </a:r>
          </a:p>
          <a:p>
            <a:pPr lvl="1"/>
            <a:r>
              <a:t>Pod Scheduling: 100% success rate</a:t>
            </a:r>
          </a:p>
          <a:p>
            <a:pPr lvl="1"/>
            <a:r>
              <a:t>Storage Provisioning: 30 sec average</a:t>
            </a:r>
          </a:p>
        </p:txBody>
      </p:sp>
      <p:sp>
        <p:nvSpPr>
          <p:cNvPr id="5" name="Text Placeholder 4"/>
          <p:cNvSpPr>
            <a:spLocks noGrp="1"/>
          </p:cNvSpPr>
          <p:nvPr>
            <p:ph type="body" idx="17" sz="quarter"/>
          </p:nvPr>
        </p:nvSpPr>
        <p:spPr/>
        <p:txBody>
          <a:bodyPr/>
          <a:lstStyle/>
          <a:p>
            <a:pPr/>
            <a:r>
              <a:rPr b="1"/>
              <a:t>Developer Metrics</a:t>
            </a:r>
          </a:p>
          <a:p>
            <a:pPr lvl="1"/>
            <a:r>
              <a:t>Deployment Frequency: 10x improvement</a:t>
            </a:r>
          </a:p>
          <a:p>
            <a:pPr lvl="1"/>
            <a:r>
              <a:t>Pipeline Duration: 12 min average</a:t>
            </a:r>
          </a:p>
          <a:p>
            <a:pPr lvl="1"/>
            <a:r>
              <a:t>Self-Service Adoption: 85%</a:t>
            </a:r>
          </a:p>
          <a:p>
            <a:pPr lvl="1"/>
            <a:r>
              <a:t>Ticket Reduction: 80% decrease</a:t>
            </a:r>
          </a:p>
          <a:p>
            <a:pPr lvl="1"/>
            <a:r>
              <a:t>Developer Satisfaction: 4.5/5.0</a:t>
            </a:r>
          </a:p>
        </p:txBody>
      </p:sp>
      <p:sp>
        <p:nvSpPr>
          <p:cNvPr id="6" name="Text Placeholder 5"/>
          <p:cNvSpPr>
            <a:spLocks noGrp="1"/>
          </p:cNvSpPr>
          <p:nvPr>
            <p:ph type="body" idx="15" sz="quarter"/>
          </p:nvPr>
        </p:nvSpPr>
        <p:spPr/>
        <p:txBody>
          <a:bodyPr/>
          <a:lstStyle/>
          <a:p>
            <a:pPr algn="r">
              <a:buNone/>
            </a:pPr>
            <a:r>
              <a:rPr sz="1100">
                <a:solidFill>
                  <a:srgbClr val="CC0000"/>
                </a:solidFill>
              </a:rPr>
              <a:t>Red Hat OpenShift Container Platform</a:t>
            </a:r>
          </a:p>
        </p:txBody>
      </p:sp>
      <p:pic>
        <p:nvPicPr>
          <p:cNvPr id="7" name="Picture 6" descr="consulting_company_logo.png"/>
          <p:cNvPicPr>
            <a:picLocks noChangeAspect="1"/>
          </p:cNvPicPr>
          <p:nvPr/>
        </p:nvPicPr>
        <p:blipFill>
          <a:blip r:embed="rId3"/>
          <a:stretch>
            <a:fillRect/>
          </a:stretch>
        </p:blipFill>
        <p:spPr>
          <a:xfrm>
            <a:off x="313592" y="4536078"/>
            <a:ext cx="2121877" cy="529698"/>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 Placeholder 2"/>
          <p:cNvSpPr>
            <a:spLocks noGrp="1"/>
          </p:cNvSpPr>
          <p:nvPr>
            <p:ph type="body" idx="10" sz="quarter"/>
          </p:nvPr>
        </p:nvSpPr>
        <p:spPr/>
        <p:txBody>
          <a:bodyPr/>
          <a:lstStyle/>
          <a:p>
            <a:pPr algn="l"/>
            <a:r>
              <a:t>Benefits Realized</a:t>
            </a:r>
          </a:p>
        </p:txBody>
      </p:sp>
      <p:graphicFrame>
        <p:nvGraphicFramePr>
          <p:cNvPr id="4" name="Table Placeholder 3"/>
          <p:cNvGraphicFramePr>
            <a:graphicFrameLocks noGrp="1"/>
          </p:cNvGraphicFramePr>
          <p:nvPr>
            <p:ph type="tbl" idx="14" sz="quarter"/>
          </p:nvPr>
        </p:nvGraphicFramePr>
        <p:xfrm>
          <a:off x="256855" y="677011"/>
          <a:ext cx="8710930" cy="2595880"/>
        </p:xfrm>
        <a:graphic>
          <a:graphicData uri="http://schemas.openxmlformats.org/drawingml/2006/table">
            <a:tbl>
              <a:tblPr firstRow="1" bandRow="1">
                <a:tableStyleId>{5C22544A-7EE6-4342-B048-85BDC9FD1C3A}</a:tableStyleId>
              </a:tblPr>
              <a:tblGrid>
                <a:gridCol w="2613279"/>
                <a:gridCol w="1742186"/>
                <a:gridCol w="1742186"/>
                <a:gridCol w="2613279"/>
              </a:tblGrid>
              <a:tr h="370840">
                <a:tc>
                  <a:txBody>
                    <a:bodyPr/>
                    <a:lstStyle/>
                    <a:p>
                      <a:r>
                        <a:rPr sz="1400">
                          <a:solidFill>
                            <a:srgbClr val="FFFFFF"/>
                          </a:solidFill>
                        </a:rPr>
                        <a:t>Benefit Category</a:t>
                      </a:r>
                    </a:p>
                  </a:txBody>
                  <a:tcPr>
                    <a:solidFill>
                      <a:srgbClr val="A01C02"/>
                    </a:solidFill>
                  </a:tcPr>
                </a:tc>
                <a:tc>
                  <a:txBody>
                    <a:bodyPr/>
                    <a:lstStyle/>
                    <a:p>
                      <a:r>
                        <a:rPr sz="1400">
                          <a:solidFill>
                            <a:srgbClr val="FFFFFF"/>
                          </a:solidFill>
                        </a:rPr>
                        <a:t>SOW Target</a:t>
                      </a:r>
                    </a:p>
                  </a:txBody>
                  <a:tcPr>
                    <a:solidFill>
                      <a:srgbClr val="A01C02"/>
                    </a:solidFill>
                  </a:tcPr>
                </a:tc>
                <a:tc>
                  <a:txBody>
                    <a:bodyPr/>
                    <a:lstStyle/>
                    <a:p>
                      <a:r>
                        <a:rPr sz="1400">
                          <a:solidFill>
                            <a:srgbClr val="FFFFFF"/>
                          </a:solidFill>
                        </a:rPr>
                        <a:t>Achieved</a:t>
                      </a:r>
                    </a:p>
                  </a:txBody>
                  <a:tcPr>
                    <a:solidFill>
                      <a:srgbClr val="A01C02"/>
                    </a:solidFill>
                  </a:tcPr>
                </a:tc>
                <a:tc>
                  <a:txBody>
                    <a:bodyPr/>
                    <a:lstStyle/>
                    <a:p>
                      <a:r>
                        <a:rPr sz="1400">
                          <a:solidFill>
                            <a:srgbClr val="FFFFFF"/>
                          </a:solidFill>
                        </a:rPr>
                        <a:t>Business Impact</a:t>
                      </a:r>
                    </a:p>
                  </a:txBody>
                  <a:tcPr>
                    <a:solidFill>
                      <a:srgbClr val="A01C02"/>
                    </a:solidFill>
                  </a:tcPr>
                </a:tc>
              </a:tr>
              <a:tr h="370840">
                <a:tc>
                  <a:txBody>
                    <a:bodyPr/>
                    <a:lstStyle/>
                    <a:p>
                      <a:r>
                        <a:rPr b="1" sz="1100"/>
                        <a:t>Deployment Time</a:t>
                      </a:r>
                    </a:p>
                  </a:txBody>
                  <a:tcPr>
                    <a:solidFill>
                      <a:srgbClr val="E7E6E6"/>
                    </a:solidFill>
                  </a:tcPr>
                </a:tc>
                <a:tc>
                  <a:txBody>
                    <a:bodyPr/>
                    <a:lstStyle/>
                    <a:p>
                      <a:r>
                        <a:rPr sz="1100"/>
                        <a:t>10x faster</a:t>
                      </a:r>
                    </a:p>
                  </a:txBody>
                  <a:tcPr>
                    <a:solidFill>
                      <a:srgbClr val="E7E6E6"/>
                    </a:solidFill>
                  </a:tcPr>
                </a:tc>
                <a:tc>
                  <a:txBody>
                    <a:bodyPr/>
                    <a:lstStyle/>
                    <a:p>
                      <a:r>
                        <a:rPr sz="1100"/>
                        <a:t>95% reduction</a:t>
                      </a:r>
                    </a:p>
                  </a:txBody>
                  <a:tcPr>
                    <a:solidFill>
                      <a:srgbClr val="E7E6E6"/>
                    </a:solidFill>
                  </a:tcPr>
                </a:tc>
                <a:tc>
                  <a:txBody>
                    <a:bodyPr/>
                    <a:lstStyle/>
                    <a:p>
                      <a:r>
                        <a:rPr sz="1100"/>
                        <a:t>2 weeks to 4 hours per app</a:t>
                      </a:r>
                    </a:p>
                  </a:txBody>
                  <a:tcPr>
                    <a:solidFill>
                      <a:srgbClr val="E7E6E6"/>
                    </a:solidFill>
                  </a:tcPr>
                </a:tc>
              </a:tr>
              <a:tr h="370840">
                <a:tc>
                  <a:txBody>
                    <a:bodyPr/>
                    <a:lstStyle/>
                    <a:p>
                      <a:r>
                        <a:rPr b="1" sz="1100"/>
                        <a:t>Resource Utilization</a:t>
                      </a:r>
                    </a:p>
                  </a:txBody>
                  <a:tcPr>
                    <a:solidFill>
                      <a:srgbClr val="E7E6E6"/>
                    </a:solidFill>
                  </a:tcPr>
                </a:tc>
                <a:tc>
                  <a:txBody>
                    <a:bodyPr/>
                    <a:lstStyle/>
                    <a:p>
                      <a:r>
                        <a:rPr sz="1100"/>
                        <a:t>50-60%</a:t>
                      </a:r>
                    </a:p>
                  </a:txBody>
                  <a:tcPr>
                    <a:solidFill>
                      <a:srgbClr val="E7E6E6"/>
                    </a:solidFill>
                  </a:tcPr>
                </a:tc>
                <a:tc>
                  <a:txBody>
                    <a:bodyPr/>
                    <a:lstStyle/>
                    <a:p>
                      <a:r>
                        <a:rPr sz="1100"/>
                        <a:t>55% average</a:t>
                      </a:r>
                    </a:p>
                  </a:txBody>
                  <a:tcPr>
                    <a:solidFill>
                      <a:srgbClr val="E7E6E6"/>
                    </a:solidFill>
                  </a:tcPr>
                </a:tc>
                <a:tc>
                  <a:txBody>
                    <a:bodyPr/>
                    <a:lstStyle/>
                    <a:p>
                      <a:r>
                        <a:rPr sz="1100"/>
                        <a:t>3x improvement from VMs</a:t>
                      </a:r>
                    </a:p>
                  </a:txBody>
                  <a:tcPr>
                    <a:solidFill>
                      <a:srgbClr val="E7E6E6"/>
                    </a:solidFill>
                  </a:tcPr>
                </a:tc>
              </a:tr>
              <a:tr h="370840">
                <a:tc>
                  <a:txBody>
                    <a:bodyPr/>
                    <a:lstStyle/>
                    <a:p>
                      <a:r>
                        <a:rPr b="1" sz="1100"/>
                        <a:t>Operational Overhead</a:t>
                      </a:r>
                    </a:p>
                  </a:txBody>
                  <a:tcPr>
                    <a:solidFill>
                      <a:srgbClr val="E7E6E6"/>
                    </a:solidFill>
                  </a:tcPr>
                </a:tc>
                <a:tc>
                  <a:txBody>
                    <a:bodyPr/>
                    <a:lstStyle/>
                    <a:p>
                      <a:r>
                        <a:rPr sz="1100"/>
                        <a:t>50% reduction</a:t>
                      </a:r>
                    </a:p>
                  </a:txBody>
                  <a:tcPr>
                    <a:solidFill>
                      <a:srgbClr val="E7E6E6"/>
                    </a:solidFill>
                  </a:tcPr>
                </a:tc>
                <a:tc>
                  <a:txBody>
                    <a:bodyPr/>
                    <a:lstStyle/>
                    <a:p>
                      <a:r>
                        <a:rPr sz="1100"/>
                        <a:t>50% achieved</a:t>
                      </a:r>
                    </a:p>
                  </a:txBody>
                  <a:tcPr>
                    <a:solidFill>
                      <a:srgbClr val="E7E6E6"/>
                    </a:solidFill>
                  </a:tcPr>
                </a:tc>
                <a:tc>
                  <a:txBody>
                    <a:bodyPr/>
                    <a:lstStyle/>
                    <a:p>
                      <a:r>
                        <a:rPr sz="1100"/>
                        <a:t>2.5 FTEs reallocated</a:t>
                      </a:r>
                    </a:p>
                  </a:txBody>
                  <a:tcPr>
                    <a:solidFill>
                      <a:srgbClr val="E7E6E6"/>
                    </a:solidFill>
                  </a:tcPr>
                </a:tc>
              </a:tr>
              <a:tr h="370840">
                <a:tc>
                  <a:txBody>
                    <a:bodyPr/>
                    <a:lstStyle/>
                    <a:p>
                      <a:r>
                        <a:rPr b="1" sz="1100"/>
                        <a:t>Infrastructure Tickets</a:t>
                      </a:r>
                    </a:p>
                  </a:txBody>
                  <a:tcPr>
                    <a:solidFill>
                      <a:srgbClr val="E7E6E6"/>
                    </a:solidFill>
                  </a:tcPr>
                </a:tc>
                <a:tc>
                  <a:txBody>
                    <a:bodyPr/>
                    <a:lstStyle/>
                    <a:p>
                      <a:r>
                        <a:rPr sz="1100"/>
                        <a:t>80% reduction</a:t>
                      </a:r>
                    </a:p>
                  </a:txBody>
                  <a:tcPr>
                    <a:solidFill>
                      <a:srgbClr val="E7E6E6"/>
                    </a:solidFill>
                  </a:tcPr>
                </a:tc>
                <a:tc>
                  <a:txBody>
                    <a:bodyPr/>
                    <a:lstStyle/>
                    <a:p>
                      <a:r>
                        <a:rPr sz="1100"/>
                        <a:t>80% reduction</a:t>
                      </a:r>
                    </a:p>
                  </a:txBody>
                  <a:tcPr>
                    <a:solidFill>
                      <a:srgbClr val="E7E6E6"/>
                    </a:solidFill>
                  </a:tcPr>
                </a:tc>
                <a:tc>
                  <a:txBody>
                    <a:bodyPr/>
                    <a:lstStyle/>
                    <a:p>
                      <a:r>
                        <a:rPr sz="1100"/>
                        <a:t>Self-service adoption</a:t>
                      </a:r>
                    </a:p>
                  </a:txBody>
                  <a:tcPr>
                    <a:solidFill>
                      <a:srgbClr val="E7E6E6"/>
                    </a:solidFill>
                  </a:tcPr>
                </a:tc>
              </a:tr>
              <a:tr h="370840">
                <a:tc>
                  <a:txBody>
                    <a:bodyPr/>
                    <a:lstStyle/>
                    <a:p>
                      <a:r>
                        <a:rPr b="1" sz="1100"/>
                        <a:t>Developer Support</a:t>
                      </a:r>
                    </a:p>
                  </a:txBody>
                  <a:tcPr>
                    <a:solidFill>
                      <a:srgbClr val="E7E6E6"/>
                    </a:solidFill>
                  </a:tcPr>
                </a:tc>
                <a:tc>
                  <a:txBody>
                    <a:bodyPr/>
                    <a:lstStyle/>
                    <a:p>
                      <a:r>
                        <a:rPr sz="1100"/>
                        <a:t>50 developers</a:t>
                      </a:r>
                    </a:p>
                  </a:txBody>
                  <a:tcPr>
                    <a:solidFill>
                      <a:srgbClr val="E7E6E6"/>
                    </a:solidFill>
                  </a:tcPr>
                </a:tc>
                <a:tc>
                  <a:txBody>
                    <a:bodyPr/>
                    <a:lstStyle/>
                    <a:p>
                      <a:r>
                        <a:rPr sz="1100"/>
                        <a:t>50 developers</a:t>
                      </a:r>
                    </a:p>
                  </a:txBody>
                  <a:tcPr>
                    <a:solidFill>
                      <a:srgbClr val="E7E6E6"/>
                    </a:solidFill>
                  </a:tcPr>
                </a:tc>
                <a:tc>
                  <a:txBody>
                    <a:bodyPr/>
                    <a:lstStyle/>
                    <a:p>
                      <a:r>
                        <a:rPr sz="1100"/>
                        <a:t>All onboarded to platform</a:t>
                      </a:r>
                    </a:p>
                  </a:txBody>
                  <a:tcPr>
                    <a:solidFill>
                      <a:srgbClr val="E7E6E6"/>
                    </a:solidFill>
                  </a:tcPr>
                </a:tc>
              </a:tr>
              <a:tr h="370840">
                <a:tc>
                  <a:txBody>
                    <a:bodyPr/>
                    <a:lstStyle/>
                    <a:p>
                      <a:r>
                        <a:rPr b="1" sz="1100"/>
                        <a:t>Applications</a:t>
                      </a:r>
                    </a:p>
                  </a:txBody>
                  <a:tcPr>
                    <a:solidFill>
                      <a:srgbClr val="E7E6E6"/>
                    </a:solidFill>
                  </a:tcPr>
                </a:tc>
                <a:tc>
                  <a:txBody>
                    <a:bodyPr/>
                    <a:lstStyle/>
                    <a:p>
                      <a:r>
                        <a:rPr sz="1100"/>
                        <a:t>10 apps</a:t>
                      </a:r>
                    </a:p>
                  </a:txBody>
                  <a:tcPr>
                    <a:solidFill>
                      <a:srgbClr val="E7E6E6"/>
                    </a:solidFill>
                  </a:tcPr>
                </a:tc>
                <a:tc>
                  <a:txBody>
                    <a:bodyPr/>
                    <a:lstStyle/>
                    <a:p>
                      <a:r>
                        <a:rPr sz="1100"/>
                        <a:t>10 apps containerized</a:t>
                      </a:r>
                    </a:p>
                  </a:txBody>
                  <a:tcPr>
                    <a:solidFill>
                      <a:srgbClr val="E7E6E6"/>
                    </a:solidFill>
                  </a:tcPr>
                </a:tc>
                <a:tc>
                  <a:txBody>
                    <a:bodyPr/>
                    <a:lstStyle/>
                    <a:p>
                      <a:r>
                        <a:rPr sz="1100"/>
                        <a:t>Pilot complete</a:t>
                      </a:r>
                    </a:p>
                  </a:txBody>
                  <a:tcPr>
                    <a:solidFill>
                      <a:srgbClr val="E7E6E6"/>
                    </a:solidFill>
                  </a:tcPr>
                </a:tc>
              </a:tr>
            </a:tbl>
          </a:graphicData>
        </a:graphic>
      </p:graphicFrame>
      <p:sp>
        <p:nvSpPr>
          <p:cNvPr id="5" name="Text Placeholder 4"/>
          <p:cNvSpPr>
            <a:spLocks noGrp="1"/>
          </p:cNvSpPr>
          <p:nvPr>
            <p:ph type="body" idx="15" sz="quarter"/>
          </p:nvPr>
        </p:nvSpPr>
        <p:spPr/>
        <p:txBody>
          <a:bodyPr/>
          <a:lstStyle/>
          <a:p>
            <a:pPr algn="r">
              <a:buNone/>
            </a:pPr>
            <a:r>
              <a:rPr sz="1100">
                <a:solidFill>
                  <a:srgbClr val="CC0000"/>
                </a:solidFill>
              </a:rPr>
              <a:t>Red Hat OpenShift Container Platform</a:t>
            </a:r>
          </a:p>
        </p:txBody>
      </p:sp>
      <p:pic>
        <p:nvPicPr>
          <p:cNvPr id="6" name="Picture 5" descr="consulting_company_logo.png"/>
          <p:cNvPicPr>
            <a:picLocks noChangeAspect="1"/>
          </p:cNvPicPr>
          <p:nvPr/>
        </p:nvPicPr>
        <p:blipFill>
          <a:blip r:embed="rId3"/>
          <a:stretch>
            <a:fillRect/>
          </a:stretch>
        </p:blipFill>
        <p:spPr>
          <a:xfrm>
            <a:off x="313592" y="4536078"/>
            <a:ext cx="2126273" cy="529698"/>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 Placeholder 2"/>
          <p:cNvSpPr>
            <a:spLocks noGrp="1"/>
          </p:cNvSpPr>
          <p:nvPr>
            <p:ph type="body" idx="10" sz="quarter"/>
          </p:nvPr>
        </p:nvSpPr>
        <p:spPr/>
        <p:txBody>
          <a:bodyPr/>
          <a:lstStyle/>
          <a:p>
            <a:pPr algn="l"/>
            <a:r>
              <a:t>Lessons Learned &amp; Recommendations</a:t>
            </a:r>
          </a:p>
        </p:txBody>
      </p:sp>
      <p:sp>
        <p:nvSpPr>
          <p:cNvPr id="4" name="Text Placeholder 3"/>
          <p:cNvSpPr>
            <a:spLocks noGrp="1"/>
          </p:cNvSpPr>
          <p:nvPr>
            <p:ph type="body" idx="16" sz="quarter"/>
          </p:nvPr>
        </p:nvSpPr>
        <p:spPr/>
        <p:txBody>
          <a:bodyPr/>
          <a:lstStyle/>
          <a:p>
            <a:pPr/>
            <a:r>
              <a:rPr b="1"/>
              <a:t>What Worked Well</a:t>
            </a:r>
          </a:p>
          <a:p>
            <a:pPr lvl="1"/>
            <a:r>
              <a:t>Phased migration approach</a:t>
            </a:r>
          </a:p>
          <a:p>
            <a:pPr lvl="1"/>
            <a:r>
              <a:t>GitOps-first deployment model</a:t>
            </a:r>
          </a:p>
          <a:p>
            <a:pPr lvl="1"/>
            <a:r>
              <a:t>Developer training investment</a:t>
            </a:r>
          </a:p>
          <a:p>
            <a:pPr lvl="1"/>
            <a:r>
              <a:t>Red Hat support engagement</a:t>
            </a:r>
          </a:p>
          <a:p>
            <a:pPr lvl="1"/>
            <a:r>
              <a:t>Weekly stakeholder demos</a:t>
            </a:r>
          </a:p>
          <a:p>
            <a:pPr/>
            <a:r>
              <a:rPr b="1"/>
              <a:t>Challenges Overcome</a:t>
            </a:r>
          </a:p>
          <a:p>
            <a:pPr lvl="1"/>
            <a:r>
              <a:t>AD/LDAP integration complexity</a:t>
            </a:r>
          </a:p>
          <a:p>
            <a:pPr lvl="1"/>
            <a:r>
              <a:t>Legacy app containerization</a:t>
            </a:r>
          </a:p>
          <a:p>
            <a:pPr lvl="1"/>
            <a:r>
              <a:t>Storage performance tuning</a:t>
            </a:r>
          </a:p>
          <a:p>
            <a:pPr lvl="1"/>
            <a:r>
              <a:t>Developer adoption curve</a:t>
            </a:r>
          </a:p>
          <a:p>
            <a:pPr lvl="1"/>
            <a:r>
              <a:t>Network policy design</a:t>
            </a:r>
          </a:p>
        </p:txBody>
      </p:sp>
      <p:sp>
        <p:nvSpPr>
          <p:cNvPr id="5" name="Text Placeholder 4"/>
          <p:cNvSpPr>
            <a:spLocks noGrp="1"/>
          </p:cNvSpPr>
          <p:nvPr>
            <p:ph type="body" idx="17" sz="quarter"/>
          </p:nvPr>
        </p:nvSpPr>
        <p:spPr/>
        <p:txBody>
          <a:bodyPr/>
          <a:lstStyle/>
          <a:p>
            <a:pPr/>
            <a:r>
              <a:rPr b="1"/>
              <a:t>Recommendations</a:t>
            </a:r>
          </a:p>
          <a:p>
            <a:pPr lvl="1"/>
            <a:r>
              <a:t>Expand to additional apps</a:t>
            </a:r>
          </a:p>
          <a:p>
            <a:pPr lvl="1"/>
            <a:r>
              <a:t>Implement OpenShift Serverless</a:t>
            </a:r>
          </a:p>
          <a:p>
            <a:pPr lvl="1"/>
            <a:r>
              <a:t>Add multi-cluster management</a:t>
            </a:r>
          </a:p>
          <a:p>
            <a:pPr lvl="1"/>
            <a:r>
              <a:t>Establish Center of Excellence</a:t>
            </a:r>
          </a:p>
          <a:p>
            <a:pPr lvl="1"/>
            <a:r>
              <a:t>Plan quarterly reviews</a:t>
            </a:r>
          </a:p>
        </p:txBody>
      </p:sp>
      <p:sp>
        <p:nvSpPr>
          <p:cNvPr id="6" name="Text Placeholder 5"/>
          <p:cNvSpPr>
            <a:spLocks noGrp="1"/>
          </p:cNvSpPr>
          <p:nvPr>
            <p:ph type="body" idx="15" sz="quarter"/>
          </p:nvPr>
        </p:nvSpPr>
        <p:spPr/>
        <p:txBody>
          <a:bodyPr/>
          <a:lstStyle/>
          <a:p>
            <a:pPr algn="r">
              <a:buNone/>
            </a:pPr>
            <a:r>
              <a:rPr sz="1100">
                <a:solidFill>
                  <a:srgbClr val="CC0000"/>
                </a:solidFill>
              </a:rPr>
              <a:t>Red Hat OpenShift Container Platform</a:t>
            </a:r>
          </a:p>
        </p:txBody>
      </p:sp>
      <p:pic>
        <p:nvPicPr>
          <p:cNvPr id="7" name="Picture 6" descr="consulting_company_logo.png"/>
          <p:cNvPicPr>
            <a:picLocks noChangeAspect="1"/>
          </p:cNvPicPr>
          <p:nvPr/>
        </p:nvPicPr>
        <p:blipFill>
          <a:blip r:embed="rId3"/>
          <a:stretch>
            <a:fillRect/>
          </a:stretch>
        </p:blipFill>
        <p:spPr>
          <a:xfrm>
            <a:off x="313592" y="4536078"/>
            <a:ext cx="2121877" cy="529698"/>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 Placeholder 2"/>
          <p:cNvSpPr>
            <a:spLocks noGrp="1"/>
          </p:cNvSpPr>
          <p:nvPr>
            <p:ph type="body" idx="10" sz="quarter"/>
          </p:nvPr>
        </p:nvSpPr>
        <p:spPr/>
        <p:txBody>
          <a:bodyPr/>
          <a:lstStyle/>
          <a:p>
            <a:pPr algn="l"/>
            <a:r>
              <a:t>Support Transition</a:t>
            </a:r>
          </a:p>
        </p:txBody>
      </p:sp>
      <p:sp>
        <p:nvSpPr>
          <p:cNvPr id="4" name="Text Placeholder 3"/>
          <p:cNvSpPr>
            <a:spLocks noGrp="1"/>
          </p:cNvSpPr>
          <p:nvPr>
            <p:ph type="body" idx="16" sz="quarter"/>
          </p:nvPr>
        </p:nvSpPr>
        <p:spPr/>
        <p:txBody>
          <a:bodyPr/>
          <a:lstStyle/>
          <a:p>
            <a:pPr/>
            <a:r>
              <a:rPr b="1"/>
              <a:t>Hypercare Complete (30 days)</a:t>
            </a:r>
          </a:p>
          <a:p>
            <a:pPr lvl="1"/>
            <a:r>
              <a:t>Daily health checks completed</a:t>
            </a:r>
          </a:p>
          <a:p>
            <a:pPr lvl="1"/>
            <a:r>
              <a:t>2 P3 issues resolved</a:t>
            </a:r>
          </a:p>
          <a:p>
            <a:pPr lvl="1"/>
            <a:r>
              <a:t>Knowledge transfer sessions done</a:t>
            </a:r>
          </a:p>
          <a:p>
            <a:pPr lvl="1"/>
            <a:r>
              <a:t>Runbook procedures validated</a:t>
            </a:r>
          </a:p>
          <a:p>
            <a:pPr lvl="1"/>
            <a:r>
              <a:t>Operations team certified</a:t>
            </a:r>
          </a:p>
          <a:p>
            <a:pPr/>
            <a:r>
              <a:rPr b="1"/>
              <a:t>Steady State Support</a:t>
            </a:r>
          </a:p>
          <a:p>
            <a:pPr lvl="1"/>
            <a:r>
              <a:t>Business hours monitoring active</a:t>
            </a:r>
          </a:p>
          <a:p>
            <a:pPr lvl="1"/>
            <a:r>
              <a:t>Monthly performance reviews</a:t>
            </a:r>
          </a:p>
          <a:p>
            <a:pPr lvl="1"/>
            <a:r>
              <a:t>Quarterly platform updates</a:t>
            </a:r>
          </a:p>
          <a:p>
            <a:pPr lvl="1"/>
            <a:r>
              <a:t>Red Hat support entitlement</a:t>
            </a:r>
          </a:p>
          <a:p>
            <a:pPr lvl="1"/>
            <a:r>
              <a:t>Documentation fully maintained</a:t>
            </a:r>
          </a:p>
        </p:txBody>
      </p:sp>
      <p:sp>
        <p:nvSpPr>
          <p:cNvPr id="5" name="Text Placeholder 4"/>
          <p:cNvSpPr>
            <a:spLocks noGrp="1"/>
          </p:cNvSpPr>
          <p:nvPr>
            <p:ph type="body" idx="17" sz="quarter"/>
          </p:nvPr>
        </p:nvSpPr>
        <p:spPr/>
        <p:txBody>
          <a:bodyPr/>
          <a:lstStyle/>
          <a:p>
            <a:pPr/>
            <a:r>
              <a:rPr b="1"/>
              <a:t>Escalation Path</a:t>
            </a:r>
          </a:p>
          <a:p>
            <a:pPr lvl="1"/>
            <a:r>
              <a:t>L1: Internal IT Help Desk</a:t>
            </a:r>
          </a:p>
          <a:p>
            <a:pPr lvl="1"/>
            <a:r>
              <a:t>L2: Platform Operations Team</a:t>
            </a:r>
          </a:p>
          <a:p>
            <a:pPr lvl="1"/>
            <a:r>
              <a:t>L3: Red Hat Support (4-hour SLA)</a:t>
            </a:r>
          </a:p>
          <a:p>
            <a:pPr lvl="1"/>
            <a:r>
              <a:t>Emergency: On-call rotation</a:t>
            </a:r>
          </a:p>
          <a:p>
            <a:pPr lvl="1"/>
            <a:r>
              <a:t>Executive: Account Manager</a:t>
            </a:r>
          </a:p>
        </p:txBody>
      </p:sp>
      <p:sp>
        <p:nvSpPr>
          <p:cNvPr id="6" name="Text Placeholder 5"/>
          <p:cNvSpPr>
            <a:spLocks noGrp="1"/>
          </p:cNvSpPr>
          <p:nvPr>
            <p:ph type="body" idx="15" sz="quarter"/>
          </p:nvPr>
        </p:nvSpPr>
        <p:spPr/>
        <p:txBody>
          <a:bodyPr/>
          <a:lstStyle/>
          <a:p>
            <a:pPr algn="r">
              <a:buNone/>
            </a:pPr>
            <a:r>
              <a:rPr sz="1100">
                <a:solidFill>
                  <a:srgbClr val="CC0000"/>
                </a:solidFill>
              </a:rPr>
              <a:t>Red Hat OpenShift Container Platform</a:t>
            </a:r>
          </a:p>
        </p:txBody>
      </p:sp>
      <p:pic>
        <p:nvPicPr>
          <p:cNvPr id="7" name="Picture 6" descr="consulting_company_logo.png"/>
          <p:cNvPicPr>
            <a:picLocks noChangeAspect="1"/>
          </p:cNvPicPr>
          <p:nvPr/>
        </p:nvPicPr>
        <p:blipFill>
          <a:blip r:embed="rId3"/>
          <a:stretch>
            <a:fillRect/>
          </a:stretch>
        </p:blipFill>
        <p:spPr>
          <a:xfrm>
            <a:off x="313592" y="4536078"/>
            <a:ext cx="2121877" cy="529698"/>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 Placeholder 2"/>
          <p:cNvSpPr>
            <a:spLocks noGrp="1"/>
          </p:cNvSpPr>
          <p:nvPr>
            <p:ph type="body" idx="10" sz="quarter"/>
          </p:nvPr>
        </p:nvSpPr>
        <p:spPr/>
        <p:txBody>
          <a:bodyPr/>
          <a:lstStyle/>
          <a:p>
            <a:pPr algn="l"/>
            <a:r>
              <a:t>Acknowledgments &amp; Next Steps</a:t>
            </a:r>
          </a:p>
        </p:txBody>
      </p:sp>
      <p:sp>
        <p:nvSpPr>
          <p:cNvPr id="4" name="Text Placeholder 3"/>
          <p:cNvSpPr>
            <a:spLocks noGrp="1"/>
          </p:cNvSpPr>
          <p:nvPr>
            <p:ph type="body" idx="14" sz="quarter"/>
          </p:nvPr>
        </p:nvSpPr>
        <p:spPr/>
        <p:txBody>
          <a:bodyPr/>
          <a:lstStyle/>
          <a:p>
            <a:pPr/>
            <a:r>
              <a:rPr b="1"/>
              <a:t>Client Team:</a:t>
            </a:r>
            <a:r>
              <a:t> IT leadership, platform operations, development teams, security team</a:t>
            </a:r>
          </a:p>
          <a:p>
            <a:pPr/>
            <a:r>
              <a:rPr b="1"/>
              <a:t>Vendor Team:</a:t>
            </a:r>
            <a:r>
              <a:t> Project manager, solutions architect, OpenShift engineers, support team</a:t>
            </a:r>
          </a:p>
          <a:p>
            <a:pPr/>
            <a:r>
              <a:rPr b="1"/>
              <a:t>Special Recognition:</a:t>
            </a:r>
            <a:r>
              <a:t> Operations team for dedicated hypercare participation and certification</a:t>
            </a:r>
          </a:p>
          <a:p>
            <a:pPr/>
            <a:r>
              <a:rPr b="1"/>
              <a:t>This Week:</a:t>
            </a:r>
            <a:r>
              <a:t> Final documentation handover, archive project artifacts</a:t>
            </a:r>
          </a:p>
          <a:p>
            <a:pPr/>
            <a:r>
              <a:rPr b="1"/>
              <a:t>Next 30 Days:</a:t>
            </a:r>
            <a:r>
              <a:t> Monthly performance review, identify Phase 2 candidates</a:t>
            </a:r>
          </a:p>
          <a:p>
            <a:pPr/>
            <a:r>
              <a:rPr b="1"/>
              <a:t>Next Quarter:</a:t>
            </a:r>
            <a:r>
              <a:t> Phase 2 planning workshop for additional applications</a:t>
            </a:r>
          </a:p>
        </p:txBody>
      </p:sp>
      <p:sp>
        <p:nvSpPr>
          <p:cNvPr id="5" name="Text Placeholder 4"/>
          <p:cNvSpPr>
            <a:spLocks noGrp="1"/>
          </p:cNvSpPr>
          <p:nvPr>
            <p:ph type="body" idx="15" sz="quarter"/>
          </p:nvPr>
        </p:nvSpPr>
        <p:spPr/>
        <p:txBody>
          <a:bodyPr/>
          <a:lstStyle/>
          <a:p>
            <a:pPr algn="r">
              <a:buNone/>
            </a:pPr>
            <a:r>
              <a:rPr sz="1100">
                <a:solidFill>
                  <a:srgbClr val="CC0000"/>
                </a:solidFill>
              </a:rPr>
              <a:t>Red Hat OpenShift Container Platform</a:t>
            </a:r>
          </a:p>
        </p:txBody>
      </p:sp>
      <p:pic>
        <p:nvPicPr>
          <p:cNvPr id="6" name="Picture 5" descr="consulting_company_logo.png"/>
          <p:cNvPicPr>
            <a:picLocks noChangeAspect="1"/>
          </p:cNvPicPr>
          <p:nvPr/>
        </p:nvPicPr>
        <p:blipFill>
          <a:blip r:embed="rId3"/>
          <a:stretch>
            <a:fillRect/>
          </a:stretch>
        </p:blipFill>
        <p:spPr>
          <a:xfrm>
            <a:off x="313593" y="4536078"/>
            <a:ext cx="2143858" cy="529698"/>
          </a:xfrm>
          <a:prstGeom prst="rect">
            <a:avLst/>
          </a:prstGeom>
        </p:spPr>
      </p:pic>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 Placeholder 2"/>
          <p:cNvSpPr>
            <a:spLocks noGrp="1"/>
          </p:cNvSpPr>
          <p:nvPr>
            <p:ph type="body" idx="12" sz="quarter"/>
          </p:nvPr>
        </p:nvSpPr>
        <p:spPr/>
        <p:txBody>
          <a:bodyPr/>
          <a:lstStyle/>
          <a:p>
            <a:r>
              <a:t>Thank You</a:t>
            </a:r>
          </a:p>
        </p:txBody>
      </p:sp>
      <p:sp>
        <p:nvSpPr>
          <p:cNvPr id="5" name="Text Placeholder 4"/>
          <p:cNvSpPr>
            <a:spLocks noGrp="1"/>
          </p:cNvSpPr>
          <p:nvPr>
            <p:ph type="body" idx="14" sz="quarter"/>
          </p:nvPr>
        </p:nvSpPr>
        <p:spPr/>
        <p:txBody>
          <a:bodyPr/>
          <a:lstStyle/>
          <a:p/>
        </p:txBody>
      </p:sp>
      <p:sp>
        <p:nvSpPr>
          <p:cNvPr id="6" name="Text Placeholder 5"/>
          <p:cNvSpPr>
            <a:spLocks noGrp="1"/>
          </p:cNvSpPr>
          <p:nvPr>
            <p:ph type="body" idx="15" sz="quarter"/>
          </p:nvPr>
        </p:nvSpPr>
        <p:spPr/>
        <p:txBody>
          <a:bodyPr/>
          <a:lstStyle/>
          <a:p/>
        </p:txBody>
      </p:sp>
      <p:pic>
        <p:nvPicPr>
          <p:cNvPr id="7" name="Picture 6" descr="client_logo.png"/>
          <p:cNvPicPr>
            <a:picLocks noChangeAspect="1"/>
          </p:cNvPicPr>
          <p:nvPr/>
        </p:nvPicPr>
        <p:blipFill>
          <a:blip r:embed="rId3"/>
          <a:stretch>
            <a:fillRect/>
          </a:stretch>
        </p:blipFill>
        <p:spPr>
          <a:xfrm>
            <a:off x="2180492" y="171206"/>
            <a:ext cx="3978520" cy="1314694"/>
          </a:xfrm>
          <a:prstGeom prst="rect">
            <a:avLst/>
          </a:prstGeom>
        </p:spPr>
      </p:pic>
      <p:pic>
        <p:nvPicPr>
          <p:cNvPr id="8" name="Picture 7" descr="consulting_company_logo.png"/>
          <p:cNvPicPr>
            <a:picLocks noChangeAspect="1"/>
          </p:cNvPicPr>
          <p:nvPr/>
        </p:nvPicPr>
        <p:blipFill>
          <a:blip r:embed="rId4"/>
          <a:stretch>
            <a:fillRect/>
          </a:stretch>
        </p:blipFill>
        <p:spPr>
          <a:xfrm>
            <a:off x="313592" y="4536078"/>
            <a:ext cx="2164114" cy="529698"/>
          </a:xfrm>
          <a:prstGeom prst="rect">
            <a:avLst/>
          </a:prstGeom>
        </p:spPr>
      </p:pic>
      <p:pic>
        <p:nvPicPr>
          <p:cNvPr id="9" name="Picture 8" descr="eo-framework-logo-real.png"/>
          <p:cNvPicPr>
            <a:picLocks noChangeAspect="1"/>
          </p:cNvPicPr>
          <p:nvPr/>
        </p:nvPicPr>
        <p:blipFill>
          <a:blip r:embed="rId5"/>
          <a:stretch>
            <a:fillRect/>
          </a:stretch>
        </p:blipFill>
        <p:spPr>
          <a:xfrm>
            <a:off x="6684264" y="4535424"/>
            <a:ext cx="2139696" cy="530352"/>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441</TotalTime>
  <Words>42</Words>
  <Application>Microsoft Office PowerPoint</Application>
  <PresentationFormat>On-screen Show (16:9)</PresentationFormat>
  <Paragraphs>21</Paragraphs>
  <Slides>7</Slides>
  <Notes>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7</vt:i4>
      </vt:variant>
    </vt:vector>
  </HeadingPairs>
  <TitlesOfParts>
    <vt:vector size="10" baseType="lpstr">
      <vt:lpstr>Aptos</vt:lpstr>
      <vt:lpstr>Arial</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EOFramework</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EOFramework Template</dc:title>
  <dc:subject>PptxGenJS Presentation</dc:subject>
  <dc:creator>EOFramework</dc:creator>
  <cp:lastModifiedBy>Kishan Siram</cp:lastModifiedBy>
  <cp:revision>86</cp:revision>
  <dcterms:created xsi:type="dcterms:W3CDTF">2025-11-01T21:16:10Z</dcterms:created>
  <dcterms:modified xsi:type="dcterms:W3CDTF">2025-11-27T20:15:42Z</dcterms:modified>
</cp:coreProperties>
</file>