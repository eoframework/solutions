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.bin" ContentType="image/unknown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7"/>
    <p:sldId id="257" r:id="rId8"/>
    <p:sldId id="258" r:id="rId6"/>
    <p:sldId id="259" r:id="rId5"/>
    <p:sldId id="260" r:id="rId4"/>
    <p:sldId id="261" r:id="rId3"/>
    <p:sldId id="262" r:id="rId2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01C0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5" d="100"/>
          <a:sy n="135" d="100"/>
        </p:scale>
        <p:origin x="380" y="3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7.xml"/><Relationship Id="rId3" Type="http://schemas.openxmlformats.org/officeDocument/2006/relationships/slide" Target="slides/slide6.xml"/><Relationship Id="rId4" Type="http://schemas.openxmlformats.org/officeDocument/2006/relationships/slide" Target="slides/slide5.xml"/><Relationship Id="rId5" Type="http://schemas.openxmlformats.org/officeDocument/2006/relationships/slide" Target="slides/slide4.xml"/><Relationship Id="rId6" Type="http://schemas.openxmlformats.org/officeDocument/2006/relationships/slide" Target="slides/slide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01673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D36A0E4-7374-4A92-CEC2-AC1CC29B855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180492" y="171206"/>
            <a:ext cx="3978520" cy="1314694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pic>
        <p:nvPicPr>
          <p:cNvPr id="5" name="Image 0" descr="/home/claude/eo-framework-logo.png">
            <a:extLst>
              <a:ext uri="{FF2B5EF4-FFF2-40B4-BE49-F238E27FC236}">
                <a16:creationId xmlns:a16="http://schemas.microsoft.com/office/drawing/2014/main" id="{028AFAE3-D949-BFF8-132D-C3956962B6B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ABC2FEB1-3552-40B4-D5D2-8C9A2DF4EF3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8528" y="1886679"/>
            <a:ext cx="7671288" cy="52705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ts val="3600"/>
              </a:lnSpc>
              <a:buNone/>
              <a:defRPr sz="3600" b="1" i="0" baseline="0">
                <a:latin typeface="Arial" panose="020B0604020202020204" pitchFamily="34" charset="0"/>
              </a:defRPr>
            </a:lvl1pPr>
          </a:lstStyle>
          <a:p>
            <a:pPr marL="0" indent="0" algn="ctr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 Title</a:t>
            </a:r>
            <a:endParaRPr lang="en-US" sz="3600" dirty="0"/>
          </a:p>
        </p:txBody>
      </p:sp>
      <p:sp>
        <p:nvSpPr>
          <p:cNvPr id="7" name="Picture Placeholder 13">
            <a:extLst>
              <a:ext uri="{FF2B5EF4-FFF2-40B4-BE49-F238E27FC236}">
                <a16:creationId xmlns:a16="http://schemas.microsoft.com/office/drawing/2014/main" id="{86145EB1-48C8-058E-F657-82D57B57954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1" y="4536078"/>
            <a:ext cx="2099897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8" name="Text 0">
            <a:extLst>
              <a:ext uri="{FF2B5EF4-FFF2-40B4-BE49-F238E27FC236}">
                <a16:creationId xmlns:a16="http://schemas.microsoft.com/office/drawing/2014/main" id="{D51056DC-8081-0916-0351-65D88D1682B8}"/>
              </a:ext>
            </a:extLst>
          </p:cNvPr>
          <p:cNvSpPr/>
          <p:nvPr userDrawn="1"/>
        </p:nvSpPr>
        <p:spPr>
          <a:xfrm>
            <a:off x="2224455" y="1676475"/>
            <a:ext cx="3886322" cy="45719"/>
          </a:xfrm>
          <a:prstGeom prst="roundRect">
            <a:avLst>
              <a:gd name="adj" fmla="val 50000"/>
            </a:avLst>
          </a:prstGeom>
          <a:solidFill>
            <a:srgbClr val="CC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C531180-94E5-3403-56E5-895E003A9D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59473" y="2437679"/>
            <a:ext cx="6629399" cy="334598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1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Subtitle Text</a:t>
            </a:r>
            <a:endParaRPr lang="en-US" sz="1800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39F5D3C5-0033-51A7-77BC-7E3DBBF84F2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734286" y="3631467"/>
            <a:ext cx="3605212" cy="334963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sz="1400" dirty="0">
                <a:solidFill>
                  <a:srgbClr val="6C757D"/>
                </a:solidFill>
                <a:latin typeface="Arial" pitchFamily="34" charset="0"/>
                <a:cs typeface="Arial" pitchFamily="34" charset="-120"/>
              </a:rPr>
              <a:t>Presenter Name | Date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14350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Singl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6863" y="0"/>
            <a:ext cx="8509304" cy="527008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Slide Title</a:t>
            </a:r>
          </a:p>
        </p:txBody>
      </p:sp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2DB97592-C4D5-B315-7F11-AA14F6EE8A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3" y="4536078"/>
            <a:ext cx="2143858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pic>
        <p:nvPicPr>
          <p:cNvPr id="13" name="Image 0" descr="/home/claude/eo-framework-logo.png">
            <a:extLst>
              <a:ext uri="{FF2B5EF4-FFF2-40B4-BE49-F238E27FC236}">
                <a16:creationId xmlns:a16="http://schemas.microsoft.com/office/drawing/2014/main" id="{25116040-BB88-891D-9118-628A78E9987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BEE1A0-720D-187D-95F8-429F3DF3D64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96863" y="685601"/>
            <a:ext cx="8548687" cy="3811657"/>
          </a:xfrm>
          <a:prstGeom prst="rect">
            <a:avLst/>
          </a:prstGeom>
        </p:spPr>
        <p:txBody>
          <a:bodyPr/>
          <a:lstStyle>
            <a:lvl1pPr>
              <a:defRPr sz="2000" baseline="0">
                <a:solidFill>
                  <a:srgbClr val="C00000"/>
                </a:solidFill>
              </a:defRPr>
            </a:lvl1pPr>
            <a:lvl2pPr>
              <a:buFont typeface="Arial" panose="020B0604020202020204" pitchFamily="34" charset="0"/>
              <a:buChar char="•"/>
              <a:defRPr sz="1600"/>
            </a:lvl2pPr>
            <a:lvl3pPr>
              <a:defRPr sz="1400"/>
            </a:lvl3pPr>
            <a:lvl4pPr>
              <a:buFont typeface="Arial" panose="020B0604020202020204" pitchFamily="34" charset="0"/>
              <a:buChar char="•"/>
              <a:defRPr sz="1200"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0462396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Bullet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6863" y="0"/>
            <a:ext cx="8509304" cy="527008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Bullet Points</a:t>
            </a:r>
          </a:p>
        </p:txBody>
      </p:sp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2DB97592-C4D5-B315-7F11-AA14F6EE8A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3" y="4536078"/>
            <a:ext cx="2143858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pic>
        <p:nvPicPr>
          <p:cNvPr id="13" name="Image 0" descr="/home/claude/eo-framework-logo.png">
            <a:extLst>
              <a:ext uri="{FF2B5EF4-FFF2-40B4-BE49-F238E27FC236}">
                <a16:creationId xmlns:a16="http://schemas.microsoft.com/office/drawing/2014/main" id="{25116040-BB88-891D-9118-628A78E9987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BEE1A0-720D-187D-95F8-429F3DF3D64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96863" y="685601"/>
            <a:ext cx="8548687" cy="3811657"/>
          </a:xfrm>
          <a:prstGeom prst="rect">
            <a:avLst/>
          </a:prstGeom>
        </p:spPr>
        <p:txBody>
          <a:bodyPr/>
          <a:lstStyle>
            <a:lvl1pPr>
              <a:defRPr sz="2000" baseline="0">
                <a:solidFill>
                  <a:schemeClr val="tx1"/>
                </a:solidFill>
              </a:defRPr>
            </a:lvl1pPr>
            <a:lvl2pPr>
              <a:buFont typeface="Arial" panose="020B0604020202020204" pitchFamily="34" charset="0"/>
              <a:buChar char="•"/>
              <a:defRPr sz="1600"/>
            </a:lvl2pPr>
            <a:lvl3pPr>
              <a:defRPr sz="1400"/>
            </a:lvl3pPr>
            <a:lvl4pPr>
              <a:buFont typeface="Arial" panose="020B0604020202020204" pitchFamily="34" charset="0"/>
              <a:buChar char="•"/>
              <a:defRPr sz="1200"/>
            </a:lvl4pPr>
          </a:lstStyle>
          <a:p>
            <a:pPr lvl="0"/>
            <a:r>
              <a:rPr lang="en-US" dirty="0"/>
              <a:t>Bullet Point 1</a:t>
            </a:r>
          </a:p>
          <a:p>
            <a:pPr lvl="0"/>
            <a:r>
              <a:rPr lang="en-US" dirty="0"/>
              <a:t>Bullet Point 2</a:t>
            </a:r>
          </a:p>
        </p:txBody>
      </p:sp>
    </p:spTree>
    <p:extLst>
      <p:ext uri="{BB962C8B-B14F-4D97-AF65-F5344CB8AC3E}">
        <p14:creationId xmlns:p14="http://schemas.microsoft.com/office/powerpoint/2010/main" val="10907377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174" y="7163"/>
            <a:ext cx="8530738" cy="527013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Two Column Layout</a:t>
            </a:r>
          </a:p>
        </p:txBody>
      </p:sp>
      <p:pic>
        <p:nvPicPr>
          <p:cNvPr id="8" name="Image 0" descr="/home/claude/eo-framework-logo.png">
            <a:extLst>
              <a:ext uri="{FF2B5EF4-FFF2-40B4-BE49-F238E27FC236}">
                <a16:creationId xmlns:a16="http://schemas.microsoft.com/office/drawing/2014/main" id="{4B7035C6-0EF1-6BD3-318E-553D1AAD670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6A0FA445-7602-F06E-EC73-5504EBF827C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3592" y="4536078"/>
            <a:ext cx="2121877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29E4A97-A874-D6CA-E54C-5584536CAA7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3675" y="678433"/>
            <a:ext cx="4462463" cy="3785515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Left Column Sub Title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EF61ADBD-DA9D-A8A7-8FC3-64E82242B98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840288" y="678433"/>
            <a:ext cx="4110037" cy="3785515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Right Column Sub title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437309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6855" y="39642"/>
            <a:ext cx="8710933" cy="527013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2700" b="1" dirty="0">
                <a:solidFill>
                  <a:srgbClr val="2C3E50"/>
                </a:solidFill>
                <a:latin typeface="Arial" pitchFamily="34" charset="0"/>
                <a:cs typeface="Arial" pitchFamily="34" charset="-120"/>
              </a:rPr>
              <a:t>Table</a:t>
            </a:r>
            <a:endParaRPr lang="en-US" sz="3200" dirty="0"/>
          </a:p>
          <a:p>
            <a:pPr lvl="0"/>
            <a:endParaRPr lang="en-US" dirty="0"/>
          </a:p>
        </p:txBody>
      </p:sp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2DB97592-C4D5-B315-7F11-AA14F6EE8A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2" y="4536078"/>
            <a:ext cx="2126273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pic>
        <p:nvPicPr>
          <p:cNvPr id="13" name="Image 0" descr="/home/claude/eo-framework-logo.png">
            <a:extLst>
              <a:ext uri="{FF2B5EF4-FFF2-40B4-BE49-F238E27FC236}">
                <a16:creationId xmlns:a16="http://schemas.microsoft.com/office/drawing/2014/main" id="{25116040-BB88-891D-9118-628A78E9987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D3D9E4F7-6B7D-2205-75B9-EE8C54E89A5F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256855" y="677011"/>
            <a:ext cx="8710933" cy="378508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48346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Visua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174" y="7163"/>
            <a:ext cx="8742364" cy="527013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Visual Content</a:t>
            </a:r>
          </a:p>
        </p:txBody>
      </p:sp>
      <p:pic>
        <p:nvPicPr>
          <p:cNvPr id="8" name="Image 0" descr="/home/claude/eo-framework-logo.png">
            <a:extLst>
              <a:ext uri="{FF2B5EF4-FFF2-40B4-BE49-F238E27FC236}">
                <a16:creationId xmlns:a16="http://schemas.microsoft.com/office/drawing/2014/main" id="{4B7035C6-0EF1-6BD3-318E-553D1AAD670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6A0FA445-7602-F06E-EC73-5504EBF827C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3592" y="4536078"/>
            <a:ext cx="2130670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4B682B8-2171-423F-A77B-10BADD07BC6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662488" y="685799"/>
            <a:ext cx="4337050" cy="3815859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1EE9992-B6F6-08BF-BFB5-6AF6BEDE367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2075" y="685800"/>
            <a:ext cx="4449763" cy="3815859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440596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Data Visualiz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174" y="7163"/>
            <a:ext cx="8640764" cy="527013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Data Visualization</a:t>
            </a:r>
          </a:p>
        </p:txBody>
      </p:sp>
      <p:pic>
        <p:nvPicPr>
          <p:cNvPr id="8" name="Image 0" descr="/home/claude/eo-framework-logo.png">
            <a:extLst>
              <a:ext uri="{FF2B5EF4-FFF2-40B4-BE49-F238E27FC236}">
                <a16:creationId xmlns:a16="http://schemas.microsoft.com/office/drawing/2014/main" id="{4B7035C6-0EF1-6BD3-318E-553D1AAD670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6A0FA445-7602-F06E-EC73-5504EBF827C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3592" y="4536078"/>
            <a:ext cx="2104294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Chart Placeholder 4">
            <a:extLst>
              <a:ext uri="{FF2B5EF4-FFF2-40B4-BE49-F238E27FC236}">
                <a16:creationId xmlns:a16="http://schemas.microsoft.com/office/drawing/2014/main" id="{A686C49F-4337-BBE6-FF21-682B01E38601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4572000" y="685597"/>
            <a:ext cx="4325938" cy="377834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B730E7-C68E-A3E8-1745-8AF89C786D5F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136525" y="678433"/>
            <a:ext cx="4237038" cy="3785513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735494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D36A0E4-7374-4A92-CEC2-AC1CC29B855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180492" y="171206"/>
            <a:ext cx="3978520" cy="1314694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pic>
        <p:nvPicPr>
          <p:cNvPr id="5" name="Image 0" descr="/home/claude/eo-framework-logo.png">
            <a:extLst>
              <a:ext uri="{FF2B5EF4-FFF2-40B4-BE49-F238E27FC236}">
                <a16:creationId xmlns:a16="http://schemas.microsoft.com/office/drawing/2014/main" id="{028AFAE3-D949-BFF8-132D-C3956962B6B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ABC2FEB1-3552-40B4-D5D2-8C9A2DF4EF3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36356" y="2247927"/>
            <a:ext cx="7671288" cy="52705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ts val="3600"/>
              </a:lnSpc>
              <a:buNone/>
              <a:defRPr sz="3600" b="1" i="0" baseline="0">
                <a:latin typeface="Arial" panose="020B0604020202020204" pitchFamily="34" charset="0"/>
              </a:defRPr>
            </a:lvl1pPr>
          </a:lstStyle>
          <a:p>
            <a:pPr marL="0" indent="0" algn="ctr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</a:p>
          <a:p>
            <a:pPr marL="0" indent="0" algn="ctr">
              <a:lnSpc>
                <a:spcPts val="3600"/>
              </a:lnSpc>
              <a:buNone/>
            </a:pPr>
            <a:endParaRPr lang="en-US" sz="3600" dirty="0"/>
          </a:p>
        </p:txBody>
      </p:sp>
      <p:sp>
        <p:nvSpPr>
          <p:cNvPr id="7" name="Picture Placeholder 13">
            <a:extLst>
              <a:ext uri="{FF2B5EF4-FFF2-40B4-BE49-F238E27FC236}">
                <a16:creationId xmlns:a16="http://schemas.microsoft.com/office/drawing/2014/main" id="{86145EB1-48C8-058E-F657-82D57B57954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2" y="4536078"/>
            <a:ext cx="2164114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8" name="Text 0">
            <a:extLst>
              <a:ext uri="{FF2B5EF4-FFF2-40B4-BE49-F238E27FC236}">
                <a16:creationId xmlns:a16="http://schemas.microsoft.com/office/drawing/2014/main" id="{D51056DC-8081-0916-0351-65D88D1682B8}"/>
              </a:ext>
            </a:extLst>
          </p:cNvPr>
          <p:cNvSpPr/>
          <p:nvPr userDrawn="1"/>
        </p:nvSpPr>
        <p:spPr>
          <a:xfrm>
            <a:off x="2224455" y="1676475"/>
            <a:ext cx="3886322" cy="45719"/>
          </a:xfrm>
          <a:prstGeom prst="roundRect">
            <a:avLst>
              <a:gd name="adj" fmla="val 50000"/>
            </a:avLst>
          </a:prstGeom>
          <a:solidFill>
            <a:srgbClr val="CC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C531180-94E5-3403-56E5-895E003A9D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24304" y="1874962"/>
            <a:ext cx="6629399" cy="334598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1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1800" dirty="0"/>
          </a:p>
        </p:txBody>
      </p:sp>
      <p:sp>
        <p:nvSpPr>
          <p:cNvPr id="2" name="Text 3">
            <a:extLst>
              <a:ext uri="{FF2B5EF4-FFF2-40B4-BE49-F238E27FC236}">
                <a16:creationId xmlns:a16="http://schemas.microsoft.com/office/drawing/2014/main" id="{5727805F-2A15-11D3-243F-1AE09D6E973E}"/>
              </a:ext>
            </a:extLst>
          </p:cNvPr>
          <p:cNvSpPr/>
          <p:nvPr userDrawn="1"/>
        </p:nvSpPr>
        <p:spPr>
          <a:xfrm>
            <a:off x="3312808" y="4536078"/>
            <a:ext cx="2797969" cy="529698"/>
          </a:xfrm>
          <a:prstGeom prst="roundRect">
            <a:avLst>
              <a:gd name="adj" fmla="val 14286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4">
            <a:extLst>
              <a:ext uri="{FF2B5EF4-FFF2-40B4-BE49-F238E27FC236}">
                <a16:creationId xmlns:a16="http://schemas.microsoft.com/office/drawing/2014/main" id="{1034B79E-463D-8396-409E-62C28A2DEB04}"/>
              </a:ext>
            </a:extLst>
          </p:cNvPr>
          <p:cNvSpPr/>
          <p:nvPr userDrawn="1"/>
        </p:nvSpPr>
        <p:spPr>
          <a:xfrm>
            <a:off x="3614735" y="4667577"/>
            <a:ext cx="207668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bg2">
                    <a:lumMod val="7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www.eoframework.org</a:t>
            </a:r>
            <a:endParaRPr lang="en-US" sz="15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2DED039B-C555-DCF4-1CA7-CA1E4482378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68165" y="3131272"/>
            <a:ext cx="8480181" cy="334598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spcAft>
                <a:spcPts val="1200"/>
              </a:spcAft>
            </a:pPr>
            <a:r>
              <a:rPr lang="en-US" sz="1800" b="1" dirty="0">
                <a:solidFill>
                  <a:srgbClr val="000000"/>
                </a:solidFill>
              </a:rPr>
              <a:t>Account Manager:</a:t>
            </a:r>
            <a:r>
              <a:rPr lang="en-US" sz="1800" dirty="0">
                <a:solidFill>
                  <a:srgbClr val="000000"/>
                </a:solidFill>
              </a:rPr>
              <a:t> [Name, Title] | [Email] | [Phone]</a:t>
            </a:r>
          </a:p>
        </p:txBody>
      </p:sp>
    </p:spTree>
    <p:extLst>
      <p:ext uri="{BB962C8B-B14F-4D97-AF65-F5344CB8AC3E}">
        <p14:creationId xmlns:p14="http://schemas.microsoft.com/office/powerpoint/2010/main" val="382102005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3" r:id="rId2"/>
    <p:sldLayoutId id="2147483659" r:id="rId3"/>
    <p:sldLayoutId id="2147483654" r:id="rId4"/>
    <p:sldLayoutId id="2147483655" r:id="rId5"/>
    <p:sldLayoutId id="2147483656" r:id="rId6"/>
    <p:sldLayoutId id="2147483657" r:id="rId7"/>
    <p:sldLayoutId id="2147483658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0" sz="quarter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Presentation Title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Solution Name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Presenter Name | November 15,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Project Objectives Achievement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Container Platform Deployment</a:t>
            </a:r>
            <a:r>
              <a:t>: Deployed enterprise-grade OpenShift across 3 availability zones</a:t>
            </a:r>
          </a:p>
          <a:p>
            <a:pPr/>
            <a:r>
              <a:rPr b="1"/>
              <a:t>Application Modernization</a:t>
            </a:r>
            <a:r>
              <a:t>: Migrated 85+ applications to containerized microservices architecture</a:t>
            </a:r>
          </a:p>
          <a:p>
            <a:pPr/>
            <a:r>
              <a:rPr b="1"/>
              <a:t>DevOps Transformation</a:t>
            </a:r>
            <a:r>
              <a:t>: Implemented CI/CD pipelines with 95% automation coverage</a:t>
            </a:r>
          </a:p>
          <a:p>
            <a:pPr/>
            <a:r>
              <a:rPr b="1"/>
              <a:t>Security Implementation</a:t>
            </a:r>
            <a:r>
              <a:t>: Achieved comprehensive security with Red Hat Advanced Cluster Security</a:t>
            </a:r>
          </a:p>
          <a:p>
            <a:pPr/>
            <a:r>
              <a:rPr b="1"/>
              <a:t>Hybrid Cloud Integration</a:t>
            </a:r>
            <a:r>
              <a:t>: Enabled seamless hybrid cloud application deployment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Core OpenShift Components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OpenShift Container Platform</a:t>
            </a:r>
            <a:r>
              <a:t>: Enterprise Kubernetes distribution with Red Hat support</a:t>
            </a:r>
          </a:p>
          <a:p>
            <a:pPr/>
            <a:r>
              <a:rPr b="1"/>
              <a:t>Container Registry</a:t>
            </a:r>
            <a:r>
              <a:t>: Integrated image registry with vulnerability scanning</a:t>
            </a:r>
          </a:p>
          <a:p>
            <a:pPr/>
            <a:r>
              <a:rPr b="1"/>
              <a:t>OpenShift Pipelines</a:t>
            </a:r>
            <a:r>
              <a:t>: Tekton-based CI/CD pipeline automation</a:t>
            </a:r>
          </a:p>
          <a:p>
            <a:pPr/>
            <a:r>
              <a:rPr b="1"/>
              <a:t>OpenShift GitOps</a:t>
            </a:r>
            <a:r>
              <a:t>: ArgoCD-based application deployment and lifecycle management</a:t>
            </a:r>
          </a:p>
          <a:p>
            <a:pPr/>
            <a:r>
              <a:rPr b="1"/>
              <a:t>Service Mesh</a:t>
            </a:r>
            <a:r>
              <a:t>: Istio integration for microservices communication and security</a:t>
            </a:r>
          </a:p>
          <a:p>
            <a:pPr/>
            <a:r>
              <a:rPr b="1"/>
              <a:t>Monitoring Stack</a:t>
            </a:r>
            <a:r>
              <a:t>: Prometheus, Grafana, and Alertmanager for observability</a:t>
            </a:r>
          </a:p>
          <a:p>
            <a:pPr/>
            <a:r>
              <a:rPr b="1"/>
              <a:t>Logging Platform</a:t>
            </a:r>
            <a:r>
              <a:t>: Elasticsearch, Fluentd, and Kibana for centralized logging</a:t>
            </a:r>
          </a:p>
          <a:p>
            <a:pPr/>
            <a:r>
              <a:rPr b="1"/>
              <a:t>Red Hat Advanced Cluster Security</a:t>
            </a:r>
            <a:r>
              <a:t>: Comprehensive security scanning and policy enforcement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Enterprise Integration Capabilities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IBM Cloud Integration</a:t>
            </a:r>
            <a:r>
              <a:t>: Native integration with IBM Cloud services and infrastructure</a:t>
            </a:r>
          </a:p>
          <a:p>
            <a:pPr/>
            <a:r>
              <a:rPr b="1"/>
              <a:t>Red Hat Satellite</a:t>
            </a:r>
            <a:r>
              <a:t>: Automated OS patching and configuration management</a:t>
            </a:r>
          </a:p>
          <a:p>
            <a:pPr/>
            <a:r>
              <a:rPr b="1"/>
              <a:t>IBM Security Integration</a:t>
            </a:r>
            <a:r>
              <a:t>: Integration with IBM Security products for threat protection</a:t>
            </a:r>
          </a:p>
          <a:p>
            <a:pPr/>
            <a:r>
              <a:rPr b="1"/>
              <a:t>Enterprise Directory</a:t>
            </a:r>
            <a:r>
              <a:t>: LDAP/Active Directory integration for authentication</a:t>
            </a:r>
          </a:p>
          <a:p>
            <a:pPr/>
            <a:r>
              <a:rPr b="1"/>
              <a:t>Storage Integration</a:t>
            </a:r>
            <a:r>
              <a:t>: IBM Storage solutions for persistent volume management</a:t>
            </a:r>
          </a:p>
          <a:p>
            <a:pPr/>
            <a:r>
              <a:rPr b="1"/>
              <a:t>Network Integration</a:t>
            </a:r>
            <a:r>
              <a:t>: Software Defined Networking with Calico and OVN-Kubernetes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Quantified ROI Analysis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4" sz="quarter"/>
          </p:nvPr>
        </p:nvSpPr>
        <p:spPr/>
      </p:sp>
      <p:sp>
        <p:nvSpPr>
          <p:cNvPr id="4" name="Chart Placeholder 3"/>
          <p:cNvSpPr>
            <a:spLocks noGrp="1"/>
          </p:cNvSpPr>
          <p:nvPr>
            <p:ph type="chart" idx="15" sz="quarter"/>
          </p:nvPr>
        </p:nvSpPr>
        <p:spPr/>
      </p:sp>
      <p:sp>
        <p:nvSpPr>
          <p:cNvPr id="5" name="Content Placeholder 4"/>
          <p:cNvSpPr>
            <a:spLocks noGrp="1"/>
          </p:cNvSpPr>
          <p:nvPr>
            <p:ph idx="16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Operational Impact Metrics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4" sz="quarter"/>
          </p:nvPr>
        </p:nvSpPr>
        <p:spPr/>
      </p:sp>
      <p:sp>
        <p:nvSpPr>
          <p:cNvPr id="4" name="Chart Placeholder 3"/>
          <p:cNvSpPr>
            <a:spLocks noGrp="1"/>
          </p:cNvSpPr>
          <p:nvPr>
            <p:ph type="chart" idx="15" sz="quarter"/>
          </p:nvPr>
        </p:nvSpPr>
        <p:spPr/>
      </p:sp>
      <p:sp>
        <p:nvSpPr>
          <p:cNvPr id="5" name="Content Placeholder 4"/>
          <p:cNvSpPr>
            <a:spLocks noGrp="1"/>
          </p:cNvSpPr>
          <p:nvPr>
            <p:ph idx="16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Scalability Achievements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Application Scale</a:t>
            </a:r>
            <a:r>
              <a:t>: Supporting 180+ containerized applications across 25 business units</a:t>
            </a:r>
          </a:p>
          <a:p>
            <a:pPr/>
            <a:r>
              <a:rPr b="1"/>
              <a:t>Container Scale</a:t>
            </a:r>
            <a:r>
              <a:t>: Managing 5,000+ containers with automated scaling capabilities</a:t>
            </a:r>
          </a:p>
          <a:p>
            <a:pPr/>
            <a:r>
              <a:rPr b="1"/>
              <a:t>User Base</a:t>
            </a:r>
            <a:r>
              <a:t>: Supporting 450+ developers and operations personnel</a:t>
            </a:r>
          </a:p>
          <a:p>
            <a:pPr/>
            <a:r>
              <a:rPr b="1"/>
              <a:t>Cluster Scale</a:t>
            </a:r>
            <a:r>
              <a:t>: Multi-cluster deployment supporting global application distribution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Cloud-Native Architecture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4" sz="quarter"/>
          </p:nvPr>
        </p:nvSpPr>
        <p:spPr/>
      </p:sp>
      <p:sp>
        <p:nvSpPr>
          <p:cNvPr id="4" name="Picture Placeholder 3"/>
          <p:cNvSpPr>
            <a:spLocks noGrp="1"/>
          </p:cNvSpPr>
          <p:nvPr>
            <p:ph type="pic" idx="15" sz="quarter"/>
          </p:nvPr>
        </p:nvSpPr>
        <p:spPr/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pPr/>
            <a:r>
              <a:rPr b="1"/>
              <a:t>Microservices Platform</a:t>
            </a:r>
            <a:r>
              <a:t>: Comprehensive platform for microservices development and deployment</a:t>
            </a:r>
          </a:p>
          <a:p>
            <a:pPr/>
            <a:r>
              <a:rPr b="1"/>
              <a:t>Event-Driven Architecture</a:t>
            </a:r>
            <a:r>
              <a:t>: Apache Kafka integration for event-driven application patterns</a:t>
            </a:r>
          </a:p>
          <a:p>
            <a:pPr/>
            <a:r>
              <a:rPr b="1"/>
              <a:t>API Management</a:t>
            </a:r>
            <a:r>
              <a:t>: Red Hat 3scale integration for API lifecycle management</a:t>
            </a:r>
          </a:p>
          <a:p>
            <a:pPr/>
            <a:r>
              <a:rPr b="1"/>
              <a:t>Serverless Computing</a:t>
            </a:r>
            <a:r>
              <a:t>: OpenShift Serverless (Knative) for event-driven workloads</a:t>
            </a:r>
          </a:p>
          <a:p>
            <a:pPr/>
            <a:r>
              <a:rPr b="1"/>
              <a:t>Progressive Web Apps</a:t>
            </a:r>
            <a:r>
              <a:t>: Support for modern web application development patterns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Advanced DevOps Capabilities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Infrastructure as Code</a:t>
            </a:r>
            <a:r>
              <a:t>: Helm charts and Operators for application lifecycle management</a:t>
            </a:r>
          </a:p>
          <a:p>
            <a:pPr/>
            <a:r>
              <a:rPr b="1"/>
              <a:t>GitOps Workflows</a:t>
            </a:r>
            <a:r>
              <a:t>: Automated deployment using GitOps principles with ArgoCD</a:t>
            </a:r>
          </a:p>
          <a:p>
            <a:pPr/>
            <a:r>
              <a:rPr b="1"/>
              <a:t>Progressive Deployment</a:t>
            </a:r>
            <a:r>
              <a:t>: Blue-green and canary deployment strategies</a:t>
            </a:r>
          </a:p>
          <a:p>
            <a:pPr/>
            <a:r>
              <a:rPr b="1"/>
              <a:t>Automated Testing</a:t>
            </a:r>
            <a:r>
              <a:t>: Integrated testing frameworks with quality gates</a:t>
            </a:r>
          </a:p>
          <a:p>
            <a:pPr/>
            <a:r>
              <a:rPr b="1"/>
              <a:t>Security Scanning</a:t>
            </a:r>
            <a:r>
              <a:t>: Automated vulnerability scanning in CI/CD pipelines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Enterprise Security Framework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Zero Trust Architecture</a:t>
            </a:r>
            <a:r>
              <a:t>: Comprehensive security model with mutual TLS and RBAC</a:t>
            </a:r>
          </a:p>
          <a:p>
            <a:pPr/>
            <a:r>
              <a:rPr b="1"/>
              <a:t>Policy Enforcement</a:t>
            </a:r>
            <a:r>
              <a:t>: Open Policy Agent (OPA) for security and compliance policies</a:t>
            </a:r>
          </a:p>
          <a:p>
            <a:pPr/>
            <a:r>
              <a:rPr b="1"/>
              <a:t>Image Security</a:t>
            </a:r>
            <a:r>
              <a:t>: Automated container image scanning and vulnerability management</a:t>
            </a:r>
          </a:p>
          <a:p>
            <a:pPr/>
            <a:r>
              <a:rPr b="1"/>
              <a:t>Network Security</a:t>
            </a:r>
            <a:r>
              <a:t>: Network policies and service mesh security controls</a:t>
            </a:r>
          </a:p>
          <a:p>
            <a:pPr/>
            <a:r>
              <a:rPr b="1"/>
              <a:t>Compliance Automation</a:t>
            </a:r>
            <a:r>
              <a:t>: Automated compliance reporting for SOC 2, PCI DSS, and HIPAA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Project Delivery Excellence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Timeline Achievement</a:t>
            </a:r>
            <a:r>
              <a:t>: Delivered 2 weeks ahead of original 18-week schedule</a:t>
            </a:r>
          </a:p>
          <a:p>
            <a:pPr/>
            <a:r>
              <a:rPr b="1"/>
              <a:t>Budget Performance</a:t>
            </a:r>
            <a:r>
              <a:t>: Completed 9% under allocated budget</a:t>
            </a:r>
          </a:p>
          <a:p>
            <a:pPr/>
            <a:r>
              <a:rPr b="1"/>
              <a:t>Quality Standards</a:t>
            </a:r>
            <a:r>
              <a:t>: Zero critical defects in production platform deployment</a:t>
            </a:r>
          </a:p>
          <a:p>
            <a:pPr/>
            <a:r>
              <a:rPr b="1"/>
              <a:t>Migration Success</a:t>
            </a:r>
            <a:r>
              <a:t>: Successfully containerized 85 applications with zero data loss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Technical Excellence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Platform Reliability</a:t>
            </a:r>
            <a:r>
              <a:t>: Achieving 99.97% uptime across all production clusters</a:t>
            </a:r>
          </a:p>
          <a:p>
            <a:pPr/>
            <a:r>
              <a:rPr b="1"/>
              <a:t>Performance</a:t>
            </a:r>
            <a:r>
              <a:t>: Meeting sub-second response time requirements for 95% of applications</a:t>
            </a:r>
          </a:p>
          <a:p>
            <a:pPr/>
            <a:r>
              <a:rPr b="1"/>
              <a:t>Security</a:t>
            </a:r>
            <a:r>
              <a:t>: Zero security breaches with comprehensive threat protection</a:t>
            </a:r>
          </a:p>
          <a:p>
            <a:pPr/>
            <a:r>
              <a:rPr b="1"/>
              <a:t>Integration</a:t>
            </a:r>
            <a:r>
              <a:t>: Seamless integration with 15 existing enterprise systems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User Adoption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Training Completion</a:t>
            </a:r>
            <a:r>
              <a:t>: 89% of development teams completed OpenShift certification</a:t>
            </a:r>
          </a:p>
          <a:p>
            <a:pPr/>
            <a:r>
              <a:rPr b="1"/>
              <a:t>User Satisfaction</a:t>
            </a:r>
            <a:r>
              <a:t>: 4.9/5.0 average user satisfaction score from development teams</a:t>
            </a:r>
          </a:p>
          <a:p>
            <a:pPr/>
            <a:r>
              <a:rPr b="1"/>
              <a:t>Self-Service Adoption</a:t>
            </a:r>
            <a:r>
              <a:t>: 92% of deployments through automated CI/CD pipelines</a:t>
            </a:r>
          </a:p>
          <a:p>
            <a:pPr/>
            <a:r>
              <a:rPr b="1"/>
              <a:t>Support Reduction</a:t>
            </a:r>
            <a:r>
              <a:t>: 76% reduction in application deployment support tickets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Technical Insights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Container Design</a:t>
            </a:r>
            <a:r>
              <a:t>: Proper container design patterns improved performance by 45%</a:t>
            </a:r>
          </a:p>
          <a:p>
            <a:pPr/>
            <a:r>
              <a:rPr b="1"/>
              <a:t>Resource Management</a:t>
            </a:r>
            <a:r>
              <a:t>: Implementing resource quotas and limits optimized cluster utilization</a:t>
            </a:r>
          </a:p>
          <a:p>
            <a:pPr/>
            <a:r>
              <a:rPr b="1"/>
              <a:t>Storage Strategy</a:t>
            </a:r>
            <a:r>
              <a:t>: Persistent volume design reduced storage costs by 38%</a:t>
            </a:r>
          </a:p>
          <a:p>
            <a:pPr/>
            <a:r>
              <a:rPr b="1"/>
              <a:t>Network Architecture</a:t>
            </a:r>
            <a:r>
              <a:t>: Service mesh implementation improved security and observability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Process Improvements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Change Management</a:t>
            </a:r>
            <a:r>
              <a:t>: Gradual migration approach reduced risk and improved adoption</a:t>
            </a:r>
          </a:p>
          <a:p>
            <a:pPr/>
            <a:r>
              <a:rPr b="1"/>
              <a:t>Training Strategy</a:t>
            </a:r>
            <a:r>
              <a:t>: Hands-on labs increased developer productivity by 67%</a:t>
            </a:r>
          </a:p>
          <a:p>
            <a:pPr/>
            <a:r>
              <a:rPr b="1"/>
              <a:t>Documentation</a:t>
            </a:r>
            <a:r>
              <a:t>: Comprehensive runbooks reduced troubleshooting time by 58%</a:t>
            </a:r>
          </a:p>
          <a:p>
            <a:pPr/>
            <a:r>
              <a:rPr b="1"/>
              <a:t>Center of Excellence</a:t>
            </a:r>
            <a:r>
              <a:t>: Established OpenShift CoE accelerated best practice adoption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Organizational Benefits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Skills Development</a:t>
            </a:r>
            <a:r>
              <a:t>: 156 team members achieved Red Hat OpenShift certifications</a:t>
            </a:r>
          </a:p>
          <a:p>
            <a:pPr/>
            <a:r>
              <a:rPr b="1"/>
              <a:t>Process Standardization</a:t>
            </a:r>
            <a:r>
              <a:t>: Established standardized deployment patterns and practices</a:t>
            </a:r>
          </a:p>
          <a:p>
            <a:pPr/>
            <a:r>
              <a:rPr b="1"/>
              <a:t>Innovation Culture</a:t>
            </a:r>
            <a:r>
              <a:t>: Enabled rapid experimentation and innovation with containerized applications</a:t>
            </a:r>
          </a:p>
          <a:p>
            <a:pPr/>
            <a:r>
              <a:rPr b="1"/>
              <a:t>Knowledge Sharing</a:t>
            </a:r>
            <a:r>
              <a:t>: Created comprehensive knowledge base and community of practice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Legacy Application Transformation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Monolith Decomposition</a:t>
            </a:r>
            <a:r>
              <a:t>: Successfully decomposed 15 monolithic applications into microservices</a:t>
            </a:r>
          </a:p>
          <a:p>
            <a:pPr/>
            <a:r>
              <a:rPr b="1"/>
              <a:t>Database Modernization</a:t>
            </a:r>
            <a:r>
              <a:t>: Migrated from legacy databases to cloud-native data stores</a:t>
            </a:r>
          </a:p>
          <a:p>
            <a:pPr/>
            <a:r>
              <a:rPr b="1"/>
              <a:t>API Modernization</a:t>
            </a:r>
            <a:r>
              <a:t>: Implemented RESTful APIs and event-driven communication patterns</a:t>
            </a:r>
          </a:p>
          <a:p>
            <a:pPr/>
            <a:r>
              <a:rPr b="1"/>
              <a:t>UI Modernization</a:t>
            </a:r>
            <a:r>
              <a:t>: Modernized user interfaces with responsive web design</a:t>
            </a:r>
          </a:p>
          <a:p>
            <a:pPr/>
            <a:r>
              <a:rPr b="1"/>
              <a:t>Integration Modernization</a:t>
            </a:r>
            <a:r>
              <a:t>: Replaced point-to-point integrations with API-first architecture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Cloud-Native Development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12-Factor Applications</a:t>
            </a:r>
            <a:r>
              <a:t>: Implemented cloud-native application design principles</a:t>
            </a:r>
          </a:p>
          <a:p>
            <a:pPr/>
            <a:r>
              <a:rPr b="1"/>
              <a:t>Container-First Design</a:t>
            </a:r>
            <a:r>
              <a:t>: New applications designed specifically for container deployment</a:t>
            </a:r>
          </a:p>
          <a:p>
            <a:pPr/>
            <a:r>
              <a:rPr b="1"/>
              <a:t>Event-Driven Patterns</a:t>
            </a:r>
            <a:r>
              <a:t>: Implemented event sourcing and CQRS patterns for data consistency</a:t>
            </a:r>
          </a:p>
          <a:p>
            <a:pPr/>
            <a:r>
              <a:rPr b="1"/>
              <a:t>Reactive Programming</a:t>
            </a:r>
            <a:r>
              <a:t>: Adopted reactive programming models for high-performance applications</a:t>
            </a:r>
          </a:p>
          <a:p>
            <a:pPr/>
            <a:r>
              <a:rPr b="1"/>
              <a:t>Progressive Web Apps</a:t>
            </a:r>
            <a:r>
              <a:t>: Developed modern web applications with offline capabilities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Development Process Transformation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Agile Development</a:t>
            </a:r>
            <a:r>
              <a:t>: Accelerated agile development with rapid iteration cycles</a:t>
            </a:r>
          </a:p>
          <a:p>
            <a:pPr/>
            <a:r>
              <a:rPr b="1"/>
              <a:t>Continuous Integration</a:t>
            </a:r>
            <a:r>
              <a:t>: Implemented automated testing with 95% code coverage</a:t>
            </a:r>
          </a:p>
          <a:p>
            <a:pPr/>
            <a:r>
              <a:rPr b="1"/>
              <a:t>Continuous Deployment</a:t>
            </a:r>
            <a:r>
              <a:t>: Automated deployment with zero-downtime releases</a:t>
            </a:r>
          </a:p>
          <a:p>
            <a:pPr/>
            <a:r>
              <a:rPr b="1"/>
              <a:t>Feature Flags</a:t>
            </a:r>
            <a:r>
              <a:t>: Implemented feature toggle capabilities for gradual feature rollouts</a:t>
            </a:r>
          </a:p>
          <a:p>
            <a:pPr/>
            <a:r>
              <a:rPr b="1"/>
              <a:t>A/B Testing</a:t>
            </a:r>
            <a:r>
              <a:t>: Enabled data-driven feature development with integrated testing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Security Controls Implementation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Identity and Access Management</a:t>
            </a:r>
            <a:r>
              <a:t>: Integration with enterprise identity providers</a:t>
            </a:r>
          </a:p>
          <a:p>
            <a:pPr/>
            <a:r>
              <a:rPr b="1"/>
              <a:t>Network Security</a:t>
            </a:r>
            <a:r>
              <a:t>: Micro-segmentation with Kubernetes network policies</a:t>
            </a:r>
          </a:p>
          <a:p>
            <a:pPr/>
            <a:r>
              <a:rPr b="1"/>
              <a:t>Data Protection</a:t>
            </a:r>
            <a:r>
              <a:t>: Encryption at rest and in transit for all application data</a:t>
            </a:r>
          </a:p>
          <a:p>
            <a:pPr/>
            <a:r>
              <a:rPr b="1"/>
              <a:t>Vulnerability Management</a:t>
            </a:r>
            <a:r>
              <a:t>: Automated vulnerability scanning and remediation</a:t>
            </a:r>
          </a:p>
          <a:p>
            <a:pPr/>
            <a:r>
              <a:rPr b="1"/>
              <a:t>Threat Detection</a:t>
            </a:r>
            <a:r>
              <a:t>: Real-time threat detection with automated response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Compliance Achievements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SOC 2 Type II</a:t>
            </a:r>
            <a:r>
              <a:t>: Achieved certification for security and availability controls</a:t>
            </a:r>
          </a:p>
          <a:p>
            <a:pPr/>
            <a:r>
              <a:rPr b="1"/>
              <a:t>PCI DSS</a:t>
            </a:r>
            <a:r>
              <a:t>: Implemented payment card industry compliance for financial applications</a:t>
            </a:r>
          </a:p>
          <a:p>
            <a:pPr/>
            <a:r>
              <a:rPr b="1"/>
              <a:t>HIPAA</a:t>
            </a:r>
            <a:r>
              <a:t>: Healthcare compliance controls for patient data applications</a:t>
            </a:r>
          </a:p>
          <a:p>
            <a:pPr/>
            <a:r>
              <a:rPr b="1"/>
              <a:t>ISO 27001</a:t>
            </a:r>
            <a:r>
              <a:t>: Information security management system implementation</a:t>
            </a:r>
          </a:p>
          <a:p>
            <a:pPr/>
            <a:r>
              <a:rPr b="1"/>
              <a:t>FedRAMP</a:t>
            </a:r>
            <a:r>
              <a:t>: Federal compliance controls for government applications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Advanced Security Features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Service Mesh Security</a:t>
            </a:r>
            <a:r>
              <a:t>: Mutual TLS encryption for all service-to-service communication</a:t>
            </a:r>
          </a:p>
          <a:p>
            <a:pPr/>
            <a:r>
              <a:rPr b="1"/>
              <a:t>Policy as Code</a:t>
            </a:r>
            <a:r>
              <a:t>: Automated security policy enforcement with Open Policy Agent</a:t>
            </a:r>
          </a:p>
          <a:p>
            <a:pPr/>
            <a:r>
              <a:rPr b="1"/>
              <a:t>Runtime Security</a:t>
            </a:r>
            <a:r>
              <a:t>: Real-time container and application security monitoring</a:t>
            </a:r>
          </a:p>
          <a:p>
            <a:pPr/>
            <a:r>
              <a:rPr b="1"/>
              <a:t>Supply Chain Security</a:t>
            </a:r>
            <a:r>
              <a:t>: Secure software supply chain with signed container images</a:t>
            </a:r>
          </a:p>
          <a:p>
            <a:pPr/>
            <a:r>
              <a:rPr b="1"/>
              <a:t>Incident Response</a:t>
            </a:r>
            <a:r>
              <a:t>: Automated incident response with playbook execution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Resource Optimization Strategy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Right-Sizing</a:t>
            </a:r>
            <a:r>
              <a:t>: Automated resource right-sizing reducing costs by 32%</a:t>
            </a:r>
          </a:p>
          <a:p>
            <a:pPr/>
            <a:r>
              <a:rPr b="1"/>
              <a:t>Auto-Scaling</a:t>
            </a:r>
            <a:r>
              <a:t>: Horizontal and vertical pod autoscaling optimizing resource utilization</a:t>
            </a:r>
          </a:p>
          <a:p>
            <a:pPr/>
            <a:r>
              <a:rPr b="1"/>
              <a:t>Resource Quotas</a:t>
            </a:r>
            <a:r>
              <a:t>: Namespace-level resource quotas preventing resource waste</a:t>
            </a:r>
          </a:p>
          <a:p>
            <a:pPr/>
            <a:r>
              <a:rPr b="1"/>
              <a:t>Multi-Tenancy</a:t>
            </a:r>
            <a:r>
              <a:t>: Efficient resource sharing across teams and applications</a:t>
            </a:r>
          </a:p>
          <a:p>
            <a:pPr/>
            <a:r>
              <a:rPr b="1"/>
              <a:t>Spot Instance Integration</a:t>
            </a:r>
            <a:r>
              <a:t>: Strategic use of spot instances for non-critical workloads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Financial Governance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Cost Allocation</a:t>
            </a:r>
            <a:r>
              <a:t>: Detailed cost allocation with chargeback to business units</a:t>
            </a:r>
          </a:p>
          <a:p>
            <a:pPr/>
            <a:r>
              <a:rPr b="1"/>
              <a:t>Budget Controls</a:t>
            </a:r>
            <a:r>
              <a:t>: Automated budget alerts and spending controls by namespace</a:t>
            </a:r>
          </a:p>
          <a:p>
            <a:pPr/>
            <a:r>
              <a:rPr b="1"/>
              <a:t>Cost Forecasting</a:t>
            </a:r>
            <a:r>
              <a:t>: Predictive analytics for capacity planning and budget forecasting</a:t>
            </a:r>
          </a:p>
          <a:p>
            <a:pPr/>
            <a:r>
              <a:rPr b="1"/>
              <a:t>ROI Tracking</a:t>
            </a:r>
            <a:r>
              <a:t>: Comprehensive ROI tracking for application modernization investments</a:t>
            </a:r>
          </a:p>
          <a:p>
            <a:pPr/>
            <a:r>
              <a:rPr b="1"/>
              <a:t>FinOps Implementation</a:t>
            </a:r>
            <a:r>
              <a:t>: FinOps practices for continuous cost optimization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High Availability Architecture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4" sz="quarter"/>
          </p:nvPr>
        </p:nvSpPr>
        <p:spPr/>
      </p:sp>
      <p:sp>
        <p:nvSpPr>
          <p:cNvPr id="4" name="Picture Placeholder 3"/>
          <p:cNvSpPr>
            <a:spLocks noGrp="1"/>
          </p:cNvSpPr>
          <p:nvPr>
            <p:ph type="pic" idx="15" sz="quarter"/>
          </p:nvPr>
        </p:nvSpPr>
        <p:spPr/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pPr/>
            <a:r>
              <a:rPr b="1"/>
              <a:t>Multi-Zone Deployment</a:t>
            </a:r>
            <a:r>
              <a:t>: Active-active deployment across three availability zones</a:t>
            </a:r>
          </a:p>
          <a:p>
            <a:pPr/>
            <a:r>
              <a:rPr b="1"/>
              <a:t>Automated Failover</a:t>
            </a:r>
            <a:r>
              <a:t>: Automated application failover with health check monitoring</a:t>
            </a:r>
          </a:p>
          <a:p>
            <a:pPr/>
            <a:r>
              <a:rPr b="1"/>
              <a:t>Data Replication</a:t>
            </a:r>
            <a:r>
              <a:t>: Cross-zone data replication with consistent backup strategies</a:t>
            </a:r>
          </a:p>
          <a:p>
            <a:pPr/>
            <a:r>
              <a:rPr b="1"/>
              <a:t>Load Balancing</a:t>
            </a:r>
            <a:r>
              <a:t>: Intelligent load balancing with health-based routing</a:t>
            </a:r>
          </a:p>
          <a:p>
            <a:pPr/>
            <a:r>
              <a:rPr b="1"/>
              <a:t>Cluster Federation</a:t>
            </a:r>
            <a:r>
              <a:t>: Multi-cluster federation for geographic distribution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Business Continuity Planning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Disaster Recovery</a:t>
            </a:r>
            <a:r>
              <a:t>: Comprehensive DR planning with 4-hour RTO and 1-hour RPO</a:t>
            </a:r>
          </a:p>
          <a:p>
            <a:pPr/>
            <a:r>
              <a:rPr b="1"/>
              <a:t>Backup Strategy</a:t>
            </a:r>
            <a:r>
              <a:t>: Automated backup for applications, data, and cluster configurations</a:t>
            </a:r>
          </a:p>
          <a:p>
            <a:pPr/>
            <a:r>
              <a:rPr b="1"/>
              <a:t>Recovery Testing</a:t>
            </a:r>
            <a:r>
              <a:t>: Quarterly disaster recovery testing with documented procedures</a:t>
            </a:r>
          </a:p>
          <a:p>
            <a:pPr/>
            <a:r>
              <a:rPr b="1"/>
              <a:t>Communication Plans</a:t>
            </a:r>
            <a:r>
              <a:t>: Automated stakeholder communication during incidents</a:t>
            </a:r>
          </a:p>
          <a:p>
            <a:pPr/>
            <a:r>
              <a:rPr b="1"/>
              <a:t>Business Impact Analysis</a:t>
            </a:r>
            <a:r>
              <a:t>: Priority-based recovery procedures for critical applications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Operational Excellence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24/7 Monitoring</a:t>
            </a:r>
            <a:r>
              <a:t>: Comprehensive monitoring with intelligent alerting and escalation</a:t>
            </a:r>
          </a:p>
          <a:p>
            <a:pPr/>
            <a:r>
              <a:rPr b="1"/>
              <a:t>Automated Operations</a:t>
            </a:r>
            <a:r>
              <a:t>: Self-healing capabilities for common infrastructure issues</a:t>
            </a:r>
          </a:p>
          <a:p>
            <a:pPr/>
            <a:r>
              <a:rPr b="1"/>
              <a:t>Capacity Management</a:t>
            </a:r>
            <a:r>
              <a:t>: Proactive capacity planning based on usage trends and forecasts</a:t>
            </a:r>
          </a:p>
          <a:p>
            <a:pPr/>
            <a:r>
              <a:rPr b="1"/>
              <a:t>Performance Optimization</a:t>
            </a:r>
            <a:r>
              <a:t>: Continuous performance tuning and optimization</a:t>
            </a:r>
          </a:p>
          <a:p>
            <a:pPr/>
            <a:r>
              <a:rPr b="1"/>
              <a:t>Security Updates</a:t>
            </a:r>
            <a:r>
              <a:t>: Automated security patching with minimal downtime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Support Framework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Red Hat Support</a:t>
            </a:r>
            <a:r>
              <a:t>: Enterprise support with 4-hour response SLA for critical issues</a:t>
            </a:r>
          </a:p>
          <a:p>
            <a:pPr/>
            <a:r>
              <a:rPr b="1"/>
              <a:t>Expert Services</a:t>
            </a:r>
            <a:r>
              <a:t>: Access to Red Hat Consulting for complex scenarios and optimization</a:t>
            </a:r>
          </a:p>
          <a:p>
            <a:pPr/>
            <a:r>
              <a:rPr b="1"/>
              <a:t>Documentation</a:t>
            </a:r>
            <a:r>
              <a:t>: Comprehensive operational runbooks and troubleshooting guides</a:t>
            </a:r>
          </a:p>
          <a:p>
            <a:pPr/>
            <a:r>
              <a:rPr b="1"/>
              <a:t>Training Program</a:t>
            </a:r>
            <a:r>
              <a:t>: Ongoing certification program for platform administrators</a:t>
            </a:r>
          </a:p>
          <a:p>
            <a:pPr/>
            <a:r>
              <a:rPr b="1"/>
              <a:t>Community Engagement</a:t>
            </a:r>
            <a:r>
              <a:t>: Active participation in Red Hat and OpenShift communities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rPr b="1"/>
              <a:t>Future Enhancement Roadmap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able Placeholder 3"/>
          <p:cNvSpPr>
            <a:spLocks noGrp="1"/>
          </p:cNvSpPr>
          <p:nvPr>
            <p:ph type="tbl" idx="14" sz="quarter"/>
          </p:nvPr>
        </p:nvSpPr>
        <p:spPr/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Operational Risk Controls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Change Management</a:t>
            </a:r>
            <a:r>
              <a:t>: Rigorous change control with automated testing and rollback</a:t>
            </a:r>
          </a:p>
          <a:p>
            <a:pPr/>
            <a:r>
              <a:rPr b="1"/>
              <a:t>Capacity Management</a:t>
            </a:r>
            <a:r>
              <a:t>: Proactive capacity monitoring with auto-scaling capabilities</a:t>
            </a:r>
          </a:p>
          <a:p>
            <a:pPr/>
            <a:r>
              <a:rPr b="1"/>
              <a:t>Vendor Management</a:t>
            </a:r>
            <a:r>
              <a:t>: Diversified container ecosystem reducing vendor lock-in</a:t>
            </a:r>
          </a:p>
          <a:p>
            <a:pPr/>
            <a:r>
              <a:rPr b="1"/>
              <a:t>Skills Management</a:t>
            </a:r>
            <a:r>
              <a:t>: Cross-training programs ensuring operational continuity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Technology Risk Management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Platform Currency</a:t>
            </a:r>
            <a:r>
              <a:t>: Regular platform updates maintaining security and features</a:t>
            </a:r>
          </a:p>
          <a:p>
            <a:pPr/>
            <a:r>
              <a:rPr b="1"/>
              <a:t>Security Monitoring</a:t>
            </a:r>
            <a:r>
              <a:t>: Continuous security monitoring with threat intelligence</a:t>
            </a:r>
          </a:p>
          <a:p>
            <a:pPr/>
            <a:r>
              <a:rPr b="1"/>
              <a:t>Compliance Monitoring</a:t>
            </a:r>
            <a:r>
              <a:t>: Automated compliance monitoring with exception reporting</a:t>
            </a:r>
          </a:p>
          <a:p>
            <a:pPr/>
            <a:r>
              <a:rPr b="1"/>
              <a:t>Technology Evaluation</a:t>
            </a:r>
            <a:r>
              <a:t>: Regular evaluation of emerging technologies and trends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Executive Endorsements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CEO</a:t>
            </a:r>
            <a:r>
              <a:t>: "This platform has accelerated our digital transformation beyond expectations"</a:t>
            </a:r>
          </a:p>
          <a:p>
            <a:pPr/>
            <a:r>
              <a:rPr b="1"/>
              <a:t>CTO</a:t>
            </a:r>
            <a:r>
              <a:t>: "Outstanding implementation demonstrating the power of container orchestration"</a:t>
            </a:r>
          </a:p>
          <a:p>
            <a:pPr/>
            <a:r>
              <a:rPr b="1"/>
              <a:t>Chief Digital Officer</a:t>
            </a:r>
            <a:r>
              <a:t>: "Transformational impact on our application development capabilities"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Industry Recognition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Red Hat Partner Award</a:t>
            </a:r>
            <a:r>
              <a:t>: Recognized as exemplary OpenShift implementation</a:t>
            </a:r>
          </a:p>
          <a:p>
            <a:pPr/>
            <a:r>
              <a:rPr b="1"/>
              <a:t>Industry Benchmarks</a:t>
            </a:r>
            <a:r>
              <a:t>: Container adoption rate in top 5% of enterprise implementations</a:t>
            </a:r>
          </a:p>
          <a:p>
            <a:pPr/>
            <a:r>
              <a:rPr b="1"/>
              <a:t>Security Recognition</a:t>
            </a:r>
            <a:r>
              <a:t>: Achieved Red Hat security specialization certification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Key Success Factors for Replication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t>Executive Sponsorship: Strong leadership commitment to application modernization</a:t>
            </a:r>
          </a:p>
          <a:p>
            <a:pPr/>
            <a:r>
              <a:t>Comprehensive Training: Investment in team skills and Red Hat certifications</a:t>
            </a:r>
          </a:p>
          <a:p>
            <a:pPr/>
            <a:r>
              <a:t>Gradual Migration: Phased approach to application containerization and modernization</a:t>
            </a:r>
          </a:p>
          <a:p>
            <a:pPr/>
            <a:r>
              <a:t>Security First: Early implementation of comprehensive security controls</a:t>
            </a:r>
          </a:p>
          <a:p>
            <a:pPr/>
            <a:r>
              <a:t>Community Building: Establishment of center of excellence and knowledge sharing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Strategic Recommendations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Application Portfolio Expansion</a:t>
            </a:r>
            <a:r>
              <a:t>: Accelerate remaining legacy application modernization</a:t>
            </a:r>
          </a:p>
          <a:p>
            <a:pPr/>
            <a:r>
              <a:rPr b="1"/>
              <a:t>Advanced Capabilities</a:t>
            </a:r>
            <a:r>
              <a:t>: Implement machine learning and data analytics workloads</a:t>
            </a:r>
          </a:p>
          <a:p>
            <a:pPr/>
            <a:r>
              <a:rPr b="1"/>
              <a:t>Edge Computing</a:t>
            </a:r>
            <a:r>
              <a:t>: Extend platform capabilities to edge computing environments</a:t>
            </a:r>
          </a:p>
          <a:p>
            <a:pPr/>
            <a:r>
              <a:rPr b="1"/>
              <a:t>Global Expansion</a:t>
            </a:r>
            <a:r>
              <a:t>: Deploy additional clusters for worldwide application distribution</a:t>
            </a:r>
          </a:p>
          <a:p>
            <a:pPr/>
            <a:r>
              <a:rPr b="1"/>
              <a:t>Innovation Labs</a:t>
            </a:r>
            <a:r>
              <a:t>: Establish innovation labs for emerging technology evaluation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427</TotalTime>
  <Words>39</Words>
  <Application>Microsoft Office PowerPoint</Application>
  <PresentationFormat>On-screen Show (16:9)</PresentationFormat>
  <Paragraphs>20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9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EOFramework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EOFramework Template</dc:title>
  <dc:subject>PptxGenJS Presentation</dc:subject>
  <dc:creator>EOFramework</dc:creator>
  <cp:lastModifiedBy>Kishan Siram</cp:lastModifiedBy>
  <cp:revision>79</cp:revision>
  <dcterms:created xsi:type="dcterms:W3CDTF">2025-11-01T21:16:10Z</dcterms:created>
  <dcterms:modified xsi:type="dcterms:W3CDTF">2025-11-11T19:45:33Z</dcterms:modified>
</cp:coreProperties>
</file>