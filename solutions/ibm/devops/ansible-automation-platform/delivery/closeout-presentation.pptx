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Ansible Automation Platform implementation. This project has transformed [Client Name]'s IT operations from manual, error-prone processes into automated, consistent workflows managing 500 servers and 100 network devices.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- 6 Months (24 Weeks):**</a:t>
            </a:r>
          </a:p>
          <a:p>
            <a:r>
              <a:t>- Executed exactly as planned in the Statement of Work</a:t>
            </a:r>
          </a:p>
          <a:p>
            <a:r>
              <a:t>- Phase 1 (Assessment): Weeks 1-3 - Requirements validated, architecture approved</a:t>
            </a:r>
          </a:p>
          <a:p>
            <a:r>
              <a:t>- Phase 2 (Platform): Weeks 4-6 - HA controller cluster deployed, integrations configured</a:t>
            </a:r>
          </a:p>
          <a:p>
            <a:r>
              <a:t>- Phase 3 (Development): Weeks 7-16 - 100 playbooks developed and tested</a:t>
            </a:r>
          </a:p>
          <a:p>
            <a:r>
              <a:t>- Phase 4 (Testing): Weeks 17-20 - All testing phases complete, UAT signed off</a:t>
            </a:r>
          </a:p>
          <a:p>
            <a:r>
              <a:t>- Phase 5 (Hypercare): Weeks 21-24 - Support period complete, team certified</a:t>
            </a:r>
          </a:p>
          <a:p/>
          <a:p>
            <a:r>
              <a:t>**Budget - $147,172 Year 1 Net:**</a:t>
            </a:r>
          </a:p>
          <a:p>
            <a:r>
              <a:t>- Professional Services: $73,600 (460 hours as quoted)</a:t>
            </a:r>
          </a:p>
          <a:p>
            <a:r>
              <a:t>- Cloud Infrastructure: $24,520 (after $2,000 credits)</a:t>
            </a:r>
          </a:p>
          <a:p>
            <a:r>
              <a:t>- Software Licenses: $105,000 (after $10,000 Red Hat credits)</a:t>
            </a:r>
          </a:p>
          <a:p>
            <a:r>
              <a:t>- Support &amp; Maintenance: $17,652</a:t>
            </a:r>
          </a:p>
          <a:p>
            <a:r>
              <a:t>- Total Partner Credits Applied: $12,000</a:t>
            </a:r>
          </a:p>
          <a:p>
            <a:r>
              <a:t>- Actual spend: $147,108 - $64 under budget</a:t>
            </a:r>
          </a:p>
          <a:p/>
          <a:p>
            <a:r>
              <a:t>**Go-Live - Week 20:**</a:t>
            </a:r>
          </a:p>
          <a:p>
            <a:r>
              <a:t>- Progressive automation enablement as planned</a:t>
            </a:r>
          </a:p>
          <a:p>
            <a:r>
              <a:t>- Weeks 1-2: Read-only automation (discovery, compliance reporting)</a:t>
            </a:r>
          </a:p>
          <a:p>
            <a:r>
              <a:t>- Weeks 3-6: Low-risk automation (patching, configuration backups)</a:t>
            </a:r>
          </a:p>
          <a:p>
            <a:r>
              <a:t>- Weeks 7-12: Production automation (provisioning, configuration)</a:t>
            </a:r>
          </a:p>
          <a:p>
            <a:r>
              <a:t>- Weeks 13-16: Advanced automation (event-driven, self-service)</a:t>
            </a:r>
          </a:p>
          <a:p/>
          <a:p>
            <a:r>
              <a:t>**Quality - Zero Critical Defects:**</a:t>
            </a:r>
          </a:p>
          <a:p>
            <a:r>
              <a:t>- 38 test cases executed across functional, performance, and UAT phases</a:t>
            </a:r>
          </a:p>
          <a:p>
            <a:r>
              <a:t>- 100% pass rate at go-live</a:t>
            </a:r>
          </a:p>
          <a:p>
            <a:r>
              <a:t>- 2 P3 defects identified during hypercare, both resolved</a:t>
            </a:r>
          </a:p>
          <a:p/>
          <a:p>
            <a:r>
              <a:t>**Manual Effort - 90% Reduction:**</a:t>
            </a:r>
          </a:p>
          <a:p>
            <a:r>
              <a:t>- Baseline: 4-8 hours per server configuration</a:t>
            </a:r>
          </a:p>
          <a:p>
            <a:r>
              <a:t>- Current: Automated via playbook in minutes</a:t>
            </a:r>
          </a:p>
          <a:p>
            <a:r>
              <a:t>- SOW target: 90% reduction - achieved</a:t>
            </a:r>
          </a:p>
          <a:p/>
          <a:p>
            <a:r>
              <a:t>**Automation Success - 99.5%:**</a:t>
            </a:r>
          </a:p>
          <a:p>
            <a:r>
              <a:t>- 10,000+ job executions per month operational</a:t>
            </a:r>
          </a:p>
          <a:p>
            <a:r>
              <a:t>- 99.5% success rate exceeds 99.5% target</a:t>
            </a:r>
          </a:p>
          <a:p>
            <a:r>
              <a:t>- Failed jobs auto-retry or escalate to ServiceNow</a:t>
            </a:r>
          </a:p>
          <a:p/>
          <a:p>
            <a:r>
              <a:t>*Transition to Next Slide:*</a:t>
            </a:r>
          </a:p>
          <a:p>
            <a:r>
              <a:t>"Let me walk you through exactly what we built together..."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 - Walk Through the Diagram:*</a:t>
            </a:r>
          </a:p>
          <a:p/>
          <a:p>
            <a:r>
              <a:t>"This diagram shows the production Ansible Automation Platform architecture we deployed. Let me walk through the key layers..."</a:t>
            </a:r>
          </a:p>
          <a:p/>
          <a:p>
            <a:r>
              <a:t>**Automation Controller Layer (HA Cluster):**</a:t>
            </a:r>
          </a:p>
          <a:p>
            <a:r>
              <a:t>- Two controller nodes: 8 vCPU, 16GB RAM each on AWS EC2</a:t>
            </a:r>
          </a:p>
          <a:p>
            <a:r>
              <a:t>- PostgreSQL managed database with high availability</a:t>
            </a:r>
          </a:p>
          <a:p>
            <a:r>
              <a:t>- Load balancer for API and web UI access</a:t>
            </a:r>
          </a:p>
          <a:p>
            <a:r>
              <a:t>- Active-passive failover tested and validated</a:t>
            </a:r>
          </a:p>
          <a:p>
            <a:r>
              <a:t>- Handles all job scheduling, RBAC, and audit logging</a:t>
            </a:r>
          </a:p>
          <a:p/>
          <a:p>
            <a:r>
              <a:t>**Execution Infrastructure Layer:**</a:t>
            </a:r>
          </a:p>
          <a:p>
            <a:r>
              <a:t>- Four execution nodes: 8 vCPU, 16GB RAM each</a:t>
            </a:r>
          </a:p>
          <a:p>
            <a:r>
              <a:t>- Distributed job processing for scalability</a:t>
            </a:r>
          </a:p>
          <a:p>
            <a:r>
              <a:t>- 100 concurrent job execution capacity as scoped</a:t>
            </a:r>
          </a:p>
          <a:p>
            <a:r>
              <a:t>- Auto-scaling ready for future growth</a:t>
            </a:r>
          </a:p>
          <a:p>
            <a:r>
              <a:t>- SSH/WinRM connectivity to all managed infrastructure</a:t>
            </a:r>
          </a:p>
          <a:p/>
          <a:p>
            <a:r>
              <a:t>**Content Layer - Private Automation Hub:**</a:t>
            </a:r>
          </a:p>
          <a:p>
            <a:r>
              <a:t>- Organization-owned playbook and collection repository</a:t>
            </a:r>
          </a:p>
          <a:p>
            <a:r>
              <a:t>- 100 custom playbooks developed and published</a:t>
            </a:r>
          </a:p>
          <a:p>
            <a:r>
              <a:t>- 2000+ certified collections from Red Hat available</a:t>
            </a:r>
          </a:p>
          <a:p>
            <a:r>
              <a:t>- Git integration for playbook version control</a:t>
            </a:r>
          </a:p>
          <a:p>
            <a:r>
              <a:t>- Automated CI/CD pipeline for playbook testing</a:t>
            </a:r>
          </a:p>
          <a:p/>
          <a:p>
            <a:r>
              <a:t>**Integration Layer:**</a:t>
            </a:r>
          </a:p>
          <a:p>
            <a:r>
              <a:t>- ServiceNow integration for ticket-driven automation</a:t>
            </a:r>
          </a:p>
          <a:p>
            <a:r>
              <a:t>- HashiCorp Vault for secure credential management</a:t>
            </a:r>
          </a:p>
          <a:p>
            <a:r>
              <a:t>- LDAP/AD integration for SSO and team-based RBAC</a:t>
            </a:r>
          </a:p>
          <a:p>
            <a:r>
              <a:t>- Monitoring webhooks for event-driven automation</a:t>
            </a:r>
          </a:p>
          <a:p>
            <a:r>
              <a:t>- PagerDuty integration for job failure alerts</a:t>
            </a:r>
          </a:p>
          <a:p/>
          <a:p>
            <a:r>
              <a:t>**Managed Infrastructure (As Scoped in SOW):**</a:t>
            </a:r>
          </a:p>
          <a:p>
            <a:r>
              <a:t>- 500 servers (Linux RHEL/Ubuntu + Windows Server)</a:t>
            </a:r>
          </a:p>
          <a:p>
            <a:r>
              <a:t>- 100 network devices (Cisco, Juniper, Arista)</a:t>
            </a:r>
          </a:p>
          <a:p>
            <a:r>
              <a:t>- All nodes in dynamic inventory with auto-sync</a:t>
            </a:r>
          </a:p>
          <a:p>
            <a:r>
              <a:t>- Credentials stored securely in Vault integration</a:t>
            </a:r>
          </a:p>
          <a:p/>
          <a:p>
            <a:r>
              <a:t>*Key Architecture Decisions Made During Implementation:*</a:t>
            </a:r>
          </a:p>
          <a:p>
            <a:r>
              <a:t>1. HA controller cluster for platform resilience</a:t>
            </a:r>
          </a:p>
          <a:p>
            <a:r>
              <a:t>2. Distributed execution nodes for job scalability</a:t>
            </a:r>
          </a:p>
          <a:p>
            <a:r>
              <a:t>3. Private Automation Hub over public Galaxy for content control</a:t>
            </a:r>
          </a:p>
          <a:p>
            <a:r>
              <a:t>4. HashiCorp Vault over native credentials for enterprise security</a:t>
            </a:r>
          </a:p>
          <a:p/>
          <a:p>
            <a:r>
              <a:t>*Transition:*</a:t>
            </a:r>
          </a:p>
          <a:p>
            <a:r>
              <a:t>"Now let me show you the complete deliverables package we're handing over..."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 - Review Each Item:*</a:t>
            </a:r>
          </a:p>
          <a:p/>
          <a:p>
            <a:r>
              <a:t>**1. Detailed Design Document:**</a:t>
            </a:r>
          </a:p>
          <a:p>
            <a:r>
              <a:t>- 45+ pages comprehensive technical documentation</a:t>
            </a:r>
          </a:p>
          <a:p>
            <a:r>
              <a:t>- Platform architecture with diagrams</a:t>
            </a:r>
          </a:p>
          <a:p>
            <a:r>
              <a:t>- Security controls (RBAC, credential management)</a:t>
            </a:r>
          </a:p>
          <a:p>
            <a:r>
              <a:t>- Integration design (ServiceNow, Vault, monitoring)</a:t>
            </a:r>
          </a:p>
          <a:p>
            <a:r>
              <a:t>- Infrastructure sizing and operations</a:t>
            </a:r>
          </a:p>
          <a:p/>
          <a:p>
            <a:r>
              <a:t>**2. Implementation Guide:**</a:t>
            </a:r>
          </a:p>
          <a:p>
            <a:r>
              <a:t>- Step-by-step deployment procedures</a:t>
            </a:r>
          </a:p>
          <a:p>
            <a:r>
              <a:t>- Terraform templates for infrastructure</a:t>
            </a:r>
          </a:p>
          <a:p>
            <a:r>
              <a:t>- Ansible playbooks for platform configuration</a:t>
            </a:r>
          </a:p>
          <a:p>
            <a:r>
              <a:t>- Post-deployment verification steps</a:t>
            </a:r>
          </a:p>
          <a:p/>
          <a:p>
            <a:r>
              <a:t>**3. Project Plan:**</a:t>
            </a:r>
          </a:p>
          <a:p>
            <a:r>
              <a:t>- Four worksheets:</a:t>
            </a:r>
          </a:p>
          <a:p>
            <a:r>
              <a:t>  1. Project Timeline - 35 tasks across 6 months</a:t>
            </a:r>
          </a:p>
          <a:p>
            <a:r>
              <a:t>  2. Milestones - 7 major milestones tracked</a:t>
            </a:r>
          </a:p>
          <a:p>
            <a:r>
              <a:t>  3. RACI Matrix - 19 activities with clear ownership</a:t>
            </a:r>
          </a:p>
          <a:p>
            <a:r>
              <a:t>  4. Communications Plan - 11 meeting types defined</a:t>
            </a:r>
          </a:p>
          <a:p>
            <a:r>
              <a:t>- All milestones achieved on schedule</a:t>
            </a:r>
          </a:p>
          <a:p/>
          <a:p>
            <a:r>
              <a:t>**4. Test Plan &amp; Results:**</a:t>
            </a:r>
          </a:p>
          <a:p>
            <a:r>
              <a:t>- Three test categories with 38 total test cases</a:t>
            </a:r>
          </a:p>
          <a:p>
            <a:r>
              <a:t>- Functional: 14 tests (100% pass)</a:t>
            </a:r>
          </a:p>
          <a:p>
            <a:r>
              <a:t>- Non-Functional: 14 tests (100% pass)</a:t>
            </a:r>
          </a:p>
          <a:p>
            <a:r>
              <a:t>- UAT: 10 tests (100% pass)</a:t>
            </a:r>
          </a:p>
          <a:p/>
          <a:p>
            <a:r>
              <a:t>**5. Automation Playbooks (100):**</a:t>
            </a:r>
          </a:p>
          <a:p>
            <a:r>
              <a:t>- 50 server playbooks (provisioning, patching, configuration)</a:t>
            </a:r>
          </a:p>
          <a:p>
            <a:r>
              <a:t>- 30 network playbooks (configuration, compliance, backup)</a:t>
            </a:r>
          </a:p>
          <a:p>
            <a:r>
              <a:t>- 20 cloud/compliance playbooks (security hardening, audit)</a:t>
            </a:r>
          </a:p>
          <a:p>
            <a:r>
              <a:t>- All playbooks tested and documented</a:t>
            </a:r>
          </a:p>
          <a:p/>
          <a:p>
            <a:r>
              <a:t>**6. Playbook Catalog:**</a:t>
            </a:r>
          </a:p>
          <a:p>
            <a:r>
              <a:t>- Searchable catalog of all 100 playbooks</a:t>
            </a:r>
          </a:p>
          <a:p>
            <a:r>
              <a:t>- Usage instructions and parameters</a:t>
            </a:r>
          </a:p>
          <a:p>
            <a:r>
              <a:t>- Dependencies and prerequisites</a:t>
            </a:r>
          </a:p>
          <a:p>
            <a:r>
              <a:t>- Example invocations</a:t>
            </a:r>
          </a:p>
          <a:p/>
          <a:p>
            <a:r>
              <a:t>**7. Operations Runbook:**</a:t>
            </a:r>
          </a:p>
          <a:p>
            <a:r>
              <a:t>- Daily operations checklist</a:t>
            </a:r>
          </a:p>
          <a:p>
            <a:r>
              <a:t>- Monitoring dashboard guide</a:t>
            </a:r>
          </a:p>
          <a:p>
            <a:r>
              <a:t>- Common troubleshooting scenarios</a:t>
            </a:r>
          </a:p>
          <a:p>
            <a:r>
              <a:t>- Escalation procedures</a:t>
            </a:r>
          </a:p>
          <a:p/>
          <a:p>
            <a:r>
              <a:t>**8. Training Materials:**</a:t>
            </a:r>
          </a:p>
          <a:p>
            <a:r>
              <a:t>- Administrator Guide (32 hours curriculum)</a:t>
            </a:r>
          </a:p>
          <a:p>
            <a:r>
              <a:t>- Developer Guide (32 hours curriculum)</a:t>
            </a:r>
          </a:p>
          <a:p>
            <a:r>
              <a:t>- Video tutorials (8 recordings, 120 minutes)</a:t>
            </a:r>
          </a:p>
          <a:p>
            <a:r>
              <a:t>- Quick reference cards</a:t>
            </a:r>
          </a:p>
          <a:p/>
          <a:p>
            <a:r>
              <a:t>*Training Sessions Delivered:*</a:t>
            </a:r>
          </a:p>
          <a:p>
            <a:r>
              <a:t>- Administrator Training: 32 hours, 4 participants</a:t>
            </a:r>
          </a:p>
          <a:p>
            <a:r>
              <a:t>- Developer Training: 32 hours, 8 participants</a:t>
            </a:r>
          </a:p>
          <a:p>
            <a:r>
              <a:t>- Total: 64 hours delivered</a:t>
            </a:r>
          </a:p>
          <a:p/>
          <a:p>
            <a:r>
              <a:t>*Transition:*</a:t>
            </a:r>
          </a:p>
          <a:p>
            <a:r>
              <a:t>"Let's look at how the platform is performing against our targets..."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*Quality &amp; Performance Deep Dive:*</a:t>
            </a:r>
          </a:p>
          <a:p/>
          <a:p>
            <a:r>
              <a:t>**Platform Metrics - Detailed Breakdown:**</a:t>
            </a:r>
          </a:p>
          <a:p/>
          <a:p>
            <a:r>
              <a:t>*Controller Uptime: 99.7%*</a:t>
            </a:r>
          </a:p>
          <a:p>
            <a:r>
              <a:t>- Target: 99.5% availability per SOW</a:t>
            </a:r>
          </a:p>
          <a:p>
            <a:r>
              <a:t>- Achieved: 99.7% (2.2 hours downtime in 30 days hypercare)</a:t>
            </a:r>
          </a:p>
          <a:p>
            <a:r>
              <a:t>- Downtime breakdown:</a:t>
            </a:r>
          </a:p>
          <a:p>
            <a:r>
              <a:t>  - Planned maintenance: 1.5 hours (controller upgrade)</a:t>
            </a:r>
          </a:p>
          <a:p>
            <a:r>
              <a:t>  - Unplanned: 0.7 hours (database connection pool issue, auto-recovered)</a:t>
            </a:r>
          </a:p>
          <a:p>
            <a:r>
              <a:t>- Zero unplanned controller failovers required</a:t>
            </a:r>
          </a:p>
          <a:p/>
          <a:p>
            <a:r>
              <a:t>*Job Success Rate: 99.5%*</a:t>
            </a:r>
          </a:p>
          <a:p>
            <a:r>
              <a:t>- 99.5% of job executions complete successfully</a:t>
            </a:r>
          </a:p>
          <a:p>
            <a:r>
              <a:t>- 0.5% failure rate primarily due to:</a:t>
            </a:r>
          </a:p>
          <a:p>
            <a:r>
              <a:t>  - Network connectivity issues (40%)</a:t>
            </a:r>
          </a:p>
          <a:p>
            <a:r>
              <a:t>  - Credential rotation timing (30%)</a:t>
            </a:r>
          </a:p>
          <a:p>
            <a:r>
              <a:t>  - Target system unavailability (30%)</a:t>
            </a:r>
          </a:p>
          <a:p>
            <a:r>
              <a:t>- Failed jobs auto-retry or escalate to ServiceNow</a:t>
            </a:r>
          </a:p>
          <a:p/>
          <a:p>
            <a:r>
              <a:t>*Concurrent Job Capacity: 100*</a:t>
            </a:r>
          </a:p>
          <a:p>
            <a:r>
              <a:t>- Load tested with 100 simultaneous job executions</a:t>
            </a:r>
          </a:p>
          <a:p>
            <a:r>
              <a:t>- All jobs completed without queuing delays</a:t>
            </a:r>
          </a:p>
          <a:p>
            <a:r>
              <a:t>- Execution nodes handled load distribution</a:t>
            </a:r>
          </a:p>
          <a:p/>
          <a:p>
            <a:r>
              <a:t>*Job Queue Time: &lt; 30 Seconds*</a:t>
            </a:r>
          </a:p>
          <a:p>
            <a:r>
              <a:t>- Average time from submission to execution start</a:t>
            </a:r>
          </a:p>
          <a:p>
            <a:r>
              <a:t>- Execution nodes properly sized for workload</a:t>
            </a:r>
          </a:p>
          <a:p>
            <a:r>
              <a:t>- No job queue bottlenecks observed</a:t>
            </a:r>
          </a:p>
          <a:p/>
          <a:p>
            <a:r>
              <a:t>*Execution Time: 5 Minutes Average*</a:t>
            </a:r>
          </a:p>
          <a:p>
            <a:r>
              <a:t>- Average playbook execution across all 100 playbooks</a:t>
            </a:r>
          </a:p>
          <a:p>
            <a:r>
              <a:t>- Range: 30 seconds (simple tasks) to 30 minutes (complex)</a:t>
            </a:r>
          </a:p>
          <a:p>
            <a:r>
              <a:t>- Optimized playbooks for parallel execution</a:t>
            </a:r>
          </a:p>
          <a:p/>
          <a:p>
            <a:r>
              <a:t>**Automation Metrics - Business Impact:**</a:t>
            </a:r>
          </a:p>
          <a:p/>
          <a:p>
            <a:r>
              <a:t>*Playbooks Delivered: 100*</a:t>
            </a:r>
          </a:p>
          <a:p>
            <a:r>
              <a:t>- 50 server playbooks: Provisioning, patching, configuration, compliance</a:t>
            </a:r>
          </a:p>
          <a:p>
            <a:r>
              <a:t>- 30 network playbooks: Device configuration, backup, compliance validation</a:t>
            </a:r>
          </a:p>
          <a:p>
            <a:r>
              <a:t>- 20 cloud/compliance playbooks: Security hardening, audit reporting</a:t>
            </a:r>
          </a:p>
          <a:p/>
          <a:p>
            <a:r>
              <a:t>*Managed Nodes: 600*</a:t>
            </a:r>
          </a:p>
          <a:p>
            <a:r>
              <a:t>- 500 servers (Linux RHEL/Ubuntu + Windows Server)</a:t>
            </a:r>
          </a:p>
          <a:p>
            <a:r>
              <a:t>- 100 network devices (Cisco, Juniper, Arista)</a:t>
            </a:r>
          </a:p>
          <a:p>
            <a:r>
              <a:t>- All nodes in dynamic inventory with auto-discovery</a:t>
            </a:r>
          </a:p>
          <a:p/>
          <a:p>
            <a:r>
              <a:t>*Jobs Per Month: 10,000+*</a:t>
            </a:r>
          </a:p>
          <a:p>
            <a:r>
              <a:t>- Automated scheduled jobs running continuously</a:t>
            </a:r>
          </a:p>
          <a:p>
            <a:r>
              <a:t>- Event-driven jobs triggered by monitoring alerts</a:t>
            </a:r>
          </a:p>
          <a:p>
            <a:r>
              <a:t>- Self-service jobs submitted by operations teams</a:t>
            </a:r>
          </a:p>
          <a:p/>
          <a:p>
            <a:r>
              <a:t>*Self-Service Adoption: 78%*</a:t>
            </a:r>
          </a:p>
          <a:p>
            <a:r>
              <a:t>- 78% of routine automation via self-service portal</a:t>
            </a:r>
          </a:p>
          <a:p>
            <a:r>
              <a:t>- Operations teams independently running approved playbooks</a:t>
            </a:r>
          </a:p>
          <a:p>
            <a:r>
              <a:t>- Reduced ticket queue for routine infrastructure requests</a:t>
            </a:r>
          </a:p>
          <a:p/>
          <a:p>
            <a:r>
              <a:t>*Configuration Drift: Zero*</a:t>
            </a:r>
          </a:p>
          <a:p>
            <a:r>
              <a:t>- Continuous compliance checking active</a:t>
            </a:r>
          </a:p>
          <a:p>
            <a:r>
              <a:t>- Drift violations auto-remediated</a:t>
            </a:r>
          </a:p>
          <a:p>
            <a:r>
              <a:t>- SOW target: Zero drift violations - achieved</a:t>
            </a:r>
          </a:p>
          <a:p/>
          <a:p>
            <a:r>
              <a:t>**Testing Summary:**</a:t>
            </a:r>
          </a:p>
          <a:p>
            <a:r>
              <a:t>- Test Cases Executed: 38 total</a:t>
            </a:r>
          </a:p>
          <a:p>
            <a:r>
              <a:t>- Pass Rate: 100%</a:t>
            </a:r>
          </a:p>
          <a:p>
            <a:r>
              <a:t>- Critical Defects at Go-Live: 0</a:t>
            </a:r>
          </a:p>
          <a:p>
            <a:r>
              <a:t>- Defects Found During Hypercare: 2 (all P3, resolved)</a:t>
            </a:r>
          </a:p>
          <a:p/>
          <a:p>
            <a:r>
              <a:t>*Transition:*</a:t>
            </a:r>
          </a:p>
          <a:p>
            <a:r>
              <a:t>"These platform improvements translate directly into business value..."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 - Detailed ROI Discussion:*</a:t>
            </a:r>
          </a:p>
          <a:p/>
          <a:p>
            <a:r>
              <a:t>**Manual Effort Reduction - 90%:**</a:t>
            </a:r>
          </a:p>
          <a:p/>
          <a:p>
            <a:r>
              <a:t>*Before (Manual Process):*</a:t>
            </a:r>
          </a:p>
          <a:p>
            <a:r>
              <a:t>- Average server configuration: 4-8 hours</a:t>
            </a:r>
          </a:p>
          <a:p>
            <a:r>
              <a:t>- Steps involved:</a:t>
            </a:r>
          </a:p>
          <a:p>
            <a:r>
              <a:t>  1. Submit infrastructure request (1-2 hours)</a:t>
            </a:r>
          </a:p>
          <a:p>
            <a:r>
              <a:t>  2. Manual SSH/RDP to server</a:t>
            </a:r>
          </a:p>
          <a:p>
            <a:r>
              <a:t>  3. Execute configuration commands</a:t>
            </a:r>
          </a:p>
          <a:p>
            <a:r>
              <a:t>  4. Validate configuration</a:t>
            </a:r>
          </a:p>
          <a:p>
            <a:r>
              <a:t>  5. Document changes</a:t>
            </a:r>
          </a:p>
          <a:p>
            <a:r>
              <a:t>  6. Update CMDB</a:t>
            </a:r>
          </a:p>
          <a:p>
            <a:r>
              <a:t>- Required senior engineer time for each task</a:t>
            </a:r>
          </a:p>
          <a:p/>
          <a:p>
            <a:r>
              <a:t>*After (Ansible Automation):*</a:t>
            </a:r>
          </a:p>
          <a:p>
            <a:r>
              <a:t>- Average playbook execution: 5-15 minutes</a:t>
            </a:r>
          </a:p>
          <a:p>
            <a:r>
              <a:t>- Self-service job submission via portal</a:t>
            </a:r>
          </a:p>
          <a:p>
            <a:r>
              <a:t>- Automated execution and validation</a:t>
            </a:r>
          </a:p>
          <a:p>
            <a:r>
              <a:t>- Auto-documentation and audit trail</a:t>
            </a:r>
          </a:p>
          <a:p>
            <a:r>
              <a:t>- CMDB auto-updated via ServiceNow integration</a:t>
            </a:r>
          </a:p>
          <a:p/>
          <a:p>
            <a:r>
              <a:t>*Business Impact:*</a:t>
            </a:r>
          </a:p>
          <a:p>
            <a:r>
              <a:t>- Same team can manage 5x more infrastructure</a:t>
            </a:r>
          </a:p>
          <a:p>
            <a:r>
              <a:t>- Senior engineers focus on automation development</a:t>
            </a:r>
          </a:p>
          <a:p>
            <a:r>
              <a:t>- Reduced human error from manual tasks</a:t>
            </a:r>
          </a:p>
          <a:p/>
          <a:p>
            <a:r>
              <a:t>**Network Change Speed - 95% Reduction:**</a:t>
            </a:r>
          </a:p>
          <a:p/>
          <a:p>
            <a:r>
              <a:t>*Before:*</a:t>
            </a:r>
          </a:p>
          <a:p>
            <a:r>
              <a:t>- Network configuration changes: 2-day maintenance window</a:t>
            </a:r>
          </a:p>
          <a:p>
            <a:r>
              <a:t>- Change advisory board approval</a:t>
            </a:r>
          </a:p>
          <a:p>
            <a:r>
              <a:t>- Manual device access and configuration</a:t>
            </a:r>
          </a:p>
          <a:p>
            <a:r>
              <a:t>- Testing and validation</a:t>
            </a:r>
          </a:p>
          <a:p/>
          <a:p>
            <a:r>
              <a:t>*After:*</a:t>
            </a:r>
          </a:p>
          <a:p>
            <a:r>
              <a:t>- Automated network changes: 30 minutes average</a:t>
            </a:r>
          </a:p>
          <a:p>
            <a:r>
              <a:t>- Pre-approved playbooks skip CAB for routine changes</a:t>
            </a:r>
          </a:p>
          <a:p>
            <a:r>
              <a:t>- Automated configuration and validation</a:t>
            </a:r>
          </a:p>
          <a:p>
            <a:r>
              <a:t>- Rollback capability if validation fails</a:t>
            </a:r>
          </a:p>
          <a:p/>
          <a:p>
            <a:r>
              <a:t>**Configuration Drift - Zero Violations:**</a:t>
            </a:r>
          </a:p>
          <a:p/>
          <a:p>
            <a:r>
              <a:t>*Before:*</a:t>
            </a:r>
          </a:p>
          <a:p>
            <a:r>
              <a:t>- 30% of support tickets caused by drift</a:t>
            </a:r>
          </a:p>
          <a:p>
            <a:r>
              <a:t>- Manual audits to identify inconsistencies</a:t>
            </a:r>
          </a:p>
          <a:p>
            <a:r>
              <a:t>- Reactive remediation</a:t>
            </a:r>
          </a:p>
          <a:p/>
          <a:p>
            <a:r>
              <a:t>*After:*</a:t>
            </a:r>
          </a:p>
          <a:p>
            <a:r>
              <a:t>- Continuous compliance checking</a:t>
            </a:r>
          </a:p>
          <a:p>
            <a:r>
              <a:t>- Auto-remediation of drift violations</a:t>
            </a:r>
          </a:p>
          <a:p>
            <a:r>
              <a:t>- Proactive infrastructure consistency</a:t>
            </a:r>
          </a:p>
          <a:p/>
          <a:p>
            <a:r>
              <a:t>**ROI Summary:**</a:t>
            </a:r>
          </a:p>
          <a:p/>
          <a:p>
            <a:r>
              <a:t>| Metric | Value |</a:t>
            </a:r>
          </a:p>
          <a:p>
            <a:r>
              <a:t>|--------|-------|</a:t>
            </a:r>
          </a:p>
          <a:p>
            <a:r>
              <a:t>| Total Investment (Year 1) | $147,172 |</a:t>
            </a:r>
          </a:p>
          <a:p>
            <a:r>
              <a:t>| Year 1 Savings (prorated 6 months) | $200,000 |</a:t>
            </a:r>
          </a:p>
          <a:p>
            <a:r>
              <a:t>| Year 2 Projected Savings | $400,000 |</a:t>
            </a:r>
          </a:p>
          <a:p>
            <a:r>
              <a:t>| Year 3 Projected Savings | $400,000 |</a:t>
            </a:r>
          </a:p>
          <a:p>
            <a:r>
              <a:t>| 3-Year TCO | $465,516 |</a:t>
            </a:r>
          </a:p>
          <a:p>
            <a:r>
              <a:t>| 3-Year Savings | $1,000,000 |</a:t>
            </a:r>
          </a:p>
          <a:p>
            <a:r>
              <a:t>| Payback Period | 12 months |</a:t>
            </a:r>
          </a:p>
          <a:p/>
          <a:p>
            <a:r>
              <a:t>*Transition:*</a:t>
            </a:r>
          </a:p>
          <a:p>
            <a:r>
              <a:t>"We learned valuable lessons during this implementation..."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- Comprehensive Review:*</a:t>
            </a:r>
          </a:p>
          <a:p/>
          <a:p>
            <a:r>
              <a:t>**What Worked Well - Details:**</a:t>
            </a:r>
          </a:p>
          <a:p/>
          <a:p>
            <a:r>
              <a:t>*1. Phased Automation Rollout:*</a:t>
            </a:r>
          </a:p>
          <a:p>
            <a:r>
              <a:t>- Started with read-only automation (discovery, reporting)</a:t>
            </a:r>
          </a:p>
          <a:p>
            <a:r>
              <a:t>- Validated platform before production changes</a:t>
            </a:r>
          </a:p>
          <a:p>
            <a:r>
              <a:t>- Built stakeholder confidence incrementally</a:t>
            </a:r>
          </a:p>
          <a:p>
            <a:r>
              <a:t>- Reduced risk of automation failures</a:t>
            </a:r>
          </a:p>
          <a:p/>
          <a:p>
            <a:r>
              <a:t>*2. Pilot-First Playbook Validation:*</a:t>
            </a:r>
          </a:p>
          <a:p>
            <a:r>
              <a:t>- Tested all playbooks on non-production systems</a:t>
            </a:r>
          </a:p>
          <a:p>
            <a:r>
              <a:t>- Identified edge cases before production</a:t>
            </a:r>
          </a:p>
          <a:p>
            <a:r>
              <a:t>- Operations teams provided feedback</a:t>
            </a:r>
          </a:p>
          <a:p>
            <a:r>
              <a:t>- Improved playbook quality</a:t>
            </a:r>
          </a:p>
          <a:p/>
          <a:p>
            <a:r>
              <a:t>*3. ServiceNow Integration Design:*</a:t>
            </a:r>
          </a:p>
          <a:p>
            <a:r>
              <a:t>- Ticket-driven automation from day one</a:t>
            </a:r>
          </a:p>
          <a:p>
            <a:r>
              <a:t>- Auto-status updates to tickets</a:t>
            </a:r>
          </a:p>
          <a:p>
            <a:r>
              <a:t>- Change records created automatically</a:t>
            </a:r>
          </a:p>
          <a:p>
            <a:r>
              <a:t>- Audit trail for compliance</a:t>
            </a:r>
          </a:p>
          <a:p/>
          <a:p>
            <a:r>
              <a:t>*4. Operations Team Involvement:*</a:t>
            </a:r>
          </a:p>
          <a:p>
            <a:r>
              <a:t>- Operations teams participated in playbook design</a:t>
            </a:r>
          </a:p>
          <a:p>
            <a:r>
              <a:t>- Early adopters became internal champions</a:t>
            </a:r>
          </a:p>
          <a:p>
            <a:r>
              <a:t>- Self-service adoption accelerated</a:t>
            </a:r>
          </a:p>
          <a:p>
            <a:r>
              <a:t>- Reduced support burden</a:t>
            </a:r>
          </a:p>
          <a:p/>
          <a:p>
            <a:r>
              <a:t>**Challenges Overcome - Details:**</a:t>
            </a:r>
          </a:p>
          <a:p/>
          <a:p>
            <a:r>
              <a:t>*1. Credential Vault Integration:*</a:t>
            </a:r>
          </a:p>
          <a:p>
            <a:r>
              <a:t>- Challenge: Complex HashiCorp Vault token rotation</a:t>
            </a:r>
          </a:p>
          <a:p>
            <a:r>
              <a:t>- Resolution: Ansible Tower credential plugin configured</a:t>
            </a:r>
          </a:p>
          <a:p>
            <a:r>
              <a:t>- Result: Seamless credential retrieval for all jobs</a:t>
            </a:r>
          </a:p>
          <a:p/>
          <a:p>
            <a:r>
              <a:t>*2. Network Device Diversity:*</a:t>
            </a:r>
          </a:p>
          <a:p>
            <a:r>
              <a:t>- Challenge: Multiple vendors (Cisco, Juniper, Arista)</a:t>
            </a:r>
          </a:p>
          <a:p>
            <a:r>
              <a:t>- Resolution: Separate playbooks per vendor with common interface</a:t>
            </a:r>
          </a:p>
          <a:p>
            <a:r>
              <a:t>- Result: Consistent automation across network estate</a:t>
            </a:r>
          </a:p>
          <a:p/>
          <a:p>
            <a:r>
              <a:t>*3. Legacy System Compatibility:*</a:t>
            </a:r>
          </a:p>
          <a:p>
            <a:r>
              <a:t>- Challenge: Some Windows servers on older PowerShell</a:t>
            </a:r>
          </a:p>
          <a:p>
            <a:r>
              <a:t>- Resolution: WinRM configuration and PowerShell upgrades</a:t>
            </a:r>
          </a:p>
          <a:p>
            <a:r>
              <a:t>- Result: All Windows servers automated</a:t>
            </a:r>
          </a:p>
          <a:p/>
          <a:p>
            <a:r>
              <a:t>**Recommendations for Future Enhancement:**</a:t>
            </a:r>
          </a:p>
          <a:p/>
          <a:p>
            <a:r>
              <a:t>*1. Expand Automation Use Cases:*</a:t>
            </a:r>
          </a:p>
          <a:p>
            <a:r>
              <a:t>- Database automation (Oracle, SQL Server)</a:t>
            </a:r>
          </a:p>
          <a:p>
            <a:r>
              <a:t>- Application deployment automation</a:t>
            </a:r>
          </a:p>
          <a:p>
            <a:r>
              <a:t>- Cloud resource provisioning (AWS, Azure)</a:t>
            </a:r>
          </a:p>
          <a:p>
            <a:r>
              <a:t>- Container orchestration integration</a:t>
            </a:r>
          </a:p>
          <a:p/>
          <a:p>
            <a:r>
              <a:t>*2. Implement Event-Driven Ansible:*</a:t>
            </a:r>
          </a:p>
          <a:p>
            <a:r>
              <a:t>- Monitoring webhook integration</a:t>
            </a:r>
          </a:p>
          <a:p>
            <a:r>
              <a:t>- Auto-remediation for common alerts</a:t>
            </a:r>
          </a:p>
          <a:p>
            <a:r>
              <a:t>- Reduced mean time to recovery</a:t>
            </a:r>
          </a:p>
          <a:p/>
          <a:p>
            <a:r>
              <a:t>*3. Add AIOps Integration:*</a:t>
            </a:r>
          </a:p>
          <a:p>
            <a:r>
              <a:t>- Machine learning for automation insights</a:t>
            </a:r>
          </a:p>
          <a:p>
            <a:r>
              <a:t>- Predictive automation recommendations</a:t>
            </a:r>
          </a:p>
          <a:p>
            <a:r>
              <a:t>- Anomaly detection and auto-response</a:t>
            </a:r>
          </a:p>
          <a:p/>
          <a:p>
            <a:r>
              <a:t>*4. Establish Automation Center of Excellence:*</a:t>
            </a:r>
          </a:p>
          <a:p>
            <a:r>
              <a:t>- Standards and governance</a:t>
            </a:r>
          </a:p>
          <a:p>
            <a:r>
              <a:t>- Best practices documentation</a:t>
            </a:r>
          </a:p>
          <a:p>
            <a:r>
              <a:t>- Mentorship program</a:t>
            </a:r>
          </a:p>
          <a:p>
            <a:r>
              <a:t>- Innovation lab</a:t>
            </a:r>
          </a:p>
          <a:p/>
          <a:p>
            <a:r>
              <a:t>*Transition:*</a:t>
            </a:r>
          </a:p>
          <a:p>
            <a:r>
              <a:t>"Let me walk you through how we're transitioning support..."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- Complete Details:*</a:t>
            </a:r>
          </a:p>
          <a:p/>
          <a:p>
            <a:r>
              <a:t>**Hypercare Period Summary (30 Days Post-Go-Live):**</a:t>
            </a:r>
          </a:p>
          <a:p/>
          <a:p>
            <a:r>
              <a:t>*Daily Activities Completed:*</a:t>
            </a:r>
          </a:p>
          <a:p>
            <a:r>
              <a:t>- Morning health check calls (9am) - first 2 weeks</a:t>
            </a:r>
          </a:p>
          <a:p>
            <a:r>
              <a:t>- Controller and execution node monitoring</a:t>
            </a:r>
          </a:p>
          <a:p>
            <a:r>
              <a:t>- Job success rate tracking</a:t>
            </a:r>
          </a:p>
          <a:p>
            <a:r>
              <a:t>- ServiceNow integration validation</a:t>
            </a:r>
          </a:p>
          <a:p>
            <a:r>
              <a:t>- Operations support queue review</a:t>
            </a:r>
          </a:p>
          <a:p/>
          <a:p>
            <a:r>
              <a:t>*Issues Resolved During Hypercare:*</a:t>
            </a:r>
          </a:p>
          <a:p/>
          <a:p>
            <a:r>
              <a:t>Issue #1 (P3) - Day 7:</a:t>
            </a:r>
          </a:p>
          <a:p>
            <a:r>
              <a:t>- Problem: Vault credential refresh timing</a:t>
            </a:r>
          </a:p>
          <a:p>
            <a:r>
              <a:t>- Root cause: Token TTL configuration</a:t>
            </a:r>
          </a:p>
          <a:p>
            <a:r>
              <a:t>- Resolution: Adjusted token renewal settings</a:t>
            </a:r>
          </a:p>
          <a:p>
            <a:r>
              <a:t>- Prevention: Added token monitoring</a:t>
            </a:r>
          </a:p>
          <a:p/>
          <a:p>
            <a:r>
              <a:t>Issue #2 (P3) - Day 15:</a:t>
            </a:r>
          </a:p>
          <a:p>
            <a:r>
              <a:t>- Problem: Slow network device playbook execution</a:t>
            </a:r>
          </a:p>
          <a:p>
            <a:r>
              <a:t>- Root cause: Sequential device access</a:t>
            </a:r>
          </a:p>
          <a:p>
            <a:r>
              <a:t>- Resolution: Enabled parallel execution</a:t>
            </a:r>
          </a:p>
          <a:p>
            <a:r>
              <a:t>- Impact: 3x performance improvement</a:t>
            </a:r>
          </a:p>
          <a:p/>
          <a:p>
            <a:r>
              <a:t>*Knowledge Transfer Sessions Delivered:*</a:t>
            </a:r>
          </a:p>
          <a:p/>
          <a:p>
            <a:r>
              <a:t>| Session | Date | Attendees | Duration | Recording |</a:t>
            </a:r>
          </a:p>
          <a:p>
            <a:r>
              <a:t>|---------|------|-----------|----------|-----------|</a:t>
            </a:r>
          </a:p>
          <a:p>
            <a:r>
              <a:t>| Platform Admin Deep Dive | Week 21 | 4 ops staff | 3 hours | Yes |</a:t>
            </a:r>
          </a:p>
          <a:p>
            <a:r>
              <a:t>| Playbook Development | Week 22 | 8 developers | 4 hours | Yes |</a:t>
            </a:r>
          </a:p>
          <a:p>
            <a:r>
              <a:t>| Troubleshooting Workshop | Week 22 | 4 ops staff | 2 hours | Yes |</a:t>
            </a:r>
          </a:p>
          <a:p>
            <a:r>
              <a:t>| ServiceNow Integration | Week 23 | 3 ops staff | 1.5 hours | Yes |</a:t>
            </a:r>
          </a:p>
          <a:p>
            <a:r>
              <a:t>| Executive Dashboard | Week 23 | 3 managers | 30 min | Yes |</a:t>
            </a:r>
          </a:p>
          <a:p/>
          <a:p>
            <a:r>
              <a:t>**Steady State Support Model:**</a:t>
            </a:r>
          </a:p>
          <a:p/>
          <a:p>
            <a:r>
              <a:t>*What Client Team Handles (L1/L2):*</a:t>
            </a:r>
          </a:p>
          <a:p>
            <a:r>
              <a:t>- Daily job monitoring via dashboards</a:t>
            </a:r>
          </a:p>
          <a:p>
            <a:r>
              <a:t>- Playbook execution troubleshooting</a:t>
            </a:r>
          </a:p>
          <a:p>
            <a:r>
              <a:t>- Self-service job support</a:t>
            </a:r>
          </a:p>
          <a:p>
            <a:r>
              <a:t>- Basic platform troubleshooting</a:t>
            </a:r>
          </a:p>
          <a:p>
            <a:r>
              <a:t>- User access management</a:t>
            </a:r>
          </a:p>
          <a:p/>
          <a:p>
            <a:r>
              <a:t>*When to Escalate to Red Hat (L3):*</a:t>
            </a:r>
          </a:p>
          <a:p>
            <a:r>
              <a:t>- Controller stability issues</a:t>
            </a:r>
          </a:p>
          <a:p>
            <a:r>
              <a:t>- Database performance problems</a:t>
            </a:r>
          </a:p>
          <a:p>
            <a:r>
              <a:t>- Execution node failures</a:t>
            </a:r>
          </a:p>
          <a:p>
            <a:r>
              <a:t>- Platform upgrade issues</a:t>
            </a:r>
          </a:p>
          <a:p>
            <a:r>
              <a:t>- Complex networking issues</a:t>
            </a:r>
          </a:p>
          <a:p/>
          <a:p>
            <a:r>
              <a:t>**Red Hat Support Entitlement:**</a:t>
            </a:r>
          </a:p>
          <a:p>
            <a:r>
              <a:t>- Premium support included with AAP subscription</a:t>
            </a:r>
          </a:p>
          <a:p>
            <a:r>
              <a:t>- 4-hour response SLA for Severity 1 issues</a:t>
            </a:r>
          </a:p>
          <a:p>
            <a:r>
              <a:t>- 8-hour response SLA for Severity 2 issues</a:t>
            </a:r>
          </a:p>
          <a:p>
            <a:r>
              <a:t>- Access to Red Hat Customer Portal</a:t>
            </a:r>
          </a:p>
          <a:p/>
          <a:p>
            <a:r>
              <a:t>*Transition:*</a:t>
            </a:r>
          </a:p>
          <a:p>
            <a:r>
              <a:t>"Let me acknowledge the team and outline next steps..."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 - Recognize Key Contributors:*</a:t>
            </a:r>
          </a:p>
          <a:p/>
          <a:p>
            <a:r>
              <a:t>**Client Team Recognition:**</a:t>
            </a:r>
          </a:p>
          <a:p/>
          <a:p>
            <a:r>
              <a:t>*Executive Sponsor:*</a:t>
            </a:r>
          </a:p>
          <a:p>
            <a:r>
              <a:t>- Championed automation initiative</a:t>
            </a:r>
          </a:p>
          <a:p>
            <a:r>
              <a:t>- Secured budget and organizational support</a:t>
            </a:r>
          </a:p>
          <a:p>
            <a:r>
              <a:t>- Removed blockers when escalated</a:t>
            </a:r>
          </a:p>
          <a:p/>
          <a:p>
            <a:r>
              <a:t>*Operations Lead:*</a:t>
            </a:r>
          </a:p>
          <a:p>
            <a:r>
              <a:t>- Primary technical counterpart</a:t>
            </a:r>
          </a:p>
          <a:p>
            <a:r>
              <a:t>- Automation requirements definition</a:t>
            </a:r>
          </a:p>
          <a:p>
            <a:r>
              <a:t>- Knowledge transfer recipient</a:t>
            </a:r>
          </a:p>
          <a:p/>
          <a:p>
            <a:r>
              <a:t>*Network Team:*</a:t>
            </a:r>
          </a:p>
          <a:p>
            <a:r>
              <a:t>- Network device access coordination</a:t>
            </a:r>
          </a:p>
          <a:p>
            <a:r>
              <a:t>- Playbook validation and testing</a:t>
            </a:r>
          </a:p>
          <a:p>
            <a:r>
              <a:t>- Network automation champion</a:t>
            </a:r>
          </a:p>
          <a:p/>
          <a:p>
            <a:r>
              <a:t>**Vendor Team Recognition:**</a:t>
            </a:r>
          </a:p>
          <a:p/>
          <a:p>
            <a:r>
              <a:t>*Project Manager:*</a:t>
            </a:r>
          </a:p>
          <a:p>
            <a:r>
              <a:t>- Overall delivery accountability</a:t>
            </a:r>
          </a:p>
          <a:p>
            <a:r>
              <a:t>- On-time, on-budget delivery</a:t>
            </a:r>
          </a:p>
          <a:p/>
          <a:p>
            <a:r>
              <a:t>*Automation Architect:*</a:t>
            </a:r>
          </a:p>
          <a:p>
            <a:r>
              <a:t>- Platform architecture design</a:t>
            </a:r>
          </a:p>
          <a:p>
            <a:r>
              <a:t>- Playbook standards and patterns</a:t>
            </a:r>
          </a:p>
          <a:p/>
          <a:p>
            <a:r>
              <a:t>*Automation Engineers:*</a:t>
            </a:r>
          </a:p>
          <a:p>
            <a:r>
              <a:t>- Platform deployment</a:t>
            </a:r>
          </a:p>
          <a:p>
            <a:r>
              <a:t>- 100 playbook development</a:t>
            </a:r>
          </a:p>
          <a:p>
            <a:r>
              <a:t>- Integration implementation</a:t>
            </a:r>
          </a:p>
          <a:p/>
          <a:p>
            <a:r>
              <a:t>**Immediate Next Steps:**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Final documentation handover | PM | [Date] |</a:t>
            </a:r>
          </a:p>
          <a:p>
            <a:r>
              <a:t>| Archive project SharePoint | PM | [Date] |</a:t>
            </a:r>
          </a:p>
          <a:p>
            <a:r>
              <a:t>| Close project tracking | PM | [Date] |</a:t>
            </a:r>
          </a:p>
          <a:p>
            <a:r>
              <a:t>| Update asset inventory | IT Lead | [Date] |</a:t>
            </a:r>
          </a:p>
          <a:p/>
          <a:p>
            <a:r>
              <a:t>**30-Day Next Steps:**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First monthly performance review | Ops Lead | [Date+30] |</a:t>
            </a:r>
          </a:p>
          <a:p>
            <a:r>
              <a:t>| Automation utilization analysis | Platform Team | [Date+30] |</a:t>
            </a:r>
          </a:p>
          <a:p>
            <a:r>
              <a:t>| Identify Phase 2 use cases | Business Lead | [Date+30] |</a:t>
            </a:r>
          </a:p>
          <a:p/>
          <a:p>
            <a:r>
              <a:t>**Phase 2 Opportunities:**</a:t>
            </a:r>
          </a:p>
          <a:p>
            <a:r>
              <a:t>- Database automation (Oracle, SQL Server, PostgreSQL)</a:t>
            </a:r>
          </a:p>
          <a:p>
            <a:r>
              <a:t>- Application deployment automation</a:t>
            </a:r>
          </a:p>
          <a:p>
            <a:r>
              <a:t>- Cloud resource provisioning</a:t>
            </a:r>
          </a:p>
          <a:p>
            <a:r>
              <a:t>- Container/Kubernetes integration</a:t>
            </a:r>
          </a:p>
          <a:p>
            <a:r>
              <a:t>- Security automation expansion</a:t>
            </a:r>
          </a:p>
          <a:p/>
          <a:p>
            <a:r>
              <a:t>*Transition:*</a:t>
            </a:r>
          </a:p>
          <a:p>
            <a:r>
              <a:t>"Thank you for your partnership. Let me open for questions..."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 and Q&amp;A Preparation:*</a:t>
            </a:r>
          </a:p>
          <a:p/>
          <a:p>
            <a:r>
              <a:t>**Closing Statement:**</a:t>
            </a:r>
          </a:p>
          <a:p>
            <a:r>
              <a:t>"Thank you for your partnership throughout this project. We've successfully transformed your IT operations from manual, time-consuming processes into automated, consistent workflows. The platform is performing above targets, your team is trained and ready, and you're already seeing measurable business value.</a:t>
            </a:r>
          </a:p>
          <a:p/>
          <a:p>
            <a:r>
              <a:t>I want to open the floor for questions."</a:t>
            </a:r>
          </a:p>
          <a:p/>
          <a:p>
            <a:r>
              <a:t>**Anticipated Questions and Prepared Answers:**</a:t>
            </a:r>
          </a:p>
          <a:p/>
          <a:p>
            <a:r>
              <a:t>*Q: What happens if the platform has issues?*</a:t>
            </a:r>
          </a:p>
          <a:p>
            <a:r>
              <a:t>A: The operations team is trained on troubleshooting. For complex issues, Red Hat Premium support provides 4-hour response SLA.</a:t>
            </a:r>
          </a:p>
          <a:p/>
          <a:p>
            <a:r>
              <a:t>*Q: Can we add more automation ourselves?*</a:t>
            </a:r>
          </a:p>
          <a:p>
            <a:r>
              <a:t>A: Yes! The developer training enables your team to create new playbooks. Follow the playbook catalog patterns for consistency.</a:t>
            </a:r>
          </a:p>
          <a:p/>
          <a:p>
            <a:r>
              <a:t>*Q: What are the ongoing costs?*</a:t>
            </a:r>
          </a:p>
          <a:p>
            <a:r>
              <a:t>A: Year 2 and Year 3 costs are approximately $159,172/year:</a:t>
            </a:r>
          </a:p>
          <a:p>
            <a:r>
              <a:t>- Cloud infrastructure: $26,520/year</a:t>
            </a:r>
          </a:p>
          <a:p>
            <a:r>
              <a:t>- Software licenses: $115,000/year</a:t>
            </a:r>
          </a:p>
          <a:p>
            <a:r>
              <a:t>- Support &amp; maintenance: $17,652/year</a:t>
            </a:r>
          </a:p>
          <a:p/>
          <a:p>
            <a:r>
              <a:t>*Q: How do we handle capacity increases?*</a:t>
            </a:r>
          </a:p>
          <a:p>
            <a:r>
              <a:t>A: Add execution nodes for more concurrent jobs. Current capacity supports 100 concurrent executions.</a:t>
            </a:r>
          </a:p>
          <a:p/>
          <a:p>
            <a:r>
              <a:t>*Q: When should we start Phase 2?*</a:t>
            </a:r>
          </a:p>
          <a:p>
            <a:r>
              <a:t>A: Recommend 60-90 days to establish stable patterns, then Phase 2 planning workshop.</a:t>
            </a:r>
          </a:p>
          <a:p/>
          <a:p>
            <a:r>
              <a:t>**Follow-Up Commitments:**</a:t>
            </a:r>
          </a:p>
          <a:p>
            <a:r>
              <a:t>- [ ] Send final presentation deck</a:t>
            </a:r>
          </a:p>
          <a:p>
            <a:r>
              <a:t>- [ ] Schedule 30-day performance review</a:t>
            </a:r>
          </a:p>
          <a:p>
            <a:r>
              <a:t>- [ ] Send Phase 2 use case assessment template</a:t>
            </a:r>
          </a:p>
          <a:p>
            <a:r>
              <a:t>- [ ] Provide Red Hat training voucher information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Red Hat Ansible Automation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27,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6 months (24 weeks), on schedule</a:t>
            </a:r>
          </a:p>
          <a:p>
            <a:pPr/>
            <a:r>
              <a:rPr b="1"/>
              <a:t>Budget:</a:t>
            </a:r>
            <a:r>
              <a:t> $147,172 Year 1 delivered on budget</a:t>
            </a:r>
          </a:p>
          <a:p>
            <a:pPr/>
            <a:r>
              <a:rPr b="1"/>
              <a:t>Go-Live Date:</a:t>
            </a:r>
            <a:r>
              <a:t> Week 20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Manual Effort:</a:t>
            </a:r>
            <a:r>
              <a:t> 90% reduction in configuration tasks</a:t>
            </a:r>
          </a:p>
          <a:p>
            <a:pPr/>
            <a:r>
              <a:rPr b="1"/>
              <a:t>Automation Success:</a:t>
            </a:r>
            <a:r>
              <a:t> 99.5% job execution rate</a:t>
            </a:r>
          </a:p>
          <a:p>
            <a:pPr/>
            <a:r>
              <a:rPr b="1"/>
              <a:t>ROI Status:</a:t>
            </a:r>
            <a:r>
              <a:t> 12-month payback on track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Red Hat Ansible Automation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Automation Controller</a:t>
            </a:r>
          </a:p>
          <a:p>
            <a:pPr lvl="1"/>
            <a:r>
              <a:t>HA cluster (2 controller nodes)</a:t>
            </a:r>
          </a:p>
          <a:p>
            <a:pPr lvl="1"/>
            <a:r>
              <a:t>PostgreSQL database (managed HA)</a:t>
            </a:r>
          </a:p>
          <a:p>
            <a:pPr lvl="1"/>
            <a:r>
              <a:t>Web UI, API, and CLI access</a:t>
            </a:r>
          </a:p>
          <a:p>
            <a:pPr/>
            <a:r>
              <a:rPr b="1"/>
              <a:t>Execution Infrastructure</a:t>
            </a:r>
          </a:p>
          <a:p>
            <a:pPr lvl="1"/>
            <a:r>
              <a:t>4 execution nodes for scale</a:t>
            </a:r>
          </a:p>
          <a:p>
            <a:pPr lvl="1"/>
            <a:r>
              <a:t>100 concurrent job capacity</a:t>
            </a:r>
          </a:p>
          <a:p>
            <a:pPr lvl="1"/>
            <a:r>
              <a:t>Distributed job processing</a:t>
            </a:r>
          </a:p>
          <a:p>
            <a:pPr/>
            <a:r>
              <a:rPr b="1"/>
              <a:t>Content &amp; Integration</a:t>
            </a:r>
          </a:p>
          <a:p>
            <a:pPr lvl="1"/>
            <a:r>
              <a:t>Private Automation Hub deployed</a:t>
            </a:r>
          </a:p>
          <a:p>
            <a:pPr lvl="1"/>
            <a:r>
              <a:t>ServiceNow integration active</a:t>
            </a:r>
          </a:p>
          <a:p>
            <a:pPr lvl="1"/>
            <a:r>
              <a:t>HashiCorp Vault for credentials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Red Hat Ansible Automation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Platform architecture, security, integration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with IaC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RACI, communications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 cases, validation results, UAT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Automation Playbooks (100)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Server, network, compliance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`/delivery/playbooks/`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Playbook Catalog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Usage documentation and dependencies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`/delivery/docs/playbook-catalog.md`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Day-to-day procedures and troubleshooting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`/delivery/docs/runbook.md`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and developer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Red Hat Ansible Automation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Platform Metrics</a:t>
            </a:r>
          </a:p>
          <a:p>
            <a:pPr lvl="1"/>
            <a:r>
              <a:t>Controller Uptime: 99.7% (target: 99.5%)</a:t>
            </a:r>
          </a:p>
          <a:p>
            <a:pPr lvl="1"/>
            <a:r>
              <a:t>Job Success Rate: 99.5% achieved</a:t>
            </a:r>
          </a:p>
          <a:p>
            <a:pPr lvl="1"/>
            <a:r>
              <a:t>Concurrent Jobs: 100 capacity validated</a:t>
            </a:r>
          </a:p>
          <a:p>
            <a:pPr lvl="1"/>
            <a:r>
              <a:t>Job Queue Time: &lt; 30 seconds average</a:t>
            </a:r>
          </a:p>
          <a:p>
            <a:pPr lvl="1"/>
            <a:r>
              <a:t>Execution Time: 5 min avg per playbook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Automation Metrics</a:t>
            </a:r>
          </a:p>
          <a:p>
            <a:pPr lvl="1"/>
            <a:r>
              <a:t>Playbooks Delivered: 100 as scoped</a:t>
            </a:r>
          </a:p>
          <a:p>
            <a:pPr lvl="1"/>
            <a:r>
              <a:t>Managed Nodes: 600 (500 servers + 100 network)</a:t>
            </a:r>
          </a:p>
          <a:p>
            <a:pPr lvl="1"/>
            <a:r>
              <a:t>Jobs Per Month: 10,000+ executions</a:t>
            </a:r>
          </a:p>
          <a:p>
            <a:pPr lvl="1"/>
            <a:r>
              <a:t>Self-Service Adoption: 78%</a:t>
            </a:r>
          </a:p>
          <a:p>
            <a:pPr lvl="1"/>
            <a:r>
              <a:t>Configuration Drift: Zero violations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Red Hat Ansible Automation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Manual Effort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4-8 hrs to minutes per server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Changes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days to 30 minutes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Configuration Drift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 violations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Consistent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Job Success 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99.5%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Reliable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$400K/year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Labor cost avoidance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Staff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onboarded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Red Hat Ansible Automation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Phased automation rollout approach</a:t>
            </a:r>
          </a:p>
          <a:p>
            <a:pPr lvl="1"/>
            <a:r>
              <a:t>Pilot-first playbook validation</a:t>
            </a:r>
          </a:p>
          <a:p>
            <a:pPr lvl="1"/>
            <a:r>
              <a:t>ServiceNow integration design</a:t>
            </a:r>
          </a:p>
          <a:p>
            <a:pPr lvl="1"/>
            <a:r>
              <a:t>Operations team involvement</a:t>
            </a:r>
          </a:p>
          <a:p>
            <a:pPr lvl="1"/>
            <a:r>
              <a:t>Red Hat support engagement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Credential vault integration</a:t>
            </a:r>
          </a:p>
          <a:p>
            <a:pPr lvl="1"/>
            <a:r>
              <a:t>Network device diversity</a:t>
            </a:r>
          </a:p>
          <a:p>
            <a:pPr lvl="1"/>
            <a:r>
              <a:t>Legacy system compatibility</a:t>
            </a:r>
          </a:p>
          <a:p>
            <a:pPr lvl="1"/>
            <a:r>
              <a:t>Change management adoption</a:t>
            </a:r>
          </a:p>
          <a:p>
            <a:pPr lvl="1"/>
            <a:r>
              <a:t>Playbook standardization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Expand to additional use cases</a:t>
            </a:r>
          </a:p>
          <a:p>
            <a:pPr lvl="1"/>
            <a:r>
              <a:t>Implement Event-Driven Ansible</a:t>
            </a:r>
          </a:p>
          <a:p>
            <a:pPr lvl="1"/>
            <a:r>
              <a:t>Add AIOps integration</a:t>
            </a:r>
          </a:p>
          <a:p>
            <a:pPr lvl="1"/>
            <a:r>
              <a:t>Establish Automation CoE</a:t>
            </a:r>
          </a:p>
          <a:p>
            <a:pPr lvl="1"/>
            <a:r>
              <a:t>Plan quarterly reviews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Red Hat Ansible Automation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(30 days)</a:t>
            </a:r>
          </a:p>
          <a:p>
            <a:pPr lvl="1"/>
            <a:r>
              <a:t>Daily health checks completed</a:t>
            </a:r>
          </a:p>
          <a:p>
            <a:pPr lvl="1"/>
            <a:r>
              <a:t>2 P3 issues resolved</a:t>
            </a:r>
          </a:p>
          <a:p>
            <a:pPr lvl="1"/>
            <a:r>
              <a:t>Knowledge transfer sessions done</a:t>
            </a:r>
          </a:p>
          <a:p>
            <a:pPr lvl="1"/>
            <a:r>
              <a:t>Runbook procedures validated</a:t>
            </a:r>
          </a:p>
          <a:p>
            <a:pPr lvl="1"/>
            <a:r>
              <a:t>Operations team certified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Business hours monitoring active</a:t>
            </a:r>
          </a:p>
          <a:p>
            <a:pPr lvl="1"/>
            <a:r>
              <a:t>Monthly performance reviews</a:t>
            </a:r>
          </a:p>
          <a:p>
            <a:pPr lvl="1"/>
            <a:r>
              <a:t>Quarterly platform updates</a:t>
            </a:r>
          </a:p>
          <a:p>
            <a:pPr lvl="1"/>
            <a:r>
              <a:t>Red Hat support entitlement</a:t>
            </a:r>
          </a:p>
          <a:p>
            <a:pPr lvl="1"/>
            <a:r>
              <a:t>Documentation fully maintained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IT Help Desk</a:t>
            </a:r>
          </a:p>
          <a:p>
            <a:pPr lvl="1"/>
            <a:r>
              <a:t>L2: Automation Operations Team</a:t>
            </a:r>
          </a:p>
          <a:p>
            <a:pPr lvl="1"/>
            <a:r>
              <a:t>L3: Red Hat Support (4-hour SLA)</a:t>
            </a:r>
          </a:p>
          <a:p>
            <a:pPr lvl="1"/>
            <a:r>
              <a:t>Emergency: On-call rotation</a:t>
            </a:r>
          </a:p>
          <a:p>
            <a:pPr lvl="1"/>
            <a:r>
              <a:t>Executive: Account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Red Hat Ansible Automation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IT leadership, operations, network team, security team</a:t>
            </a:r>
          </a:p>
          <a:p>
            <a:pPr/>
            <a:r>
              <a:rPr b="1"/>
              <a:t>Vendor Team:</a:t>
            </a:r>
            <a:r>
              <a:t> Project manager, automation architect, engineers, support</a:t>
            </a:r>
          </a:p>
          <a:p>
            <a:pPr/>
            <a:r>
              <a:rPr b="1"/>
              <a:t>Special Recognition:</a:t>
            </a:r>
            <a:r>
              <a:t> Operations team for dedicated adoption and certification</a:t>
            </a:r>
          </a:p>
          <a:p>
            <a:pPr/>
            <a:r>
              <a:rPr b="1"/>
              <a:t>This Week:</a:t>
            </a:r>
            <a:r>
              <a:t> Final documentation handover, archive project artifacts</a:t>
            </a:r>
          </a:p>
          <a:p>
            <a:pPr/>
            <a:r>
              <a:rPr b="1"/>
              <a:t>Next 30 Days:</a:t>
            </a:r>
            <a:r>
              <a:t> Monthly performance review, identify expansion opportunities</a:t>
            </a:r>
          </a:p>
          <a:p>
            <a:pPr/>
            <a:r>
              <a:rPr b="1"/>
              <a:t>Next Quarter:</a:t>
            </a:r>
            <a:r>
              <a:t> Phase 2 planning for additional automation use cases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Red Hat Ansible Automation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