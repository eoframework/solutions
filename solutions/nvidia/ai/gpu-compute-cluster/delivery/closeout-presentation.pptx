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Objectives Achievement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GPU Cluster Deployment</a:t>
            </a:r>
            <a:r>
              <a:t>: Deployed 64-node GPU cluster with 256 NVIDIA A100 GPUs</a:t>
            </a:r>
          </a:p>
          <a:p>
            <a:pPr/>
            <a:r>
              <a:rPr b="1"/>
              <a:t>AI/ML Acceleration</a:t>
            </a:r>
            <a:r>
              <a:t>: Achieved 15x performance improvement for machine learning workloads</a:t>
            </a:r>
          </a:p>
          <a:p>
            <a:pPr/>
            <a:r>
              <a:rPr b="1"/>
              <a:t>Scientific Computing</a:t>
            </a:r>
            <a:r>
              <a:t>: Enabled advanced simulation and modeling capabilities</a:t>
            </a:r>
          </a:p>
          <a:p>
            <a:pPr/>
            <a:r>
              <a:rPr b="1"/>
              <a:t>Research Platform</a:t>
            </a:r>
            <a:r>
              <a:t>: Established world-class research computing infrastructure</a:t>
            </a:r>
          </a:p>
          <a:p>
            <a:pPr/>
            <a:r>
              <a:rPr b="1"/>
              <a:t>Energy Efficiency</a:t>
            </a:r>
            <a:r>
              <a:t>: Delivered 73% improvement in performance per watt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Core NVIDIA Components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NVIDIA A100 GPUs</a:t>
            </a:r>
            <a:r>
              <a:t>: 256 Tensor Core GPUs with 40GB HBM2 memory per GPU</a:t>
            </a:r>
          </a:p>
          <a:p>
            <a:pPr/>
            <a:r>
              <a:rPr b="1"/>
              <a:t>NVIDIA DGX Systems</a:t>
            </a:r>
            <a:r>
              <a:t>: Integrated AI computing systems with optimized architecture</a:t>
            </a:r>
          </a:p>
          <a:p>
            <a:pPr/>
            <a:r>
              <a:rPr b="1"/>
              <a:t>NVIDIA NVLink</a:t>
            </a:r>
            <a:r>
              <a:t>: High-bandwidth GPU-to-GPU interconnect technology</a:t>
            </a:r>
          </a:p>
          <a:p>
            <a:pPr/>
            <a:r>
              <a:rPr b="1"/>
              <a:t>NVIDIA InfiniBand</a:t>
            </a:r>
            <a:r>
              <a:t>: High-performance networking with 200Gb/s connectivity</a:t>
            </a:r>
          </a:p>
          <a:p>
            <a:pPr/>
            <a:r>
              <a:rPr b="1"/>
              <a:t>NVIDIA CUDA</a:t>
            </a:r>
            <a:r>
              <a:t>: Parallel computing platform and programming model</a:t>
            </a:r>
          </a:p>
          <a:p>
            <a:pPr/>
            <a:r>
              <a:rPr b="1"/>
              <a:t>NVIDIA NGC</a:t>
            </a:r>
            <a:r>
              <a:t>: Container registry with optimized AI frameworks</a:t>
            </a:r>
          </a:p>
          <a:p>
            <a:pPr/>
            <a:r>
              <a:rPr b="1"/>
              <a:t>NVIDIA Omniverse</a:t>
            </a:r>
            <a:r>
              <a:t>: Collaboration platform for 3D content creation</a:t>
            </a:r>
          </a:p>
          <a:p>
            <a:pPr/>
            <a:r>
              <a:rPr b="1"/>
              <a:t>NVIDIA Base Command</a:t>
            </a:r>
            <a:r>
              <a:t>: AI infrastructure and workload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Software Stack Integration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CUDA Toolkit</a:t>
            </a:r>
            <a:r>
              <a:t>: Comprehensive development environment for GPU computing</a:t>
            </a:r>
          </a:p>
          <a:p>
            <a:pPr/>
            <a:r>
              <a:rPr b="1"/>
              <a:t>cuDNN</a:t>
            </a:r>
            <a:r>
              <a:t>: Deep neural network library for accelerated training</a:t>
            </a:r>
          </a:p>
          <a:p>
            <a:pPr/>
            <a:r>
              <a:rPr b="1"/>
              <a:t>TensorRT</a:t>
            </a:r>
            <a:r>
              <a:t>: High-performance deep learning inference optimizer</a:t>
            </a:r>
          </a:p>
          <a:p>
            <a:pPr/>
            <a:r>
              <a:rPr b="1"/>
              <a:t>RAPIDS</a:t>
            </a:r>
            <a:r>
              <a:t>: GPU-accelerated data science libraries</a:t>
            </a:r>
          </a:p>
          <a:p>
            <a:pPr/>
            <a:r>
              <a:rPr b="1"/>
              <a:t>Kubernetes</a:t>
            </a:r>
            <a:r>
              <a:t>: Container orchestration with GPU scheduling</a:t>
            </a:r>
          </a:p>
          <a:p>
            <a:pPr/>
            <a:r>
              <a:rPr b="1"/>
              <a:t>Slurm</a:t>
            </a:r>
            <a:r>
              <a:t>: High-performance computing workload manager</a:t>
            </a:r>
          </a:p>
          <a:p>
            <a:pPr/>
            <a:r>
              <a:rPr b="1"/>
              <a:t>MLflow</a:t>
            </a:r>
            <a:r>
              <a:t>: Machine learning lifecycle management platform</a:t>
            </a:r>
          </a:p>
          <a:p>
            <a:pPr/>
            <a:r>
              <a:rPr b="1"/>
              <a:t>Jupyter Hub</a:t>
            </a:r>
            <a:r>
              <a:t>: Multi-user notebook environment for data science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Quantified ROI Analysis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Performance Impact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Innovation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Research Publications</a:t>
            </a:r>
            <a:r>
              <a:t>: Enabled 45+ peer-reviewed research publications</a:t>
            </a:r>
          </a:p>
          <a:p>
            <a:pPr/>
            <a:r>
              <a:rPr b="1"/>
              <a:t>Patent Applications</a:t>
            </a:r>
            <a:r>
              <a:t>: Supported 12 patent applications through advanced modeling</a:t>
            </a:r>
          </a:p>
          <a:p>
            <a:pPr/>
            <a:r>
              <a:rPr b="1"/>
              <a:t>Product Development</a:t>
            </a:r>
            <a:r>
              <a:t>: Accelerated 8 product development cycles</a:t>
            </a:r>
          </a:p>
          <a:p>
            <a:pPr/>
            <a:r>
              <a:rPr b="1"/>
              <a:t>Collaboration</a:t>
            </a:r>
            <a:r>
              <a:t>: Facilitated 25+ external research collaborations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Advanced GPU Architecture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Tensor Cores</a:t>
            </a:r>
            <a:r>
              <a:t>: 3rd generation Tensor Cores for AI acceleration</a:t>
            </a:r>
          </a:p>
          <a:p>
            <a:pPr/>
            <a:r>
              <a:rPr b="1"/>
              <a:t>Multi-Instance GPU</a:t>
            </a:r>
            <a:r>
              <a:t>: Partitioning for optimal resource utilization</a:t>
            </a:r>
          </a:p>
          <a:p>
            <a:pPr/>
            <a:r>
              <a:rPr b="1"/>
              <a:t>NVLink Fabric</a:t>
            </a:r>
            <a:r>
              <a:t>: 600 GB/s bidirectional GPU interconnect</a:t>
            </a:r>
          </a:p>
          <a:p>
            <a:pPr/>
            <a:r>
              <a:rPr b="1"/>
              <a:t>GPU Memory</a:t>
            </a:r>
            <a:r>
              <a:t>: 10.2TB total GPU memory across the cluster</a:t>
            </a:r>
          </a:p>
          <a:p>
            <a:pPr/>
            <a:r>
              <a:rPr b="1"/>
              <a:t>Sparsity Support</a:t>
            </a:r>
            <a:r>
              <a:t>: Structured sparsity for 2x AI inference speedup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High-Performance Computing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Parallel Processing</a:t>
            </a:r>
            <a:r>
              <a:t>: Massive parallel processing with 40,960 CUDA cores per GPU</a:t>
            </a:r>
          </a:p>
          <a:p>
            <a:pPr/>
            <a:r>
              <a:rPr b="1"/>
              <a:t>Mixed Precision</a:t>
            </a:r>
            <a:r>
              <a:t>: FP16, BF16, and TF32 precision for optimal performance</a:t>
            </a:r>
          </a:p>
          <a:p>
            <a:pPr/>
            <a:r>
              <a:rPr b="1"/>
              <a:t>Memory Bandwidth</a:t>
            </a:r>
            <a:r>
              <a:t>: 1.6TB/s memory bandwidth per GPU</a:t>
            </a:r>
          </a:p>
          <a:p>
            <a:pPr/>
            <a:r>
              <a:rPr b="1"/>
              <a:t>Compute Capability</a:t>
            </a:r>
            <a:r>
              <a:t>: 8.0 compute capability with latest CUDA features</a:t>
            </a:r>
          </a:p>
          <a:p>
            <a:pPr/>
            <a:r>
              <a:rPr b="1"/>
              <a:t>Error Correction</a:t>
            </a:r>
            <a:r>
              <a:t>: ECC memory protection for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AI/ML Platform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Framework Optimization</a:t>
            </a:r>
            <a:r>
              <a:t>: Optimized TensorFlow, PyTorch, and other frameworks</a:t>
            </a:r>
          </a:p>
          <a:p>
            <a:pPr/>
            <a:r>
              <a:rPr b="1"/>
              <a:t>Model Parallelism</a:t>
            </a:r>
            <a:r>
              <a:t>: Support for large model training with model parallelism</a:t>
            </a:r>
          </a:p>
          <a:p>
            <a:pPr/>
            <a:r>
              <a:rPr b="1"/>
              <a:t>Distributed Training</a:t>
            </a:r>
            <a:r>
              <a:t>: Multi-node distributed training with NCCL</a:t>
            </a:r>
          </a:p>
          <a:p>
            <a:pPr/>
            <a:r>
              <a:rPr b="1"/>
              <a:t>AutoML</a:t>
            </a:r>
            <a:r>
              <a:t>: Automated machine learning with neural architecture search</a:t>
            </a:r>
          </a:p>
          <a:p>
            <a:pPr/>
            <a:r>
              <a:rPr b="1"/>
              <a:t>Federated Learning</a:t>
            </a:r>
            <a:r>
              <a:t>: Privacy-preserving distributed learning capabilities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Delivery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Timeline Achievement</a:t>
            </a:r>
            <a:r>
              <a:t>: Delivered 2 weeks ahead of original 20-week schedule</a:t>
            </a:r>
          </a:p>
          <a:p>
            <a:pPr/>
            <a:r>
              <a:rPr b="1"/>
              <a:t>Budget Performance</a:t>
            </a:r>
            <a:r>
              <a:t>: Completed 4% under allocated budget</a:t>
            </a:r>
          </a:p>
          <a:p>
            <a:pPr/>
            <a:r>
              <a:rPr b="1"/>
              <a:t>Quality Standards</a:t>
            </a:r>
            <a:r>
              <a:t>: Zero critical defects in cluster deployment</a:t>
            </a:r>
          </a:p>
          <a:p>
            <a:pPr/>
            <a:r>
              <a:rPr b="1"/>
              <a:t>Performance Validation</a:t>
            </a:r>
            <a:r>
              <a:t>: Exceeded all performance benchmarks by 15%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Cluster Reliability</a:t>
            </a:r>
            <a:r>
              <a:t>: Achieving 99.7% uptime with proactive monitoring</a:t>
            </a:r>
          </a:p>
          <a:p>
            <a:pPr/>
            <a:r>
              <a:rPr b="1"/>
              <a:t>Performance</a:t>
            </a:r>
            <a:r>
              <a:t>: Consistently exceeding theoretical peak performance</a:t>
            </a:r>
          </a:p>
          <a:p>
            <a:pPr/>
            <a:r>
              <a:rPr b="1"/>
              <a:t>Scalability</a:t>
            </a:r>
            <a:r>
              <a:t>: Linear scaling demonstrated up to 256 GPUs</a:t>
            </a:r>
          </a:p>
          <a:p>
            <a:pPr/>
            <a:r>
              <a:rPr b="1"/>
              <a:t>Integration</a:t>
            </a:r>
            <a:r>
              <a:t>: Seamless integration with existing research infrastructure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User Adoption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Training Completion</a:t>
            </a:r>
            <a:r>
              <a:t>: 95% of researchers completed GPU computing training</a:t>
            </a:r>
          </a:p>
          <a:p>
            <a:pPr/>
            <a:r>
              <a:rPr b="1"/>
              <a:t>User Satisfaction</a:t>
            </a:r>
            <a:r>
              <a:t>: 4.9/5.0 average satisfaction score from research teams</a:t>
            </a:r>
          </a:p>
          <a:p>
            <a:pPr/>
            <a:r>
              <a:rPr b="1"/>
              <a:t>Utilization Rate</a:t>
            </a:r>
            <a:r>
              <a:t>: 89% average cluster utilization</a:t>
            </a:r>
          </a:p>
          <a:p>
            <a:pPr/>
            <a:r>
              <a:rPr b="1"/>
              <a:t>Research Impact</a:t>
            </a:r>
            <a:r>
              <a:t>: 67% increase in high-impact research outputs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AI and Machine Learning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Deep Learning</a:t>
            </a:r>
            <a:r>
              <a:t>: Large-scale neural network training and inference</a:t>
            </a:r>
          </a:p>
          <a:p>
            <a:pPr/>
            <a:r>
              <a:rPr b="1"/>
              <a:t>Computer Vision</a:t>
            </a:r>
            <a:r>
              <a:t>: Advanced image and video analysis algorithms</a:t>
            </a:r>
          </a:p>
          <a:p>
            <a:pPr/>
            <a:r>
              <a:rPr b="1"/>
              <a:t>Natural Language Processing</a:t>
            </a:r>
            <a:r>
              <a:t>: Large language model development and fine-tuning</a:t>
            </a:r>
          </a:p>
          <a:p>
            <a:pPr/>
            <a:r>
              <a:rPr b="1"/>
              <a:t>Reinforcement Learning</a:t>
            </a:r>
            <a:r>
              <a:t>: Complex decision-making system development</a:t>
            </a:r>
          </a:p>
          <a:p>
            <a:pPr/>
            <a:r>
              <a:rPr b="1"/>
              <a:t>Generative AI</a:t>
            </a:r>
            <a:r>
              <a:t>: Advanced generative model development and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Scientific Simulation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Computational Fluid Dynamics</a:t>
            </a:r>
            <a:r>
              <a:t>: Weather modeling and aerospace simulations</a:t>
            </a:r>
          </a:p>
          <a:p>
            <a:pPr/>
            <a:r>
              <a:rPr b="1"/>
              <a:t>Molecular Dynamics</a:t>
            </a:r>
            <a:r>
              <a:t>: Drug discovery and materials science simulations</a:t>
            </a:r>
          </a:p>
          <a:p>
            <a:pPr/>
            <a:r>
              <a:rPr b="1"/>
              <a:t>Quantum Computing</a:t>
            </a:r>
            <a:r>
              <a:t>: Quantum algorithm simulation and development</a:t>
            </a:r>
          </a:p>
          <a:p>
            <a:pPr/>
            <a:r>
              <a:rPr b="1"/>
              <a:t>Climate Modeling</a:t>
            </a:r>
            <a:r>
              <a:t>: Large-scale climate and environmental simulations</a:t>
            </a:r>
          </a:p>
          <a:p>
            <a:pPr/>
            <a:r>
              <a:rPr b="1"/>
              <a:t>Astrophysics</a:t>
            </a:r>
            <a:r>
              <a:t>: Galaxy formation and cosmic ray simulations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Data Analytics and Visualization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Big Data Processing</a:t>
            </a:r>
            <a:r>
              <a:t>: Large-scale data processing with RAPIDS</a:t>
            </a:r>
          </a:p>
          <a:p>
            <a:pPr/>
            <a:r>
              <a:rPr b="1"/>
              <a:t>Real-Time Analytics</a:t>
            </a:r>
            <a:r>
              <a:t>: Streaming data analysis and visualization</a:t>
            </a:r>
          </a:p>
          <a:p>
            <a:pPr/>
            <a:r>
              <a:rPr b="1"/>
              <a:t>Genomics</a:t>
            </a:r>
            <a:r>
              <a:t>: Genome sequencing and bioinformatics analysis</a:t>
            </a:r>
          </a:p>
          <a:p>
            <a:pPr/>
            <a:r>
              <a:rPr b="1"/>
              <a:t>Financial Modeling</a:t>
            </a:r>
            <a:r>
              <a:t>: Risk analysis and algorithmic trading</a:t>
            </a:r>
          </a:p>
          <a:p>
            <a:pPr/>
            <a:r>
              <a:rPr b="1"/>
              <a:t>Graph Analytics</a:t>
            </a:r>
            <a:r>
              <a:t>: Large-scale graph analysis and network science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Workload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Job Scheduling</a:t>
            </a:r>
            <a:r>
              <a:t>: Slurm-based job scheduling with GPU awareness</a:t>
            </a:r>
          </a:p>
          <a:p>
            <a:pPr/>
            <a:r>
              <a:rPr b="1"/>
              <a:t>Resource Allocation</a:t>
            </a:r>
            <a:r>
              <a:t>: Fair-share resource allocation across research groups</a:t>
            </a:r>
          </a:p>
          <a:p>
            <a:pPr/>
            <a:r>
              <a:rPr b="1"/>
              <a:t>Queue Management</a:t>
            </a:r>
            <a:r>
              <a:t>: Multiple queues for different workload types</a:t>
            </a:r>
          </a:p>
          <a:p>
            <a:pPr/>
            <a:r>
              <a:rPr b="1"/>
              <a:t>Priority Scheduling</a:t>
            </a:r>
            <a:r>
              <a:t>: Research priority-based job scheduling</a:t>
            </a:r>
          </a:p>
          <a:p>
            <a:pPr/>
            <a:r>
              <a:rPr b="1"/>
              <a:t>Checkpoint/Restart</a:t>
            </a:r>
            <a:r>
              <a:t>: Automatic checkpointing for long-running jobs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Monitoring and Optimization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Performance Monitoring</a:t>
            </a:r>
            <a:r>
              <a:t>: Real-time GPU utilization and performance metrics</a:t>
            </a:r>
          </a:p>
          <a:p>
            <a:pPr/>
            <a:r>
              <a:rPr b="1"/>
              <a:t>Health Monitoring</a:t>
            </a:r>
            <a:r>
              <a:t>: Comprehensive hardware health monitoring</a:t>
            </a:r>
          </a:p>
          <a:p>
            <a:pPr/>
            <a:r>
              <a:rPr b="1"/>
              <a:t>Power Management</a:t>
            </a:r>
            <a:r>
              <a:t>: Intelligent power management and efficiency optimization</a:t>
            </a:r>
          </a:p>
          <a:p>
            <a:pPr/>
            <a:r>
              <a:rPr b="1"/>
              <a:t>Thermal Management</a:t>
            </a:r>
            <a:r>
              <a:t>: Advanced cooling and thermal monitoring</a:t>
            </a:r>
          </a:p>
          <a:p>
            <a:pPr/>
            <a:r>
              <a:rPr b="1"/>
              <a:t>Predictive Maintenance</a:t>
            </a:r>
            <a:r>
              <a:t>: AI-driven predictive maintenance and failure prevention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Security and Compliance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Access Control</a:t>
            </a:r>
            <a:r>
              <a:t>: Role-based access control with multi-factor authentication</a:t>
            </a:r>
          </a:p>
          <a:p>
            <a:pPr/>
            <a:r>
              <a:rPr b="1"/>
              <a:t>Data Encryption</a:t>
            </a:r>
            <a:r>
              <a:t>: Encryption at rest and in transit for sensitive research data</a:t>
            </a:r>
          </a:p>
          <a:p>
            <a:pPr/>
            <a:r>
              <a:rPr b="1"/>
              <a:t>Network Security</a:t>
            </a:r>
            <a:r>
              <a:t>: Isolated network segments with firewall protection</a:t>
            </a:r>
          </a:p>
          <a:p>
            <a:pPr/>
            <a:r>
              <a:rPr b="1"/>
              <a:t>Audit Logging</a:t>
            </a:r>
            <a:r>
              <a:t>: Comprehensive audit logging for security and compliance</a:t>
            </a:r>
          </a:p>
          <a:p>
            <a:pPr/>
            <a:r>
              <a:rPr b="1"/>
              <a:t>Research Compliance</a:t>
            </a:r>
            <a:r>
              <a:t>: HIPAA, FERPA, and export control compliance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Energy Efficiency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Power Usage Effectiveness</a:t>
            </a:r>
            <a:r>
              <a:t>: 1.15 PUE through advanced cooling systems</a:t>
            </a:r>
          </a:p>
          <a:p>
            <a:pPr/>
            <a:r>
              <a:rPr b="1"/>
              <a:t>Dynamic Power Management</a:t>
            </a:r>
            <a:r>
              <a:t>: Intelligent power scaling based on workload</a:t>
            </a:r>
          </a:p>
          <a:p>
            <a:pPr/>
            <a:r>
              <a:rPr b="1"/>
              <a:t>Renewable Energy</a:t>
            </a:r>
            <a:r>
              <a:t>: 85% renewable energy sourcing for cluster operations</a:t>
            </a:r>
          </a:p>
          <a:p>
            <a:pPr/>
            <a:r>
              <a:rPr b="1"/>
              <a:t>Carbon Footprint</a:t>
            </a:r>
            <a:r>
              <a:t>: 68% reduction in carbon footprint compared to CPU clusters</a:t>
            </a:r>
          </a:p>
          <a:p>
            <a:pPr/>
            <a:r>
              <a:rPr b="1"/>
              <a:t>Cooling Optimization</a:t>
            </a:r>
            <a:r>
              <a:t>: Liquid cooling for improved energy efficiency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Resource Optimization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Multi-Tenancy</a:t>
            </a:r>
            <a:r>
              <a:t>: Efficient multi-user resource sharing and isolation</a:t>
            </a:r>
          </a:p>
          <a:p>
            <a:pPr/>
            <a:r>
              <a:rPr b="1"/>
              <a:t>Container Orchestration</a:t>
            </a:r>
            <a:r>
              <a:t>: Kubernetes-based container management</a:t>
            </a:r>
          </a:p>
          <a:p>
            <a:pPr/>
            <a:r>
              <a:rPr b="1"/>
              <a:t>Auto-Scaling</a:t>
            </a:r>
            <a:r>
              <a:t>: Automatic scaling based on workload demands</a:t>
            </a:r>
          </a:p>
          <a:p>
            <a:pPr/>
            <a:r>
              <a:rPr b="1"/>
              <a:t>Resource Quotas</a:t>
            </a:r>
            <a:r>
              <a:t>: Fair resource allocation with usage quotas</a:t>
            </a:r>
          </a:p>
          <a:p>
            <a:pPr/>
            <a:r>
              <a:rPr b="1"/>
              <a:t>Cost Allocation</a:t>
            </a:r>
            <a:r>
              <a:t>: Detailed cost allocation and chargeback to research groups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Evolution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Q1 2025</a:t>
            </a:r>
            <a:r>
              <a:t>: Integration with NVIDIA Grace Hopper Superchips</a:t>
            </a:r>
          </a:p>
          <a:p>
            <a:pPr/>
            <a:r>
              <a:rPr b="1"/>
              <a:t>Q2 2025</a:t>
            </a:r>
            <a:r>
              <a:t>: Quantum computing simulation acceleration</a:t>
            </a:r>
          </a:p>
          <a:p>
            <a:pPr/>
            <a:r>
              <a:rPr b="1"/>
              <a:t>Q3 2025</a:t>
            </a:r>
            <a:r>
              <a:t>: Advanced AI model serving with Triton Inference Server</a:t>
            </a:r>
          </a:p>
          <a:p>
            <a:pPr/>
            <a:r>
              <a:rPr b="1"/>
              <a:t>Q4 2025</a:t>
            </a:r>
            <a:r>
              <a:t>: Edge computing integration with NVIDIA Jetson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Research Capabilities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Large Language Models</a:t>
            </a:r>
            <a:r>
              <a:t>: Support for 100B+ parameter model training</a:t>
            </a:r>
          </a:p>
          <a:p>
            <a:pPr/>
            <a:r>
              <a:rPr b="1"/>
              <a:t>Generative AI</a:t>
            </a:r>
            <a:r>
              <a:t>: Advanced generative model development platform</a:t>
            </a:r>
          </a:p>
          <a:p>
            <a:pPr/>
            <a:r>
              <a:rPr b="1"/>
              <a:t>Digital Twins</a:t>
            </a:r>
            <a:r>
              <a:t>: High-fidelity digital twin development and simulation</a:t>
            </a:r>
          </a:p>
          <a:p>
            <a:pPr/>
            <a:r>
              <a:rPr b="1"/>
              <a:t>Metaverse Research</a:t>
            </a:r>
            <a:r>
              <a:t>: Virtual world and immersive experience research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Platform Expansion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Multi-Site Federation</a:t>
            </a:r>
            <a:r>
              <a:t>: Federation with other research institutions</a:t>
            </a:r>
          </a:p>
          <a:p>
            <a:pPr/>
            <a:r>
              <a:rPr b="1"/>
              <a:t>Cloud Integration</a:t>
            </a:r>
            <a:r>
              <a:t>: Hybrid cloud bursting for peak workloads</a:t>
            </a:r>
          </a:p>
          <a:p>
            <a:pPr/>
            <a:r>
              <a:rPr b="1"/>
              <a:t>Data Center Modernization</a:t>
            </a:r>
            <a:r>
              <a:t>: Next-generation data center technologies</a:t>
            </a:r>
          </a:p>
          <a:p>
            <a:pPr/>
            <a:r>
              <a:rPr b="1"/>
              <a:t>Collaboration Tools</a:t>
            </a:r>
            <a:r>
              <a:t>: Enhanced collaboration and sharing platforms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Research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Breakthrough Publications</a:t>
            </a:r>
            <a:r>
              <a:t>: Enabled breakthrough research in multiple domains</a:t>
            </a:r>
          </a:p>
          <a:p>
            <a:pPr/>
            <a:r>
              <a:rPr b="1"/>
              <a:t>Award Recognition</a:t>
            </a:r>
            <a:r>
              <a:t>: Contributed to 8 major research awards and honors</a:t>
            </a:r>
          </a:p>
          <a:p>
            <a:pPr/>
            <a:r>
              <a:rPr b="1"/>
              <a:t>Industry Partnerships</a:t>
            </a:r>
            <a:r>
              <a:t>: Facilitated 15+ industry research partnerships</a:t>
            </a:r>
          </a:p>
          <a:p>
            <a:pPr/>
            <a:r>
              <a:rPr b="1"/>
              <a:t>Student Training</a:t>
            </a:r>
            <a:r>
              <a:t>: Trained 150+ graduate students in GPU computing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Leadership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Innovation Hub</a:t>
            </a:r>
            <a:r>
              <a:t>: Established as regional center of excellence for GPU computing</a:t>
            </a:r>
          </a:p>
          <a:p>
            <a:pPr/>
            <a:r>
              <a:rPr b="1"/>
              <a:t>Best Practices</a:t>
            </a:r>
            <a:r>
              <a:t>: Developed best practices adopted by other institutions</a:t>
            </a:r>
          </a:p>
          <a:p>
            <a:pPr/>
            <a:r>
              <a:rPr b="1"/>
              <a:t>Open Source</a:t>
            </a:r>
            <a:r>
              <a:t>: Contributed to 12 open-source GPU computing projects</a:t>
            </a:r>
          </a:p>
          <a:p>
            <a:pPr/>
            <a:r>
              <a:rPr b="1"/>
              <a:t>Knowledge Sharing</a:t>
            </a:r>
            <a:r>
              <a:t>: Hosted 25+ workshops and training sessions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Operational Risk Controls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Hardware Redundancy</a:t>
            </a:r>
            <a:r>
              <a:t>: N+1 redundancy for critical infrastructure components</a:t>
            </a:r>
          </a:p>
          <a:p>
            <a:pPr/>
            <a:r>
              <a:rPr b="1"/>
              <a:t>Backup Systems</a:t>
            </a:r>
            <a:r>
              <a:t>: Comprehensive backup and disaster recovery procedures</a:t>
            </a:r>
          </a:p>
          <a:p>
            <a:pPr/>
            <a:r>
              <a:rPr b="1"/>
              <a:t>Vendor Support</a:t>
            </a:r>
            <a:r>
              <a:t>: 24/7 NVIDIA support with guaranteed response times</a:t>
            </a:r>
          </a:p>
          <a:p>
            <a:pPr/>
            <a:r>
              <a:rPr b="1"/>
              <a:t>Skills Management</a:t>
            </a:r>
            <a:r>
              <a:t>: Cross-training and knowledge transfer programs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Technology Risk Management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Technology Refresh</a:t>
            </a:r>
            <a:r>
              <a:t>: Regular hardware refresh cycles maintaining performance leadership</a:t>
            </a:r>
          </a:p>
          <a:p>
            <a:pPr/>
            <a:r>
              <a:rPr b="1"/>
              <a:t>Vendor Diversification</a:t>
            </a:r>
            <a:r>
              <a:t>: Strategic partnerships reducing single vendor dependency</a:t>
            </a:r>
          </a:p>
          <a:p>
            <a:pPr/>
            <a:r>
              <a:rPr b="1"/>
              <a:t>Security Monitoring</a:t>
            </a:r>
            <a:r>
              <a:t>: Continuous security monitoring and threat detection</a:t>
            </a:r>
          </a:p>
          <a:p>
            <a:pPr/>
            <a:r>
              <a:rPr b="1"/>
              <a:t>Compliance Management</a:t>
            </a:r>
            <a:r>
              <a:t>: Ongoing compliance monitoring and audit preparation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Executive Endorsements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President</a:t>
            </a:r>
            <a:r>
              <a:t>: "This GPU cluster has transformed our research capabilities and competitiveness"</a:t>
            </a:r>
          </a:p>
          <a:p>
            <a:pPr/>
            <a:r>
              <a:rPr b="1"/>
              <a:t>Research VP</a:t>
            </a:r>
            <a:r>
              <a:t>: "Outstanding implementation enabling world-class research achievements"</a:t>
            </a:r>
          </a:p>
          <a:p>
            <a:pPr/>
            <a:r>
              <a:rPr b="1"/>
              <a:t>CTO</a:t>
            </a:r>
            <a:r>
              <a:t>: "Exceptional technical execution delivering unprecedented computational performance"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Industry Recognition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NVIDIA Partner Award</a:t>
            </a:r>
            <a:r>
              <a:t>: Recognized as exemplary GPU cluster implementation</a:t>
            </a:r>
          </a:p>
          <a:p>
            <a:pPr/>
            <a:r>
              <a:rPr b="1"/>
              <a:t>HPC Excellence</a:t>
            </a:r>
            <a:r>
              <a:t>: Achieved top performance rankings in HPC benchmarks</a:t>
            </a:r>
          </a:p>
          <a:p>
            <a:pPr/>
            <a:r>
              <a:rPr b="1"/>
              <a:t>Research Impact</a:t>
            </a:r>
            <a:r>
              <a:t>: Recognized for significant research impact and innovation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Success Factors for Replication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Research Focus: Clear alignment with research objectives and scientific priorities</a:t>
            </a:r>
          </a:p>
          <a:p>
            <a:pPr/>
            <a:r>
              <a:t>Technical Excellence: Investment in cutting-edge GPU technology and architecture</a:t>
            </a:r>
          </a:p>
          <a:p>
            <a:pPr/>
            <a:r>
              <a:t>User Enablement: Comprehensive training and support for research communities</a:t>
            </a:r>
          </a:p>
          <a:p>
            <a:pPr/>
            <a:r>
              <a:t>Operational Excellence: Robust operations and management procedures</a:t>
            </a:r>
          </a:p>
          <a:p>
            <a:pPr/>
            <a:r>
              <a:t>Collaboration: Strong partnerships with NVIDIA and research community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Capacity Expansion</a:t>
            </a:r>
            <a:r>
              <a:t>: Proactive expansion based on research demand growth</a:t>
            </a:r>
          </a:p>
          <a:p>
            <a:pPr/>
            <a:r>
              <a:rPr b="1"/>
              <a:t>Technology Refresh</a:t>
            </a:r>
            <a:r>
              <a:t>: Regular refresh cycles maintaining technological leadership</a:t>
            </a:r>
          </a:p>
          <a:p>
            <a:pPr/>
            <a:r>
              <a:rPr b="1"/>
              <a:t>Research Collaboration</a:t>
            </a:r>
            <a:r>
              <a:t>: Expanded collaboration with national laboratories and industry</a:t>
            </a:r>
          </a:p>
          <a:p>
            <a:pPr/>
            <a:r>
              <a:rPr b="1"/>
              <a:t>Educational Programs</a:t>
            </a:r>
            <a:r>
              <a:t>: Enhanced educational programs for next-generation researchers</a:t>
            </a:r>
          </a:p>
          <a:p>
            <a:pPr/>
            <a:r>
              <a:rPr b="1"/>
              <a:t>Innovation Investment</a:t>
            </a:r>
            <a:r>
              <a:t>: Continued investment in emerging computing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