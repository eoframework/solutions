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we're celebrating the successful completion of the NVIDIA GPU Compute Cluster implementation. This project has transformed [Client Name]'s AI development capabilities from cloud-dependent GPU resources to an on-premises Kubernetes-orchestrated platform.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- 16 Weeks:**</a:t>
            </a:r>
          </a:p>
          <a:p>
            <a:r>
              <a:t>- Phase 1 (Discovery &amp; Assessment): Weeks 1-3</a:t>
            </a:r>
          </a:p>
          <a:p>
            <a:r>
              <a:t>- Phase 2 (Infrastructure Deployment): Weeks 4-7</a:t>
            </a:r>
          </a:p>
          <a:p>
            <a:r>
              <a:t>- Phase 3 (Kubernetes &amp; MLOps): Weeks 8-11</a:t>
            </a:r>
          </a:p>
          <a:p>
            <a:r>
              <a:t>- Phase 4 (Testing &amp; Validation): Weeks 12-13</a:t>
            </a:r>
          </a:p>
          <a:p>
            <a:r>
              <a:t>- Phase 5 (Hypercare): Weeks 14-16</a:t>
            </a:r>
          </a:p>
          <a:p>
            <a:r>
              <a:t>- All milestones achieved on schedule</a:t>
            </a:r>
          </a:p>
          <a:p/>
          <a:p>
            <a:r>
              <a:t>**Budget - $1.2M:**</a:t>
            </a:r>
          </a:p>
          <a:p>
            <a:r>
              <a:t>- Hardware: $840,000 (8 servers, 32 A100s, 100 GbE)</a:t>
            </a:r>
          </a:p>
          <a:p>
            <a:r>
              <a:t>- Storage: $180,000 (200 TB NetApp AFF)</a:t>
            </a:r>
          </a:p>
          <a:p>
            <a:r>
              <a:t>- Software: $96,000 (NVIDIA AI Enterprise licenses)</a:t>
            </a:r>
          </a:p>
          <a:p>
            <a:r>
              <a:t>- Services: $84,000 (implementation and training)</a:t>
            </a:r>
          </a:p>
          <a:p>
            <a:r>
              <a:t>- Actual spend within 3% of forecast</a:t>
            </a:r>
          </a:p>
          <a:p/>
          <a:p>
            <a:r>
              <a:t>**GPU Performance - 32 A100 40GB:**</a:t>
            </a:r>
          </a:p>
          <a:p>
            <a:r>
              <a:t>- 8x Dell R750xa servers with 4x A100 each</a:t>
            </a:r>
          </a:p>
          <a:p>
            <a:r>
              <a:t>- Total GPU memory: 1.28 TB</a:t>
            </a:r>
          </a:p>
          <a:p>
            <a:r>
              <a:t>- 100 GbE networking for distributed training</a:t>
            </a:r>
          </a:p>
          <a:p>
            <a:r>
              <a:t>- NVIDIA GPU Operator for Kubernetes scheduling</a:t>
            </a:r>
          </a:p>
          <a:p/>
          <a:p>
            <a:r>
              <a:t>**Training Speed - 10x Improvement:**</a:t>
            </a:r>
          </a:p>
          <a:p>
            <a:r>
              <a:t>- BERT model training: 3 days to 7 hours</a:t>
            </a:r>
          </a:p>
          <a:p>
            <a:r>
              <a:t>- Multi-GPU distributed training enabled</a:t>
            </a:r>
          </a:p>
          <a:p>
            <a:r>
              <a:t>- Kubernetes resource scheduling optimized</a:t>
            </a:r>
          </a:p>
          <a:p>
            <a:r>
              <a:t>- NGC containers for AI framework optimization</a:t>
            </a:r>
          </a:p>
          <a:p/>
          <a:p>
            <a:r>
              <a:t>*Transition:*</a:t>
            </a:r>
          </a:p>
          <a:p>
            <a:r>
              <a:t>"Let me walk you through what we built..."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Overview:*</a:t>
            </a:r>
          </a:p>
          <a:p/>
          <a:p>
            <a:r>
              <a:t>"This diagram shows the production GPU cluster architecture. Let me walk through each layer..."</a:t>
            </a:r>
          </a:p>
          <a:p/>
          <a:p>
            <a:r>
              <a:t>**Compute Layer - 8x Dell R750xa Servers:**</a:t>
            </a:r>
          </a:p>
          <a:p>
            <a:r>
              <a:t>- Each server: 4x NVIDIA A100 40GB GPUs</a:t>
            </a:r>
          </a:p>
          <a:p>
            <a:r>
              <a:t>- Total: 32 A100 GPUs providing significant ML compute</a:t>
            </a:r>
          </a:p>
          <a:p>
            <a:r>
              <a:t>- 128 CPU cores per server (dual Intel Xeon Platinum)</a:t>
            </a:r>
          </a:p>
          <a:p>
            <a:r>
              <a:t>- 1 TB RAM per server (8 TB total cluster memory)</a:t>
            </a:r>
          </a:p>
          <a:p>
            <a:r>
              <a:t>- 4x NVMe SSDs per server for local scratch</a:t>
            </a:r>
          </a:p>
          <a:p/>
          <a:p>
            <a:r>
              <a:t>**Network Fabric - 100 GbE RoCE:**</a:t>
            </a:r>
          </a:p>
          <a:p>
            <a:r>
              <a:t>- 2x 100 GbE ports per server for GPU traffic</a:t>
            </a:r>
          </a:p>
          <a:p>
            <a:r>
              <a:t>- RDMA over Converged Ethernet (RoCE) enabled</a:t>
            </a:r>
          </a:p>
          <a:p>
            <a:r>
              <a:t>- Low-latency GPU-to-GPU communication</a:t>
            </a:r>
          </a:p>
          <a:p>
            <a:r>
              <a:t>- Spine-leaf topology for non-blocking bandwidth</a:t>
            </a:r>
          </a:p>
          <a:p/>
          <a:p>
            <a:r>
              <a:t>**Storage Layer - NetApp AFF:**</a:t>
            </a:r>
          </a:p>
          <a:p>
            <a:r>
              <a:t>- 200 TB NVMe all-flash storage</a:t>
            </a:r>
          </a:p>
          <a:p>
            <a:r>
              <a:t>- 10+ GB/s sustained throughput</a:t>
            </a:r>
          </a:p>
          <a:p>
            <a:r>
              <a:t>- NFS mounts for shared datasets and models</a:t>
            </a:r>
          </a:p>
          <a:p>
            <a:r>
              <a:t>- Kubernetes persistent volume provisioning</a:t>
            </a:r>
          </a:p>
          <a:p/>
          <a:p>
            <a:r>
              <a:t>**Kubernetes Platform:**</a:t>
            </a:r>
          </a:p>
          <a:p>
            <a:r>
              <a:t>- 3-node control plane for high availability</a:t>
            </a:r>
          </a:p>
          <a:p>
            <a:r>
              <a:t>- 8 GPU worker nodes</a:t>
            </a:r>
          </a:p>
          <a:p>
            <a:r>
              <a:t>- NVIDIA GPU Operator for automatic driver management</a:t>
            </a:r>
          </a:p>
          <a:p>
            <a:r>
              <a:t>- GPU device plugin for resource scheduling</a:t>
            </a:r>
          </a:p>
          <a:p/>
          <a:p>
            <a:r>
              <a:t>**MLOps Stack:**</a:t>
            </a:r>
          </a:p>
          <a:p>
            <a:r>
              <a:t>- Kubeflow 1.8 for ML pipeline orchestration</a:t>
            </a:r>
          </a:p>
          <a:p>
            <a:r>
              <a:t>- MLflow for experiment tracking and model registry</a:t>
            </a:r>
          </a:p>
          <a:p>
            <a:r>
              <a:t>- Triton Inference Server for model serving</a:t>
            </a:r>
          </a:p>
          <a:p>
            <a:r>
              <a:t>- JupyterHub for interactive development</a:t>
            </a:r>
          </a:p>
          <a:p/>
          <a:p>
            <a:r>
              <a:t>*Presales Alignment:*</a:t>
            </a:r>
          </a:p>
          <a:p>
            <a:r>
              <a:t>- Architecture matches SOW exactly</a:t>
            </a:r>
          </a:p>
          <a:p>
            <a:r>
              <a:t>- 8 servers with 32 A100 GPUs as scoped</a:t>
            </a:r>
          </a:p>
          <a:p>
            <a:r>
              <a:t>- 200 TB storage as specified</a:t>
            </a:r>
          </a:p>
          <a:p>
            <a:r>
              <a:t>- All MLOps components delivered</a:t>
            </a:r>
          </a:p>
          <a:p/>
          <a:p>
            <a:r>
              <a:t>*Transition:*</a:t>
            </a:r>
          </a:p>
          <a:p>
            <a:r>
              <a:t>"Now let me show you the complete deliverables..."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Detail:*</a:t>
            </a:r>
          </a:p>
          <a:p/>
          <a:p>
            <a:r>
              <a:t>**1. Detailed Design Document:**</a:t>
            </a:r>
          </a:p>
          <a:p>
            <a:r>
              <a:t>- GPU cluster architecture with Dell R750xa specifications</a:t>
            </a:r>
          </a:p>
          <a:p>
            <a:r>
              <a:t>- Kubernetes cluster design and GPU Operator configuration</a:t>
            </a:r>
          </a:p>
          <a:p>
            <a:r>
              <a:t>- Network topology with 100 GbE RoCE design</a:t>
            </a:r>
          </a:p>
          <a:p>
            <a:r>
              <a:t>- Storage architecture with NetApp integration</a:t>
            </a:r>
          </a:p>
          <a:p>
            <a:r>
              <a:t>- MLOps platform component specifications</a:t>
            </a:r>
          </a:p>
          <a:p/>
          <a:p>
            <a:r>
              <a:t>**2. Implementation Guide:**</a:t>
            </a:r>
          </a:p>
          <a:p>
            <a:r>
              <a:t>- Server rack installation procedures</a:t>
            </a:r>
          </a:p>
          <a:p>
            <a:r>
              <a:t>- Kubernetes cluster deployment steps</a:t>
            </a:r>
          </a:p>
          <a:p>
            <a:r>
              <a:t>- NVIDIA GPU Operator installation</a:t>
            </a:r>
          </a:p>
          <a:p>
            <a:r>
              <a:t>- Kubeflow and MLflow configuration</a:t>
            </a:r>
          </a:p>
          <a:p>
            <a:r>
              <a:t>- Triton Inference Server setup</a:t>
            </a:r>
          </a:p>
          <a:p/>
          <a:p>
            <a:r>
              <a:t>**3. Project Plan (Multi-sheet Excel):**</a:t>
            </a:r>
          </a:p>
          <a:p>
            <a:r>
              <a:t>- 28 tasks across 16 weeks</a:t>
            </a:r>
          </a:p>
          <a:p>
            <a:r>
              <a:t>- 6 key milestones tracked</a:t>
            </a:r>
          </a:p>
          <a:p>
            <a:r>
              <a:t>- RACI matrix for all activities</a:t>
            </a:r>
          </a:p>
          <a:p>
            <a:r>
              <a:t>- Communications plan with meeting schedule</a:t>
            </a:r>
          </a:p>
          <a:p/>
          <a:p>
            <a:r>
              <a:t>**4. Test Plan &amp; Results:**</a:t>
            </a:r>
          </a:p>
          <a:p>
            <a:r>
              <a:t>- GPU validation tests (32 GPUs)</a:t>
            </a:r>
          </a:p>
          <a:p>
            <a:r>
              <a:t>- Kubernetes scheduling tests</a:t>
            </a:r>
          </a:p>
          <a:p>
            <a:r>
              <a:t>- Distributed training benchmarks</a:t>
            </a:r>
          </a:p>
          <a:p>
            <a:r>
              <a:t>- MLOps pipeline validation</a:t>
            </a:r>
          </a:p>
          <a:p>
            <a:r>
              <a:t>- User acceptance testing</a:t>
            </a:r>
          </a:p>
          <a:p/>
          <a:p>
            <a:r>
              <a:t>**5. Configuration Guide:**</a:t>
            </a:r>
          </a:p>
          <a:p>
            <a:r>
              <a:t>- 55+ configuration parameters documented</a:t>
            </a:r>
          </a:p>
          <a:p>
            <a:r>
              <a:t>- GPU driver and CUDA versions</a:t>
            </a:r>
          </a:p>
          <a:p>
            <a:r>
              <a:t>- Kubernetes resource quotas</a:t>
            </a:r>
          </a:p>
          <a:p>
            <a:r>
              <a:t>- Kubeflow pipeline configurations</a:t>
            </a:r>
          </a:p>
          <a:p/>
          <a:p>
            <a:r>
              <a:t>**6. Operations Runbook:**</a:t>
            </a:r>
          </a:p>
          <a:p>
            <a:r>
              <a:t>- Daily cluster health checks</a:t>
            </a:r>
          </a:p>
          <a:p>
            <a:r>
              <a:t>- GPU monitoring procedures</a:t>
            </a:r>
          </a:p>
          <a:p>
            <a:r>
              <a:t>- Kubernetes troubleshooting</a:t>
            </a:r>
          </a:p>
          <a:p>
            <a:r>
              <a:t>- Scaling procedures</a:t>
            </a:r>
          </a:p>
          <a:p/>
          <a:p>
            <a:r>
              <a:t>**Training Delivered:**</a:t>
            </a:r>
          </a:p>
          <a:p>
            <a:r>
              <a:t>- Administrator Training: 2 sessions, 4 participants</a:t>
            </a:r>
          </a:p>
          <a:p>
            <a:r>
              <a:t>- Data Scientist Training: 3 sessions, 20 participants</a:t>
            </a:r>
          </a:p>
          <a:p>
            <a:r>
              <a:t>- Total: 12 hours of training delivered</a:t>
            </a:r>
          </a:p>
          <a:p/>
          <a:p>
            <a:r>
              <a:t>*Transition:*</a:t>
            </a:r>
          </a:p>
          <a:p>
            <a:r>
              <a:t>"Let's look at performance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*Performance Deep Dive:*</a:t>
            </a:r>
          </a:p>
          <a:p/>
          <a:p>
            <a:r>
              <a:t>**GPU Utilization - 82% Average:**</a:t>
            </a:r>
          </a:p>
          <a:p>
            <a:r>
              <a:t>- Target was 80% per SOW</a:t>
            </a:r>
          </a:p>
          <a:p>
            <a:r>
              <a:t>- Achieved 82% average across 32 GPUs</a:t>
            </a:r>
          </a:p>
          <a:p>
            <a:r>
              <a:t>- Peak: 95% during large training jobs</a:t>
            </a:r>
          </a:p>
          <a:p>
            <a:r>
              <a:t>- GPU time-slicing enables efficient sharing</a:t>
            </a:r>
          </a:p>
          <a:p>
            <a:r>
              <a:t>- 20+ data scientists using concurrently</a:t>
            </a:r>
          </a:p>
          <a:p/>
          <a:p>
            <a:r>
              <a:t>**Distributed Training - 10x Improvement:**</a:t>
            </a:r>
          </a:p>
          <a:p>
            <a:r>
              <a:t>- BERT training: 3 days (CPU) → 7 hours (GPU cluster)</a:t>
            </a:r>
          </a:p>
          <a:p>
            <a:r>
              <a:t>- ResNet-50 ImageNet: Linear scaling to 32 GPUs</a:t>
            </a:r>
          </a:p>
          <a:p>
            <a:r>
              <a:t>- PyTorch DDP and Horovod validated</a:t>
            </a:r>
          </a:p>
          <a:p>
            <a:r>
              <a:t>- NCCL communication optimized</a:t>
            </a:r>
          </a:p>
          <a:p/>
          <a:p>
            <a:r>
              <a:t>**Model Inference - &lt;50ms Latency:**</a:t>
            </a:r>
          </a:p>
          <a:p>
            <a:r>
              <a:t>- Triton Inference Server deployed</a:t>
            </a:r>
          </a:p>
          <a:p>
            <a:r>
              <a:t>- p99 latency: 45ms (target: &lt;50ms)</a:t>
            </a:r>
          </a:p>
          <a:p>
            <a:r>
              <a:t>- Throughput: 1000+ requests/second</a:t>
            </a:r>
          </a:p>
          <a:p>
            <a:r>
              <a:t>- Dynamic batching enabled</a:t>
            </a:r>
          </a:p>
          <a:p/>
          <a:p>
            <a:r>
              <a:t>**Storage Throughput - 12 GB/s:**</a:t>
            </a:r>
          </a:p>
          <a:p>
            <a:r>
              <a:t>- Target was 10 GB/s per SOW</a:t>
            </a:r>
          </a:p>
          <a:p>
            <a:r>
              <a:t>- Achieved 12 GB/s sustained read</a:t>
            </a:r>
          </a:p>
          <a:p>
            <a:r>
              <a:t>- Kubernetes PV provisioning working</a:t>
            </a:r>
          </a:p>
          <a:p>
            <a:r>
              <a:t>- Dataset loading bottleneck eliminated</a:t>
            </a:r>
          </a:p>
          <a:p/>
          <a:p>
            <a:r>
              <a:t>**Testing Summary:**</a:t>
            </a:r>
          </a:p>
          <a:p>
            <a:r>
              <a:t>- Total Test Cases: 32</a:t>
            </a:r>
          </a:p>
          <a:p>
            <a:r>
              <a:t>- Functional Tests: 12 (100% pass)</a:t>
            </a:r>
          </a:p>
          <a:p>
            <a:r>
              <a:t>- Performance Tests: 12 (100% pass)</a:t>
            </a:r>
          </a:p>
          <a:p>
            <a:r>
              <a:t>- UAT Tests: 8 (100% pass)</a:t>
            </a:r>
          </a:p>
          <a:p>
            <a:r>
              <a:t>- Pass Rate: 100%</a:t>
            </a:r>
          </a:p>
          <a:p/>
          <a:p>
            <a:r>
              <a:t>*Transition:*</a:t>
            </a:r>
          </a:p>
          <a:p>
            <a:r>
              <a:t>"These improvements deliver real business value..."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Analysis:*</a:t>
            </a:r>
          </a:p>
          <a:p/>
          <a:p>
            <a:r>
              <a:t>**Training Speed - 10x Faster:**</a:t>
            </a:r>
          </a:p>
          <a:p/>
          <a:p>
            <a:r>
              <a:t>*Before (CPU-only or limited cloud):*</a:t>
            </a:r>
          </a:p>
          <a:p>
            <a:r>
              <a:t>- BERT model fine-tuning: 3 days</a:t>
            </a:r>
          </a:p>
          <a:p>
            <a:r>
              <a:t>- ResNet-50 training: 1 week</a:t>
            </a:r>
          </a:p>
          <a:p>
            <a:r>
              <a:t>- Limited by cloud GPU availability</a:t>
            </a:r>
          </a:p>
          <a:p>
            <a:r>
              <a:t>- Data scientists waiting for resources</a:t>
            </a:r>
          </a:p>
          <a:p/>
          <a:p>
            <a:r>
              <a:t>*After (GPU Cluster):*</a:t>
            </a:r>
          </a:p>
          <a:p>
            <a:r>
              <a:t>- BERT model fine-tuning: 7 hours</a:t>
            </a:r>
          </a:p>
          <a:p>
            <a:r>
              <a:t>- ResNet-50 training: 16 hours</a:t>
            </a:r>
          </a:p>
          <a:p>
            <a:r>
              <a:t>- Dedicated GPU resources</a:t>
            </a:r>
          </a:p>
          <a:p>
            <a:r>
              <a:t>- Concurrent experiments enabled</a:t>
            </a:r>
          </a:p>
          <a:p/>
          <a:p>
            <a:r>
              <a:t>**Cloud Cost Reduction - $350K/year:**</a:t>
            </a:r>
          </a:p>
          <a:p/>
          <a:p>
            <a:r>
              <a:t>*Previous Cloud Spend:*</a:t>
            </a:r>
          </a:p>
          <a:p>
            <a:r>
              <a:t>- AWS p3.8xlarge: $480K annually</a:t>
            </a:r>
          </a:p>
          <a:p>
            <a:r>
              <a:t>- Spot instance interruptions</a:t>
            </a:r>
          </a:p>
          <a:p>
            <a:r>
              <a:t>- Data transfer costs</a:t>
            </a:r>
          </a:p>
          <a:p>
            <a:r>
              <a:t>- Limited availability</a:t>
            </a:r>
          </a:p>
          <a:p/>
          <a:p>
            <a:r>
              <a:t>*New Operating Model:*</a:t>
            </a:r>
          </a:p>
          <a:p>
            <a:r>
              <a:t>- Owned infrastructure: ~$130K/year operating</a:t>
            </a:r>
          </a:p>
          <a:p>
            <a:r>
              <a:t>- No usage-based charges</a:t>
            </a:r>
          </a:p>
          <a:p>
            <a:r>
              <a:t>- No data transfer costs</a:t>
            </a:r>
          </a:p>
          <a:p>
            <a:r>
              <a:t>- Predictable capacity</a:t>
            </a:r>
          </a:p>
          <a:p/>
          <a:p>
            <a:r>
              <a:t>**User Capacity - 22 Active Users:**</a:t>
            </a:r>
          </a:p>
          <a:p>
            <a:r>
              <a:t>- All 20+ data scientists onboarded</a:t>
            </a:r>
          </a:p>
          <a:p>
            <a:r>
              <a:t>- Kubernetes namespaces per team</a:t>
            </a:r>
          </a:p>
          <a:p>
            <a:r>
              <a:t>- GPU quota management working</a:t>
            </a:r>
          </a:p>
          <a:p>
            <a:r>
              <a:t>- Fair scheduling via Kubernetes</a:t>
            </a:r>
          </a:p>
          <a:p/>
          <a:p>
            <a:r>
              <a:t>**Model Deployment - 52 Models:**</a:t>
            </a:r>
          </a:p>
          <a:p>
            <a:r>
              <a:t>- Triton Inference Server operational</a:t>
            </a:r>
          </a:p>
          <a:p>
            <a:r>
              <a:t>- 52 models deployed to production</a:t>
            </a:r>
          </a:p>
          <a:p>
            <a:r>
              <a:t>- A/B testing supported</a:t>
            </a:r>
          </a:p>
          <a:p>
            <a:r>
              <a:t>- Model versioning via MLflow</a:t>
            </a:r>
          </a:p>
          <a:p/>
          <a:p>
            <a:r>
              <a:t>*Transition:*</a:t>
            </a:r>
          </a:p>
          <a:p>
            <a:r>
              <a:t>"We learned valuable lessons during implementation..."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Detail:*</a:t>
            </a:r>
          </a:p>
          <a:p/>
          <a:p>
            <a:r>
              <a:t>**What Worked Well:**</a:t>
            </a:r>
          </a:p>
          <a:p/>
          <a:p>
            <a:r>
              <a:t>*Kubernetes for GPU Orchestration:*</a:t>
            </a:r>
          </a:p>
          <a:p>
            <a:r>
              <a:t>- GPU Operator simplified driver management</a:t>
            </a:r>
          </a:p>
          <a:p>
            <a:r>
              <a:t>- Device plugin handles GPU allocation</a:t>
            </a:r>
          </a:p>
          <a:p>
            <a:r>
              <a:t>- Time-slicing enables efficient sharing</a:t>
            </a:r>
          </a:p>
          <a:p>
            <a:r>
              <a:t>- Native Kubernetes scheduling</a:t>
            </a:r>
          </a:p>
          <a:p/>
          <a:p>
            <a:r>
              <a:t>*NVIDIA GPU Operator:*</a:t>
            </a:r>
          </a:p>
          <a:p>
            <a:r>
              <a:t>- Automatic driver updates</a:t>
            </a:r>
          </a:p>
          <a:p>
            <a:r>
              <a:t>- DCGM monitoring integration</a:t>
            </a:r>
          </a:p>
          <a:p>
            <a:r>
              <a:t>- No manual driver management</a:t>
            </a:r>
          </a:p>
          <a:p>
            <a:r>
              <a:t>- Container runtime configuration</a:t>
            </a:r>
          </a:p>
          <a:p/>
          <a:p>
            <a:r>
              <a:t>*Phased User Rollout:*</a:t>
            </a:r>
          </a:p>
          <a:p>
            <a:r>
              <a:t>- Started with 5 pilot users</a:t>
            </a:r>
          </a:p>
          <a:p>
            <a:r>
              <a:t>- Expanded to 10 in week 2</a:t>
            </a:r>
          </a:p>
          <a:p>
            <a:r>
              <a:t>- Full 20+ by go-live</a:t>
            </a:r>
          </a:p>
          <a:p>
            <a:r>
              <a:t>- Reduced support burden</a:t>
            </a:r>
          </a:p>
          <a:p/>
          <a:p>
            <a:r>
              <a:t>**Challenges Overcome:**</a:t>
            </a:r>
          </a:p>
          <a:p/>
          <a:p>
            <a:r>
              <a:t>*GPU Driver Compatibility:*</a:t>
            </a:r>
          </a:p>
          <a:p>
            <a:r>
              <a:t>- Initial driver version conflict</a:t>
            </a:r>
          </a:p>
          <a:p>
            <a:r>
              <a:t>- Resolved with GPU Operator 23.9</a:t>
            </a:r>
          </a:p>
          <a:p>
            <a:r>
              <a:t>- Automatic driver management now</a:t>
            </a:r>
          </a:p>
          <a:p/>
          <a:p>
            <a:r>
              <a:t>*Kubeflow Complexity:*</a:t>
            </a:r>
          </a:p>
          <a:p>
            <a:r>
              <a:t>- Initial installation issues</a:t>
            </a:r>
          </a:p>
          <a:p>
            <a:r>
              <a:t>- Simplified with Kubeflow manifests</a:t>
            </a:r>
          </a:p>
          <a:p>
            <a:r>
              <a:t>- Custom namespace configuration</a:t>
            </a:r>
          </a:p>
          <a:p/>
          <a:p>
            <a:r>
              <a:t>*Network MTU:*</a:t>
            </a:r>
          </a:p>
          <a:p>
            <a:r>
              <a:t>- Jumbo frames for RoCE</a:t>
            </a:r>
          </a:p>
          <a:p>
            <a:r>
              <a:t>- MTU 9000 across fabric</a:t>
            </a:r>
          </a:p>
          <a:p>
            <a:r>
              <a:t>- Required switch configuration</a:t>
            </a:r>
          </a:p>
          <a:p/>
          <a:p>
            <a:r>
              <a:t>**Phase 2 Recommendations:**</a:t>
            </a:r>
          </a:p>
          <a:p/>
          <a:p>
            <a:r>
              <a:t>*Expand to 64 GPUs:*</a:t>
            </a:r>
          </a:p>
          <a:p>
            <a:r>
              <a:t>- Current utilization: 82%</a:t>
            </a:r>
          </a:p>
          <a:p>
            <a:r>
              <a:t>- Demand growing from new teams</a:t>
            </a:r>
          </a:p>
          <a:p>
            <a:r>
              <a:t>- Add 4 more R750xa servers</a:t>
            </a:r>
          </a:p>
          <a:p>
            <a:r>
              <a:t>- Estimated: $500K investment</a:t>
            </a:r>
          </a:p>
          <a:p/>
          <a:p>
            <a:r>
              <a:t>*A100 80GB GPUs:*</a:t>
            </a:r>
          </a:p>
          <a:p>
            <a:r>
              <a:t>- Larger model support</a:t>
            </a:r>
          </a:p>
          <a:p>
            <a:r>
              <a:t>- 175B+ parameter models</a:t>
            </a:r>
          </a:p>
          <a:p>
            <a:r>
              <a:t>- Memory-intensive workloads</a:t>
            </a:r>
          </a:p>
          <a:p/>
          <a:p>
            <a:r>
              <a:t>*Transition:*</a:t>
            </a:r>
          </a:p>
          <a:p>
            <a:r>
              <a:t>"Let me walk through the support transition..."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Detail:*</a:t>
            </a:r>
          </a:p>
          <a:p/>
          <a:p>
            <a:r>
              <a:t>**Hypercare Period (14 Days):**</a:t>
            </a:r>
          </a:p>
          <a:p/>
          <a:p>
            <a:r>
              <a:t>*Issues Resolved:*</a:t>
            </a:r>
          </a:p>
          <a:p/>
          <a:p>
            <a:r>
              <a:t>Issue #1 (P3) - Day 3:</a:t>
            </a:r>
          </a:p>
          <a:p>
            <a:r>
              <a:t>- Kubeflow pipeline timeout</a:t>
            </a:r>
          </a:p>
          <a:p>
            <a:r>
              <a:t>- Root cause: Resource limits</a:t>
            </a:r>
          </a:p>
          <a:p>
            <a:r>
              <a:t>- Resolution: Increased limits</a:t>
            </a:r>
          </a:p>
          <a:p/>
          <a:p>
            <a:r>
              <a:t>Issue #2 (P3) - Day 7:</a:t>
            </a:r>
          </a:p>
          <a:p>
            <a:r>
              <a:t>- GPU memory leak in user code</a:t>
            </a:r>
          </a:p>
          <a:p>
            <a:r>
              <a:t>- Root cause: Application bug</a:t>
            </a:r>
          </a:p>
          <a:p>
            <a:r>
              <a:t>- Resolution: User code fix</a:t>
            </a:r>
          </a:p>
          <a:p/>
          <a:p>
            <a:r>
              <a:t>Issue #3 (P3) - Day 10:</a:t>
            </a:r>
          </a:p>
          <a:p>
            <a:r>
              <a:t>- JupyterHub session timeout</a:t>
            </a:r>
          </a:p>
          <a:p>
            <a:r>
              <a:t>- Root cause: Configuration</a:t>
            </a:r>
          </a:p>
          <a:p>
            <a:r>
              <a:t>- Resolution: Extended timeout</a:t>
            </a:r>
          </a:p>
          <a:p/>
          <a:p>
            <a:r>
              <a:t>*Knowledge Transfer Sessions:*</a:t>
            </a:r>
          </a:p>
          <a:p>
            <a:r>
              <a:t>- Kubernetes Administration: 4 hours</a:t>
            </a:r>
          </a:p>
          <a:p>
            <a:r>
              <a:t>- GPU Operator Management: 2 hours</a:t>
            </a:r>
          </a:p>
          <a:p>
            <a:r>
              <a:t>- MLflow Operations: 2 hours</a:t>
            </a:r>
          </a:p>
          <a:p>
            <a:r>
              <a:t>- Triton Management: 2 hours</a:t>
            </a:r>
          </a:p>
          <a:p>
            <a:r>
              <a:t>- Troubleshooting: 2 hours</a:t>
            </a:r>
          </a:p>
          <a:p/>
          <a:p>
            <a:r>
              <a:t>**Steady State Support:**</a:t>
            </a:r>
          </a:p>
          <a:p/>
          <a:p>
            <a:r>
              <a:t>*What Internal Team Handles:*</a:t>
            </a:r>
          </a:p>
          <a:p>
            <a:r>
              <a:t>- Daily monitoring</a:t>
            </a:r>
          </a:p>
          <a:p>
            <a:r>
              <a:t>- User account management</a:t>
            </a:r>
          </a:p>
          <a:p>
            <a:r>
              <a:t>- Namespace quota adjustments</a:t>
            </a:r>
          </a:p>
          <a:p>
            <a:r>
              <a:t>- Basic troubleshooting</a:t>
            </a:r>
          </a:p>
          <a:p/>
          <a:p>
            <a:r>
              <a:t>*When to Escalate:*</a:t>
            </a:r>
          </a:p>
          <a:p>
            <a:r>
              <a:t>- GPU hardware failures</a:t>
            </a:r>
          </a:p>
          <a:p>
            <a:r>
              <a:t>- Kubernetes control plane issues</a:t>
            </a:r>
          </a:p>
          <a:p>
            <a:r>
              <a:t>- NVIDIA software bugs</a:t>
            </a:r>
          </a:p>
          <a:p>
            <a:r>
              <a:t>- Performance degradation</a:t>
            </a:r>
          </a:p>
          <a:p/>
          <a:p>
            <a:r>
              <a:t>**Support Contacts:**</a:t>
            </a:r>
          </a:p>
          <a:p>
            <a:r>
              <a:t>- GPU Admin Team: gpu-admin@client.com</a:t>
            </a:r>
          </a:p>
          <a:p>
            <a:r>
              <a:t>- NVIDIA Support: enterprise support portal</a:t>
            </a:r>
          </a:p>
          <a:p>
            <a:r>
              <a:t>- Dell ProSupport: 1-800-xxx-xxxx</a:t>
            </a:r>
          </a:p>
          <a:p/>
          <a:p>
            <a:r>
              <a:t>*Transition:*</a:t>
            </a:r>
          </a:p>
          <a:p>
            <a:r>
              <a:t>"Let me acknowledge the team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*Acknowledgments:*</a:t>
            </a:r>
          </a:p>
          <a:p/>
          <a:p>
            <a:r>
              <a:t>**Client Team Recognition:**</a:t>
            </a:r>
          </a:p>
          <a:p>
            <a:r>
              <a:t>- IT Leadership for budget approval and support</a:t>
            </a:r>
          </a:p>
          <a:p>
            <a:r>
              <a:t>- Data Science Leads for requirements and UAT</a:t>
            </a:r>
          </a:p>
          <a:p>
            <a:r>
              <a:t>- Infrastructure Team for datacenter preparation</a:t>
            </a:r>
          </a:p>
          <a:p>
            <a:r>
              <a:t>- Network Team for 100 GbE fabric setup</a:t>
            </a:r>
          </a:p>
          <a:p/>
          <a:p>
            <a:r>
              <a:t>**Vendor Team Recognition:**</a:t>
            </a:r>
          </a:p>
          <a:p>
            <a:r>
              <a:t>- Project Manager for delivery coordination</a:t>
            </a:r>
          </a:p>
          <a:p>
            <a:r>
              <a:t>- GPU Architect for cluster design</a:t>
            </a:r>
          </a:p>
          <a:p>
            <a:r>
              <a:t>- Kubernetes Engineer for platform setup</a:t>
            </a:r>
          </a:p>
          <a:p>
            <a:r>
              <a:t>- Training Lead for user enablement</a:t>
            </a:r>
          </a:p>
          <a:p/>
          <a:p>
            <a:r>
              <a:t>**Special Recognition:**</a:t>
            </a:r>
          </a:p>
          <a:p>
            <a:r>
              <a:t>"Special thanks to the data science pilot team who validated the platform during early access. Their feedback shaped the final configuration."</a:t>
            </a:r>
          </a:p>
          <a:p/>
          <a:p>
            <a:r>
              <a:t>**Immediate Next Steps:**</a:t>
            </a:r>
          </a:p>
          <a:p>
            <a:r>
              <a:t>- Final documentation handover: [Date]</a:t>
            </a:r>
          </a:p>
          <a:p>
            <a:r>
              <a:t>- Project archive: [Date]</a:t>
            </a:r>
          </a:p>
          <a:p>
            <a:r>
              <a:t>- NVIDIA support transition: Complete</a:t>
            </a:r>
          </a:p>
          <a:p>
            <a:r>
              <a:t>- Dell warranty registration: Complete</a:t>
            </a:r>
          </a:p>
          <a:p/>
          <a:p>
            <a:r>
              <a:t>**30-Day Actions:**</a:t>
            </a:r>
          </a:p>
          <a:p>
            <a:r>
              <a:t>- First monthly performance review</a:t>
            </a:r>
          </a:p>
          <a:p>
            <a:r>
              <a:t>- GPU utilization optimization</a:t>
            </a:r>
          </a:p>
          <a:p>
            <a:r>
              <a:t>- User feedback collection</a:t>
            </a:r>
          </a:p>
          <a:p>
            <a:r>
              <a:t>- Phase 2 requirements gathering</a:t>
            </a:r>
          </a:p>
          <a:p/>
          <a:p>
            <a:r>
              <a:t>**Phase 2 Planning:**</a:t>
            </a:r>
          </a:p>
          <a:p>
            <a:r>
              <a:t>- Expand to 64 GPUs</a:t>
            </a:r>
          </a:p>
          <a:p>
            <a:r>
              <a:t>- Add inference-optimized nodes</a:t>
            </a:r>
          </a:p>
          <a:p>
            <a:r>
              <a:t>- Implement advanced quotas</a:t>
            </a:r>
          </a:p>
          <a:p>
            <a:r>
              <a:t>- MLOps pipeline automation</a:t>
            </a:r>
          </a:p>
          <a:p/>
          <a:p>
            <a:r>
              <a:t>*Transition:*</a:t>
            </a:r>
          </a:p>
          <a:p>
            <a:r>
              <a:t>"Thank you for your partnership. Questions?"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*Closing:*</a:t>
            </a:r>
          </a:p>
          <a:p/>
          <a:p>
            <a:r>
              <a:t>"Thank you for your partnership. This GPU cluster represents a significant investment in AI capability that will accelerate [Client Name]'s data science initiatives for years to come.</a:t>
            </a:r>
          </a:p>
          <a:p/>
          <a:p>
            <a:r>
              <a:t>Questions?"</a:t>
            </a:r>
          </a:p>
          <a:p/>
          <a:p>
            <a:r>
              <a:t>**Anticipated Questions:**</a:t>
            </a:r>
          </a:p>
          <a:p/>
          <a:p>
            <a:r>
              <a:t>*Q: What if we need more GPUs?*</a:t>
            </a:r>
          </a:p>
          <a:p>
            <a:r>
              <a:t>A: Phase 2 planning can add 32+ GPUs. The Kubernetes platform scales horizontally. Network and storage have capacity for expansion.</a:t>
            </a:r>
          </a:p>
          <a:p/>
          <a:p>
            <a:r>
              <a:t>*Q: How do we handle a node failure?*</a:t>
            </a:r>
          </a:p>
          <a:p>
            <a:r>
              <a:t>A: Kubernetes automatically reschedules workloads. Dell ProSupport provides 4-hour hardware response. Redundant control plane ensures cluster availability.</a:t>
            </a:r>
          </a:p>
          <a:p/>
          <a:p>
            <a:r>
              <a:t>*Q: Can we run larger models?*</a:t>
            </a:r>
          </a:p>
          <a:p>
            <a:r>
              <a:t>A: Current A100 40GB supports most models. For 175B+ parameter models, consider A100 80GB upgrade in Phase 2.</a:t>
            </a:r>
          </a:p>
          <a:p/>
          <a:p>
            <a:r>
              <a:t>*Q: What are ongoing costs?*</a:t>
            </a:r>
          </a:p>
          <a:p>
            <a:r>
              <a:t>A: Approximately $130K/year (software licenses, support, power). Compared to $480K cloud baseline - 73% savings.</a:t>
            </a:r>
          </a:p>
          <a:p/>
          <a:p>
            <a:r>
              <a:t>**Follow-Up:**</a:t>
            </a:r>
          </a:p>
          <a:p>
            <a:r>
              <a:t>- Send presentation to attendees</a:t>
            </a:r>
          </a:p>
          <a:p>
            <a:r>
              <a:t>- Schedule 30-day review</a:t>
            </a:r>
          </a:p>
          <a:p>
            <a:r>
              <a:t>- Phase 2 planning workshop invitation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GPU Compute Cluster with Kubernetes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28,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16 weeks, on schedule</a:t>
            </a:r>
          </a:p>
          <a:p>
            <a:pPr/>
            <a:r>
              <a:rPr b="1"/>
              <a:t>Budget:</a:t>
            </a:r>
            <a:r>
              <a:t> $1.2M delivered within 3% of target</a:t>
            </a:r>
          </a:p>
          <a:p>
            <a:pPr/>
            <a:r>
              <a:rPr b="1"/>
              <a:t>Go-Live Date:</a:t>
            </a:r>
            <a:r>
              <a:t> Week 14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GPU Capacity:</a:t>
            </a:r>
            <a:r>
              <a:t> 32 A100 40GB GPUs operational</a:t>
            </a:r>
          </a:p>
          <a:p>
            <a:pPr/>
            <a:r>
              <a:rPr b="1"/>
              <a:t>Training Speed:</a:t>
            </a:r>
            <a:r>
              <a:t> 10x faster vs CPU baseline</a:t>
            </a:r>
          </a:p>
          <a:p>
            <a:pPr/>
            <a:r>
              <a:rPr b="1"/>
              <a:t>ROI Status:</a:t>
            </a:r>
            <a:r>
              <a:t> On track for 2.4-year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GPU Compute</a:t>
            </a:r>
          </a:p>
          <a:p>
            <a:pPr lvl="1"/>
            <a:r>
              <a:t>8x Dell R750xa with 32 A100 40GB GPUs</a:t>
            </a:r>
          </a:p>
          <a:p>
            <a:pPr lvl="1"/>
            <a:r>
              <a:t>100 GbE RoCE networking fabric</a:t>
            </a:r>
          </a:p>
          <a:p>
            <a:pPr lvl="1"/>
            <a:r>
              <a:t>1.28 TB total GPU memory</a:t>
            </a:r>
          </a:p>
          <a:p>
            <a:pPr/>
            <a:r>
              <a:rPr b="1"/>
              <a:t>Orchestration Platform</a:t>
            </a:r>
          </a:p>
          <a:p>
            <a:pPr lvl="1"/>
            <a:r>
              <a:t>Kubernetes with NVIDIA GPU Operator</a:t>
            </a:r>
          </a:p>
          <a:p>
            <a:pPr lvl="1"/>
            <a:r>
              <a:t>GPU time-slicing and MIG support</a:t>
            </a:r>
          </a:p>
          <a:p>
            <a:pPr lvl="1"/>
            <a:r>
              <a:t>Kubeflow for ML pipelines</a:t>
            </a:r>
          </a:p>
          <a:p>
            <a:pPr/>
            <a:r>
              <a:rPr b="1"/>
              <a:t>MLOps Stack</a:t>
            </a:r>
          </a:p>
          <a:p>
            <a:pPr lvl="1"/>
            <a:r>
              <a:t>MLflow experiment tracking</a:t>
            </a:r>
          </a:p>
          <a:p>
            <a:pPr lvl="1"/>
            <a:r>
              <a:t>Triton Inference Server deployment</a:t>
            </a:r>
          </a:p>
          <a:p>
            <a:pPr lvl="1"/>
            <a:r>
              <a:t>JupyterHub for data scientists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GPU cluster architecture, Kubernetes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RACI, communications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Performance benchmarks, UAT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Configuration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GPU, Kubernetes, MLOps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`/delivery/configuration.xlsx`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Day-to-day procedures,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`/delivery/docs/operations-runbook.md`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and data scientist guides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Ansible/Helm Charts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and app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GPU Utilization: 82% (target: 80%)</a:t>
            </a:r>
          </a:p>
          <a:p>
            <a:pPr lvl="1"/>
            <a:r>
              <a:t>Distributed Training: 10x vs CPU baseline</a:t>
            </a:r>
          </a:p>
          <a:p>
            <a:pPr lvl="1"/>
            <a:r>
              <a:t>Model Inference: &lt;50ms p99 latency</a:t>
            </a:r>
          </a:p>
          <a:p>
            <a:pPr lvl="1"/>
            <a:r>
              <a:t>Storage Throughput: 12 GB/s sustained</a:t>
            </a:r>
          </a:p>
          <a:p>
            <a:pPr lvl="1"/>
            <a:r>
              <a:t>Cluster Uptime: 99.6% (target: 99.5%)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Cases Executed: 32/32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Kubernetes Pod Scheduling: &lt;10 seconds</a:t>
            </a:r>
          </a:p>
          <a:p>
            <a:pPr lvl="1"/>
            <a:r>
              <a:t>GPU Time-Slicing: Working as designed</a:t>
            </a:r>
          </a:p>
          <a:p>
            <a:pPr lvl="1"/>
            <a:r>
              <a:t>UAT Sign-off: Complete with no blockers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SOW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BERT: 3 days to 7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$350K/year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GPU elimination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82% average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Efficient resource use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20+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22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teams onboarded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50+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52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Triton serving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ROI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2.4 years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 track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Hardware investment recovered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Kubernetes for GPU orchestration</a:t>
            </a:r>
          </a:p>
          <a:p>
            <a:pPr lvl="1"/>
            <a:r>
              <a:t>NVIDIA GPU Operator automation</a:t>
            </a:r>
          </a:p>
          <a:p>
            <a:pPr lvl="1"/>
            <a:r>
              <a:t>Phased rollout to user teams</a:t>
            </a:r>
          </a:p>
          <a:p>
            <a:pPr lvl="1"/>
            <a:r>
              <a:t>Weekly stakeholder demos</a:t>
            </a:r>
          </a:p>
          <a:p>
            <a:pPr lvl="1"/>
            <a:r>
              <a:t>NGC container optimization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GPU driver compatibility issues</a:t>
            </a:r>
          </a:p>
          <a:p>
            <a:pPr lvl="1"/>
            <a:r>
              <a:t>Kubeflow installation complexity</a:t>
            </a:r>
          </a:p>
          <a:p>
            <a:pPr lvl="1"/>
            <a:r>
              <a:t>Network MTU configuration</a:t>
            </a:r>
          </a:p>
          <a:p>
            <a:pPr lvl="1"/>
            <a:r>
              <a:t>User quota balancing</a:t>
            </a:r>
          </a:p>
          <a:p>
            <a:pPr lvl="1"/>
            <a:r>
              <a:t>Storage permission setup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to 64 GPUs (Phase 2)</a:t>
            </a:r>
          </a:p>
          <a:p>
            <a:pPr lvl="1"/>
            <a:r>
              <a:t>Add A100 80GB for larger models</a:t>
            </a:r>
          </a:p>
          <a:p>
            <a:pPr lvl="1"/>
            <a:r>
              <a:t>Implement GPU quotas per team</a:t>
            </a:r>
          </a:p>
          <a:p>
            <a:pPr lvl="1"/>
            <a:r>
              <a:t>Deploy Kubernetes Federation</a:t>
            </a:r>
          </a:p>
          <a:p>
            <a:pPr lvl="1"/>
            <a:r>
              <a:t>Quarterly training refreshers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(14 days)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3 issues resolved (all P3)</a:t>
            </a:r>
          </a:p>
          <a:p>
            <a:pPr lvl="1"/>
            <a:r>
              <a:t>All KT sessions delivered</a:t>
            </a:r>
          </a:p>
          <a:p>
            <a:pPr lvl="1"/>
            <a:r>
              <a:t>Runbook procedures validated</a:t>
            </a:r>
          </a:p>
          <a:p>
            <a:pPr lvl="1"/>
            <a:r>
              <a:t>Team certified on operations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NVIDIA Enterprise Support</a:t>
            </a:r>
          </a:p>
          <a:p>
            <a:pPr lvl="1"/>
            <a:r>
              <a:t>Dell ProSupport for hardware</a:t>
            </a:r>
          </a:p>
          <a:p>
            <a:pPr lvl="1"/>
            <a:r>
              <a:t>4-hour response SLA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technology updates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GPU Admin Team</a:t>
            </a:r>
          </a:p>
          <a:p>
            <a:pPr lvl="1"/>
            <a:r>
              <a:t>L2: Platform Engineering</a:t>
            </a:r>
          </a:p>
          <a:p>
            <a:pPr lvl="1"/>
            <a:r>
              <a:t>L3: NVIDIA Enterprise Support</a:t>
            </a:r>
          </a:p>
          <a:p>
            <a:pPr lvl="1"/>
            <a:r>
              <a:t>L4: Dell ProSupport (hardware)</a:t>
            </a:r>
          </a:p>
          <a:p>
            <a:pPr lvl="1"/>
            <a:r>
              <a:t>Account: Partner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Team:</a:t>
            </a:r>
            <a:r>
              <a:t> IT leadership, data science leads, infrastructure team</a:t>
            </a:r>
          </a:p>
          <a:p>
            <a:pPr/>
            <a:r>
              <a:rPr b="1"/>
              <a:t>Vendor Team:</a:t>
            </a:r>
            <a:r>
              <a:t> Project manager, GPU architect, Kubernetes engineer</a:t>
            </a:r>
          </a:p>
          <a:p>
            <a:pPr/>
            <a:r>
              <a:rPr b="1"/>
              <a:t>Special Recognition:</a:t>
            </a:r>
            <a:r>
              <a:t> Data science team for pilot program participation</a:t>
            </a:r>
          </a:p>
          <a:p>
            <a:pPr/>
            <a:r>
              <a:rPr b="1"/>
              <a:t>This Week:</a:t>
            </a:r>
            <a:r>
              <a:t> Final documentation handover, archive project</a:t>
            </a:r>
          </a:p>
          <a:p>
            <a:pPr/>
            <a:r>
              <a:rPr b="1"/>
              <a:t>Next 30 Days:</a:t>
            </a:r>
            <a:r>
              <a:t> First monthly review, usage optimization</a:t>
            </a:r>
          </a:p>
          <a:p>
            <a:pPr/>
            <a:r>
              <a:rPr b="1"/>
              <a:t>Next Quarter:</a:t>
            </a:r>
            <a:r>
              <a:t> Phase 2 planning for capacity expansion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 with Kubernetes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