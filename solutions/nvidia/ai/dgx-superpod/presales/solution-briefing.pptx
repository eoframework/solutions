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NVIDIA DGX SuperPOD AI Infrastructure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Train foundation models and LLMs at unprecedented scale with 64 H100 GPUs delivering 32 petaFLOPS</a:t>
            </a:r>
          </a:p>
          <a:p>
            <a:pPr lvl="1"/>
            <a:r>
              <a:t>Eliminate cloud compute bottlenecks and reduce AI training costs by 70% vs AWS p4d instances</a:t>
            </a:r>
          </a:p>
          <a:p>
            <a:pPr lvl="1"/>
            <a:r>
              <a:t>Accelerate time-to-market for AI products from months to weeks with dedicated infrastructure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Support 50+ data scientists with concurrent access to enterprise GPU resources</a:t>
            </a:r>
          </a:p>
          <a:p>
            <a:pPr lvl="1"/>
            <a:r>
              <a:t>Achieve 10x faster training times for large models (100B+ parameters) vs existing infrastructure</a:t>
            </a:r>
          </a:p>
          <a:p>
            <a:pPr lvl="1"/>
            <a:r>
              <a:t>ROI realization within 24-30 months through cloud cost avoidance and research acceleration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DGX SuperPOD AI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DGX Systems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8x DGX H100 systems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Data Classification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Proprietary AI models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AI Workload Type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LLM training and inference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security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Research Team Size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50-75 data scientists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GPU Utilization Target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70-80% utilization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Storage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 PB NVMe storage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Training Time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to train large models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Training Datasets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Multi-TB datasets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Software Stack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NVIDIA AI Enterprise + NGC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Model Checkpointing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Frequent checkpointing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Management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Base Command Manager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Network Fabric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InfiniBand 400 Gbps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Datacenter Readiness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Facility upgrades required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Deployment Model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On-premises datacenter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DGX SuperPOD AI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Compute Infrastructure</a:t>
            </a:r>
          </a:p>
          <a:p>
            <a:pPr lvl="1"/>
            <a:r>
              <a:t>8x NVIDIA DGX H100 systems with 8x H100 80GB GPUs (64 total)</a:t>
            </a:r>
          </a:p>
          <a:p>
            <a:pPr lvl="1"/>
            <a:r>
              <a:t>32 petaFLOPS FP8 AI performance and 5.12 TB GPU memory</a:t>
            </a:r>
          </a:p>
          <a:p>
            <a:pPr lvl="1"/>
            <a:r>
              <a:t>DGX OS with optimized CUDA stack and NGC GPU-accelerated container catalog</a:t>
            </a:r>
          </a:p>
          <a:p>
            <a:pPr/>
            <a:r>
              <a:rPr b="1"/>
              <a:t>High-Performance Architecture</a:t>
            </a:r>
          </a:p>
          <a:p>
            <a:pPr lvl="1"/>
            <a:r>
              <a:t>NVIDIA Quantum-2 400 Gbps InfiniBand fabric for multi-node distributed training</a:t>
            </a:r>
          </a:p>
          <a:p>
            <a:pPr lvl="1"/>
            <a:r>
              <a:t>1 PB NVMe storage with 14 GB/s throughput</a:t>
            </a:r>
          </a:p>
          <a:p>
            <a:pPr lvl="1"/>
            <a:r>
              <a:t>Base Command Manager with enterprise 24x7 support and 4-hour SLA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DGX SuperPOD AI Infrastructure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Facilities &amp; Installation (Months 1-2)</a:t>
            </a:r>
          </a:p>
          <a:p>
            <a:pPr lvl="1"/>
            <a:r>
              <a:t>Datacenter assessment and power/cooling infrastructure upgrades (500 kW capacity)</a:t>
            </a:r>
          </a:p>
          <a:p>
            <a:pPr lvl="1"/>
            <a:r>
              <a:t>DGX system delivery installation and InfiniBand fabric configuration</a:t>
            </a:r>
          </a:p>
          <a:p>
            <a:pPr lvl="1"/>
            <a:r>
              <a:t>Storage cluster deployment and network integration with existing infrastructure</a:t>
            </a:r>
          </a:p>
          <a:p>
            <a:pPr/>
            <a:r>
              <a:rPr b="1"/>
              <a:t>Phase 2: Software &amp; Integration (Months 3-4)</a:t>
            </a:r>
          </a:p>
          <a:p>
            <a:pPr lvl="1"/>
            <a:r>
              <a:t>Base Command Manager setup for multi-user job scheduling and resource management</a:t>
            </a:r>
          </a:p>
          <a:p>
            <a:pPr lvl="1"/>
            <a:r>
              <a:t>NGC container deployment for PyTorch TensorFlow and AI framework stack</a:t>
            </a:r>
          </a:p>
          <a:p>
            <a:pPr lvl="1"/>
            <a:r>
              <a:t>LDAP/AD integration monitoring setup and storage mount point configuration</a:t>
            </a:r>
          </a:p>
          <a:p>
            <a:pPr/>
            <a:r>
              <a:rPr b="1"/>
              <a:t>Phase 3: Optimization &amp; Training (Months 5-6)</a:t>
            </a:r>
          </a:p>
          <a:p>
            <a:pPr lvl="1"/>
            <a:r>
              <a:t>Benchmark workloads and performance tuning for distributed training</a:t>
            </a:r>
          </a:p>
          <a:p>
            <a:pPr lvl="1"/>
            <a:r>
              <a:t>User onboarding training programs and best practices documentation</a:t>
            </a:r>
          </a:p>
          <a:p>
            <a:pPr lvl="1"/>
            <a:r>
              <a:t>Production workload migration and transition to research team operations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DGX SuperPOD AI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Facilities &amp; Installation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Power/cooling upgrades complete, DGX systems installed, InfiniBand fabric operational, Storage cluster deployed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Software &amp;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Base Command configured, NGC containers deployed, User authentication integrated, Monitoring dashboards live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Optimization &amp; Training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Benchmarks validated, Research team trained, Production workloads migrated, Operations handoff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DGX SuperPOD AI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Pharmaceutical Research Company</a:t>
            </a:r>
          </a:p>
          <a:p>
            <a:pPr lvl="1"/>
            <a:r>
              <a:rPr b="1"/>
              <a:t>Client:</a:t>
            </a:r>
            <a:r>
              <a:t> Global pharmaceutical company with 200+ researchers across drug discovery</a:t>
            </a:r>
          </a:p>
          <a:p>
            <a:pPr lvl="1"/>
            <a:r>
              <a:rPr b="1"/>
              <a:t>Challenge:</a:t>
            </a:r>
            <a:r>
              <a:t> Training molecular dynamics and protein folding models taking 8-12 weeks on cloud infrastructure costing $4M annually. Limited GPU availability creating research bottlenecks and delaying drug development programs.</a:t>
            </a:r>
          </a:p>
          <a:p>
            <a:pPr lvl="1"/>
            <a:r>
              <a:rPr b="1"/>
              <a:t>Solution:</a:t>
            </a:r>
            <a:r>
              <a:t> Deployed DGX SuperPOD with 128 GPUs, InfiniBand fabric, 2 PB storage, and Base Command orchestration.</a:t>
            </a:r>
          </a:p>
          <a:p>
            <a:pPr lvl="1"/>
            <a:r>
              <a:rPr b="1"/>
              <a:t>Results:</a:t>
            </a:r>
            <a:r>
              <a:t> 12x faster training times for AlphaFold2 models (1 week vs 12 weeks) and $3.2M annual cloud cost savings. Enabled 5 new drug discovery programs previously infeasible due to compute constraints. Full ROI achieved in 18 months.</a:t>
            </a:r>
          </a:p>
          <a:p>
            <a:pPr lvl="1"/>
            <a:r>
              <a:rPr b="1"/>
              <a:t>Testimonial:</a:t>
            </a:r>
            <a:r>
              <a:t> "DGX SuperPOD transformed our computational drug discovery capabilities. We can now run experiments that were previously impossible and our time-to-candidate has been cut in half. The investment paid for itself faster than we projected." — </a:t>
            </a:r>
            <a:r>
              <a:rPr b="1"/>
              <a:t>Dr. James Chen</a:t>
            </a:r>
            <a:r>
              <a:t>, VP of Computational Sciences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DGX SuperPOD AI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8+ years deploying NVIDIA GPU infrastructure with 25+ DGX implementations</a:t>
            </a:r>
          </a:p>
          <a:p>
            <a:pPr lvl="1"/>
            <a:r>
              <a:t>NVIDIA Partner Network Elite tier with DGX-Ready datacenter expertise</a:t>
            </a:r>
          </a:p>
          <a:p>
            <a:pPr lvl="1"/>
            <a:r>
              <a:t>Certified solutions architects with deep NVIDIA AI Enterprise and Base Command experience</a:t>
            </a:r>
          </a:p>
          <a:p>
            <a:pPr lvl="1"/>
            <a:r>
              <a:t>End-to-end capabilities: facilities assessment to AI workload optimization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Pre-deployment site assessments identify facilities gaps and prevent costly delays</a:t>
            </a:r>
          </a:p>
          <a:p>
            <a:pPr lvl="1"/>
            <a:r>
              <a:t>Proven deployment playbooks reduce implementation risk and timeline</a:t>
            </a:r>
          </a:p>
          <a:p>
            <a:pPr lvl="1"/>
            <a:r>
              <a:t>Direct NVIDIA technical support escalation through partner channels</a:t>
            </a:r>
          </a:p>
          <a:p>
            <a:pPr lvl="1"/>
            <a:r>
              <a:t>Post-deployment optimization services maximize GPU utilization and ROI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DGX SuperPOD AI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$175,800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$175,800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$175,800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Facilities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$350,000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$350,000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$350,000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$4,550,000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($180,000)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$4,370,000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$4,370,000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$211,200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$196,200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$76,640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$76,640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$349,480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$320,000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$320,000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$320,000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$320,000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$960,000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$5,607,000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($195,000)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$5,412,000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$396,640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$396,640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$6,205,280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DGX SuperPOD AI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and budget allocation by [specific date]</a:t>
            </a:r>
          </a:p>
          <a:p>
            <a:pPr/>
            <a:r>
              <a:rPr b="1"/>
              <a:t>Site Assessment:</a:t>
            </a:r>
            <a:r>
              <a:t> Schedule facilities evaluation within 2 weeks of approval</a:t>
            </a:r>
          </a:p>
          <a:p>
            <a:pPr/>
            <a:r>
              <a:rPr b="1"/>
              <a:t>Procurement:</a:t>
            </a:r>
            <a:r>
              <a:t> DGX order placement (12-16 week delivery lead time)</a:t>
            </a:r>
          </a:p>
          <a:p>
            <a:pPr/>
            <a:r>
              <a:rPr b="1"/>
              <a:t>Facilities Prep:</a:t>
            </a:r>
            <a:r>
              <a:t> Parallel track power and cooling upgrades during DGX manufacturing</a:t>
            </a:r>
          </a:p>
          <a:p>
            <a:pPr/>
            <a:r>
              <a:rPr b="1"/>
              <a:t>Delivery &amp; Install:</a:t>
            </a:r>
            <a:r>
              <a:t> NVIDIA DGX delivery installation and initial configuration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DGX SuperPOD AI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