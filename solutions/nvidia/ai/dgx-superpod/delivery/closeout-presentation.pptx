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Statement:*</a:t>
            </a:r>
          </a:p>
          <a:p>
            <a:r>
              <a:t>Good [morning/afternoon]. Today we're celebrating the successful completion of the NVIDIA DGX SuperPOD implementation. This project has transformed [Client Name]'s AI research capabilities from cloud-dependent, cost-prohibitive infrastructure into a world-class, on-premises AI supercomputer.</a:t>
            </a:r>
          </a:p>
          <a:p/>
          <a:p>
            <a:r>
              <a:t>*Key Talking Points - Expand on Each Bullet:*</a:t>
            </a:r>
          </a:p>
          <a:p/>
          <a:p>
            <a:r>
              <a:t>**Project Duration - 19 Weeks:**</a:t>
            </a:r>
          </a:p>
          <a:p>
            <a:r>
              <a:t>- Executed exactly as planned in the Statement of Work</a:t>
            </a:r>
          </a:p>
          <a:p>
            <a:r>
              <a:t>- Phase 1 (Discovery &amp; Assessment): Weeks 1-4 - Site survey, architecture design complete</a:t>
            </a:r>
          </a:p>
          <a:p>
            <a:r>
              <a:t>- Phase 2 (Site Preparation): Weeks 5-7 - Power/cooling upgrades, rack installation</a:t>
            </a:r>
          </a:p>
          <a:p>
            <a:r>
              <a:t>- Phase 3 (DGX Deployment): Weeks 8-13 - Hardware installation, InfiniBand fabric, software stack</a:t>
            </a:r>
          </a:p>
          <a:p>
            <a:r>
              <a:t>- Phase 4 (Testing &amp; Validation): Weeks 13-14 - Performance benchmarks, UAT</a:t>
            </a:r>
          </a:p>
          <a:p>
            <a:r>
              <a:t>- Phase 5 (Hypercare): Weeks 15-19 - Production support, optimization</a:t>
            </a:r>
          </a:p>
          <a:p>
            <a:r>
              <a:t>- No schedule slippage despite facility upgrade complexity</a:t>
            </a:r>
          </a:p>
          <a:p/>
          <a:p>
            <a:r>
              <a:t>**Budget - $5.24M Year 1 Net:**</a:t>
            </a:r>
          </a:p>
          <a:p>
            <a:r>
              <a:t>- Hardware: $4,370,000 (8x DGX H100, InfiniBand switches, storage)</a:t>
            </a:r>
          </a:p>
          <a:p>
            <a:r>
              <a:t>- Facilities: $350,000 (power/cooling upgrades)</a:t>
            </a:r>
          </a:p>
          <a:p>
            <a:r>
              <a:t>- Software Licenses: $196,200 (AI Enterprise after credits)</a:t>
            </a:r>
          </a:p>
          <a:p>
            <a:r>
              <a:t>- Support &amp; Maintenance: $320,000</a:t>
            </a:r>
          </a:p>
          <a:p>
            <a:r>
              <a:t>- NVIDIA Partner Credits Applied: $195,000 (3.5% effective discount)</a:t>
            </a:r>
          </a:p>
          <a:p>
            <a:r>
              <a:t>- Actual spend within $10K of forecast</a:t>
            </a:r>
          </a:p>
          <a:p/>
          <a:p>
            <a:r>
              <a:t>**GPU Performance - 32 petaFLOPS Validated:**</a:t>
            </a:r>
          </a:p>
          <a:p>
            <a:r>
              <a:t>- MLPerf benchmarks executed on all 64 GPUs</a:t>
            </a:r>
          </a:p>
          <a:p>
            <a:r>
              <a:t>- Single-node performance: 4 petaFLOPS per DGX</a:t>
            </a:r>
          </a:p>
          <a:p>
            <a:r>
              <a:t>- Multi-node scaling: 95% efficiency at 64 GPUs</a:t>
            </a:r>
          </a:p>
          <a:p>
            <a:r>
              <a:t>- InfiniBand latency: &lt;2 microseconds validated</a:t>
            </a:r>
          </a:p>
          <a:p>
            <a:r>
              <a:t>- Storage throughput: 14.2 GB/s sustained (exceeds 14 GB/s target)</a:t>
            </a:r>
          </a:p>
          <a:p/>
          <a:p>
            <a:r>
              <a:t>**Training Acceleration - 10x:**</a:t>
            </a:r>
          </a:p>
          <a:p>
            <a:r>
              <a:t>- Baseline (AWS p4d.24xlarge): 8-12 weeks for GPT-3 scale model</a:t>
            </a:r>
          </a:p>
          <a:p>
            <a:r>
              <a:t>- Current (DGX SuperPOD): &lt;7 days for equivalent workload</a:t>
            </a:r>
          </a:p>
          <a:p>
            <a:r>
              <a:t>- 10x improvement validated with production workloads</a:t>
            </a:r>
          </a:p>
          <a:p>
            <a:r>
              <a:t>- Eliminates cloud cost spiral and quota limitations</a:t>
            </a:r>
          </a:p>
          <a:p/>
          <a:p>
            <a:r>
              <a:t>*Transition to Next Slide:*</a:t>
            </a:r>
          </a:p>
          <a:p>
            <a:r>
              <a:t>"Let me walk you through exactly what we built together..."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Overview - Walk Through the Diagram:*</a:t>
            </a:r>
          </a:p>
          <a:p/>
          <a:p>
            <a:r>
              <a:t>"This diagram shows the production DGX SuperPOD architecture we deployed. Let me walk through each layer..."</a:t>
            </a:r>
          </a:p>
          <a:p/>
          <a:p>
            <a:r>
              <a:t>**Compute Layer - 8x DGX H100 Systems:**</a:t>
            </a:r>
          </a:p>
          <a:p>
            <a:r>
              <a:t>- Each DGX H100 contains 8x H100 80GB GPUs (640 GB GPU memory per node)</a:t>
            </a:r>
          </a:p>
          <a:p>
            <a:r>
              <a:t>- Total: 64 H100 GPUs providing 32 petaFLOPS FP8 compute</a:t>
            </a:r>
          </a:p>
          <a:p>
            <a:r>
              <a:t>- 128 Intel Xeon Platinum CPUs across the cluster</a:t>
            </a:r>
          </a:p>
          <a:p>
            <a:r>
              <a:t>- 16 TB total system memory (2 TB DDR5 per DGX)</a:t>
            </a:r>
          </a:p>
          <a:p>
            <a:r>
              <a:t>- 240 TB NVMe local storage (30 TB per node)</a:t>
            </a:r>
          </a:p>
          <a:p>
            <a:r>
              <a:t>- DGX OS based on Ubuntu with optimized CUDA stack</a:t>
            </a:r>
          </a:p>
          <a:p/>
          <a:p>
            <a:r>
              <a:t>**InfiniBand Fabric - NVIDIA Quantum-2:**</a:t>
            </a:r>
          </a:p>
          <a:p>
            <a:r>
              <a:t>- 4x QM9700 400 Gbps switches in leaf-spine topology</a:t>
            </a:r>
          </a:p>
          <a:p>
            <a:r>
              <a:t>- 3.2 Tbps aggregate bisection bandwidth</a:t>
            </a:r>
          </a:p>
          <a:p>
            <a:r>
              <a:t>- RDMA enabled for direct GPU-to-GPU transfers</a:t>
            </a:r>
          </a:p>
          <a:p>
            <a:r>
              <a:t>- &lt;2 microsecond latency validated via perftest</a:t>
            </a:r>
          </a:p>
          <a:p>
            <a:r>
              <a:t>- Redundant connections per DGX for fault tolerance</a:t>
            </a:r>
          </a:p>
          <a:p>
            <a:r>
              <a:t>- GPUDirect RDMA enabled for multi-node training</a:t>
            </a:r>
          </a:p>
          <a:p/>
          <a:p>
            <a:r>
              <a:t>**Storage Layer - Base Command Platform:**</a:t>
            </a:r>
          </a:p>
          <a:p>
            <a:r>
              <a:t>- 1 PB NVMe all-flash storage cluster</a:t>
            </a:r>
          </a:p>
          <a:p>
            <a:r>
              <a:t>- 14 GB/s sustained read/write throughput validated</a:t>
            </a:r>
          </a:p>
          <a:p>
            <a:r>
              <a:t>- GPUDirect Storage for direct GPU-to-storage transfers</a:t>
            </a:r>
          </a:p>
          <a:p>
            <a:r>
              <a:t>- RAID 6 protection with hot spare capacity</a:t>
            </a:r>
          </a:p>
          <a:p>
            <a:r>
              <a:t>- Parallel file system optimized for AI workloads</a:t>
            </a:r>
          </a:p>
          <a:p>
            <a:r>
              <a:t>- Model checkpointing and dataset storage</a:t>
            </a:r>
          </a:p>
          <a:p/>
          <a:p>
            <a:r>
              <a:t>**Software Stack:**</a:t>
            </a:r>
          </a:p>
          <a:p>
            <a:r>
              <a:t>- DGX OS with optimized CUDA 12.2 and cuDNN 8.9</a:t>
            </a:r>
          </a:p>
          <a:p>
            <a:r>
              <a:t>- NGC catalog with 100+ optimized AI containers</a:t>
            </a:r>
          </a:p>
          <a:p>
            <a:r>
              <a:t>- PyTorch 2.1, TensorFlow 2.13, JAX, RAPIDS</a:t>
            </a:r>
          </a:p>
          <a:p>
            <a:r>
              <a:t>- NCCL 2.18 for multi-GPU communication</a:t>
            </a:r>
          </a:p>
          <a:p>
            <a:r>
              <a:t>- Slurm workload manager for job scheduling</a:t>
            </a:r>
          </a:p>
          <a:p>
            <a:r>
              <a:t>- Triton Inference Server for production deployment</a:t>
            </a:r>
          </a:p>
          <a:p/>
          <a:p>
            <a:r>
              <a:t>**Management &amp; Monitoring:**</a:t>
            </a:r>
          </a:p>
          <a:p>
            <a:r>
              <a:t>- NVIDIA DCGM for GPU health monitoring</a:t>
            </a:r>
          </a:p>
          <a:p>
            <a:r>
              <a:t>- Prometheus + Grafana dashboards</a:t>
            </a:r>
          </a:p>
          <a:p>
            <a:r>
              <a:t>- Centralized logging with Elasticsearch</a:t>
            </a:r>
          </a:p>
          <a:p>
            <a:r>
              <a:t>- Automated alerting for hardware failures</a:t>
            </a:r>
          </a:p>
          <a:p>
            <a:r>
              <a:t>- Performance profiling with Nsight tools</a:t>
            </a:r>
          </a:p>
          <a:p/>
          <a:p>
            <a:r>
              <a:t>*Presales Alignment:*</a:t>
            </a:r>
          </a:p>
          <a:p>
            <a:r>
              <a:t>- Architecture matches Solution Briefing specification exactly</a:t>
            </a:r>
          </a:p>
          <a:p>
            <a:r>
              <a:t>- Services deployed: DGX H100, Quantum-2 InfiniBand, Base Command</a:t>
            </a:r>
          </a:p>
          <a:p>
            <a:r>
              <a:t>- No scope additions beyond presales commitment</a:t>
            </a:r>
          </a:p>
          <a:p>
            <a:r>
              <a:t>- 8 DGX systems as scoped (not 16 or 20)</a:t>
            </a:r>
          </a:p>
          <a:p/>
          <a:p>
            <a:r>
              <a:t>*Transition:*</a:t>
            </a:r>
          </a:p>
          <a:p>
            <a:r>
              <a:t>"Now let me show you the complete deliverables package we're handing 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*Deliverables Deep Dive - Review Each Item:*</a:t>
            </a:r>
          </a:p>
          <a:p/>
          <a:p>
            <a:r>
              <a:t>**1. Detailed Design Document:**</a:t>
            </a:r>
          </a:p>
          <a:p>
            <a:r>
              <a:t>- 50+ pages comprehensive technical documentation</a:t>
            </a:r>
          </a:p>
          <a:p>
            <a:r>
              <a:t>- DGX SuperPOD architecture with component specifications</a:t>
            </a:r>
          </a:p>
          <a:p>
            <a:r>
              <a:t>- InfiniBand fabric topology and configuration</a:t>
            </a:r>
          </a:p>
          <a:p>
            <a:r>
              <a:t>- Base Command storage cluster design</a:t>
            </a:r>
          </a:p>
          <a:p>
            <a:r>
              <a:t>- Network diagram with IP addressing scheme</a:t>
            </a:r>
          </a:p>
          <a:p>
            <a:r>
              <a:t>- Security architecture and access controls</a:t>
            </a:r>
          </a:p>
          <a:p>
            <a:r>
              <a:t>- Monitoring and alerting configuration</a:t>
            </a:r>
          </a:p>
          <a:p>
            <a:r>
              <a:t>- Reviewed and accepted by [Technical Lead] on [Date]</a:t>
            </a:r>
          </a:p>
          <a:p/>
          <a:p>
            <a:r>
              <a:t>**2. Implementation Guide:**</a:t>
            </a:r>
          </a:p>
          <a:p>
            <a:r>
              <a:t>- Step-by-step deployment procedures validated in production</a:t>
            </a:r>
          </a:p>
          <a:p>
            <a:r>
              <a:t>- DGX system installation and initial configuration</a:t>
            </a:r>
          </a:p>
          <a:p>
            <a:r>
              <a:t>- InfiniBand fabric cabling and switch configuration</a:t>
            </a:r>
          </a:p>
          <a:p>
            <a:r>
              <a:t>- Base Command storage cluster setup</a:t>
            </a:r>
          </a:p>
          <a:p>
            <a:r>
              <a:t>- Slurm workload manager configuration</a:t>
            </a:r>
          </a:p>
          <a:p>
            <a:r>
              <a:t>- NGC container deployment procedures</a:t>
            </a:r>
          </a:p>
          <a:p>
            <a:r>
              <a:t>- User authentication integration (LDAP/AD)</a:t>
            </a:r>
          </a:p>
          <a:p>
            <a:r>
              <a:t>- Monitoring stack installation</a:t>
            </a:r>
          </a:p>
          <a:p/>
          <a:p>
            <a:r>
              <a:t>**3. Project Plan (Multi-sheet Excel):**</a:t>
            </a:r>
          </a:p>
          <a:p>
            <a:r>
              <a:t>- Project Timeline: 26 tasks across 19 weeks</a:t>
            </a:r>
          </a:p>
          <a:p>
            <a:r>
              <a:t>- Milestones: 8 key milestones tracked</a:t>
            </a:r>
          </a:p>
          <a:p>
            <a:r>
              <a:t>- RACI Matrix: Clear ownership for all activities</a:t>
            </a:r>
          </a:p>
          <a:p>
            <a:r>
              <a:t>- Communications Plan: Meeting schedule and stakeholders</a:t>
            </a:r>
          </a:p>
          <a:p>
            <a:r>
              <a:t>- All milestones achieved on or ahead of schedule</a:t>
            </a:r>
          </a:p>
          <a:p/>
          <a:p>
            <a:r>
              <a:t>**4. Test Plan &amp; Results:**</a:t>
            </a:r>
          </a:p>
          <a:p>
            <a:r>
              <a:t>- Functional Tests: DGX system validation, job submission</a:t>
            </a:r>
          </a:p>
          <a:p>
            <a:r>
              <a:t>- Non-Functional Tests: Performance benchmarks, failover</a:t>
            </a:r>
          </a:p>
          <a:p>
            <a:r>
              <a:t>- User Acceptance Tests: Data scientist workflow validation</a:t>
            </a:r>
          </a:p>
          <a:p>
            <a:r>
              <a:t>- MLPerf benchmark results documented</a:t>
            </a:r>
          </a:p>
          <a:p>
            <a:r>
              <a:t>- InfiniBand fabric performance validation</a:t>
            </a:r>
          </a:p>
          <a:p>
            <a:r>
              <a:t>- Storage throughput testing (14 GB/s achieved)</a:t>
            </a:r>
          </a:p>
          <a:p/>
          <a:p>
            <a:r>
              <a:t>**5. Configuration Guide:**</a:t>
            </a:r>
          </a:p>
          <a:p>
            <a:r>
              <a:t>- 60+ configuration parameters documented</a:t>
            </a:r>
          </a:p>
          <a:p>
            <a:r>
              <a:t>- DGX OS and driver versions</a:t>
            </a:r>
          </a:p>
          <a:p>
            <a:r>
              <a:t>- InfiniBand switch configuration</a:t>
            </a:r>
          </a:p>
          <a:p>
            <a:r>
              <a:t>- Slurm partition and resource allocation</a:t>
            </a:r>
          </a:p>
          <a:p>
            <a:r>
              <a:t>- NGC container registry setup</a:t>
            </a:r>
          </a:p>
          <a:p>
            <a:r>
              <a:t>- Monitoring thresholds and alerts</a:t>
            </a:r>
          </a:p>
          <a:p/>
          <a:p>
            <a:r>
              <a:t>**6. Operations Runbook:**</a:t>
            </a:r>
          </a:p>
          <a:p>
            <a:r>
              <a:t>- Daily health check procedures</a:t>
            </a:r>
          </a:p>
          <a:p>
            <a:r>
              <a:t>- GPU monitoring and alerting response</a:t>
            </a:r>
          </a:p>
          <a:p>
            <a:r>
              <a:t>- Job scheduler troubleshooting</a:t>
            </a:r>
          </a:p>
          <a:p>
            <a:r>
              <a:t>- InfiniBand fabric diagnostics</a:t>
            </a:r>
          </a:p>
          <a:p>
            <a:r>
              <a:t>- Storage performance monitoring</a:t>
            </a:r>
          </a:p>
          <a:p>
            <a:r>
              <a:t>- Hardware failure response procedures</a:t>
            </a:r>
          </a:p>
          <a:p>
            <a:r>
              <a:t>- Escalation contacts and procedures</a:t>
            </a:r>
          </a:p>
          <a:p/>
          <a:p>
            <a:r>
              <a:t>**7. Training Materials:**</a:t>
            </a:r>
          </a:p>
          <a:p>
            <a:r>
              <a:t>- Administrator Training (4 hours):</a:t>
            </a:r>
          </a:p>
          <a:p>
            <a:r>
              <a:t>  - DGX system administration</a:t>
            </a:r>
          </a:p>
          <a:p>
            <a:r>
              <a:t>  - InfiniBand fabric management</a:t>
            </a:r>
          </a:p>
          <a:p>
            <a:r>
              <a:t>  - Slurm workload manager</a:t>
            </a:r>
          </a:p>
          <a:p>
            <a:r>
              <a:t>  - Monitoring and alerting</a:t>
            </a:r>
          </a:p>
          <a:p>
            <a:r>
              <a:t>- Data Scientist Training (2 hours):</a:t>
            </a:r>
          </a:p>
          <a:p>
            <a:r>
              <a:t>  - Job submission and resource requests</a:t>
            </a:r>
          </a:p>
          <a:p>
            <a:r>
              <a:t>  - NGC container usage</a:t>
            </a:r>
          </a:p>
          <a:p>
            <a:r>
              <a:t>  - Distributed training best practices</a:t>
            </a:r>
          </a:p>
          <a:p>
            <a:r>
              <a:t>  - JupyterHub access and configuration</a:t>
            </a:r>
          </a:p>
          <a:p/>
          <a:p>
            <a:r>
              <a:t>**8. Ansible Playbooks:**</a:t>
            </a:r>
          </a:p>
          <a:p>
            <a:r>
              <a:t>- DGX OS configuration automation</a:t>
            </a:r>
          </a:p>
          <a:p>
            <a:r>
              <a:t>- User management and SSH key deployment</a:t>
            </a:r>
          </a:p>
          <a:p>
            <a:r>
              <a:t>- Monitoring agent installation</a:t>
            </a:r>
          </a:p>
          <a:p>
            <a:r>
              <a:t>- Security hardening scripts</a:t>
            </a:r>
          </a:p>
          <a:p>
            <a:r>
              <a:t>- Enables consistent configuration across all nodes</a:t>
            </a:r>
          </a:p>
          <a:p/>
          <a:p>
            <a:r>
              <a:t>*Training Sessions Delivered:*</a:t>
            </a:r>
          </a:p>
          <a:p>
            <a:r>
              <a:t>- Administrator Training: 2 sessions, 6 participants, 100% completion</a:t>
            </a:r>
          </a:p>
          <a:p>
            <a:r>
              <a:t>- Data Scientist Training: 3 sessions, 45 participants, 92% competency</a:t>
            </a:r>
          </a:p>
          <a:p>
            <a:r>
              <a:t>- Total training hours delivered: 14 hours</a:t>
            </a:r>
          </a:p>
          <a:p/>
          <a:p>
            <a:r>
              <a:t>*Transition:*</a:t>
            </a:r>
          </a:p>
          <a:p>
            <a:r>
              <a:t>"Let's look at how the solution is performing against our targets..."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*Quality &amp; Performance Deep Dive:*</a:t>
            </a:r>
          </a:p>
          <a:p/>
          <a:p>
            <a:r>
              <a:t>**Performance Metrics - Detailed Analysis:**</a:t>
            </a:r>
          </a:p>
          <a:p/>
          <a:p>
            <a:r>
              <a:t>*GPU Compute - 32 petaFLOPS FP8:*</a:t>
            </a:r>
          </a:p>
          <a:p>
            <a:r>
              <a:t>- Validated using NVIDIA MLPerf benchmarks</a:t>
            </a:r>
          </a:p>
          <a:p>
            <a:r>
              <a:t>- Single DGX H100: 4 petaFLOPS confirmed</a:t>
            </a:r>
          </a:p>
          <a:p>
            <a:r>
              <a:t>- 8x DGX cluster: 32 petaFLOPS aggregate</a:t>
            </a:r>
          </a:p>
          <a:p>
            <a:r>
              <a:t>- Tensor Core utilization: 85%+ on training workloads</a:t>
            </a:r>
          </a:p>
          <a:p>
            <a:r>
              <a:t>- Mixed precision training enabled (FP16/BF16/FP8)</a:t>
            </a:r>
          </a:p>
          <a:p/>
          <a:p>
            <a:r>
              <a:t>*InfiniBand Latency - 1.8 microseconds:*</a:t>
            </a:r>
          </a:p>
          <a:p>
            <a:r>
              <a:t>- Measured using ib_send_lat and perftest tools</a:t>
            </a:r>
          </a:p>
          <a:p>
            <a:r>
              <a:t>- Target was &lt;2 microseconds per SOW</a:t>
            </a:r>
          </a:p>
          <a:p>
            <a:r>
              <a:t>- Achieved 1.8μs average, 2.1μs p99</a:t>
            </a:r>
          </a:p>
          <a:p>
            <a:r>
              <a:t>- RDMA operations fully validated</a:t>
            </a:r>
          </a:p>
          <a:p>
            <a:r>
              <a:t>- GPUDirect RDMA enabled and tested</a:t>
            </a:r>
          </a:p>
          <a:p/>
          <a:p>
            <a:r>
              <a:t>*Storage Throughput - 14.2 GB/s:*</a:t>
            </a:r>
          </a:p>
          <a:p>
            <a:r>
              <a:t>- Tested with IOR benchmark tool</a:t>
            </a:r>
          </a:p>
          <a:p>
            <a:r>
              <a:t>- Target was 14 GB/s sustained per SOW</a:t>
            </a:r>
          </a:p>
          <a:p>
            <a:r>
              <a:t>- Achieved 14.2 GB/s read, 13.8 GB/s write</a:t>
            </a:r>
          </a:p>
          <a:p>
            <a:r>
              <a:t>- GPUDirect Storage validated</a:t>
            </a:r>
          </a:p>
          <a:p>
            <a:r>
              <a:t>- Checkpoint save/restore tested</a:t>
            </a:r>
          </a:p>
          <a:p/>
          <a:p>
            <a:r>
              <a:t>*Multi-GPU Scaling - 95% Efficiency:*</a:t>
            </a:r>
          </a:p>
          <a:p>
            <a:r>
              <a:t>- Tested with NCCL all-reduce benchmarks</a:t>
            </a:r>
          </a:p>
          <a:p>
            <a:r>
              <a:t>- Strong scaling from 8 to 64 GPUs</a:t>
            </a:r>
          </a:p>
          <a:p>
            <a:r>
              <a:t>- 95% efficiency at 64 GPUs (near-linear)</a:t>
            </a:r>
          </a:p>
          <a:p>
            <a:r>
              <a:t>- Validated with PyTorch DDP and Horovod</a:t>
            </a:r>
          </a:p>
          <a:p>
            <a:r>
              <a:t>- Production workloads achieving similar scaling</a:t>
            </a:r>
          </a:p>
          <a:p/>
          <a:p>
            <a:r>
              <a:t>*System Uptime - 99.7%:*</a:t>
            </a:r>
          </a:p>
          <a:p>
            <a:r>
              <a:t>- Target was 99.5% per SOW</a:t>
            </a:r>
          </a:p>
          <a:p>
            <a:r>
              <a:t>- Achieved 99.7% during hypercare period</a:t>
            </a:r>
          </a:p>
          <a:p>
            <a:r>
              <a:t>- Only downtime: Planned maintenance (2 hours)</a:t>
            </a:r>
          </a:p>
          <a:p>
            <a:r>
              <a:t>- Zero unplanned outages</a:t>
            </a:r>
          </a:p>
          <a:p>
            <a:r>
              <a:t>- Hardware health monitoring active</a:t>
            </a:r>
          </a:p>
          <a:p/>
          <a:p>
            <a:r>
              <a:t>**Testing Summary:**</a:t>
            </a:r>
          </a:p>
          <a:p/>
          <a:p>
            <a:r>
              <a:t>*Test Execution:*</a:t>
            </a:r>
          </a:p>
          <a:p>
            <a:r>
              <a:t>- Total Test Cases: 38</a:t>
            </a:r>
          </a:p>
          <a:p>
            <a:r>
              <a:t>- Functional Tests: 12 (100% pass)</a:t>
            </a:r>
          </a:p>
          <a:p>
            <a:r>
              <a:t>- Performance Tests: 16 (100% pass)</a:t>
            </a:r>
          </a:p>
          <a:p>
            <a:r>
              <a:t>- UAT Tests: 10 (100% pass)</a:t>
            </a:r>
          </a:p>
          <a:p>
            <a:r>
              <a:t>- Pass Rate: 100%</a:t>
            </a:r>
          </a:p>
          <a:p>
            <a:r>
              <a:t>- Defects Found: 2 (both resolved during testing)</a:t>
            </a:r>
          </a:p>
          <a:p/>
          <a:p>
            <a:r>
              <a:t>*Benchmark Results vs SOW Targets:*</a:t>
            </a:r>
          </a:p>
          <a:p>
            <a:r>
              <a:t>| Metric | SOW Target | Achieved | Status |</a:t>
            </a:r>
          </a:p>
          <a:p>
            <a:r>
              <a:t>|--------|------------|----------|--------|</a:t>
            </a:r>
          </a:p>
          <a:p>
            <a:r>
              <a:t>| GPU Compute | 32 petaFLOPS | 32 petaFLOPS | Met |</a:t>
            </a:r>
          </a:p>
          <a:p>
            <a:r>
              <a:t>| InfiniBand Latency | &lt;2μs | 1.8μs | Exceeded |</a:t>
            </a:r>
          </a:p>
          <a:p>
            <a:r>
              <a:t>| Storage Throughput | 14 GB/s | 14.2 GB/s | Exceeded |</a:t>
            </a:r>
          </a:p>
          <a:p>
            <a:r>
              <a:t>| System Uptime | 99.5% | 99.7% | Exceeded |</a:t>
            </a:r>
          </a:p>
          <a:p>
            <a:r>
              <a:t>| GPU Utilization | 70-80% | 78% | Met |</a:t>
            </a:r>
          </a:p>
          <a:p/>
          <a:p>
            <a:r>
              <a:t>*Transition:*</a:t>
            </a:r>
          </a:p>
          <a:p>
            <a:r>
              <a:t>"These performance improvements translate directly into business value. Let me show you the benefits we're already seeing..."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*Benefits Analysis - Detailed ROI Discussion:*</a:t>
            </a:r>
          </a:p>
          <a:p/>
          <a:p>
            <a:r>
              <a:t>**Training Acceleration - 10x Faster:**</a:t>
            </a:r>
          </a:p>
          <a:p/>
          <a:p>
            <a:r>
              <a:t>*Before (Cloud GPU - AWS p4d.24xlarge):*</a:t>
            </a:r>
          </a:p>
          <a:p>
            <a:r>
              <a:t>- GPT-3 scale model (175B parameters): 12+ months</a:t>
            </a:r>
          </a:p>
          <a:p>
            <a:r>
              <a:t>- Cost per training run: $1.5M+ in cloud GPU</a:t>
            </a:r>
          </a:p>
          <a:p>
            <a:r>
              <a:t>- Limited to spot instances with interruptions</a:t>
            </a:r>
          </a:p>
          <a:p>
            <a:r>
              <a:t>- Quota limitations restricted scale</a:t>
            </a:r>
          </a:p>
          <a:p>
            <a:r>
              <a:t>- Teams competing for limited resources</a:t>
            </a:r>
          </a:p>
          <a:p/>
          <a:p>
            <a:r>
              <a:t>*After (DGX SuperPOD):*</a:t>
            </a:r>
          </a:p>
          <a:p>
            <a:r>
              <a:t>- GPT-3 scale model: &lt;90 days (per SOW target)</a:t>
            </a:r>
          </a:p>
          <a:p>
            <a:r>
              <a:t>- Actual achievement: 60 days for 175B model</a:t>
            </a:r>
          </a:p>
          <a:p>
            <a:r>
              <a:t>- Dedicated 64 GPUs with no interruptions</a:t>
            </a:r>
          </a:p>
          <a:p>
            <a:r>
              <a:t>- Near-linear scaling with InfiniBand fabric</a:t>
            </a:r>
          </a:p>
          <a:p>
            <a:r>
              <a:t>- Multiple teams can train concurrently</a:t>
            </a:r>
          </a:p>
          <a:p/>
          <a:p>
            <a:r>
              <a:t>*Business Impact:*</a:t>
            </a:r>
          </a:p>
          <a:p>
            <a:r>
              <a:t>- Time-to-market for AI products reduced by months</a:t>
            </a:r>
          </a:p>
          <a:p>
            <a:r>
              <a:t>- Research velocity increased dramatically</a:t>
            </a:r>
          </a:p>
          <a:p>
            <a:r>
              <a:t>- Competitive advantage in AI innovation</a:t>
            </a:r>
          </a:p>
          <a:p>
            <a:r>
              <a:t>- Foundation models now trainable in-house</a:t>
            </a:r>
          </a:p>
          <a:p/>
          <a:p>
            <a:r>
              <a:t>**Cloud Cost Reduction - 70% Savings:**</a:t>
            </a:r>
          </a:p>
          <a:p/>
          <a:p>
            <a:r>
              <a:t>*Cloud Cost Comparison (Annual):*</a:t>
            </a:r>
          </a:p>
          <a:p>
            <a:r>
              <a:t>| Item | Cloud (AWS) | DGX SuperPOD |</a:t>
            </a:r>
          </a:p>
          <a:p>
            <a:r>
              <a:t>|------|-------------|--------------|</a:t>
            </a:r>
          </a:p>
          <a:p>
            <a:r>
              <a:t>| GPU Compute | $2,250,000 | $0 (owned) |</a:t>
            </a:r>
          </a:p>
          <a:p>
            <a:r>
              <a:t>| Storage | $150,000 | Included |</a:t>
            </a:r>
          </a:p>
          <a:p>
            <a:r>
              <a:t>| Data Transfer | $100,000 | $0 |</a:t>
            </a:r>
          </a:p>
          <a:p>
            <a:r>
              <a:t>| **Annual Operating** | **$2,500,000** | **$472,000** |</a:t>
            </a:r>
          </a:p>
          <a:p/>
          <a:p>
            <a:r>
              <a:t>*DGX SuperPOD Annual Costs (Year 2+):*</a:t>
            </a:r>
          </a:p>
          <a:p>
            <a:r>
              <a:t>- Software Licenses: $76,640/year</a:t>
            </a:r>
          </a:p>
          <a:p>
            <a:r>
              <a:t>- Support &amp; Maintenance: $320,000/year</a:t>
            </a:r>
          </a:p>
          <a:p>
            <a:r>
              <a:t>- Power &amp; Cooling: ~$75,000/year</a:t>
            </a:r>
          </a:p>
          <a:p>
            <a:r>
              <a:t>- **Total Annual:** ~$472,000/year</a:t>
            </a:r>
          </a:p>
          <a:p/>
          <a:p>
            <a:r>
              <a:t>*Savings Calculation:*</a:t>
            </a:r>
          </a:p>
          <a:p>
            <a:r>
              <a:t>- Year 1: Investment year ($5.24M), offset by eliminated cloud ($2.5M)</a:t>
            </a:r>
          </a:p>
          <a:p>
            <a:r>
              <a:t>- Year 2+: $2.03M annual savings vs cloud baseline</a:t>
            </a:r>
          </a:p>
          <a:p>
            <a:r>
              <a:t>- 5-Year Savings: $5.0M+ vs continued cloud usage</a:t>
            </a:r>
          </a:p>
          <a:p/>
          <a:p>
            <a:r>
              <a:t>**GPU Utilization - 78% Average:**</a:t>
            </a:r>
          </a:p>
          <a:p/>
          <a:p>
            <a:r>
              <a:t>*Utilization Metrics:*</a:t>
            </a:r>
          </a:p>
          <a:p>
            <a:r>
              <a:t>- Target: 70-80% per SOW</a:t>
            </a:r>
          </a:p>
          <a:p>
            <a:r>
              <a:t>- Achieved: 78% average utilization</a:t>
            </a:r>
          </a:p>
          <a:p>
            <a:r>
              <a:t>- Peak: 95% during large training jobs</a:t>
            </a:r>
          </a:p>
          <a:p>
            <a:r>
              <a:t>- Breakdown by team:</a:t>
            </a:r>
          </a:p>
          <a:p>
            <a:r>
              <a:t>  - LLM Research: 45% of capacity</a:t>
            </a:r>
          </a:p>
          <a:p>
            <a:r>
              <a:t>  - Computer Vision: 25% of capacity</a:t>
            </a:r>
          </a:p>
          <a:p>
            <a:r>
              <a:t>  - Drug Discovery: 20% of capacity</a:t>
            </a:r>
          </a:p>
          <a:p>
            <a:r>
              <a:t>  - Ad-hoc Research: 10% of capacity</a:t>
            </a:r>
          </a:p>
          <a:p>
            <a:r>
              <a:t>- Slurm fair-share scheduling eliminates contention</a:t>
            </a:r>
          </a:p>
          <a:p/>
          <a:p>
            <a:r>
              <a:t>**Researcher Capacity - 52 Active Users:**</a:t>
            </a:r>
          </a:p>
          <a:p/>
          <a:p>
            <a:r>
              <a:t>*User Onboarding:*</a:t>
            </a:r>
          </a:p>
          <a:p>
            <a:r>
              <a:t>- Target: 50+ data scientists per SOW</a:t>
            </a:r>
          </a:p>
          <a:p>
            <a:r>
              <a:t>- Achieved: 52 researchers actively using system</a:t>
            </a:r>
          </a:p>
          <a:p>
            <a:r>
              <a:t>- Teams onboarded:</a:t>
            </a:r>
          </a:p>
          <a:p>
            <a:r>
              <a:t>  - NLP/LLM Team: 18 researchers</a:t>
            </a:r>
          </a:p>
          <a:p>
            <a:r>
              <a:t>  - Computer Vision Team: 14 researchers</a:t>
            </a:r>
          </a:p>
          <a:p>
            <a:r>
              <a:t>  - Drug Discovery Team: 12 researchers</a:t>
            </a:r>
          </a:p>
          <a:p>
            <a:r>
              <a:t>  - Platform Team: 8 engineers</a:t>
            </a:r>
          </a:p>
          <a:p>
            <a:r>
              <a:t>- All users trained on job submission and best practices</a:t>
            </a:r>
          </a:p>
          <a:p/>
          <a:p>
            <a:r>
              <a:t>**ROI Summary:**</a:t>
            </a:r>
          </a:p>
          <a:p/>
          <a:p>
            <a:r>
              <a:t>| Metric | Value |</a:t>
            </a:r>
          </a:p>
          <a:p>
            <a:r>
              <a:t>|--------|-------|</a:t>
            </a:r>
          </a:p>
          <a:p>
            <a:r>
              <a:t>| Total Investment (Year 1) | $5,236,200 |</a:t>
            </a:r>
          </a:p>
          <a:p>
            <a:r>
              <a:t>| Cloud Cost Avoided (Year 1) | $2,500,000 |</a:t>
            </a:r>
          </a:p>
          <a:p>
            <a:r>
              <a:t>| Net Year 1 Cost | $2,736,200 |</a:t>
            </a:r>
          </a:p>
          <a:p>
            <a:r>
              <a:t>| Year 2 Operating Cost | $472,000 |</a:t>
            </a:r>
          </a:p>
          <a:p>
            <a:r>
              <a:t>| Year 2 Cloud Avoided | $2,500,000 |</a:t>
            </a:r>
          </a:p>
          <a:p>
            <a:r>
              <a:t>| Year 2 Net Savings | $2,028,000 |</a:t>
            </a:r>
          </a:p>
          <a:p>
            <a:r>
              <a:t>| Payback Period | 2.3 years (on track) |</a:t>
            </a:r>
          </a:p>
          <a:p>
            <a:r>
              <a:t>| 5-Year TCO vs Cloud | $5.0M savings |</a:t>
            </a:r>
          </a:p>
          <a:p/>
          <a:p>
            <a:r>
              <a:t>*Transition:*</a:t>
            </a:r>
          </a:p>
          <a:p>
            <a:r>
              <a:t>"We learned valuable lessons during this implementation that will help with future phases..."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*Lessons Learned - Comprehensive Review:*</a:t>
            </a:r>
          </a:p>
          <a:p/>
          <a:p>
            <a:r>
              <a:t>**What Worked Well - Details:**</a:t>
            </a:r>
          </a:p>
          <a:p/>
          <a:p>
            <a:r>
              <a:t>*1. Early Datacenter Site Assessment (Week 1-2):*</a:t>
            </a:r>
          </a:p>
          <a:p>
            <a:r>
              <a:t>- Identified power capacity limitations early</a:t>
            </a:r>
          </a:p>
          <a:p>
            <a:r>
              <a:t>- Discovered cooling infrastructure gaps</a:t>
            </a:r>
          </a:p>
          <a:p>
            <a:r>
              <a:t>- Planned facility upgrades in parallel with procurement</a:t>
            </a:r>
          </a:p>
          <a:p>
            <a:r>
              <a:t>- Prevented 4-6 week delay that would have occurred</a:t>
            </a:r>
          </a:p>
          <a:p>
            <a:r>
              <a:t>- Recommendation: Always do site assessment first</a:t>
            </a:r>
          </a:p>
          <a:p/>
          <a:p>
            <a:r>
              <a:t>*2. Phased DGX Deployment (Weeks 8-12):*</a:t>
            </a:r>
          </a:p>
          <a:p>
            <a:r>
              <a:t>- Installed and validated 2 DGX systems first</a:t>
            </a:r>
          </a:p>
          <a:p>
            <a:r>
              <a:t>- Resolved configuration issues on small scale</a:t>
            </a:r>
          </a:p>
          <a:p>
            <a:r>
              <a:t>- Then expanded to full 8-system cluster</a:t>
            </a:r>
          </a:p>
          <a:p>
            <a:r>
              <a:t>- Reduced risk of large-scale problems</a:t>
            </a:r>
          </a:p>
          <a:p>
            <a:r>
              <a:t>- Recommendation: Never deploy all nodes simultaneously</a:t>
            </a:r>
          </a:p>
          <a:p/>
          <a:p>
            <a:r>
              <a:t>*3. NVIDIA DGX-Ready Certification:*</a:t>
            </a:r>
          </a:p>
          <a:p>
            <a:r>
              <a:t>- Validated datacenter meets NVIDIA requirements</a:t>
            </a:r>
          </a:p>
          <a:p>
            <a:r>
              <a:t>- Ensured power, cooling, and network ready</a:t>
            </a:r>
          </a:p>
          <a:p>
            <a:r>
              <a:t>- Simplified hardware installation</a:t>
            </a:r>
          </a:p>
          <a:p>
            <a:r>
              <a:t>- NVIDIA support engagement smoother</a:t>
            </a:r>
          </a:p>
          <a:p>
            <a:r>
              <a:t>- Recommendation: Pursue DGX-Ready for future expansions</a:t>
            </a:r>
          </a:p>
          <a:p/>
          <a:p>
            <a:r>
              <a:t>*4. Weekly Stakeholder Demos (Throughout):*</a:t>
            </a:r>
          </a:p>
          <a:p>
            <a:r>
              <a:t>- Showed benchmark progress weekly</a:t>
            </a:r>
          </a:p>
          <a:p>
            <a:r>
              <a:t>- Built confidence with research leadership</a:t>
            </a:r>
          </a:p>
          <a:p>
            <a:r>
              <a:t>- Gathered early feedback on Slurm configuration</a:t>
            </a:r>
          </a:p>
          <a:p>
            <a:r>
              <a:t>- Identified training needs before go-live</a:t>
            </a:r>
          </a:p>
          <a:p>
            <a:r>
              <a:t>- Recommendation: Demo frequently, use real workloads</a:t>
            </a:r>
          </a:p>
          <a:p/>
          <a:p>
            <a:r>
              <a:t>**Challenges Overcome - Details:**</a:t>
            </a:r>
          </a:p>
          <a:p/>
          <a:p>
            <a:r>
              <a:t>*1. Power Infrastructure - 500 kW Upgrade:*</a:t>
            </a:r>
          </a:p>
          <a:p>
            <a:r>
              <a:t>- Challenge: Existing datacenter had 200 kW capacity</a:t>
            </a:r>
          </a:p>
          <a:p>
            <a:r>
              <a:t>- Impact: Would have delayed project by 8 weeks</a:t>
            </a:r>
          </a:p>
          <a:p>
            <a:r>
              <a:t>- Resolution:</a:t>
            </a:r>
          </a:p>
          <a:p>
            <a:r>
              <a:t>  - Engaged facilities team in Week 1</a:t>
            </a:r>
          </a:p>
          <a:p>
            <a:r>
              <a:t>  - Parallel power upgrade during procurement</a:t>
            </a:r>
          </a:p>
          <a:p>
            <a:r>
              <a:t>  - Completed 500 kW installation by Week 7</a:t>
            </a:r>
          </a:p>
          <a:p>
            <a:r>
              <a:t>- Lesson: Engage facilities early in planning</a:t>
            </a:r>
          </a:p>
          <a:p/>
          <a:p>
            <a:r>
              <a:t>*2. InfiniBand Cabling Complexity:*</a:t>
            </a:r>
          </a:p>
          <a:p>
            <a:r>
              <a:t>- Challenge: 128 InfiniBand cables per switch</a:t>
            </a:r>
          </a:p>
          <a:p>
            <a:r>
              <a:t>- Impact: Initial cabling errors caused connectivity issues</a:t>
            </a:r>
          </a:p>
          <a:p>
            <a:r>
              <a:t>- Resolution:</a:t>
            </a:r>
          </a:p>
          <a:p>
            <a:r>
              <a:t>  - Created detailed cable mapping document</a:t>
            </a:r>
          </a:p>
          <a:p>
            <a:r>
              <a:t>  - Used color-coded cables for different DGX nodes</a:t>
            </a:r>
          </a:p>
          <a:p>
            <a:r>
              <a:t>  - NVIDIA support validated final configuration</a:t>
            </a:r>
          </a:p>
          <a:p>
            <a:r>
              <a:t>- Lesson: Cable management is critical for IB fabric</a:t>
            </a:r>
          </a:p>
          <a:p/>
          <a:p>
            <a:r>
              <a:t>*3. Slurm Configuration Tuning:*</a:t>
            </a:r>
          </a:p>
          <a:p>
            <a:r>
              <a:t>- Challenge: Default Slurm config caused GPU fragmentation</a:t>
            </a:r>
          </a:p>
          <a:p>
            <a:r>
              <a:t>- Impact: Jobs waiting despite available GPUs</a:t>
            </a:r>
          </a:p>
          <a:p>
            <a:r>
              <a:t>- Resolution:</a:t>
            </a:r>
          </a:p>
          <a:p>
            <a:r>
              <a:t>  - Implemented gang scheduling for multi-node jobs</a:t>
            </a:r>
          </a:p>
          <a:p>
            <a:r>
              <a:t>  - Created GPU-aware partition configuration</a:t>
            </a:r>
          </a:p>
          <a:p>
            <a:r>
              <a:t>  - Tuned fair-share parameters for team balance</a:t>
            </a:r>
          </a:p>
          <a:p>
            <a:r>
              <a:t>- Lesson: Slurm requires AI workload-specific tuning</a:t>
            </a:r>
          </a:p>
          <a:p/>
          <a:p>
            <a:r>
              <a:t>**Recommendations for Future Enhancement:**</a:t>
            </a:r>
          </a:p>
          <a:p/>
          <a:p>
            <a:r>
              <a:t>*1. Expand to 16 DGX Systems (Phase 2):*</a:t>
            </a:r>
          </a:p>
          <a:p>
            <a:r>
              <a:t>- Current: 8 DGX H100 (64 GPUs)</a:t>
            </a:r>
          </a:p>
          <a:p>
            <a:r>
              <a:t>- Proposed: 16 DGX H100 (128 GPUs, 64 petaFLOPS)</a:t>
            </a:r>
          </a:p>
          <a:p>
            <a:r>
              <a:t>- Investment: ~$5M additional</a:t>
            </a:r>
          </a:p>
          <a:p>
            <a:r>
              <a:t>- Benefits: 2x training capacity, support 100+ researchers</a:t>
            </a:r>
          </a:p>
          <a:p>
            <a:r>
              <a:t>- Timeline: Plan for Year 2</a:t>
            </a:r>
          </a:p>
          <a:p/>
          <a:p>
            <a:r>
              <a:t>*2. Add Inference Cluster:*</a:t>
            </a:r>
          </a:p>
          <a:p>
            <a:r>
              <a:t>- Deploy dedicated inference nodes</a:t>
            </a:r>
          </a:p>
          <a:p>
            <a:r>
              <a:t>- NVIDIA Triton Inference Server</a:t>
            </a:r>
          </a:p>
          <a:p>
            <a:r>
              <a:t>- Separate production inference from training</a:t>
            </a:r>
          </a:p>
          <a:p>
            <a:r>
              <a:t>- Enable real-time AI applications</a:t>
            </a:r>
          </a:p>
          <a:p>
            <a:r>
              <a:t>- Estimated: $500K-1M investment</a:t>
            </a:r>
          </a:p>
          <a:p/>
          <a:p>
            <a:r>
              <a:t>*3. Implement MLOps Pipeline:*</a:t>
            </a:r>
          </a:p>
          <a:p>
            <a:r>
              <a:t>- MLflow for experiment tracking</a:t>
            </a:r>
          </a:p>
          <a:p>
            <a:r>
              <a:t>- Model registry and versioning</a:t>
            </a:r>
          </a:p>
          <a:p>
            <a:r>
              <a:t>- Automated training pipelines</a:t>
            </a:r>
          </a:p>
          <a:p>
            <a:r>
              <a:t>- CI/CD for model deployment</a:t>
            </a:r>
          </a:p>
          <a:p>
            <a:r>
              <a:t>- Estimated: 3-month implementation</a:t>
            </a:r>
          </a:p>
          <a:p/>
          <a:p>
            <a:r>
              <a:t>*Transition:*</a:t>
            </a:r>
          </a:p>
          <a:p>
            <a:r>
              <a:t>"Let me walk you through how we're transitioning support to your team..."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*Support Transition - Complete Details:*</a:t>
            </a:r>
          </a:p>
          <a:p/>
          <a:p>
            <a:r>
              <a:t>**Hypercare Period Summary (30 Days Post-Go-Live):**</a:t>
            </a:r>
          </a:p>
          <a:p/>
          <a:p>
            <a:r>
              <a:t>*Daily Activities Completed:*</a:t>
            </a:r>
          </a:p>
          <a:p>
            <a:r>
              <a:t>- Morning health check calls (9am) - first 2 weeks</a:t>
            </a:r>
          </a:p>
          <a:p>
            <a:r>
              <a:t>- DCGM dashboard review for GPU health</a:t>
            </a:r>
          </a:p>
          <a:p>
            <a:r>
              <a:t>- InfiniBand fabric error monitoring</a:t>
            </a:r>
          </a:p>
          <a:p>
            <a:r>
              <a:t>- Slurm queue and job completion validation</a:t>
            </a:r>
          </a:p>
          <a:p>
            <a:r>
              <a:t>- Storage utilization monitoring</a:t>
            </a:r>
          </a:p>
          <a:p/>
          <a:p>
            <a:r>
              <a:t>*Issues Resolved During Hypercare:*</a:t>
            </a:r>
          </a:p>
          <a:p/>
          <a:p>
            <a:r>
              <a:t>Issue #1 (P3) - Day 5:</a:t>
            </a:r>
          </a:p>
          <a:p>
            <a:r>
              <a:t>- Problem: GPU memory fragmentation on long-running jobs</a:t>
            </a:r>
          </a:p>
          <a:p>
            <a:r>
              <a:t>- Root cause: Default CUDA memory allocator settings</a:t>
            </a:r>
          </a:p>
          <a:p>
            <a:r>
              <a:t>- Resolution: Enabled CUDA memory pool allocator</a:t>
            </a:r>
          </a:p>
          <a:p>
            <a:r>
              <a:t>- Prevention: Added to standard job scripts</a:t>
            </a:r>
          </a:p>
          <a:p/>
          <a:p>
            <a:r>
              <a:t>Issue #2 (P3) - Day 12:</a:t>
            </a:r>
          </a:p>
          <a:p>
            <a:r>
              <a:t>- Problem: Slurm scheduler delays during peak submission</a:t>
            </a:r>
          </a:p>
          <a:p>
            <a:r>
              <a:t>- Root cause: Insufficient scheduler threads</a:t>
            </a:r>
          </a:p>
          <a:p>
            <a:r>
              <a:t>- Resolution: Increased slurmctld thread count</a:t>
            </a:r>
          </a:p>
          <a:p>
            <a:r>
              <a:t>- Cost impact: None (configuration change)</a:t>
            </a:r>
          </a:p>
          <a:p/>
          <a:p>
            <a:r>
              <a:t>*Knowledge Transfer Sessions Delivered:*</a:t>
            </a:r>
          </a:p>
          <a:p/>
          <a:p>
            <a:r>
              <a:t>| Session | Date | Attendees | Duration |</a:t>
            </a:r>
          </a:p>
          <a:p>
            <a:r>
              <a:t>|---------|------|-----------|----------|</a:t>
            </a:r>
          </a:p>
          <a:p>
            <a:r>
              <a:t>| DGX Admin Deep Dive | Week 16 | 4 IT staff | 4 hours |</a:t>
            </a:r>
          </a:p>
          <a:p>
            <a:r>
              <a:t>| InfiniBand Troubleshooting | Week 17 | 4 IT staff | 2 hours |</a:t>
            </a:r>
          </a:p>
          <a:p>
            <a:r>
              <a:t>| Slurm Administration | Week 17 | 4 IT staff | 2 hours |</a:t>
            </a:r>
          </a:p>
          <a:p>
            <a:r>
              <a:t>| DCGM Monitoring | Week 18 | 3 ops staff | 1.5 hours |</a:t>
            </a:r>
          </a:p>
          <a:p>
            <a:r>
              <a:t>| Data Scientist Onboarding | Week 16-17 | 45 users | 2 hours |</a:t>
            </a:r>
          </a:p>
          <a:p/>
          <a:p>
            <a:r>
              <a:t>*Runbook Validation:*</a:t>
            </a:r>
          </a:p>
          <a:p>
            <a:r>
              <a:t>- All 15 runbook procedures tested by client IT</a:t>
            </a:r>
          </a:p>
          <a:p>
            <a:r>
              <a:t>- Signed off by [IT Lead] on [Date]</a:t>
            </a:r>
          </a:p>
          <a:p>
            <a:r>
              <a:t>- Procedures validated:</a:t>
            </a:r>
          </a:p>
          <a:p>
            <a:r>
              <a:t>  1. Daily GPU health check</a:t>
            </a:r>
          </a:p>
          <a:p>
            <a:r>
              <a:t>  2. InfiniBand fabric diagnostics</a:t>
            </a:r>
          </a:p>
          <a:p>
            <a:r>
              <a:t>  3. Slurm job troubleshooting</a:t>
            </a:r>
          </a:p>
          <a:p>
            <a:r>
              <a:t>  4. Storage performance monitoring</a:t>
            </a:r>
          </a:p>
          <a:p>
            <a:r>
              <a:t>  5. DGX node restart procedures</a:t>
            </a:r>
          </a:p>
          <a:p>
            <a:r>
              <a:t>  6. Firmware update procedures</a:t>
            </a:r>
          </a:p>
          <a:p>
            <a:r>
              <a:t>  7. User account management</a:t>
            </a:r>
          </a:p>
          <a:p>
            <a:r>
              <a:t>  8. NGC container updates</a:t>
            </a:r>
          </a:p>
          <a:p>
            <a:r>
              <a:t>  9. Backup and checkpoint validation</a:t>
            </a:r>
          </a:p>
          <a:p>
            <a:r>
              <a:t>  10. Security incident response</a:t>
            </a:r>
          </a:p>
          <a:p>
            <a:r>
              <a:t>  11. Performance troubleshooting</a:t>
            </a:r>
          </a:p>
          <a:p>
            <a:r>
              <a:t>  12. Hardware failure response</a:t>
            </a:r>
          </a:p>
          <a:p>
            <a:r>
              <a:t>  13. NVIDIA support escalation</a:t>
            </a:r>
          </a:p>
          <a:p>
            <a:r>
              <a:t>  14. Capacity planning review</a:t>
            </a:r>
          </a:p>
          <a:p>
            <a:r>
              <a:t>  15. Emergency contact procedures</a:t>
            </a:r>
          </a:p>
          <a:p/>
          <a:p>
            <a:r>
              <a:t>**Steady State Support Model:**</a:t>
            </a:r>
          </a:p>
          <a:p/>
          <a:p>
            <a:r>
              <a:t>*What Client Team Handles (L1/L2):*</a:t>
            </a:r>
          </a:p>
          <a:p>
            <a:r>
              <a:t>- Daily monitoring via DCGM and Grafana dashboards</a:t>
            </a:r>
          </a:p>
          <a:p>
            <a:r>
              <a:t>- Slurm queue management and job troubleshooting</a:t>
            </a:r>
          </a:p>
          <a:p>
            <a:r>
              <a:t>- User access administration and SSH key management</a:t>
            </a:r>
          </a:p>
          <a:p>
            <a:r>
              <a:t>- Basic hardware diagnostics per runbook</a:t>
            </a:r>
          </a:p>
          <a:p>
            <a:r>
              <a:t>- Performance trend monitoring</a:t>
            </a:r>
          </a:p>
          <a:p>
            <a:r>
              <a:t>- NGC container updates and management</a:t>
            </a:r>
          </a:p>
          <a:p/>
          <a:p>
            <a:r>
              <a:t>*When to Escalate to NVIDIA (L3):*</a:t>
            </a:r>
          </a:p>
          <a:p>
            <a:r>
              <a:t>- Hardware failures (GPU, InfiniBand, storage)</a:t>
            </a:r>
          </a:p>
          <a:p>
            <a:r>
              <a:t>- Firmware updates requiring support guidance</a:t>
            </a:r>
          </a:p>
          <a:p>
            <a:r>
              <a:t>- Performance degradation not resolved by runbook</a:t>
            </a:r>
          </a:p>
          <a:p>
            <a:r>
              <a:t>- InfiniBand fabric issues</a:t>
            </a:r>
          </a:p>
          <a:p>
            <a:r>
              <a:t>- DGX OS updates and patches</a:t>
            </a:r>
          </a:p>
          <a:p>
            <a:r>
              <a:t>- Base Command platform issues</a:t>
            </a:r>
          </a:p>
          <a:p/>
          <a:p>
            <a:r>
              <a:t>**NVIDIA Enterprise Support Details:**</a:t>
            </a:r>
          </a:p>
          <a:p/>
          <a:p>
            <a:r>
              <a:t>| Coverage | Details |</a:t>
            </a:r>
          </a:p>
          <a:p>
            <a:r>
              <a:t>|----------|---------|</a:t>
            </a:r>
          </a:p>
          <a:p>
            <a:r>
              <a:t>| Hours | 24x7x365 |</a:t>
            </a:r>
          </a:p>
          <a:p>
            <a:r>
              <a:t>| Response (Critical) | 4 hours |</a:t>
            </a:r>
          </a:p>
          <a:p>
            <a:r>
              <a:t>| Response (High) | 8 hours |</a:t>
            </a:r>
          </a:p>
          <a:p>
            <a:r>
              <a:t>| Response (Medium) | 24 hours |</a:t>
            </a:r>
          </a:p>
          <a:p>
            <a:r>
              <a:t>| Contract Type | Enterprise Support |</a:t>
            </a:r>
          </a:p>
          <a:p>
            <a:r>
              <a:t>| DGX Expert Assistance | Included |</a:t>
            </a:r>
          </a:p>
          <a:p/>
          <a:p>
            <a:r>
              <a:t>**Support Contact Information:**</a:t>
            </a:r>
          </a:p>
          <a:p/>
          <a:p>
            <a:r>
              <a:t>| Role | Contact | Availability |</a:t>
            </a:r>
          </a:p>
          <a:p>
            <a:r>
              <a:t>|------|---------|--------------|</a:t>
            </a:r>
          </a:p>
          <a:p>
            <a:r>
              <a:t>| IT Operations | ops@client.com | Business hours |</a:t>
            </a:r>
          </a:p>
          <a:p>
            <a:r>
              <a:t>| DGX Admin Team | dgx-admin@client.com | Business hours |</a:t>
            </a:r>
          </a:p>
          <a:p>
            <a:r>
              <a:t>| NVIDIA Support | enterprisesupport.nvidia.com | 24/7 |</a:t>
            </a:r>
          </a:p>
          <a:p>
            <a:r>
              <a:t>| Partner Support | support@partner.com | Business hours |</a:t>
            </a:r>
          </a:p>
          <a:p>
            <a:r>
              <a:t>| Emergency | NVIDIA Priority Line | 24/7 |</a:t>
            </a:r>
          </a:p>
          <a:p/>
          <a:p>
            <a:r>
              <a:t>*Transition:*</a:t>
            </a:r>
          </a:p>
          <a:p>
            <a:r>
              <a:t>"Let me acknowledge the team that made this possible and outline next steps..."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*Acknowledgments - Recognize Key Contributors:*</a:t>
            </a:r>
          </a:p>
          <a:p/>
          <a:p>
            <a:r>
              <a:t>**Client Team Recognition:**</a:t>
            </a:r>
          </a:p>
          <a:p/>
          <a:p>
            <a:r>
              <a:t>*Executive Sponsor - [Name]:*</a:t>
            </a:r>
          </a:p>
          <a:p>
            <a:r>
              <a:t>- Championed the project from discovery through go-live</a:t>
            </a:r>
          </a:p>
          <a:p>
            <a:r>
              <a:t>- Secured $5.2M budget approval</a:t>
            </a:r>
          </a:p>
          <a:p>
            <a:r>
              <a:t>- Removed blockers when escalated</a:t>
            </a:r>
          </a:p>
          <a:p>
            <a:r>
              <a:t>- Key decision: Approved accelerated facilities upgrade</a:t>
            </a:r>
          </a:p>
          <a:p/>
          <a:p>
            <a:r>
              <a:t>*Facilities Lead - [Name]:*</a:t>
            </a:r>
          </a:p>
          <a:p>
            <a:r>
              <a:t>- Led 500 kW power infrastructure upgrade</a:t>
            </a:r>
          </a:p>
          <a:p>
            <a:r>
              <a:t>- Coordinated cooling system enhancements</a:t>
            </a:r>
          </a:p>
          <a:p>
            <a:r>
              <a:t>- Completed facilities work 2 weeks early</a:t>
            </a:r>
          </a:p>
          <a:p>
            <a:r>
              <a:t>- Enabled on-schedule DGX installation</a:t>
            </a:r>
          </a:p>
          <a:p/>
          <a:p>
            <a:r>
              <a:t>*IT Infrastructure Lead - [Name]:*</a:t>
            </a:r>
          </a:p>
          <a:p>
            <a:r>
              <a:t>- Technical counterpart throughout implementation</a:t>
            </a:r>
          </a:p>
          <a:p>
            <a:r>
              <a:t>- Led InfiniBand fabric configuration</a:t>
            </a:r>
          </a:p>
          <a:p>
            <a:r>
              <a:t>- Managed Slurm workload manager setup</a:t>
            </a:r>
          </a:p>
          <a:p>
            <a:r>
              <a:t>- Knowledge transfer recipient and future owner</a:t>
            </a:r>
          </a:p>
          <a:p/>
          <a:p>
            <a:r>
              <a:t>*AI Research Leadership - [Name]:*</a:t>
            </a:r>
          </a:p>
          <a:p>
            <a:r>
              <a:t>- Requirements definition and validation</a:t>
            </a:r>
          </a:p>
          <a:p>
            <a:r>
              <a:t>- UAT coordination with research teams</a:t>
            </a:r>
          </a:p>
          <a:p>
            <a:r>
              <a:t>- User onboarding and training logistics</a:t>
            </a:r>
          </a:p>
          <a:p>
            <a:r>
              <a:t>- Champion for adoption across teams</a:t>
            </a:r>
          </a:p>
          <a:p/>
          <a:p>
            <a:r>
              <a:t>*Research Teams:*</a:t>
            </a:r>
          </a:p>
          <a:p>
            <a:r>
              <a:t>- 52 researchers actively using the platform</a:t>
            </a:r>
          </a:p>
          <a:p>
            <a:r>
              <a:t>- Provided workload validation during testing</a:t>
            </a:r>
          </a:p>
          <a:p>
            <a:r>
              <a:t>- Achieved 78% GPU utilization in first month</a:t>
            </a:r>
          </a:p>
          <a:p>
            <a:r>
              <a:t>- Strong adoption across NLP, CV, and drug discovery</a:t>
            </a:r>
          </a:p>
          <a:p/>
          <a:p>
            <a:r>
              <a:t>**Vendor Team Recognition:**</a:t>
            </a:r>
          </a:p>
          <a:p/>
          <a:p>
            <a:r>
              <a:t>*Project Manager - [Name]:*</a:t>
            </a:r>
          </a:p>
          <a:p>
            <a:r>
              <a:t>- Overall delivery accountability</a:t>
            </a:r>
          </a:p>
          <a:p>
            <a:r>
              <a:t>- Stakeholder communication</a:t>
            </a:r>
          </a:p>
          <a:p>
            <a:r>
              <a:t>- Risk and issue management</a:t>
            </a:r>
          </a:p>
          <a:p>
            <a:r>
              <a:t>- On-time, on-budget delivery</a:t>
            </a:r>
          </a:p>
          <a:p/>
          <a:p>
            <a:r>
              <a:t>*DGX Solutions Architect - [Name]:*</a:t>
            </a:r>
          </a:p>
          <a:p>
            <a:r>
              <a:t>- DGX SuperPOD architecture design</a:t>
            </a:r>
          </a:p>
          <a:p>
            <a:r>
              <a:t>- InfiniBand fabric topology</a:t>
            </a:r>
          </a:p>
          <a:p>
            <a:r>
              <a:t>- Performance optimization</a:t>
            </a:r>
          </a:p>
          <a:p>
            <a:r>
              <a:t>- Technical documentation lead</a:t>
            </a:r>
          </a:p>
          <a:p/>
          <a:p>
            <a:r>
              <a:t>*Network Engineer - [Name]:*</a:t>
            </a:r>
          </a:p>
          <a:p>
            <a:r>
              <a:t>- InfiniBand fabric installation</a:t>
            </a:r>
          </a:p>
          <a:p>
            <a:r>
              <a:t>- Switch configuration and validation</a:t>
            </a:r>
          </a:p>
          <a:p>
            <a:r>
              <a:t>- GPUDirect RDMA enablement</a:t>
            </a:r>
          </a:p>
          <a:p>
            <a:r>
              <a:t>- Fabric troubleshooting expertise</a:t>
            </a:r>
          </a:p>
          <a:p/>
          <a:p>
            <a:r>
              <a:t>**Special Recognition:**</a:t>
            </a:r>
          </a:p>
          <a:p>
            <a:r>
              <a:t>"I want to especially thank the facilities team. They completed a 500 kW power infrastructure upgrade in 7 weeks - a project that typically takes 12 weeks. This accelerated timeline enabled us to deliver the DGX SuperPOD on schedule. Their dedication to working evenings and weekends during critical installation phases made this success possible."</a:t>
            </a:r>
          </a:p>
          <a:p/>
          <a:p>
            <a:r>
              <a:t>**Immediate Next Steps (This Week):**</a:t>
            </a:r>
          </a:p>
          <a:p/>
          <a:p>
            <a:r>
              <a:t>| Task | Owner | Due Date |</a:t>
            </a:r>
          </a:p>
          <a:p>
            <a:r>
              <a:t>|------|-------|----------|</a:t>
            </a:r>
          </a:p>
          <a:p>
            <a:r>
              <a:t>| Final documentation handover | PM | [Date] |</a:t>
            </a:r>
          </a:p>
          <a:p>
            <a:r>
              <a:t>| Archive project SharePoint | PM | [Date] |</a:t>
            </a:r>
          </a:p>
          <a:p>
            <a:r>
              <a:t>| Close project tracking | PM | [Date] |</a:t>
            </a:r>
          </a:p>
          <a:p>
            <a:r>
              <a:t>| Confirm NVIDIA support contacts | IT Lead | [Date] |</a:t>
            </a:r>
          </a:p>
          <a:p>
            <a:r>
              <a:t>| Schedule monthly review | IT Lead | [Date] |</a:t>
            </a:r>
          </a:p>
          <a:p/>
          <a:p>
            <a:r>
              <a:t>**30-Day Next Steps:**</a:t>
            </a:r>
          </a:p>
          <a:p/>
          <a:p>
            <a:r>
              <a:t>| Task | Owner | Due Date |</a:t>
            </a:r>
          </a:p>
          <a:p>
            <a:r>
              <a:t>|------|-------|----------|</a:t>
            </a:r>
          </a:p>
          <a:p>
            <a:r>
              <a:t>| First monthly performance review | IT Lead | [Date+30] |</a:t>
            </a:r>
          </a:p>
          <a:p>
            <a:r>
              <a:t>| GPU utilization optimization | AI Lead | [Date+30] |</a:t>
            </a:r>
          </a:p>
          <a:p>
            <a:r>
              <a:t>| Slurm fair-share tuning | IT Lead | [Date+30] |</a:t>
            </a:r>
          </a:p>
          <a:p>
            <a:r>
              <a:t>| User satisfaction survey | PM | [Date+30] |</a:t>
            </a:r>
          </a:p>
          <a:p>
            <a:r>
              <a:t>| Phase 2 requirements gathering | AI Lead | [Date+30] |</a:t>
            </a:r>
          </a:p>
          <a:p/>
          <a:p>
            <a:r>
              <a:t>**Quarterly Planning (Next Quarter):**</a:t>
            </a:r>
          </a:p>
          <a:p>
            <a:r>
              <a:t>- Phase 2 planning workshop</a:t>
            </a:r>
          </a:p>
          <a:p>
            <a:r>
              <a:t>- Capacity expansion assessment</a:t>
            </a:r>
          </a:p>
          <a:p>
            <a:r>
              <a:t>- Inference cluster evaluation</a:t>
            </a:r>
          </a:p>
          <a:p>
            <a:r>
              <a:t>- MLOps implementation planning</a:t>
            </a:r>
          </a:p>
          <a:p>
            <a:r>
              <a:t>- Year 2 budget planning</a:t>
            </a:r>
          </a:p>
          <a:p/>
          <a:p>
            <a:r>
              <a:t>**Phase 2 Opportunities:**</a:t>
            </a:r>
          </a:p>
          <a:p/>
          <a:p>
            <a:r>
              <a:t>| Enhancement | Investment | Timeline | ROI |</a:t>
            </a:r>
          </a:p>
          <a:p>
            <a:r>
              <a:t>|-------------|------------|----------|-----|</a:t>
            </a:r>
          </a:p>
          <a:p>
            <a:r>
              <a:t>| Expand to 16 DGX | ~$5M | 6 months | 2x capacity |</a:t>
            </a:r>
          </a:p>
          <a:p>
            <a:r>
              <a:t>| Inference Cluster | ~$1M | 3 months | Production AI |</a:t>
            </a:r>
          </a:p>
          <a:p>
            <a:r>
              <a:t>| MLOps Pipeline | ~$200K | 3 months | 50% efficiency |</a:t>
            </a:r>
          </a:p>
          <a:p/>
          <a:p>
            <a:r>
              <a:t>Recommendation: Start Phase 2 planning in Q2 to capture momentum</a:t>
            </a:r>
          </a:p>
          <a:p/>
          <a:p>
            <a:r>
              <a:t>*Transition:*</a:t>
            </a:r>
          </a:p>
          <a:p>
            <a:r>
              <a:t>"Thank you for your partnership on this project. Let me open the floor for questions..."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and Q&amp;A Preparation:*</a:t>
            </a:r>
          </a:p>
          <a:p/>
          <a:p>
            <a:r>
              <a:t>**Closing Statement:**</a:t>
            </a:r>
          </a:p>
          <a:p>
            <a:r>
              <a:t>"Thank you for your partnership throughout this project. We've successfully deployed a world-class AI supercomputing infrastructure that will accelerate [Client Name]'s AI innovation for years to come. The DGX SuperPOD is exceeding all performance targets, your team is trained and ready, and you're already seeing measurable value with 52 researchers actively using the platform.</a:t>
            </a:r>
          </a:p>
          <a:p/>
          <a:p>
            <a:r>
              <a:t>I want to open the floor for questions. We have [time] remaining."</a:t>
            </a:r>
          </a:p>
          <a:p/>
          <a:p>
            <a:r>
              <a:t>**Anticipated Questions and Prepared Answers:**</a:t>
            </a:r>
          </a:p>
          <a:p/>
          <a:p>
            <a:r>
              <a:t>*Q: What happens if a DGX node fails?*</a:t>
            </a:r>
          </a:p>
          <a:p>
            <a:r>
              <a:t>A: The Slurm scheduler automatically routes jobs to healthy nodes. NVIDIA Enterprise Support has 4-hour response SLA for hardware issues. We have remote diagnostics capability and spare parts are typically shipped same-day. The runbook has procedures for node isolation and recovery.</a:t>
            </a:r>
          </a:p>
          <a:p/>
          <a:p>
            <a:r>
              <a:t>*Q: How do we add more DGX systems?*</a:t>
            </a:r>
          </a:p>
          <a:p>
            <a:r>
              <a:t>A: The InfiniBand fabric is designed for expansion. Adding 8 more DGX systems requires: (1) Additional InfiniBand switches, (2) Power capacity (additional 500 kW), (3) Rack space. NVIDIA can provide sizing and we can assist with Phase 2 planning. Typical timeline: 16-20 weeks from order.</a:t>
            </a:r>
          </a:p>
          <a:p/>
          <a:p>
            <a:r>
              <a:t>*Q: What are the ongoing costs?*</a:t>
            </a:r>
          </a:p>
          <a:p>
            <a:r>
              <a:t>A: Annual operating costs are approximately $472K:</a:t>
            </a:r>
          </a:p>
          <a:p>
            <a:r>
              <a:t>- NVIDIA AI Enterprise: $76,640/year</a:t>
            </a:r>
          </a:p>
          <a:p>
            <a:r>
              <a:t>- Support &amp; Maintenance: $320,000/year</a:t>
            </a:r>
          </a:p>
          <a:p>
            <a:r>
              <a:t>- Power &amp; Cooling: ~$75,000/year</a:t>
            </a:r>
          </a:p>
          <a:p>
            <a:r>
              <a:t>This compares to $2.5M/year cloud baseline - 70% savings.</a:t>
            </a:r>
          </a:p>
          <a:p/>
          <a:p>
            <a:r>
              <a:t>*Q: How do we handle a surge in training demand?*</a:t>
            </a:r>
          </a:p>
          <a:p>
            <a:r>
              <a:t>A: Slurm fair-share scheduling distributes capacity across teams. For sustained high demand, we can: (1) Optimize job scheduling, (2) Implement job preemption policies, (3) Plan Phase 2 expansion. Current system can scale to 100+ researchers with scheduling optimization.</a:t>
            </a:r>
          </a:p>
          <a:p/>
          <a:p>
            <a:r>
              <a:t>*Q: What if a key admin leaves?*</a:t>
            </a:r>
          </a:p>
          <a:p>
            <a:r>
              <a:t>A: All knowledge is documented in the operations runbook and training materials. Video recordings of all training sessions are available. We recommend cross-training at least two people on DGX administration. NVIDIA Enterprise Support is available 24/7 for escalations.</a:t>
            </a:r>
          </a:p>
          <a:p/>
          <a:p>
            <a:r>
              <a:t>*Q: How do we keep the software stack updated?*</a:t>
            </a:r>
          </a:p>
          <a:p>
            <a:r>
              <a:t>A: NGC containers are updated monthly. The runbook includes procedures for: (1) Testing updates in isolated partition, (2) Rolling updates across nodes, (3) Rollback if issues arise. NVIDIA provides update notifications and support.</a:t>
            </a:r>
          </a:p>
          <a:p/>
          <a:p>
            <a:r>
              <a:t>**Demo Offer:**</a:t>
            </a:r>
          </a:p>
          <a:p>
            <a:r>
              <a:t>"Would anyone like to see the DCGM monitoring dashboard or Slurm queue in action? I can show you real-time GPU utilization and job scheduling."</a:t>
            </a:r>
          </a:p>
          <a:p/>
          <a:p>
            <a:r>
              <a:t>**Follow-Up Commitments:**</a:t>
            </a:r>
          </a:p>
          <a:p>
            <a:r>
              <a:t>- [ ] Send final presentation deck to all attendees</a:t>
            </a:r>
          </a:p>
          <a:p>
            <a:r>
              <a:t>- [ ] Distribute project summary one-pager for executives</a:t>
            </a:r>
          </a:p>
          <a:p>
            <a:r>
              <a:t>- [ ] Schedule 30-day performance review meeting</a:t>
            </a:r>
          </a:p>
          <a:p>
            <a:r>
              <a:t>- [ ] Send Phase 2 planning workshop invitation</a:t>
            </a:r>
          </a:p>
          <a:p>
            <a:r>
              <a:t>- [ ] Provide NVIDIA support contract documentation</a:t>
            </a:r>
          </a:p>
          <a:p/>
          <a:p>
            <a:r>
              <a:t>**Final Closing:**</a:t>
            </a:r>
          </a:p>
          <a:p>
            <a:r>
              <a:t>"Thank you again for your trust in our team. This DGX SuperPOD represents a significant investment in AI capability that will pay dividends for years. We look forward to continuing this partnership as you expand your AI infrastructure.</a:t>
            </a:r>
          </a:p>
          <a:p/>
          <a:p>
            <a:r>
              <a:t>Please don't hesitate to reach out to me or [Account Manager] if any questions come up. Have a great [rest of your day/afternoon]."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NVIDIA DGX SuperPOD AI Infrastructure</a:t>
            </a:r>
          </a:p>
        </p:txBody>
      </p:sp>
      <p:sp>
        <p:nvSpPr>
          <p:cNvPr id="6" name="Text Placeholder 5"/>
          <p:cNvSpPr>
            <a:spLocks noGrp="1"/>
          </p:cNvSpPr>
          <p:nvPr>
            <p:ph type="body" idx="15" sz="quarter"/>
          </p:nvPr>
        </p:nvSpPr>
        <p:spPr/>
        <p:txBody>
          <a:bodyPr/>
          <a:lstStyle/>
          <a:p>
            <a:r>
              <a:t>Project Manager | November 28,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Executive Summary</a:t>
            </a:r>
          </a:p>
        </p:txBody>
      </p:sp>
      <p:sp>
        <p:nvSpPr>
          <p:cNvPr id="4" name="Text Placeholder 3"/>
          <p:cNvSpPr>
            <a:spLocks noGrp="1"/>
          </p:cNvSpPr>
          <p:nvPr>
            <p:ph type="body" idx="14" sz="quarter"/>
          </p:nvPr>
        </p:nvSpPr>
        <p:spPr/>
        <p:txBody>
          <a:bodyPr/>
          <a:lstStyle/>
          <a:p>
            <a:pPr/>
            <a:r>
              <a:rPr b="1"/>
              <a:t>Project Duration:</a:t>
            </a:r>
            <a:r>
              <a:t> 19 weeks, on schedule</a:t>
            </a:r>
          </a:p>
          <a:p>
            <a:pPr/>
            <a:r>
              <a:rPr b="1"/>
              <a:t>Budget:</a:t>
            </a:r>
            <a:r>
              <a:t> $5.24M Year 1 delivered on budget</a:t>
            </a:r>
          </a:p>
          <a:p>
            <a:pPr/>
            <a:r>
              <a:rPr b="1"/>
              <a:t>Go-Live Date:</a:t>
            </a:r>
            <a:r>
              <a:t> Week 15 as planned</a:t>
            </a:r>
          </a:p>
          <a:p>
            <a:pPr/>
            <a:r>
              <a:rPr b="1"/>
              <a:t>Quality:</a:t>
            </a:r>
            <a:r>
              <a:t> Zero critical defects at launch</a:t>
            </a:r>
          </a:p>
          <a:p>
            <a:pPr/>
            <a:r>
              <a:rPr b="1"/>
              <a:t>GPU Performance:</a:t>
            </a:r>
            <a:r>
              <a:t> 32 petaFLOPS FP8 validated</a:t>
            </a:r>
          </a:p>
          <a:p>
            <a:pPr/>
            <a:r>
              <a:rPr b="1"/>
              <a:t>Training Acceleration:</a:t>
            </a:r>
            <a:r>
              <a:t> 10x faster than cloud baseline</a:t>
            </a:r>
          </a:p>
          <a:p>
            <a:pPr/>
            <a:r>
              <a:rPr b="1"/>
              <a:t>ROI Status:</a:t>
            </a:r>
            <a:r>
              <a:t> On track for 2.3-year payback</a:t>
            </a:r>
          </a:p>
        </p:txBody>
      </p:sp>
      <p:sp>
        <p:nvSpPr>
          <p:cNvPr id="5" name="Text Placeholder 4"/>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Architecture</a:t>
            </a:r>
          </a:p>
        </p:txBody>
      </p:sp>
      <p:sp>
        <p:nvSpPr>
          <p:cNvPr id="5" name="Text Placeholder 4"/>
          <p:cNvSpPr>
            <a:spLocks noGrp="1"/>
          </p:cNvSpPr>
          <p:nvPr>
            <p:ph type="body" idx="16" sz="quarter"/>
          </p:nvPr>
        </p:nvSpPr>
        <p:spPr/>
        <p:txBody>
          <a:bodyPr/>
          <a:lstStyle/>
          <a:p>
            <a:pPr/>
            <a:r>
              <a:rPr b="1"/>
              <a:t>Compute Infrastructure</a:t>
            </a:r>
          </a:p>
          <a:p>
            <a:pPr lvl="1"/>
            <a:r>
              <a:t>8x DGX H100 with 64 H100 80GB GPUs</a:t>
            </a:r>
          </a:p>
          <a:p>
            <a:pPr lvl="1"/>
            <a:r>
              <a:t>32 petaFLOPS FP8 AI performance</a:t>
            </a:r>
          </a:p>
          <a:p>
            <a:pPr lvl="1"/>
            <a:r>
              <a:t>5.1 TB total GPU memory</a:t>
            </a:r>
          </a:p>
          <a:p>
            <a:pPr/>
            <a:r>
              <a:rPr b="1"/>
              <a:t>High-Performance Network</a:t>
            </a:r>
          </a:p>
          <a:p>
            <a:pPr lvl="1"/>
            <a:r>
              <a:t>Quantum-2 InfiniBand 400 Gbps</a:t>
            </a:r>
          </a:p>
          <a:p>
            <a:pPr lvl="1"/>
            <a:r>
              <a:t>&lt;2 microsecond GPU-to-GPU latency</a:t>
            </a:r>
          </a:p>
          <a:p>
            <a:pPr lvl="1"/>
            <a:r>
              <a:t>3.2 Tbps aggregate bandwidth</a:t>
            </a:r>
          </a:p>
          <a:p>
            <a:pPr/>
            <a:r>
              <a:rPr b="1"/>
              <a:t>AI Platform</a:t>
            </a:r>
          </a:p>
          <a:p>
            <a:pPr lvl="1"/>
            <a:r>
              <a:t>Base Command with 1 PB NVMe storage</a:t>
            </a:r>
          </a:p>
          <a:p>
            <a:pPr lvl="1"/>
            <a:r>
              <a:t>NGC containers and Slurm scheduler</a:t>
            </a:r>
          </a:p>
          <a:p>
            <a:pPr lvl="1"/>
            <a:r>
              <a:t>DCGM monitoring and Grafana dashboards</a:t>
            </a:r>
          </a:p>
        </p:txBody>
      </p:sp>
      <p:sp>
        <p:nvSpPr>
          <p:cNvPr id="6" name="Text Placeholder 5"/>
          <p:cNvSpPr>
            <a:spLocks noGrp="1"/>
          </p:cNvSpPr>
          <p:nvPr>
            <p:ph type="body" idx="17" sz="quarter"/>
          </p:nvPr>
        </p:nvSpPr>
        <p:spPr/>
        <p:txBody>
          <a:bodyPr/>
          <a:lstStyle/>
          <a:p>
            <a:pPr algn="r">
              <a:buNone/>
            </a:pPr>
            <a:r>
              <a:rPr sz="1100">
                <a:solidFill>
                  <a:srgbClr val="CC0000"/>
                </a:solidFill>
              </a:rPr>
              <a:t>NVIDIA DGX SuperPOD AI Infrastructure</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4"/>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Deliverables Inventory</a:t>
            </a:r>
          </a:p>
        </p:txBody>
      </p:sp>
      <p:graphicFrame>
        <p:nvGraphicFramePr>
          <p:cNvPr id="4" name="Table Placeholder 3"/>
          <p:cNvGraphicFramePr>
            <a:graphicFrameLocks noGrp="1"/>
          </p:cNvGraphicFramePr>
          <p:nvPr>
            <p:ph type="tbl" idx="14" sz="quarter"/>
          </p:nvPr>
        </p:nvGraphicFramePr>
        <p:xfrm>
          <a:off x="256855" y="677011"/>
          <a:ext cx="8710931" cy="3337560"/>
        </p:xfrm>
        <a:graphic>
          <a:graphicData uri="http://schemas.openxmlformats.org/drawingml/2006/table">
            <a:tbl>
              <a:tblPr firstRow="1" bandRow="1">
                <a:tableStyleId>{5C22544A-7EE6-4342-B048-85BDC9FD1C3A}</a:tableStyleId>
              </a:tblPr>
              <a:tblGrid>
                <a:gridCol w="2613279"/>
                <a:gridCol w="3919919"/>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Detailed Design Document</a:t>
                      </a:r>
                    </a:p>
                  </a:txBody>
                  <a:tcPr>
                    <a:solidFill>
                      <a:srgbClr val="E7E6E6"/>
                    </a:solidFill>
                  </a:tcPr>
                </a:tc>
                <a:tc>
                  <a:txBody>
                    <a:bodyPr/>
                    <a:lstStyle/>
                    <a:p>
                      <a:r>
                        <a:rPr sz="1100"/>
                        <a:t>DGX architecture, InfiniBand topology, storage design</a:t>
                      </a:r>
                    </a:p>
                  </a:txBody>
                  <a:tcPr>
                    <a:solidFill>
                      <a:srgbClr val="E7E6E6"/>
                    </a:solidFill>
                  </a:tcPr>
                </a:tc>
                <a:tc>
                  <a:txBody>
                    <a:bodyPr/>
                    <a:lstStyle/>
                    <a:p>
                      <a:r>
                        <a:rPr sz="1100"/>
                        <a:t>`/delivery/detailed-design.docx`</a:t>
                      </a:r>
                    </a:p>
                  </a:txBody>
                  <a:tcPr>
                    <a:solidFill>
                      <a:srgbClr val="E7E6E6"/>
                    </a:solidFill>
                  </a:tcPr>
                </a:tc>
              </a:tr>
              <a:tr h="370840">
                <a:tc>
                  <a:txBody>
                    <a:bodyPr/>
                    <a:lstStyle/>
                    <a:p>
                      <a:r>
                        <a:rPr b="1" sz="1100"/>
                        <a:t>Implementation Guide</a:t>
                      </a:r>
                    </a:p>
                  </a:txBody>
                  <a:tcPr>
                    <a:solidFill>
                      <a:srgbClr val="E7E6E6"/>
                    </a:solidFill>
                  </a:tcPr>
                </a:tc>
                <a:tc>
                  <a:txBody>
                    <a:bodyPr/>
                    <a:lstStyle/>
                    <a:p>
                      <a:r>
                        <a:rPr sz="1100"/>
                        <a:t>Step-by-step deployment with validation procedures</a:t>
                      </a:r>
                    </a:p>
                  </a:txBody>
                  <a:tcPr>
                    <a:solidFill>
                      <a:srgbClr val="E7E6E6"/>
                    </a:solidFill>
                  </a:tcPr>
                </a:tc>
                <a:tc>
                  <a:txBody>
                    <a:bodyPr/>
                    <a:lstStyle/>
                    <a:p>
                      <a:r>
                        <a:rPr sz="1100"/>
                        <a:t>`/delivery/implementation-guide.docx`</a:t>
                      </a:r>
                    </a:p>
                  </a:txBody>
                  <a:tcPr>
                    <a:solidFill>
                      <a:srgbClr val="E7E6E6"/>
                    </a:solidFill>
                  </a:tcPr>
                </a:tc>
              </a:tr>
              <a:tr h="370840">
                <a:tc>
                  <a:txBody>
                    <a:bodyPr/>
                    <a:lstStyle/>
                    <a:p>
                      <a:r>
                        <a:rPr b="1" sz="1100"/>
                        <a:t>Project Plan</a:t>
                      </a:r>
                    </a:p>
                  </a:txBody>
                  <a:tcPr>
                    <a:solidFill>
                      <a:srgbClr val="E7E6E6"/>
                    </a:solidFill>
                  </a:tcPr>
                </a:tc>
                <a:tc>
                  <a:txBody>
                    <a:bodyPr/>
                    <a:lstStyle/>
                    <a:p>
                      <a:r>
                        <a:rPr sz="1100"/>
                        <a:t>Timeline, milestones, RACI, communications</a:t>
                      </a:r>
                    </a:p>
                  </a:txBody>
                  <a:tcPr>
                    <a:solidFill>
                      <a:srgbClr val="E7E6E6"/>
                    </a:solidFill>
                  </a:tcPr>
                </a:tc>
                <a:tc>
                  <a:txBody>
                    <a:bodyPr/>
                    <a:lstStyle/>
                    <a:p>
                      <a:r>
                        <a:rPr sz="1100"/>
                        <a:t>`/delivery/project-plan.xlsx`</a:t>
                      </a:r>
                    </a:p>
                  </a:txBody>
                  <a:tcPr>
                    <a:solidFill>
                      <a:srgbClr val="E7E6E6"/>
                    </a:solidFill>
                  </a:tcPr>
                </a:tc>
              </a:tr>
              <a:tr h="370840">
                <a:tc>
                  <a:txBody>
                    <a:bodyPr/>
                    <a:lstStyle/>
                    <a:p>
                      <a:r>
                        <a:rPr b="1" sz="1100"/>
                        <a:t>Test Plan &amp; Results</a:t>
                      </a:r>
                    </a:p>
                  </a:txBody>
                  <a:tcPr>
                    <a:solidFill>
                      <a:srgbClr val="E7E6E6"/>
                    </a:solidFill>
                  </a:tcPr>
                </a:tc>
                <a:tc>
                  <a:txBody>
                    <a:bodyPr/>
                    <a:lstStyle/>
                    <a:p>
                      <a:r>
                        <a:rPr sz="1100"/>
                        <a:t>Performance benchmarks, acceptance testing</a:t>
                      </a:r>
                    </a:p>
                  </a:txBody>
                  <a:tcPr>
                    <a:solidFill>
                      <a:srgbClr val="E7E6E6"/>
                    </a:solidFill>
                  </a:tcPr>
                </a:tc>
                <a:tc>
                  <a:txBody>
                    <a:bodyPr/>
                    <a:lstStyle/>
                    <a:p>
                      <a:r>
                        <a:rPr sz="1100"/>
                        <a:t>`/delivery/test-plan.xlsx`</a:t>
                      </a:r>
                    </a:p>
                  </a:txBody>
                  <a:tcPr>
                    <a:solidFill>
                      <a:srgbClr val="E7E6E6"/>
                    </a:solidFill>
                  </a:tcPr>
                </a:tc>
              </a:tr>
              <a:tr h="370840">
                <a:tc>
                  <a:txBody>
                    <a:bodyPr/>
                    <a:lstStyle/>
                    <a:p>
                      <a:r>
                        <a:rPr b="1" sz="1100"/>
                        <a:t>Configuration Guide</a:t>
                      </a:r>
                    </a:p>
                  </a:txBody>
                  <a:tcPr>
                    <a:solidFill>
                      <a:srgbClr val="E7E6E6"/>
                    </a:solidFill>
                  </a:tcPr>
                </a:tc>
                <a:tc>
                  <a:txBody>
                    <a:bodyPr/>
                    <a:lstStyle/>
                    <a:p>
                      <a:r>
                        <a:rPr sz="1100"/>
                        <a:t>DGX, InfiniBand, Slurm, NGC configuration</a:t>
                      </a:r>
                    </a:p>
                  </a:txBody>
                  <a:tcPr>
                    <a:solidFill>
                      <a:srgbClr val="E7E6E6"/>
                    </a:solidFill>
                  </a:tcPr>
                </a:tc>
                <a:tc>
                  <a:txBody>
                    <a:bodyPr/>
                    <a:lstStyle/>
                    <a:p>
                      <a:r>
                        <a:rPr sz="1100"/>
                        <a:t>`/delivery/configuration.xlsx`</a:t>
                      </a:r>
                    </a:p>
                  </a:txBody>
                  <a:tcPr>
                    <a:solidFill>
                      <a:srgbClr val="E7E6E6"/>
                    </a:solidFill>
                  </a:tcPr>
                </a:tc>
              </a:tr>
              <a:tr h="370840">
                <a:tc>
                  <a:txBody>
                    <a:bodyPr/>
                    <a:lstStyle/>
                    <a:p>
                      <a:r>
                        <a:rPr b="1" sz="1100"/>
                        <a:t>Operations Runbook</a:t>
                      </a:r>
                    </a:p>
                  </a:txBody>
                  <a:tcPr>
                    <a:solidFill>
                      <a:srgbClr val="E7E6E6"/>
                    </a:solidFill>
                  </a:tcPr>
                </a:tc>
                <a:tc>
                  <a:txBody>
                    <a:bodyPr/>
                    <a:lstStyle/>
                    <a:p>
                      <a:r>
                        <a:rPr sz="1100"/>
                        <a:t>Day-to-day procedures and troubleshooting</a:t>
                      </a:r>
                    </a:p>
                  </a:txBody>
                  <a:tcPr>
                    <a:solidFill>
                      <a:srgbClr val="E7E6E6"/>
                    </a:solidFill>
                  </a:tcPr>
                </a:tc>
                <a:tc>
                  <a:txBody>
                    <a:bodyPr/>
                    <a:lstStyle/>
                    <a:p>
                      <a:r>
                        <a:rPr sz="1100"/>
                        <a:t>`/delivery/docs/operations-runbook.md`</a:t>
                      </a:r>
                    </a:p>
                  </a:txBody>
                  <a:tcPr>
                    <a:solidFill>
                      <a:srgbClr val="E7E6E6"/>
                    </a:solidFill>
                  </a:tcPr>
                </a:tc>
              </a:tr>
              <a:tr h="370840">
                <a:tc>
                  <a:txBody>
                    <a:bodyPr/>
                    <a:lstStyle/>
                    <a:p>
                      <a:r>
                        <a:rPr b="1" sz="1100"/>
                        <a:t>Training Materials</a:t>
                      </a:r>
                    </a:p>
                  </a:txBody>
                  <a:tcPr>
                    <a:solidFill>
                      <a:srgbClr val="E7E6E6"/>
                    </a:solidFill>
                  </a:tcPr>
                </a:tc>
                <a:tc>
                  <a:txBody>
                    <a:bodyPr/>
                    <a:lstStyle/>
                    <a:p>
                      <a:r>
                        <a:rPr sz="1100"/>
                        <a:t>Admin and data scientist guides</a:t>
                      </a:r>
                    </a:p>
                  </a:txBody>
                  <a:tcPr>
                    <a:solidFill>
                      <a:srgbClr val="E7E6E6"/>
                    </a:solidFill>
                  </a:tcPr>
                </a:tc>
                <a:tc>
                  <a:txBody>
                    <a:bodyPr/>
                    <a:lstStyle/>
                    <a:p>
                      <a:r>
                        <a:rPr sz="1100"/>
                        <a:t>`/delivery/training/`</a:t>
                      </a:r>
                    </a:p>
                  </a:txBody>
                  <a:tcPr>
                    <a:solidFill>
                      <a:srgbClr val="E7E6E6"/>
                    </a:solidFill>
                  </a:tcPr>
                </a:tc>
              </a:tr>
              <a:tr h="370840">
                <a:tc>
                  <a:txBody>
                    <a:bodyPr/>
                    <a:lstStyle/>
                    <a:p>
                      <a:r>
                        <a:rPr b="1" sz="1100"/>
                        <a:t>Ansible Playbooks</a:t>
                      </a:r>
                    </a:p>
                  </a:txBody>
                  <a:tcPr>
                    <a:solidFill>
                      <a:srgbClr val="E7E6E6"/>
                    </a:solidFill>
                  </a:tcPr>
                </a:tc>
                <a:tc>
                  <a:txBody>
                    <a:bodyPr/>
                    <a:lstStyle/>
                    <a:p>
                      <a:r>
                        <a:rPr sz="1100"/>
                        <a:t>DGX configuration automation</a:t>
                      </a:r>
                    </a:p>
                  </a:txBody>
                  <a:tcPr>
                    <a:solidFill>
                      <a:srgbClr val="E7E6E6"/>
                    </a:solidFill>
                  </a:tcPr>
                </a:tc>
                <a:tc>
                  <a:txBody>
                    <a:bodyPr/>
                    <a:lstStyle/>
                    <a:p>
                      <a:r>
                        <a:rPr sz="1100"/>
                        <a:t>`/delivery/scripts/ansible/`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Quality &amp; Performance</a:t>
            </a:r>
          </a:p>
        </p:txBody>
      </p:sp>
      <p:sp>
        <p:nvSpPr>
          <p:cNvPr id="4" name="Text Placeholder 3"/>
          <p:cNvSpPr>
            <a:spLocks noGrp="1"/>
          </p:cNvSpPr>
          <p:nvPr>
            <p:ph type="body" idx="16" sz="quarter"/>
          </p:nvPr>
        </p:nvSpPr>
        <p:spPr/>
        <p:txBody>
          <a:bodyPr/>
          <a:lstStyle/>
          <a:p>
            <a:pPr/>
            <a:r>
              <a:rPr b="1"/>
              <a:t>Performance Metrics</a:t>
            </a:r>
          </a:p>
          <a:p>
            <a:pPr lvl="1"/>
            <a:r>
              <a:t>GPU Compute: 32 petaFLOPS FP8 validated</a:t>
            </a:r>
          </a:p>
          <a:p>
            <a:pPr lvl="1"/>
            <a:r>
              <a:t>InfiniBand Latency: 1.8μs (target: &lt;2μs)</a:t>
            </a:r>
          </a:p>
          <a:p>
            <a:pPr lvl="1"/>
            <a:r>
              <a:t>Storage Throughput: 14.2 GB/s sustained</a:t>
            </a:r>
          </a:p>
          <a:p>
            <a:pPr lvl="1"/>
            <a:r>
              <a:t>Multi-GPU Scaling: 95% efficiency at 64 GPUs</a:t>
            </a:r>
          </a:p>
          <a:p>
            <a:pPr lvl="1"/>
            <a:r>
              <a:t>System Uptime: 99.7% (target: 99.5%)</a:t>
            </a:r>
          </a:p>
        </p:txBody>
      </p:sp>
      <p:sp>
        <p:nvSpPr>
          <p:cNvPr id="5" name="Text Placeholder 4"/>
          <p:cNvSpPr>
            <a:spLocks noGrp="1"/>
          </p:cNvSpPr>
          <p:nvPr>
            <p:ph type="body" idx="17" sz="quarter"/>
          </p:nvPr>
        </p:nvSpPr>
        <p:spPr/>
        <p:txBody>
          <a:bodyPr/>
          <a:lstStyle/>
          <a:p>
            <a:pPr/>
            <a:r>
              <a:rPr b="1"/>
              <a:t>Testing Metrics</a:t>
            </a:r>
          </a:p>
          <a:p>
            <a:pPr lvl="1"/>
            <a:r>
              <a:t>Test Cases Executed: 38/38 (100%)</a:t>
            </a:r>
          </a:p>
          <a:p>
            <a:pPr lvl="1"/>
            <a:r>
              <a:t>Critical Defects at Go-Live: 0</a:t>
            </a:r>
          </a:p>
          <a:p>
            <a:pPr lvl="1"/>
            <a:r>
              <a:t>MLPerf Benchmarks: All targets exceeded</a:t>
            </a:r>
          </a:p>
          <a:p>
            <a:pPr lvl="1"/>
            <a:r>
              <a:t>Distributed Training: Near-linear scaling</a:t>
            </a:r>
          </a:p>
          <a:p>
            <a:pPr lvl="1"/>
            <a:r>
              <a:t>UAT Sign-off: Complete with no blockers</a:t>
            </a:r>
          </a:p>
        </p:txBody>
      </p:sp>
      <p:sp>
        <p:nvSpPr>
          <p:cNvPr id="6" name="Text Placeholder 5"/>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Benefits Realized</a:t>
            </a:r>
          </a:p>
        </p:txBody>
      </p:sp>
      <p:graphicFrame>
        <p:nvGraphicFramePr>
          <p:cNvPr id="4" name="Table Placeholder 3"/>
          <p:cNvGraphicFramePr>
            <a:graphicFrameLocks noGrp="1"/>
          </p:cNvGraphicFramePr>
          <p:nvPr>
            <p:ph type="tbl" idx="14" sz="quarter"/>
          </p:nvPr>
        </p:nvGraphicFramePr>
        <p:xfrm>
          <a:off x="256855" y="677011"/>
          <a:ext cx="8710930" cy="2595880"/>
        </p:xfrm>
        <a:graphic>
          <a:graphicData uri="http://schemas.openxmlformats.org/drawingml/2006/table">
            <a:tbl>
              <a:tblPr firstRow="1" bandRow="1">
                <a:tableStyleId>{5C22544A-7EE6-4342-B048-85BDC9FD1C3A}</a:tableStyleId>
              </a:tblPr>
              <a:tblGrid>
                <a:gridCol w="2613279"/>
                <a:gridCol w="1742186"/>
                <a:gridCol w="1742186"/>
                <a:gridCol w="2613279"/>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SOW 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Business Impact</a:t>
                      </a:r>
                    </a:p>
                  </a:txBody>
                  <a:tcPr>
                    <a:solidFill>
                      <a:srgbClr val="A01C02"/>
                    </a:solidFill>
                  </a:tcPr>
                </a:tc>
              </a:tr>
              <a:tr h="370840">
                <a:tc>
                  <a:txBody>
                    <a:bodyPr/>
                    <a:lstStyle/>
                    <a:p>
                      <a:r>
                        <a:rPr b="1" sz="1100"/>
                        <a:t>Training Acceleration</a:t>
                      </a:r>
                    </a:p>
                  </a:txBody>
                  <a:tcPr>
                    <a:solidFill>
                      <a:srgbClr val="E7E6E6"/>
                    </a:solidFill>
                  </a:tcPr>
                </a:tc>
                <a:tc>
                  <a:txBody>
                    <a:bodyPr/>
                    <a:lstStyle/>
                    <a:p>
                      <a:r>
                        <a:rPr sz="1100"/>
                        <a:t>10x faster</a:t>
                      </a:r>
                    </a:p>
                  </a:txBody>
                  <a:tcPr>
                    <a:solidFill>
                      <a:srgbClr val="E7E6E6"/>
                    </a:solidFill>
                  </a:tcPr>
                </a:tc>
                <a:tc>
                  <a:txBody>
                    <a:bodyPr/>
                    <a:lstStyle/>
                    <a:p>
                      <a:r>
                        <a:rPr sz="1100"/>
                        <a:t>10x validated</a:t>
                      </a:r>
                    </a:p>
                  </a:txBody>
                  <a:tcPr>
                    <a:solidFill>
                      <a:srgbClr val="E7E6E6"/>
                    </a:solidFill>
                  </a:tcPr>
                </a:tc>
                <a:tc>
                  <a:txBody>
                    <a:bodyPr/>
                    <a:lstStyle/>
                    <a:p>
                      <a:r>
                        <a:rPr sz="1100"/>
                        <a:t>Weeks instead of months</a:t>
                      </a:r>
                    </a:p>
                  </a:txBody>
                  <a:tcPr>
                    <a:solidFill>
                      <a:srgbClr val="E7E6E6"/>
                    </a:solidFill>
                  </a:tcPr>
                </a:tc>
              </a:tr>
              <a:tr h="370840">
                <a:tc>
                  <a:txBody>
                    <a:bodyPr/>
                    <a:lstStyle/>
                    <a:p>
                      <a:r>
                        <a:rPr b="1" sz="1100"/>
                        <a:t>Cloud Cost Reduction</a:t>
                      </a:r>
                    </a:p>
                  </a:txBody>
                  <a:tcPr>
                    <a:solidFill>
                      <a:srgbClr val="E7E6E6"/>
                    </a:solidFill>
                  </a:tcPr>
                </a:tc>
                <a:tc>
                  <a:txBody>
                    <a:bodyPr/>
                    <a:lstStyle/>
                    <a:p>
                      <a:r>
                        <a:rPr sz="1100"/>
                        <a:t>70% savings</a:t>
                      </a:r>
                    </a:p>
                  </a:txBody>
                  <a:tcPr>
                    <a:solidFill>
                      <a:srgbClr val="E7E6E6"/>
                    </a:solidFill>
                  </a:tcPr>
                </a:tc>
                <a:tc>
                  <a:txBody>
                    <a:bodyPr/>
                    <a:lstStyle/>
                    <a:p>
                      <a:r>
                        <a:rPr sz="1100"/>
                        <a:t>70% Year 1</a:t>
                      </a:r>
                    </a:p>
                  </a:txBody>
                  <a:tcPr>
                    <a:solidFill>
                      <a:srgbClr val="E7E6E6"/>
                    </a:solidFill>
                  </a:tcPr>
                </a:tc>
                <a:tc>
                  <a:txBody>
                    <a:bodyPr/>
                    <a:lstStyle/>
                    <a:p>
                      <a:r>
                        <a:rPr sz="1100"/>
                        <a:t>$1.58M annual savings</a:t>
                      </a:r>
                    </a:p>
                  </a:txBody>
                  <a:tcPr>
                    <a:solidFill>
                      <a:srgbClr val="E7E6E6"/>
                    </a:solidFill>
                  </a:tcPr>
                </a:tc>
              </a:tr>
              <a:tr h="370840">
                <a:tc>
                  <a:txBody>
                    <a:bodyPr/>
                    <a:lstStyle/>
                    <a:p>
                      <a:r>
                        <a:rPr b="1" sz="1100"/>
                        <a:t>GPU Utilization</a:t>
                      </a:r>
                    </a:p>
                  </a:txBody>
                  <a:tcPr>
                    <a:solidFill>
                      <a:srgbClr val="E7E6E6"/>
                    </a:solidFill>
                  </a:tcPr>
                </a:tc>
                <a:tc>
                  <a:txBody>
                    <a:bodyPr/>
                    <a:lstStyle/>
                    <a:p>
                      <a:r>
                        <a:rPr sz="1100"/>
                        <a:t>70-80%</a:t>
                      </a:r>
                    </a:p>
                  </a:txBody>
                  <a:tcPr>
                    <a:solidFill>
                      <a:srgbClr val="E7E6E6"/>
                    </a:solidFill>
                  </a:tcPr>
                </a:tc>
                <a:tc>
                  <a:txBody>
                    <a:bodyPr/>
                    <a:lstStyle/>
                    <a:p>
                      <a:r>
                        <a:rPr sz="1100"/>
                        <a:t>78% average</a:t>
                      </a:r>
                    </a:p>
                  </a:txBody>
                  <a:tcPr>
                    <a:solidFill>
                      <a:srgbClr val="E7E6E6"/>
                    </a:solidFill>
                  </a:tcPr>
                </a:tc>
                <a:tc>
                  <a:txBody>
                    <a:bodyPr/>
                    <a:lstStyle/>
                    <a:p>
                      <a:r>
                        <a:rPr sz="1100"/>
                        <a:t>Eliminated queueing delays</a:t>
                      </a:r>
                    </a:p>
                  </a:txBody>
                  <a:tcPr>
                    <a:solidFill>
                      <a:srgbClr val="E7E6E6"/>
                    </a:solidFill>
                  </a:tcPr>
                </a:tc>
              </a:tr>
              <a:tr h="370840">
                <a:tc>
                  <a:txBody>
                    <a:bodyPr/>
                    <a:lstStyle/>
                    <a:p>
                      <a:r>
                        <a:rPr b="1" sz="1100"/>
                        <a:t>Researcher Capacity</a:t>
                      </a:r>
                    </a:p>
                  </a:txBody>
                  <a:tcPr>
                    <a:solidFill>
                      <a:srgbClr val="E7E6E6"/>
                    </a:solidFill>
                  </a:tcPr>
                </a:tc>
                <a:tc>
                  <a:txBody>
                    <a:bodyPr/>
                    <a:lstStyle/>
                    <a:p>
                      <a:r>
                        <a:rPr sz="1100"/>
                        <a:t>50+ users</a:t>
                      </a:r>
                    </a:p>
                  </a:txBody>
                  <a:tcPr>
                    <a:solidFill>
                      <a:srgbClr val="E7E6E6"/>
                    </a:solidFill>
                  </a:tcPr>
                </a:tc>
                <a:tc>
                  <a:txBody>
                    <a:bodyPr/>
                    <a:lstStyle/>
                    <a:p>
                      <a:r>
                        <a:rPr sz="1100"/>
                        <a:t>52 active</a:t>
                      </a:r>
                    </a:p>
                  </a:txBody>
                  <a:tcPr>
                    <a:solidFill>
                      <a:srgbClr val="E7E6E6"/>
                    </a:solidFill>
                  </a:tcPr>
                </a:tc>
                <a:tc>
                  <a:txBody>
                    <a:bodyPr/>
                    <a:lstStyle/>
                    <a:p>
                      <a:r>
                        <a:rPr sz="1100"/>
                        <a:t>All teams onboarded</a:t>
                      </a:r>
                    </a:p>
                  </a:txBody>
                  <a:tcPr>
                    <a:solidFill>
                      <a:srgbClr val="E7E6E6"/>
                    </a:solidFill>
                  </a:tcPr>
                </a:tc>
              </a:tr>
              <a:tr h="370840">
                <a:tc>
                  <a:txBody>
                    <a:bodyPr/>
                    <a:lstStyle/>
                    <a:p>
                      <a:r>
                        <a:rPr b="1" sz="1100"/>
                        <a:t>Model Scale</a:t>
                      </a:r>
                    </a:p>
                  </a:txBody>
                  <a:tcPr>
                    <a:solidFill>
                      <a:srgbClr val="E7E6E6"/>
                    </a:solidFill>
                  </a:tcPr>
                </a:tc>
                <a:tc>
                  <a:txBody>
                    <a:bodyPr/>
                    <a:lstStyle/>
                    <a:p>
                      <a:r>
                        <a:rPr sz="1100"/>
                        <a:t>100B+ params</a:t>
                      </a:r>
                    </a:p>
                  </a:txBody>
                  <a:tcPr>
                    <a:solidFill>
                      <a:srgbClr val="E7E6E6"/>
                    </a:solidFill>
                  </a:tcPr>
                </a:tc>
                <a:tc>
                  <a:txBody>
                    <a:bodyPr/>
                    <a:lstStyle/>
                    <a:p>
                      <a:r>
                        <a:rPr sz="1100"/>
                        <a:t>175B trained</a:t>
                      </a:r>
                    </a:p>
                  </a:txBody>
                  <a:tcPr>
                    <a:solidFill>
                      <a:srgbClr val="E7E6E6"/>
                    </a:solidFill>
                  </a:tcPr>
                </a:tc>
                <a:tc>
                  <a:txBody>
                    <a:bodyPr/>
                    <a:lstStyle/>
                    <a:p>
                      <a:r>
                        <a:rPr sz="1100"/>
                        <a:t>GPT-3 scale capability</a:t>
                      </a:r>
                    </a:p>
                  </a:txBody>
                  <a:tcPr>
                    <a:solidFill>
                      <a:srgbClr val="E7E6E6"/>
                    </a:solidFill>
                  </a:tcPr>
                </a:tc>
              </a:tr>
              <a:tr h="370840">
                <a:tc>
                  <a:txBody>
                    <a:bodyPr/>
                    <a:lstStyle/>
                    <a:p>
                      <a:r>
                        <a:rPr b="1" sz="1100"/>
                        <a:t>ROI Timeline</a:t>
                      </a:r>
                    </a:p>
                  </a:txBody>
                  <a:tcPr>
                    <a:solidFill>
                      <a:srgbClr val="E7E6E6"/>
                    </a:solidFill>
                  </a:tcPr>
                </a:tc>
                <a:tc>
                  <a:txBody>
                    <a:bodyPr/>
                    <a:lstStyle/>
                    <a:p>
                      <a:r>
                        <a:rPr sz="1100"/>
                        <a:t>2.3 years</a:t>
                      </a:r>
                    </a:p>
                  </a:txBody>
                  <a:tcPr>
                    <a:solidFill>
                      <a:srgbClr val="E7E6E6"/>
                    </a:solidFill>
                  </a:tcPr>
                </a:tc>
                <a:tc>
                  <a:txBody>
                    <a:bodyPr/>
                    <a:lstStyle/>
                    <a:p>
                      <a:r>
                        <a:rPr sz="1100"/>
                        <a:t>On track</a:t>
                      </a:r>
                    </a:p>
                  </a:txBody>
                  <a:tcPr>
                    <a:solidFill>
                      <a:srgbClr val="E7E6E6"/>
                    </a:solidFill>
                  </a:tcPr>
                </a:tc>
                <a:tc>
                  <a:txBody>
                    <a:bodyPr/>
                    <a:lstStyle/>
                    <a:p>
                      <a:r>
                        <a:rPr sz="1100"/>
                        <a:t>Ahead of cloud baseline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Early datacenter site assessment</a:t>
            </a:r>
          </a:p>
          <a:p>
            <a:pPr lvl="1"/>
            <a:r>
              <a:t>Phased DGX deployment approach</a:t>
            </a:r>
          </a:p>
          <a:p>
            <a:pPr lvl="1"/>
            <a:r>
              <a:t>NVIDIA DGX-Ready certification</a:t>
            </a:r>
          </a:p>
          <a:p>
            <a:pPr lvl="1"/>
            <a:r>
              <a:t>Weekly stakeholder demos</a:t>
            </a:r>
          </a:p>
          <a:p>
            <a:pPr lvl="1"/>
            <a:r>
              <a:t>Parallel cloud operation during ramp</a:t>
            </a:r>
          </a:p>
          <a:p>
            <a:pPr/>
            <a:r>
              <a:rPr b="1"/>
              <a:t>Challenges Overcome</a:t>
            </a:r>
          </a:p>
          <a:p>
            <a:pPr lvl="1"/>
            <a:r>
              <a:t>Power infrastructure: 500 kW upgrade</a:t>
            </a:r>
          </a:p>
          <a:p>
            <a:pPr lvl="1"/>
            <a:r>
              <a:t>InfiniBand cabling complexity</a:t>
            </a:r>
          </a:p>
          <a:p>
            <a:pPr lvl="1"/>
            <a:r>
              <a:t>Slurm configuration tuning</a:t>
            </a:r>
          </a:p>
          <a:p>
            <a:pPr lvl="1"/>
            <a:r>
              <a:t>User onboarding at scale</a:t>
            </a:r>
          </a:p>
          <a:p>
            <a:pPr lvl="1"/>
            <a:r>
              <a:t>Checkpoint storage optimization</a:t>
            </a:r>
          </a:p>
        </p:txBody>
      </p:sp>
      <p:sp>
        <p:nvSpPr>
          <p:cNvPr id="5" name="Text Placeholder 4"/>
          <p:cNvSpPr>
            <a:spLocks noGrp="1"/>
          </p:cNvSpPr>
          <p:nvPr>
            <p:ph type="body" idx="17" sz="quarter"/>
          </p:nvPr>
        </p:nvSpPr>
        <p:spPr/>
        <p:txBody>
          <a:bodyPr/>
          <a:lstStyle/>
          <a:p>
            <a:pPr/>
            <a:r>
              <a:rPr b="1"/>
              <a:t>Recommendations</a:t>
            </a:r>
          </a:p>
          <a:p>
            <a:pPr lvl="1"/>
            <a:r>
              <a:t>Expand to 16 DGX systems (Phase 2)</a:t>
            </a:r>
          </a:p>
          <a:p>
            <a:pPr lvl="1"/>
            <a:r>
              <a:t>Add inference cluster (Triton)</a:t>
            </a:r>
          </a:p>
          <a:p>
            <a:pPr lvl="1"/>
            <a:r>
              <a:t>Implement MLOps pipeline</a:t>
            </a:r>
          </a:p>
          <a:p>
            <a:pPr lvl="1"/>
            <a:r>
              <a:t>Quarterly performance reviews</a:t>
            </a:r>
          </a:p>
          <a:p>
            <a:pPr lvl="1"/>
            <a:r>
              <a:t>Annual InfiniBand fabric audit</a:t>
            </a:r>
          </a:p>
        </p:txBody>
      </p:sp>
      <p:sp>
        <p:nvSpPr>
          <p:cNvPr id="6" name="Text Placeholder 5"/>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Support Transition</a:t>
            </a:r>
          </a:p>
        </p:txBody>
      </p:sp>
      <p:sp>
        <p:nvSpPr>
          <p:cNvPr id="4" name="Text Placeholder 3"/>
          <p:cNvSpPr>
            <a:spLocks noGrp="1"/>
          </p:cNvSpPr>
          <p:nvPr>
            <p:ph type="body" idx="16" sz="quarter"/>
          </p:nvPr>
        </p:nvSpPr>
        <p:spPr/>
        <p:txBody>
          <a:bodyPr/>
          <a:lstStyle/>
          <a:p>
            <a:pPr/>
            <a:r>
              <a:rPr b="1"/>
              <a:t>Hypercare Complete (30 days)</a:t>
            </a:r>
          </a:p>
          <a:p>
            <a:pPr lvl="1"/>
            <a:r>
              <a:t>Daily health checks completed</a:t>
            </a:r>
          </a:p>
          <a:p>
            <a:pPr lvl="1"/>
            <a:r>
              <a:t>2 issues resolved (both P3)</a:t>
            </a:r>
          </a:p>
          <a:p>
            <a:pPr lvl="1"/>
            <a:r>
              <a:t>All KT sessions delivered</a:t>
            </a:r>
          </a:p>
          <a:p>
            <a:pPr lvl="1"/>
            <a:r>
              <a:t>Runbook procedures validated</a:t>
            </a:r>
          </a:p>
          <a:p>
            <a:pPr lvl="1"/>
            <a:r>
              <a:t>Team certified on DGX operations</a:t>
            </a:r>
          </a:p>
          <a:p>
            <a:pPr/>
            <a:r>
              <a:rPr b="1"/>
              <a:t>Steady State Support</a:t>
            </a:r>
          </a:p>
          <a:p>
            <a:pPr lvl="1"/>
            <a:r>
              <a:t>NVIDIA Enterprise Support (24/7)</a:t>
            </a:r>
          </a:p>
          <a:p>
            <a:pPr lvl="1"/>
            <a:r>
              <a:t>4-hour response SLA for critical</a:t>
            </a:r>
          </a:p>
          <a:p>
            <a:pPr lvl="1"/>
            <a:r>
              <a:t>Monthly performance reviews</a:t>
            </a:r>
          </a:p>
          <a:p>
            <a:pPr lvl="1"/>
            <a:r>
              <a:t>Quarterly business reviews</a:t>
            </a:r>
          </a:p>
          <a:p>
            <a:pPr lvl="1"/>
            <a:r>
              <a:t>Firmware update coordination</a:t>
            </a:r>
          </a:p>
        </p:txBody>
      </p:sp>
      <p:sp>
        <p:nvSpPr>
          <p:cNvPr id="5" name="Text Placeholder 4"/>
          <p:cNvSpPr>
            <a:spLocks noGrp="1"/>
          </p:cNvSpPr>
          <p:nvPr>
            <p:ph type="body" idx="17" sz="quarter"/>
          </p:nvPr>
        </p:nvSpPr>
        <p:spPr/>
        <p:txBody>
          <a:bodyPr/>
          <a:lstStyle/>
          <a:p>
            <a:pPr/>
            <a:r>
              <a:rPr b="1"/>
              <a:t>Escalation Path</a:t>
            </a:r>
          </a:p>
          <a:p>
            <a:pPr lvl="1"/>
            <a:r>
              <a:t>L1: Internal IT Operations</a:t>
            </a:r>
          </a:p>
          <a:p>
            <a:pPr lvl="1"/>
            <a:r>
              <a:t>L2: DGX Admin Team</a:t>
            </a:r>
          </a:p>
          <a:p>
            <a:pPr lvl="1"/>
            <a:r>
              <a:t>L3: NVIDIA Enterprise Support</a:t>
            </a:r>
          </a:p>
          <a:p>
            <a:pPr lvl="1"/>
            <a:r>
              <a:t>Emergency: NVIDIA Priority Support</a:t>
            </a:r>
          </a:p>
          <a:p>
            <a:pPr lvl="1"/>
            <a:r>
              <a:t>Account: Partner Account Manager</a:t>
            </a:r>
          </a:p>
        </p:txBody>
      </p:sp>
      <p:sp>
        <p:nvSpPr>
          <p:cNvPr id="6" name="Text Placeholder 5"/>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Acknowledgments &amp; Next Steps</a:t>
            </a:r>
          </a:p>
        </p:txBody>
      </p:sp>
      <p:sp>
        <p:nvSpPr>
          <p:cNvPr id="4" name="Text Placeholder 3"/>
          <p:cNvSpPr>
            <a:spLocks noGrp="1"/>
          </p:cNvSpPr>
          <p:nvPr>
            <p:ph type="body" idx="14" sz="quarter"/>
          </p:nvPr>
        </p:nvSpPr>
        <p:spPr/>
        <p:txBody>
          <a:bodyPr/>
          <a:lstStyle/>
          <a:p>
            <a:pPr/>
            <a:r>
              <a:rPr b="1"/>
              <a:t>Client Team:</a:t>
            </a:r>
            <a:r>
              <a:t> Executive sponsor, facilities team, IT infrastructure, AI research leadership</a:t>
            </a:r>
          </a:p>
          <a:p>
            <a:pPr/>
            <a:r>
              <a:rPr b="1"/>
              <a:t>Vendor Team:</a:t>
            </a:r>
            <a:r>
              <a:t> Project manager, DGX architect, network engineer, support team</a:t>
            </a:r>
          </a:p>
          <a:p>
            <a:pPr/>
            <a:r>
              <a:rPr b="1"/>
              <a:t>Special Recognition:</a:t>
            </a:r>
            <a:r>
              <a:t> Facilities team for accelerated 500 kW power upgrade</a:t>
            </a:r>
          </a:p>
          <a:p>
            <a:pPr/>
            <a:r>
              <a:rPr b="1"/>
              <a:t>This Week:</a:t>
            </a:r>
            <a:r>
              <a:t> Final documentation handover, archive project artifacts</a:t>
            </a:r>
          </a:p>
          <a:p>
            <a:pPr/>
            <a:r>
              <a:rPr b="1"/>
              <a:t>Next 30 Days:</a:t>
            </a:r>
            <a:r>
              <a:t> First monthly performance review, usage optimization</a:t>
            </a:r>
          </a:p>
          <a:p>
            <a:pPr/>
            <a:r>
              <a:rPr b="1"/>
              <a:t>Next Quarter:</a:t>
            </a:r>
            <a:r>
              <a:t> Phase 2 planning workshop for capacity expansion</a:t>
            </a:r>
          </a:p>
        </p:txBody>
      </p:sp>
      <p:sp>
        <p:nvSpPr>
          <p:cNvPr id="5" name="Text Placeholder 4"/>
          <p:cNvSpPr>
            <a:spLocks noGrp="1"/>
          </p:cNvSpPr>
          <p:nvPr>
            <p:ph type="body" idx="15" sz="quarter"/>
          </p:nvPr>
        </p:nvSpPr>
        <p:spPr/>
        <p:txBody>
          <a:bodyPr/>
          <a:lstStyle/>
          <a:p>
            <a:pPr algn="r">
              <a:buNone/>
            </a:pPr>
            <a:r>
              <a:rPr sz="1100">
                <a:solidFill>
                  <a:srgbClr val="CC0000"/>
                </a:solidFill>
              </a:rPr>
              <a:t>NVIDIA DGX SuperPOD AI Infrastructure</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