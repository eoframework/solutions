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*Opening Statement:*</a:t>
            </a:r>
          </a:p>
          <a:p>
            <a:r>
              <a:t>Good [morning/afternoon]. Today we're celebrating the successful completion of the NVIDIA Omniverse Enterprise implementation. This project has transformed [Client Name]'s 3D design and collaboration capabilities from siloed CAD workflows to a unified real-time collaboration platform.</a:t>
            </a:r>
          </a:p>
          <a:p/>
          <a:p>
            <a:r>
              <a:t>*Key Talking Points - Expand on Each Bullet:*</a:t>
            </a:r>
          </a:p>
          <a:p/>
          <a:p>
            <a:r>
              <a:t>**Project Duration - 16 Weeks:**</a:t>
            </a:r>
          </a:p>
          <a:p>
            <a:r>
              <a:t>- Phase 1 (Discovery &amp; Assessment): Weeks 1-3</a:t>
            </a:r>
          </a:p>
          <a:p>
            <a:r>
              <a:t>- Phase 2 (Infrastructure Deployment): Weeks 4-7</a:t>
            </a:r>
          </a:p>
          <a:p>
            <a:r>
              <a:t>- Phase 3 (Workstation &amp; Connector Integration): Weeks 8-10</a:t>
            </a:r>
          </a:p>
          <a:p>
            <a:r>
              <a:t>- Phase 4 (Testing &amp; Validation): Weeks 11-12</a:t>
            </a:r>
          </a:p>
          <a:p>
            <a:r>
              <a:t>- Phase 5 (Hypercare): Weeks 13-16</a:t>
            </a:r>
          </a:p>
          <a:p>
            <a:r>
              <a:t>- All milestones achieved on schedule</a:t>
            </a:r>
          </a:p>
          <a:p/>
          <a:p>
            <a:r>
              <a:t>**Budget - $1.33M:**</a:t>
            </a:r>
          </a:p>
          <a:p>
            <a:r>
              <a:t>- Hardware: $1.01M (50 workstations, Nucleus servers, storage)</a:t>
            </a:r>
          </a:p>
          <a:p>
            <a:r>
              <a:t>- Software: $90,000 (Omniverse Enterprise licenses)</a:t>
            </a:r>
          </a:p>
          <a:p>
            <a:r>
              <a:t>- Services: $45,000 (implementation and training)</a:t>
            </a:r>
          </a:p>
          <a:p>
            <a:r>
              <a:t>- Support: $109,000 (Year 1 support)</a:t>
            </a:r>
          </a:p>
          <a:p>
            <a:r>
              <a:t>- Actual spend within 3% of forecast</a:t>
            </a:r>
          </a:p>
          <a:p/>
          <a:p>
            <a:r>
              <a:t>**Platform Capacity - 50 RTX Workstations:**</a:t>
            </a:r>
          </a:p>
          <a:p>
            <a:r>
              <a:t>- 50x Dell Precision 7960 with RTX A6000 48GB</a:t>
            </a:r>
          </a:p>
          <a:p>
            <a:r>
              <a:t>- 2x Nucleus servers (HA configuration)</a:t>
            </a:r>
          </a:p>
          <a:p>
            <a:r>
              <a:t>- 100 TB NetApp AFF NVMe storage</a:t>
            </a:r>
          </a:p>
          <a:p>
            <a:r>
              <a:t>- 5 CAD connectors integrated</a:t>
            </a:r>
          </a:p>
          <a:p/>
          <a:p>
            <a:r>
              <a:t>**Rendering Speed - 90% Improvement:**</a:t>
            </a:r>
          </a:p>
          <a:p>
            <a:r>
              <a:t>- CPU baseline: 8 hours per scene</a:t>
            </a:r>
          </a:p>
          <a:p>
            <a:r>
              <a:t>- RTX ray tracing: 45 minutes per scene</a:t>
            </a:r>
          </a:p>
          <a:p>
            <a:r>
              <a:t>- 10x faster iteration on design reviews</a:t>
            </a:r>
          </a:p>
          <a:p>
            <a:r>
              <a:t>- Real-time visualization during editing</a:t>
            </a:r>
          </a:p>
          <a:p/>
          <a:p>
            <a:r>
              <a:t>*Transition:*</a:t>
            </a:r>
          </a:p>
          <a:p>
            <a:r>
              <a:t>"Let me walk you through what we built..."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*Architecture Overview:*</a:t>
            </a:r>
          </a:p>
          <a:p/>
          <a:p>
            <a:r>
              <a:t>"This diagram shows the production Omniverse Enterprise architecture. Let me walk through each layer..."</a:t>
            </a:r>
          </a:p>
          <a:p/>
          <a:p>
            <a:r>
              <a:t>**Workstation Layer - 50x Dell Precision 7960:**</a:t>
            </a:r>
          </a:p>
          <a:p>
            <a:r>
              <a:t>- Each workstation: NVIDIA RTX A6000 48GB GPU</a:t>
            </a:r>
          </a:p>
          <a:p>
            <a:r>
              <a:t>- Total: 50 RTX A6000 GPUs providing real-time ray tracing</a:t>
            </a:r>
          </a:p>
          <a:p>
            <a:r>
              <a:t>- Intel Xeon W-3400 CPUs (128 GB RAM per workstation)</a:t>
            </a:r>
          </a:p>
          <a:p>
            <a:r>
              <a:t>- 2 TB NVMe SSD per workstation for local cache</a:t>
            </a:r>
          </a:p>
          <a:p>
            <a:r>
              <a:t>- Dual 4K monitors for design visualization</a:t>
            </a:r>
          </a:p>
          <a:p/>
          <a:p>
            <a:r>
              <a:t>**Network Fabric - 10 GbE to Workstations:**</a:t>
            </a:r>
          </a:p>
          <a:p>
            <a:r>
              <a:t>- 10 GbE per workstation for USD scene streaming</a:t>
            </a:r>
          </a:p>
          <a:p>
            <a:r>
              <a:t>- 100 GbE backbone for Nucleus-to-storage</a:t>
            </a:r>
          </a:p>
          <a:p>
            <a:r>
              <a:t>- Dedicated VLAN for Omniverse traffic</a:t>
            </a:r>
          </a:p>
          <a:p>
            <a:r>
              <a:t>- QoS policies for collaboration priority</a:t>
            </a:r>
          </a:p>
          <a:p/>
          <a:p>
            <a:r>
              <a:t>**Storage Layer - NetApp AFF:**</a:t>
            </a:r>
          </a:p>
          <a:p>
            <a:r>
              <a:t>- 100 TB NVMe all-flash storage</a:t>
            </a:r>
          </a:p>
          <a:p>
            <a:r>
              <a:t>- 10+ GB/s sustained throughput</a:t>
            </a:r>
          </a:p>
          <a:p>
            <a:r>
              <a:t>- NFS mounts for shared USD scenes</a:t>
            </a:r>
          </a:p>
          <a:p>
            <a:r>
              <a:t>- Automated snapshots for version history</a:t>
            </a:r>
          </a:p>
          <a:p/>
          <a:p>
            <a:r>
              <a:t>**Nucleus Collaboration Platform:**</a:t>
            </a:r>
          </a:p>
          <a:p>
            <a:r>
              <a:t>- 2 Nucleus servers in active-passive HA</a:t>
            </a:r>
          </a:p>
          <a:p>
            <a:r>
              <a:t>- Real-time scene synchronization</a:t>
            </a:r>
          </a:p>
          <a:p>
            <a:r>
              <a:t>- USD asset versioning and branching</a:t>
            </a:r>
          </a:p>
          <a:p>
            <a:r>
              <a:t>- Live multi-user editing capability</a:t>
            </a:r>
          </a:p>
          <a:p/>
          <a:p>
            <a:r>
              <a:t>**CAD Connectors:**</a:t>
            </a:r>
          </a:p>
          <a:p>
            <a:r>
              <a:t>- Autodesk Revit for architecture</a:t>
            </a:r>
          </a:p>
          <a:p>
            <a:r>
              <a:t>- Dassault SolidWorks for engineering</a:t>
            </a:r>
          </a:p>
          <a:p>
            <a:r>
              <a:t>- McNeel Rhino for industrial design</a:t>
            </a:r>
          </a:p>
          <a:p>
            <a:r>
              <a:t>- Blender for visualization</a:t>
            </a:r>
          </a:p>
          <a:p>
            <a:r>
              <a:t>- Autodesk Maya for animation</a:t>
            </a:r>
          </a:p>
          <a:p/>
          <a:p>
            <a:r>
              <a:t>*Presales Alignment:*</a:t>
            </a:r>
          </a:p>
          <a:p>
            <a:r>
              <a:t>- Architecture matches SOW exactly</a:t>
            </a:r>
          </a:p>
          <a:p>
            <a:r>
              <a:t>- 50 workstations with RTX A6000 as scoped</a:t>
            </a:r>
          </a:p>
          <a:p>
            <a:r>
              <a:t>- 100 TB storage as specified</a:t>
            </a:r>
          </a:p>
          <a:p>
            <a:r>
              <a:t>- All 5 CAD connectors delivered</a:t>
            </a:r>
          </a:p>
          <a:p/>
          <a:p>
            <a:r>
              <a:t>*Transition:*</a:t>
            </a:r>
          </a:p>
          <a:p>
            <a:r>
              <a:t>"Now let me show you the complete deliverables..."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*Deliverables Detail:*</a:t>
            </a:r>
          </a:p>
          <a:p/>
          <a:p>
            <a:r>
              <a:t>**1. Detailed Design Document:**</a:t>
            </a:r>
          </a:p>
          <a:p>
            <a:r>
              <a:t>- Omniverse Enterprise architecture with Nucleus HA design</a:t>
            </a:r>
          </a:p>
          <a:p>
            <a:r>
              <a:t>- Workstation specifications and deployment topology</a:t>
            </a:r>
          </a:p>
          <a:p>
            <a:r>
              <a:t>- Network architecture with 10 GbE design</a:t>
            </a:r>
          </a:p>
          <a:p>
            <a:r>
              <a:t>- Storage architecture with NetApp integration</a:t>
            </a:r>
          </a:p>
          <a:p>
            <a:r>
              <a:t>- CAD connector integration specifications</a:t>
            </a:r>
          </a:p>
          <a:p/>
          <a:p>
            <a:r>
              <a:t>**2. Implementation Guide:**</a:t>
            </a:r>
          </a:p>
          <a:p>
            <a:r>
              <a:t>- Nucleus server installation procedures</a:t>
            </a:r>
          </a:p>
          <a:p>
            <a:r>
              <a:t>- Workstation deployment and imaging</a:t>
            </a:r>
          </a:p>
          <a:p>
            <a:r>
              <a:t>- CAD connector installation steps</a:t>
            </a:r>
          </a:p>
          <a:p>
            <a:r>
              <a:t>- Active Directory integration</a:t>
            </a:r>
          </a:p>
          <a:p>
            <a:r>
              <a:t>- Network and firewall configuration</a:t>
            </a:r>
          </a:p>
          <a:p/>
          <a:p>
            <a:r>
              <a:t>**3. Project Plan (Multi-sheet Excel):**</a:t>
            </a:r>
          </a:p>
          <a:p>
            <a:r>
              <a:t>- 24 tasks across 16 weeks</a:t>
            </a:r>
          </a:p>
          <a:p>
            <a:r>
              <a:t>- 7 key milestones tracked</a:t>
            </a:r>
          </a:p>
          <a:p>
            <a:r>
              <a:t>- RACI matrix for all activities</a:t>
            </a:r>
          </a:p>
          <a:p>
            <a:r>
              <a:t>- Communications plan with meeting schedule</a:t>
            </a:r>
          </a:p>
          <a:p/>
          <a:p>
            <a:r>
              <a:t>**4. Test Plan &amp; Results:**</a:t>
            </a:r>
          </a:p>
          <a:p>
            <a:r>
              <a:t>- Nucleus validation tests</a:t>
            </a:r>
          </a:p>
          <a:p>
            <a:r>
              <a:t>- Multi-user collaboration tests</a:t>
            </a:r>
          </a:p>
          <a:p>
            <a:r>
              <a:t>- CAD connector integration tests</a:t>
            </a:r>
          </a:p>
          <a:p>
            <a:r>
              <a:t>- Rendering performance benchmarks</a:t>
            </a:r>
          </a:p>
          <a:p>
            <a:r>
              <a:t>- User acceptance testing</a:t>
            </a:r>
          </a:p>
          <a:p/>
          <a:p>
            <a:r>
              <a:t>**5. Configuration Guide:**</a:t>
            </a:r>
          </a:p>
          <a:p>
            <a:r>
              <a:t>- 60+ configuration parameters documented</a:t>
            </a:r>
          </a:p>
          <a:p>
            <a:r>
              <a:t>- Nucleus server settings</a:t>
            </a:r>
          </a:p>
          <a:p>
            <a:r>
              <a:t>- Workstation driver and software versions</a:t>
            </a:r>
          </a:p>
          <a:p>
            <a:r>
              <a:t>- CAD connector configurations</a:t>
            </a:r>
          </a:p>
          <a:p/>
          <a:p>
            <a:r>
              <a:t>**6. Operations Runbook:**</a:t>
            </a:r>
          </a:p>
          <a:p>
            <a:r>
              <a:t>- Daily Nucleus health checks</a:t>
            </a:r>
          </a:p>
          <a:p>
            <a:r>
              <a:t>- Workstation maintenance procedures</a:t>
            </a:r>
          </a:p>
          <a:p>
            <a:r>
              <a:t>- User account management</a:t>
            </a:r>
          </a:p>
          <a:p>
            <a:r>
              <a:t>- Troubleshooting decision tree</a:t>
            </a:r>
          </a:p>
          <a:p/>
          <a:p>
            <a:r>
              <a:t>**Training Delivered:**</a:t>
            </a:r>
          </a:p>
          <a:p>
            <a:r>
              <a:t>- Administrator Training: 2 sessions, 4 participants</a:t>
            </a:r>
          </a:p>
          <a:p>
            <a:r>
              <a:t>- Designer Training: 4 sessions, 50 participants</a:t>
            </a:r>
          </a:p>
          <a:p>
            <a:r>
              <a:t>- Total: 16 hours of training delivered</a:t>
            </a:r>
          </a:p>
          <a:p/>
          <a:p>
            <a:r>
              <a:t>*Transition:*</a:t>
            </a:r>
          </a:p>
          <a:p>
            <a:r>
              <a:t>"Let's look at performance against our targets..."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*Performance Deep Dive:*</a:t>
            </a:r>
          </a:p>
          <a:p/>
          <a:p>
            <a:r>
              <a:t>**Rendering Time - 45 Minutes Average:**</a:t>
            </a:r>
          </a:p>
          <a:p>
            <a:r>
              <a:t>- Target was &lt;60 minutes per SOW</a:t>
            </a:r>
          </a:p>
          <a:p>
            <a:r>
              <a:t>- Achieved 45 minutes average on standard scenes</a:t>
            </a:r>
          </a:p>
          <a:p>
            <a:r>
              <a:t>- Complex scenes: up to 90 minutes (still 80% faster)</a:t>
            </a:r>
          </a:p>
          <a:p>
            <a:r>
              <a:t>- RTX real-time preview during editing</a:t>
            </a:r>
          </a:p>
          <a:p>
            <a:r>
              <a:t>- Final quality renders with Path Tracing</a:t>
            </a:r>
          </a:p>
          <a:p/>
          <a:p>
            <a:r>
              <a:t>**Concurrent Users - 12 Per Scene:**</a:t>
            </a:r>
          </a:p>
          <a:p>
            <a:r>
              <a:t>- Target was 10+ users per SOW</a:t>
            </a:r>
          </a:p>
          <a:p>
            <a:r>
              <a:t>- Validated 12 users simultaneously editing</a:t>
            </a:r>
          </a:p>
          <a:p>
            <a:r>
              <a:t>- Nucleus handles conflict resolution</a:t>
            </a:r>
          </a:p>
          <a:p>
            <a:r>
              <a:t>- Sub-second synchronization maintained</a:t>
            </a:r>
          </a:p>
          <a:p>
            <a:r>
              <a:t>- No degradation with full load</a:t>
            </a:r>
          </a:p>
          <a:p/>
          <a:p>
            <a:r>
              <a:t>**Nucleus Uptime - 99.6%:**</a:t>
            </a:r>
          </a:p>
          <a:p>
            <a:r>
              <a:t>- Target was 99.5% per SOW</a:t>
            </a:r>
          </a:p>
          <a:p>
            <a:r>
              <a:t>- Achieved 99.6% during validation period</a:t>
            </a:r>
          </a:p>
          <a:p>
            <a:r>
              <a:t>- HA failover tested successfully</a:t>
            </a:r>
          </a:p>
          <a:p>
            <a:r>
              <a:t>- Zero unplanned outages</a:t>
            </a:r>
          </a:p>
          <a:p/>
          <a:p>
            <a:r>
              <a:t>**Storage Throughput - 11 GB/s:**</a:t>
            </a:r>
          </a:p>
          <a:p>
            <a:r>
              <a:t>- Target was 10 GB/s per SOW</a:t>
            </a:r>
          </a:p>
          <a:p>
            <a:r>
              <a:t>- Achieved 11 GB/s sustained read</a:t>
            </a:r>
          </a:p>
          <a:p>
            <a:r>
              <a:t>- USD scene loading is instant</a:t>
            </a:r>
          </a:p>
          <a:p>
            <a:r>
              <a:t>- Large asset library accessible</a:t>
            </a:r>
          </a:p>
          <a:p/>
          <a:p>
            <a:r>
              <a:t>**Testing Summary:**</a:t>
            </a:r>
          </a:p>
          <a:p>
            <a:r>
              <a:t>- Total Test Cases: 28</a:t>
            </a:r>
          </a:p>
          <a:p>
            <a:r>
              <a:t>- Functional Tests: 12 (100% pass)</a:t>
            </a:r>
          </a:p>
          <a:p>
            <a:r>
              <a:t>- Integration Tests: 10 (100% pass)</a:t>
            </a:r>
          </a:p>
          <a:p>
            <a:r>
              <a:t>- UAT Tests: 6 (100% pass)</a:t>
            </a:r>
          </a:p>
          <a:p>
            <a:r>
              <a:t>- Pass Rate: 100%</a:t>
            </a:r>
          </a:p>
          <a:p/>
          <a:p>
            <a:r>
              <a:t>*Transition:*</a:t>
            </a:r>
          </a:p>
          <a:p>
            <a:r>
              <a:t>"These improvements deliver real business value..."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*Benefits Analysis:*</a:t>
            </a:r>
          </a:p>
          <a:p/>
          <a:p>
            <a:r>
              <a:t>**Rendering Speed - 94% Faster:**</a:t>
            </a:r>
          </a:p>
          <a:p/>
          <a:p>
            <a:r>
              <a:t>*Before (CPU-only rendering):*</a:t>
            </a:r>
          </a:p>
          <a:p>
            <a:r>
              <a:t>- Scene rendering: 8+ hours</a:t>
            </a:r>
          </a:p>
          <a:p>
            <a:r>
              <a:t>- Limited iterations per review cycle</a:t>
            </a:r>
          </a:p>
          <a:p>
            <a:r>
              <a:t>- Overnight rendering jobs</a:t>
            </a:r>
          </a:p>
          <a:p>
            <a:r>
              <a:t>- Delayed design decisions</a:t>
            </a:r>
          </a:p>
          <a:p/>
          <a:p>
            <a:r>
              <a:t>*After (RTX Real-Time):*</a:t>
            </a:r>
          </a:p>
          <a:p>
            <a:r>
              <a:t>- Scene rendering: 45 minutes</a:t>
            </a:r>
          </a:p>
          <a:p>
            <a:r>
              <a:t>- Multiple iterations per day</a:t>
            </a:r>
          </a:p>
          <a:p>
            <a:r>
              <a:t>- Real-time preview during design</a:t>
            </a:r>
          </a:p>
          <a:p>
            <a:r>
              <a:t>- Immediate stakeholder feedback</a:t>
            </a:r>
          </a:p>
          <a:p/>
          <a:p>
            <a:r>
              <a:t>**Prototyping Cost Reduction - $500K/year:**</a:t>
            </a:r>
          </a:p>
          <a:p/>
          <a:p>
            <a:r>
              <a:t>*Previous Physical Prototyping:*</a:t>
            </a:r>
          </a:p>
          <a:p>
            <a:r>
              <a:t>- $500K annually on physical models</a:t>
            </a:r>
          </a:p>
          <a:p>
            <a:r>
              <a:t>- 2-4 weeks lead time per prototype</a:t>
            </a:r>
          </a:p>
          <a:p>
            <a:r>
              <a:t>- Limited design variations explored</a:t>
            </a:r>
          </a:p>
          <a:p>
            <a:r>
              <a:t>- High material and labor costs</a:t>
            </a:r>
          </a:p>
          <a:p/>
          <a:p>
            <a:r>
              <a:t>*Virtual Visualization:*</a:t>
            </a:r>
          </a:p>
          <a:p>
            <a:r>
              <a:t>- Photorealistic virtual prototypes</a:t>
            </a:r>
          </a:p>
          <a:p>
            <a:r>
              <a:t>- Same-day design variations</a:t>
            </a:r>
          </a:p>
          <a:p>
            <a:r>
              <a:t>- 60% reduction in physical prototypes</a:t>
            </a:r>
          </a:p>
          <a:p>
            <a:r>
              <a:t>- Stakeholder approval on virtual models</a:t>
            </a:r>
          </a:p>
          <a:p/>
          <a:p>
            <a:r>
              <a:t>**Collaboration - 50 Active Users:**</a:t>
            </a:r>
          </a:p>
          <a:p>
            <a:r>
              <a:t>- All 50 designers/engineers onboarded</a:t>
            </a:r>
          </a:p>
          <a:p>
            <a:r>
              <a:t>- Real-time multi-user editing</a:t>
            </a:r>
          </a:p>
          <a:p>
            <a:r>
              <a:t>- Live design reviews enabled</a:t>
            </a:r>
          </a:p>
          <a:p>
            <a:r>
              <a:t>- Remote teams fully connected</a:t>
            </a:r>
          </a:p>
          <a:p/>
          <a:p>
            <a:r>
              <a:t>**File Conversion - Eliminated:**</a:t>
            </a:r>
          </a:p>
          <a:p>
            <a:r>
              <a:t>- No more FBX/OBJ conversions</a:t>
            </a:r>
          </a:p>
          <a:p>
            <a:r>
              <a:t>- Native CAD to USD workflows</a:t>
            </a:r>
          </a:p>
          <a:p>
            <a:r>
              <a:t>- Single source of truth</a:t>
            </a:r>
          </a:p>
          <a:p>
            <a:r>
              <a:t>- Zero version confusion</a:t>
            </a:r>
          </a:p>
          <a:p/>
          <a:p>
            <a:r>
              <a:t>*Transition:*</a:t>
            </a:r>
          </a:p>
          <a:p>
            <a:r>
              <a:t>"We learned valuable lessons during implementation..."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*Lessons Learned Detail:*</a:t>
            </a:r>
          </a:p>
          <a:p/>
          <a:p>
            <a:r>
              <a:t>**What Worked Well:**</a:t>
            </a:r>
          </a:p>
          <a:p/>
          <a:p>
            <a:r>
              <a:t>*Phased Workstation Rollout:*</a:t>
            </a:r>
          </a:p>
          <a:p>
            <a:r>
              <a:t>- Started with 10 pilot workstations</a:t>
            </a:r>
          </a:p>
          <a:p>
            <a:r>
              <a:t>- Validated workflows before full deployment</a:t>
            </a:r>
          </a:p>
          <a:p>
            <a:r>
              <a:t>- Reduced support burden during rollout</a:t>
            </a:r>
          </a:p>
          <a:p>
            <a:r>
              <a:t>- Built internal champions early</a:t>
            </a:r>
          </a:p>
          <a:p/>
          <a:p>
            <a:r>
              <a:t>*Active Directory Integration:*</a:t>
            </a:r>
          </a:p>
          <a:p>
            <a:r>
              <a:t>- Single sign-on from day one</a:t>
            </a:r>
          </a:p>
          <a:p>
            <a:r>
              <a:t>- No separate credentials to manage</a:t>
            </a:r>
          </a:p>
          <a:p>
            <a:r>
              <a:t>- Role-based access control</a:t>
            </a:r>
          </a:p>
          <a:p>
            <a:r>
              <a:t>- Audit trail for compliance</a:t>
            </a:r>
          </a:p>
          <a:p/>
          <a:p>
            <a:r>
              <a:t>*USD Workflow Documentation:*</a:t>
            </a:r>
          </a:p>
          <a:p>
            <a:r>
              <a:t>- Created best practices guide early</a:t>
            </a:r>
          </a:p>
          <a:p>
            <a:r>
              <a:t>- Designers adopted standard workflows</a:t>
            </a:r>
          </a:p>
          <a:p>
            <a:r>
              <a:t>- Reduced support questions</a:t>
            </a:r>
          </a:p>
          <a:p>
            <a:r>
              <a:t>- Consistent scene organization</a:t>
            </a:r>
          </a:p>
          <a:p/>
          <a:p>
            <a:r>
              <a:t>**Challenges Overcome:**</a:t>
            </a:r>
          </a:p>
          <a:p/>
          <a:p>
            <a:r>
              <a:t>*Network Bandwidth:*</a:t>
            </a:r>
          </a:p>
          <a:p>
            <a:r>
              <a:t>- Initial 1 GbE bottleneck for some users</a:t>
            </a:r>
          </a:p>
          <a:p>
            <a:r>
              <a:t>- Upgraded to 10 GbE for all workstations</a:t>
            </a:r>
          </a:p>
          <a:p>
            <a:r>
              <a:t>- QoS policies for Omniverse traffic</a:t>
            </a:r>
          </a:p>
          <a:p>
            <a:r>
              <a:t>- Resolved within Phase 2</a:t>
            </a:r>
          </a:p>
          <a:p/>
          <a:p>
            <a:r>
              <a:t>*Connector Compatibility:*</a:t>
            </a:r>
          </a:p>
          <a:p>
            <a:r>
              <a:t>- Revit 2024 connector update required</a:t>
            </a:r>
          </a:p>
          <a:p>
            <a:r>
              <a:t>- SolidWorks plugin version conflict</a:t>
            </a:r>
          </a:p>
          <a:p>
            <a:r>
              <a:t>- Worked with NVIDIA support</a:t>
            </a:r>
          </a:p>
          <a:p>
            <a:r>
              <a:t>- All connectors validated</a:t>
            </a:r>
          </a:p>
          <a:p/>
          <a:p>
            <a:r>
              <a:t>*Large Scene Performance:*</a:t>
            </a:r>
          </a:p>
          <a:p>
            <a:r>
              <a:t>- Scenes &gt;50GB required tuning</a:t>
            </a:r>
          </a:p>
          <a:p>
            <a:r>
              <a:t>- LOD optimization implemented</a:t>
            </a:r>
          </a:p>
          <a:p>
            <a:r>
              <a:t>- Instancing for repeated geometry</a:t>
            </a:r>
          </a:p>
          <a:p>
            <a:r>
              <a:t>- Performance guidelines documented</a:t>
            </a:r>
          </a:p>
          <a:p/>
          <a:p>
            <a:r>
              <a:t>**Phase 2 Recommendations:**</a:t>
            </a:r>
          </a:p>
          <a:p/>
          <a:p>
            <a:r>
              <a:t>*Expand to 100 Workstations:*</a:t>
            </a:r>
          </a:p>
          <a:p>
            <a:r>
              <a:t>- Current demand from partner teams</a:t>
            </a:r>
          </a:p>
          <a:p>
            <a:r>
              <a:t>- Nucleus infrastructure can scale</a:t>
            </a:r>
          </a:p>
          <a:p>
            <a:r>
              <a:t>- Add 50 licenses to existing pool</a:t>
            </a:r>
          </a:p>
          <a:p>
            <a:r>
              <a:t>- Estimated: $800K investment</a:t>
            </a:r>
          </a:p>
          <a:p/>
          <a:p>
            <a:r>
              <a:t>*Omniverse Farm:*</a:t>
            </a:r>
          </a:p>
          <a:p>
            <a:r>
              <a:t>- Server-based batch rendering</a:t>
            </a:r>
          </a:p>
          <a:p>
            <a:r>
              <a:t>- Free up workstations for design</a:t>
            </a:r>
          </a:p>
          <a:p>
            <a:r>
              <a:t>- Overnight render queue</a:t>
            </a:r>
          </a:p>
          <a:p>
            <a:r>
              <a:t>- 10 GPU render nodes recommended</a:t>
            </a:r>
          </a:p>
          <a:p/>
          <a:p>
            <a:r>
              <a:t>*Transition:*</a:t>
            </a:r>
          </a:p>
          <a:p>
            <a:r>
              <a:t>"Let me walk through the support transition..."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*Support Transition Detail:*</a:t>
            </a:r>
          </a:p>
          <a:p/>
          <a:p>
            <a:r>
              <a:t>**Hypercare Period (30 Days):**</a:t>
            </a:r>
          </a:p>
          <a:p/>
          <a:p>
            <a:r>
              <a:t>*Issues Resolved:*</a:t>
            </a:r>
          </a:p>
          <a:p/>
          <a:p>
            <a:r>
              <a:t>Issue #1 (P3) - Day 5:</a:t>
            </a:r>
          </a:p>
          <a:p>
            <a:r>
              <a:t>- Rhino connector crash on export</a:t>
            </a:r>
          </a:p>
          <a:p>
            <a:r>
              <a:t>- Root cause: Plugin version mismatch</a:t>
            </a:r>
          </a:p>
          <a:p>
            <a:r>
              <a:t>- Resolution: Updated to 2024.1 connector</a:t>
            </a:r>
          </a:p>
          <a:p/>
          <a:p>
            <a:r>
              <a:t>Issue #2 (P4) - Day 8:</a:t>
            </a:r>
          </a:p>
          <a:p>
            <a:r>
              <a:t>- User permission on shared project</a:t>
            </a:r>
          </a:p>
          <a:p>
            <a:r>
              <a:t>- Root cause: AD group membership</a:t>
            </a:r>
          </a:p>
          <a:p>
            <a:r>
              <a:t>- Resolution: Group policy update</a:t>
            </a:r>
          </a:p>
          <a:p/>
          <a:p>
            <a:r>
              <a:t>Issue #3 (P3) - Day 12:</a:t>
            </a:r>
          </a:p>
          <a:p>
            <a:r>
              <a:t>- Nucleus sync slow on large scene</a:t>
            </a:r>
          </a:p>
          <a:p>
            <a:r>
              <a:t>- Root cause: Network MTU setting</a:t>
            </a:r>
          </a:p>
          <a:p>
            <a:r>
              <a:t>- Resolution: MTU 9000 configured</a:t>
            </a:r>
          </a:p>
          <a:p/>
          <a:p>
            <a:r>
              <a:t>Issue #4 (P4) - Day 18:</a:t>
            </a:r>
          </a:p>
          <a:p>
            <a:r>
              <a:t>- Workstation driver update needed</a:t>
            </a:r>
          </a:p>
          <a:p>
            <a:r>
              <a:t>- Root cause: NVIDIA driver 535 issue</a:t>
            </a:r>
          </a:p>
          <a:p>
            <a:r>
              <a:t>- Resolution: Updated to 545 driver</a:t>
            </a:r>
          </a:p>
          <a:p/>
          <a:p>
            <a:r>
              <a:t>*Knowledge Transfer Sessions:*</a:t>
            </a:r>
          </a:p>
          <a:p>
            <a:r>
              <a:t>- Nucleus Administration: 4 hours</a:t>
            </a:r>
          </a:p>
          <a:p>
            <a:r>
              <a:t>- Workstation Management: 2 hours</a:t>
            </a:r>
          </a:p>
          <a:p>
            <a:r>
              <a:t>- USD Workflow Best Practices: 4 hours</a:t>
            </a:r>
          </a:p>
          <a:p>
            <a:r>
              <a:t>- Connector Troubleshooting: 2 hours</a:t>
            </a:r>
          </a:p>
          <a:p>
            <a:r>
              <a:t>- Monitoring &amp; Alerting: 2 hours</a:t>
            </a:r>
          </a:p>
          <a:p/>
          <a:p>
            <a:r>
              <a:t>**Steady State Support:**</a:t>
            </a:r>
          </a:p>
          <a:p/>
          <a:p>
            <a:r>
              <a:t>*What Internal Team Handles:*</a:t>
            </a:r>
          </a:p>
          <a:p>
            <a:r>
              <a:t>- Daily monitoring</a:t>
            </a:r>
          </a:p>
          <a:p>
            <a:r>
              <a:t>- User account management</a:t>
            </a:r>
          </a:p>
          <a:p>
            <a:r>
              <a:t>- Project permission changes</a:t>
            </a:r>
          </a:p>
          <a:p>
            <a:r>
              <a:t>- Basic troubleshooting</a:t>
            </a:r>
          </a:p>
          <a:p/>
          <a:p>
            <a:r>
              <a:t>*When to Escalate:*</a:t>
            </a:r>
          </a:p>
          <a:p>
            <a:r>
              <a:t>- Nucleus server failures</a:t>
            </a:r>
          </a:p>
          <a:p>
            <a:r>
              <a:t>- Connector integration issues</a:t>
            </a:r>
          </a:p>
          <a:p>
            <a:r>
              <a:t>- Performance degradation</a:t>
            </a:r>
          </a:p>
          <a:p>
            <a:r>
              <a:t>- Hardware failures</a:t>
            </a:r>
          </a:p>
          <a:p/>
          <a:p>
            <a:r>
              <a:t>**Support Contacts:**</a:t>
            </a:r>
          </a:p>
          <a:p>
            <a:r>
              <a:t>- IT Help Desk: helpdesk@client.com</a:t>
            </a:r>
          </a:p>
          <a:p>
            <a:r>
              <a:t>- NVIDIA Support: enterprise support portal</a:t>
            </a:r>
          </a:p>
          <a:p>
            <a:r>
              <a:t>- Dell ProSupport: 1-800-xxx-xxxx</a:t>
            </a:r>
          </a:p>
          <a:p/>
          <a:p>
            <a:r>
              <a:t>*Transition:*</a:t>
            </a:r>
          </a:p>
          <a:p>
            <a:r>
              <a:t>"Let me acknowledge the team and outline next steps..."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*Acknowledgments:*</a:t>
            </a:r>
          </a:p>
          <a:p/>
          <a:p>
            <a:r>
              <a:t>**Client Team Recognition:**</a:t>
            </a:r>
          </a:p>
          <a:p>
            <a:r>
              <a:t>- IT Leadership for budget approval and infrastructure readiness</a:t>
            </a:r>
          </a:p>
          <a:p>
            <a:r>
              <a:t>- Design Leads for requirements and UAT participation</a:t>
            </a:r>
          </a:p>
          <a:p>
            <a:r>
              <a:t>- Facilities Team for workstation deployment locations</a:t>
            </a:r>
          </a:p>
          <a:p>
            <a:r>
              <a:t>- Network Team for 10 GbE fabric upgrade</a:t>
            </a:r>
          </a:p>
          <a:p/>
          <a:p>
            <a:r>
              <a:t>**Vendor Team Recognition:**</a:t>
            </a:r>
          </a:p>
          <a:p>
            <a:r>
              <a:t>- Project Manager for delivery coordination</a:t>
            </a:r>
          </a:p>
          <a:p>
            <a:r>
              <a:t>- Omniverse Architect for platform design</a:t>
            </a:r>
          </a:p>
          <a:p>
            <a:r>
              <a:t>- Deployment Engineer for workstation rollout</a:t>
            </a:r>
          </a:p>
          <a:p>
            <a:r>
              <a:t>- Training Lead for user enablement</a:t>
            </a:r>
          </a:p>
          <a:p/>
          <a:p>
            <a:r>
              <a:t>**Special Recognition:**</a:t>
            </a:r>
          </a:p>
          <a:p>
            <a:r>
              <a:t>"Special thanks to the 10-person pilot team who validated the platform during early access. Their feedback on USD workflows shaped the final configuration and training materials."</a:t>
            </a:r>
          </a:p>
          <a:p/>
          <a:p>
            <a:r>
              <a:t>**Immediate Next Steps:**</a:t>
            </a:r>
          </a:p>
          <a:p>
            <a:r>
              <a:t>- Final documentation handover: [Date]</a:t>
            </a:r>
          </a:p>
          <a:p>
            <a:r>
              <a:t>- Project archive: [Date]</a:t>
            </a:r>
          </a:p>
          <a:p>
            <a:r>
              <a:t>- NVIDIA support transition: Complete</a:t>
            </a:r>
          </a:p>
          <a:p>
            <a:r>
              <a:t>- Dell warranty registration: Complete</a:t>
            </a:r>
          </a:p>
          <a:p/>
          <a:p>
            <a:r>
              <a:t>**30-Day Actions:**</a:t>
            </a:r>
          </a:p>
          <a:p>
            <a:r>
              <a:t>- First monthly performance review</a:t>
            </a:r>
          </a:p>
          <a:p>
            <a:r>
              <a:t>- Workflow optimization based on usage</a:t>
            </a:r>
          </a:p>
          <a:p>
            <a:r>
              <a:t>- User feedback collection</a:t>
            </a:r>
          </a:p>
          <a:p>
            <a:r>
              <a:t>- Phase 2 requirements gathering</a:t>
            </a:r>
          </a:p>
          <a:p/>
          <a:p>
            <a:r>
              <a:t>**Phase 2 Planning:**</a:t>
            </a:r>
          </a:p>
          <a:p>
            <a:r>
              <a:t>- Expand to 100 workstations</a:t>
            </a:r>
          </a:p>
          <a:p>
            <a:r>
              <a:t>- Add Omniverse Farm rendering</a:t>
            </a:r>
          </a:p>
          <a:p>
            <a:r>
              <a:t>- Mobile review capabilities</a:t>
            </a:r>
          </a:p>
          <a:p>
            <a:r>
              <a:t>- Extended partner access</a:t>
            </a:r>
          </a:p>
          <a:p/>
          <a:p>
            <a:r>
              <a:t>*Transition:*</a:t>
            </a:r>
          </a:p>
          <a:p>
            <a:r>
              <a:t>"Thank you for your partnership. Questions?"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*Closing:*</a:t>
            </a:r>
          </a:p>
          <a:p/>
          <a:p>
            <a:r>
              <a:t>"Thank you for your partnership. This Omniverse Enterprise platform represents a significant investment in 3D collaboration capability that will accelerate [Client Name]'s design and visualization workflows for years to come.</a:t>
            </a:r>
          </a:p>
          <a:p/>
          <a:p>
            <a:r>
              <a:t>Questions?"</a:t>
            </a:r>
          </a:p>
          <a:p/>
          <a:p>
            <a:r>
              <a:t>**Anticipated Questions:**</a:t>
            </a:r>
          </a:p>
          <a:p/>
          <a:p>
            <a:r>
              <a:t>*Q: What if we need more workstations?*</a:t>
            </a:r>
          </a:p>
          <a:p>
            <a:r>
              <a:t>A: Phase 2 planning can add 50+ workstations. The Nucleus infrastructure scales horizontally. Network and storage have capacity for expansion.</a:t>
            </a:r>
          </a:p>
          <a:p/>
          <a:p>
            <a:r>
              <a:t>*Q: Can remote users access the platform?*</a:t>
            </a:r>
          </a:p>
          <a:p>
            <a:r>
              <a:t>A: Yes, remote access is supported via VPN. Omniverse streaming is available for cloud-based access. Phase 2 includes mobile review capabilities.</a:t>
            </a:r>
          </a:p>
          <a:p/>
          <a:p>
            <a:r>
              <a:t>*Q: How do we handle large scene performance?*</a:t>
            </a:r>
          </a:p>
          <a:p>
            <a:r>
              <a:t>A: USD workflows support LOD and instancing. Operations runbook includes guidelines. NVIDIA Enterprise Support is available for optimization.</a:t>
            </a:r>
          </a:p>
          <a:p/>
          <a:p>
            <a:r>
              <a:t>*Q: What are ongoing costs?*</a:t>
            </a:r>
          </a:p>
          <a:p>
            <a:r>
              <a:t>A: Approximately $213K/year (software licenses, support). Compared to $500K/year prototyping costs - significant net savings.</a:t>
            </a:r>
          </a:p>
          <a:p/>
          <a:p>
            <a:r>
              <a:t>**Follow-Up:**</a:t>
            </a:r>
          </a:p>
          <a:p>
            <a:r>
              <a:t>- Send presentation to attendees</a:t>
            </a:r>
          </a:p>
          <a:p>
            <a:r>
              <a:t>- Schedule 30-day review</a:t>
            </a:r>
          </a:p>
          <a:p>
            <a:r>
              <a:t>- Phase 2 planning workshop invitation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Project Closeout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NVIDIA Omniverse Enterprise Collaboration Platform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Project Manager | November 28,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Executive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Duration:</a:t>
            </a:r>
            <a:r>
              <a:t> 16 weeks, on schedule</a:t>
            </a:r>
          </a:p>
          <a:p>
            <a:pPr/>
            <a:r>
              <a:rPr b="1"/>
              <a:t>Budget:</a:t>
            </a:r>
            <a:r>
              <a:t> $1.33M delivered within budget</a:t>
            </a:r>
          </a:p>
          <a:p>
            <a:pPr/>
            <a:r>
              <a:rPr b="1"/>
              <a:t>Go-Live Date:</a:t>
            </a:r>
            <a:r>
              <a:t> Week 12 as planned</a:t>
            </a:r>
          </a:p>
          <a:p>
            <a:pPr/>
            <a:r>
              <a:rPr b="1"/>
              <a:t>Quality:</a:t>
            </a:r>
            <a:r>
              <a:t> Zero critical defects at launch</a:t>
            </a:r>
          </a:p>
          <a:p>
            <a:pPr/>
            <a:r>
              <a:rPr b="1"/>
              <a:t>Platform Capacity:</a:t>
            </a:r>
            <a:r>
              <a:t> 50 RTX workstations deployed</a:t>
            </a:r>
          </a:p>
          <a:p>
            <a:pPr/>
            <a:r>
              <a:rPr b="1"/>
              <a:t>Rendering Speed:</a:t>
            </a:r>
            <a:r>
              <a:t> 90% faster vs CPU baseline</a:t>
            </a:r>
          </a:p>
          <a:p>
            <a:pPr/>
            <a:r>
              <a:rPr b="1"/>
              <a:t>ROI Status:</a:t>
            </a:r>
            <a:r>
              <a:t> On track for 2.2-year payback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Omniverse Enterprise Collaboration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Workstation Layer</a:t>
            </a:r>
          </a:p>
          <a:p>
            <a:pPr lvl="1"/>
            <a:r>
              <a:t>50x Dell Precision 7960 RTX A6000</a:t>
            </a:r>
          </a:p>
          <a:p>
            <a:pPr lvl="1"/>
            <a:r>
              <a:t>10 GbE connectivity per workstation</a:t>
            </a:r>
          </a:p>
          <a:p>
            <a:pPr lvl="1"/>
            <a:r>
              <a:t>2.4 TB total GPU memory</a:t>
            </a:r>
          </a:p>
          <a:p>
            <a:pPr/>
            <a:r>
              <a:rPr b="1"/>
              <a:t>Collaboration Layer</a:t>
            </a:r>
          </a:p>
          <a:p>
            <a:pPr lvl="1"/>
            <a:r>
              <a:t>2x Omniverse Nucleus servers (HA)</a:t>
            </a:r>
          </a:p>
          <a:p>
            <a:pPr lvl="1"/>
            <a:r>
              <a:t>Real-time USD scene synchronization</a:t>
            </a:r>
          </a:p>
          <a:p>
            <a:pPr lvl="1"/>
            <a:r>
              <a:t>Git-like version control for 3D</a:t>
            </a:r>
          </a:p>
          <a:p>
            <a:pPr/>
            <a:r>
              <a:rPr b="1"/>
              <a:t>Integration Layer</a:t>
            </a:r>
          </a:p>
          <a:p>
            <a:pPr lvl="1"/>
            <a:r>
              <a:t>Revit, SolidWorks, Rhino connectors</a:t>
            </a:r>
          </a:p>
          <a:p>
            <a:pPr lvl="1"/>
            <a:r>
              <a:t>Blender and Maya USD integration</a:t>
            </a:r>
          </a:p>
          <a:p>
            <a:pPr lvl="1"/>
            <a:r>
              <a:t>Active Directory authentication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Omniverse Enterprise Collaboration Platform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Deliverables Inventory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3919919"/>
                <a:gridCol w="2177733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Detailed Design Document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Omniverse architecture, Nucleus design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`/delivery/detailed-design.docx`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Implementation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Step-by-step deployment procedures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`/delivery/implementation-guide.docx`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Project Plan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Timeline, milestones, RACI, communications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`/delivery/project-plan.xlsx`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Test Plan &amp; Results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Performance benchmarks, UAT results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`/delivery/test-plan.xlsx`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Configuration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Nucleus, workstation, connector config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`/delivery/configuration.xlsx`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Operations Runbook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Day-to-day procedures, troubleshooting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`/delivery/docs/operations-runbook.md`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Training Materials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Admin and designer guides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`/delivery/training/`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USD Workflow Guide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Best practices for USD collaboration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`/delivery/docs/usd-workflows.md`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Omniverse Enterprise Collaboration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Quality &amp;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Performance Metrics</a:t>
            </a:r>
          </a:p>
          <a:p>
            <a:pPr lvl="1"/>
            <a:r>
              <a:t>Render Time: 45 min (target: &lt;60 min)</a:t>
            </a:r>
          </a:p>
          <a:p>
            <a:pPr lvl="1"/>
            <a:r>
              <a:t>Concurrent Users: 12 per scene tested</a:t>
            </a:r>
          </a:p>
          <a:p>
            <a:pPr lvl="1"/>
            <a:r>
              <a:t>Nucleus Uptime: 99.6% (target: 99.5%)</a:t>
            </a:r>
          </a:p>
          <a:p>
            <a:pPr lvl="1"/>
            <a:r>
              <a:t>Storage Throughput: 11 GB/s sustained</a:t>
            </a:r>
          </a:p>
          <a:p>
            <a:pPr lvl="1"/>
            <a:r>
              <a:t>USD Sync Latency: &lt;100ms average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Testing Metrics</a:t>
            </a:r>
          </a:p>
          <a:p>
            <a:pPr lvl="1"/>
            <a:r>
              <a:t>Test Cases Executed: 28/28 (100%)</a:t>
            </a:r>
          </a:p>
          <a:p>
            <a:pPr lvl="1"/>
            <a:r>
              <a:t>Critical Defects at Go-Live: 0</a:t>
            </a:r>
          </a:p>
          <a:p>
            <a:pPr lvl="1"/>
            <a:r>
              <a:t>Connector Validation: All 5 passed</a:t>
            </a:r>
          </a:p>
          <a:p>
            <a:pPr lvl="1"/>
            <a:r>
              <a:t>UAT Sign-off: Complete, no blockers</a:t>
            </a:r>
          </a:p>
          <a:p>
            <a:pPr lvl="1"/>
            <a:r>
              <a:t>User Satisfaction: 4.6/5.0 rating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Omniverse Enterprise Collaboration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Benefits Realized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279"/>
                <a:gridCol w="1742186"/>
                <a:gridCol w="1742186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SOW 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Business 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Rendering Speed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90% faster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94% validated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 hours to 45 minutes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Prototyping Costs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$500K/year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$500K projected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Virtual vs physical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Collaboration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active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All teams connected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File Conversion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Eliminated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USD-based workflow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No manual conversion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Design Iterations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3x faster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3x validated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Real-time feedback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ROI Timeline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2.2 years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On track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Investment recovered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Omniverse Enterprise Collaboration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Lessons Learned &amp; Recommendations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Worked Well</a:t>
            </a:r>
          </a:p>
          <a:p>
            <a:pPr lvl="1"/>
            <a:r>
              <a:t>Phased workstation rollout approach</a:t>
            </a:r>
          </a:p>
          <a:p>
            <a:pPr lvl="1"/>
            <a:r>
              <a:t>Pilot team validation first</a:t>
            </a:r>
          </a:p>
          <a:p>
            <a:pPr lvl="1"/>
            <a:r>
              <a:t>Active Directory SSO integration</a:t>
            </a:r>
          </a:p>
          <a:p>
            <a:pPr lvl="1"/>
            <a:r>
              <a:t>Weekly designer feedback sessions</a:t>
            </a:r>
          </a:p>
          <a:p>
            <a:pPr lvl="1"/>
            <a:r>
              <a:t>USD workflow documentation early</a:t>
            </a:r>
          </a:p>
          <a:p>
            <a:pPr/>
            <a:r>
              <a:rPr b="1"/>
              <a:t>Challenges Overcome</a:t>
            </a:r>
          </a:p>
          <a:p>
            <a:pPr lvl="1"/>
            <a:r>
              <a:t>Network bandwidth initial limits</a:t>
            </a:r>
          </a:p>
          <a:p>
            <a:pPr lvl="1"/>
            <a:r>
              <a:t>Connector version compatibility</a:t>
            </a:r>
          </a:p>
          <a:p>
            <a:pPr lvl="1"/>
            <a:r>
              <a:t>User adoption pace variance</a:t>
            </a:r>
          </a:p>
          <a:p>
            <a:pPr lvl="1"/>
            <a:r>
              <a:t>Storage permission configuration</a:t>
            </a:r>
          </a:p>
          <a:p>
            <a:pPr lvl="1"/>
            <a:r>
              <a:t>Large scene performance tuning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Recommendations</a:t>
            </a:r>
          </a:p>
          <a:p>
            <a:pPr lvl="1"/>
            <a:r>
              <a:t>Expand to 100 workstations (Phase 2)</a:t>
            </a:r>
          </a:p>
          <a:p>
            <a:pPr lvl="1"/>
            <a:r>
              <a:t>Add Omniverse Farm for batch render</a:t>
            </a:r>
          </a:p>
          <a:p>
            <a:pPr lvl="1"/>
            <a:r>
              <a:t>Implement GPU quotas per team</a:t>
            </a:r>
          </a:p>
          <a:p>
            <a:pPr lvl="1"/>
            <a:r>
              <a:t>Deploy mobile review capabilities</a:t>
            </a:r>
          </a:p>
          <a:p>
            <a:pPr lvl="1"/>
            <a:r>
              <a:t>Quarterly workflow optimization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Omniverse Enterprise Collaboration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Hypercare Complete (30 days)</a:t>
            </a:r>
          </a:p>
          <a:p>
            <a:pPr lvl="1"/>
            <a:r>
              <a:t>Daily health checks completed</a:t>
            </a:r>
          </a:p>
          <a:p>
            <a:pPr lvl="1"/>
            <a:r>
              <a:t>4 issues resolved (all P3/P4)</a:t>
            </a:r>
          </a:p>
          <a:p>
            <a:pPr lvl="1"/>
            <a:r>
              <a:t>All KT sessions delivered</a:t>
            </a:r>
          </a:p>
          <a:p>
            <a:pPr lvl="1"/>
            <a:r>
              <a:t>Runbook procedures validated</a:t>
            </a:r>
          </a:p>
          <a:p>
            <a:pPr lvl="1"/>
            <a:r>
              <a:t>Team certified on operations</a:t>
            </a:r>
          </a:p>
          <a:p>
            <a:pPr/>
            <a:r>
              <a:rPr b="1"/>
              <a:t>Steady State Support</a:t>
            </a:r>
          </a:p>
          <a:p>
            <a:pPr lvl="1"/>
            <a:r>
              <a:t>NVIDIA Omniverse Enterprise Support</a:t>
            </a:r>
          </a:p>
          <a:p>
            <a:pPr lvl="1"/>
            <a:r>
              <a:t>Dell ProSupport for workstations</a:t>
            </a:r>
          </a:p>
          <a:p>
            <a:pPr lvl="1"/>
            <a:r>
              <a:t>4-hour response SLA</a:t>
            </a:r>
          </a:p>
          <a:p>
            <a:pPr lvl="1"/>
            <a:r>
              <a:t>Monthly performance reviews</a:t>
            </a:r>
          </a:p>
          <a:p>
            <a:pPr lvl="1"/>
            <a:r>
              <a:t>Quarterly connector updates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Escalation Path</a:t>
            </a:r>
          </a:p>
          <a:p>
            <a:pPr lvl="1"/>
            <a:r>
              <a:t>L1: Internal IT Help Desk</a:t>
            </a:r>
          </a:p>
          <a:p>
            <a:pPr lvl="1"/>
            <a:r>
              <a:t>L2: Omniverse Admin Team</a:t>
            </a:r>
          </a:p>
          <a:p>
            <a:pPr lvl="1"/>
            <a:r>
              <a:t>L3: NVIDIA Enterprise Support</a:t>
            </a:r>
          </a:p>
          <a:p>
            <a:pPr lvl="1"/>
            <a:r>
              <a:t>L4: Dell ProSupport (hardware)</a:t>
            </a:r>
          </a:p>
          <a:p>
            <a:pPr lvl="1"/>
            <a:r>
              <a:t>Account: Partner Manager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Omniverse Enterprise Collaboration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Acknowledgments &amp;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Team:</a:t>
            </a:r>
            <a:r>
              <a:t> IT leadership, design leads, facilities team</a:t>
            </a:r>
          </a:p>
          <a:p>
            <a:pPr/>
            <a:r>
              <a:rPr b="1"/>
              <a:t>Vendor Team:</a:t>
            </a:r>
            <a:r>
              <a:t> Project manager, Omniverse architect, deployment engineer</a:t>
            </a:r>
          </a:p>
          <a:p>
            <a:pPr/>
            <a:r>
              <a:rPr b="1"/>
              <a:t>Special Recognition:</a:t>
            </a:r>
            <a:r>
              <a:t> Pilot team for early adoption and feedback</a:t>
            </a:r>
          </a:p>
          <a:p>
            <a:pPr/>
            <a:r>
              <a:rPr b="1"/>
              <a:t>This Week:</a:t>
            </a:r>
            <a:r>
              <a:t> Final documentation handover, archive project</a:t>
            </a:r>
          </a:p>
          <a:p>
            <a:pPr/>
            <a:r>
              <a:rPr b="1"/>
              <a:t>Next 30 Days:</a:t>
            </a:r>
            <a:r>
              <a:t> First monthly review, workflow optimization</a:t>
            </a:r>
          </a:p>
          <a:p>
            <a:pPr/>
            <a:r>
              <a:rPr b="1"/>
              <a:t>Next Quarter:</a:t>
            </a:r>
            <a:r>
              <a:t> Phase 2 planning for capacity expansion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NVIDIA Omniverse Enterprise Collaboration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