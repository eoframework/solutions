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Solution Briefing</a:t>
            </a:r>
          </a:p>
        </p:txBody>
      </p:sp>
      <p:pic>
        <p:nvPicPr>
          <p:cNvPr id="4" name="Picture Placeholder 3" descr="consulting_company_logo.png"/>
          <p:cNvPicPr>
            <a:picLocks noGrp="1" noChangeAspect="1"/>
          </p:cNvPicPr>
          <p:nvPr>
            <p:ph type="pic" idx="13" sz="quarter"/>
          </p:nvPr>
        </p:nvPicPr>
        <p:blipFill>
          <a:blip r:embed="rId3"/>
          <a:srcRect t="5856" b="5856"/>
          <a:stretch>
            <a:fillRect/>
          </a:stretch>
        </p:blipFill>
        <p:spPr/>
      </p:pic>
      <p:sp>
        <p:nvSpPr>
          <p:cNvPr id="5" name="Text Placeholder 4"/>
          <p:cNvSpPr>
            <a:spLocks noGrp="1"/>
          </p:cNvSpPr>
          <p:nvPr>
            <p:ph type="body" idx="14" sz="quarter"/>
          </p:nvPr>
        </p:nvSpPr>
        <p:spPr/>
        <p:txBody>
          <a:bodyPr/>
          <a:lstStyle/>
          <a:p>
            <a:r>
              <a:t>Azure Virtual Desktop</a:t>
            </a:r>
          </a:p>
        </p:txBody>
      </p:sp>
      <p:sp>
        <p:nvSpPr>
          <p:cNvPr id="6" name="Text Placeholder 5"/>
          <p:cNvSpPr>
            <a:spLocks noGrp="1"/>
          </p:cNvSpPr>
          <p:nvPr>
            <p:ph type="body" idx="15" sz="quarter"/>
          </p:nvPr>
        </p:nvSpPr>
        <p:spPr/>
        <p:txBody>
          <a:bodyPr/>
          <a:lstStyle/>
          <a:p>
            <a:r>
              <a:t>Enterprise Solutions Architect | November 17, 2025</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Business Opportunity</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Opportunity</a:t>
            </a:r>
          </a:p>
          <a:p>
            <a:pPr lvl="1"/>
            <a:r>
              <a:t>Modernize desktop infrastructure to support secure remote work and flexible workplace models</a:t>
            </a:r>
          </a:p>
          <a:p>
            <a:pPr lvl="1"/>
            <a:r>
              <a:t>Reduce IT operational overhead by 40-50% through centralized cloud-based desktop management</a:t>
            </a:r>
          </a:p>
          <a:p>
            <a:pPr lvl="1"/>
            <a:r>
              <a:t>Enable employees to access corporate desktops from any device, location, or network connection</a:t>
            </a:r>
          </a:p>
          <a:p>
            <a:pPr lvl="1"/>
            <a:r>
              <a:t>Implement enterprise-grade security and compliance controls with multi-session efficiency</a:t>
            </a:r>
          </a:p>
        </p:txBody>
      </p:sp>
      <p:sp>
        <p:nvSpPr>
          <p:cNvPr id="5" name="Text Placeholder 4"/>
          <p:cNvSpPr>
            <a:spLocks noGrp="1"/>
          </p:cNvSpPr>
          <p:nvPr>
            <p:ph type="body" idx="17" sz="quarter"/>
          </p:nvPr>
        </p:nvSpPr>
        <p:spPr/>
        <p:txBody>
          <a:bodyPr/>
          <a:lstStyle/>
          <a:p>
            <a:pPr/>
            <a:r>
              <a:rPr b="1"/>
              <a:t>Success Criteria</a:t>
            </a:r>
          </a:p>
          <a:p>
            <a:pPr lvl="1"/>
            <a:r>
              <a:t>Deploy pooled and/or personal desktops with 99.9% availability within 8-10 weeks</a:t>
            </a:r>
          </a:p>
          <a:p>
            <a:pPr lvl="1"/>
            <a:r>
              <a:t>Achieve 70%+ reduction in remote access VPN complexity and security incidents</a:t>
            </a:r>
          </a:p>
          <a:p>
            <a:pPr lvl="1"/>
            <a:r>
              <a:t>Reduce per-user infrastructure costs by 35-45% compared to traditional VDI solutions</a:t>
            </a:r>
          </a:p>
          <a:p>
            <a:pPr lvl="1"/>
            <a:r>
              <a:t>Enable seamless user experience with sub-200ms latency across geographies</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Engagement Scope</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lnL w="12700">
                      <a:solidFill>
                        <a:srgbClr val="D0D0D0"/>
                      </a:solidFill>
                    </a:ln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Host Pools</a:t>
                      </a:r>
                    </a:p>
                  </a:txBody>
                  <a:tcPr>
                    <a:solidFill>
                      <a:srgbClr val="E7E6E6"/>
                    </a:solidFill>
                  </a:tcPr>
                </a:tc>
                <a:tc>
                  <a:txBody>
                    <a:bodyPr/>
                    <a:lstStyle/>
                    <a:p>
                      <a:r>
                        <a:rPr sz="1100"/>
                        <a:t>3 host pools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Regions</a:t>
                      </a:r>
                    </a:p>
                  </a:txBody>
                  <a:tcPr>
                    <a:solidFill>
                      <a:srgbClr val="E7E6E6"/>
                    </a:solidFill>
                  </a:tcPr>
                </a:tc>
                <a:tc>
                  <a:txBody>
                    <a:bodyPr/>
                    <a:lstStyle/>
                    <a:p>
                      <a:r>
                        <a:rPr sz="1100"/>
                        <a:t>Single Azure region (East US)</a:t>
                      </a:r>
                    </a:p>
                  </a:txBody>
                  <a:tcPr>
                    <a:solidFill>
                      <a:srgbClr val="E7E6E6"/>
                    </a:solidFill>
                  </a:tcPr>
                </a:tc>
              </a:tr>
              <a:tr h="370840">
                <a:tc>
                  <a:txBody>
                    <a:bodyPr/>
                    <a:lstStyle/>
                    <a:p>
                      <a:r>
                        <a:rPr b="1" sz="1100"/>
                        <a:t>Application Groups</a:t>
                      </a:r>
                    </a:p>
                  </a:txBody>
                  <a:tcPr>
                    <a:solidFill>
                      <a:srgbClr val="E7E6E6"/>
                    </a:solidFill>
                  </a:tcPr>
                </a:tc>
                <a:tc>
                  <a:txBody>
                    <a:bodyPr/>
                    <a:lstStyle/>
                    <a:p>
                      <a:r>
                        <a:rPr sz="1100"/>
                        <a:t>5-10 app groups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Availability Requirements</a:t>
                      </a:r>
                    </a:p>
                  </a:txBody>
                  <a:tcPr>
                    <a:solidFill>
                      <a:srgbClr val="E7E6E6"/>
                    </a:solidFill>
                  </a:tcPr>
                </a:tc>
                <a:tc>
                  <a:txBody>
                    <a:bodyPr/>
                    <a:lstStyle/>
                    <a:p>
                      <a:r>
                        <a:rPr sz="1100"/>
                        <a:t>Standard (99.9%)</a:t>
                      </a:r>
                    </a:p>
                  </a:txBody>
                  <a:tcPr>
                    <a:solidFill>
                      <a:srgbClr val="E7E6E6"/>
                    </a:solidFill>
                  </a:tcPr>
                </a:tc>
              </a:tr>
              <a:tr h="370840">
                <a:tc>
                  <a:txBody>
                    <a:bodyPr/>
                    <a:lstStyle/>
                    <a:p>
                      <a:r>
                        <a:rPr b="1" sz="1100"/>
                        <a:t>Identity Integration</a:t>
                      </a:r>
                    </a:p>
                  </a:txBody>
                  <a:tcPr>
                    <a:solidFill>
                      <a:srgbClr val="E7E6E6"/>
                    </a:solidFill>
                  </a:tcPr>
                </a:tc>
                <a:tc>
                  <a:txBody>
                    <a:bodyPr/>
                    <a:lstStyle/>
                    <a:p>
                      <a:r>
                        <a:rPr sz="1100"/>
                        <a:t>Azure AD hybrid join</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Infrastructure Complexity</a:t>
                      </a:r>
                    </a:p>
                  </a:txBody>
                  <a:tcPr>
                    <a:solidFill>
                      <a:srgbClr val="E7E6E6"/>
                    </a:solidFill>
                  </a:tcPr>
                </a:tc>
                <a:tc>
                  <a:txBody>
                    <a:bodyPr/>
                    <a:lstStyle/>
                    <a:p>
                      <a:r>
                        <a:rPr sz="1100"/>
                        <a:t>Multi-session Windows 11 hosts</a:t>
                      </a:r>
                    </a:p>
                  </a:txBody>
                  <a:tcPr>
                    <a:solidFill>
                      <a:srgbClr val="E7E6E6"/>
                    </a:solidFill>
                  </a:tcPr>
                </a:tc>
              </a:tr>
              <a:tr h="370840">
                <a:tc>
                  <a:txBody>
                    <a:bodyPr/>
                    <a:lstStyle/>
                    <a:p>
                      <a:r>
                        <a:rPr b="1" sz="1100"/>
                        <a:t>Profile Management</a:t>
                      </a:r>
                    </a:p>
                  </a:txBody>
                  <a:tcPr>
                    <a:solidFill>
                      <a:srgbClr val="E7E6E6"/>
                    </a:solidFill>
                  </a:tcPr>
                </a:tc>
                <a:tc>
                  <a:txBody>
                    <a:bodyPr/>
                    <a:lstStyle/>
                    <a:p>
                      <a:r>
                        <a:rPr sz="1100"/>
                        <a:t>FSLogix profile containers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Security Requirements</a:t>
                      </a:r>
                    </a:p>
                  </a:txBody>
                  <a:tcPr>
                    <a:solidFill>
                      <a:srgbClr val="E7E6E6"/>
                    </a:solidFill>
                  </a:tcPr>
                </a:tc>
                <a:tc>
                  <a:txBody>
                    <a:bodyPr/>
                    <a:lstStyle/>
                    <a:p>
                      <a:r>
                        <a:rPr sz="1100"/>
                        <a:t>Conditional Access MFA Intune</a:t>
                      </a:r>
                    </a:p>
                  </a:txBody>
                  <a:tcPr>
                    <a:solidFill>
                      <a:srgbClr val="E7E6E6"/>
                    </a:solidFill>
                  </a:tcPr>
                </a:tc>
              </a:tr>
              <a:tr h="370840">
                <a:tc>
                  <a:txBody>
                    <a:bodyPr/>
                    <a:lstStyle/>
                    <a:p>
                      <a:r>
                        <a:rPr b="1" sz="1100"/>
                        <a:t>Total Users</a:t>
                      </a:r>
                    </a:p>
                  </a:txBody>
                  <a:tcPr>
                    <a:solidFill>
                      <a:srgbClr val="E7E6E6"/>
                    </a:solidFill>
                  </a:tcPr>
                </a:tc>
                <a:tc>
                  <a:txBody>
                    <a:bodyPr/>
                    <a:lstStyle/>
                    <a:p>
                      <a:r>
                        <a:rPr sz="1100"/>
                        <a:t>200 concurrent users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Compliance Frameworks</a:t>
                      </a:r>
                    </a:p>
                  </a:txBody>
                  <a:tcPr>
                    <a:solidFill>
                      <a:srgbClr val="E7E6E6"/>
                    </a:solidFill>
                  </a:tcPr>
                </a:tc>
                <a:tc>
                  <a:txBody>
                    <a:bodyPr/>
                    <a:lstStyle/>
                    <a:p>
                      <a:r>
                        <a:rPr sz="1100"/>
                        <a:t>SOC2</a:t>
                      </a:r>
                    </a:p>
                  </a:txBody>
                  <a:tcPr>
                    <a:solidFill>
                      <a:srgbClr val="E7E6E6"/>
                    </a:solidFill>
                  </a:tcPr>
                </a:tc>
              </a:tr>
              <a:tr h="370840">
                <a:tc>
                  <a:txBody>
                    <a:bodyPr/>
                    <a:lstStyle/>
                    <a:p>
                      <a:r>
                        <a:rPr b="1" sz="1100"/>
                        <a:t>User Roles</a:t>
                      </a:r>
                    </a:p>
                  </a:txBody>
                  <a:tcPr>
                    <a:solidFill>
                      <a:srgbClr val="E7E6E6"/>
                    </a:solidFill>
                  </a:tcPr>
                </a:tc>
                <a:tc>
                  <a:txBody>
                    <a:bodyPr/>
                    <a:lstStyle/>
                    <a:p>
                      <a:r>
                        <a:rPr sz="1100"/>
                        <a:t>3 roles (standard power admin)</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User Experience</a:t>
                      </a:r>
                    </a:p>
                  </a:txBody>
                  <a:tcPr>
                    <a:solidFill>
                      <a:srgbClr val="E7E6E6"/>
                    </a:solidFill>
                  </a:tcPr>
                </a:tc>
                <a:tc>
                  <a:txBody>
                    <a:bodyPr/>
                    <a:lstStyle/>
                    <a:p>
                      <a:r>
                        <a:rPr sz="1100"/>
                        <a:t>Standard latency requirements</a:t>
                      </a:r>
                    </a:p>
                  </a:txBody>
                  <a:tcPr>
                    <a:solidFill>
                      <a:srgbClr val="E7E6E6"/>
                    </a:solidFill>
                  </a:tcPr>
                </a:tc>
              </a:tr>
              <a:tr h="370840">
                <a:tc>
                  <a:txBody>
                    <a:bodyPr/>
                    <a:lstStyle/>
                    <a:p>
                      <a:r>
                        <a:rPr b="1" sz="1100"/>
                        <a:t>User Profiles</a:t>
                      </a:r>
                    </a:p>
                  </a:txBody>
                  <a:tcPr>
                    <a:solidFill>
                      <a:srgbClr val="E7E6E6"/>
                    </a:solidFill>
                  </a:tcPr>
                </a:tc>
                <a:tc>
                  <a:txBody>
                    <a:bodyPr/>
                    <a:lstStyle/>
                    <a:p>
                      <a:r>
                        <a:rPr sz="1100"/>
                        <a:t>10 GB per user</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Graphics Requirements</a:t>
                      </a:r>
                    </a:p>
                  </a:txBody>
                  <a:tcPr>
                    <a:solidFill>
                      <a:srgbClr val="E7E6E6"/>
                    </a:solidFill>
                  </a:tcPr>
                </a:tc>
                <a:tc>
                  <a:txBody>
                    <a:bodyPr/>
                    <a:lstStyle/>
                    <a:p>
                      <a:r>
                        <a:rPr sz="1100"/>
                        <a:t>Standard office workloads</a:t>
                      </a:r>
                    </a:p>
                  </a:txBody>
                  <a:tcPr>
                    <a:solidFill>
                      <a:srgbClr val="E7E6E6"/>
                    </a:solidFill>
                  </a:tcPr>
                </a:tc>
              </a:tr>
              <a:tr h="370840">
                <a:tc>
                  <a:txBody>
                    <a:bodyPr/>
                    <a:lstStyle/>
                    <a:p>
                      <a:r>
                        <a:rPr b="1" sz="1100"/>
                        <a:t>Application Data</a:t>
                      </a:r>
                    </a:p>
                  </a:txBody>
                  <a:tcPr>
                    <a:solidFill>
                      <a:srgbClr val="E7E6E6"/>
                    </a:solidFill>
                  </a:tcPr>
                </a:tc>
                <a:tc>
                  <a:txBody>
                    <a:bodyPr/>
                    <a:lstStyle/>
                    <a:p>
                      <a:r>
                        <a:rPr sz="1100"/>
                        <a:t>500 GB shared storage</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Environments</a:t>
                      </a:r>
                    </a:p>
                  </a:txBody>
                  <a:tcPr>
                    <a:solidFill>
                      <a:srgbClr val="E7E6E6"/>
                    </a:solidFill>
                  </a:tcPr>
                </a:tc>
                <a:tc>
                  <a:txBody>
                    <a:bodyPr/>
                    <a:lstStyle/>
                    <a:p>
                      <a:r>
                        <a:rPr sz="1100"/>
                        <a:t>2 environments (pilot prod)</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Solution Overview</a:t>
            </a:r>
          </a:p>
        </p:txBody>
      </p:sp>
      <p:pic>
        <p:nvPicPr>
          <p:cNvPr id="3" name="Picture Placeholder 2" descr="consulting_company_logo.png"/>
          <p:cNvPicPr>
            <a:picLocks noGrp="1" noChangeAspect="1"/>
          </p:cNvPicPr>
          <p:nvPr>
            <p:ph type="pic" idx="14" sz="quarter"/>
          </p:nvPr>
        </p:nvPicPr>
        <p:blipFill>
          <a:blip r:embed="rId2"/>
          <a:srcRect t="6494" b="6494"/>
          <a:stretch>
            <a:fillRect/>
          </a:stretch>
        </p:blipFill>
        <p:spPr/>
      </p:pic>
      <p:sp>
        <p:nvSpPr>
          <p:cNvPr id="4" name="Picture Placeholder 3"/>
          <p:cNvSpPr>
            <a:spLocks noGrp="1"/>
          </p:cNvSpPr>
          <p:nvPr>
            <p:ph type="pic" idx="15" sz="quarter"/>
          </p:nvPr>
        </p:nvSpPr>
        <p:spPr/>
      </p:sp>
      <p:sp>
        <p:nvSpPr>
          <p:cNvPr id="5" name="Text Placeholder 4"/>
          <p:cNvSpPr>
            <a:spLocks noGrp="1"/>
          </p:cNvSpPr>
          <p:nvPr>
            <p:ph type="body" idx="16" sz="quarter"/>
          </p:nvPr>
        </p:nvSpPr>
        <p:spPr/>
        <p:txBody>
          <a:bodyPr/>
          <a:lstStyle/>
          <a:p>
            <a:pPr/>
            <a:r>
              <a:rPr b="1"/>
              <a:t>Key Components</a:t>
            </a:r>
          </a:p>
          <a:p>
            <a:pPr lvl="1"/>
            <a:r>
              <a:rPr b="1"/>
              <a:t>Host Pools:</a:t>
            </a:r>
            <a:r>
              <a:t> Pooled (multi-session Windows 10/11) or personal (dedicated per-user) configurations</a:t>
            </a:r>
          </a:p>
          <a:p>
            <a:pPr lvl="1"/>
            <a:r>
              <a:rPr b="1"/>
              <a:t>Session Hosts:</a:t>
            </a:r>
            <a:r>
              <a:t> Azure VMs (D4s_v5 series) running Windows 10/11 Multi-session with load balancing</a:t>
            </a:r>
          </a:p>
          <a:p>
            <a:pPr lvl="1"/>
            <a:r>
              <a:rPr b="1"/>
              <a:t>FSLogix Profile Management:</a:t>
            </a:r>
            <a:r>
              <a:t> Unified profile containers and Office containers for persistent user data</a:t>
            </a:r>
          </a:p>
          <a:p>
            <a:pPr lvl="1"/>
            <a:r>
              <a:rPr b="1"/>
              <a:t>Azure Files:</a:t>
            </a:r>
            <a:r>
              <a:t> SMB-based storage for profile and user-specific data with fast access</a:t>
            </a:r>
          </a:p>
          <a:p>
            <a:pPr lvl="1"/>
            <a:r>
              <a:rPr b="1"/>
              <a:t>Azure AD &amp; Conditional Access:</a:t>
            </a:r>
            <a:r>
              <a:t> Enterprise identity management with policy-driven access control</a:t>
            </a:r>
          </a:p>
          <a:p>
            <a:pPr lvl="1"/>
            <a:r>
              <a:rPr b="1"/>
              <a:t>Azure Monitor:</a:t>
            </a:r>
            <a:r>
              <a:t> Real-time diagnostics, performance monitoring, and health alerts</a:t>
            </a:r>
          </a:p>
          <a:p>
            <a:pPr/>
            <a:r>
              <a:rPr b="1"/>
              <a:t>Technology Stack</a:t>
            </a:r>
          </a:p>
          <a:p>
            <a:pPr lvl="1"/>
            <a:r>
              <a:t>Platform: Azure Virtual Desktop (AVD)</a:t>
            </a:r>
          </a:p>
          <a:p>
            <a:pPr lvl="1"/>
            <a:r>
              <a:t>Session Hosts: Windows 10/11 Multi-session (D4s_v5 VMs)</a:t>
            </a:r>
          </a:p>
          <a:p>
            <a:pPr lvl="1"/>
            <a:r>
              <a:t>Storage: Azure Files + FSLogix</a:t>
            </a:r>
          </a:p>
          <a:p>
            <a:pPr lvl="1"/>
            <a:r>
              <a:t>Identity: Azure AD / Microsoft Entra ID</a:t>
            </a:r>
          </a:p>
          <a:p>
            <a:pPr lvl="1"/>
            <a:r>
              <a:t>Security: Network Security Groups, Private Endpoints</a:t>
            </a:r>
          </a:p>
          <a:p>
            <a:pPr lvl="1"/>
            <a:r>
              <a:t>Monitoring: Azure Monitor, Diagnostics Services</a:t>
            </a:r>
          </a:p>
        </p:txBody>
      </p:sp>
      <p:pic>
        <p:nvPicPr>
          <p:cNvPr id="6" name="Picture 5" descr="architecture-diagram.png"/>
          <p:cNvPicPr>
            <a:picLocks noChangeAspect="1"/>
          </p:cNvPicPr>
          <p:nvPr/>
        </p:nvPicPr>
        <p:blipFill>
          <a:blip r:embed="rId4"/>
          <a:stretch>
            <a:fillRect/>
          </a:stretch>
        </p:blipFill>
        <p:spPr>
          <a:xfrm>
            <a:off x="4662488" y="1303034"/>
            <a:ext cx="4337050" cy="258138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Implementation Approach</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Phase 1: Assessment &amp; Design</a:t>
            </a:r>
            <a:r>
              <a:t> *(Weeks 1-3)*</a:t>
            </a:r>
          </a:p>
          <a:p>
            <a:pPr lvl="1"/>
            <a:r>
              <a:t>Current desktop environment discovery and user requirements</a:t>
            </a:r>
          </a:p>
          <a:p>
            <a:pPr lvl="1"/>
            <a:r>
              <a:t>AVD architecture design (pooled vs. personal selection)</a:t>
            </a:r>
          </a:p>
          <a:p>
            <a:pPr lvl="1"/>
            <a:r>
              <a:t>Golden image strategy and application packaging</a:t>
            </a:r>
          </a:p>
          <a:p>
            <a:pPr lvl="1"/>
            <a:r>
              <a:t>Network and security design with NSG and Private Endpoints</a:t>
            </a:r>
          </a:p>
          <a:p>
            <a:pPr/>
            <a:r>
              <a:rPr b="1"/>
              <a:t>Phase 2: Infrastructure &amp; Golden Image</a:t>
            </a:r>
            <a:r>
              <a:t> *(Weeks 4-6)*</a:t>
            </a:r>
          </a:p>
          <a:p>
            <a:pPr lvl="1"/>
            <a:r>
              <a:t>Azure infrastructure provisioning (host pools, Azure Files, networking)</a:t>
            </a:r>
          </a:p>
          <a:p>
            <a:pPr lvl="1"/>
            <a:r>
              <a:t>Golden image creation and application deployment</a:t>
            </a:r>
          </a:p>
          <a:p>
            <a:pPr lvl="1"/>
            <a:r>
              <a:t>FSLogix profile configuration and testing</a:t>
            </a:r>
          </a:p>
          <a:p>
            <a:pPr lvl="1"/>
            <a:r>
              <a:t>Azure Monitor setup and baseline metrics</a:t>
            </a:r>
          </a:p>
          <a:p>
            <a:pPr/>
            <a:r>
              <a:rPr b="1"/>
              <a:t>Phase 3: Deployment &amp; Validation</a:t>
            </a:r>
            <a:r>
              <a:t> *(Weeks 7-10)*</a:t>
            </a:r>
          </a:p>
          <a:p>
            <a:pPr lvl="1"/>
            <a:r>
              <a:t>User and group assignment to host pools</a:t>
            </a:r>
          </a:p>
          <a:p>
            <a:pPr lvl="1"/>
            <a:r>
              <a:t>Pilot deployment with business users (10-15 users)</a:t>
            </a:r>
          </a:p>
          <a:p>
            <a:pPr lvl="1"/>
            <a:r>
              <a:t>Performance validation and optimization</a:t>
            </a:r>
          </a:p>
          <a:p>
            <a:pPr lvl="1"/>
            <a:r>
              <a:t>Training and handover to support team</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Timeline &amp; Milestones</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Assessment &amp; Design</a:t>
                      </a:r>
                    </a:p>
                  </a:txBody>
                  <a:tcPr>
                    <a:solidFill>
                      <a:srgbClr val="E7E6E6"/>
                    </a:solidFill>
                  </a:tcPr>
                </a:tc>
                <a:tc>
                  <a:txBody>
                    <a:bodyPr/>
                    <a:lstStyle/>
                    <a:p>
                      <a:r>
                        <a:rPr sz="1100"/>
                        <a:t>Weeks 1-3</a:t>
                      </a:r>
                    </a:p>
                  </a:txBody>
                  <a:tcPr>
                    <a:solidFill>
                      <a:srgbClr val="E7E6E6"/>
                    </a:solidFill>
                  </a:tcPr>
                </a:tc>
                <a:tc>
                  <a:txBody>
                    <a:bodyPr/>
                    <a:lstStyle/>
                    <a:p>
                      <a:r>
                        <a:rPr sz="1100"/>
                        <a:t>Environment analysis, AVD architecture, golden image strategy, security design</a:t>
                      </a:r>
                    </a:p>
                  </a:txBody>
                  <a:tcPr>
                    <a:solidFill>
                      <a:srgbClr val="E7E6E6"/>
                    </a:solidFill>
                  </a:tcPr>
                </a:tc>
              </a:tr>
              <a:tr h="370840">
                <a:tc>
                  <a:txBody>
                    <a:bodyPr/>
                    <a:lstStyle/>
                    <a:p>
                      <a:r>
                        <a:rPr sz="1100"/>
                        <a:t>Phase 2</a:t>
                      </a:r>
                    </a:p>
                  </a:txBody>
                  <a:tcPr>
                    <a:solidFill>
                      <a:srgbClr val="E7E6E6"/>
                    </a:solidFill>
                  </a:tcPr>
                </a:tc>
                <a:tc>
                  <a:txBody>
                    <a:bodyPr/>
                    <a:lstStyle/>
                    <a:p>
                      <a:r>
                        <a:rPr sz="1100"/>
                        <a:t>Infrastructure &amp; Golden Image</a:t>
                      </a:r>
                    </a:p>
                  </a:txBody>
                  <a:tcPr>
                    <a:solidFill>
                      <a:srgbClr val="E7E6E6"/>
                    </a:solidFill>
                  </a:tcPr>
                </a:tc>
                <a:tc>
                  <a:txBody>
                    <a:bodyPr/>
                    <a:lstStyle/>
                    <a:p>
                      <a:r>
                        <a:rPr sz="1100"/>
                        <a:t>Weeks 4-6</a:t>
                      </a:r>
                    </a:p>
                  </a:txBody>
                  <a:tcPr>
                    <a:solidFill>
                      <a:srgbClr val="E7E6E6"/>
                    </a:solidFill>
                  </a:tcPr>
                </a:tc>
                <a:tc>
                  <a:txBody>
                    <a:bodyPr/>
                    <a:lstStyle/>
                    <a:p>
                      <a:r>
                        <a:rPr sz="1100"/>
                        <a:t>Host pools configured, Azure Files deployed, golden image created, FSLogix ready</a:t>
                      </a:r>
                    </a:p>
                  </a:txBody>
                  <a:tcPr>
                    <a:solidFill>
                      <a:srgbClr val="E7E6E6"/>
                    </a:solidFill>
                  </a:tcPr>
                </a:tc>
              </a:tr>
              <a:tr h="370840">
                <a:tc>
                  <a:txBody>
                    <a:bodyPr/>
                    <a:lstStyle/>
                    <a:p>
                      <a:r>
                        <a:rPr sz="1100"/>
                        <a:t>Phase 3</a:t>
                      </a:r>
                    </a:p>
                  </a:txBody>
                  <a:tcPr>
                    <a:solidFill>
                      <a:srgbClr val="E7E6E6"/>
                    </a:solidFill>
                  </a:tcPr>
                </a:tc>
                <a:tc>
                  <a:txBody>
                    <a:bodyPr/>
                    <a:lstStyle/>
                    <a:p>
                      <a:r>
                        <a:rPr sz="1100"/>
                        <a:t>Deployment &amp; Validation</a:t>
                      </a:r>
                    </a:p>
                  </a:txBody>
                  <a:tcPr>
                    <a:solidFill>
                      <a:srgbClr val="E7E6E6"/>
                    </a:solidFill>
                  </a:tcPr>
                </a:tc>
                <a:tc>
                  <a:txBody>
                    <a:bodyPr/>
                    <a:lstStyle/>
                    <a:p>
                      <a:r>
                        <a:rPr sz="1100"/>
                        <a:t>Weeks 7-10</a:t>
                      </a:r>
                    </a:p>
                  </a:txBody>
                  <a:tcPr>
                    <a:solidFill>
                      <a:srgbClr val="E7E6E6"/>
                    </a:solidFill>
                  </a:tcPr>
                </a:tc>
                <a:tc>
                  <a:txBody>
                    <a:bodyPr/>
                    <a:lstStyle/>
                    <a:p>
                      <a:r>
                        <a:rPr sz="1100"/>
                        <a:t>Pilot users onboarded, performance validated, training complete, support ready</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Success Stories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Client Success: Global Financial Services Organization</a:t>
            </a:r>
          </a:p>
          <a:p>
            <a:pPr lvl="1"/>
            <a:r>
              <a:rPr b="1"/>
              <a:t>Client:</a:t>
            </a:r>
            <a:r>
              <a:t> Fortune 500 Financial Services company with 8,000+ employees in 45 countries</a:t>
            </a:r>
          </a:p>
          <a:p>
            <a:pPr lvl="1"/>
            <a:r>
              <a:rPr b="1"/>
              <a:t>Challenge:</a:t>
            </a:r>
            <a:r>
              <a:t> Legacy desktop infrastructure unable to support remote work; expensive VPN with poor user experience; security gaps with unsecured bring-your-own-device access; IT helpdesk overwhelmed with remote access issues</a:t>
            </a:r>
          </a:p>
          <a:p>
            <a:pPr lvl="1"/>
            <a:r>
              <a:rPr b="1"/>
              <a:t>Solution:</a:t>
            </a:r>
            <a:r>
              <a:t> Deployed Azure Virtual Desktop with pooled desktops for 70% of workforce and personal desktops for executives; integrated FSLogix for seamless profile access across any device; implemented conditional access policies; centralized monitoring and management</a:t>
            </a:r>
          </a:p>
          <a:p>
            <a:pPr lvl="1"/>
            <a:r>
              <a:rPr b="1"/>
              <a:t>Results:</a:t>
            </a:r>
            <a:r>
              <a:t> 100% remote work capability within 10 weeks, 60% reduction in IT helpdesk tickets, 85% user satisfaction (NPS 72), 45% reduction in VPN-related security incidents, achieved SOC2 compliance with unified audit logging</a:t>
            </a:r>
          </a:p>
          <a:p>
            <a:pPr lvl="1"/>
            <a:r>
              <a:rPr b="1"/>
              <a:t>Testimonial:</a:t>
            </a:r>
            <a:r>
              <a:t> "Azure Virtual Desktop enabled us to embrace distributed work while actually improving security and reducing costs. Our users love the seamless experience, and our IT team finally has visibility and control. This was a game-changer for our business continuity." — </a:t>
            </a:r>
            <a:r>
              <a:rPr b="1"/>
              <a:t>Patricia Wong, Chief Information Officer</a:t>
            </a:r>
            <a:r>
              <a:t>, Global Financial Services</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Our Partnership Advantage</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What We Bring</a:t>
            </a:r>
          </a:p>
          <a:p>
            <a:pPr lvl="1"/>
            <a:r>
              <a:t>12+ years delivering virtual desktop and workspace solutions</a:t>
            </a:r>
          </a:p>
          <a:p>
            <a:pPr lvl="1"/>
            <a:r>
              <a:t>150+ successful Azure Virtual Desktop deployments</a:t>
            </a:r>
          </a:p>
          <a:p>
            <a:pPr lvl="1"/>
            <a:r>
              <a:t>Certified Microsoft Azure Solutions Architects</a:t>
            </a:r>
          </a:p>
          <a:p>
            <a:pPr lvl="1"/>
            <a:r>
              <a:t>Deep expertise in FSLogix, golden image optimization, and performance tuning</a:t>
            </a:r>
          </a:p>
          <a:p>
            <a:pPr lvl="1"/>
            <a:r>
              <a:t>24/7 support with guaranteed response times</a:t>
            </a:r>
          </a:p>
          <a:p>
            <a:pPr lvl="1"/>
            <a:r>
              <a:t>Pre-built AVD accelerators for faster deployment</a:t>
            </a:r>
          </a:p>
        </p:txBody>
      </p:sp>
      <p:sp>
        <p:nvSpPr>
          <p:cNvPr id="5" name="Text Placeholder 4"/>
          <p:cNvSpPr>
            <a:spLocks noGrp="1"/>
          </p:cNvSpPr>
          <p:nvPr>
            <p:ph type="body" idx="17" sz="quarter"/>
          </p:nvPr>
        </p:nvSpPr>
        <p:spPr/>
        <p:txBody>
          <a:bodyPr/>
          <a:lstStyle/>
          <a:p>
            <a:pPr/>
            <a:r>
              <a:rPr b="1"/>
              <a:t>Value to You</a:t>
            </a:r>
          </a:p>
          <a:p>
            <a:pPr lvl="1"/>
            <a:r>
              <a:t>Proven methodology reduces implementation risk by 70%</a:t>
            </a:r>
          </a:p>
          <a:p>
            <a:pPr lvl="1"/>
            <a:r>
              <a:t>Pre-optimized golden images for common applications</a:t>
            </a:r>
          </a:p>
          <a:p>
            <a:pPr lvl="1"/>
            <a:r>
              <a:t>Network design expertise ensures optimal user experience</a:t>
            </a:r>
          </a:p>
          <a:p>
            <a:pPr lvl="1"/>
            <a:r>
              <a:t>Training ensures your team becomes self-sufficient</a:t>
            </a:r>
          </a:p>
          <a:p>
            <a:pPr lvl="1"/>
            <a:r>
              <a:t>Ongoing optimization recommendations for cost and performance</a:t>
            </a:r>
          </a:p>
          <a:p>
            <a:pPr lvl="1"/>
            <a:r>
              <a:t>Access to Microsoft AVD partner ecosystem and best practices</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Investment Summary</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741680"/>
        </p:xfrm>
        <a:graphic>
          <a:graphicData uri="http://schemas.openxmlformats.org/drawingml/2006/table">
            <a:tbl>
              <a:tblPr firstRow="1" bandRow="1">
                <a:tableStyleId>{5C22544A-7EE6-4342-B048-85BDC9FD1C3A}</a:tableStyleId>
              </a:tblPr>
              <a:tblGrid>
                <a:gridCol w="2177733"/>
                <a:gridCol w="1306639"/>
                <a:gridCol w="1306639"/>
                <a:gridCol w="1306639"/>
                <a:gridCol w="871093"/>
                <a:gridCol w="871093"/>
                <a:gridCol w="871093"/>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Provider/Partner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b="1" sz="1100"/>
                        <a:t>TOTAL INVESTMENT</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Next Steps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Decision:</a:t>
            </a:r>
            <a:r>
              <a:t> Board approval for AVD initiative by [specific date]</a:t>
            </a:r>
          </a:p>
          <a:p>
            <a:pPr/>
            <a:r>
              <a:rPr b="1"/>
              <a:t>Kickoff:</a:t>
            </a:r>
            <a:r>
              <a:t> Project start date of [target start date]</a:t>
            </a:r>
          </a:p>
          <a:p>
            <a:pPr/>
            <a:r>
              <a:rPr b="1"/>
              <a:t>Team Formation:</a:t>
            </a:r>
            <a:r>
              <a:t> Designate IT lead, network architect, and user champions</a:t>
            </a:r>
          </a:p>
          <a:p>
            <a:pPr/>
            <a:r>
              <a:rPr b="1"/>
              <a:t>Week 1:</a:t>
            </a:r>
            <a:r>
              <a:t> Contract finalization and project initiation</a:t>
            </a:r>
          </a:p>
          <a:p>
            <a:pPr/>
            <a:r>
              <a:rPr b="1"/>
              <a:t>Week 2:</a:t>
            </a:r>
            <a:r>
              <a:t> Discovery sessions and requirements gathering</a:t>
            </a:r>
          </a:p>
          <a:p>
            <a:pPr/>
            <a:r>
              <a:rPr b="1"/>
              <a:t>Week 3:</a:t>
            </a:r>
            <a:r>
              <a:t> Architecture design and golden image planning</a:t>
            </a:r>
          </a:p>
          <a:p>
            <a:pPr/>
            <a:r>
              <a:rPr b="1"/>
              <a:t>Week 4:</a:t>
            </a:r>
            <a:r>
              <a:t> Environment setup and pilot user selection</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Thank You</a:t>
            </a:r>
          </a:p>
        </p:txBody>
      </p:sp>
      <p:pic>
        <p:nvPicPr>
          <p:cNvPr id="4" name="Picture Placeholder 3" descr="consulting_company_logo.png"/>
          <p:cNvPicPr>
            <a:picLocks noGrp="1" noChangeAspect="1"/>
          </p:cNvPicPr>
          <p:nvPr>
            <p:ph type="pic" idx="13" sz="quarter"/>
          </p:nvPr>
        </p:nvPicPr>
        <p:blipFill>
          <a:blip r:embed="rId3"/>
          <a:srcRect t="7166" b="7166"/>
          <a:stretch>
            <a:fillRect/>
          </a:stretch>
        </p:blipFill>
        <p:spPr/>
      </p:pic>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a:pPr/>
            <a:r>
              <a:rPr b="1"/>
              <a:t>Your Account Manager:</a:t>
            </a:r>
            <a:r>
              <a:t> [Name, Title] | [Email] | [Phone]</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427</TotalTime>
  <Words>39</Words>
  <Application>Microsoft Office PowerPoint</Application>
  <PresentationFormat>On-screen Show (16:9)</PresentationFormat>
  <Paragraphs>20</Paragraphs>
  <Slides>7</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79</cp:revision>
  <dcterms:created xsi:type="dcterms:W3CDTF">2025-11-01T21:16:10Z</dcterms:created>
  <dcterms:modified xsi:type="dcterms:W3CDTF">2025-11-11T19:45:33Z</dcterms:modified>
</cp:coreProperties>
</file>