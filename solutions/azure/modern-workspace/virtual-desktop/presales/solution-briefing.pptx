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bin" ContentType="image/unknown"/>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 id="258" r:id="rId6"/>
    <p:sldId id="259" r:id="rId5"/>
    <p:sldId id="260" r:id="rId4"/>
    <p:sldId id="261" r:id="rId3"/>
    <p:sldId id="262" r:id="rId2"/>
    <p:sldId id="263" r:id="rId14"/>
    <p:sldId id="264" r:id="rId15"/>
    <p:sldId id="265" r:id="rId16"/>
    <p:sldId id="266"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1C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5" d="100"/>
          <a:sy n="135" d="100"/>
        </p:scale>
        <p:origin x="380" y="3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167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O 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538528" y="1886679"/>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Presentation Title</a:t>
            </a: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1" y="4536078"/>
            <a:ext cx="2099897"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59473" y="2437679"/>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Subtitle Text</a:t>
            </a:r>
            <a:endParaRPr lang="en-US" sz="1800" dirty="0"/>
          </a:p>
        </p:txBody>
      </p:sp>
      <p:sp>
        <p:nvSpPr>
          <p:cNvPr id="12" name="Text Placeholder 11">
            <a:extLst>
              <a:ext uri="{FF2B5EF4-FFF2-40B4-BE49-F238E27FC236}">
                <a16:creationId xmlns:a16="http://schemas.microsoft.com/office/drawing/2014/main" id="{39F5D3C5-0033-51A7-77BC-7E3DBBF84F2E}"/>
              </a:ext>
            </a:extLst>
          </p:cNvPr>
          <p:cNvSpPr>
            <a:spLocks noGrp="1"/>
          </p:cNvSpPr>
          <p:nvPr>
            <p:ph type="body" sz="quarter" idx="15" hasCustomPrompt="1"/>
          </p:nvPr>
        </p:nvSpPr>
        <p:spPr>
          <a:xfrm>
            <a:off x="2734286" y="3631467"/>
            <a:ext cx="3605212" cy="33496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400">
                <a:latin typeface="Arial" panose="020B0604020202020204" pitchFamily="34" charset="0"/>
                <a:cs typeface="Arial" panose="020B0604020202020204" pitchFamily="34" charset="0"/>
              </a:defRPr>
            </a:lvl1pPr>
          </a:lstStyle>
          <a:p>
            <a:pPr lvl="0"/>
            <a:r>
              <a:rPr lang="en-US" sz="1400" dirty="0">
                <a:solidFill>
                  <a:srgbClr val="6C757D"/>
                </a:solidFill>
                <a:latin typeface="Arial" pitchFamily="34" charset="0"/>
                <a:cs typeface="Arial" pitchFamily="34" charset="-120"/>
              </a:rPr>
              <a:t>Presenter Name | Date</a:t>
            </a:r>
            <a:endParaRPr lang="en-US" dirty="0"/>
          </a:p>
        </p:txBody>
      </p:sp>
    </p:spTree>
    <p:extLst>
      <p:ext uri="{BB962C8B-B14F-4D97-AF65-F5344CB8AC3E}">
        <p14:creationId xmlns:p14="http://schemas.microsoft.com/office/powerpoint/2010/main" val="1411435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O Single Column">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Slide Title</a:t>
            </a:r>
          </a:p>
        </p:txBody>
      </p:sp>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pic>
        <p:nvPicPr>
          <p:cNvPr id="13" name="Image 0" descr="/home/claude/eo-framework-logo.png">
            <a:extLst>
              <a:ext uri="{FF2B5EF4-FFF2-40B4-BE49-F238E27FC236}">
                <a16:creationId xmlns:a16="http://schemas.microsoft.com/office/drawing/2014/main" id="{25116040-BB88-891D-9118-628A78E99872}"/>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p:nvPr>
        </p:nvSpPr>
        <p:spPr>
          <a:xfrm>
            <a:off x="296863" y="685601"/>
            <a:ext cx="8548687" cy="3811657"/>
          </a:xfrm>
          <a:prstGeom prst="rect">
            <a:avLst/>
          </a:prstGeom>
        </p:spPr>
        <p:txBody>
          <a:bodyPr/>
          <a:lstStyle>
            <a:lvl1pPr>
              <a:defRPr sz="2000" baseline="0">
                <a:solidFill>
                  <a:srgbClr val="C00000"/>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04623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O Bullet Points">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Bullet Points</a:t>
            </a:r>
          </a:p>
        </p:txBody>
      </p:sp>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pic>
        <p:nvPicPr>
          <p:cNvPr id="13" name="Image 0" descr="/home/claude/eo-framework-logo.png">
            <a:extLst>
              <a:ext uri="{FF2B5EF4-FFF2-40B4-BE49-F238E27FC236}">
                <a16:creationId xmlns:a16="http://schemas.microsoft.com/office/drawing/2014/main" id="{25116040-BB88-891D-9118-628A78E99872}"/>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hasCustomPrompt="1"/>
          </p:nvPr>
        </p:nvSpPr>
        <p:spPr>
          <a:xfrm>
            <a:off x="296863" y="685601"/>
            <a:ext cx="8548687" cy="3811657"/>
          </a:xfrm>
          <a:prstGeom prst="rect">
            <a:avLst/>
          </a:prstGeom>
        </p:spPr>
        <p:txBody>
          <a:bodyPr/>
          <a:lstStyle>
            <a:lvl1pPr>
              <a:defRPr sz="2000" baseline="0">
                <a:solidFill>
                  <a:schemeClr val="tx1"/>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Bullet Point 1</a:t>
            </a:r>
          </a:p>
          <a:p>
            <a:pPr lvl="0"/>
            <a:r>
              <a:rPr lang="en-US" dirty="0"/>
              <a:t>Bullet Point 2</a:t>
            </a:r>
          </a:p>
        </p:txBody>
      </p:sp>
    </p:spTree>
    <p:extLst>
      <p:ext uri="{BB962C8B-B14F-4D97-AF65-F5344CB8AC3E}">
        <p14:creationId xmlns:p14="http://schemas.microsoft.com/office/powerpoint/2010/main" val="1090737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O Two Column">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530738"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Two Column Layout</a:t>
            </a:r>
          </a:p>
        </p:txBody>
      </p:sp>
      <p:pic>
        <p:nvPicPr>
          <p:cNvPr id="8" name="Image 0" descr="/home/claude/eo-framework-logo.png">
            <a:extLst>
              <a:ext uri="{FF2B5EF4-FFF2-40B4-BE49-F238E27FC236}">
                <a16:creationId xmlns:a16="http://schemas.microsoft.com/office/drawing/2014/main" id="{4B7035C6-0EF1-6BD3-318E-553D1AAD6709}"/>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21877" cy="529698"/>
          </a:xfrm>
          <a:prstGeom prst="rect">
            <a:avLst/>
          </a:prstGeom>
        </p:spPr>
        <p:txBody>
          <a:bodyPr/>
          <a:lstStyle/>
          <a:p>
            <a:endParaRPr lang="en-US" dirty="0"/>
          </a:p>
        </p:txBody>
      </p:sp>
      <p:sp>
        <p:nvSpPr>
          <p:cNvPr id="6" name="Text Placeholder 5">
            <a:extLst>
              <a:ext uri="{FF2B5EF4-FFF2-40B4-BE49-F238E27FC236}">
                <a16:creationId xmlns:a16="http://schemas.microsoft.com/office/drawing/2014/main" id="{229E4A97-A874-D6CA-E54C-5584536CAA7C}"/>
              </a:ext>
            </a:extLst>
          </p:cNvPr>
          <p:cNvSpPr>
            <a:spLocks noGrp="1"/>
          </p:cNvSpPr>
          <p:nvPr>
            <p:ph type="body" sz="quarter" idx="16" hasCustomPrompt="1"/>
          </p:nvPr>
        </p:nvSpPr>
        <p:spPr>
          <a:xfrm>
            <a:off x="193675" y="678433"/>
            <a:ext cx="4462463" cy="3785515"/>
          </a:xfrm>
          <a:prstGeom prst="rect">
            <a:avLst/>
          </a:prstGeom>
        </p:spPr>
        <p:txBody>
          <a:bodyPr/>
          <a:lstStyle>
            <a:lvl1pPr>
              <a:defRPr sz="1800">
                <a:solidFill>
                  <a:srgbClr val="C00000"/>
                </a:solidFill>
              </a:defRPr>
            </a:lvl1pPr>
            <a:lvl2pPr>
              <a:defRPr sz="1400"/>
            </a:lvl2pPr>
            <a:lvl3pPr>
              <a:defRPr sz="1200"/>
            </a:lvl3pPr>
            <a:lvl4pPr>
              <a:defRPr sz="1200"/>
            </a:lvl4pPr>
            <a:lvl5pPr>
              <a:defRPr sz="1200"/>
            </a:lvl5pPr>
          </a:lstStyle>
          <a:p>
            <a:pPr lvl="0"/>
            <a:r>
              <a:rPr lang="en-US" dirty="0"/>
              <a:t>Left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EF61ADBD-DA9D-A8A7-8FC3-64E82242B983}"/>
              </a:ext>
            </a:extLst>
          </p:cNvPr>
          <p:cNvSpPr>
            <a:spLocks noGrp="1"/>
          </p:cNvSpPr>
          <p:nvPr>
            <p:ph type="body" sz="quarter" idx="17" hasCustomPrompt="1"/>
          </p:nvPr>
        </p:nvSpPr>
        <p:spPr>
          <a:xfrm>
            <a:off x="4840288" y="678433"/>
            <a:ext cx="4110037" cy="3785515"/>
          </a:xfrm>
          <a:prstGeom prst="rect">
            <a:avLst/>
          </a:prstGeom>
        </p:spPr>
        <p:txBody>
          <a:bodyPr/>
          <a:lstStyle>
            <a:lvl1pPr>
              <a:defRPr sz="1800">
                <a:solidFill>
                  <a:srgbClr val="C00000"/>
                </a:solidFill>
              </a:defRPr>
            </a:lvl1pPr>
            <a:lvl2pPr>
              <a:defRPr sz="1400"/>
            </a:lvl2pPr>
            <a:lvl3pPr>
              <a:defRPr sz="1200"/>
            </a:lvl3pPr>
            <a:lvl4pPr>
              <a:defRPr sz="1200"/>
            </a:lvl4pPr>
            <a:lvl5pPr>
              <a:defRPr sz="1200"/>
            </a:lvl5pPr>
          </a:lstStyle>
          <a:p>
            <a:pPr lvl="0"/>
            <a:r>
              <a:rPr lang="en-US" dirty="0"/>
              <a:t>Right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43730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O Table">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6855" y="39642"/>
            <a:ext cx="8710933" cy="52701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27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700" b="1" dirty="0">
                <a:solidFill>
                  <a:srgbClr val="2C3E50"/>
                </a:solidFill>
                <a:latin typeface="Arial" pitchFamily="34" charset="0"/>
                <a:cs typeface="Arial" pitchFamily="34" charset="-120"/>
              </a:rPr>
              <a:t>Table</a:t>
            </a:r>
            <a:endParaRPr lang="en-US" sz="3200" dirty="0"/>
          </a:p>
          <a:p>
            <a:pPr lvl="0"/>
            <a:endParaRPr lang="en-US" dirty="0"/>
          </a:p>
        </p:txBody>
      </p:sp>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2" y="4536078"/>
            <a:ext cx="2126273" cy="529698"/>
          </a:xfrm>
          <a:prstGeom prst="rect">
            <a:avLst/>
          </a:prstGeom>
        </p:spPr>
        <p:txBody>
          <a:bodyPr/>
          <a:lstStyle/>
          <a:p>
            <a:endParaRPr lang="en-US" dirty="0"/>
          </a:p>
        </p:txBody>
      </p:sp>
      <p:pic>
        <p:nvPicPr>
          <p:cNvPr id="13" name="Image 0" descr="/home/claude/eo-framework-logo.png">
            <a:extLst>
              <a:ext uri="{FF2B5EF4-FFF2-40B4-BE49-F238E27FC236}">
                <a16:creationId xmlns:a16="http://schemas.microsoft.com/office/drawing/2014/main" id="{25116040-BB88-891D-9118-628A78E99872}"/>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5" name="Table Placeholder 4">
            <a:extLst>
              <a:ext uri="{FF2B5EF4-FFF2-40B4-BE49-F238E27FC236}">
                <a16:creationId xmlns:a16="http://schemas.microsoft.com/office/drawing/2014/main" id="{D3D9E4F7-6B7D-2205-75B9-EE8C54E89A5F}"/>
              </a:ext>
            </a:extLst>
          </p:cNvPr>
          <p:cNvSpPr>
            <a:spLocks noGrp="1"/>
          </p:cNvSpPr>
          <p:nvPr>
            <p:ph type="tbl" sz="quarter" idx="14"/>
          </p:nvPr>
        </p:nvSpPr>
        <p:spPr>
          <a:xfrm>
            <a:off x="256855" y="677011"/>
            <a:ext cx="8710933" cy="3785084"/>
          </a:xfrm>
          <a:prstGeom prst="rect">
            <a:avLst/>
          </a:prstGeom>
        </p:spPr>
        <p:txBody>
          <a:bodyPr/>
          <a:lstStyle/>
          <a:p>
            <a:endParaRPr lang="en-US"/>
          </a:p>
        </p:txBody>
      </p:sp>
    </p:spTree>
    <p:extLst>
      <p:ext uri="{BB962C8B-B14F-4D97-AF65-F5344CB8AC3E}">
        <p14:creationId xmlns:p14="http://schemas.microsoft.com/office/powerpoint/2010/main" val="2814834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O Visual Content">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7423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Visual Content</a:t>
            </a:r>
          </a:p>
        </p:txBody>
      </p:sp>
      <p:pic>
        <p:nvPicPr>
          <p:cNvPr id="8" name="Image 0" descr="/home/claude/eo-framework-logo.png">
            <a:extLst>
              <a:ext uri="{FF2B5EF4-FFF2-40B4-BE49-F238E27FC236}">
                <a16:creationId xmlns:a16="http://schemas.microsoft.com/office/drawing/2014/main" id="{4B7035C6-0EF1-6BD3-318E-553D1AAD6709}"/>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30670" cy="529698"/>
          </a:xfrm>
          <a:prstGeom prst="rect">
            <a:avLst/>
          </a:prstGeom>
        </p:spPr>
        <p:txBody>
          <a:bodyPr/>
          <a:lstStyle/>
          <a:p>
            <a:endParaRPr lang="en-US" dirty="0"/>
          </a:p>
        </p:txBody>
      </p:sp>
      <p:sp>
        <p:nvSpPr>
          <p:cNvPr id="6" name="Picture Placeholder 5">
            <a:extLst>
              <a:ext uri="{FF2B5EF4-FFF2-40B4-BE49-F238E27FC236}">
                <a16:creationId xmlns:a16="http://schemas.microsoft.com/office/drawing/2014/main" id="{D4B682B8-2171-423F-A77B-10BADD07BC6C}"/>
              </a:ext>
            </a:extLst>
          </p:cNvPr>
          <p:cNvSpPr>
            <a:spLocks noGrp="1"/>
          </p:cNvSpPr>
          <p:nvPr>
            <p:ph type="pic" sz="quarter" idx="15"/>
          </p:nvPr>
        </p:nvSpPr>
        <p:spPr>
          <a:xfrm>
            <a:off x="4662488" y="685799"/>
            <a:ext cx="4337050" cy="3815859"/>
          </a:xfrm>
          <a:prstGeom prst="rect">
            <a:avLst/>
          </a:prstGeom>
        </p:spPr>
        <p:txBody>
          <a:bodyPr/>
          <a:lstStyle/>
          <a:p>
            <a:endParaRPr lang="en-US"/>
          </a:p>
        </p:txBody>
      </p:sp>
      <p:sp>
        <p:nvSpPr>
          <p:cNvPr id="5" name="Text Placeholder 4">
            <a:extLst>
              <a:ext uri="{FF2B5EF4-FFF2-40B4-BE49-F238E27FC236}">
                <a16:creationId xmlns:a16="http://schemas.microsoft.com/office/drawing/2014/main" id="{F1EE9992-B6F6-08BF-BFB5-6AF6BEDE367A}"/>
              </a:ext>
            </a:extLst>
          </p:cNvPr>
          <p:cNvSpPr>
            <a:spLocks noGrp="1"/>
          </p:cNvSpPr>
          <p:nvPr>
            <p:ph type="body" sz="quarter" idx="16"/>
          </p:nvPr>
        </p:nvSpPr>
        <p:spPr>
          <a:xfrm>
            <a:off x="92075" y="685800"/>
            <a:ext cx="4449763" cy="3815859"/>
          </a:xfrm>
          <a:prstGeom prst="rect">
            <a:avLst/>
          </a:prstGeom>
        </p:spPr>
        <p:txBody>
          <a:bodyPr/>
          <a:lstStyle>
            <a:lvl1pPr>
              <a:defRPr sz="1800">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44059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O Data Visualization">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6407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Data Visualization</a:t>
            </a:r>
          </a:p>
        </p:txBody>
      </p:sp>
      <p:pic>
        <p:nvPicPr>
          <p:cNvPr id="8" name="Image 0" descr="/home/claude/eo-framework-logo.png">
            <a:extLst>
              <a:ext uri="{FF2B5EF4-FFF2-40B4-BE49-F238E27FC236}">
                <a16:creationId xmlns:a16="http://schemas.microsoft.com/office/drawing/2014/main" id="{4B7035C6-0EF1-6BD3-318E-553D1AAD6709}"/>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04294" cy="529698"/>
          </a:xfrm>
          <a:prstGeom prst="rect">
            <a:avLst/>
          </a:prstGeom>
        </p:spPr>
        <p:txBody>
          <a:bodyPr/>
          <a:lstStyle/>
          <a:p>
            <a:endParaRPr lang="en-US" dirty="0"/>
          </a:p>
        </p:txBody>
      </p:sp>
      <p:sp>
        <p:nvSpPr>
          <p:cNvPr id="5" name="Chart Placeholder 4">
            <a:extLst>
              <a:ext uri="{FF2B5EF4-FFF2-40B4-BE49-F238E27FC236}">
                <a16:creationId xmlns:a16="http://schemas.microsoft.com/office/drawing/2014/main" id="{A686C49F-4337-BBE6-FF21-682B01E38601}"/>
              </a:ext>
            </a:extLst>
          </p:cNvPr>
          <p:cNvSpPr>
            <a:spLocks noGrp="1"/>
          </p:cNvSpPr>
          <p:nvPr>
            <p:ph type="chart" sz="quarter" idx="15"/>
          </p:nvPr>
        </p:nvSpPr>
        <p:spPr>
          <a:xfrm>
            <a:off x="4572000" y="685597"/>
            <a:ext cx="4325938" cy="3778347"/>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D0B730E7-C68E-A3E8-1745-8AF89C786D5F}"/>
              </a:ext>
            </a:extLst>
          </p:cNvPr>
          <p:cNvSpPr>
            <a:spLocks noGrp="1"/>
          </p:cNvSpPr>
          <p:nvPr>
            <p:ph sz="quarter" idx="16"/>
          </p:nvPr>
        </p:nvSpPr>
        <p:spPr>
          <a:xfrm>
            <a:off x="136525" y="678433"/>
            <a:ext cx="4237038" cy="3785513"/>
          </a:xfrm>
          <a:prstGeom prst="rect">
            <a:avLst/>
          </a:prstGeom>
        </p:spPr>
        <p:txBody>
          <a:bodyPr/>
          <a:lstStyle>
            <a:lvl1pPr>
              <a:defRPr sz="1800">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7354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O Thank You">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736356" y="2247927"/>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Thank You</a:t>
            </a:r>
          </a:p>
          <a:p>
            <a:pPr marL="0" indent="0" algn="ctr">
              <a:lnSpc>
                <a:spcPts val="3600"/>
              </a:lnSpc>
              <a:buNone/>
            </a:pP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2" y="4536078"/>
            <a:ext cx="2164114"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24304" y="1874962"/>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Questions?</a:t>
            </a:r>
            <a:endParaRPr lang="en-US" sz="1800" dirty="0"/>
          </a:p>
        </p:txBody>
      </p:sp>
      <p:sp>
        <p:nvSpPr>
          <p:cNvPr id="2" name="Text 3">
            <a:extLst>
              <a:ext uri="{FF2B5EF4-FFF2-40B4-BE49-F238E27FC236}">
                <a16:creationId xmlns:a16="http://schemas.microsoft.com/office/drawing/2014/main" id="{5727805F-2A15-11D3-243F-1AE09D6E973E}"/>
              </a:ext>
            </a:extLst>
          </p:cNvPr>
          <p:cNvSpPr/>
          <p:nvPr userDrawn="1"/>
        </p:nvSpPr>
        <p:spPr>
          <a:xfrm>
            <a:off x="3312808" y="4536078"/>
            <a:ext cx="2797969" cy="529698"/>
          </a:xfrm>
          <a:prstGeom prst="roundRect">
            <a:avLst>
              <a:gd name="adj" fmla="val 14286"/>
            </a:avLst>
          </a:prstGeom>
          <a:solidFill>
            <a:srgbClr val="F5F5F5"/>
          </a:solidFill>
          <a:ln/>
        </p:spPr>
        <p:txBody>
          <a:bodyPr wrap="square" rtlCol="0" anchor="ctr"/>
          <a:lstStyle/>
          <a:p>
            <a:pPr marL="0" indent="0">
              <a:buNone/>
            </a:pPr>
            <a:endParaRPr lang="en-US" dirty="0"/>
          </a:p>
        </p:txBody>
      </p:sp>
      <p:sp>
        <p:nvSpPr>
          <p:cNvPr id="3" name="Text 4">
            <a:extLst>
              <a:ext uri="{FF2B5EF4-FFF2-40B4-BE49-F238E27FC236}">
                <a16:creationId xmlns:a16="http://schemas.microsoft.com/office/drawing/2014/main" id="{1034B79E-463D-8396-409E-62C28A2DEB04}"/>
              </a:ext>
            </a:extLst>
          </p:cNvPr>
          <p:cNvSpPr/>
          <p:nvPr userDrawn="1"/>
        </p:nvSpPr>
        <p:spPr>
          <a:xfrm>
            <a:off x="3614735" y="4667577"/>
            <a:ext cx="2076688" cy="266700"/>
          </a:xfrm>
          <a:prstGeom prst="rect">
            <a:avLst/>
          </a:prstGeom>
          <a:noFill/>
          <a:ln/>
        </p:spPr>
        <p:txBody>
          <a:bodyPr wrap="square" lIns="0" tIns="0" rIns="0" bIns="0" rtlCol="0" anchor="t"/>
          <a:lstStyle/>
          <a:p>
            <a:pPr marL="0" indent="0" algn="ctr">
              <a:lnSpc>
                <a:spcPts val="2100"/>
              </a:lnSpc>
              <a:spcBef>
                <a:spcPts val="300"/>
              </a:spcBef>
              <a:spcAft>
                <a:spcPts val="300"/>
              </a:spcAft>
              <a:buNone/>
            </a:pPr>
            <a:r>
              <a:rPr lang="en-US" sz="1500" b="1" dirty="0">
                <a:solidFill>
                  <a:schemeClr val="bg2">
                    <a:lumMod val="75000"/>
                  </a:schemeClr>
                </a:solidFill>
                <a:latin typeface="Arial" pitchFamily="34" charset="0"/>
                <a:ea typeface="Arial" pitchFamily="34" charset="-122"/>
                <a:cs typeface="Arial" pitchFamily="34" charset="-120"/>
              </a:rPr>
              <a:t>www.eoframework.org</a:t>
            </a:r>
            <a:endParaRPr lang="en-US" sz="1500" dirty="0">
              <a:solidFill>
                <a:schemeClr val="bg2">
                  <a:lumMod val="75000"/>
                </a:schemeClr>
              </a:solidFill>
            </a:endParaRPr>
          </a:p>
        </p:txBody>
      </p:sp>
      <p:sp>
        <p:nvSpPr>
          <p:cNvPr id="16" name="Text Placeholder 9">
            <a:extLst>
              <a:ext uri="{FF2B5EF4-FFF2-40B4-BE49-F238E27FC236}">
                <a16:creationId xmlns:a16="http://schemas.microsoft.com/office/drawing/2014/main" id="{2DED039B-C555-DCF4-1CA7-CA1E44823784}"/>
              </a:ext>
            </a:extLst>
          </p:cNvPr>
          <p:cNvSpPr>
            <a:spLocks noGrp="1"/>
          </p:cNvSpPr>
          <p:nvPr>
            <p:ph type="body" sz="quarter" idx="15" hasCustomPrompt="1"/>
          </p:nvPr>
        </p:nvSpPr>
        <p:spPr>
          <a:xfrm>
            <a:off x="268165" y="3131272"/>
            <a:ext cx="8480181"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b="0">
                <a:solidFill>
                  <a:schemeClr val="tx1"/>
                </a:solidFill>
                <a:latin typeface="Arial" panose="020B0604020202020204" pitchFamily="34" charset="0"/>
                <a:cs typeface="Arial" panose="020B0604020202020204" pitchFamily="34" charset="0"/>
              </a:defRPr>
            </a:lvl1pPr>
          </a:lstStyle>
          <a:p>
            <a:pPr>
              <a:spcAft>
                <a:spcPts val="1200"/>
              </a:spcAft>
            </a:pPr>
            <a:r>
              <a:rPr lang="en-US" sz="1800" b="1" dirty="0">
                <a:solidFill>
                  <a:srgbClr val="000000"/>
                </a:solidFill>
              </a:rPr>
              <a:t>Account Manager:</a:t>
            </a:r>
            <a:r>
              <a:rPr lang="en-US" sz="1800" dirty="0">
                <a:solidFill>
                  <a:srgbClr val="000000"/>
                </a:solidFill>
              </a:rPr>
              <a:t> [Name, Title] | [Email] | [Phone]</a:t>
            </a:r>
          </a:p>
        </p:txBody>
      </p:sp>
    </p:spTree>
    <p:extLst>
      <p:ext uri="{BB962C8B-B14F-4D97-AF65-F5344CB8AC3E}">
        <p14:creationId xmlns:p14="http://schemas.microsoft.com/office/powerpoint/2010/main" val="38210200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3" r:id="rId2"/>
    <p:sldLayoutId id="2147483659" r:id="rId3"/>
    <p:sldLayoutId id="2147483654" r:id="rId4"/>
    <p:sldLayoutId id="2147483655" r:id="rId5"/>
    <p:sldLayoutId id="2147483656" r:id="rId6"/>
    <p:sldLayoutId id="2147483657" r:id="rId7"/>
    <p:sldLayoutId id="2147483658"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client_logo.png"/>
          <p:cNvPicPr>
            <a:picLocks noGrp="1" noChangeAspect="1"/>
          </p:cNvPicPr>
          <p:nvPr>
            <p:ph type="pic" idx="10" sz="quarter"/>
          </p:nvPr>
        </p:nvPicPr>
        <p:blipFill>
          <a:blip r:embed="rId2"/>
          <a:srcRect t="433" b="433"/>
          <a:stretch>
            <a:fillRect/>
          </a:stretch>
        </p:blipFill>
        <p:spPr/>
      </p:pic>
      <p:sp>
        <p:nvSpPr>
          <p:cNvPr id="3" name="Text Placeholder 2"/>
          <p:cNvSpPr>
            <a:spLocks noGrp="1"/>
          </p:cNvSpPr>
          <p:nvPr>
            <p:ph type="body" idx="12" sz="quarter"/>
          </p:nvPr>
        </p:nvSpPr>
        <p:spPr/>
        <p:txBody>
          <a:bodyPr/>
          <a:lstStyle/>
          <a:p>
            <a:r>
              <a:t>Solution Briefing</a:t>
            </a:r>
          </a:p>
        </p:txBody>
      </p:sp>
      <p:pic>
        <p:nvPicPr>
          <p:cNvPr id="4" name="Picture Placeholder 3" descr="consulting_company_logo.png"/>
          <p:cNvPicPr>
            <a:picLocks noGrp="1" noChangeAspect="1"/>
          </p:cNvPicPr>
          <p:nvPr>
            <p:ph type="pic" idx="13" sz="quarter"/>
          </p:nvPr>
        </p:nvPicPr>
        <p:blipFill>
          <a:blip r:embed="rId3"/>
          <a:srcRect t="5856" b="5856"/>
          <a:stretch>
            <a:fillRect/>
          </a:stretch>
        </p:blipFill>
        <p:spPr/>
      </p:pic>
      <p:sp>
        <p:nvSpPr>
          <p:cNvPr id="5" name="Text Placeholder 4"/>
          <p:cNvSpPr>
            <a:spLocks noGrp="1"/>
          </p:cNvSpPr>
          <p:nvPr>
            <p:ph type="body" idx="14" sz="quarter"/>
          </p:nvPr>
        </p:nvSpPr>
        <p:spPr/>
        <p:txBody>
          <a:bodyPr/>
          <a:lstStyle/>
          <a:p>
            <a:r>
              <a:t>Azure Virtual Desktop</a:t>
            </a:r>
          </a:p>
        </p:txBody>
      </p:sp>
      <p:sp>
        <p:nvSpPr>
          <p:cNvPr id="6" name="Text Placeholder 5"/>
          <p:cNvSpPr>
            <a:spLocks noGrp="1"/>
          </p:cNvSpPr>
          <p:nvPr>
            <p:ph type="body" idx="15" sz="quarter"/>
          </p:nvPr>
        </p:nvSpPr>
        <p:spPr/>
        <p:txBody>
          <a:bodyPr/>
          <a:lstStyle/>
          <a:p>
            <a:r>
              <a:t>Enterprise Solutions Architect | November 16, 2025</a:t>
            </a:r>
          </a:p>
        </p:txBody>
      </p:sp>
      <p:pic>
        <p:nvPicPr>
          <p:cNvPr id="7" name="Picture 6" descr="eo-framework-logo-real.png"/>
          <p:cNvPicPr>
            <a:picLocks noChangeAspect="1"/>
          </p:cNvPicPr>
          <p:nvPr/>
        </p:nvPicPr>
        <p:blipFill>
          <a:blip r:embed="rId4"/>
          <a:stretch>
            <a:fillRect/>
          </a:stretch>
        </p:blipFill>
        <p:spPr>
          <a:xfrm>
            <a:off x="6684264" y="4535424"/>
            <a:ext cx="2139696" cy="5303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Business Opportunity</a:t>
            </a:r>
          </a:p>
        </p:txBody>
      </p:sp>
      <p:pic>
        <p:nvPicPr>
          <p:cNvPr id="3" name="Picture Placeholder 2" descr="consulting_company_logo.png"/>
          <p:cNvPicPr>
            <a:picLocks noGrp="1" noChangeAspect="1"/>
          </p:cNvPicPr>
          <p:nvPr>
            <p:ph type="pic" idx="14" sz="quarter"/>
          </p:nvPr>
        </p:nvPicPr>
        <p:blipFill>
          <a:blip r:embed="rId2"/>
          <a:srcRect t="6314" b="6314"/>
          <a:stretch>
            <a:fillRect/>
          </a:stretch>
        </p:blipFill>
        <p:spPr/>
      </p:pic>
      <p:sp>
        <p:nvSpPr>
          <p:cNvPr id="4" name="Text Placeholder 3"/>
          <p:cNvSpPr>
            <a:spLocks noGrp="1"/>
          </p:cNvSpPr>
          <p:nvPr>
            <p:ph type="body" idx="16" sz="quarter"/>
          </p:nvPr>
        </p:nvSpPr>
        <p:spPr/>
        <p:txBody>
          <a:bodyPr/>
          <a:lstStyle/>
          <a:p>
            <a:pPr/>
            <a:r>
              <a:rPr b="1"/>
              <a:t>Opportunity</a:t>
            </a:r>
          </a:p>
          <a:p>
            <a:pPr lvl="1"/>
            <a:r>
              <a:t>Modernize desktop infrastructure to support secure remote work and flexible workplace models</a:t>
            </a:r>
          </a:p>
          <a:p>
            <a:pPr lvl="1"/>
            <a:r>
              <a:t>Reduce IT operational overhead by 40-50% through centralized cloud-based desktop management</a:t>
            </a:r>
          </a:p>
          <a:p>
            <a:pPr lvl="1"/>
            <a:r>
              <a:t>Enable employees to access corporate desktops from any device, location, or network connection</a:t>
            </a:r>
          </a:p>
          <a:p>
            <a:pPr lvl="1"/>
            <a:r>
              <a:t>Implement enterprise-grade security and compliance controls with multi-session efficiency</a:t>
            </a:r>
          </a:p>
        </p:txBody>
      </p:sp>
      <p:sp>
        <p:nvSpPr>
          <p:cNvPr id="5" name="Text Placeholder 4"/>
          <p:cNvSpPr>
            <a:spLocks noGrp="1"/>
          </p:cNvSpPr>
          <p:nvPr>
            <p:ph type="body" idx="17" sz="quarter"/>
          </p:nvPr>
        </p:nvSpPr>
        <p:spPr/>
        <p:txBody>
          <a:bodyPr/>
          <a:lstStyle/>
          <a:p>
            <a:pPr/>
            <a:r>
              <a:rPr b="1"/>
              <a:t>Success Criteria</a:t>
            </a:r>
          </a:p>
          <a:p>
            <a:pPr lvl="1"/>
            <a:r>
              <a:t>Deploy pooled and/or personal desktops with 99.9% availability within 8-10 weeks</a:t>
            </a:r>
          </a:p>
          <a:p>
            <a:pPr lvl="1"/>
            <a:r>
              <a:t>Achieve 70%+ reduction in remote access VPN complexity and security incidents</a:t>
            </a:r>
          </a:p>
          <a:p>
            <a:pPr lvl="1"/>
            <a:r>
              <a:t>Reduce per-user infrastructure costs by 35-45% compared to traditional VDI solutions</a:t>
            </a:r>
          </a:p>
          <a:p>
            <a:pPr lvl="1"/>
            <a:r>
              <a:t>Enable seamless user experience with sub-200ms latency across geographies</a:t>
            </a:r>
          </a:p>
        </p:txBody>
      </p:sp>
      <p:pic>
        <p:nvPicPr>
          <p:cNvPr id="6" name="Picture 5" descr="eo-framework-logo-real.png"/>
          <p:cNvPicPr>
            <a:picLocks noChangeAspect="1"/>
          </p:cNvPicPr>
          <p:nvPr/>
        </p:nvPicPr>
        <p:blipFill>
          <a:blip r:embed="rId3"/>
          <a:stretch>
            <a:fillRect/>
          </a:stretch>
        </p:blipFill>
        <p:spPr>
          <a:xfrm>
            <a:off x="6684264" y="4535424"/>
            <a:ext cx="2139696" cy="53035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rPr b="1"/>
              <a:t>Engagement Scope</a:t>
            </a:r>
          </a:p>
        </p:txBody>
      </p:sp>
      <p:pic>
        <p:nvPicPr>
          <p:cNvPr id="3" name="Picture Placeholder 2" descr="consulting_company_logo.png"/>
          <p:cNvPicPr>
            <a:picLocks noGrp="1" noChangeAspect="1"/>
          </p:cNvPicPr>
          <p:nvPr>
            <p:ph type="pic" idx="13" sz="quarter"/>
          </p:nvPr>
        </p:nvPicPr>
        <p:blipFill>
          <a:blip r:embed="rId2"/>
          <a:srcRect t="6404" b="6404"/>
          <a:stretch>
            <a:fillRect/>
          </a:stretch>
        </p:blipFill>
        <p:spPr/>
      </p:pic>
      <p:graphicFrame>
        <p:nvGraphicFramePr>
          <p:cNvPr id="4" name="Table Placeholder 3"/>
          <p:cNvGraphicFramePr>
            <a:graphicFrameLocks noGrp="1"/>
          </p:cNvGraphicFramePr>
          <p:nvPr>
            <p:ph type="tbl" idx="14" sz="quarter"/>
          </p:nvPr>
        </p:nvGraphicFramePr>
        <p:xfrm>
          <a:off x="256855" y="677011"/>
          <a:ext cx="8710931" cy="6304280"/>
        </p:xfrm>
        <a:graphic>
          <a:graphicData uri="http://schemas.openxmlformats.org/drawingml/2006/table">
            <a:tbl>
              <a:tblPr firstRow="1" bandRow="1">
                <a:tableStyleId>{5C22544A-7EE6-4342-B048-85BDC9FD1C3A}</a:tableStyleId>
              </a:tblPr>
              <a:tblGrid>
                <a:gridCol w="2613279"/>
                <a:gridCol w="3048826"/>
                <a:gridCol w="3048826"/>
              </a:tblGrid>
              <a:tr h="370840">
                <a:tc>
                  <a:txBody>
                    <a:bodyPr/>
                    <a:lstStyle/>
                    <a:p>
                      <a:r>
                        <a:rPr sz="1400">
                          <a:solidFill>
                            <a:srgbClr val="FFFFFF"/>
                          </a:solidFill>
                        </a:rPr>
                        <a:t>Category</a:t>
                      </a:r>
                    </a:p>
                  </a:txBody>
                  <a:tcPr>
                    <a:solidFill>
                      <a:srgbClr val="A01C02"/>
                    </a:solidFill>
                  </a:tcPr>
                </a:tc>
                <a:tc>
                  <a:txBody>
                    <a:bodyPr/>
                    <a:lstStyle/>
                    <a:p>
                      <a:r>
                        <a:rPr sz="1400">
                          <a:solidFill>
                            <a:srgbClr val="FFFFFF"/>
                          </a:solidFill>
                        </a:rPr>
                        <a:t>Parameter</a:t>
                      </a:r>
                    </a:p>
                  </a:txBody>
                  <a:tcPr>
                    <a:solidFill>
                      <a:srgbClr val="A01C02"/>
                    </a:solidFill>
                  </a:tcPr>
                </a:tc>
                <a:tc>
                  <a:txBody>
                    <a:bodyPr/>
                    <a:lstStyle/>
                    <a:p>
                      <a:r>
                        <a:rPr sz="1400">
                          <a:solidFill>
                            <a:srgbClr val="FFFFFF"/>
                          </a:solidFill>
                        </a:rPr>
                        <a:t>Scope</a:t>
                      </a:r>
                    </a:p>
                  </a:txBody>
                  <a:tcPr>
                    <a:solidFill>
                      <a:srgbClr val="A01C02"/>
                    </a:solidFill>
                  </a:tcPr>
                </a:tc>
              </a:tr>
              <a:tr h="370840">
                <a:tc>
                  <a:txBody>
                    <a:bodyPr/>
                    <a:lstStyle/>
                    <a:p>
                      <a:r>
                        <a:rPr sz="1100"/>
                        <a:t>Solution Scope</a:t>
                      </a:r>
                    </a:p>
                  </a:txBody>
                  <a:tcPr>
                    <a:solidFill>
                      <a:srgbClr val="E7E6E6"/>
                    </a:solidFill>
                  </a:tcPr>
                </a:tc>
                <a:tc>
                  <a:txBody>
                    <a:bodyPr/>
                    <a:lstStyle/>
                    <a:p>
                      <a:r>
                        <a:rPr sz="1100"/>
                        <a:t>Host Pools</a:t>
                      </a:r>
                    </a:p>
                  </a:txBody>
                  <a:tcPr>
                    <a:solidFill>
                      <a:srgbClr val="E7E6E6"/>
                    </a:solidFill>
                  </a:tcPr>
                </a:tc>
                <a:tc>
                  <a:txBody>
                    <a:bodyPr/>
                    <a:lstStyle/>
                    <a:p>
                      <a:r>
                        <a:rPr sz="1100"/>
                        <a:t>3 host pools</a:t>
                      </a:r>
                    </a:p>
                  </a:txBody>
                  <a:tcPr>
                    <a:solidFill>
                      <a:srgbClr val="E7E6E6"/>
                    </a:solidFill>
                  </a:tcPr>
                </a:tc>
              </a:tr>
              <a:tr h="370840">
                <a:tc>
                  <a:txBody>
                    <a:bodyPr/>
                    <a:lstStyle/>
                    <a:p>
                      <a:r>
                        <a:rPr sz="1100"/>
                        <a:t>Solution Scope</a:t>
                      </a:r>
                    </a:p>
                  </a:txBody>
                  <a:tcPr>
                    <a:solidFill>
                      <a:srgbClr val="E7E6E6"/>
                    </a:solidFill>
                  </a:tcPr>
                </a:tc>
                <a:tc>
                  <a:txBody>
                    <a:bodyPr/>
                    <a:lstStyle/>
                    <a:p>
                      <a:r>
                        <a:rPr sz="1100"/>
                        <a:t>Application Groups</a:t>
                      </a:r>
                    </a:p>
                  </a:txBody>
                  <a:tcPr>
                    <a:solidFill>
                      <a:srgbClr val="E7E6E6"/>
                    </a:solidFill>
                  </a:tcPr>
                </a:tc>
                <a:tc>
                  <a:txBody>
                    <a:bodyPr/>
                    <a:lstStyle/>
                    <a:p>
                      <a:r>
                        <a:rPr sz="1100"/>
                        <a:t>5-10 app groups</a:t>
                      </a:r>
                    </a:p>
                  </a:txBody>
                  <a:tcPr>
                    <a:solidFill>
                      <a:srgbClr val="E7E6E6"/>
                    </a:solidFill>
                  </a:tcPr>
                </a:tc>
              </a:tr>
              <a:tr h="370840">
                <a:tc>
                  <a:txBody>
                    <a:bodyPr/>
                    <a:lstStyle/>
                    <a:p>
                      <a:r>
                        <a:rPr sz="1100"/>
                        <a:t>Integration</a:t>
                      </a:r>
                    </a:p>
                  </a:txBody>
                  <a:tcPr>
                    <a:solidFill>
                      <a:srgbClr val="E7E6E6"/>
                    </a:solidFill>
                  </a:tcPr>
                </a:tc>
                <a:tc>
                  <a:txBody>
                    <a:bodyPr/>
                    <a:lstStyle/>
                    <a:p>
                      <a:r>
                        <a:rPr sz="1100"/>
                        <a:t>Identity Integration</a:t>
                      </a:r>
                    </a:p>
                  </a:txBody>
                  <a:tcPr>
                    <a:solidFill>
                      <a:srgbClr val="E7E6E6"/>
                    </a:solidFill>
                  </a:tcPr>
                </a:tc>
                <a:tc>
                  <a:txBody>
                    <a:bodyPr/>
                    <a:lstStyle/>
                    <a:p>
                      <a:r>
                        <a:rPr sz="1100"/>
                        <a:t>Azure AD hybrid join</a:t>
                      </a:r>
                    </a:p>
                  </a:txBody>
                  <a:tcPr>
                    <a:solidFill>
                      <a:srgbClr val="E7E6E6"/>
                    </a:solidFill>
                  </a:tcPr>
                </a:tc>
              </a:tr>
              <a:tr h="370840">
                <a:tc>
                  <a:txBody>
                    <a:bodyPr/>
                    <a:lstStyle/>
                    <a:p>
                      <a:r>
                        <a:rPr sz="1100"/>
                        <a:t>Integration</a:t>
                      </a:r>
                    </a:p>
                  </a:txBody>
                  <a:tcPr>
                    <a:solidFill>
                      <a:srgbClr val="E7E6E6"/>
                    </a:solidFill>
                  </a:tcPr>
                </a:tc>
                <a:tc>
                  <a:txBody>
                    <a:bodyPr/>
                    <a:lstStyle/>
                    <a:p>
                      <a:r>
                        <a:rPr sz="1100"/>
                        <a:t>Profile Management</a:t>
                      </a:r>
                    </a:p>
                  </a:txBody>
                  <a:tcPr>
                    <a:solidFill>
                      <a:srgbClr val="E7E6E6"/>
                    </a:solidFill>
                  </a:tcPr>
                </a:tc>
                <a:tc>
                  <a:txBody>
                    <a:bodyPr/>
                    <a:lstStyle/>
                    <a:p>
                      <a:r>
                        <a:rPr sz="1100"/>
                        <a:t>FSLogix profile containers</a:t>
                      </a:r>
                    </a:p>
                  </a:txBody>
                  <a:tcPr>
                    <a:solidFill>
                      <a:srgbClr val="E7E6E6"/>
                    </a:solidFill>
                  </a:tcPr>
                </a:tc>
              </a:tr>
              <a:tr h="370840">
                <a:tc>
                  <a:txBody>
                    <a:bodyPr/>
                    <a:lstStyle/>
                    <a:p>
                      <a:r>
                        <a:rPr sz="1100"/>
                        <a:t>User Base</a:t>
                      </a:r>
                    </a:p>
                  </a:txBody>
                  <a:tcPr>
                    <a:solidFill>
                      <a:srgbClr val="E7E6E6"/>
                    </a:solidFill>
                  </a:tcPr>
                </a:tc>
                <a:tc>
                  <a:txBody>
                    <a:bodyPr/>
                    <a:lstStyle/>
                    <a:p>
                      <a:r>
                        <a:rPr sz="1100"/>
                        <a:t>Total Users</a:t>
                      </a:r>
                    </a:p>
                  </a:txBody>
                  <a:tcPr>
                    <a:solidFill>
                      <a:srgbClr val="E7E6E6"/>
                    </a:solidFill>
                  </a:tcPr>
                </a:tc>
                <a:tc>
                  <a:txBody>
                    <a:bodyPr/>
                    <a:lstStyle/>
                    <a:p>
                      <a:r>
                        <a:rPr sz="1100"/>
                        <a:t>200 concurrent users</a:t>
                      </a:r>
                    </a:p>
                  </a:txBody>
                  <a:tcPr>
                    <a:solidFill>
                      <a:srgbClr val="E7E6E6"/>
                    </a:solidFill>
                  </a:tcPr>
                </a:tc>
              </a:tr>
              <a:tr h="370840">
                <a:tc>
                  <a:txBody>
                    <a:bodyPr/>
                    <a:lstStyle/>
                    <a:p>
                      <a:r>
                        <a:rPr sz="1100"/>
                        <a:t>User Base</a:t>
                      </a:r>
                    </a:p>
                  </a:txBody>
                  <a:tcPr>
                    <a:solidFill>
                      <a:srgbClr val="E7E6E6"/>
                    </a:solidFill>
                  </a:tcPr>
                </a:tc>
                <a:tc>
                  <a:txBody>
                    <a:bodyPr/>
                    <a:lstStyle/>
                    <a:p>
                      <a:r>
                        <a:rPr sz="1100"/>
                        <a:t>User Roles</a:t>
                      </a:r>
                    </a:p>
                  </a:txBody>
                  <a:tcPr>
                    <a:solidFill>
                      <a:srgbClr val="E7E6E6"/>
                    </a:solidFill>
                  </a:tcPr>
                </a:tc>
                <a:tc>
                  <a:txBody>
                    <a:bodyPr/>
                    <a:lstStyle/>
                    <a:p>
                      <a:r>
                        <a:rPr sz="1100"/>
                        <a:t>3 roles (standard power admin)</a:t>
                      </a:r>
                    </a:p>
                  </a:txBody>
                  <a:tcPr>
                    <a:solidFill>
                      <a:srgbClr val="E7E6E6"/>
                    </a:solidFill>
                  </a:tcPr>
                </a:tc>
              </a:tr>
              <a:tr h="370840">
                <a:tc>
                  <a:txBody>
                    <a:bodyPr/>
                    <a:lstStyle/>
                    <a:p>
                      <a:r>
                        <a:rPr sz="1100"/>
                        <a:t>Data Volume</a:t>
                      </a:r>
                    </a:p>
                  </a:txBody>
                  <a:tcPr>
                    <a:solidFill>
                      <a:srgbClr val="E7E6E6"/>
                    </a:solidFill>
                  </a:tcPr>
                </a:tc>
                <a:tc>
                  <a:txBody>
                    <a:bodyPr/>
                    <a:lstStyle/>
                    <a:p>
                      <a:r>
                        <a:rPr sz="1100"/>
                        <a:t>User Profiles</a:t>
                      </a:r>
                    </a:p>
                  </a:txBody>
                  <a:tcPr>
                    <a:solidFill>
                      <a:srgbClr val="E7E6E6"/>
                    </a:solidFill>
                  </a:tcPr>
                </a:tc>
                <a:tc>
                  <a:txBody>
                    <a:bodyPr/>
                    <a:lstStyle/>
                    <a:p>
                      <a:r>
                        <a:rPr sz="1100"/>
                        <a:t>10 GB per user</a:t>
                      </a:r>
                    </a:p>
                  </a:txBody>
                  <a:tcPr>
                    <a:solidFill>
                      <a:srgbClr val="E7E6E6"/>
                    </a:solidFill>
                  </a:tcPr>
                </a:tc>
              </a:tr>
              <a:tr h="370840">
                <a:tc>
                  <a:txBody>
                    <a:bodyPr/>
                    <a:lstStyle/>
                    <a:p>
                      <a:r>
                        <a:rPr sz="1100"/>
                        <a:t>Data Volume</a:t>
                      </a:r>
                    </a:p>
                  </a:txBody>
                  <a:tcPr>
                    <a:solidFill>
                      <a:srgbClr val="E7E6E6"/>
                    </a:solidFill>
                  </a:tcPr>
                </a:tc>
                <a:tc>
                  <a:txBody>
                    <a:bodyPr/>
                    <a:lstStyle/>
                    <a:p>
                      <a:r>
                        <a:rPr sz="1100"/>
                        <a:t>Application Data</a:t>
                      </a:r>
                    </a:p>
                  </a:txBody>
                  <a:tcPr>
                    <a:solidFill>
                      <a:srgbClr val="E7E6E6"/>
                    </a:solidFill>
                  </a:tcPr>
                </a:tc>
                <a:tc>
                  <a:txBody>
                    <a:bodyPr/>
                    <a:lstStyle/>
                    <a:p>
                      <a:r>
                        <a:rPr sz="1100"/>
                        <a:t>500 GB shared storage</a:t>
                      </a:r>
                    </a:p>
                  </a:txBody>
                  <a:tcPr>
                    <a:solidFill>
                      <a:srgbClr val="E7E6E6"/>
                    </a:solidFill>
                  </a:tcPr>
                </a:tc>
              </a:tr>
              <a:tr h="370840">
                <a:tc>
                  <a:txBody>
                    <a:bodyPr/>
                    <a:lstStyle/>
                    <a:p>
                      <a:r>
                        <a:rPr sz="1100"/>
                        <a:t>Technical Environment</a:t>
                      </a:r>
                    </a:p>
                  </a:txBody>
                  <a:tcPr>
                    <a:solidFill>
                      <a:srgbClr val="E7E6E6"/>
                    </a:solidFill>
                  </a:tcPr>
                </a:tc>
                <a:tc>
                  <a:txBody>
                    <a:bodyPr/>
                    <a:lstStyle/>
                    <a:p>
                      <a:r>
                        <a:rPr sz="1100"/>
                        <a:t>Deployment Regions</a:t>
                      </a:r>
                    </a:p>
                  </a:txBody>
                  <a:tcPr>
                    <a:solidFill>
                      <a:srgbClr val="E7E6E6"/>
                    </a:solidFill>
                  </a:tcPr>
                </a:tc>
                <a:tc>
                  <a:txBody>
                    <a:bodyPr/>
                    <a:lstStyle/>
                    <a:p>
                      <a:r>
                        <a:rPr sz="1100"/>
                        <a:t>Single Azure region (East US)</a:t>
                      </a:r>
                    </a:p>
                  </a:txBody>
                  <a:tcPr>
                    <a:solidFill>
                      <a:srgbClr val="E7E6E6"/>
                    </a:solidFill>
                  </a:tcPr>
                </a:tc>
              </a:tr>
              <a:tr h="370840">
                <a:tc>
                  <a:txBody>
                    <a:bodyPr/>
                    <a:lstStyle/>
                    <a:p>
                      <a:r>
                        <a:rPr sz="1100"/>
                        <a:t>Technical Environment</a:t>
                      </a:r>
                    </a:p>
                  </a:txBody>
                  <a:tcPr>
                    <a:solidFill>
                      <a:srgbClr val="E7E6E6"/>
                    </a:solidFill>
                  </a:tcPr>
                </a:tc>
                <a:tc>
                  <a:txBody>
                    <a:bodyPr/>
                    <a:lstStyle/>
                    <a:p>
                      <a:r>
                        <a:rPr sz="1100"/>
                        <a:t>Availability Requirements</a:t>
                      </a:r>
                    </a:p>
                  </a:txBody>
                  <a:tcPr>
                    <a:solidFill>
                      <a:srgbClr val="E7E6E6"/>
                    </a:solidFill>
                  </a:tcPr>
                </a:tc>
                <a:tc>
                  <a:txBody>
                    <a:bodyPr/>
                    <a:lstStyle/>
                    <a:p>
                      <a:r>
                        <a:rPr sz="1100"/>
                        <a:t>Standard (99.9%)</a:t>
                      </a:r>
                    </a:p>
                  </a:txBody>
                  <a:tcPr>
                    <a:solidFill>
                      <a:srgbClr val="E7E6E6"/>
                    </a:solidFill>
                  </a:tcPr>
                </a:tc>
              </a:tr>
              <a:tr h="370840">
                <a:tc>
                  <a:txBody>
                    <a:bodyPr/>
                    <a:lstStyle/>
                    <a:p>
                      <a:r>
                        <a:rPr sz="1100"/>
                        <a:t>Technical Environment</a:t>
                      </a:r>
                    </a:p>
                  </a:txBody>
                  <a:tcPr>
                    <a:solidFill>
                      <a:srgbClr val="E7E6E6"/>
                    </a:solidFill>
                  </a:tcPr>
                </a:tc>
                <a:tc>
                  <a:txBody>
                    <a:bodyPr/>
                    <a:lstStyle/>
                    <a:p>
                      <a:r>
                        <a:rPr sz="1100"/>
                        <a:t>Infrastructure Complexity</a:t>
                      </a:r>
                    </a:p>
                  </a:txBody>
                  <a:tcPr>
                    <a:solidFill>
                      <a:srgbClr val="E7E6E6"/>
                    </a:solidFill>
                  </a:tcPr>
                </a:tc>
                <a:tc>
                  <a:txBody>
                    <a:bodyPr/>
                    <a:lstStyle/>
                    <a:p>
                      <a:r>
                        <a:rPr sz="1100"/>
                        <a:t>Multi-session Windows 11 hosts</a:t>
                      </a:r>
                    </a:p>
                  </a:txBody>
                  <a:tcPr>
                    <a:solidFill>
                      <a:srgbClr val="E7E6E6"/>
                    </a:solidFill>
                  </a:tcPr>
                </a:tc>
              </a:tr>
              <a:tr h="370840">
                <a:tc>
                  <a:txBody>
                    <a:bodyPr/>
                    <a:lstStyle/>
                    <a:p>
                      <a:r>
                        <a:rPr sz="1100"/>
                        <a:t>Security &amp; Compliance</a:t>
                      </a:r>
                    </a:p>
                  </a:txBody>
                  <a:tcPr>
                    <a:solidFill>
                      <a:srgbClr val="E7E6E6"/>
                    </a:solidFill>
                  </a:tcPr>
                </a:tc>
                <a:tc>
                  <a:txBody>
                    <a:bodyPr/>
                    <a:lstStyle/>
                    <a:p>
                      <a:r>
                        <a:rPr sz="1100"/>
                        <a:t>Security Requirements</a:t>
                      </a:r>
                    </a:p>
                  </a:txBody>
                  <a:tcPr>
                    <a:solidFill>
                      <a:srgbClr val="E7E6E6"/>
                    </a:solidFill>
                  </a:tcPr>
                </a:tc>
                <a:tc>
                  <a:txBody>
                    <a:bodyPr/>
                    <a:lstStyle/>
                    <a:p>
                      <a:r>
                        <a:rPr sz="1100"/>
                        <a:t>Conditional Access MFA Intune</a:t>
                      </a:r>
                    </a:p>
                  </a:txBody>
                  <a:tcPr>
                    <a:solidFill>
                      <a:srgbClr val="E7E6E6"/>
                    </a:solidFill>
                  </a:tcPr>
                </a:tc>
              </a:tr>
              <a:tr h="370840">
                <a:tc>
                  <a:txBody>
                    <a:bodyPr/>
                    <a:lstStyle/>
                    <a:p>
                      <a:r>
                        <a:rPr sz="1100"/>
                        <a:t>Security &amp; Compliance</a:t>
                      </a:r>
                    </a:p>
                  </a:txBody>
                  <a:tcPr>
                    <a:solidFill>
                      <a:srgbClr val="E7E6E6"/>
                    </a:solidFill>
                  </a:tcPr>
                </a:tc>
                <a:tc>
                  <a:txBody>
                    <a:bodyPr/>
                    <a:lstStyle/>
                    <a:p>
                      <a:r>
                        <a:rPr sz="1100"/>
                        <a:t>Compliance Frameworks</a:t>
                      </a:r>
                    </a:p>
                  </a:txBody>
                  <a:tcPr>
                    <a:solidFill>
                      <a:srgbClr val="E7E6E6"/>
                    </a:solidFill>
                  </a:tcPr>
                </a:tc>
                <a:tc>
                  <a:txBody>
                    <a:bodyPr/>
                    <a:lstStyle/>
                    <a:p>
                      <a:r>
                        <a:rPr sz="1100"/>
                        <a:t>SOC2</a:t>
                      </a:r>
                    </a:p>
                  </a:txBody>
                  <a:tcPr>
                    <a:solidFill>
                      <a:srgbClr val="E7E6E6"/>
                    </a:solidFill>
                  </a:tcPr>
                </a:tc>
              </a:tr>
              <a:tr h="370840">
                <a:tc>
                  <a:txBody>
                    <a:bodyPr/>
                    <a:lstStyle/>
                    <a:p>
                      <a:r>
                        <a:rPr sz="1100"/>
                        <a:t>Performance</a:t>
                      </a:r>
                    </a:p>
                  </a:txBody>
                  <a:tcPr>
                    <a:solidFill>
                      <a:srgbClr val="E7E6E6"/>
                    </a:solidFill>
                  </a:tcPr>
                </a:tc>
                <a:tc>
                  <a:txBody>
                    <a:bodyPr/>
                    <a:lstStyle/>
                    <a:p>
                      <a:r>
                        <a:rPr sz="1100"/>
                        <a:t>User Experience</a:t>
                      </a:r>
                    </a:p>
                  </a:txBody>
                  <a:tcPr>
                    <a:solidFill>
                      <a:srgbClr val="E7E6E6"/>
                    </a:solidFill>
                  </a:tcPr>
                </a:tc>
                <a:tc>
                  <a:txBody>
                    <a:bodyPr/>
                    <a:lstStyle/>
                    <a:p>
                      <a:r>
                        <a:rPr sz="1100"/>
                        <a:t>Standard latency requirements</a:t>
                      </a:r>
                    </a:p>
                  </a:txBody>
                  <a:tcPr>
                    <a:solidFill>
                      <a:srgbClr val="E7E6E6"/>
                    </a:solidFill>
                  </a:tcPr>
                </a:tc>
              </a:tr>
              <a:tr h="370840">
                <a:tc>
                  <a:txBody>
                    <a:bodyPr/>
                    <a:lstStyle/>
                    <a:p>
                      <a:r>
                        <a:rPr sz="1100"/>
                        <a:t>Performance</a:t>
                      </a:r>
                    </a:p>
                  </a:txBody>
                  <a:tcPr>
                    <a:solidFill>
                      <a:srgbClr val="E7E6E6"/>
                    </a:solidFill>
                  </a:tcPr>
                </a:tc>
                <a:tc>
                  <a:txBody>
                    <a:bodyPr/>
                    <a:lstStyle/>
                    <a:p>
                      <a:r>
                        <a:rPr sz="1100"/>
                        <a:t>Graphics Requirements</a:t>
                      </a:r>
                    </a:p>
                  </a:txBody>
                  <a:tcPr>
                    <a:solidFill>
                      <a:srgbClr val="E7E6E6"/>
                    </a:solidFill>
                  </a:tcPr>
                </a:tc>
                <a:tc>
                  <a:txBody>
                    <a:bodyPr/>
                    <a:lstStyle/>
                    <a:p>
                      <a:r>
                        <a:rPr sz="1100"/>
                        <a:t>Standard office workloads</a:t>
                      </a:r>
                    </a:p>
                  </a:txBody>
                  <a:tcPr>
                    <a:solidFill>
                      <a:srgbClr val="E7E6E6"/>
                    </a:solidFill>
                  </a:tcPr>
                </a:tc>
              </a:tr>
              <a:tr h="370840">
                <a:tc>
                  <a:txBody>
                    <a:bodyPr/>
                    <a:lstStyle/>
                    <a:p>
                      <a:r>
                        <a:rPr sz="1100"/>
                        <a:t>Environment</a:t>
                      </a:r>
                    </a:p>
                  </a:txBody>
                  <a:tcPr>
                    <a:solidFill>
                      <a:srgbClr val="E7E6E6"/>
                    </a:solidFill>
                  </a:tcPr>
                </a:tc>
                <a:tc>
                  <a:txBody>
                    <a:bodyPr/>
                    <a:lstStyle/>
                    <a:p>
                      <a:r>
                        <a:rPr sz="1100"/>
                        <a:t>Deployment Environments</a:t>
                      </a:r>
                    </a:p>
                  </a:txBody>
                  <a:tcPr>
                    <a:solidFill>
                      <a:srgbClr val="E7E6E6"/>
                    </a:solidFill>
                  </a:tcPr>
                </a:tc>
                <a:tc>
                  <a:txBody>
                    <a:bodyPr/>
                    <a:lstStyle/>
                    <a:p>
                      <a:r>
                        <a:rPr sz="1100"/>
                        <a:t>2 environments (pilot prod)</a:t>
                      </a:r>
                    </a:p>
                  </a:txBody>
                  <a:tcPr>
                    <a:solidFill>
                      <a:srgbClr val="E7E6E6"/>
                    </a:solidFill>
                  </a:tcPr>
                </a:tc>
              </a:tr>
            </a:tbl>
          </a:graphicData>
        </a:graphic>
      </p:graphicFrame>
      <p:pic>
        <p:nvPicPr>
          <p:cNvPr id="5" name="Picture 4" descr="eo-framework-logo-real.png"/>
          <p:cNvPicPr>
            <a:picLocks noChangeAspect="1"/>
          </p:cNvPicPr>
          <p:nvPr/>
        </p:nvPicPr>
        <p:blipFill>
          <a:blip r:embed="rId3"/>
          <a:stretch>
            <a:fillRect/>
          </a:stretch>
        </p:blipFill>
        <p:spPr>
          <a:xfrm>
            <a:off x="6684264" y="4535424"/>
            <a:ext cx="2139696" cy="53035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Solution Overview</a:t>
            </a:r>
          </a:p>
        </p:txBody>
      </p:sp>
      <p:pic>
        <p:nvPicPr>
          <p:cNvPr id="3" name="Picture Placeholder 2" descr="consulting_company_logo.png"/>
          <p:cNvPicPr>
            <a:picLocks noGrp="1" noChangeAspect="1"/>
          </p:cNvPicPr>
          <p:nvPr>
            <p:ph type="pic" idx="14" sz="quarter"/>
          </p:nvPr>
        </p:nvPicPr>
        <p:blipFill>
          <a:blip r:embed="rId2"/>
          <a:srcRect t="6494" b="6494"/>
          <a:stretch>
            <a:fillRect/>
          </a:stretch>
        </p:blipFill>
        <p:spPr/>
      </p:pic>
      <p:sp>
        <p:nvSpPr>
          <p:cNvPr id="4" name="Picture Placeholder 3"/>
          <p:cNvSpPr>
            <a:spLocks noGrp="1"/>
          </p:cNvSpPr>
          <p:nvPr>
            <p:ph type="pic" idx="15" sz="quarter"/>
          </p:nvPr>
        </p:nvSpPr>
        <p:spPr/>
      </p:sp>
      <p:sp>
        <p:nvSpPr>
          <p:cNvPr id="5" name="Text Placeholder 4"/>
          <p:cNvSpPr>
            <a:spLocks noGrp="1"/>
          </p:cNvSpPr>
          <p:nvPr>
            <p:ph type="body" idx="16" sz="quarter"/>
          </p:nvPr>
        </p:nvSpPr>
        <p:spPr/>
        <p:txBody>
          <a:bodyPr/>
          <a:lstStyle/>
          <a:p>
            <a:pPr/>
            <a:r>
              <a:rPr b="1"/>
              <a:t>Key Components</a:t>
            </a:r>
          </a:p>
          <a:p>
            <a:pPr lvl="1"/>
            <a:r>
              <a:rPr b="1"/>
              <a:t>Host Pools:</a:t>
            </a:r>
            <a:r>
              <a:t> Pooled (multi-session Windows 10/11) or personal (dedicated per-user) configurations</a:t>
            </a:r>
          </a:p>
          <a:p>
            <a:pPr lvl="1"/>
            <a:r>
              <a:rPr b="1"/>
              <a:t>Session Hosts:</a:t>
            </a:r>
            <a:r>
              <a:t> Azure VMs (D4s_v5 series) running Windows 10/11 Multi-session with load balancing</a:t>
            </a:r>
          </a:p>
          <a:p>
            <a:pPr lvl="1"/>
            <a:r>
              <a:rPr b="1"/>
              <a:t>FSLogix Profile Management:</a:t>
            </a:r>
            <a:r>
              <a:t> Unified profile containers and Office containers for persistent user data</a:t>
            </a:r>
          </a:p>
          <a:p>
            <a:pPr lvl="1"/>
            <a:r>
              <a:rPr b="1"/>
              <a:t>Azure Files:</a:t>
            </a:r>
            <a:r>
              <a:t> SMB-based storage for profile and user-specific data with fast access</a:t>
            </a:r>
          </a:p>
          <a:p>
            <a:pPr lvl="1"/>
            <a:r>
              <a:rPr b="1"/>
              <a:t>Azure AD &amp; Conditional Access:</a:t>
            </a:r>
            <a:r>
              <a:t> Enterprise identity management with policy-driven access control</a:t>
            </a:r>
          </a:p>
          <a:p>
            <a:pPr lvl="1"/>
            <a:r>
              <a:rPr b="1"/>
              <a:t>Azure Monitor:</a:t>
            </a:r>
            <a:r>
              <a:t> Real-time diagnostics, performance monitoring, and health alerts</a:t>
            </a:r>
          </a:p>
          <a:p>
            <a:pPr/>
            <a:r>
              <a:rPr b="1"/>
              <a:t>Technology Stack</a:t>
            </a:r>
          </a:p>
          <a:p>
            <a:pPr lvl="1"/>
            <a:r>
              <a:t>Platform: Azure Virtual Desktop (AVD)</a:t>
            </a:r>
          </a:p>
          <a:p>
            <a:pPr lvl="1"/>
            <a:r>
              <a:t>Session Hosts: Windows 10/11 Multi-session (D4s_v5 VMs)</a:t>
            </a:r>
          </a:p>
          <a:p>
            <a:pPr lvl="1"/>
            <a:r>
              <a:t>Storage: Azure Files + FSLogix</a:t>
            </a:r>
          </a:p>
          <a:p>
            <a:pPr lvl="1"/>
            <a:r>
              <a:t>Identity: Azure AD / Microsoft Entra ID</a:t>
            </a:r>
          </a:p>
          <a:p>
            <a:pPr lvl="1"/>
            <a:r>
              <a:t>Security: Network Security Groups, Private Endpoints</a:t>
            </a:r>
          </a:p>
          <a:p>
            <a:pPr lvl="1"/>
            <a:r>
              <a:t>Monitoring: Azure Monitor, Diagnostics Services</a:t>
            </a:r>
          </a:p>
        </p:txBody>
      </p:sp>
      <p:pic>
        <p:nvPicPr>
          <p:cNvPr id="6" name="Picture 5" descr="architecture-diagram.png"/>
          <p:cNvPicPr>
            <a:picLocks noChangeAspect="1"/>
          </p:cNvPicPr>
          <p:nvPr/>
        </p:nvPicPr>
        <p:blipFill>
          <a:blip r:embed="rId4"/>
          <a:stretch>
            <a:fillRect/>
          </a:stretch>
        </p:blipFill>
        <p:spPr>
          <a:xfrm>
            <a:off x="4662488" y="1303034"/>
            <a:ext cx="4337050" cy="258138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Implementation Approach</a:t>
            </a:r>
          </a:p>
        </p:txBody>
      </p:sp>
      <p:pic>
        <p:nvPicPr>
          <p:cNvPr id="3" name="Picture Placeholder 2" descr="consulting_company_logo.png"/>
          <p:cNvPicPr>
            <a:picLocks noGrp="1" noChangeAspect="1"/>
          </p:cNvPicPr>
          <p:nvPr>
            <p:ph type="pic" idx="13" sz="quarter"/>
          </p:nvPr>
        </p:nvPicPr>
        <p:blipFill>
          <a:blip r:embed="rId2"/>
          <a:srcRect t="6762" b="6762"/>
          <a:stretch>
            <a:fillRect/>
          </a:stretch>
        </p:blipFill>
        <p:spPr/>
      </p:pic>
      <p:sp>
        <p:nvSpPr>
          <p:cNvPr id="4" name="Text Placeholder 3"/>
          <p:cNvSpPr>
            <a:spLocks noGrp="1"/>
          </p:cNvSpPr>
          <p:nvPr>
            <p:ph type="body" idx="14" sz="quarter"/>
          </p:nvPr>
        </p:nvSpPr>
        <p:spPr/>
        <p:txBody>
          <a:bodyPr/>
          <a:lstStyle/>
          <a:p>
            <a:pPr/>
            <a:r>
              <a:rPr b="1"/>
              <a:t>Phase 1: Assessment &amp; Design</a:t>
            </a:r>
            <a:r>
              <a:t> *(Weeks 1-3)*</a:t>
            </a:r>
          </a:p>
          <a:p>
            <a:pPr lvl="1"/>
            <a:r>
              <a:t>Current desktop environment discovery and user requirements</a:t>
            </a:r>
          </a:p>
          <a:p>
            <a:pPr lvl="1"/>
            <a:r>
              <a:t>AVD architecture design (pooled vs. personal selection)</a:t>
            </a:r>
          </a:p>
          <a:p>
            <a:pPr lvl="1"/>
            <a:r>
              <a:t>Golden image strategy and application packaging</a:t>
            </a:r>
          </a:p>
          <a:p>
            <a:pPr lvl="1"/>
            <a:r>
              <a:t>Network and security design with NSG and Private Endpoints</a:t>
            </a:r>
          </a:p>
          <a:p>
            <a:pPr/>
            <a:r>
              <a:rPr b="1"/>
              <a:t>Phase 2: Infrastructure &amp; Golden Image</a:t>
            </a:r>
            <a:r>
              <a:t> *(Weeks 4-6)*</a:t>
            </a:r>
          </a:p>
          <a:p>
            <a:pPr lvl="1"/>
            <a:r>
              <a:t>Azure infrastructure provisioning (host pools, Azure Files, networking)</a:t>
            </a:r>
          </a:p>
          <a:p>
            <a:pPr lvl="1"/>
            <a:r>
              <a:t>Golden image creation and application deployment</a:t>
            </a:r>
          </a:p>
          <a:p>
            <a:pPr lvl="1"/>
            <a:r>
              <a:t>FSLogix profile configuration and testing</a:t>
            </a:r>
          </a:p>
          <a:p>
            <a:pPr lvl="1"/>
            <a:r>
              <a:t>Azure Monitor setup and baseline metrics</a:t>
            </a:r>
          </a:p>
          <a:p>
            <a:pPr/>
            <a:r>
              <a:rPr b="1"/>
              <a:t>Phase 3: Deployment &amp; Validation</a:t>
            </a:r>
            <a:r>
              <a:t> *(Weeks 7-10)*</a:t>
            </a:r>
          </a:p>
          <a:p>
            <a:pPr lvl="1"/>
            <a:r>
              <a:t>User and group assignment to host pools</a:t>
            </a:r>
          </a:p>
          <a:p>
            <a:pPr lvl="1"/>
            <a:r>
              <a:t>Pilot deployment with business users (10-15 users)</a:t>
            </a:r>
          </a:p>
          <a:p>
            <a:pPr lvl="1"/>
            <a:r>
              <a:t>Performance validation and optimization</a:t>
            </a:r>
          </a:p>
          <a:p>
            <a:pPr lvl="1"/>
            <a:r>
              <a:t>Training and handover to support team</a:t>
            </a:r>
          </a:p>
        </p:txBody>
      </p:sp>
      <p:pic>
        <p:nvPicPr>
          <p:cNvPr id="5" name="Picture 4" descr="eo-framework-logo-real.png"/>
          <p:cNvPicPr>
            <a:picLocks noChangeAspect="1"/>
          </p:cNvPicPr>
          <p:nvPr/>
        </p:nvPicPr>
        <p:blipFill>
          <a:blip r:embed="rId3"/>
          <a:stretch>
            <a:fillRect/>
          </a:stretch>
        </p:blipFill>
        <p:spPr>
          <a:xfrm>
            <a:off x="6684264" y="4535424"/>
            <a:ext cx="2139696" cy="5303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rPr b="1"/>
              <a:t>Timeline &amp; Milestones</a:t>
            </a:r>
          </a:p>
        </p:txBody>
      </p:sp>
      <p:pic>
        <p:nvPicPr>
          <p:cNvPr id="3" name="Picture Placeholder 2" descr="consulting_company_logo.png"/>
          <p:cNvPicPr>
            <a:picLocks noGrp="1" noChangeAspect="1"/>
          </p:cNvPicPr>
          <p:nvPr>
            <p:ph type="pic" idx="13" sz="quarter"/>
          </p:nvPr>
        </p:nvPicPr>
        <p:blipFill>
          <a:blip r:embed="rId2"/>
          <a:srcRect t="6404" b="6404"/>
          <a:stretch>
            <a:fillRect/>
          </a:stretch>
        </p:blipFill>
        <p:spPr/>
      </p:pic>
      <p:graphicFrame>
        <p:nvGraphicFramePr>
          <p:cNvPr id="4" name="Table Placeholder 3"/>
          <p:cNvGraphicFramePr>
            <a:graphicFrameLocks noGrp="1"/>
          </p:cNvGraphicFramePr>
          <p:nvPr>
            <p:ph type="tbl" idx="14" sz="quarter"/>
          </p:nvPr>
        </p:nvGraphicFramePr>
        <p:xfrm>
          <a:off x="256855" y="677011"/>
          <a:ext cx="8710931" cy="1483360"/>
        </p:xfrm>
        <a:graphic>
          <a:graphicData uri="http://schemas.openxmlformats.org/drawingml/2006/table">
            <a:tbl>
              <a:tblPr firstRow="1" bandRow="1">
                <a:tableStyleId>{5C22544A-7EE6-4342-B048-85BDC9FD1C3A}</a:tableStyleId>
              </a:tblPr>
              <a:tblGrid>
                <a:gridCol w="871093"/>
                <a:gridCol w="2177733"/>
                <a:gridCol w="1306639"/>
                <a:gridCol w="4355466"/>
              </a:tblGrid>
              <a:tr h="370840">
                <a:tc>
                  <a:txBody>
                    <a:bodyPr/>
                    <a:lstStyle/>
                    <a:p>
                      <a:r>
                        <a:rPr sz="1400">
                          <a:solidFill>
                            <a:srgbClr val="FFFFFF"/>
                          </a:solidFill>
                        </a:rPr>
                        <a:t>Phase No</a:t>
                      </a:r>
                    </a:p>
                  </a:txBody>
                  <a:tcPr>
                    <a:solidFill>
                      <a:srgbClr val="A01C02"/>
                    </a:solidFill>
                  </a:tcPr>
                </a:tc>
                <a:tc>
                  <a:txBody>
                    <a:bodyPr/>
                    <a:lstStyle/>
                    <a:p>
                      <a:r>
                        <a:rPr sz="1400">
                          <a:solidFill>
                            <a:srgbClr val="FFFFFF"/>
                          </a:solidFill>
                        </a:rPr>
                        <a:t>Phase Description</a:t>
                      </a:r>
                    </a:p>
                  </a:txBody>
                  <a:tcPr>
                    <a:solidFill>
                      <a:srgbClr val="A01C02"/>
                    </a:solidFill>
                  </a:tcPr>
                </a:tc>
                <a:tc>
                  <a:txBody>
                    <a:bodyPr/>
                    <a:lstStyle/>
                    <a:p>
                      <a:r>
                        <a:rPr sz="1400">
                          <a:solidFill>
                            <a:srgbClr val="FFFFFF"/>
                          </a:solidFill>
                        </a:rPr>
                        <a:t>Timeline</a:t>
                      </a:r>
                    </a:p>
                  </a:txBody>
                  <a:tcPr>
                    <a:solidFill>
                      <a:srgbClr val="A01C02"/>
                    </a:solidFill>
                  </a:tcPr>
                </a:tc>
                <a:tc>
                  <a:txBody>
                    <a:bodyPr/>
                    <a:lstStyle/>
                    <a:p>
                      <a:r>
                        <a:rPr sz="1400">
                          <a:solidFill>
                            <a:srgbClr val="FFFFFF"/>
                          </a:solidFill>
                        </a:rPr>
                        <a:t>Key Deliverables</a:t>
                      </a:r>
                    </a:p>
                  </a:txBody>
                  <a:tcPr>
                    <a:solidFill>
                      <a:srgbClr val="A01C02"/>
                    </a:solidFill>
                  </a:tcPr>
                </a:tc>
              </a:tr>
              <a:tr h="370840">
                <a:tc>
                  <a:txBody>
                    <a:bodyPr/>
                    <a:lstStyle/>
                    <a:p>
                      <a:r>
                        <a:rPr sz="1100"/>
                        <a:t>Phase 1</a:t>
                      </a:r>
                    </a:p>
                  </a:txBody>
                  <a:tcPr>
                    <a:solidFill>
                      <a:srgbClr val="E7E6E6"/>
                    </a:solidFill>
                  </a:tcPr>
                </a:tc>
                <a:tc>
                  <a:txBody>
                    <a:bodyPr/>
                    <a:lstStyle/>
                    <a:p>
                      <a:r>
                        <a:rPr sz="1100"/>
                        <a:t>Assessment &amp; Design</a:t>
                      </a:r>
                    </a:p>
                  </a:txBody>
                  <a:tcPr>
                    <a:solidFill>
                      <a:srgbClr val="E7E6E6"/>
                    </a:solidFill>
                  </a:tcPr>
                </a:tc>
                <a:tc>
                  <a:txBody>
                    <a:bodyPr/>
                    <a:lstStyle/>
                    <a:p>
                      <a:r>
                        <a:rPr sz="1100"/>
                        <a:t>Weeks 1-3</a:t>
                      </a:r>
                    </a:p>
                  </a:txBody>
                  <a:tcPr>
                    <a:solidFill>
                      <a:srgbClr val="E7E6E6"/>
                    </a:solidFill>
                  </a:tcPr>
                </a:tc>
                <a:tc>
                  <a:txBody>
                    <a:bodyPr/>
                    <a:lstStyle/>
                    <a:p>
                      <a:r>
                        <a:rPr sz="1100"/>
                        <a:t>Environment analysis, AVD architecture, golden image strategy, security design</a:t>
                      </a:r>
                    </a:p>
                  </a:txBody>
                  <a:tcPr>
                    <a:solidFill>
                      <a:srgbClr val="E7E6E6"/>
                    </a:solidFill>
                  </a:tcPr>
                </a:tc>
              </a:tr>
              <a:tr h="370840">
                <a:tc>
                  <a:txBody>
                    <a:bodyPr/>
                    <a:lstStyle/>
                    <a:p>
                      <a:r>
                        <a:rPr sz="1100"/>
                        <a:t>Phase 2</a:t>
                      </a:r>
                    </a:p>
                  </a:txBody>
                  <a:tcPr>
                    <a:solidFill>
                      <a:srgbClr val="E7E6E6"/>
                    </a:solidFill>
                  </a:tcPr>
                </a:tc>
                <a:tc>
                  <a:txBody>
                    <a:bodyPr/>
                    <a:lstStyle/>
                    <a:p>
                      <a:r>
                        <a:rPr sz="1100"/>
                        <a:t>Infrastructure &amp; Golden Image</a:t>
                      </a:r>
                    </a:p>
                  </a:txBody>
                  <a:tcPr>
                    <a:solidFill>
                      <a:srgbClr val="E7E6E6"/>
                    </a:solidFill>
                  </a:tcPr>
                </a:tc>
                <a:tc>
                  <a:txBody>
                    <a:bodyPr/>
                    <a:lstStyle/>
                    <a:p>
                      <a:r>
                        <a:rPr sz="1100"/>
                        <a:t>Weeks 4-6</a:t>
                      </a:r>
                    </a:p>
                  </a:txBody>
                  <a:tcPr>
                    <a:solidFill>
                      <a:srgbClr val="E7E6E6"/>
                    </a:solidFill>
                  </a:tcPr>
                </a:tc>
                <a:tc>
                  <a:txBody>
                    <a:bodyPr/>
                    <a:lstStyle/>
                    <a:p>
                      <a:r>
                        <a:rPr sz="1100"/>
                        <a:t>Host pools configured, Azure Files deployed, golden image created, FSLogix ready</a:t>
                      </a:r>
                    </a:p>
                  </a:txBody>
                  <a:tcPr>
                    <a:solidFill>
                      <a:srgbClr val="E7E6E6"/>
                    </a:solidFill>
                  </a:tcPr>
                </a:tc>
              </a:tr>
              <a:tr h="370840">
                <a:tc>
                  <a:txBody>
                    <a:bodyPr/>
                    <a:lstStyle/>
                    <a:p>
                      <a:r>
                        <a:rPr sz="1100"/>
                        <a:t>Phase 3</a:t>
                      </a:r>
                    </a:p>
                  </a:txBody>
                  <a:tcPr>
                    <a:solidFill>
                      <a:srgbClr val="E7E6E6"/>
                    </a:solidFill>
                  </a:tcPr>
                </a:tc>
                <a:tc>
                  <a:txBody>
                    <a:bodyPr/>
                    <a:lstStyle/>
                    <a:p>
                      <a:r>
                        <a:rPr sz="1100"/>
                        <a:t>Deployment &amp; Validation</a:t>
                      </a:r>
                    </a:p>
                  </a:txBody>
                  <a:tcPr>
                    <a:solidFill>
                      <a:srgbClr val="E7E6E6"/>
                    </a:solidFill>
                  </a:tcPr>
                </a:tc>
                <a:tc>
                  <a:txBody>
                    <a:bodyPr/>
                    <a:lstStyle/>
                    <a:p>
                      <a:r>
                        <a:rPr sz="1100"/>
                        <a:t>Weeks 7-10</a:t>
                      </a:r>
                    </a:p>
                  </a:txBody>
                  <a:tcPr>
                    <a:solidFill>
                      <a:srgbClr val="E7E6E6"/>
                    </a:solidFill>
                  </a:tcPr>
                </a:tc>
                <a:tc>
                  <a:txBody>
                    <a:bodyPr/>
                    <a:lstStyle/>
                    <a:p>
                      <a:r>
                        <a:rPr sz="1100"/>
                        <a:t>Pilot users onboarded, performance validated, training complete, support ready</a:t>
                      </a:r>
                    </a:p>
                  </a:txBody>
                  <a:tcPr>
                    <a:solidFill>
                      <a:srgbClr val="E7E6E6"/>
                    </a:solidFill>
                  </a:tcPr>
                </a:tc>
              </a:tr>
            </a:tbl>
          </a:graphicData>
        </a:graphic>
      </p:graphicFrame>
      <p:pic>
        <p:nvPicPr>
          <p:cNvPr id="5" name="Picture 4" descr="eo-framework-logo-real.png"/>
          <p:cNvPicPr>
            <a:picLocks noChangeAspect="1"/>
          </p:cNvPicPr>
          <p:nvPr/>
        </p:nvPicPr>
        <p:blipFill>
          <a:blip r:embed="rId3"/>
          <a:stretch>
            <a:fillRect/>
          </a:stretch>
        </p:blipFill>
        <p:spPr>
          <a:xfrm>
            <a:off x="6684264" y="4535424"/>
            <a:ext cx="2139696" cy="5303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Success Stories</a:t>
            </a:r>
          </a:p>
        </p:txBody>
      </p:sp>
      <p:pic>
        <p:nvPicPr>
          <p:cNvPr id="3" name="Picture Placeholder 2" descr="consulting_company_logo.png"/>
          <p:cNvPicPr>
            <a:picLocks noGrp="1" noChangeAspect="1"/>
          </p:cNvPicPr>
          <p:nvPr>
            <p:ph type="pic" idx="13" sz="quarter"/>
          </p:nvPr>
        </p:nvPicPr>
        <p:blipFill>
          <a:blip r:embed="rId2"/>
          <a:srcRect t="6762" b="6762"/>
          <a:stretch>
            <a:fillRect/>
          </a:stretch>
        </p:blipFill>
        <p:spPr/>
      </p:pic>
      <p:sp>
        <p:nvSpPr>
          <p:cNvPr id="4" name="Text Placeholder 3"/>
          <p:cNvSpPr>
            <a:spLocks noGrp="1"/>
          </p:cNvSpPr>
          <p:nvPr>
            <p:ph type="body" idx="14" sz="quarter"/>
          </p:nvPr>
        </p:nvSpPr>
        <p:spPr/>
        <p:txBody>
          <a:bodyPr/>
          <a:lstStyle/>
          <a:p>
            <a:pPr/>
            <a:r>
              <a:rPr b="1"/>
              <a:t>Client Success: Global Financial Services Organization</a:t>
            </a:r>
          </a:p>
          <a:p>
            <a:pPr lvl="1"/>
            <a:r>
              <a:rPr b="1"/>
              <a:t>Client:</a:t>
            </a:r>
            <a:r>
              <a:t> Fortune 500 Financial Services company with 8,000+ employees in 45 countries</a:t>
            </a:r>
          </a:p>
          <a:p>
            <a:pPr lvl="1"/>
            <a:r>
              <a:rPr b="1"/>
              <a:t>Challenge:</a:t>
            </a:r>
            <a:r>
              <a:t> Legacy desktop infrastructure unable to support remote work; expensive VPN with poor user experience; security gaps with unsecured bring-your-own-device access; IT helpdesk overwhelmed with remote access issues</a:t>
            </a:r>
          </a:p>
          <a:p>
            <a:pPr lvl="1"/>
            <a:r>
              <a:rPr b="1"/>
              <a:t>Solution:</a:t>
            </a:r>
            <a:r>
              <a:t> Deployed Azure Virtual Desktop with pooled desktops for 70% of workforce and personal desktops for executives; integrated FSLogix for seamless profile access across any device; implemented conditional access policies; centralized monitoring and management</a:t>
            </a:r>
          </a:p>
          <a:p>
            <a:pPr lvl="1"/>
            <a:r>
              <a:rPr b="1"/>
              <a:t>Results:</a:t>
            </a:r>
            <a:r>
              <a:t> 100% remote work capability within 10 weeks, 60% reduction in IT helpdesk tickets, 85% user satisfaction (NPS 72), 45% reduction in VPN-related security incidents, achieved SOC2 compliance with unified audit logging</a:t>
            </a:r>
          </a:p>
          <a:p>
            <a:pPr lvl="1"/>
            <a:r>
              <a:rPr b="1"/>
              <a:t>Testimonial:</a:t>
            </a:r>
            <a:r>
              <a:t> "Azure Virtual Desktop enabled us to embrace distributed work while actually improving security and reducing costs. Our users love the seamless experience, and our IT team finally has visibility and control. This was a game-changer for our business continuity." — </a:t>
            </a:r>
            <a:r>
              <a:rPr b="1"/>
              <a:t>Patricia Wong, Chief Information Officer</a:t>
            </a:r>
            <a:r>
              <a:t>, Global Financial Services</a:t>
            </a:r>
          </a:p>
        </p:txBody>
      </p:sp>
      <p:pic>
        <p:nvPicPr>
          <p:cNvPr id="5" name="Picture 4" descr="eo-framework-logo-real.png"/>
          <p:cNvPicPr>
            <a:picLocks noChangeAspect="1"/>
          </p:cNvPicPr>
          <p:nvPr/>
        </p:nvPicPr>
        <p:blipFill>
          <a:blip r:embed="rId3"/>
          <a:stretch>
            <a:fillRect/>
          </a:stretch>
        </p:blipFill>
        <p:spPr>
          <a:xfrm>
            <a:off x="6684264" y="4535424"/>
            <a:ext cx="2139696" cy="5303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Our Partnership Advantage</a:t>
            </a:r>
          </a:p>
        </p:txBody>
      </p:sp>
      <p:pic>
        <p:nvPicPr>
          <p:cNvPr id="3" name="Picture Placeholder 2" descr="consulting_company_logo.png"/>
          <p:cNvPicPr>
            <a:picLocks noGrp="1" noChangeAspect="1"/>
          </p:cNvPicPr>
          <p:nvPr>
            <p:ph type="pic" idx="14" sz="quarter"/>
          </p:nvPr>
        </p:nvPicPr>
        <p:blipFill>
          <a:blip r:embed="rId2"/>
          <a:srcRect t="6314" b="6314"/>
          <a:stretch>
            <a:fillRect/>
          </a:stretch>
        </p:blipFill>
        <p:spPr/>
      </p:pic>
      <p:sp>
        <p:nvSpPr>
          <p:cNvPr id="4" name="Text Placeholder 3"/>
          <p:cNvSpPr>
            <a:spLocks noGrp="1"/>
          </p:cNvSpPr>
          <p:nvPr>
            <p:ph type="body" idx="16" sz="quarter"/>
          </p:nvPr>
        </p:nvSpPr>
        <p:spPr/>
        <p:txBody>
          <a:bodyPr/>
          <a:lstStyle/>
          <a:p>
            <a:pPr/>
            <a:r>
              <a:rPr b="1"/>
              <a:t>What We Bring</a:t>
            </a:r>
          </a:p>
          <a:p>
            <a:pPr lvl="1"/>
            <a:r>
              <a:t>12+ years delivering virtual desktop and workspace solutions</a:t>
            </a:r>
          </a:p>
          <a:p>
            <a:pPr lvl="1"/>
            <a:r>
              <a:t>150+ successful Azure Virtual Desktop deployments</a:t>
            </a:r>
          </a:p>
          <a:p>
            <a:pPr lvl="1"/>
            <a:r>
              <a:t>Certified Microsoft Azure Solutions Architects</a:t>
            </a:r>
          </a:p>
          <a:p>
            <a:pPr lvl="1"/>
            <a:r>
              <a:t>Deep expertise in FSLogix, golden image optimization, and performance tuning</a:t>
            </a:r>
          </a:p>
          <a:p>
            <a:pPr lvl="1"/>
            <a:r>
              <a:t>24/7 support with guaranteed response times</a:t>
            </a:r>
          </a:p>
          <a:p>
            <a:pPr lvl="1"/>
            <a:r>
              <a:t>Pre-built AVD accelerators for faster deployment</a:t>
            </a:r>
          </a:p>
        </p:txBody>
      </p:sp>
      <p:sp>
        <p:nvSpPr>
          <p:cNvPr id="5" name="Text Placeholder 4"/>
          <p:cNvSpPr>
            <a:spLocks noGrp="1"/>
          </p:cNvSpPr>
          <p:nvPr>
            <p:ph type="body" idx="17" sz="quarter"/>
          </p:nvPr>
        </p:nvSpPr>
        <p:spPr/>
        <p:txBody>
          <a:bodyPr/>
          <a:lstStyle/>
          <a:p>
            <a:pPr/>
            <a:r>
              <a:rPr b="1"/>
              <a:t>Value to You</a:t>
            </a:r>
          </a:p>
          <a:p>
            <a:pPr lvl="1"/>
            <a:r>
              <a:t>Proven methodology reduces implementation risk by 70%</a:t>
            </a:r>
          </a:p>
          <a:p>
            <a:pPr lvl="1"/>
            <a:r>
              <a:t>Pre-optimized golden images for common applications</a:t>
            </a:r>
          </a:p>
          <a:p>
            <a:pPr lvl="1"/>
            <a:r>
              <a:t>Network design expertise ensures optimal user experience</a:t>
            </a:r>
          </a:p>
          <a:p>
            <a:pPr lvl="1"/>
            <a:r>
              <a:t>Training ensures your team becomes self-sufficient</a:t>
            </a:r>
          </a:p>
          <a:p>
            <a:pPr lvl="1"/>
            <a:r>
              <a:t>Ongoing optimization recommendations for cost and performance</a:t>
            </a:r>
          </a:p>
          <a:p>
            <a:pPr lvl="1"/>
            <a:r>
              <a:t>Access to Microsoft AVD partner ecosystem and best practices</a:t>
            </a:r>
          </a:p>
        </p:txBody>
      </p:sp>
      <p:pic>
        <p:nvPicPr>
          <p:cNvPr id="6" name="Picture 5" descr="eo-framework-logo-real.png"/>
          <p:cNvPicPr>
            <a:picLocks noChangeAspect="1"/>
          </p:cNvPicPr>
          <p:nvPr/>
        </p:nvPicPr>
        <p:blipFill>
          <a:blip r:embed="rId3"/>
          <a:stretch>
            <a:fillRect/>
          </a:stretch>
        </p:blipFill>
        <p:spPr>
          <a:xfrm>
            <a:off x="6684264" y="4535424"/>
            <a:ext cx="2139696" cy="5303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rPr b="1"/>
              <a:t>Investment Summary</a:t>
            </a:r>
          </a:p>
        </p:txBody>
      </p:sp>
      <p:pic>
        <p:nvPicPr>
          <p:cNvPr id="3" name="Picture Placeholder 2" descr="consulting_company_logo.png"/>
          <p:cNvPicPr>
            <a:picLocks noGrp="1" noChangeAspect="1"/>
          </p:cNvPicPr>
          <p:nvPr>
            <p:ph type="pic" idx="13" sz="quarter"/>
          </p:nvPr>
        </p:nvPicPr>
        <p:blipFill>
          <a:blip r:embed="rId2"/>
          <a:srcRect t="6404" b="6404"/>
          <a:stretch>
            <a:fillRect/>
          </a:stretch>
        </p:blipFill>
        <p:spPr/>
      </p:pic>
      <p:graphicFrame>
        <p:nvGraphicFramePr>
          <p:cNvPr id="4" name="Table Placeholder 3"/>
          <p:cNvGraphicFramePr>
            <a:graphicFrameLocks noGrp="1"/>
          </p:cNvGraphicFramePr>
          <p:nvPr>
            <p:ph type="tbl" idx="14" sz="quarter"/>
          </p:nvPr>
        </p:nvGraphicFramePr>
        <p:xfrm>
          <a:off x="256855" y="677011"/>
          <a:ext cx="8710929" cy="2225040"/>
        </p:xfrm>
        <a:graphic>
          <a:graphicData uri="http://schemas.openxmlformats.org/drawingml/2006/table">
            <a:tbl>
              <a:tblPr firstRow="1" bandRow="1">
                <a:tableStyleId>{5C22544A-7EE6-4342-B048-85BDC9FD1C3A}</a:tableStyleId>
              </a:tblPr>
              <a:tblGrid>
                <a:gridCol w="1742186"/>
                <a:gridCol w="1045311"/>
                <a:gridCol w="2003514"/>
                <a:gridCol w="1132421"/>
                <a:gridCol w="871093"/>
                <a:gridCol w="871093"/>
                <a:gridCol w="1045311"/>
              </a:tblGrid>
              <a:tr h="370840">
                <a:tc>
                  <a:txBody>
                    <a:bodyPr/>
                    <a:lstStyle/>
                    <a:p>
                      <a:r>
                        <a:rPr sz="1400">
                          <a:solidFill>
                            <a:srgbClr val="FFFFFF"/>
                          </a:solidFill>
                        </a:rPr>
                        <a:t>Cost Category</a:t>
                      </a:r>
                    </a:p>
                  </a:txBody>
                  <a:tcPr>
                    <a:solidFill>
                      <a:srgbClr val="A01C02"/>
                    </a:solidFill>
                  </a:tcPr>
                </a:tc>
                <a:tc>
                  <a:txBody>
                    <a:bodyPr/>
                    <a:lstStyle/>
                    <a:p>
                      <a:r>
                        <a:rPr sz="1400">
                          <a:solidFill>
                            <a:srgbClr val="FFFFFF"/>
                          </a:solidFill>
                        </a:rPr>
                        <a:t>Year 1 List</a:t>
                      </a:r>
                    </a:p>
                  </a:txBody>
                  <a:tcPr>
                    <a:solidFill>
                      <a:srgbClr val="A01C02"/>
                    </a:solidFill>
                  </a:tcPr>
                </a:tc>
                <a:tc>
                  <a:txBody>
                    <a:bodyPr/>
                    <a:lstStyle/>
                    <a:p>
                      <a:r>
                        <a:rPr sz="1400">
                          <a:solidFill>
                            <a:srgbClr val="FFFFFF"/>
                          </a:solidFill>
                        </a:rPr>
                        <a:t>Provider/Partner Credits</a:t>
                      </a:r>
                    </a:p>
                  </a:txBody>
                  <a:tcPr>
                    <a:solidFill>
                      <a:srgbClr val="A01C02"/>
                    </a:solidFill>
                  </a:tcPr>
                </a:tc>
                <a:tc>
                  <a:txBody>
                    <a:bodyPr/>
                    <a:lstStyle/>
                    <a:p>
                      <a:r>
                        <a:rPr sz="1400">
                          <a:solidFill>
                            <a:srgbClr val="FFFFFF"/>
                          </a:solidFill>
                        </a:rPr>
                        <a:t>Year 1 Net</a:t>
                      </a:r>
                    </a:p>
                  </a:txBody>
                  <a:tcPr>
                    <a:solidFill>
                      <a:srgbClr val="A01C02"/>
                    </a:solidFill>
                  </a:tcPr>
                </a:tc>
                <a:tc>
                  <a:txBody>
                    <a:bodyPr/>
                    <a:lstStyle/>
                    <a:p>
                      <a:r>
                        <a:rPr sz="1400">
                          <a:solidFill>
                            <a:srgbClr val="FFFFFF"/>
                          </a:solidFill>
                        </a:rPr>
                        <a:t>Year 2</a:t>
                      </a:r>
                    </a:p>
                  </a:txBody>
                  <a:tcPr>
                    <a:solidFill>
                      <a:srgbClr val="A01C02"/>
                    </a:solidFill>
                  </a:tcPr>
                </a:tc>
                <a:tc>
                  <a:txBody>
                    <a:bodyPr/>
                    <a:lstStyle/>
                    <a:p>
                      <a:r>
                        <a:rPr sz="1400">
                          <a:solidFill>
                            <a:srgbClr val="FFFFFF"/>
                          </a:solidFill>
                        </a:rPr>
                        <a:t>Year 3</a:t>
                      </a:r>
                    </a:p>
                  </a:txBody>
                  <a:tcPr>
                    <a:solidFill>
                      <a:srgbClr val="A01C02"/>
                    </a:solidFill>
                  </a:tcPr>
                </a:tc>
                <a:tc>
                  <a:txBody>
                    <a:bodyPr/>
                    <a:lstStyle/>
                    <a:p>
                      <a:r>
                        <a:rPr sz="1400">
                          <a:solidFill>
                            <a:srgbClr val="FFFFFF"/>
                          </a:solidFill>
                        </a:rPr>
                        <a:t>3-Year Total</a:t>
                      </a:r>
                    </a:p>
                  </a:txBody>
                  <a:tcPr>
                    <a:solidFill>
                      <a:srgbClr val="A01C02"/>
                    </a:solidFill>
                  </a:tcPr>
                </a:tc>
              </a:tr>
              <a:tr h="370840">
                <a:tc>
                  <a:txBody>
                    <a:bodyPr/>
                    <a:lstStyle/>
                    <a:p>
                      <a:r>
                        <a:rPr sz="1100"/>
                        <a:t>Cloud Infrastructure</a:t>
                      </a:r>
                    </a:p>
                  </a:txBody>
                  <a:tcPr>
                    <a:solidFill>
                      <a:srgbClr val="E7E6E6"/>
                    </a:solidFill>
                  </a:tcPr>
                </a:tc>
                <a:tc>
                  <a:txBody>
                    <a:bodyPr/>
                    <a:lstStyle/>
                    <a:p>
                      <a:r>
                        <a:rPr sz="1100"/>
                        <a:t>$28,000</a:t>
                      </a:r>
                    </a:p>
                  </a:txBody>
                  <a:tcPr>
                    <a:solidFill>
                      <a:srgbClr val="E7E6E6"/>
                    </a:solidFill>
                  </a:tcPr>
                </a:tc>
                <a:tc>
                  <a:txBody>
                    <a:bodyPr/>
                    <a:lstStyle/>
                    <a:p>
                      <a:r>
                        <a:rPr sz="1100"/>
                        <a:t>($4,000)</a:t>
                      </a:r>
                    </a:p>
                  </a:txBody>
                  <a:tcPr>
                    <a:solidFill>
                      <a:srgbClr val="E7E6E6"/>
                    </a:solidFill>
                  </a:tcPr>
                </a:tc>
                <a:tc>
                  <a:txBody>
                    <a:bodyPr/>
                    <a:lstStyle/>
                    <a:p>
                      <a:r>
                        <a:rPr sz="1100"/>
                        <a:t>$24,000</a:t>
                      </a:r>
                    </a:p>
                  </a:txBody>
                  <a:tcPr>
                    <a:solidFill>
                      <a:srgbClr val="E7E6E6"/>
                    </a:solidFill>
                  </a:tcPr>
                </a:tc>
                <a:tc>
                  <a:txBody>
                    <a:bodyPr/>
                    <a:lstStyle/>
                    <a:p>
                      <a:r>
                        <a:rPr sz="1100"/>
                        <a:t>$28,000</a:t>
                      </a:r>
                    </a:p>
                  </a:txBody>
                  <a:tcPr>
                    <a:solidFill>
                      <a:srgbClr val="E7E6E6"/>
                    </a:solidFill>
                  </a:tcPr>
                </a:tc>
                <a:tc>
                  <a:txBody>
                    <a:bodyPr/>
                    <a:lstStyle/>
                    <a:p>
                      <a:r>
                        <a:rPr sz="1100"/>
                        <a:t>$28,000</a:t>
                      </a:r>
                    </a:p>
                  </a:txBody>
                  <a:tcPr>
                    <a:solidFill>
                      <a:srgbClr val="E7E6E6"/>
                    </a:solidFill>
                  </a:tcPr>
                </a:tc>
                <a:tc>
                  <a:txBody>
                    <a:bodyPr/>
                    <a:lstStyle/>
                    <a:p>
                      <a:r>
                        <a:rPr sz="1100"/>
                        <a:t>$80,000</a:t>
                      </a:r>
                    </a:p>
                  </a:txBody>
                  <a:tcPr>
                    <a:solidFill>
                      <a:srgbClr val="E7E6E6"/>
                    </a:solidFill>
                  </a:tcPr>
                </a:tc>
              </a:tr>
              <a:tr h="370840">
                <a:tc>
                  <a:txBody>
                    <a:bodyPr/>
                    <a:lstStyle/>
                    <a:p>
                      <a:r>
                        <a:rPr sz="1100"/>
                        <a:t>Professional Services</a:t>
                      </a:r>
                    </a:p>
                  </a:txBody>
                  <a:tcPr>
                    <a:solidFill>
                      <a:srgbClr val="E7E6E6"/>
                    </a:solidFill>
                  </a:tcPr>
                </a:tc>
                <a:tc>
                  <a:txBody>
                    <a:bodyPr/>
                    <a:lstStyle/>
                    <a:p>
                      <a:r>
                        <a:rPr sz="1100"/>
                        <a:t>$55,000</a:t>
                      </a:r>
                    </a:p>
                  </a:txBody>
                  <a:tcPr>
                    <a:solidFill>
                      <a:srgbClr val="E7E6E6"/>
                    </a:solidFill>
                  </a:tcPr>
                </a:tc>
                <a:tc>
                  <a:txBody>
                    <a:bodyPr/>
                    <a:lstStyle/>
                    <a:p>
                      <a:r>
                        <a:rPr sz="1100"/>
                        <a:t>($2,000)</a:t>
                      </a:r>
                    </a:p>
                  </a:txBody>
                  <a:tcPr>
                    <a:solidFill>
                      <a:srgbClr val="E7E6E6"/>
                    </a:solidFill>
                  </a:tcPr>
                </a:tc>
                <a:tc>
                  <a:txBody>
                    <a:bodyPr/>
                    <a:lstStyle/>
                    <a:p>
                      <a:r>
                        <a:rPr sz="1100"/>
                        <a:t>$53,000</a:t>
                      </a:r>
                    </a:p>
                  </a:txBody>
                  <a:tcPr>
                    <a:solidFill>
                      <a:srgbClr val="E7E6E6"/>
                    </a:solidFill>
                  </a:tcPr>
                </a:tc>
                <a:tc>
                  <a:txBody>
                    <a:bodyPr/>
                    <a:lstStyle/>
                    <a:p>
                      <a:r>
                        <a:rPr sz="1100"/>
                        <a:t>$0</a:t>
                      </a:r>
                    </a:p>
                  </a:txBody>
                  <a:tcPr>
                    <a:solidFill>
                      <a:srgbClr val="E7E6E6"/>
                    </a:solidFill>
                  </a:tcPr>
                </a:tc>
                <a:tc>
                  <a:txBody>
                    <a:bodyPr/>
                    <a:lstStyle/>
                    <a:p>
                      <a:r>
                        <a:rPr sz="1100"/>
                        <a:t>$0</a:t>
                      </a:r>
                    </a:p>
                  </a:txBody>
                  <a:tcPr>
                    <a:solidFill>
                      <a:srgbClr val="E7E6E6"/>
                    </a:solidFill>
                  </a:tcPr>
                </a:tc>
                <a:tc>
                  <a:txBody>
                    <a:bodyPr/>
                    <a:lstStyle/>
                    <a:p>
                      <a:r>
                        <a:rPr sz="1100"/>
                        <a:t>$53,000</a:t>
                      </a:r>
                    </a:p>
                  </a:txBody>
                  <a:tcPr>
                    <a:solidFill>
                      <a:srgbClr val="E7E6E6"/>
                    </a:solidFill>
                  </a:tcPr>
                </a:tc>
              </a:tr>
              <a:tr h="370840">
                <a:tc>
                  <a:txBody>
                    <a:bodyPr/>
                    <a:lstStyle/>
                    <a:p>
                      <a:r>
                        <a:rPr sz="1100"/>
                        <a:t>Software Licenses &amp; Subscriptions</a:t>
                      </a:r>
                    </a:p>
                  </a:txBody>
                  <a:tcPr>
                    <a:solidFill>
                      <a:srgbClr val="E7E6E6"/>
                    </a:solidFill>
                  </a:tcPr>
                </a:tc>
                <a:tc>
                  <a:txBody>
                    <a:bodyPr/>
                    <a:lstStyle/>
                    <a:p>
                      <a:r>
                        <a:rPr sz="1100"/>
                        <a:t>$12,000</a:t>
                      </a:r>
                    </a:p>
                  </a:txBody>
                  <a:tcPr>
                    <a:solidFill>
                      <a:srgbClr val="E7E6E6"/>
                    </a:solidFill>
                  </a:tcPr>
                </a:tc>
                <a:tc>
                  <a:txBody>
                    <a:bodyPr/>
                    <a:lstStyle/>
                    <a:p>
                      <a:r>
                        <a:rPr sz="1100"/>
                        <a:t>$0</a:t>
                      </a:r>
                    </a:p>
                  </a:txBody>
                  <a:tcPr>
                    <a:solidFill>
                      <a:srgbClr val="E7E6E6"/>
                    </a:solidFill>
                  </a:tcPr>
                </a:tc>
                <a:tc>
                  <a:txBody>
                    <a:bodyPr/>
                    <a:lstStyle/>
                    <a:p>
                      <a:r>
                        <a:rPr sz="1100"/>
                        <a:t>$12,000</a:t>
                      </a:r>
                    </a:p>
                  </a:txBody>
                  <a:tcPr>
                    <a:solidFill>
                      <a:srgbClr val="E7E6E6"/>
                    </a:solidFill>
                  </a:tcPr>
                </a:tc>
                <a:tc>
                  <a:txBody>
                    <a:bodyPr/>
                    <a:lstStyle/>
                    <a:p>
                      <a:r>
                        <a:rPr sz="1100"/>
                        <a:t>$12,000</a:t>
                      </a:r>
                    </a:p>
                  </a:txBody>
                  <a:tcPr>
                    <a:solidFill>
                      <a:srgbClr val="E7E6E6"/>
                    </a:solidFill>
                  </a:tcPr>
                </a:tc>
                <a:tc>
                  <a:txBody>
                    <a:bodyPr/>
                    <a:lstStyle/>
                    <a:p>
                      <a:r>
                        <a:rPr sz="1100"/>
                        <a:t>$12,000</a:t>
                      </a:r>
                    </a:p>
                  </a:txBody>
                  <a:tcPr>
                    <a:solidFill>
                      <a:srgbClr val="E7E6E6"/>
                    </a:solidFill>
                  </a:tcPr>
                </a:tc>
                <a:tc>
                  <a:txBody>
                    <a:bodyPr/>
                    <a:lstStyle/>
                    <a:p>
                      <a:r>
                        <a:rPr sz="1100"/>
                        <a:t>$36,000</a:t>
                      </a:r>
                    </a:p>
                  </a:txBody>
                  <a:tcPr>
                    <a:solidFill>
                      <a:srgbClr val="E7E6E6"/>
                    </a:solidFill>
                  </a:tcPr>
                </a:tc>
              </a:tr>
              <a:tr h="370840">
                <a:tc>
                  <a:txBody>
                    <a:bodyPr/>
                    <a:lstStyle/>
                    <a:p>
                      <a:r>
                        <a:rPr sz="1100"/>
                        <a:t>Support &amp; Maintenance</a:t>
                      </a:r>
                    </a:p>
                  </a:txBody>
                  <a:tcPr>
                    <a:solidFill>
                      <a:srgbClr val="E7E6E6"/>
                    </a:solidFill>
                  </a:tcPr>
                </a:tc>
                <a:tc>
                  <a:txBody>
                    <a:bodyPr/>
                    <a:lstStyle/>
                    <a:p>
                      <a:r>
                        <a:rPr sz="1100"/>
                        <a:t>$3,500</a:t>
                      </a:r>
                    </a:p>
                  </a:txBody>
                  <a:tcPr>
                    <a:solidFill>
                      <a:srgbClr val="E7E6E6"/>
                    </a:solidFill>
                  </a:tcPr>
                </a:tc>
                <a:tc>
                  <a:txBody>
                    <a:bodyPr/>
                    <a:lstStyle/>
                    <a:p>
                      <a:r>
                        <a:rPr sz="1100"/>
                        <a:t>$0</a:t>
                      </a:r>
                    </a:p>
                  </a:txBody>
                  <a:tcPr>
                    <a:solidFill>
                      <a:srgbClr val="E7E6E6"/>
                    </a:solidFill>
                  </a:tcPr>
                </a:tc>
                <a:tc>
                  <a:txBody>
                    <a:bodyPr/>
                    <a:lstStyle/>
                    <a:p>
                      <a:r>
                        <a:rPr sz="1100"/>
                        <a:t>$3,500</a:t>
                      </a:r>
                    </a:p>
                  </a:txBody>
                  <a:tcPr>
                    <a:solidFill>
                      <a:srgbClr val="E7E6E6"/>
                    </a:solidFill>
                  </a:tcPr>
                </a:tc>
                <a:tc>
                  <a:txBody>
                    <a:bodyPr/>
                    <a:lstStyle/>
                    <a:p>
                      <a:r>
                        <a:rPr sz="1100"/>
                        <a:t>$3,500</a:t>
                      </a:r>
                    </a:p>
                  </a:txBody>
                  <a:tcPr>
                    <a:solidFill>
                      <a:srgbClr val="E7E6E6"/>
                    </a:solidFill>
                  </a:tcPr>
                </a:tc>
                <a:tc>
                  <a:txBody>
                    <a:bodyPr/>
                    <a:lstStyle/>
                    <a:p>
                      <a:r>
                        <a:rPr sz="1100"/>
                        <a:t>$3,500</a:t>
                      </a:r>
                    </a:p>
                  </a:txBody>
                  <a:tcPr>
                    <a:solidFill>
                      <a:srgbClr val="E7E6E6"/>
                    </a:solidFill>
                  </a:tcPr>
                </a:tc>
                <a:tc>
                  <a:txBody>
                    <a:bodyPr/>
                    <a:lstStyle/>
                    <a:p>
                      <a:r>
                        <a:rPr sz="1100"/>
                        <a:t>$10,500</a:t>
                      </a:r>
                    </a:p>
                  </a:txBody>
                  <a:tcPr>
                    <a:solidFill>
                      <a:srgbClr val="E7E6E6"/>
                    </a:solidFill>
                  </a:tcPr>
                </a:tc>
              </a:tr>
              <a:tr h="370840">
                <a:tc>
                  <a:txBody>
                    <a:bodyPr/>
                    <a:lstStyle/>
                    <a:p>
                      <a:r>
                        <a:rPr b="1" sz="1100"/>
                        <a:t>TOTAL INVESTMENT</a:t>
                      </a:r>
                    </a:p>
                  </a:txBody>
                  <a:tcPr>
                    <a:solidFill>
                      <a:srgbClr val="E7E6E6"/>
                    </a:solidFill>
                  </a:tcPr>
                </a:tc>
                <a:tc>
                  <a:txBody>
                    <a:bodyPr/>
                    <a:lstStyle/>
                    <a:p>
                      <a:r>
                        <a:rPr b="1" sz="1100"/>
                        <a:t>$98,500</a:t>
                      </a:r>
                    </a:p>
                  </a:txBody>
                  <a:tcPr>
                    <a:solidFill>
                      <a:srgbClr val="E7E6E6"/>
                    </a:solidFill>
                  </a:tcPr>
                </a:tc>
                <a:tc>
                  <a:txBody>
                    <a:bodyPr/>
                    <a:lstStyle/>
                    <a:p>
                      <a:r>
                        <a:rPr b="1" sz="1100"/>
                        <a:t>($6,000)</a:t>
                      </a:r>
                    </a:p>
                  </a:txBody>
                  <a:tcPr>
                    <a:solidFill>
                      <a:srgbClr val="E7E6E6"/>
                    </a:solidFill>
                  </a:tcPr>
                </a:tc>
                <a:tc>
                  <a:txBody>
                    <a:bodyPr/>
                    <a:lstStyle/>
                    <a:p>
                      <a:r>
                        <a:rPr b="1" sz="1100"/>
                        <a:t>$92,500</a:t>
                      </a:r>
                    </a:p>
                  </a:txBody>
                  <a:tcPr>
                    <a:solidFill>
                      <a:srgbClr val="E7E6E6"/>
                    </a:solidFill>
                  </a:tcPr>
                </a:tc>
                <a:tc>
                  <a:txBody>
                    <a:bodyPr/>
                    <a:lstStyle/>
                    <a:p>
                      <a:r>
                        <a:rPr b="1" sz="1100"/>
                        <a:t>$43,500</a:t>
                      </a:r>
                    </a:p>
                  </a:txBody>
                  <a:tcPr>
                    <a:solidFill>
                      <a:srgbClr val="E7E6E6"/>
                    </a:solidFill>
                  </a:tcPr>
                </a:tc>
                <a:tc>
                  <a:txBody>
                    <a:bodyPr/>
                    <a:lstStyle/>
                    <a:p>
                      <a:r>
                        <a:rPr b="1" sz="1100"/>
                        <a:t>$43,500</a:t>
                      </a:r>
                    </a:p>
                  </a:txBody>
                  <a:tcPr>
                    <a:solidFill>
                      <a:srgbClr val="E7E6E6"/>
                    </a:solidFill>
                  </a:tcPr>
                </a:tc>
                <a:tc>
                  <a:txBody>
                    <a:bodyPr/>
                    <a:lstStyle/>
                    <a:p>
                      <a:r>
                        <a:rPr b="1" sz="1100"/>
                        <a:t>$179,500</a:t>
                      </a:r>
                    </a:p>
                  </a:txBody>
                  <a:tcPr>
                    <a:solidFill>
                      <a:srgbClr val="E7E6E6"/>
                    </a:solidFill>
                  </a:tcPr>
                </a:tc>
              </a:tr>
            </a:tbl>
          </a:graphicData>
        </a:graphic>
      </p:graphicFrame>
      <p:pic>
        <p:nvPicPr>
          <p:cNvPr id="5" name="Picture 4" descr="eo-framework-logo-real.png"/>
          <p:cNvPicPr>
            <a:picLocks noChangeAspect="1"/>
          </p:cNvPicPr>
          <p:nvPr/>
        </p:nvPicPr>
        <p:blipFill>
          <a:blip r:embed="rId3"/>
          <a:stretch>
            <a:fillRect/>
          </a:stretch>
        </p:blipFill>
        <p:spPr>
          <a:xfrm>
            <a:off x="6684264" y="4535424"/>
            <a:ext cx="2139696" cy="5303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Next Steps</a:t>
            </a:r>
          </a:p>
        </p:txBody>
      </p:sp>
      <p:pic>
        <p:nvPicPr>
          <p:cNvPr id="3" name="Picture Placeholder 2" descr="consulting_company_logo.png"/>
          <p:cNvPicPr>
            <a:picLocks noGrp="1" noChangeAspect="1"/>
          </p:cNvPicPr>
          <p:nvPr>
            <p:ph type="pic" idx="13" sz="quarter"/>
          </p:nvPr>
        </p:nvPicPr>
        <p:blipFill>
          <a:blip r:embed="rId2"/>
          <a:srcRect t="6762" b="6762"/>
          <a:stretch>
            <a:fillRect/>
          </a:stretch>
        </p:blipFill>
        <p:spPr/>
      </p:pic>
      <p:sp>
        <p:nvSpPr>
          <p:cNvPr id="4" name="Text Placeholder 3"/>
          <p:cNvSpPr>
            <a:spLocks noGrp="1"/>
          </p:cNvSpPr>
          <p:nvPr>
            <p:ph type="body" idx="14" sz="quarter"/>
          </p:nvPr>
        </p:nvSpPr>
        <p:spPr/>
        <p:txBody>
          <a:bodyPr/>
          <a:lstStyle/>
          <a:p>
            <a:pPr/>
            <a:r>
              <a:rPr b="1"/>
              <a:t>Decision:</a:t>
            </a:r>
            <a:r>
              <a:t> Board approval for AVD initiative by [specific date]</a:t>
            </a:r>
          </a:p>
          <a:p>
            <a:pPr/>
            <a:r>
              <a:rPr b="1"/>
              <a:t>Kickoff:</a:t>
            </a:r>
            <a:r>
              <a:t> Project start date of [target start date]</a:t>
            </a:r>
          </a:p>
          <a:p>
            <a:pPr/>
            <a:r>
              <a:rPr b="1"/>
              <a:t>Team Formation:</a:t>
            </a:r>
            <a:r>
              <a:t> Designate IT lead, network architect, and user champions</a:t>
            </a:r>
          </a:p>
          <a:p>
            <a:pPr/>
            <a:r>
              <a:rPr b="1"/>
              <a:t>Week 1:</a:t>
            </a:r>
            <a:r>
              <a:t> Contract finalization and project initiation</a:t>
            </a:r>
          </a:p>
          <a:p>
            <a:pPr/>
            <a:r>
              <a:rPr b="1"/>
              <a:t>Week 2:</a:t>
            </a:r>
            <a:r>
              <a:t> Discovery sessions and requirements gathering</a:t>
            </a:r>
          </a:p>
          <a:p>
            <a:pPr/>
            <a:r>
              <a:rPr b="1"/>
              <a:t>Week 3:</a:t>
            </a:r>
            <a:r>
              <a:t> Architecture design and golden image planning</a:t>
            </a:r>
          </a:p>
          <a:p>
            <a:pPr/>
            <a:r>
              <a:rPr b="1"/>
              <a:t>Week 4:</a:t>
            </a:r>
            <a:r>
              <a:t> Environment setup and pilot user selection</a:t>
            </a:r>
          </a:p>
        </p:txBody>
      </p:sp>
      <p:pic>
        <p:nvPicPr>
          <p:cNvPr id="5" name="Picture 4" descr="eo-framework-logo-real.png"/>
          <p:cNvPicPr>
            <a:picLocks noChangeAspect="1"/>
          </p:cNvPicPr>
          <p:nvPr/>
        </p:nvPicPr>
        <p:blipFill>
          <a:blip r:embed="rId3"/>
          <a:stretch>
            <a:fillRect/>
          </a:stretch>
        </p:blipFill>
        <p:spPr>
          <a:xfrm>
            <a:off x="6684264" y="4535424"/>
            <a:ext cx="2139696" cy="5303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client_logo.png"/>
          <p:cNvPicPr>
            <a:picLocks noGrp="1" noChangeAspect="1"/>
          </p:cNvPicPr>
          <p:nvPr>
            <p:ph type="pic" idx="10" sz="quarter"/>
          </p:nvPr>
        </p:nvPicPr>
        <p:blipFill>
          <a:blip r:embed="rId2"/>
          <a:srcRect t="433" b="433"/>
          <a:stretch>
            <a:fillRect/>
          </a:stretch>
        </p:blipFill>
        <p:spPr/>
      </p:pic>
      <p:sp>
        <p:nvSpPr>
          <p:cNvPr id="3" name="Text Placeholder 2"/>
          <p:cNvSpPr>
            <a:spLocks noGrp="1"/>
          </p:cNvSpPr>
          <p:nvPr>
            <p:ph type="body" idx="12" sz="quarter"/>
          </p:nvPr>
        </p:nvSpPr>
        <p:spPr/>
        <p:txBody>
          <a:bodyPr/>
          <a:lstStyle/>
          <a:p>
            <a:r>
              <a:t>Thank You</a:t>
            </a:r>
          </a:p>
        </p:txBody>
      </p:sp>
      <p:pic>
        <p:nvPicPr>
          <p:cNvPr id="4" name="Picture Placeholder 3" descr="consulting_company_logo.png"/>
          <p:cNvPicPr>
            <a:picLocks noGrp="1" noChangeAspect="1"/>
          </p:cNvPicPr>
          <p:nvPr>
            <p:ph type="pic" idx="13" sz="quarter"/>
          </p:nvPr>
        </p:nvPicPr>
        <p:blipFill>
          <a:blip r:embed="rId3"/>
          <a:srcRect t="7166" b="7166"/>
          <a:stretch>
            <a:fillRect/>
          </a:stretch>
        </p:blipFill>
        <p:spPr/>
      </p:pic>
      <p:sp>
        <p:nvSpPr>
          <p:cNvPr id="5" name="Text Placeholder 4"/>
          <p:cNvSpPr>
            <a:spLocks noGrp="1"/>
          </p:cNvSpPr>
          <p:nvPr>
            <p:ph type="body" idx="14" sz="quarter"/>
          </p:nvPr>
        </p:nvSpPr>
        <p:spPr/>
        <p:txBody>
          <a:bodyPr/>
          <a:lstStyle/>
          <a:p/>
        </p:txBody>
      </p:sp>
      <p:sp>
        <p:nvSpPr>
          <p:cNvPr id="6" name="Text Placeholder 5"/>
          <p:cNvSpPr>
            <a:spLocks noGrp="1"/>
          </p:cNvSpPr>
          <p:nvPr>
            <p:ph type="body" idx="15" sz="quarter"/>
          </p:nvPr>
        </p:nvSpPr>
        <p:spPr/>
        <p:txBody>
          <a:bodyPr/>
          <a:lstStyle/>
          <a:p>
            <a:pPr/>
            <a:r>
              <a:rPr b="1"/>
              <a:t>Your Account Manager:</a:t>
            </a:r>
            <a:r>
              <a:t> [Name, Title] | [Email] | [Phone]</a:t>
            </a:r>
          </a:p>
        </p:txBody>
      </p:sp>
      <p:pic>
        <p:nvPicPr>
          <p:cNvPr id="7" name="Picture 6" descr="eo-framework-logo-real.png"/>
          <p:cNvPicPr>
            <a:picLocks noChangeAspect="1"/>
          </p:cNvPicPr>
          <p:nvPr/>
        </p:nvPicPr>
        <p:blipFill>
          <a:blip r:embed="rId4"/>
          <a:stretch>
            <a:fillRect/>
          </a:stretch>
        </p:blipFill>
        <p:spPr>
          <a:xfrm>
            <a:off x="6684264" y="4535424"/>
            <a:ext cx="2139696" cy="5303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427</TotalTime>
  <Words>39</Words>
  <Application>Microsoft Office PowerPoint</Application>
  <PresentationFormat>On-screen Show (16:9)</PresentationFormat>
  <Paragraphs>20</Paragraphs>
  <Slides>7</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EOFramework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EOFramework Template</dc:title>
  <dc:subject>PptxGenJS Presentation</dc:subject>
  <dc:creator>EOFramework</dc:creator>
  <cp:lastModifiedBy>Kishan Siram</cp:lastModifiedBy>
  <cp:revision>79</cp:revision>
  <dcterms:created xsi:type="dcterms:W3CDTF">2025-11-01T21:16:10Z</dcterms:created>
  <dcterms:modified xsi:type="dcterms:W3CDTF">2025-11-11T19:45:33Z</dcterms:modified>
</cp:coreProperties>
</file>