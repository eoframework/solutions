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1.bin" ContentType="image/unknown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7"/>
    <p:sldId id="257" r:id="rId8"/>
    <p:sldId id="258" r:id="rId6"/>
    <p:sldId id="259" r:id="rId5"/>
    <p:sldId id="260" r:id="rId4"/>
    <p:sldId id="261" r:id="rId3"/>
    <p:sldId id="262" r:id="rId2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01C0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35" d="100"/>
          <a:sy n="135" d="100"/>
        </p:scale>
        <p:origin x="380" y="3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7.xml"/><Relationship Id="rId3" Type="http://schemas.openxmlformats.org/officeDocument/2006/relationships/slide" Target="slides/slide6.xml"/><Relationship Id="rId4" Type="http://schemas.openxmlformats.org/officeDocument/2006/relationships/slide" Target="slides/slide5.xml"/><Relationship Id="rId5" Type="http://schemas.openxmlformats.org/officeDocument/2006/relationships/slide" Target="slides/slide4.xml"/><Relationship Id="rId6" Type="http://schemas.openxmlformats.org/officeDocument/2006/relationships/slide" Target="slides/slide3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01673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38528" y="1886679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Presentation Title</a:t>
            </a: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1" y="4536078"/>
            <a:ext cx="209989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59473" y="2437679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Subtitle Text</a:t>
            </a:r>
            <a:endParaRPr lang="en-US" sz="1800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39F5D3C5-0033-51A7-77BC-7E3DBBF84F2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734286" y="3631467"/>
            <a:ext cx="3605212" cy="33496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sz="1400" dirty="0">
                <a:solidFill>
                  <a:srgbClr val="6C757D"/>
                </a:solidFill>
                <a:latin typeface="Arial" pitchFamily="34" charset="0"/>
                <a:cs typeface="Arial" pitchFamily="34" charset="-120"/>
              </a:rPr>
              <a:t>Presenter Name | Date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114350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Singl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6863" y="0"/>
            <a:ext cx="8509304" cy="527008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Slide Title</a:t>
            </a:r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3" y="4536078"/>
            <a:ext cx="2143858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13" name="Image 0" descr="/home/claude/eo-framework-logo.png">
            <a:extLst>
              <a:ext uri="{FF2B5EF4-FFF2-40B4-BE49-F238E27FC236}">
                <a16:creationId xmlns:a16="http://schemas.microsoft.com/office/drawing/2014/main" id="{25116040-BB88-891D-9118-628A78E9987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BEE1A0-720D-187D-95F8-429F3DF3D64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96863" y="685601"/>
            <a:ext cx="8548687" cy="3811657"/>
          </a:xfrm>
          <a:prstGeom prst="rect">
            <a:avLst/>
          </a:prstGeom>
        </p:spPr>
        <p:txBody>
          <a:bodyPr/>
          <a:lstStyle>
            <a:lvl1pPr>
              <a:defRPr sz="2000" baseline="0">
                <a:solidFill>
                  <a:srgbClr val="C00000"/>
                </a:solidFill>
              </a:defRPr>
            </a:lvl1pPr>
            <a:lvl2pPr>
              <a:buFont typeface="Arial" panose="020B0604020202020204" pitchFamily="34" charset="0"/>
              <a:buChar char="•"/>
              <a:defRPr sz="1600"/>
            </a:lvl2pPr>
            <a:lvl3pPr>
              <a:defRPr sz="1400"/>
            </a:lvl3pPr>
            <a:lvl4pPr>
              <a:buFont typeface="Arial" panose="020B0604020202020204" pitchFamily="34" charset="0"/>
              <a:buChar char="•"/>
              <a:defRPr sz="1200"/>
            </a:lvl4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10462396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Bullet Poi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6863" y="0"/>
            <a:ext cx="8509304" cy="527008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Bullet Points</a:t>
            </a:r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3" y="4536078"/>
            <a:ext cx="2143858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13" name="Image 0" descr="/home/claude/eo-framework-logo.png">
            <a:extLst>
              <a:ext uri="{FF2B5EF4-FFF2-40B4-BE49-F238E27FC236}">
                <a16:creationId xmlns:a16="http://schemas.microsoft.com/office/drawing/2014/main" id="{25116040-BB88-891D-9118-628A78E9987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BEE1A0-720D-187D-95F8-429F3DF3D64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96863" y="685601"/>
            <a:ext cx="8548687" cy="3811657"/>
          </a:xfrm>
          <a:prstGeom prst="rect">
            <a:avLst/>
          </a:prstGeom>
        </p:spPr>
        <p:txBody>
          <a:bodyPr/>
          <a:lstStyle>
            <a:lvl1pPr>
              <a:defRPr sz="2000" baseline="0">
                <a:solidFill>
                  <a:schemeClr val="tx1"/>
                </a:solidFill>
              </a:defRPr>
            </a:lvl1pPr>
            <a:lvl2pPr>
              <a:buFont typeface="Arial" panose="020B0604020202020204" pitchFamily="34" charset="0"/>
              <a:buChar char="•"/>
              <a:defRPr sz="1600"/>
            </a:lvl2pPr>
            <a:lvl3pPr>
              <a:defRPr sz="1400"/>
            </a:lvl3pPr>
            <a:lvl4pPr>
              <a:buFont typeface="Arial" panose="020B0604020202020204" pitchFamily="34" charset="0"/>
              <a:buChar char="•"/>
              <a:defRPr sz="1200"/>
            </a:lvl4pPr>
          </a:lstStyle>
          <a:p>
            <a:pPr lvl="0"/>
            <a:r>
              <a:rPr lang="en-US" dirty="0"/>
              <a:t>Bullet Point 1</a:t>
            </a:r>
          </a:p>
          <a:p>
            <a:pPr lvl="0"/>
            <a:r>
              <a:rPr lang="en-US" dirty="0"/>
              <a:t>Bullet Point 2</a:t>
            </a:r>
          </a:p>
        </p:txBody>
      </p:sp>
    </p:spTree>
    <p:extLst>
      <p:ext uri="{BB962C8B-B14F-4D97-AF65-F5344CB8AC3E}">
        <p14:creationId xmlns:p14="http://schemas.microsoft.com/office/powerpoint/2010/main" val="10907377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530738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Two Column Layout</a:t>
            </a:r>
          </a:p>
        </p:txBody>
      </p:sp>
      <p:pic>
        <p:nvPicPr>
          <p:cNvPr id="8" name="Image 0" descr="/home/claude/eo-framework-logo.png">
            <a:extLst>
              <a:ext uri="{FF2B5EF4-FFF2-40B4-BE49-F238E27FC236}">
                <a16:creationId xmlns:a16="http://schemas.microsoft.com/office/drawing/2014/main" id="{4B7035C6-0EF1-6BD3-318E-553D1AAD670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2187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229E4A97-A874-D6CA-E54C-5584536CAA7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93675" y="678433"/>
            <a:ext cx="4462463" cy="3785515"/>
          </a:xfrm>
          <a:prstGeom prst="rect">
            <a:avLst/>
          </a:prstGeom>
        </p:spPr>
        <p:txBody>
          <a:bodyPr/>
          <a:lstStyle>
            <a:lvl1pPr>
              <a:defRPr sz="1800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Left Column Sub Title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EF61ADBD-DA9D-A8A7-8FC3-64E82242B98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840288" y="678433"/>
            <a:ext cx="4110037" cy="3785515"/>
          </a:xfrm>
          <a:prstGeom prst="rect">
            <a:avLst/>
          </a:prstGeom>
        </p:spPr>
        <p:txBody>
          <a:bodyPr/>
          <a:lstStyle>
            <a:lvl1pPr>
              <a:defRPr sz="1800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Right Column Sub title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2437309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6855" y="39642"/>
            <a:ext cx="8710933" cy="52701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2700" b="1" dirty="0">
                <a:solidFill>
                  <a:srgbClr val="2C3E50"/>
                </a:solidFill>
                <a:latin typeface="Arial" pitchFamily="34" charset="0"/>
                <a:cs typeface="Arial" pitchFamily="34" charset="-120"/>
              </a:rPr>
              <a:t>Table</a:t>
            </a:r>
            <a:endParaRPr lang="en-US" sz="3200" dirty="0"/>
          </a:p>
          <a:p>
            <a:pPr lvl="0"/>
            <a:endParaRPr lang="en-US" dirty="0"/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26273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13" name="Image 0" descr="/home/claude/eo-framework-logo.png">
            <a:extLst>
              <a:ext uri="{FF2B5EF4-FFF2-40B4-BE49-F238E27FC236}">
                <a16:creationId xmlns:a16="http://schemas.microsoft.com/office/drawing/2014/main" id="{25116040-BB88-891D-9118-628A78E9987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5" name="Table Placeholder 4">
            <a:extLst>
              <a:ext uri="{FF2B5EF4-FFF2-40B4-BE49-F238E27FC236}">
                <a16:creationId xmlns:a16="http://schemas.microsoft.com/office/drawing/2014/main" id="{D3D9E4F7-6B7D-2205-75B9-EE8C54E89A5F}"/>
              </a:ext>
            </a:extLst>
          </p:cNvPr>
          <p:cNvSpPr>
            <a:spLocks noGrp="1"/>
          </p:cNvSpPr>
          <p:nvPr>
            <p:ph type="tbl" sz="quarter" idx="14"/>
          </p:nvPr>
        </p:nvSpPr>
        <p:spPr>
          <a:xfrm>
            <a:off x="256855" y="677011"/>
            <a:ext cx="8710933" cy="378508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48346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Visual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7423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Visual Content</a:t>
            </a:r>
          </a:p>
        </p:txBody>
      </p:sp>
      <p:pic>
        <p:nvPicPr>
          <p:cNvPr id="8" name="Image 0" descr="/home/claude/eo-framework-logo.png">
            <a:extLst>
              <a:ext uri="{FF2B5EF4-FFF2-40B4-BE49-F238E27FC236}">
                <a16:creationId xmlns:a16="http://schemas.microsoft.com/office/drawing/2014/main" id="{4B7035C6-0EF1-6BD3-318E-553D1AAD670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30670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D4B682B8-2171-423F-A77B-10BADD07BC6C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662488" y="685799"/>
            <a:ext cx="4337050" cy="3815859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1EE9992-B6F6-08BF-BFB5-6AF6BEDE367A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92075" y="685800"/>
            <a:ext cx="4449763" cy="3815859"/>
          </a:xfrm>
          <a:prstGeom prst="rect">
            <a:avLst/>
          </a:prstGeom>
        </p:spPr>
        <p:txBody>
          <a:bodyPr/>
          <a:lstStyle>
            <a:lvl1pPr>
              <a:defRPr sz="1800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9440596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Data Visualiz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6407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Data Visualization</a:t>
            </a:r>
          </a:p>
        </p:txBody>
      </p:sp>
      <p:pic>
        <p:nvPicPr>
          <p:cNvPr id="8" name="Image 0" descr="/home/claude/eo-framework-logo.png">
            <a:extLst>
              <a:ext uri="{FF2B5EF4-FFF2-40B4-BE49-F238E27FC236}">
                <a16:creationId xmlns:a16="http://schemas.microsoft.com/office/drawing/2014/main" id="{4B7035C6-0EF1-6BD3-318E-553D1AAD670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0429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5" name="Chart Placeholder 4">
            <a:extLst>
              <a:ext uri="{FF2B5EF4-FFF2-40B4-BE49-F238E27FC236}">
                <a16:creationId xmlns:a16="http://schemas.microsoft.com/office/drawing/2014/main" id="{A686C49F-4337-BBE6-FF21-682B01E38601}"/>
              </a:ext>
            </a:extLst>
          </p:cNvPr>
          <p:cNvSpPr>
            <a:spLocks noGrp="1"/>
          </p:cNvSpPr>
          <p:nvPr>
            <p:ph type="chart" sz="quarter" idx="15"/>
          </p:nvPr>
        </p:nvSpPr>
        <p:spPr>
          <a:xfrm>
            <a:off x="4572000" y="685597"/>
            <a:ext cx="4325938" cy="3778347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0B730E7-C68E-A3E8-1745-8AF89C786D5F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136525" y="678433"/>
            <a:ext cx="4237038" cy="3785513"/>
          </a:xfrm>
          <a:prstGeom prst="rect">
            <a:avLst/>
          </a:prstGeom>
        </p:spPr>
        <p:txBody>
          <a:bodyPr/>
          <a:lstStyle>
            <a:lvl1pPr>
              <a:defRPr sz="1800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47354944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hank Yo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36356" y="2247927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</a:t>
            </a:r>
          </a:p>
          <a:p>
            <a:pPr marL="0" indent="0" algn="ctr">
              <a:lnSpc>
                <a:spcPts val="3600"/>
              </a:lnSpc>
              <a:buNone/>
            </a:pP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6411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24304" y="1874962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Questions?</a:t>
            </a:r>
            <a:endParaRPr lang="en-US" sz="1800" dirty="0"/>
          </a:p>
        </p:txBody>
      </p:sp>
      <p:sp>
        <p:nvSpPr>
          <p:cNvPr id="2" name="Text 3">
            <a:extLst>
              <a:ext uri="{FF2B5EF4-FFF2-40B4-BE49-F238E27FC236}">
                <a16:creationId xmlns:a16="http://schemas.microsoft.com/office/drawing/2014/main" id="{5727805F-2A15-11D3-243F-1AE09D6E973E}"/>
              </a:ext>
            </a:extLst>
          </p:cNvPr>
          <p:cNvSpPr/>
          <p:nvPr userDrawn="1"/>
        </p:nvSpPr>
        <p:spPr>
          <a:xfrm>
            <a:off x="3312808" y="4536078"/>
            <a:ext cx="2797969" cy="529698"/>
          </a:xfrm>
          <a:prstGeom prst="roundRect">
            <a:avLst>
              <a:gd name="adj" fmla="val 14286"/>
            </a:avLst>
          </a:prstGeom>
          <a:solidFill>
            <a:srgbClr val="F5F5F5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4">
            <a:extLst>
              <a:ext uri="{FF2B5EF4-FFF2-40B4-BE49-F238E27FC236}">
                <a16:creationId xmlns:a16="http://schemas.microsoft.com/office/drawing/2014/main" id="{1034B79E-463D-8396-409E-62C28A2DEB04}"/>
              </a:ext>
            </a:extLst>
          </p:cNvPr>
          <p:cNvSpPr/>
          <p:nvPr userDrawn="1"/>
        </p:nvSpPr>
        <p:spPr>
          <a:xfrm>
            <a:off x="3614735" y="4667577"/>
            <a:ext cx="2076688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1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500" b="1" dirty="0">
                <a:solidFill>
                  <a:schemeClr val="bg2">
                    <a:lumMod val="75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www.eoframework.org</a:t>
            </a:r>
            <a:endParaRPr lang="en-US" sz="1500" dirty="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16" name="Text Placeholder 9">
            <a:extLst>
              <a:ext uri="{FF2B5EF4-FFF2-40B4-BE49-F238E27FC236}">
                <a16:creationId xmlns:a16="http://schemas.microsoft.com/office/drawing/2014/main" id="{2DED039B-C555-DCF4-1CA7-CA1E4482378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68165" y="3131272"/>
            <a:ext cx="8480181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 b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spcAft>
                <a:spcPts val="1200"/>
              </a:spcAft>
            </a:pPr>
            <a:r>
              <a:rPr lang="en-US" sz="1800" b="1" dirty="0">
                <a:solidFill>
                  <a:srgbClr val="000000"/>
                </a:solidFill>
              </a:rPr>
              <a:t>Account Manager:</a:t>
            </a:r>
            <a:r>
              <a:rPr lang="en-US" sz="1800" dirty="0">
                <a:solidFill>
                  <a:srgbClr val="000000"/>
                </a:solidFill>
              </a:rPr>
              <a:t> [Name, Title] | [Email] | [Phone]</a:t>
            </a:r>
          </a:p>
        </p:txBody>
      </p:sp>
    </p:spTree>
    <p:extLst>
      <p:ext uri="{BB962C8B-B14F-4D97-AF65-F5344CB8AC3E}">
        <p14:creationId xmlns:p14="http://schemas.microsoft.com/office/powerpoint/2010/main" val="382102005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3" r:id="rId2"/>
    <p:sldLayoutId id="2147483659" r:id="rId3"/>
    <p:sldLayoutId id="2147483654" r:id="rId4"/>
    <p:sldLayoutId id="2147483655" r:id="rId5"/>
    <p:sldLayoutId id="2147483656" r:id="rId6"/>
    <p:sldLayoutId id="2147483657" r:id="rId7"/>
    <p:sldLayoutId id="2147483658" r:id="rId8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icture Placeholder 1"/>
          <p:cNvSpPr>
            <a:spLocks noGrp="1"/>
          </p:cNvSpPr>
          <p:nvPr>
            <p:ph type="pic" idx="10" sz="quarter"/>
          </p:nvPr>
        </p:nvSpPr>
        <p:spPr/>
      </p:sp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Presentation Title</a:t>
            </a:r>
          </a:p>
        </p:txBody>
      </p:sp>
      <p:sp>
        <p:nvSpPr>
          <p:cNvPr id="4" name="Picture Placeholder 3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Solution Name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Presenter Name | November 15, 2025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**Slide 2: Agenda**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t>Project Overview and Virtual Desktop Objectives</a:t>
            </a:r>
          </a:p>
          <a:p>
            <a:pPr/>
            <a:r>
              <a:t>AVD Solution Delivery Summary and Achievements</a:t>
            </a:r>
          </a:p>
          <a:p>
            <a:pPr/>
            <a:r>
              <a:t>User Experience and Modern Workplace Value</a:t>
            </a:r>
          </a:p>
          <a:p>
            <a:pPr/>
            <a:r>
              <a:t>Lessons Learned and Best Practices</a:t>
            </a:r>
          </a:p>
          <a:p>
            <a:pPr/>
            <a:r>
              <a:t>Operational Recommendations and Next Steps</a:t>
            </a:r>
          </a:p>
          <a:p>
            <a:pPr/>
            <a:r>
              <a:t>Team Recognition and Appreciation</a:t>
            </a:r>
          </a:p>
          <a:p>
            <a:pPr/>
            <a:r>
              <a:t>Q&amp;A Session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**Slide 3: AVD Project Charter Recap**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Original Business Problem:</a:t>
            </a:r>
            <a:r>
              <a:t> Remote work scalability challenges and high VDI infrastructure costs</a:t>
            </a:r>
          </a:p>
          <a:p>
            <a:pPr/>
            <a:r>
              <a:rPr b="1"/>
              <a:t>Project Objectives:</a:t>
            </a:r>
            <a:r>
              <a:t> Deploy scalable virtual desktop solution with 99.9% availability and 50% cost reduction</a:t>
            </a:r>
          </a:p>
          <a:p>
            <a:pPr/>
            <a:r>
              <a:rPr b="1"/>
              <a:t>Success Criteria:</a:t>
            </a:r>
            <a:r>
              <a:t> User adoption rates, performance targets, security compliance</a:t>
            </a:r>
          </a:p>
          <a:p>
            <a:pPr/>
            <a:r>
              <a:rPr b="1"/>
              <a:t>Project Scope:</a:t>
            </a:r>
            <a:r>
              <a:t> Multi-session Windows 10/11, applications, user profiles, security</a:t>
            </a:r>
          </a:p>
          <a:p>
            <a:pPr/>
            <a:r>
              <a:rPr b="1"/>
              <a:t>Initial Timeline:</a:t>
            </a:r>
            <a:r>
              <a:t> [Original vs. actual timeline]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rPr b="1"/>
              <a:t>**Slide 4: AVD Solution Scope Delivered**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29" cy="2225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77733"/>
                <a:gridCol w="1306639"/>
                <a:gridCol w="1045311"/>
                <a:gridCol w="1567967"/>
                <a:gridCol w="2613279"/>
              </a:tblGrid>
              <a:tr h="370840"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Scope Element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Planned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Delivered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Status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Notes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Host Pool Configuration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Multi-session Windows 11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Optimized host pools with load balancing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✅ Complete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3 host pools for different user types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Application Streaming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MSIX app attach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Full application virtualization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✅ Complete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45+ applications deployed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User Profile Management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FSLogix profiles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Enterprise profile containers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✅ Complete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Seamless cross-session experience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Network Security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Zero Trust model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Conditional access and MFA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✅ Complete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Enhanced security posture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Monitoring Solution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Azure Monitor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Comprehensive AVD monitoring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✅ Complete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Real-time performance insights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rPr b="1"/>
              <a:t>**Slide 5: AVD Project Timeline Summary**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able Placeholder 3"/>
          <p:cNvSpPr>
            <a:spLocks noGrp="1"/>
          </p:cNvSpPr>
          <p:nvPr>
            <p:ph type="tbl" idx="14" sz="quarter"/>
          </p:nvPr>
        </p:nvSpPr>
        <p:spPr/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**Slide 6: Budget and Resource Summary**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Total Project Budget:</a:t>
            </a:r>
            <a:r>
              <a:t> [Approved budget]</a:t>
            </a:r>
          </a:p>
          <a:p>
            <a:pPr/>
            <a:r>
              <a:rPr b="1"/>
              <a:t>Actual Expenditure:</a:t>
            </a:r>
            <a:r>
              <a:t> [Final cost including Azure services]</a:t>
            </a:r>
          </a:p>
          <a:p>
            <a:pPr/>
            <a:r>
              <a:rPr b="1"/>
              <a:t>Budget Variance:</a:t>
            </a:r>
            <a:r>
              <a:t> [Over/under budget with AVD licensing explanation]</a:t>
            </a:r>
          </a:p>
          <a:p>
            <a:pPr/>
            <a:r>
              <a:rPr b="1"/>
              <a:t>Resource Utilization:</a:t>
            </a:r>
            <a:r>
              <a:t> [Cloud architects, desktop engineers, developers]</a:t>
            </a:r>
          </a:p>
          <a:p>
            <a:pPr/>
            <a:r>
              <a:rPr b="1"/>
              <a:t>Azure Service Costs:</a:t>
            </a:r>
            <a:r>
              <a:t> [Ongoing operational costs for compute, storage, networking]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**Slide 7: Azure Virtual Desktop Architecture Overview**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4" sz="quarter"/>
          </p:nvPr>
        </p:nvSpPr>
        <p:spPr/>
      </p:sp>
      <p:sp>
        <p:nvSpPr>
          <p:cNvPr id="4" name="Picture Placeholder 3"/>
          <p:cNvSpPr>
            <a:spLocks noGrp="1"/>
          </p:cNvSpPr>
          <p:nvPr>
            <p:ph type="pic" idx="15" sz="quarter"/>
          </p:nvPr>
        </p:nvSpPr>
        <p:spPr/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t>Azure Virtual Desktop service architecture diagram</a:t>
            </a:r>
          </a:p>
          <a:p>
            <a:pPr/>
            <a:r>
              <a:t>Host pool configuration and session management</a:t>
            </a:r>
          </a:p>
          <a:p>
            <a:pPr/>
            <a:r>
              <a:t>Storage integration with Azure Files and FSLogix</a:t>
            </a:r>
          </a:p>
          <a:p>
            <a:pPr/>
            <a:r>
              <a:t>Network connectivity with ExpressRoute/VPN</a:t>
            </a:r>
          </a:p>
          <a:p>
            <a:pPr/>
            <a:r>
              <a:t>Security and compliance features (Conditional Access, MFA)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rPr b="1"/>
              <a:t>**Slide 8: Key AVD Features Delivered**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29" cy="2595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77733"/>
                <a:gridCol w="1306639"/>
                <a:gridCol w="1045311"/>
                <a:gridCol w="1567967"/>
                <a:gridCol w="2613279"/>
              </a:tblGrid>
              <a:tr h="370840"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Feature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Business Value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User Impact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Technical Complexity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Status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Multi-Session Windows 11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Cost optimization through shared resources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Modern desktop experience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High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✅ Delivered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MSIX App Attach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Simplified app management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Instant app availability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Medium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✅ Delivered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FSLogix Profile Containers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Consistent user experience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Seamless roaming profiles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Medium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✅ Delivered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Azure Monitor Integration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Proactive performance management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Reliable desktop performance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Medium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✅ Delivered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Conditional Access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Enhanced security posture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Secure remote access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High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✅ Delivered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Auto-scaling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Cost optimization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Consistent performance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High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✅ Delivered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**Slide 9: User Experience Metrics**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4" sz="quarter"/>
          </p:nvPr>
        </p:nvSpPr>
        <p:spPr/>
      </p:sp>
      <p:sp>
        <p:nvSpPr>
          <p:cNvPr id="4" name="Chart Placeholder 3"/>
          <p:cNvSpPr>
            <a:spLocks noGrp="1"/>
          </p:cNvSpPr>
          <p:nvPr>
            <p:ph type="chart" idx="15" sz="quarter"/>
          </p:nvPr>
        </p:nvSpPr>
        <p:spPr/>
      </p:sp>
      <p:sp>
        <p:nvSpPr>
          <p:cNvPr id="5" name="Content Placeholder 4"/>
          <p:cNvSpPr>
            <a:spLocks noGrp="1"/>
          </p:cNvSpPr>
          <p:nvPr>
            <p:ph idx="16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**Slide 10: Go-Live Results**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Deployment Success:</a:t>
            </a:r>
            <a:r>
              <a:t> Smooth production deployment with phased user onboarding</a:t>
            </a:r>
          </a:p>
          <a:p>
            <a:pPr/>
            <a:r>
              <a:rPr b="1"/>
              <a:t>System Stability:</a:t>
            </a:r>
            <a:r>
              <a:t> 99.8% uptime in first 30 days post-deployment</a:t>
            </a:r>
          </a:p>
          <a:p>
            <a:pPr/>
            <a:r>
              <a:rPr b="1"/>
              <a:t>User Adoption:</a:t>
            </a:r>
            <a:r>
              <a:t> 87% adoption rate within first month</a:t>
            </a:r>
          </a:p>
          <a:p>
            <a:pPr/>
            <a:r>
              <a:rPr b="1"/>
              <a:t>Session Volume:</a:t>
            </a:r>
            <a:r>
              <a:t> 15,000+ user sessions in first month</a:t>
            </a:r>
          </a:p>
          <a:p>
            <a:pPr/>
            <a:r>
              <a:rPr b="1"/>
              <a:t>Business Continuity:</a:t>
            </a:r>
            <a:r>
              <a:t> Zero business disruption during migration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**Slide 11: Training and Knowledge Transfer**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Training Sessions Delivered:</a:t>
            </a:r>
          </a:p>
          <a:p>
            <a:pPr lvl="1"/>
            <a:r>
              <a:t>Administrator training: 3 days, 6 participants</a:t>
            </a:r>
          </a:p>
          <a:p>
            <a:pPr lvl="1"/>
            <a:r>
              <a:t>End-user training: 2 days, 350 participants</a:t>
            </a:r>
          </a:p>
          <a:p>
            <a:pPr lvl="1"/>
            <a:r>
              <a:t>Support team training: 2 days, 8 technical staff</a:t>
            </a:r>
          </a:p>
          <a:p>
            <a:pPr/>
            <a:r>
              <a:rPr b="1"/>
              <a:t>User Competency:</a:t>
            </a:r>
            <a:r>
              <a:t> 94% pass rate on competency assessments</a:t>
            </a:r>
          </a:p>
          <a:p>
            <a:pPr/>
            <a:r>
              <a:rPr b="1"/>
              <a:t>Documentation Provided:</a:t>
            </a:r>
          </a:p>
          <a:p>
            <a:pPr lvl="1"/>
            <a:r>
              <a:t>Administrator guides, user quick-start guides, troubleshooting procedures</a:t>
            </a:r>
          </a:p>
          <a:p>
            <a:pPr lvl="1"/>
            <a:r>
              <a:t>Video tutorials for common workflows</a:t>
            </a:r>
          </a:p>
          <a:p>
            <a:pPr/>
            <a:r>
              <a:rPr b="1"/>
              <a:t>Knowledge Transfer:</a:t>
            </a:r>
            <a:r>
              <a:t> Complete handover to IT operations and support teams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rPr b="1"/>
              <a:t>**Slide 12: Business Value Delivered**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29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77733"/>
                <a:gridCol w="1306639"/>
                <a:gridCol w="1045311"/>
                <a:gridCol w="1567967"/>
                <a:gridCol w="2613279"/>
              </a:tblGrid>
              <a:tr h="370840"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Benefit Category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Target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Achieved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Measurement Method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Timeline to Full Benefit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Infrastructure Cost Savings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50% reduction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54% reduction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Cost analysis comparison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Within 6 months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User Productivity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25% improvement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28% improvement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Task completion metrics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Within 90 days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IT Management Efficiency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40% reduction in tickets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43% reduction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Help desk analytics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Within 60 days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Security Posture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Zero Trust compliance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100% compliance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Security audit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Immediate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**Slide 13: ROI Analysis**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4" sz="quarter"/>
          </p:nvPr>
        </p:nvSpPr>
        <p:spPr/>
      </p:sp>
      <p:sp>
        <p:nvSpPr>
          <p:cNvPr id="4" name="Chart Placeholder 3"/>
          <p:cNvSpPr>
            <a:spLocks noGrp="1"/>
          </p:cNvSpPr>
          <p:nvPr>
            <p:ph type="chart" idx="15" sz="quarter"/>
          </p:nvPr>
        </p:nvSpPr>
        <p:spPr/>
      </p:sp>
      <p:sp>
        <p:nvSpPr>
          <p:cNvPr id="5" name="Content Placeholder 4"/>
          <p:cNvSpPr>
            <a:spLocks noGrp="1"/>
          </p:cNvSpPr>
          <p:nvPr>
            <p:ph idx="16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**Slide 14: Operational Improvements**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Infrastructure Efficiency:</a:t>
            </a:r>
          </a:p>
          <a:p>
            <a:pPr lvl="1"/>
            <a:r>
              <a:t>Hardware refresh eliminated</a:t>
            </a:r>
          </a:p>
          <a:p>
            <a:pPr lvl="1"/>
            <a:r>
              <a:t>Datacenter footprint reduced by 60%</a:t>
            </a:r>
          </a:p>
          <a:p>
            <a:pPr lvl="1"/>
            <a:r>
              <a:t>Power consumption reduced by 45%</a:t>
            </a:r>
          </a:p>
          <a:p>
            <a:pPr/>
            <a:r>
              <a:rPr b="1"/>
              <a:t>User Productivity:</a:t>
            </a:r>
          </a:p>
          <a:p>
            <a:pPr lvl="1"/>
            <a:r>
              <a:t>Remote work capability for 100% of users</a:t>
            </a:r>
          </a:p>
          <a:p>
            <a:pPr lvl="1"/>
            <a:r>
              <a:t>Device flexibility (any device, anywhere)</a:t>
            </a:r>
          </a:p>
          <a:p>
            <a:pPr lvl="1"/>
            <a:r>
              <a:t>Application performance improved by 35%</a:t>
            </a:r>
          </a:p>
          <a:p>
            <a:pPr/>
            <a:r>
              <a:rPr b="1"/>
              <a:t>IT Operations:</a:t>
            </a:r>
          </a:p>
          <a:p>
            <a:pPr lvl="1"/>
            <a:r>
              <a:t>Desktop management time reduced by 70%</a:t>
            </a:r>
          </a:p>
          <a:p>
            <a:pPr lvl="1"/>
            <a:r>
              <a:t>Application deployment time: 2 weeks → 2 hours</a:t>
            </a:r>
          </a:p>
          <a:p>
            <a:pPr lvl="1"/>
            <a:r>
              <a:t>Patch management automated and centralized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**Slide 15: Strategic Value**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Modern Workplace Enablement:</a:t>
            </a:r>
          </a:p>
          <a:p>
            <a:pPr lvl="1"/>
            <a:r>
              <a:t>Complete remote work capability</a:t>
            </a:r>
          </a:p>
          <a:p>
            <a:pPr lvl="1"/>
            <a:r>
              <a:t>BYOD support with enterprise security</a:t>
            </a:r>
          </a:p>
          <a:p>
            <a:pPr/>
            <a:r>
              <a:rPr b="1"/>
              <a:t>Technology Modernization:</a:t>
            </a:r>
          </a:p>
          <a:p>
            <a:pPr lvl="1"/>
            <a:r>
              <a:t>Cloud-first desktop strategy implemented</a:t>
            </a:r>
          </a:p>
          <a:p>
            <a:pPr lvl="1"/>
            <a:r>
              <a:t>Legacy VDI infrastructure decommissioned</a:t>
            </a:r>
          </a:p>
          <a:p>
            <a:pPr/>
            <a:r>
              <a:rPr b="1"/>
              <a:t>Competitive Advantage:</a:t>
            </a:r>
          </a:p>
          <a:p>
            <a:pPr lvl="1"/>
            <a:r>
              <a:t>Attracted talent with flexible work options</a:t>
            </a:r>
          </a:p>
          <a:p>
            <a:pPr lvl="1"/>
            <a:r>
              <a:t>Enhanced business continuity capabilities</a:t>
            </a:r>
          </a:p>
          <a:p>
            <a:pPr/>
            <a:r>
              <a:rPr b="1"/>
              <a:t>Innovation Foundation:</a:t>
            </a:r>
          </a:p>
          <a:p>
            <a:pPr lvl="1"/>
            <a:r>
              <a:t>Platform for future workplace innovations</a:t>
            </a:r>
          </a:p>
          <a:p>
            <a:pPr lvl="1"/>
            <a:r>
              <a:t>Integration ready for Microsoft 365 ecosystem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**Slide 16: What Went Well**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Cloud-Native Approach:</a:t>
            </a:r>
            <a:r>
              <a:t> Azure-native services provided optimal integration and performance</a:t>
            </a:r>
          </a:p>
          <a:p>
            <a:pPr/>
            <a:r>
              <a:rPr b="1"/>
              <a:t>Phased Rollout:</a:t>
            </a:r>
            <a:r>
              <a:t> Gradual user migration minimized impact and allowed optimization</a:t>
            </a:r>
          </a:p>
          <a:p>
            <a:pPr/>
            <a:r>
              <a:rPr b="1"/>
              <a:t>User Champions Program:</a:t>
            </a:r>
            <a:r>
              <a:t> Power users accelerated adoption across departments</a:t>
            </a:r>
          </a:p>
          <a:p>
            <a:pPr/>
            <a:r>
              <a:rPr b="1"/>
              <a:t>Automation Focus:</a:t>
            </a:r>
            <a:r>
              <a:t> Infrastructure as Code reduced deployment time and errors</a:t>
            </a:r>
          </a:p>
          <a:p>
            <a:pPr/>
            <a:r>
              <a:rPr b="1"/>
              <a:t>Security Integration:</a:t>
            </a:r>
            <a:r>
              <a:t> Native Azure AD integration simplified access management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rPr b="1"/>
              <a:t>**Slide 17: Challenges Overcome**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30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45311"/>
                <a:gridCol w="2177733"/>
                <a:gridCol w="1045311"/>
                <a:gridCol w="4442575"/>
              </a:tblGrid>
              <a:tr h="370840"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Challenge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Impact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Resolution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Prevention for Future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Network Bandwidth Constraints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Initial performance issues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WAN optimization and ExpressRoute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Network assessment in planning phase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Application Compatibility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Some legacy apps required remediation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App virtualization and MSIX packaging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Comprehensive app inventory upfront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User Change Resistance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Slower initial adoption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Enhanced training and support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Increase change management investment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Profile Migration Complexity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Extended migration timeline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Automated migration tools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Profile analysis and planning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**Slide 18: Key Learnings**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Technical Lessons:</a:t>
            </a:r>
          </a:p>
          <a:p>
            <a:pPr lvl="1"/>
            <a:r>
              <a:t>Host pool optimization critical for cost and performance</a:t>
            </a:r>
          </a:p>
          <a:p>
            <a:pPr lvl="1"/>
            <a:r>
              <a:t>Network connectivity planning essential for user experience</a:t>
            </a:r>
          </a:p>
          <a:p>
            <a:pPr lvl="1"/>
            <a:r>
              <a:t>Application packaging strategy impacts deployment success</a:t>
            </a:r>
          </a:p>
          <a:p>
            <a:pPr/>
            <a:r>
              <a:rPr b="1"/>
              <a:t>Process Lessons:</a:t>
            </a:r>
          </a:p>
          <a:p>
            <a:pPr lvl="1"/>
            <a:r>
              <a:t>User pilot programs provide valuable feedback for optimization</a:t>
            </a:r>
          </a:p>
          <a:p>
            <a:pPr lvl="1"/>
            <a:r>
              <a:t>Automated deployment reduces errors and accelerates rollout</a:t>
            </a:r>
          </a:p>
          <a:p>
            <a:pPr lvl="1"/>
            <a:r>
              <a:t>Monitoring implementation should precede production deployment</a:t>
            </a:r>
          </a:p>
          <a:p>
            <a:pPr/>
            <a:r>
              <a:rPr b="1"/>
              <a:t>Organizational Lessons:</a:t>
            </a:r>
          </a:p>
          <a:p>
            <a:pPr lvl="1"/>
            <a:r>
              <a:t>Executive sponsorship crucial for change management</a:t>
            </a:r>
          </a:p>
          <a:p>
            <a:pPr lvl="1"/>
            <a:r>
              <a:t>IT operations team involvement early ensures smooth transition</a:t>
            </a:r>
          </a:p>
          <a:p>
            <a:pPr lvl="1"/>
            <a:r>
              <a:t>User feedback loops improve solution adoption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**Slide 19: Best Practices Established**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AVD Configuration Standards:</a:t>
            </a:r>
          </a:p>
          <a:p>
            <a:pPr lvl="1"/>
            <a:r>
              <a:t>Host pool sizing and scaling policies</a:t>
            </a:r>
          </a:p>
          <a:p>
            <a:pPr lvl="1"/>
            <a:r>
              <a:t>Image management and update procedures</a:t>
            </a:r>
          </a:p>
          <a:p>
            <a:pPr/>
            <a:r>
              <a:rPr b="1"/>
              <a:t>Application Management:</a:t>
            </a:r>
          </a:p>
          <a:p>
            <a:pPr lvl="1"/>
            <a:r>
              <a:t>MSIX packaging standards and testing procedures</a:t>
            </a:r>
          </a:p>
          <a:p>
            <a:pPr lvl="1"/>
            <a:r>
              <a:t>Application lifecycle management</a:t>
            </a:r>
          </a:p>
          <a:p>
            <a:pPr/>
            <a:r>
              <a:rPr b="1"/>
              <a:t>User Profile Management:</a:t>
            </a:r>
          </a:p>
          <a:p>
            <a:pPr lvl="1"/>
            <a:r>
              <a:t>FSLogix configuration and optimization</a:t>
            </a:r>
          </a:p>
          <a:p>
            <a:pPr lvl="1"/>
            <a:r>
              <a:t>Profile backup and disaster recovery</a:t>
            </a:r>
          </a:p>
          <a:p>
            <a:pPr/>
            <a:r>
              <a:rPr b="1"/>
              <a:t>Monitoring Standards:</a:t>
            </a:r>
          </a:p>
          <a:p>
            <a:pPr lvl="1"/>
            <a:r>
              <a:t>Performance baselines and alerting thresholds</a:t>
            </a:r>
          </a:p>
          <a:p>
            <a:pPr lvl="1"/>
            <a:r>
              <a:t>Capacity planning and trending analysis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**Slide 20: Immediate Operational Recommendations**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Performance Optimization:</a:t>
            </a:r>
          </a:p>
          <a:p>
            <a:pPr lvl="1"/>
            <a:r>
              <a:t>Implement continuous performance monitoring</a:t>
            </a:r>
          </a:p>
          <a:p>
            <a:pPr lvl="1"/>
            <a:r>
              <a:t>Set up automated scaling based on usage patterns</a:t>
            </a:r>
          </a:p>
          <a:p>
            <a:pPr lvl="1"/>
            <a:r>
              <a:t>Regular image optimization and updates</a:t>
            </a:r>
          </a:p>
          <a:p>
            <a:pPr/>
            <a:r>
              <a:rPr b="1"/>
              <a:t>Cost Management:</a:t>
            </a:r>
          </a:p>
          <a:p>
            <a:pPr lvl="1"/>
            <a:r>
              <a:t>Implement Azure Cost Management dashboards</a:t>
            </a:r>
          </a:p>
          <a:p>
            <a:pPr lvl="1"/>
            <a:r>
              <a:t>Optimize host pool utilization</a:t>
            </a:r>
          </a:p>
          <a:p>
            <a:pPr lvl="1"/>
            <a:r>
              <a:t>Review and adjust auto-scaling policies</a:t>
            </a:r>
          </a:p>
          <a:p>
            <a:pPr/>
            <a:r>
              <a:rPr b="1"/>
              <a:t>User Support:</a:t>
            </a:r>
          </a:p>
          <a:p>
            <a:pPr lvl="1"/>
            <a:r>
              <a:t>Establish dedicated AVD support queue</a:t>
            </a:r>
          </a:p>
          <a:p>
            <a:pPr lvl="1"/>
            <a:r>
              <a:t>Create user self-service portal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rPr b="1"/>
              <a:t>**Slide 21: Future Enhancement Opportunities**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29" cy="2225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77733"/>
                <a:gridCol w="1306639"/>
                <a:gridCol w="1045311"/>
                <a:gridCol w="1567967"/>
                <a:gridCol w="2613279"/>
              </a:tblGrid>
              <a:tr h="370840"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Enhancement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Business Value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Complexity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Timeline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Priority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GPU-Enabled Workstations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Support for graphics-intensive work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Medium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4-6 months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High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Microsoft 365 Integration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Enhanced collaboration features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Low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2-3 months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High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Advanced Analytics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User behavior insights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Medium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6-8 months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Medium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Multi-Geo Deployment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Global user support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High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9-12 months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Medium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Zero Trust Enhancements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Advanced security posture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Medium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3-6 months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High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**Slide 22: Transition to Operations**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Operational Handover:</a:t>
            </a:r>
          </a:p>
          <a:p>
            <a:pPr lvl="1"/>
            <a:r>
              <a:t>Complete runbooks and SOPs documented</a:t>
            </a:r>
          </a:p>
          <a:p>
            <a:pPr lvl="1"/>
            <a:r>
              <a:t>Operations team certified on AVD management</a:t>
            </a:r>
          </a:p>
          <a:p>
            <a:pPr/>
            <a:r>
              <a:rPr b="1"/>
              <a:t>Support Structure:</a:t>
            </a:r>
          </a:p>
          <a:p>
            <a:pPr lvl="1"/>
            <a:r>
              <a:t>L1 support for user issues and password resets</a:t>
            </a:r>
          </a:p>
          <a:p>
            <a:pPr lvl="1"/>
            <a:r>
              <a:t>L2 support for session and performance issues</a:t>
            </a:r>
          </a:p>
          <a:p>
            <a:pPr lvl="1"/>
            <a:r>
              <a:t>L3 escalation to Azure specialists</a:t>
            </a:r>
          </a:p>
          <a:p>
            <a:pPr/>
            <a:r>
              <a:rPr b="1"/>
              <a:t>Monitoring and Maintenance:</a:t>
            </a:r>
          </a:p>
          <a:p>
            <a:pPr lvl="1"/>
            <a:r>
              <a:t>Azure Monitor dashboards and alerts configured</a:t>
            </a:r>
          </a:p>
          <a:p>
            <a:pPr lvl="1"/>
            <a:r>
              <a:t>Weekly capacity and performance reviews</a:t>
            </a:r>
          </a:p>
          <a:p>
            <a:pPr/>
            <a:r>
              <a:rPr b="1"/>
              <a:t>Continuous Improvement:</a:t>
            </a:r>
          </a:p>
          <a:p>
            <a:pPr lvl="1"/>
            <a:r>
              <a:t>Monthly user satisfaction surveys</a:t>
            </a:r>
          </a:p>
          <a:p>
            <a:pPr lvl="1"/>
            <a:r>
              <a:t>Quarterly capacity planning sessions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**Slide 23: Core Team Appreciation**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Project Manager:</a:t>
            </a:r>
            <a:r>
              <a:t> [Name] - Exceptional project coordination and stakeholder management</a:t>
            </a:r>
          </a:p>
          <a:p>
            <a:pPr/>
            <a:r>
              <a:rPr b="1"/>
              <a:t>Azure Cloud Architect:</a:t>
            </a:r>
            <a:r>
              <a:t> [Name] - Innovative AVD design and performance optimization</a:t>
            </a:r>
          </a:p>
          <a:p>
            <a:pPr/>
            <a:r>
              <a:rPr b="1"/>
              <a:t>Desktop Engineer:</a:t>
            </a:r>
            <a:r>
              <a:t> [Name] - Outstanding application packaging and user experience</a:t>
            </a:r>
          </a:p>
          <a:p>
            <a:pPr/>
            <a:r>
              <a:rPr b="1"/>
              <a:t>Network Engineer:</a:t>
            </a:r>
            <a:r>
              <a:t> [Name] - Robust connectivity and performance optimization</a:t>
            </a:r>
          </a:p>
          <a:p>
            <a:pPr/>
            <a:r>
              <a:rPr b="1"/>
              <a:t>Security Architect:</a:t>
            </a:r>
            <a:r>
              <a:t> [Name] - Comprehensive security implementation</a:t>
            </a:r>
          </a:p>
          <a:p>
            <a:pPr/>
            <a:r>
              <a:rPr b="1"/>
              <a:t>Change Management Specialist:</a:t>
            </a:r>
            <a:r>
              <a:t> [Name] - Successful user adoption and training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**Slide 24: Extended Team Recognition**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Development Team:</a:t>
            </a:r>
            <a:r>
              <a:t> Infrastructure automation and monitoring implementation</a:t>
            </a:r>
          </a:p>
          <a:p>
            <a:pPr/>
            <a:r>
              <a:rPr b="1"/>
              <a:t>Business Stakeholders:</a:t>
            </a:r>
            <a:r>
              <a:t> Requirements definition and user acceptance testing</a:t>
            </a:r>
          </a:p>
          <a:p>
            <a:pPr/>
            <a:r>
              <a:rPr b="1"/>
              <a:t>Microsoft Support Team:</a:t>
            </a:r>
            <a:r>
              <a:t> Technical guidance and optimization recommendations</a:t>
            </a:r>
          </a:p>
          <a:p>
            <a:pPr/>
            <a:r>
              <a:rPr b="1"/>
              <a:t>Security Team:</a:t>
            </a:r>
            <a:r>
              <a:t> Compliance validation and policy implementation</a:t>
            </a:r>
          </a:p>
          <a:p>
            <a:pPr/>
            <a:r>
              <a:rPr b="1"/>
              <a:t>Executive Sponsors:</a:t>
            </a:r>
            <a:r>
              <a:t> Leadership support and strategic vision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**Slide 25: Team Success Factors**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Innovation:</a:t>
            </a:r>
            <a:r>
              <a:t> Creative solutions for complex user experience challenges</a:t>
            </a:r>
          </a:p>
          <a:p>
            <a:pPr/>
            <a:r>
              <a:rPr b="1"/>
              <a:t>Collaboration:</a:t>
            </a:r>
            <a:r>
              <a:t> Seamless integration between infrastructure and user experience teams</a:t>
            </a:r>
          </a:p>
          <a:p>
            <a:pPr/>
            <a:r>
              <a:rPr b="1"/>
              <a:t>Dedication:</a:t>
            </a:r>
            <a:r>
              <a:t> Commitment to achieving challenging performance and adoption targets</a:t>
            </a:r>
          </a:p>
          <a:p>
            <a:pPr/>
            <a:r>
              <a:rPr b="1"/>
              <a:t>Adaptability:</a:t>
            </a:r>
            <a:r>
              <a:t> Flexibility in optimization and user feedback incorporation</a:t>
            </a:r>
          </a:p>
          <a:p>
            <a:pPr/>
            <a:r>
              <a:rPr b="1"/>
              <a:t>Excellence:</a:t>
            </a:r>
            <a:r>
              <a:t> Commitment to delivering enterprise-grade virtual desktop solution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**Slide 26: AVD Project Success Declaration**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Objectives Achieved:</a:t>
            </a:r>
            <a:r>
              <a:t> All primary objectives met or exceeded</a:t>
            </a:r>
          </a:p>
          <a:p>
            <a:pPr/>
            <a:r>
              <a:rPr b="1"/>
              <a:t>Value Delivered:</a:t>
            </a:r>
            <a:r>
              <a:t> $4.8M NPV with 1,295% ROI over 3 years</a:t>
            </a:r>
          </a:p>
          <a:p>
            <a:pPr/>
            <a:r>
              <a:rPr b="1"/>
              <a:t>Performance Standards:</a:t>
            </a:r>
            <a:r>
              <a:t> 99.8% uptime and 12-second login times achieved</a:t>
            </a:r>
          </a:p>
          <a:p>
            <a:pPr/>
            <a:r>
              <a:rPr b="1"/>
              <a:t>User Satisfaction:</a:t>
            </a:r>
            <a:r>
              <a:t> 89% overall experience rating</a:t>
            </a:r>
          </a:p>
          <a:p>
            <a:pPr/>
            <a:r>
              <a:rPr b="1"/>
              <a:t>On-Time/Budget Delivery:</a:t>
            </a:r>
            <a:r>
              <a:t> Delivered within 8% of original timeline and budget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**Slide 27: Formal Project Closure**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Project Charter Fulfilled:</a:t>
            </a:r>
            <a:r>
              <a:t> All AVD objectives and success criteria met</a:t>
            </a:r>
          </a:p>
          <a:p>
            <a:pPr/>
            <a:r>
              <a:rPr b="1"/>
              <a:t>Deliverables Accepted:</a:t>
            </a:r>
            <a:r>
              <a:t> Stakeholder sign-off on all project deliverables</a:t>
            </a:r>
          </a:p>
          <a:p>
            <a:pPr/>
            <a:r>
              <a:rPr b="1"/>
              <a:t>Resources Released:</a:t>
            </a:r>
            <a:r>
              <a:t> Project team transitioned to new initiatives</a:t>
            </a:r>
          </a:p>
          <a:p>
            <a:pPr/>
            <a:r>
              <a:rPr b="1"/>
              <a:t>Documentation Complete:</a:t>
            </a:r>
            <a:r>
              <a:t> All technical and user documentation delivered</a:t>
            </a:r>
          </a:p>
          <a:p>
            <a:pPr/>
            <a:r>
              <a:rPr b="1"/>
              <a:t>Lessons Captured:</a:t>
            </a:r>
            <a:r>
              <a:t> Best practices documented for future modern workplace projects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icture Placeholder 1"/>
          <p:cNvSpPr>
            <a:spLocks noGrp="1"/>
          </p:cNvSpPr>
          <p:nvPr>
            <p:ph type="pic" idx="10" sz="quarter"/>
          </p:nvPr>
        </p:nvSpPr>
        <p:spPr/>
      </p:sp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**Slide 28: Thank You and Q&amp;A**</a:t>
            </a:r>
          </a:p>
        </p:txBody>
      </p:sp>
      <p:sp>
        <p:nvSpPr>
          <p:cNvPr id="4" name="Picture Placeholder 3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/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/>
            <a:r>
              <a:rPr b="1"/>
              <a:t>Appreciation:</a:t>
            </a:r>
            <a:r>
              <a:t> Thank you to all stakeholders, sponsors, and team members</a:t>
            </a:r>
          </a:p>
          <a:p>
            <a:pPr/>
            <a:r>
              <a:rPr b="1"/>
              <a:t>Contact Information:</a:t>
            </a:r>
            <a:r>
              <a:t> [Project manager and technical lead contact details]</a:t>
            </a:r>
          </a:p>
          <a:p>
            <a:pPr/>
            <a:r>
              <a:rPr b="1"/>
              <a:t>Q&amp;A Session:</a:t>
            </a:r>
            <a:r>
              <a:t> Questions about AVD solution and implementation</a:t>
            </a:r>
          </a:p>
          <a:p>
            <a:pPr/>
            <a:r>
              <a:rPr b="1"/>
              <a:t>Next Steps:</a:t>
            </a:r>
            <a:r>
              <a:t> Operational support transition and enhancement planning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**Preparation Checklist**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t>[ ] Gather all AVD performance metrics and user satisfaction data</a:t>
            </a:r>
          </a:p>
          <a:p>
            <a:pPr/>
            <a:r>
              <a:t>[ ] Collect adoption statistics and usage analytics</a:t>
            </a:r>
          </a:p>
          <a:p>
            <a:pPr/>
            <a:r>
              <a:t>[ ] Prepare ROI analysis and cost savings calculations</a:t>
            </a:r>
          </a:p>
          <a:p>
            <a:pPr/>
            <a:r>
              <a:t>[ ] Create visual aids showing before/after user experience</a:t>
            </a:r>
          </a:p>
          <a:p>
            <a:pPr/>
            <a:r>
              <a:t>[ ] Practice live demo of AVD user login and application access</a:t>
            </a:r>
          </a:p>
          <a:p>
            <a:pPr/>
            <a:r>
              <a:t>[ ] Prepare for technical questions about Azure architecture</a:t>
            </a:r>
          </a:p>
          <a:p>
            <a:pPr/>
            <a:r>
              <a:t>[ ] Coordinate with technical team for detailed Q&amp;A support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**Presentation Best Practices**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Executive Summary:</a:t>
            </a:r>
            <a:r>
              <a:t> Lead with business value and user experience improvements</a:t>
            </a:r>
          </a:p>
          <a:p>
            <a:pPr/>
            <a:r>
              <a:rPr b="1"/>
              <a:t>Data-Driven:</a:t>
            </a:r>
            <a:r>
              <a:t> Use metrics and facts to demonstrate modern workplace success</a:t>
            </a:r>
          </a:p>
          <a:p>
            <a:pPr/>
            <a:r>
              <a:rPr b="1"/>
              <a:t>Visual Appeal:</a:t>
            </a:r>
            <a:r>
              <a:t> Include user interface screenshots and experience demos</a:t>
            </a:r>
          </a:p>
          <a:p>
            <a:pPr/>
            <a:r>
              <a:rPr b="1"/>
              <a:t>Technical Balance:</a:t>
            </a:r>
            <a:r>
              <a:t> Explain cloud concepts in business terms</a:t>
            </a:r>
          </a:p>
          <a:p>
            <a:pPr/>
            <a:r>
              <a:rPr b="1"/>
              <a:t>Success Stories:</a:t>
            </a:r>
            <a:r>
              <a:t> Share specific user productivity improvements</a:t>
            </a:r>
          </a:p>
          <a:p>
            <a:pPr/>
            <a:r>
              <a:rPr b="1"/>
              <a:t>Future Vision:</a:t>
            </a:r>
            <a:r>
              <a:t> Connect to broader digital workplace strategy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**Audience Engagement**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Live Demo:</a:t>
            </a:r>
            <a:r>
              <a:t> Show user login and application access experience</a:t>
            </a:r>
          </a:p>
          <a:p>
            <a:pPr/>
            <a:r>
              <a:rPr b="1"/>
              <a:t>Performance Metrics:</a:t>
            </a:r>
            <a:r>
              <a:t> Present compelling speed and reliability improvements</a:t>
            </a:r>
          </a:p>
          <a:p>
            <a:pPr/>
            <a:r>
              <a:rPr b="1"/>
              <a:t>User Testimonials:</a:t>
            </a:r>
            <a:r>
              <a:t> Share feedback from remote workers</a:t>
            </a:r>
          </a:p>
          <a:p>
            <a:pPr/>
            <a:r>
              <a:rPr b="1"/>
              <a:t>Interactive Elements:</a:t>
            </a:r>
            <a:r>
              <a:t> Q&amp;A about specific use cases and scenarios</a:t>
            </a:r>
          </a:p>
          <a:p>
            <a:pPr/>
            <a:r>
              <a:rPr b="1"/>
              <a:t>Clear Value Proposition:</a:t>
            </a:r>
            <a:r>
              <a:t> Quantify productivity gains and cost savings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**Follow-Up Actions**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t>[ ] Distribute presentation slides and technical appendices</a:t>
            </a:r>
          </a:p>
          <a:p>
            <a:pPr/>
            <a:r>
              <a:t>[ ] Send detailed performance and adoption metrics report</a:t>
            </a:r>
          </a:p>
          <a:p>
            <a:pPr/>
            <a:r>
              <a:t>[ ] Schedule operational handover meetings</a:t>
            </a:r>
          </a:p>
          <a:p>
            <a:pPr/>
            <a:r>
              <a:t>[ ] Document enhancement requests and future roadmap</a:t>
            </a:r>
          </a:p>
          <a:p>
            <a:pPr/>
            <a:r>
              <a:t>[ ] Archive all project documentation and configuration templates</a:t>
            </a:r>
          </a:p>
          <a:p>
            <a:pPr/>
            <a:r>
              <a:t>[ ] Conduct final team celebration and recognition event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**A. User Experience Dashboard**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t>[Login time trends and performance metrics]</a:t>
            </a:r>
          </a:p>
          <a:p>
            <a:pPr/>
            <a:r>
              <a:t>[Application launch times by category]</a:t>
            </a:r>
          </a:p>
          <a:p>
            <a:pPr/>
            <a:r>
              <a:t>[Session quality and connectivity metrics]</a:t>
            </a:r>
          </a:p>
          <a:p>
            <a:pPr/>
            <a:r>
              <a:t>[User satisfaction survey results]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**B. Stakeholder Feedback Summary**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t>[End user satisfaction survey results]</a:t>
            </a:r>
          </a:p>
          <a:p>
            <a:pPr/>
            <a:r>
              <a:t>[IT administrator feedback]</a:t>
            </a:r>
          </a:p>
          <a:p>
            <a:pPr/>
            <a:r>
              <a:t>[Business manager assessment]</a:t>
            </a:r>
          </a:p>
          <a:p>
            <a:pPr/>
            <a:r>
              <a:t>[Executive sponsor evaluation]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**C. Technical Artifacts**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t>[AVD architecture diagrams and configurations]</a:t>
            </a:r>
          </a:p>
          <a:p>
            <a:pPr/>
            <a:r>
              <a:t>[Host pool specifications and scaling policies]</a:t>
            </a:r>
          </a:p>
          <a:p>
            <a:pPr/>
            <a:r>
              <a:t>[Application packaging guides and procedures]</a:t>
            </a:r>
          </a:p>
          <a:p>
            <a:pPr/>
            <a:r>
              <a:t>[Training materials and video tutorials]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**D. Operational Transition Documentation**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t>[AVD administration runbooks]</a:t>
            </a:r>
          </a:p>
          <a:p>
            <a:pPr/>
            <a:r>
              <a:t>[Performance monitoring and alerting procedures]</a:t>
            </a:r>
          </a:p>
          <a:p>
            <a:pPr/>
            <a:r>
              <a:t>[Support escalation contacts and procedures]</a:t>
            </a:r>
          </a:p>
          <a:p>
            <a:pPr/>
            <a:r>
              <a:t>[Enhancement request and change management process]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427</TotalTime>
  <Words>39</Words>
  <Application>Microsoft Office PowerPoint</Application>
  <PresentationFormat>On-screen Show (16:9)</PresentationFormat>
  <Paragraphs>20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9" baseType="lpstr"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EOFramework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EOFramework Template</dc:title>
  <dc:subject>PptxGenJS Presentation</dc:subject>
  <dc:creator>EOFramework</dc:creator>
  <cp:lastModifiedBy>Kishan Siram</cp:lastModifiedBy>
  <cp:revision>79</cp:revision>
  <dcterms:created xsi:type="dcterms:W3CDTF">2025-11-01T21:16:10Z</dcterms:created>
  <dcterms:modified xsi:type="dcterms:W3CDTF">2025-11-11T19:45:33Z</dcterms:modified>
</cp:coreProperties>
</file>