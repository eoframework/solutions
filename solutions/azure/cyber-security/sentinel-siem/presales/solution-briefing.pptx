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Microsoft Sentinel SIEM Implementation</a:t>
            </a:r>
          </a:p>
        </p:txBody>
      </p:sp>
      <p:sp>
        <p:nvSpPr>
          <p:cNvPr id="6" name="Text Placeholder 5"/>
          <p:cNvSpPr>
            <a:spLocks noGrp="1"/>
          </p:cNvSpPr>
          <p:nvPr>
            <p:ph type="body" idx="15" sz="quarter"/>
          </p:nvPr>
        </p:nvSpPr>
        <p:spPr/>
        <p:txBody>
          <a:bodyPr/>
          <a:lstStyle/>
          <a:p>
            <a:r>
              <a:t>Alison Smith | November 17,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Gain complete visibility into security events across your entire IT environment with centralized monitoring</a:t>
            </a:r>
          </a:p>
          <a:p>
            <a:pPr lvl="1"/>
            <a:r>
              <a:t>Detect threats faster using built-in AI and machine learning to identify suspicious patterns automatically</a:t>
            </a:r>
          </a:p>
          <a:p>
            <a:pPr lvl="1"/>
            <a:r>
              <a:t>Reduce security incident response time by 50-70% through automated playbooks and workflows</a:t>
            </a:r>
          </a:p>
        </p:txBody>
      </p:sp>
      <p:sp>
        <p:nvSpPr>
          <p:cNvPr id="5" name="Text Placeholder 4"/>
          <p:cNvSpPr>
            <a:spLocks noGrp="1"/>
          </p:cNvSpPr>
          <p:nvPr>
            <p:ph type="body" idx="17" sz="quarter"/>
          </p:nvPr>
        </p:nvSpPr>
        <p:spPr/>
        <p:txBody>
          <a:bodyPr/>
          <a:lstStyle/>
          <a:p>
            <a:pPr/>
            <a:r>
              <a:rPr b="1"/>
              <a:t>Success Criteria</a:t>
            </a:r>
          </a:p>
          <a:p>
            <a:pPr lvl="1"/>
            <a:r>
              <a:t>Achieve full security monitoring coverage within 3 months with all critical systems connected</a:t>
            </a:r>
          </a:p>
          <a:p>
            <a:pPr lvl="1"/>
            <a:r>
              <a:t>Reduce mean time to detect threats from days to minutes with automated alerting</a:t>
            </a:r>
          </a:p>
          <a:p>
            <a:pPr lvl="1"/>
            <a:r>
              <a:t>Enable security team to handle 3x more incidents without additional staff through automation</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lnL w="12700">
                      <a:solidFill>
                        <a:srgbClr val="D0D0D0"/>
                      </a:solidFill>
                    </a:ln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Data Connectors</a:t>
                      </a:r>
                    </a:p>
                  </a:txBody>
                  <a:tcPr>
                    <a:solidFill>
                      <a:srgbClr val="E7E6E6"/>
                    </a:solidFill>
                  </a:tcPr>
                </a:tc>
                <a:tc>
                  <a:txBody>
                    <a:bodyPr/>
                    <a:lstStyle/>
                    <a:p>
                      <a:r>
                        <a:rPr sz="1100"/>
                        <a:t>10-15 connectors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Regions</a:t>
                      </a:r>
                    </a:p>
                  </a:txBody>
                  <a:tcPr>
                    <a:solidFill>
                      <a:srgbClr val="E7E6E6"/>
                    </a:solidFill>
                  </a:tcPr>
                </a:tc>
                <a:tc>
                  <a:txBody>
                    <a:bodyPr/>
                    <a:lstStyle/>
                    <a:p>
                      <a:r>
                        <a:rPr sz="1100"/>
                        <a:t>Single Azure region (East US)</a:t>
                      </a:r>
                    </a:p>
                  </a:txBody>
                  <a:tcPr>
                    <a:solidFill>
                      <a:srgbClr val="E7E6E6"/>
                    </a:solidFill>
                  </a:tcPr>
                </a:tc>
              </a:tr>
              <a:tr h="370840">
                <a:tc>
                  <a:txBody>
                    <a:bodyPr/>
                    <a:lstStyle/>
                    <a:p>
                      <a:r>
                        <a:rPr b="1" sz="1100"/>
                        <a:t>Analytics Rules</a:t>
                      </a:r>
                    </a:p>
                  </a:txBody>
                  <a:tcPr>
                    <a:solidFill>
                      <a:srgbClr val="E7E6E6"/>
                    </a:solidFill>
                  </a:tcPr>
                </a:tc>
                <a:tc>
                  <a:txBody>
                    <a:bodyPr/>
                    <a:lstStyle/>
                    <a:p>
                      <a:r>
                        <a:rPr sz="1100"/>
                        <a:t>50 custom detection rules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Availability Requirements</a:t>
                      </a:r>
                    </a:p>
                  </a:txBody>
                  <a:tcPr>
                    <a:solidFill>
                      <a:srgbClr val="E7E6E6"/>
                    </a:solidFill>
                  </a:tcPr>
                </a:tc>
                <a:tc>
                  <a:txBody>
                    <a:bodyPr/>
                    <a:lstStyle/>
                    <a:p>
                      <a:r>
                        <a:rPr sz="1100"/>
                        <a:t>24/7 monitoring</a:t>
                      </a:r>
                    </a:p>
                  </a:txBody>
                  <a:tcPr>
                    <a:solidFill>
                      <a:srgbClr val="E7E6E6"/>
                    </a:solidFill>
                  </a:tcPr>
                </a:tc>
              </a:tr>
              <a:tr h="370840">
                <a:tc>
                  <a:txBody>
                    <a:bodyPr/>
                    <a:lstStyle/>
                    <a:p>
                      <a:r>
                        <a:rPr b="1" sz="1100"/>
                        <a:t>Log Sources</a:t>
                      </a:r>
                    </a:p>
                  </a:txBody>
                  <a:tcPr>
                    <a:solidFill>
                      <a:srgbClr val="E7E6E6"/>
                    </a:solidFill>
                  </a:tcPr>
                </a:tc>
                <a:tc>
                  <a:txBody>
                    <a:bodyPr/>
                    <a:lstStyle/>
                    <a:p>
                      <a:r>
                        <a:rPr sz="1100"/>
                        <a:t>Azure AD Office365 Firewall Endpoints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Infrastructure Complexity</a:t>
                      </a:r>
                    </a:p>
                  </a:txBody>
                  <a:tcPr>
                    <a:solidFill>
                      <a:srgbClr val="E7E6E6"/>
                    </a:solidFill>
                  </a:tcPr>
                </a:tc>
                <a:tc>
                  <a:txBody>
                    <a:bodyPr/>
                    <a:lstStyle/>
                    <a:p>
                      <a:r>
                        <a:rPr sz="1100"/>
                        <a:t>Log Analytics + Sentinel workspace</a:t>
                      </a:r>
                    </a:p>
                  </a:txBody>
                  <a:tcPr>
                    <a:solidFill>
                      <a:srgbClr val="E7E6E6"/>
                    </a:solidFill>
                  </a:tcPr>
                </a:tc>
              </a:tr>
              <a:tr h="370840">
                <a:tc>
                  <a:txBody>
                    <a:bodyPr/>
                    <a:lstStyle/>
                    <a:p>
                      <a:r>
                        <a:rPr b="1" sz="1100"/>
                        <a:t>SOAR Playbooks</a:t>
                      </a:r>
                    </a:p>
                  </a:txBody>
                  <a:tcPr>
                    <a:solidFill>
                      <a:srgbClr val="E7E6E6"/>
                    </a:solidFill>
                  </a:tcPr>
                </a:tc>
                <a:tc>
                  <a:txBody>
                    <a:bodyPr/>
                    <a:lstStyle/>
                    <a:p>
                      <a:r>
                        <a:rPr sz="1100"/>
                        <a:t>10 automated playbooks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Security Requirements</a:t>
                      </a:r>
                    </a:p>
                  </a:txBody>
                  <a:tcPr>
                    <a:solidFill>
                      <a:srgbClr val="E7E6E6"/>
                    </a:solidFill>
                  </a:tcPr>
                </a:tc>
                <a:tc>
                  <a:txBody>
                    <a:bodyPr/>
                    <a:lstStyle/>
                    <a:p>
                      <a:r>
                        <a:rPr sz="1100"/>
                        <a:t>RBAC MFA audit logging</a:t>
                      </a:r>
                    </a:p>
                  </a:txBody>
                  <a:tcPr>
                    <a:solidFill>
                      <a:srgbClr val="E7E6E6"/>
                    </a:solidFill>
                  </a:tcPr>
                </a:tc>
              </a:tr>
              <a:tr h="370840">
                <a:tc>
                  <a:txBody>
                    <a:bodyPr/>
                    <a:lstStyle/>
                    <a:p>
                      <a:r>
                        <a:rPr b="1" sz="1100"/>
                        <a:t>Total Users</a:t>
                      </a:r>
                    </a:p>
                  </a:txBody>
                  <a:tcPr>
                    <a:solidFill>
                      <a:srgbClr val="E7E6E6"/>
                    </a:solidFill>
                  </a:tcPr>
                </a:tc>
                <a:tc>
                  <a:txBody>
                    <a:bodyPr/>
                    <a:lstStyle/>
                    <a:p>
                      <a:r>
                        <a:rPr sz="1100"/>
                        <a:t>10 SOC analysts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Compliance Frameworks</a:t>
                      </a:r>
                    </a:p>
                  </a:txBody>
                  <a:tcPr>
                    <a:solidFill>
                      <a:srgbClr val="E7E6E6"/>
                    </a:solidFill>
                  </a:tcPr>
                </a:tc>
                <a:tc>
                  <a:txBody>
                    <a:bodyPr/>
                    <a:lstStyle/>
                    <a:p>
                      <a:r>
                        <a:rPr sz="1100"/>
                        <a:t>SOC2 NIST CSF</a:t>
                      </a:r>
                    </a:p>
                  </a:txBody>
                  <a:tcPr>
                    <a:solidFill>
                      <a:srgbClr val="E7E6E6"/>
                    </a:solidFill>
                  </a:tcPr>
                </a:tc>
              </a:tr>
              <a:tr h="370840">
                <a:tc>
                  <a:txBody>
                    <a:bodyPr/>
                    <a:lstStyle/>
                    <a:p>
                      <a:r>
                        <a:rPr b="1" sz="1100"/>
                        <a:t>User Roles</a:t>
                      </a:r>
                    </a:p>
                  </a:txBody>
                  <a:tcPr>
                    <a:solidFill>
                      <a:srgbClr val="E7E6E6"/>
                    </a:solidFill>
                  </a:tcPr>
                </a:tc>
                <a:tc>
                  <a:txBody>
                    <a:bodyPr/>
                    <a:lstStyle/>
                    <a:p>
                      <a:r>
                        <a:rPr sz="1100"/>
                        <a:t>3 roles (analyst engineer admin)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Detection Response</a:t>
                      </a:r>
                    </a:p>
                  </a:txBody>
                  <a:tcPr>
                    <a:solidFill>
                      <a:srgbClr val="E7E6E6"/>
                    </a:solidFill>
                  </a:tcPr>
                </a:tc>
                <a:tc>
                  <a:txBody>
                    <a:bodyPr/>
                    <a:lstStyle/>
                    <a:p>
                      <a:r>
                        <a:rPr sz="1100"/>
                        <a:t>MTTR &lt;1 hour</a:t>
                      </a:r>
                    </a:p>
                  </a:txBody>
                  <a:tcPr>
                    <a:solidFill>
                      <a:srgbClr val="E7E6E6"/>
                    </a:solidFill>
                  </a:tcPr>
                </a:tc>
              </a:tr>
              <a:tr h="370840">
                <a:tc>
                  <a:txBody>
                    <a:bodyPr/>
                    <a:lstStyle/>
                    <a:p>
                      <a:r>
                        <a:rPr b="1" sz="1100"/>
                        <a:t>Daily Log Ingestion</a:t>
                      </a:r>
                    </a:p>
                  </a:txBody>
                  <a:tcPr>
                    <a:solidFill>
                      <a:srgbClr val="E7E6E6"/>
                    </a:solidFill>
                  </a:tcPr>
                </a:tc>
                <a:tc>
                  <a:txBody>
                    <a:bodyPr/>
                    <a:lstStyle/>
                    <a:p>
                      <a:r>
                        <a:rPr sz="1100"/>
                        <a:t>50 GB/day</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Query Performance</a:t>
                      </a:r>
                    </a:p>
                  </a:txBody>
                  <a:tcPr>
                    <a:solidFill>
                      <a:srgbClr val="E7E6E6"/>
                    </a:solidFill>
                  </a:tcPr>
                </a:tc>
                <a:tc>
                  <a:txBody>
                    <a:bodyPr/>
                    <a:lstStyle/>
                    <a:p>
                      <a:r>
                        <a:rPr sz="1100"/>
                        <a:t>Standard KQL queries</a:t>
                      </a:r>
                    </a:p>
                  </a:txBody>
                  <a:tcPr>
                    <a:solidFill>
                      <a:srgbClr val="E7E6E6"/>
                    </a:solidFill>
                  </a:tcPr>
                </a:tc>
              </a:tr>
              <a:tr h="370840">
                <a:tc>
                  <a:txBody>
                    <a:bodyPr/>
                    <a:lstStyle/>
                    <a:p>
                      <a:r>
                        <a:rPr b="1" sz="1100"/>
                        <a:t>Retention Period</a:t>
                      </a:r>
                    </a:p>
                  </a:txBody>
                  <a:tcPr>
                    <a:solidFill>
                      <a:srgbClr val="E7E6E6"/>
                    </a:solidFill>
                  </a:tcPr>
                </a:tc>
                <a:tc>
                  <a:txBody>
                    <a:bodyPr/>
                    <a:lstStyle/>
                    <a:p>
                      <a:r>
                        <a:rPr sz="1100"/>
                        <a:t>90 days hot 2 years archive</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Environments</a:t>
                      </a:r>
                    </a:p>
                  </a:txBody>
                  <a:tcPr>
                    <a:solidFill>
                      <a:srgbClr val="E7E6E6"/>
                    </a:solidFill>
                  </a:tcPr>
                </a:tc>
                <a:tc>
                  <a:txBody>
                    <a:bodyPr/>
                    <a:lstStyle/>
                    <a:p>
                      <a:r>
                        <a:rPr sz="1100"/>
                        <a:t>2 environments (dev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Data Collection Layer:</a:t>
            </a:r>
            <a:r>
              <a:t> Log connectors pulling security data from servers, applications, firewalls, and cloud services</a:t>
            </a:r>
          </a:p>
          <a:p>
            <a:pPr lvl="1"/>
            <a:r>
              <a:rPr b="1"/>
              <a:t>Analytics Engine:</a:t>
            </a:r>
            <a:r>
              <a:t> Microsoft Sentinel workspace with KQL queries analyzing millions of events in real-time</a:t>
            </a:r>
          </a:p>
          <a:p>
            <a:pPr lvl="1"/>
            <a:r>
              <a:rPr b="1"/>
              <a:t>Response Layer:</a:t>
            </a:r>
            <a:r>
              <a:t> Automated playbooks and incident management with investigation tools</a:t>
            </a:r>
          </a:p>
          <a:p>
            <a:pPr/>
            <a:r>
              <a:rPr b="1"/>
              <a:t>Technology Stack</a:t>
            </a:r>
          </a:p>
          <a:p>
            <a:pPr lvl="1"/>
            <a:r>
              <a:t>Cloud Platform: Microsoft Azure</a:t>
            </a:r>
          </a:p>
          <a:p>
            <a:pPr lvl="1"/>
            <a:r>
              <a:t>Core Service: Microsoft Sentinel (SIEM/SOAR)</a:t>
            </a:r>
          </a:p>
          <a:p>
            <a:pPr lvl="1"/>
            <a:r>
              <a:t>Data Store: Log Analytics Workspace</a:t>
            </a:r>
          </a:p>
          <a:p>
            <a:pPr lvl="1"/>
            <a:r>
              <a:t>Integration: Microsoft Defender, Azure Monitor, third-party security tools</a:t>
            </a:r>
          </a:p>
        </p:txBody>
      </p:sp>
      <p:pic>
        <p:nvPicPr>
          <p:cNvPr id="6" name="Picture 5" descr="architecture-diagram.png"/>
          <p:cNvPicPr>
            <a:picLocks noChangeAspect="1"/>
          </p:cNvPicPr>
          <p:nvPr/>
        </p:nvPicPr>
        <p:blipFill>
          <a:blip r:embed="rId4"/>
          <a:stretch>
            <a:fillRect/>
          </a:stretch>
        </p:blipFill>
        <p:spPr>
          <a:xfrm>
            <a:off x="5165474" y="685799"/>
            <a:ext cx="3331078" cy="381585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Foundation &amp; Planning</a:t>
            </a:r>
            <a:r>
              <a:t> *(Months 1-2)*</a:t>
            </a:r>
          </a:p>
          <a:p>
            <a:pPr lvl="1"/>
            <a:r>
              <a:t>Log Analytics Workspace setup and Sentinel deployment</a:t>
            </a:r>
          </a:p>
          <a:p>
            <a:pPr lvl="1"/>
            <a:r>
              <a:t>Data connector configuration for critical systems (Azure AD, firewalls, endpoints)</a:t>
            </a:r>
          </a:p>
          <a:p>
            <a:pPr lvl="1"/>
            <a:r>
              <a:t>Initial detection rules and alert tuning</a:t>
            </a:r>
          </a:p>
          <a:p>
            <a:pPr/>
            <a:r>
              <a:rPr b="1"/>
              <a:t>Phase 2: Core Implementation</a:t>
            </a:r>
            <a:r>
              <a:t> *(Months 3-4)*</a:t>
            </a:r>
          </a:p>
          <a:p>
            <a:pPr lvl="1"/>
            <a:r>
              <a:t>Advanced threat detection rules using KQL queries</a:t>
            </a:r>
          </a:p>
          <a:p>
            <a:pPr lvl="1"/>
            <a:r>
              <a:t>Automated incident response playbooks for common scenarios</a:t>
            </a:r>
          </a:p>
          <a:p>
            <a:pPr lvl="1"/>
            <a:r>
              <a:t>Security dashboard and reporting configuration</a:t>
            </a:r>
          </a:p>
          <a:p>
            <a:pPr/>
            <a:r>
              <a:rPr b="1"/>
              <a:t>Phase 3: Deployment &amp; Optimization</a:t>
            </a:r>
            <a:r>
              <a:t> *(Months 5-6)*</a:t>
            </a:r>
          </a:p>
          <a:p>
            <a:pPr lvl="1"/>
            <a:r>
              <a:t>User acceptance testing and security team training</a:t>
            </a:r>
          </a:p>
          <a:p>
            <a:pPr lvl="1"/>
            <a:r>
              <a:t>Detection rule optimization based on false positive analysis</a:t>
            </a:r>
          </a:p>
          <a:p>
            <a:pPr lvl="1"/>
            <a:r>
              <a:t>Continuous monitoring and threat hunting procedures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 &amp; Planning</a:t>
                      </a:r>
                    </a:p>
                  </a:txBody>
                  <a:tcPr>
                    <a:solidFill>
                      <a:srgbClr val="E7E6E6"/>
                    </a:solidFill>
                  </a:tcPr>
                </a:tc>
                <a:tc>
                  <a:txBody>
                    <a:bodyPr/>
                    <a:lstStyle/>
                    <a:p>
                      <a:r>
                        <a:rPr sz="1100"/>
                        <a:t>Months 1-2</a:t>
                      </a:r>
                    </a:p>
                  </a:txBody>
                  <a:tcPr>
                    <a:solidFill>
                      <a:srgbClr val="E7E6E6"/>
                    </a:solidFill>
                  </a:tcPr>
                </a:tc>
                <a:tc>
                  <a:txBody>
                    <a:bodyPr/>
                    <a:lstStyle/>
                    <a:p>
                      <a:r>
                        <a:rPr sz="1100"/>
                        <a:t>Sentinel workspace live, Critical data sources connected, Initial detection rules active</a:t>
                      </a:r>
                    </a:p>
                  </a:txBody>
                  <a:tcPr>
                    <a:solidFill>
                      <a:srgbClr val="E7E6E6"/>
                    </a:solidFill>
                  </a:tcPr>
                </a:tc>
              </a:tr>
              <a:tr h="370840">
                <a:tc>
                  <a:txBody>
                    <a:bodyPr/>
                    <a:lstStyle/>
                    <a:p>
                      <a:r>
                        <a:rPr sz="1100"/>
                        <a:t>Phase 2</a:t>
                      </a:r>
                    </a:p>
                  </a:txBody>
                  <a:tcPr>
                    <a:solidFill>
                      <a:srgbClr val="E7E6E6"/>
                    </a:solidFill>
                  </a:tcPr>
                </a:tc>
                <a:tc>
                  <a:txBody>
                    <a:bodyPr/>
                    <a:lstStyle/>
                    <a:p>
                      <a:r>
                        <a:rPr sz="1100"/>
                        <a:t>Core Implementation</a:t>
                      </a:r>
                    </a:p>
                  </a:txBody>
                  <a:tcPr>
                    <a:solidFill>
                      <a:srgbClr val="E7E6E6"/>
                    </a:solidFill>
                  </a:tcPr>
                </a:tc>
                <a:tc>
                  <a:txBody>
                    <a:bodyPr/>
                    <a:lstStyle/>
                    <a:p>
                      <a:r>
                        <a:rPr sz="1100"/>
                        <a:t>Months 3-4</a:t>
                      </a:r>
                    </a:p>
                  </a:txBody>
                  <a:tcPr>
                    <a:solidFill>
                      <a:srgbClr val="E7E6E6"/>
                    </a:solidFill>
                  </a:tcPr>
                </a:tc>
                <a:tc>
                  <a:txBody>
                    <a:bodyPr/>
                    <a:lstStyle/>
                    <a:p>
                      <a:r>
                        <a:rPr sz="1100"/>
                        <a:t>Advanced detection rules deployed, Automated playbooks operational, Security dashboards available</a:t>
                      </a:r>
                    </a:p>
                  </a:txBody>
                  <a:tcPr>
                    <a:solidFill>
                      <a:srgbClr val="E7E6E6"/>
                    </a:solidFill>
                  </a:tcPr>
                </a:tc>
              </a:tr>
              <a:tr h="370840">
                <a:tc>
                  <a:txBody>
                    <a:bodyPr/>
                    <a:lstStyle/>
                    <a:p>
                      <a:r>
                        <a:rPr sz="1100"/>
                        <a:t>Phase 3</a:t>
                      </a:r>
                    </a:p>
                  </a:txBody>
                  <a:tcPr>
                    <a:solidFill>
                      <a:srgbClr val="E7E6E6"/>
                    </a:solidFill>
                  </a:tcPr>
                </a:tc>
                <a:tc>
                  <a:txBody>
                    <a:bodyPr/>
                    <a:lstStyle/>
                    <a:p>
                      <a:r>
                        <a:rPr sz="1100"/>
                        <a:t>Deployment &amp; Optimization</a:t>
                      </a:r>
                    </a:p>
                  </a:txBody>
                  <a:tcPr>
                    <a:solidFill>
                      <a:srgbClr val="E7E6E6"/>
                    </a:solidFill>
                  </a:tcPr>
                </a:tc>
                <a:tc>
                  <a:txBody>
                    <a:bodyPr/>
                    <a:lstStyle/>
                    <a:p>
                      <a:r>
                        <a:rPr sz="1100"/>
                        <a:t>Months 5-6</a:t>
                      </a:r>
                    </a:p>
                  </a:txBody>
                  <a:tcPr>
                    <a:solidFill>
                      <a:srgbClr val="E7E6E6"/>
                    </a:solidFill>
                  </a:tcPr>
                </a:tc>
                <a:tc>
                  <a:txBody>
                    <a:bodyPr/>
                    <a:lstStyle/>
                    <a:p>
                      <a:r>
                        <a:rPr sz="1100"/>
                        <a:t>Security team trained, Detection rules tuned, Threat hunting procedures documented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Regional Healthcare Network</a:t>
            </a:r>
          </a:p>
          <a:p>
            <a:pPr lvl="1"/>
            <a:r>
              <a:rPr b="1"/>
              <a:t>Client:</a:t>
            </a:r>
            <a:r>
              <a:t> Healthcare organization with 5,000+ employees across 12 facilities managing patient data</a:t>
            </a:r>
          </a:p>
          <a:p>
            <a:pPr lvl="1"/>
            <a:r>
              <a:rPr b="1"/>
              <a:t>Challenge:</a:t>
            </a:r>
            <a:r>
              <a:t> Security team overwhelmed by 10,000+ daily alerts from disconnected tools, 48-hour average threat detection time, compliance gaps with HIPAA requirements</a:t>
            </a:r>
          </a:p>
          <a:p>
            <a:pPr lvl="1"/>
            <a:r>
              <a:rPr b="1"/>
              <a:t>Solution:</a:t>
            </a:r>
            <a:r>
              <a:t> Deployed Microsoft Sentinel with unified log collection from all systems, AI-powered threat detection, and automated incident response playbooks for common security events</a:t>
            </a:r>
          </a:p>
          <a:p>
            <a:pPr lvl="1"/>
            <a:r>
              <a:rPr b="1"/>
              <a:t>Results:</a:t>
            </a:r>
            <a:r>
              <a:t> 90% reduction in alert noise (from 10,000 to 1,000 actionable alerts daily), threat detection time reduced from 48 hours to 15 minutes, full HIPAA compliance reporting automated, security team productivity increased 3x</a:t>
            </a:r>
          </a:p>
          <a:p>
            <a:pPr lvl="1"/>
            <a:r>
              <a:rPr b="1"/>
              <a:t>Testimonial:</a:t>
            </a:r>
            <a:r>
              <a:t> "Microsoft Sentinel transformed our security operations. We went from drowning in alerts to proactively hunting threats. The automated playbooks handle routine incidents automatically, freeing our team to focus on advanced threats. We finally have the visibility and response capability we needed." — </a:t>
            </a:r>
            <a:r>
              <a:rPr b="1"/>
              <a:t>Sarah Martinez, Chief Information Security Officer</a:t>
            </a:r>
            <a:r>
              <a:t>, Regional Healthcare Network</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10+ years delivering enterprise security solutions</a:t>
            </a:r>
          </a:p>
          <a:p>
            <a:pPr lvl="1"/>
            <a:r>
              <a:t>150+ successful Microsoft Sentinel implementations</a:t>
            </a:r>
          </a:p>
          <a:p>
            <a:pPr lvl="1"/>
            <a:r>
              <a:t>Microsoft Solutions Partner for Security designation</a:t>
            </a:r>
          </a:p>
          <a:p>
            <a:pPr lvl="1"/>
            <a:r>
              <a:t>Certified security architects with Azure Security Engineer certifications</a:t>
            </a:r>
          </a:p>
          <a:p>
            <a:pPr lvl="1"/>
            <a:r>
              <a:t>24/7 security operations support with 99.5% SLA guarantee</a:t>
            </a:r>
          </a:p>
        </p:txBody>
      </p:sp>
      <p:sp>
        <p:nvSpPr>
          <p:cNvPr id="5" name="Text Placeholder 4"/>
          <p:cNvSpPr>
            <a:spLocks noGrp="1"/>
          </p:cNvSpPr>
          <p:nvPr>
            <p:ph type="body" idx="17" sz="quarter"/>
          </p:nvPr>
        </p:nvSpPr>
        <p:spPr/>
        <p:txBody>
          <a:bodyPr/>
          <a:lstStyle/>
          <a:p>
            <a:pPr/>
            <a:r>
              <a:rPr b="1"/>
              <a:t>Value to You</a:t>
            </a:r>
          </a:p>
          <a:p>
            <a:pPr lvl="1"/>
            <a:r>
              <a:t>Proven methodology reduces implementation risk by 60%</a:t>
            </a:r>
          </a:p>
          <a:p>
            <a:pPr lvl="1"/>
            <a:r>
              <a:t>Pre-built detection rules and playbooks fast-track your deployment</a:t>
            </a:r>
          </a:p>
          <a:p>
            <a:pPr lvl="1"/>
            <a:r>
              <a:t>Direct Microsoft escalation and early-access to new Sentinel features</a:t>
            </a:r>
          </a:p>
          <a:p>
            <a:pPr lvl="1"/>
            <a:r>
              <a:t>Comprehensive skills transfer for security team self-sufficiency</a:t>
            </a:r>
          </a:p>
          <a:p>
            <a:pPr lvl="1"/>
            <a:r>
              <a:t>Best practices from 150+ security implementations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741680"/>
        </p:xfrm>
        <a:graphic>
          <a:graphicData uri="http://schemas.openxmlformats.org/drawingml/2006/table">
            <a:tbl>
              <a:tblPr firstRow="1" bandRow="1">
                <a:tableStyleId>{5C22544A-7EE6-4342-B048-85BDC9FD1C3A}</a:tableStyleId>
              </a:tblPr>
              <a:tblGrid>
                <a:gridCol w="2177733"/>
                <a:gridCol w="1306639"/>
                <a:gridCol w="1306639"/>
                <a:gridCol w="1306639"/>
                <a:gridCol w="871093"/>
                <a:gridCol w="871093"/>
                <a:gridCol w="871093"/>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 INVESTMENT</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Security team approval and executive sign-off by [date]</a:t>
            </a:r>
          </a:p>
          <a:p>
            <a:pPr/>
            <a:r>
              <a:rPr b="1"/>
              <a:t>Kickoff:</a:t>
            </a:r>
            <a:r>
              <a:t> Target start date for discovery phase</a:t>
            </a:r>
          </a:p>
          <a:p>
            <a:pPr/>
            <a:r>
              <a:rPr b="1"/>
              <a:t>Team Formation:</a:t>
            </a:r>
            <a:r>
              <a:t> Security operations lead, IT infrastructure SMEs, compliance officer</a:t>
            </a:r>
          </a:p>
          <a:p>
            <a:pPr/>
            <a:r>
              <a:rPr b="1"/>
              <a:t>Week 1:</a:t>
            </a:r>
            <a:r>
              <a:t> Contract finalization and Azure environment access setup</a:t>
            </a:r>
          </a:p>
          <a:p>
            <a:pPr/>
            <a:r>
              <a:rPr b="1"/>
              <a:t>Week 2:</a:t>
            </a:r>
            <a:r>
              <a:t> Discovery workshops with security and IT teams</a:t>
            </a:r>
          </a:p>
          <a:p>
            <a:pPr/>
            <a:r>
              <a:rPr b="1"/>
              <a:t>Week 3:</a:t>
            </a:r>
            <a:r>
              <a:t> Log Analytics Workspace deployment and initial data connector testing</a:t>
            </a:r>
          </a:p>
          <a:p>
            <a:pPr/>
            <a:r>
              <a:rPr b="1"/>
              <a:t>Week 4:</a:t>
            </a:r>
            <a:r>
              <a:t> First critical systems connected and generating security alerts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