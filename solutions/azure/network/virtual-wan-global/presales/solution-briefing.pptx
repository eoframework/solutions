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5856" b="585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Azure Virtual WAN Global Network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Alison Smith | November 18, 2025</a:t>
            </a:r>
          </a:p>
        </p:txBody>
      </p:sp>
      <p:pic>
        <p:nvPicPr>
          <p:cNvPr id="7" name="Picture 6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Business Opportunity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314" b="6314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Connect all branch offices to Azure and each other through a single managed network backbone</a:t>
            </a:r>
          </a:p>
          <a:p>
            <a:pPr lvl="1"/>
            <a:r>
              <a:t>Replace complex VPN configurations with automated routing that scales as you add locations</a:t>
            </a:r>
          </a:p>
          <a:p>
            <a:pPr lvl="1"/>
            <a:r>
              <a:t>Reduce network management overhead by 50-60% with centralized policy and monitoring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Connect all branch locations to Azure within 3 months with consistent security policies</a:t>
            </a:r>
          </a:p>
          <a:p>
            <a:pPr lvl="1"/>
            <a:r>
              <a:t>Achieve 40% reduction in network management costs compared to traditional hub-spoke VPN</a:t>
            </a:r>
          </a:p>
          <a:p>
            <a:pPr lvl="1"/>
            <a:r>
              <a:t>Deliver reliable connectivity with automatic failover and less than 100ms latency</a:t>
            </a:r>
          </a:p>
        </p:txBody>
      </p:sp>
      <p:pic>
        <p:nvPicPr>
          <p:cNvPr id="6" name="Picture 5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Engagement Scope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404" b="6404"/>
          <a:stretch>
            <a:fillRect/>
          </a:stretch>
        </p:blipFill>
        <p:spPr/>
      </p:pic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D0D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Virtual WAN Hubs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regional hubs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D0D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Azure regions globally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Connected Sites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10-15 branch locations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D0D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 availability (99.95%)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VPN Connections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Site-to-site IPsec VPN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D0D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vWAN + Azure Firewall + routing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ExpressRoute Circuits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circuits (primary backup)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D0D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Firewall DDoS protection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1000 users across sites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D0D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SOC2 ISO27001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roles (network ops security admin)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D0D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Latency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&lt;50ms inter-region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Bandwidth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 Gbps aggregate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D0D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Routing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BGP route propagation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Traffic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TB/month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D0D0D0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environments (non-prod prod)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494" b="6494"/>
          <a:stretch>
            <a:fillRect/>
          </a:stretch>
        </p:blipFill>
        <p:spPr/>
      </p:pic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Key Components</a:t>
            </a:r>
          </a:p>
          <a:p>
            <a:pPr lvl="1"/>
            <a:r>
              <a:rPr b="1"/>
              <a:t>Virtual WAN Hub:</a:t>
            </a:r>
            <a:r>
              <a:t> Microsoft-managed regional network hub that connects branches, VNets, and Azure services</a:t>
            </a:r>
          </a:p>
          <a:p>
            <a:pPr lvl="1"/>
            <a:r>
              <a:rPr b="1"/>
              <a:t>Branch Connectivity:</a:t>
            </a:r>
            <a:r>
              <a:t> SD-WAN integration, site-to-site VPN, or ExpressRoute for office connections</a:t>
            </a:r>
          </a:p>
          <a:p>
            <a:pPr lvl="1"/>
            <a:r>
              <a:rPr b="1"/>
              <a:t>Security Services:</a:t>
            </a:r>
            <a:r>
              <a:t> Azure Firewall and routing policies applied consistently across all traffic</a:t>
            </a:r>
          </a:p>
          <a:p>
            <a:pPr/>
            <a:r>
              <a:rPr b="1"/>
              <a:t>Technology Stack</a:t>
            </a:r>
          </a:p>
          <a:p>
            <a:pPr lvl="1"/>
            <a:r>
              <a:t>Platform: Azure Virtual WAN with Standard tier</a:t>
            </a:r>
          </a:p>
          <a:p>
            <a:pPr lvl="1"/>
            <a:r>
              <a:t>Routing: Automated BGP routing and traffic optimization</a:t>
            </a:r>
          </a:p>
          <a:p>
            <a:pPr lvl="1"/>
            <a:r>
              <a:t>Security: Azure Firewall Manager with centralized policies</a:t>
            </a:r>
          </a:p>
          <a:p>
            <a:pPr lvl="1"/>
            <a:r>
              <a:t>Monitoring: Azure Network Watcher and traffic analytics</a:t>
            </a:r>
          </a:p>
        </p:txBody>
      </p:sp>
      <p:pic>
        <p:nvPicPr>
          <p:cNvPr id="6" name="Picture 5" descr="architecture-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427" y="685799"/>
            <a:ext cx="4307171" cy="3815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Approach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Network Assessment &amp; Design</a:t>
            </a:r>
            <a:r>
              <a:t> (Months 1-2)</a:t>
            </a:r>
          </a:p>
          <a:p>
            <a:pPr lvl="1"/>
            <a:r>
              <a:t>Inventory all branch locations and current connectivity methods</a:t>
            </a:r>
          </a:p>
          <a:p>
            <a:pPr lvl="1"/>
            <a:r>
              <a:t>Design hub placement based on user geography and latency requirements</a:t>
            </a:r>
          </a:p>
          <a:p>
            <a:pPr lvl="1"/>
            <a:r>
              <a:t>Plan IP addressing, routing policies, and security rules</a:t>
            </a:r>
          </a:p>
          <a:p>
            <a:pPr/>
            <a:r>
              <a:rPr b="1"/>
              <a:t>Phase 2: Hub Infrastructure Deployment</a:t>
            </a:r>
            <a:r>
              <a:t> (Months 3-4)</a:t>
            </a:r>
          </a:p>
          <a:p>
            <a:pPr lvl="1"/>
            <a:r>
              <a:t>Deploy Virtual WAN hubs in primary Azure regions</a:t>
            </a:r>
          </a:p>
          <a:p>
            <a:pPr lvl="1"/>
            <a:r>
              <a:t>Configure Azure Firewall and routing policies</a:t>
            </a:r>
          </a:p>
          <a:p>
            <a:pPr lvl="1"/>
            <a:r>
              <a:t>Connect Azure Virtual Networks to the WAN backbone</a:t>
            </a:r>
          </a:p>
          <a:p>
            <a:pPr/>
            <a:r>
              <a:rPr b="1"/>
              <a:t>Phase 3: Branch Connectivity &amp; Optimization</a:t>
            </a:r>
            <a:r>
              <a:t> (Months 5-6)</a:t>
            </a:r>
          </a:p>
          <a:p>
            <a:pPr lvl="1"/>
            <a:r>
              <a:t>Connect branch offices via SD-WAN, VPN, or ExpressRoute</a:t>
            </a:r>
          </a:p>
          <a:p>
            <a:pPr lvl="1"/>
            <a:r>
              <a:t>Validate end-to-end connectivity and security policies</a:t>
            </a:r>
          </a:p>
          <a:p>
            <a:pPr lvl="1"/>
            <a:r>
              <a:t>Optimize routing and monitor performance metrics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Timeline &amp; Milestones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404" b="6404"/>
          <a:stretch>
            <a:fillRect/>
          </a:stretch>
        </p:blipFill>
        <p:spPr/>
      </p:pic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Network Assessment &amp;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Network inventory complete, Hub placement design approved, Routing policy documented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Hub Infrastructure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Virtual WAN hubs operational, Azure Firewall configured, VNet connectivity verified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Branch Connectivity &amp;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branches connected, Security policies enforced, Performance monitoring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Success Stories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International Logistics Company</a:t>
            </a:r>
          </a:p>
          <a:p>
            <a:pPr lvl="1"/>
            <a:r>
              <a:rPr b="1"/>
              <a:t>Client:</a:t>
            </a:r>
            <a:r>
              <a:t> Logistics provider with 45 warehouse locations across North America, Europe, and Asia</a:t>
            </a:r>
          </a:p>
          <a:p>
            <a:pPr lvl="1"/>
            <a:r>
              <a:rPr b="1"/>
              <a:t>Challenge:</a:t>
            </a:r>
            <a:r>
              <a:t> Managing 45 separate VPN tunnels to Azure, inconsistent security policies, 3-day average to add new locations, $180K annual network management costs</a:t>
            </a:r>
          </a:p>
          <a:p>
            <a:pPr lvl="1"/>
            <a:r>
              <a:rPr b="1"/>
              <a:t>Solution:</a:t>
            </a:r>
            <a:r>
              <a:t> Deployed Azure Virtual WAN with three regional hubs, SD-WAN integration at each warehouse, centralized Azure Firewall policies, and automated routing</a:t>
            </a:r>
          </a:p>
          <a:p>
            <a:pPr lvl="1"/>
            <a:r>
              <a:rPr b="1"/>
              <a:t>Results:</a:t>
            </a:r>
            <a:r>
              <a:t> 55% reduction in network management costs ($99K annual savings), new location connectivity reduced from 3 days to 4 hours, 99.95% network uptime, consistent security policies across all locations</a:t>
            </a:r>
          </a:p>
          <a:p>
            <a:pPr lvl="1"/>
            <a:r>
              <a:rPr b="1"/>
              <a:t>Testimonial:</a:t>
            </a:r>
            <a:r>
              <a:t> "Azure Virtual WAN simplified our entire network architecture. Adding a new warehouse used to take days of VPN configuration. Now our team connects a new site in hours with automatic routing and security policies already in place." — </a:t>
            </a:r>
            <a:r>
              <a:rPr b="1"/>
              <a:t>Robert Martinez, VP of IT Infrastructure</a:t>
            </a:r>
            <a:r>
              <a:t>, Global Logistics Inc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Our Partnership Advantage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314" b="6314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Azure Network Specialty certification with SD-WAN integration expertise</a:t>
            </a:r>
          </a:p>
          <a:p>
            <a:pPr lvl="1"/>
            <a:r>
              <a:t>75+ Azure Virtual WAN deployments for multi-national organizations</a:t>
            </a:r>
          </a:p>
          <a:p>
            <a:pPr lvl="1"/>
            <a:r>
              <a:t>Direct relationships with leading SD-WAN vendors (Cisco, VMware, Fortinet)</a:t>
            </a:r>
          </a:p>
          <a:p>
            <a:pPr lvl="1"/>
            <a:r>
              <a:t>Pre-built automation templates for hub deployment and branch connectivity</a:t>
            </a:r>
          </a:p>
          <a:p>
            <a:pPr lvl="1"/>
            <a:r>
              <a:t>24/7 network operations center support during migration phases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Proven methodology reduces deployment risk and accelerates time-to-value</a:t>
            </a:r>
          </a:p>
          <a:p>
            <a:pPr lvl="1"/>
            <a:r>
              <a:t>SD-WAN vendor partnerships ensure seamless branch integration</a:t>
            </a:r>
          </a:p>
          <a:p>
            <a:pPr lvl="1"/>
            <a:r>
              <a:t>Experience with complex routing scenarios prevents connectivity issues</a:t>
            </a:r>
          </a:p>
          <a:p>
            <a:pPr lvl="1"/>
            <a:r>
              <a:t>Post-deployment optimization identifies cost savings opportunities</a:t>
            </a:r>
          </a:p>
          <a:p>
            <a:pPr lvl="1"/>
            <a:r>
              <a:t>Knowledge transfer ensures your team manages the network confidently</a:t>
            </a:r>
          </a:p>
        </p:txBody>
      </p:sp>
      <p:pic>
        <p:nvPicPr>
          <p:cNvPr id="6" name="Picture 5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Investment Summary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404" b="6404"/>
          <a:stretch>
            <a:fillRect/>
          </a:stretch>
        </p:blipFill>
        <p:spPr/>
      </p:pic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306639"/>
                <a:gridCol w="1306639"/>
                <a:gridCol w="871093"/>
                <a:gridCol w="871093"/>
                <a:gridCol w="87109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Provider/Partner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INVESTMENT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Next Steps</a:t>
            </a:r>
          </a:p>
        </p:txBody>
      </p:sp>
      <p:pic>
        <p:nvPicPr>
          <p:cNvPr id="3" name="Picture Placeholder 2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762" b="676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Network Inventory:</a:t>
            </a:r>
            <a:r>
              <a:t> Compile list of all branch locations with current connectivity</a:t>
            </a:r>
          </a:p>
          <a:p>
            <a:pPr/>
            <a:r>
              <a:rPr b="1"/>
              <a:t>Decision:</a:t>
            </a:r>
            <a:r>
              <a:t> SOW approval and contract execution by [Target Date]</a:t>
            </a:r>
          </a:p>
          <a:p>
            <a:pPr/>
            <a:r>
              <a:rPr b="1"/>
              <a:t>Kickoff:</a:t>
            </a:r>
            <a:r>
              <a:t> Project initiation scheduled for [Start Date]</a:t>
            </a:r>
          </a:p>
          <a:p>
            <a:pPr/>
            <a:r>
              <a:rPr b="1"/>
              <a:t>Week 1:</a:t>
            </a:r>
            <a:r>
              <a:t> Network discovery and requirements workshop</a:t>
            </a:r>
          </a:p>
          <a:p>
            <a:pPr/>
            <a:r>
              <a:rPr b="1"/>
              <a:t>Week 2:</a:t>
            </a:r>
            <a:r>
              <a:t> Hub placement design and IP addressing plan</a:t>
            </a:r>
          </a:p>
          <a:p>
            <a:pPr/>
            <a:r>
              <a:rPr b="1"/>
              <a:t>Week 3:</a:t>
            </a:r>
            <a:r>
              <a:t> SD-WAN vendor coordination and compatibility verification</a:t>
            </a:r>
          </a:p>
          <a:p>
            <a:pPr/>
            <a:r>
              <a:rPr b="1"/>
              <a:t>Week 4:</a:t>
            </a:r>
            <a:r>
              <a:t> Pilot branch selection and migration planning</a:t>
            </a:r>
          </a:p>
        </p:txBody>
      </p:sp>
      <p:pic>
        <p:nvPicPr>
          <p:cNvPr id="5" name="Picture 4" descr="eo-framework-logo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client_logo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433" b="43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pic>
        <p:nvPicPr>
          <p:cNvPr id="4" name="Picture Placeholder 3" descr="consulting_company_logo.png"/>
          <p:cNvPicPr>
            <a:picLocks noGrp="1" noChangeAspect="1"/>
          </p:cNvPicPr>
          <p:nvPr>
            <p:ph type="pic" idx="13" sz="quarter"/>
          </p:nvPr>
        </p:nvPicPr>
        <p:blipFill>
          <a:blip r:embed="rId3"/>
          <a:srcRect t="7166" b="7166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/>
              <a:t>Your Account Manager:</a:t>
            </a:r>
            <a:r>
              <a:t> [Name, Title] | [Email] | [Phone]</a:t>
            </a:r>
          </a:p>
        </p:txBody>
      </p:sp>
      <p:pic>
        <p:nvPicPr>
          <p:cNvPr id="7" name="Picture 6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