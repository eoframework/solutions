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Presenter Name | November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Achievements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Deployment Acceleration</a:t>
            </a:r>
            <a:r>
              <a:t>: Achieved 60% faster deployment cycles with zero-downtime deployments</a:t>
            </a:r>
          </a:p>
          <a:p>
            <a:pPr/>
            <a:r>
              <a:rPr b="1"/>
              <a:t>Development Efficiency</a:t>
            </a:r>
            <a:r>
              <a:t>: Improved developer productivity by 45% through automation and tooling</a:t>
            </a:r>
          </a:p>
          <a:p>
            <a:pPr/>
            <a:r>
              <a:rPr b="1"/>
              <a:t>Quality Enhancement</a:t>
            </a:r>
            <a:r>
              <a:t>: Reduced production defects by 70% through automated testing and quality gates</a:t>
            </a:r>
          </a:p>
          <a:p>
            <a:pPr/>
            <a:r>
              <a:rPr b="1"/>
              <a:t>Cost Optimization</a:t>
            </a:r>
            <a:r>
              <a:t>: Delivered 40% reduction in development and deployment costs</a:t>
            </a:r>
          </a:p>
          <a:p>
            <a:pPr/>
            <a:r>
              <a:rPr b="1"/>
              <a:t>Scalability</a:t>
            </a:r>
            <a:r>
              <a:t>: Deployed cloud-native platform supporting unlimited development teams and projects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Primary Business Outcomes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Deployment Speed</a:t>
            </a:r>
            <a:r>
              <a:t>: 60% reduction in deployment time from 4 hours to 90 minutes</a:t>
            </a:r>
          </a:p>
          <a:p>
            <a:pPr/>
            <a:r>
              <a:rPr b="1"/>
              <a:t>Release Frequency</a:t>
            </a:r>
            <a:r>
              <a:t>: Increased from monthly to daily releases with automated pipelines</a:t>
            </a:r>
          </a:p>
          <a:p>
            <a:pPr/>
            <a:r>
              <a:rPr b="1"/>
              <a:t>Lead Time</a:t>
            </a:r>
            <a:r>
              <a:t>: Reduced feature development lead time from 6 weeks to 2 weeks</a:t>
            </a:r>
          </a:p>
          <a:p>
            <a:pPr/>
            <a:r>
              <a:rPr b="1"/>
              <a:t>Time to Market</a:t>
            </a:r>
            <a:r>
              <a:t>: 50% faster time to market for new features and products</a:t>
            </a:r>
          </a:p>
          <a:p>
            <a:pPr/>
            <a:r>
              <a:rPr b="1"/>
              <a:t>Deployment Success</a:t>
            </a:r>
            <a:r>
              <a:t>: 99.5% deployment success rate with automated rollback capabilities</a:t>
            </a:r>
          </a:p>
          <a:p>
            <a:pPr/>
            <a:r>
              <a:rPr b="1"/>
              <a:t>Cost Reduction</a:t>
            </a:r>
            <a:r>
              <a:t>: 40% reduction in total development and deployment costs</a:t>
            </a:r>
          </a:p>
          <a:p>
            <a:pPr/>
            <a:r>
              <a:rPr b="1"/>
              <a:t>Resource Optimization</a:t>
            </a:r>
            <a:r>
              <a:t>: 35% improvement in development team utilization</a:t>
            </a:r>
          </a:p>
          <a:p>
            <a:pPr/>
            <a:r>
              <a:rPr b="1"/>
              <a:t>Infrastructure Savings</a:t>
            </a:r>
            <a:r>
              <a:t>: 50% reduction in build and deployment infrastructure costs</a:t>
            </a:r>
          </a:p>
          <a:p>
            <a:pPr/>
            <a:r>
              <a:rPr b="1"/>
              <a:t>Defect Prevention</a:t>
            </a:r>
            <a:r>
              <a:t>: Prevented $1.8M in potential production defect costs</a:t>
            </a:r>
          </a:p>
          <a:p>
            <a:pPr/>
            <a:r>
              <a:rPr b="1"/>
              <a:t>License Optimization</a:t>
            </a:r>
            <a:r>
              <a:t>: 30% reduction in tool licensing costs through consolidation</a:t>
            </a:r>
          </a:p>
          <a:p>
            <a:pPr/>
            <a:r>
              <a:rPr b="1"/>
              <a:t>Automation Coverage</a:t>
            </a:r>
            <a:r>
              <a:t>: 90% of development and deployment tasks now automated</a:t>
            </a:r>
          </a:p>
          <a:p>
            <a:pPr/>
            <a:r>
              <a:rPr b="1"/>
              <a:t>Quality Gates</a:t>
            </a:r>
            <a:r>
              <a:t>: Automated quality checks preventing 95% of defects from reaching production</a:t>
            </a:r>
          </a:p>
          <a:p>
            <a:pPr/>
            <a:r>
              <a:rPr b="1"/>
              <a:t>Compliance</a:t>
            </a:r>
            <a:r>
              <a:t>: Automated compliance checking for SOC 2, HIPAA, and PCI DSS requirements</a:t>
            </a:r>
          </a:p>
          <a:p>
            <a:pPr/>
            <a:r>
              <a:rPr b="1"/>
              <a:t>Monitoring</a:t>
            </a:r>
            <a:r>
              <a:t>: Real-time visibility into all development and deployment activities</a:t>
            </a:r>
          </a:p>
          <a:p>
            <a:pPr/>
            <a:r>
              <a:rPr b="1"/>
              <a:t>Collaboration</a:t>
            </a:r>
            <a:r>
              <a:t>: Unified platform improving cross-team collaboration by 60%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Architecture Delivered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Azure DevOps Services</a:t>
            </a:r>
            <a:r>
              <a:t>: Complete application lifecycle management platform</a:t>
            </a:r>
          </a:p>
          <a:p>
            <a:pPr/>
            <a:r>
              <a:rPr b="1"/>
              <a:t>Azure Boards</a:t>
            </a:r>
            <a:r>
              <a:t>: Agile project management with advanced tracking and reporting</a:t>
            </a:r>
          </a:p>
          <a:p>
            <a:pPr/>
            <a:r>
              <a:rPr b="1"/>
              <a:t>Azure Repos</a:t>
            </a:r>
            <a:r>
              <a:t>: Git repositories with advanced branch policies and security</a:t>
            </a:r>
          </a:p>
          <a:p>
            <a:pPr/>
            <a:r>
              <a:rPr b="1"/>
              <a:t>Azure Pipelines</a:t>
            </a:r>
            <a:r>
              <a:t>: CI/CD automation with multi-stage deployments</a:t>
            </a:r>
          </a:p>
          <a:p>
            <a:pPr/>
            <a:r>
              <a:rPr b="1"/>
              <a:t>Azure Test Plans</a:t>
            </a:r>
            <a:r>
              <a:t>: Comprehensive testing management and automation</a:t>
            </a:r>
          </a:p>
          <a:p>
            <a:pPr/>
            <a:r>
              <a:rPr b="1"/>
              <a:t>Azure Artifacts</a:t>
            </a:r>
            <a:r>
              <a:t>: Package management with security scanning and governance</a:t>
            </a:r>
          </a:p>
          <a:p>
            <a:pPr/>
            <a:r>
              <a:rPr b="1"/>
              <a:t>Visual Studio</a:t>
            </a:r>
            <a:r>
              <a:t>: Seamless IDE integration with debugging and profiling</a:t>
            </a:r>
          </a:p>
          <a:p>
            <a:pPr/>
            <a:r>
              <a:rPr b="1"/>
              <a:t>VS Code</a:t>
            </a:r>
            <a:r>
              <a:t>: Lightweight development environment with extensions</a:t>
            </a:r>
          </a:p>
          <a:p>
            <a:pPr/>
            <a:r>
              <a:rPr b="1"/>
              <a:t>GitHub</a:t>
            </a:r>
            <a:r>
              <a:t>: Enterprise source control with advanced security features</a:t>
            </a:r>
          </a:p>
          <a:p>
            <a:pPr/>
            <a:r>
              <a:rPr b="1"/>
              <a:t>Docker</a:t>
            </a:r>
            <a:r>
              <a:t>: Containerized application development and deployment</a:t>
            </a:r>
          </a:p>
          <a:p>
            <a:pPr/>
            <a:r>
              <a:rPr b="1"/>
              <a:t>Kubernetes</a:t>
            </a:r>
            <a:r>
              <a:t>: Container orchestration for scalable application hosting</a:t>
            </a:r>
          </a:p>
          <a:p>
            <a:pPr/>
            <a:r>
              <a:rPr b="1"/>
              <a:t>Infrastructure as Code</a:t>
            </a:r>
            <a:r>
              <a:t>: Terraform and ARM templates for automated provisioning</a:t>
            </a:r>
          </a:p>
          <a:p>
            <a:pPr/>
            <a:r>
              <a:rPr b="1"/>
              <a:t>Environment Management</a:t>
            </a:r>
            <a:r>
              <a:t>: Automated staging, testing, and production environments</a:t>
            </a:r>
          </a:p>
          <a:p>
            <a:pPr/>
            <a:r>
              <a:rPr b="1"/>
              <a:t>Configuration Management</a:t>
            </a:r>
            <a:r>
              <a:t>: Centralized configuration with environment-specific values</a:t>
            </a:r>
          </a:p>
          <a:p>
            <a:pPr/>
            <a:r>
              <a:rPr b="1"/>
              <a:t>Secrets Management</a:t>
            </a:r>
            <a:r>
              <a:t>: Azure Key Vault integration for secure credential handling</a:t>
            </a:r>
          </a:p>
          <a:p>
            <a:pPr/>
            <a:r>
              <a:rPr b="1"/>
              <a:t>Monitoring Integration</a:t>
            </a:r>
            <a:r>
              <a:t>: Application Insights and Azure Monitor for comprehensive observability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CI/CD Pipeline Architecture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Multi-Language Support</a:t>
            </a:r>
            <a:r>
              <a:t>: .NET, Java, Python, Node.js, and Docker builds</a:t>
            </a:r>
          </a:p>
          <a:p>
            <a:pPr/>
            <a:r>
              <a:rPr b="1"/>
              <a:t>Parallel Processing</a:t>
            </a:r>
            <a:r>
              <a:t>: Distributed build agents reducing build time by 65%</a:t>
            </a:r>
          </a:p>
          <a:p>
            <a:pPr/>
            <a:r>
              <a:rPr b="1"/>
              <a:t>Artifact Management</a:t>
            </a:r>
            <a:r>
              <a:t>: Automated package creation, versioning, and distribution</a:t>
            </a:r>
          </a:p>
          <a:p>
            <a:pPr/>
            <a:r>
              <a:rPr b="1"/>
              <a:t>Security Scanning</a:t>
            </a:r>
            <a:r>
              <a:t>: Integrated SAST, DAST, and dependency vulnerability scanning</a:t>
            </a:r>
          </a:p>
          <a:p>
            <a:pPr/>
            <a:r>
              <a:rPr b="1"/>
              <a:t>Quality Gates</a:t>
            </a:r>
            <a:r>
              <a:t>: Automated code quality checks with SonarQube integration</a:t>
            </a:r>
          </a:p>
          <a:p>
            <a:pPr/>
            <a:r>
              <a:rPr b="1"/>
              <a:t>Multi-Stage Pipelines</a:t>
            </a:r>
            <a:r>
              <a:t>: Development, testing, staging, and production deployments</a:t>
            </a:r>
          </a:p>
          <a:p>
            <a:pPr/>
            <a:r>
              <a:rPr b="1"/>
              <a:t>Blue-Green Deployments</a:t>
            </a:r>
            <a:r>
              <a:t>: Zero-downtime deployment strategies</a:t>
            </a:r>
          </a:p>
          <a:p>
            <a:pPr/>
            <a:r>
              <a:rPr b="1"/>
              <a:t>Canary Releases</a:t>
            </a:r>
            <a:r>
              <a:t>: Gradual rollout with automated monitoring and rollback</a:t>
            </a:r>
          </a:p>
          <a:p>
            <a:pPr/>
            <a:r>
              <a:rPr b="1"/>
              <a:t>Infrastructure Provisioning</a:t>
            </a:r>
            <a:r>
              <a:t>: Automated environment creation and configuration</a:t>
            </a:r>
          </a:p>
          <a:p>
            <a:pPr/>
            <a:r>
              <a:rPr b="1"/>
              <a:t>Database Migrations</a:t>
            </a:r>
            <a:r>
              <a:t>: Automated database schema and data migrations</a:t>
            </a:r>
          </a:p>
          <a:p>
            <a:pPr/>
            <a:r>
              <a:rPr b="1"/>
              <a:t>Unit Testing</a:t>
            </a:r>
            <a:r>
              <a:t>: Automated unit test execution with coverage reporting</a:t>
            </a:r>
          </a:p>
          <a:p>
            <a:pPr/>
            <a:r>
              <a:rPr b="1"/>
              <a:t>Integration Testing</a:t>
            </a:r>
            <a:r>
              <a:t>: API and service integration validation</a:t>
            </a:r>
          </a:p>
          <a:p>
            <a:pPr/>
            <a:r>
              <a:rPr b="1"/>
              <a:t>UI Testing</a:t>
            </a:r>
            <a:r>
              <a:t>: Automated user interface testing with Selenium</a:t>
            </a:r>
          </a:p>
          <a:p>
            <a:pPr/>
            <a:r>
              <a:rPr b="1"/>
              <a:t>Performance Testing</a:t>
            </a:r>
            <a:r>
              <a:t>: Load and stress testing with Azure Load Testing</a:t>
            </a:r>
          </a:p>
          <a:p>
            <a:pPr/>
            <a:r>
              <a:rPr b="1"/>
              <a:t>Security Testing</a:t>
            </a:r>
            <a:r>
              <a:t>: Automated security vulnerability scanning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Project Execution Timeline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able Placeholder 3"/>
          <p:cNvSpPr>
            <a:spLocks noGrp="1"/>
          </p:cNvSpPr>
          <p:nvPr>
            <p:ph type="tbl" idx="14" sz="quarter"/>
          </p:nvPr>
        </p:nvSpPr>
        <p:spPr/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Quality Assurance Results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Functional Testing</a:t>
            </a:r>
            <a:r>
              <a:t>: 100% of development workflows validated successfully</a:t>
            </a:r>
          </a:p>
          <a:p>
            <a:pPr/>
            <a:r>
              <a:rPr b="1"/>
              <a:t>Performance Testing</a:t>
            </a:r>
            <a:r>
              <a:t>: Achieved 60% faster build and deployment times</a:t>
            </a:r>
          </a:p>
          <a:p>
            <a:pPr/>
            <a:r>
              <a:rPr b="1"/>
              <a:t>Security Testing</a:t>
            </a:r>
            <a:r>
              <a:t>: Zero critical vulnerabilities identified in platform assessment</a:t>
            </a:r>
          </a:p>
          <a:p>
            <a:pPr/>
            <a:r>
              <a:rPr b="1"/>
              <a:t>Integration Testing</a:t>
            </a:r>
            <a:r>
              <a:t>: All 50+ tool integrations functioning optimally</a:t>
            </a:r>
          </a:p>
          <a:p>
            <a:pPr/>
            <a:r>
              <a:rPr b="1"/>
              <a:t>User Acceptance</a:t>
            </a:r>
            <a:r>
              <a:t>: 96% satisfaction score from development teams</a:t>
            </a:r>
          </a:p>
          <a:p>
            <a:pPr/>
            <a:r>
              <a:rPr b="1"/>
              <a:t>SOC 2 Type II</a:t>
            </a:r>
            <a:r>
              <a:t>: All development lifecycle controls implemented and validated</a:t>
            </a:r>
          </a:p>
          <a:p>
            <a:pPr/>
            <a:r>
              <a:rPr b="1"/>
              <a:t>HIPAA</a:t>
            </a:r>
            <a:r>
              <a:t>: Healthcare application development compliance requirements satisfied</a:t>
            </a:r>
          </a:p>
          <a:p>
            <a:pPr/>
            <a:r>
              <a:rPr b="1"/>
              <a:t>PCI DSS</a:t>
            </a:r>
            <a:r>
              <a:t>: Payment application security development controls verified</a:t>
            </a:r>
          </a:p>
          <a:p>
            <a:pPr/>
            <a:r>
              <a:rPr b="1"/>
              <a:t>ISO 27001</a:t>
            </a:r>
            <a:r>
              <a:t>: Information security development standards compliance</a:t>
            </a:r>
          </a:p>
          <a:p>
            <a:pPr/>
            <a:r>
              <a:rPr b="1"/>
              <a:t>GDPR</a:t>
            </a:r>
            <a:r>
              <a:t>: Data privacy controls in development and deployment processes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Risk Mitigation Strategies Executed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Proof of Concept</a:t>
            </a:r>
            <a:r>
              <a:t>: Successfully validated approach with pilot development team</a:t>
            </a:r>
          </a:p>
          <a:p>
            <a:pPr/>
            <a:r>
              <a:rPr b="1"/>
              <a:t>Phased Migration</a:t>
            </a:r>
            <a:r>
              <a:t>: Gradual migration minimized disruption to ongoing development</a:t>
            </a:r>
          </a:p>
          <a:p>
            <a:pPr/>
            <a:r>
              <a:rPr b="1"/>
              <a:t>Parallel Operations</a:t>
            </a:r>
            <a:r>
              <a:t>: Maintained legacy systems during transition period</a:t>
            </a:r>
          </a:p>
          <a:p>
            <a:pPr/>
            <a:r>
              <a:rPr b="1"/>
              <a:t>Automated Rollback</a:t>
            </a:r>
            <a:r>
              <a:t>: Implemented comprehensive rollback capabilities for all deployments</a:t>
            </a:r>
          </a:p>
          <a:p>
            <a:pPr/>
            <a:r>
              <a:rPr b="1"/>
              <a:t>Performance Monitoring</a:t>
            </a:r>
            <a:r>
              <a:t>: Continuous monitoring prevents performance degradation</a:t>
            </a:r>
          </a:p>
          <a:p>
            <a:pPr/>
            <a:r>
              <a:rPr b="1"/>
              <a:t>Change Management</a:t>
            </a:r>
            <a:r>
              <a:t>: Comprehensive training ensured smooth team transition</a:t>
            </a:r>
          </a:p>
          <a:p>
            <a:pPr/>
            <a:r>
              <a:rPr b="1"/>
              <a:t>Timeline Management</a:t>
            </a:r>
            <a:r>
              <a:t>: Agile delivery approach maintained schedule flexibility</a:t>
            </a:r>
          </a:p>
          <a:p>
            <a:pPr/>
            <a:r>
              <a:rPr b="1"/>
              <a:t>Stakeholder Engagement</a:t>
            </a:r>
            <a:r>
              <a:t>: Regular communication maintained project visibility</a:t>
            </a:r>
          </a:p>
          <a:p>
            <a:pPr/>
            <a:r>
              <a:rPr b="1"/>
              <a:t>Quality Assurance</a:t>
            </a:r>
            <a:r>
              <a:t>: Extensive testing prevented production issues</a:t>
            </a:r>
          </a:p>
          <a:p>
            <a:pPr/>
            <a:r>
              <a:rPr b="1"/>
              <a:t>Support Readiness</a:t>
            </a:r>
            <a:r>
              <a:t>: 24/7 support team prepared for go-live support</a:t>
            </a:r>
          </a:p>
          <a:p>
            <a:pPr/>
            <a:r>
              <a:rPr b="1"/>
              <a:t>Code Protection</a:t>
            </a:r>
            <a:r>
              <a:t>: Implemented branch protection policies and required reviews</a:t>
            </a:r>
          </a:p>
          <a:p>
            <a:pPr/>
            <a:r>
              <a:rPr b="1"/>
              <a:t>Security Integration</a:t>
            </a:r>
            <a:r>
              <a:t>: Automated security scanning prevents vulnerable code deployment</a:t>
            </a:r>
          </a:p>
          <a:p>
            <a:pPr/>
            <a:r>
              <a:rPr b="1"/>
              <a:t>Quality Controls</a:t>
            </a:r>
            <a:r>
              <a:t>: Quality gates prevent low-quality code from reaching production</a:t>
            </a:r>
          </a:p>
          <a:p>
            <a:pPr/>
            <a:r>
              <a:rPr b="1"/>
              <a:t>Backup Strategies</a:t>
            </a:r>
            <a:r>
              <a:t>: Comprehensive backup and recovery for all development assets</a:t>
            </a:r>
          </a:p>
          <a:p>
            <a:pPr/>
            <a:r>
              <a:rPr b="1"/>
              <a:t>Access Controls</a:t>
            </a:r>
            <a:r>
              <a:t>: Role-based access control with least privilege principles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Issues Resolved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Legacy System Integration</a:t>
            </a:r>
            <a:r>
              <a:t>: Successfully integrated 20+ legacy development tools</a:t>
            </a:r>
          </a:p>
          <a:p>
            <a:pPr/>
            <a:r>
              <a:rPr b="1"/>
              <a:t>Performance Optimization</a:t>
            </a:r>
            <a:r>
              <a:t>: Achieved 60% improvement in build and deployment times</a:t>
            </a:r>
          </a:p>
          <a:p>
            <a:pPr/>
            <a:r>
              <a:rPr b="1"/>
              <a:t>Scalability</a:t>
            </a:r>
            <a:r>
              <a:t>: Designed architecture supporting 500+ concurrent developers</a:t>
            </a:r>
          </a:p>
          <a:p>
            <a:pPr/>
            <a:r>
              <a:rPr b="1"/>
              <a:t>Security Integration</a:t>
            </a:r>
            <a:r>
              <a:t>: Seamlessly integrated security scanning without workflow disruption</a:t>
            </a:r>
          </a:p>
          <a:p>
            <a:pPr/>
            <a:r>
              <a:rPr b="1"/>
              <a:t>Tool Consolidation</a:t>
            </a:r>
            <a:r>
              <a:t>: Reduced development tool complexity by 45%</a:t>
            </a:r>
          </a:p>
          <a:p>
            <a:pPr/>
            <a:r>
              <a:rPr b="1"/>
              <a:t>Team Adoption</a:t>
            </a:r>
            <a:r>
              <a:t>: Achieved 96% adoption rate through comprehensive change management</a:t>
            </a:r>
          </a:p>
          <a:p>
            <a:pPr/>
            <a:r>
              <a:rPr b="1"/>
              <a:t>Process Changes</a:t>
            </a:r>
            <a:r>
              <a:t>: Successfully transformed development workflows and practices</a:t>
            </a:r>
          </a:p>
          <a:p>
            <a:pPr/>
            <a:r>
              <a:rPr b="1"/>
              <a:t>Skill Development</a:t>
            </a:r>
            <a:r>
              <a:t>: Upskilled 150+ developers in modern DevOps practices</a:t>
            </a:r>
          </a:p>
          <a:p>
            <a:pPr/>
            <a:r>
              <a:rPr b="1"/>
              <a:t>Cultural Shift</a:t>
            </a:r>
            <a:r>
              <a:t>: Fostered collaboration culture between development and operations teams</a:t>
            </a:r>
          </a:p>
          <a:p>
            <a:pPr/>
            <a:r>
              <a:rPr b="1"/>
              <a:t>Performance Measurement</a:t>
            </a:r>
            <a:r>
              <a:t>: Established new metrics aligned with platform capabilities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Investment Summary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Cost Optimization Strategies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Training Program Results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Developers</a:t>
            </a:r>
            <a:r>
              <a:t>: 120 developers completed DevOps fundamentals training (32 hours each)</a:t>
            </a:r>
          </a:p>
          <a:p>
            <a:pPr/>
            <a:r>
              <a:rPr b="1"/>
              <a:t>DevOps Engineers</a:t>
            </a:r>
            <a:r>
              <a:t>: 25 engineers completed advanced pipeline training (48 hours each)</a:t>
            </a:r>
          </a:p>
          <a:p>
            <a:pPr/>
            <a:r>
              <a:rPr b="1"/>
              <a:t>Project Managers</a:t>
            </a:r>
            <a:r>
              <a:t>: 15 managers completed Agile and reporting training (24 hours each)</a:t>
            </a:r>
          </a:p>
          <a:p>
            <a:pPr/>
            <a:r>
              <a:rPr b="1"/>
              <a:t>QA Engineers</a:t>
            </a:r>
            <a:r>
              <a:t>: 30 testers completed automated testing training (40 hours each)</a:t>
            </a:r>
          </a:p>
          <a:p>
            <a:pPr/>
            <a:r>
              <a:rPr b="1"/>
              <a:t>Total Training Hours</a:t>
            </a:r>
            <a:r>
              <a:t>: 6,720 hours delivered across all development teams</a:t>
            </a:r>
          </a:p>
          <a:p>
            <a:pPr/>
            <a:r>
              <a:rPr b="1"/>
              <a:t>Developers</a:t>
            </a:r>
            <a:r>
              <a:t>: 94% achieved proficiency in Git workflows and CI/CD processes</a:t>
            </a:r>
          </a:p>
          <a:p>
            <a:pPr/>
            <a:r>
              <a:rPr b="1"/>
              <a:t>DevOps Engineers</a:t>
            </a:r>
            <a:r>
              <a:t>: 96% achieved advanced proficiency in pipeline design and automation</a:t>
            </a:r>
          </a:p>
          <a:p>
            <a:pPr/>
            <a:r>
              <a:rPr b="1"/>
              <a:t>Project Managers</a:t>
            </a:r>
            <a:r>
              <a:t>: 100% achieved competency in Agile project management tools</a:t>
            </a:r>
          </a:p>
          <a:p>
            <a:pPr/>
            <a:r>
              <a:rPr b="1"/>
              <a:t>QA Engineers</a:t>
            </a:r>
            <a:r>
              <a:t>: 93% achieved proficiency in automated testing frameworks</a:t>
            </a:r>
          </a:p>
          <a:p>
            <a:pPr/>
            <a:r>
              <a:rPr b="1"/>
              <a:t>Overall Satisfaction</a:t>
            </a:r>
            <a:r>
              <a:t>: 96% training satisfaction score across all participants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User Adoption Metrics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Change Management Success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Leadership Updates</a:t>
            </a:r>
            <a:r>
              <a:t>: Bi-weekly executive briefings maintained strategic alignment</a:t>
            </a:r>
          </a:p>
          <a:p>
            <a:pPr/>
            <a:r>
              <a:rPr b="1"/>
              <a:t>Team Communications</a:t>
            </a:r>
            <a:r>
              <a:t>: Daily standup integration provided real-time progress visibility</a:t>
            </a:r>
          </a:p>
          <a:p>
            <a:pPr/>
            <a:r>
              <a:rPr b="1"/>
              <a:t>Success Metrics</a:t>
            </a:r>
            <a:r>
              <a:t>: Monthly metrics sharing demonstrated value and progress</a:t>
            </a:r>
          </a:p>
          <a:p>
            <a:pPr/>
            <a:r>
              <a:rPr b="1"/>
              <a:t>Feedback Integration</a:t>
            </a:r>
            <a:r>
              <a:t>: Weekly feedback sessions drove continuous improvement</a:t>
            </a:r>
          </a:p>
          <a:p>
            <a:pPr/>
            <a:r>
              <a:rPr b="1"/>
              <a:t>Knowledge Sharing</a:t>
            </a:r>
            <a:r>
              <a:t>: Established developer communities of practice</a:t>
            </a:r>
          </a:p>
          <a:p>
            <a:pPr/>
            <a:r>
              <a:rPr b="1"/>
              <a:t>DevOps Culture</a:t>
            </a:r>
            <a:r>
              <a:t>: Successfully transformed traditional development culture to DevOps</a:t>
            </a:r>
          </a:p>
          <a:p>
            <a:pPr/>
            <a:r>
              <a:rPr b="1"/>
              <a:t>Collaboration</a:t>
            </a:r>
            <a:r>
              <a:t>: 60% improvement in cross-team collaboration and communication</a:t>
            </a:r>
          </a:p>
          <a:p>
            <a:pPr/>
            <a:r>
              <a:rPr b="1"/>
              <a:t>Continuous Improvement</a:t>
            </a:r>
            <a:r>
              <a:t>: Established culture of continuous learning and optimization</a:t>
            </a:r>
          </a:p>
          <a:p>
            <a:pPr/>
            <a:r>
              <a:rPr b="1"/>
              <a:t>Innovation</a:t>
            </a:r>
            <a:r>
              <a:t>: Platform capabilities enabled new development practices and innovation</a:t>
            </a:r>
          </a:p>
          <a:p>
            <a:pPr/>
            <a:r>
              <a:rPr b="1"/>
              <a:t>Quality Focus</a:t>
            </a:r>
            <a:r>
              <a:t>: Shift-left testing culture improved overall product quality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Support Structure Implementation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Level 1 Support</a:t>
            </a:r>
            <a:r>
              <a:t>: Internal DevOps team handles basic operational issues and user questions</a:t>
            </a:r>
          </a:p>
          <a:p>
            <a:pPr/>
            <a:r>
              <a:rPr b="1"/>
              <a:t>Level 2 Support</a:t>
            </a:r>
            <a:r>
              <a:t>: Platform engineering team manages advanced configuration and optimization</a:t>
            </a:r>
          </a:p>
          <a:p>
            <a:pPr/>
            <a:r>
              <a:rPr b="1"/>
              <a:t>Level 3 Support</a:t>
            </a:r>
            <a:r>
              <a:t>: Microsoft Premier Support provides vendor-level technical assistance</a:t>
            </a:r>
          </a:p>
          <a:p>
            <a:pPr/>
            <a:r>
              <a:rPr b="1"/>
              <a:t>Level 4 Support</a:t>
            </a:r>
            <a:r>
              <a:t>: External consultants available for complex customization and scaling</a:t>
            </a:r>
          </a:p>
          <a:p>
            <a:pPr/>
            <a:r>
              <a:rPr b="1"/>
              <a:t>Business Support</a:t>
            </a:r>
            <a:r>
              <a:t>: Internal process owners manage workflow optimization and requirements</a:t>
            </a:r>
          </a:p>
          <a:p>
            <a:pPr/>
            <a:r>
              <a:rPr b="1"/>
              <a:t>Uptime Target</a:t>
            </a:r>
            <a:r>
              <a:t>: 99.9% platform availability (maximum 8.77 hours downtime annually)</a:t>
            </a:r>
          </a:p>
          <a:p>
            <a:pPr/>
            <a:r>
              <a:rPr b="1"/>
              <a:t>Achieved Uptime</a:t>
            </a:r>
            <a:r>
              <a:t>: 99.97% (exceeded target by 2.6 hours annually)</a:t>
            </a:r>
          </a:p>
          <a:p>
            <a:pPr/>
            <a:r>
              <a:rPr b="1"/>
              <a:t>Build Performance</a:t>
            </a:r>
            <a:r>
              <a:t>: 95% of builds complete within 10 minutes</a:t>
            </a:r>
          </a:p>
          <a:p>
            <a:pPr/>
            <a:r>
              <a:rPr b="1"/>
              <a:t>Deployment Speed</a:t>
            </a:r>
            <a:r>
              <a:t>: 90% of deployments complete within 15 minutes</a:t>
            </a:r>
          </a:p>
          <a:p>
            <a:pPr/>
            <a:r>
              <a:rPr b="1"/>
              <a:t>Recovery Time</a:t>
            </a:r>
            <a:r>
              <a:t>: 30-minute recovery time objective for critical platform issues</a:t>
            </a:r>
          </a:p>
          <a:p>
            <a:pPr/>
            <a:r>
              <a:rPr b="1"/>
              <a:t>Pipeline Issues</a:t>
            </a:r>
            <a:r>
              <a:t>: Critical pipeline failures resolved within 2 hours</a:t>
            </a:r>
          </a:p>
          <a:p>
            <a:pPr/>
            <a:r>
              <a:rPr b="1"/>
              <a:t>Build Problems</a:t>
            </a:r>
            <a:r>
              <a:t>: Standard build issues resolved within 4 hours</a:t>
            </a:r>
          </a:p>
          <a:p>
            <a:pPr/>
            <a:r>
              <a:rPr b="1"/>
              <a:t>Integration Support</a:t>
            </a:r>
            <a:r>
              <a:t>: Third-party integration issues resolved within 8 hours</a:t>
            </a:r>
          </a:p>
          <a:p>
            <a:pPr/>
            <a:r>
              <a:rPr b="1"/>
              <a:t>Training Support</a:t>
            </a:r>
            <a:r>
              <a:t>: User questions answered within 1 business day</a:t>
            </a:r>
          </a:p>
          <a:p>
            <a:pPr/>
            <a:r>
              <a:rPr b="1"/>
              <a:t>Enhancement Requests</a:t>
            </a:r>
            <a:r>
              <a:t>: New feature requests evaluated within 1 week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Continuous Improvement Program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Monthly Performance Reviews</a:t>
            </a:r>
            <a:r>
              <a:t>: Regular assessment of pipeline performance and optimization</a:t>
            </a:r>
          </a:p>
          <a:p>
            <a:pPr/>
            <a:r>
              <a:rPr b="1"/>
              <a:t>Quarterly Feature Updates</a:t>
            </a:r>
            <a:r>
              <a:t>: Implementation of new Azure DevOps features and capabilities</a:t>
            </a:r>
          </a:p>
          <a:p>
            <a:pPr/>
            <a:r>
              <a:rPr b="1"/>
              <a:t>Semi-Annual Architecture Reviews</a:t>
            </a:r>
            <a:r>
              <a:t>: Evaluation of scaling requirements and improvements</a:t>
            </a:r>
          </a:p>
          <a:p>
            <a:pPr/>
            <a:r>
              <a:rPr b="1"/>
              <a:t>Annual Strategy Assessment</a:t>
            </a:r>
            <a:r>
              <a:t>: Review of development practices and technology alignment</a:t>
            </a:r>
          </a:p>
          <a:p>
            <a:pPr/>
            <a:r>
              <a:rPr b="1"/>
              <a:t>Ongoing Training</a:t>
            </a:r>
            <a:r>
              <a:t>: Continuous skill development and certification programs</a:t>
            </a:r>
          </a:p>
          <a:p>
            <a:pPr/>
            <a:r>
              <a:rPr b="1"/>
              <a:t>Developer Feedback</a:t>
            </a:r>
            <a:r>
              <a:t>: Weekly incorporation of developer suggestions and improvements</a:t>
            </a:r>
          </a:p>
          <a:p>
            <a:pPr/>
            <a:r>
              <a:rPr b="1"/>
              <a:t>Technology Updates</a:t>
            </a:r>
            <a:r>
              <a:t>: Monthly evaluation of new tools and integration opportunities</a:t>
            </a:r>
          </a:p>
          <a:p>
            <a:pPr/>
            <a:r>
              <a:rPr b="1"/>
              <a:t>Process Optimization</a:t>
            </a:r>
            <a:r>
              <a:t>: Continuous refinement of development and deployment workflows</a:t>
            </a:r>
          </a:p>
          <a:p>
            <a:pPr/>
            <a:r>
              <a:rPr b="1"/>
              <a:t>Security Enhancements</a:t>
            </a:r>
            <a:r>
              <a:t>: Regular security updates and vulnerability assessments</a:t>
            </a:r>
          </a:p>
          <a:p>
            <a:pPr/>
            <a:r>
              <a:rPr b="1"/>
              <a:t>Performance Tuning</a:t>
            </a:r>
            <a:r>
              <a:t>: Ongoing optimization of build and deployment performance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6-Month Enhancement Plan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Advanced Analytics</a:t>
            </a:r>
            <a:r>
              <a:t>: Implement comprehensive development metrics and insights</a:t>
            </a:r>
          </a:p>
          <a:p>
            <a:pPr/>
            <a:r>
              <a:rPr b="1"/>
              <a:t>AI Integration</a:t>
            </a:r>
            <a:r>
              <a:t>: Deploy GitHub Copilot for AI-assisted development</a:t>
            </a:r>
          </a:p>
          <a:p>
            <a:pPr/>
            <a:r>
              <a:rPr b="1"/>
              <a:t>Security Enhancement</a:t>
            </a:r>
            <a:r>
              <a:t>: Advanced security scanning and compliance automation</a:t>
            </a:r>
          </a:p>
          <a:p>
            <a:pPr/>
            <a:r>
              <a:rPr b="1"/>
              <a:t>Mobile Development</a:t>
            </a:r>
            <a:r>
              <a:t>: Extend platform to support mobile application development</a:t>
            </a:r>
          </a:p>
          <a:p>
            <a:pPr/>
            <a:r>
              <a:rPr b="1"/>
              <a:t>API Management</a:t>
            </a:r>
            <a:r>
              <a:t>: Implement comprehensive API lifecycle management</a:t>
            </a:r>
          </a:p>
          <a:p>
            <a:pPr/>
            <a:r>
              <a:rPr b="1"/>
              <a:t>GitOps Implementation</a:t>
            </a:r>
            <a:r>
              <a:t>: Implement GitOps workflows for infrastructure management</a:t>
            </a:r>
          </a:p>
          <a:p>
            <a:pPr/>
            <a:r>
              <a:rPr b="1"/>
              <a:t>Advanced Testing</a:t>
            </a:r>
            <a:r>
              <a:t>: Expand automated testing to include chaos engineering</a:t>
            </a:r>
          </a:p>
          <a:p>
            <a:pPr/>
            <a:r>
              <a:rPr b="1"/>
              <a:t>Compliance Automation</a:t>
            </a:r>
            <a:r>
              <a:t>: Implement additional regulatory compliance frameworks</a:t>
            </a:r>
          </a:p>
          <a:p>
            <a:pPr/>
            <a:r>
              <a:rPr b="1"/>
              <a:t>Performance Optimization</a:t>
            </a:r>
            <a:r>
              <a:t>: Advanced application performance monitoring integration</a:t>
            </a:r>
          </a:p>
          <a:p>
            <a:pPr/>
            <a:r>
              <a:rPr b="1"/>
              <a:t>Documentation Automation</a:t>
            </a:r>
            <a:r>
              <a:t>: Automated API documentation and code documentation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12-Month Strategic Initiatives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Multi-Cloud Strategy</a:t>
            </a:r>
            <a:r>
              <a:t>: Extend development capabilities to AWS and Google Cloud</a:t>
            </a:r>
          </a:p>
          <a:p>
            <a:pPr/>
            <a:r>
              <a:rPr b="1"/>
              <a:t>Edge Computing</a:t>
            </a:r>
            <a:r>
              <a:t>: Support for edge application development and deployment</a:t>
            </a:r>
          </a:p>
          <a:p>
            <a:pPr/>
            <a:r>
              <a:rPr b="1"/>
              <a:t>Microservices Architecture</a:t>
            </a:r>
            <a:r>
              <a:t>: Advanced microservices development and management</a:t>
            </a:r>
          </a:p>
          <a:p>
            <a:pPr/>
            <a:r>
              <a:rPr b="1"/>
              <a:t>Data Platform Integration</a:t>
            </a:r>
            <a:r>
              <a:t>: Integration with data engineering and analytics platforms</a:t>
            </a:r>
          </a:p>
          <a:p>
            <a:pPr/>
            <a:r>
              <a:rPr b="1"/>
              <a:t>Machine Learning Operations</a:t>
            </a:r>
            <a:r>
              <a:t>: MLOps capabilities for AI/ML model development</a:t>
            </a:r>
          </a:p>
          <a:p>
            <a:pPr/>
            <a:r>
              <a:rPr b="1"/>
              <a:t>Global Development</a:t>
            </a:r>
            <a:r>
              <a:t>: Extend platform to international development teams</a:t>
            </a:r>
          </a:p>
          <a:p>
            <a:pPr/>
            <a:r>
              <a:rPr b="1"/>
              <a:t>Partner Integration</a:t>
            </a:r>
            <a:r>
              <a:t>: Integrate development workflows with key technology partners</a:t>
            </a:r>
          </a:p>
          <a:p>
            <a:pPr/>
            <a:r>
              <a:rPr b="1"/>
              <a:t>Open Source</a:t>
            </a:r>
            <a:r>
              <a:t>: Contribute to and leverage open source development tools</a:t>
            </a:r>
          </a:p>
          <a:p>
            <a:pPr/>
            <a:r>
              <a:rPr b="1"/>
              <a:t>Innovation Labs</a:t>
            </a:r>
            <a:r>
              <a:t>: Support for rapid prototyping and innovation initiatives</a:t>
            </a:r>
          </a:p>
          <a:p>
            <a:pPr/>
            <a:r>
              <a:rPr b="1"/>
              <a:t>Skills Development</a:t>
            </a:r>
            <a:r>
              <a:t>: Advanced certification and training programs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Success Metrics for Future Phases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Executive Testimonials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Development Team Recognition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Critical Success Elements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Architecture Design</a:t>
            </a:r>
            <a:r>
              <a:t>: Scalable, cloud-native architecture supporting current and future needs</a:t>
            </a:r>
          </a:p>
          <a:p>
            <a:pPr/>
            <a:r>
              <a:rPr b="1"/>
              <a:t>Integration Strategy</a:t>
            </a:r>
            <a:r>
              <a:t>: Seamless integration with existing development tools and workflows</a:t>
            </a:r>
          </a:p>
          <a:p>
            <a:pPr/>
            <a:r>
              <a:rPr b="1"/>
              <a:t>Automation Focus</a:t>
            </a:r>
            <a:r>
              <a:t>: Comprehensive automation reducing manual effort and human error</a:t>
            </a:r>
          </a:p>
          <a:p>
            <a:pPr/>
            <a:r>
              <a:rPr b="1"/>
              <a:t>Security by Design</a:t>
            </a:r>
            <a:r>
              <a:t>: Built-in security controls and compliance automation</a:t>
            </a:r>
          </a:p>
          <a:p>
            <a:pPr/>
            <a:r>
              <a:rPr b="1"/>
              <a:t>Performance Optimization</a:t>
            </a:r>
            <a:r>
              <a:t>: High-performance platform supporting large-scale development</a:t>
            </a:r>
          </a:p>
          <a:p>
            <a:pPr/>
            <a:r>
              <a:rPr b="1"/>
              <a:t>Executive Sponsorship</a:t>
            </a:r>
            <a:r>
              <a:t>: Strong leadership support throughout implementation</a:t>
            </a:r>
          </a:p>
          <a:p>
            <a:pPr/>
            <a:r>
              <a:rPr b="1"/>
              <a:t>Change Management</a:t>
            </a:r>
            <a:r>
              <a:t>: Comprehensive approach to organizational transformation</a:t>
            </a:r>
          </a:p>
          <a:p>
            <a:pPr/>
            <a:r>
              <a:rPr b="1"/>
              <a:t>Training Investment</a:t>
            </a:r>
            <a:r>
              <a:t>: Extensive training ensuring team competency and confidence</a:t>
            </a:r>
          </a:p>
          <a:p>
            <a:pPr/>
            <a:r>
              <a:rPr b="1"/>
              <a:t>Cultural Transformation</a:t>
            </a:r>
            <a:r>
              <a:t>: Successful shift to DevOps culture and practices</a:t>
            </a:r>
          </a:p>
          <a:p>
            <a:pPr/>
            <a:r>
              <a:rPr b="1"/>
              <a:t>Continuous Improvement</a:t>
            </a:r>
            <a:r>
              <a:t>: Established processes for ongoing optimization</a:t>
            </a:r>
          </a:p>
          <a:p>
            <a:pPr/>
            <a:r>
              <a:rPr b="1"/>
              <a:t>Comprehensive Training</a:t>
            </a:r>
            <a:r>
              <a:t>: Extensive training for all user types and skill levels</a:t>
            </a:r>
          </a:p>
          <a:p>
            <a:pPr/>
            <a:r>
              <a:rPr b="1"/>
              <a:t>Documentation Excellence</a:t>
            </a:r>
            <a:r>
              <a:t>: Complete documentation supporting all use cases</a:t>
            </a:r>
          </a:p>
          <a:p>
            <a:pPr/>
            <a:r>
              <a:rPr b="1"/>
              <a:t>Support Structure</a:t>
            </a:r>
            <a:r>
              <a:t>: Multi-tier support ensuring user success</a:t>
            </a:r>
          </a:p>
          <a:p>
            <a:pPr/>
            <a:r>
              <a:rPr b="1"/>
              <a:t>Feedback Integration</a:t>
            </a:r>
            <a:r>
              <a:t>: Continuous incorporation of user feedback and suggestions</a:t>
            </a:r>
          </a:p>
          <a:p>
            <a:pPr/>
            <a:r>
              <a:rPr b="1"/>
              <a:t>Community Building</a:t>
            </a:r>
            <a:r>
              <a:t>: Established communities of practice for knowledge sharing</a:t>
            </a:r>
          </a:p>
          <a:p>
            <a:pPr/>
            <a:r>
              <a:rPr b="1"/>
              <a:t>Agile Methodology</a:t>
            </a:r>
            <a:r>
              <a:t>: Flexible, iterative approach enabling continuous improvement</a:t>
            </a:r>
          </a:p>
          <a:p>
            <a:pPr/>
            <a:r>
              <a:rPr b="1"/>
              <a:t>Risk Management</a:t>
            </a:r>
            <a:r>
              <a:t>: Proactive identification and mitigation of implementation risks</a:t>
            </a:r>
          </a:p>
          <a:p>
            <a:pPr/>
            <a:r>
              <a:rPr b="1"/>
              <a:t>Quality Assurance</a:t>
            </a:r>
            <a:r>
              <a:t>: Comprehensive testing ensuring platform reliability</a:t>
            </a:r>
          </a:p>
          <a:p>
            <a:pPr/>
            <a:r>
              <a:rPr b="1"/>
              <a:t>Timeline Management</a:t>
            </a:r>
            <a:r>
              <a:t>: Effective planning and execution delivering on schedule</a:t>
            </a:r>
          </a:p>
          <a:p>
            <a:pPr/>
            <a:r>
              <a:rPr b="1"/>
              <a:t>Communication Excellence</a:t>
            </a:r>
            <a:r>
              <a:t>: Transparent communication maintaining stakeholder confidence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Implementation Insights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Pilot Approach</a:t>
            </a:r>
            <a:r>
              <a:t>: Starting with a pilot team validated the approach and built confidence</a:t>
            </a:r>
          </a:p>
          <a:p>
            <a:pPr/>
            <a:r>
              <a:rPr b="1"/>
              <a:t>Iterative Implementation</a:t>
            </a:r>
            <a:r>
              <a:t>: Agile delivery approach allowed for continuous refinement</a:t>
            </a:r>
          </a:p>
          <a:p>
            <a:pPr/>
            <a:r>
              <a:rPr b="1"/>
              <a:t>Training Focus</a:t>
            </a:r>
            <a:r>
              <a:t>: Heavy investment in training ensured rapid user adoption</a:t>
            </a:r>
          </a:p>
          <a:p>
            <a:pPr/>
            <a:r>
              <a:rPr b="1"/>
              <a:t>Automation Priority</a:t>
            </a:r>
            <a:r>
              <a:t>: Focusing on automation delivered immediate productivity benefits</a:t>
            </a:r>
          </a:p>
          <a:p>
            <a:pPr/>
            <a:r>
              <a:rPr b="1"/>
              <a:t>Integration Strategy</a:t>
            </a:r>
            <a:r>
              <a:t>: Comprehensive integration planning minimized disruption</a:t>
            </a:r>
          </a:p>
          <a:p>
            <a:pPr/>
            <a:r>
              <a:rPr b="1"/>
              <a:t>Change Management</a:t>
            </a:r>
            <a:r>
              <a:t>: Earlier change management initiation would accelerate adoption</a:t>
            </a:r>
          </a:p>
          <a:p>
            <a:pPr/>
            <a:r>
              <a:rPr b="1"/>
              <a:t>Tool Assessment</a:t>
            </a:r>
            <a:r>
              <a:t>: More thorough evaluation of existing tools would optimize integration</a:t>
            </a:r>
          </a:p>
          <a:p>
            <a:pPr/>
            <a:r>
              <a:rPr b="1"/>
              <a:t>Performance Baseline</a:t>
            </a:r>
            <a:r>
              <a:t>: Earlier performance baselining would guide optimization efforts</a:t>
            </a:r>
          </a:p>
          <a:p>
            <a:pPr/>
            <a:r>
              <a:rPr b="1"/>
              <a:t>Documentation</a:t>
            </a:r>
            <a:r>
              <a:t>: Real-time documentation updates would ensure accuracy</a:t>
            </a:r>
          </a:p>
          <a:p>
            <a:pPr/>
            <a:r>
              <a:rPr b="1"/>
              <a:t>Feedback Loops</a:t>
            </a:r>
            <a:r>
              <a:t>: More frequent feedback collection would accelerate improvements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Best Practices Established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Infrastructure as Code</a:t>
            </a:r>
            <a:r>
              <a:t>: Implement IaC from day one for all environments</a:t>
            </a:r>
          </a:p>
          <a:p>
            <a:pPr/>
            <a:r>
              <a:rPr b="1"/>
              <a:t>Security Integration</a:t>
            </a:r>
            <a:r>
              <a:t>: Build security into pipelines rather than adding later</a:t>
            </a:r>
          </a:p>
          <a:p>
            <a:pPr/>
            <a:r>
              <a:rPr b="1"/>
              <a:t>Testing Automation</a:t>
            </a:r>
            <a:r>
              <a:t>: Implement comprehensive automated testing across all levels</a:t>
            </a:r>
          </a:p>
          <a:p>
            <a:pPr/>
            <a:r>
              <a:rPr b="1"/>
              <a:t>Performance Monitoring</a:t>
            </a:r>
            <a:r>
              <a:t>: Deploy monitoring and observability from the beginning</a:t>
            </a:r>
          </a:p>
          <a:p>
            <a:pPr/>
            <a:r>
              <a:rPr b="1"/>
              <a:t>Version Control</a:t>
            </a:r>
            <a:r>
              <a:t>: Establish clear branching strategies and code review processes</a:t>
            </a:r>
          </a:p>
          <a:p>
            <a:pPr/>
            <a:r>
              <a:rPr b="1"/>
              <a:t>Executive Engagement</a:t>
            </a:r>
            <a:r>
              <a:t>: Maintain consistent executive visibility and support</a:t>
            </a:r>
          </a:p>
          <a:p>
            <a:pPr/>
            <a:r>
              <a:rPr b="1"/>
              <a:t>Cross-Team Collaboration</a:t>
            </a:r>
            <a:r>
              <a:t>: Foster collaboration between development and operations</a:t>
            </a:r>
          </a:p>
          <a:p>
            <a:pPr/>
            <a:r>
              <a:rPr b="1"/>
              <a:t>Continuous Learning</a:t>
            </a:r>
            <a:r>
              <a:t>: Establish learning culture with regular training and updates</a:t>
            </a:r>
          </a:p>
          <a:p>
            <a:pPr/>
            <a:r>
              <a:rPr b="1"/>
              <a:t>Metrics-Driven</a:t>
            </a:r>
            <a:r>
              <a:t>: Use data and metrics to drive decisions and improvements</a:t>
            </a:r>
          </a:p>
          <a:p>
            <a:pPr/>
            <a:r>
              <a:rPr b="1"/>
              <a:t>Innovation Focus</a:t>
            </a:r>
            <a:r>
              <a:t>: Encourage experimentation and innovation within guardrails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Implementation Team Excellence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Manager</a:t>
            </a:r>
            <a:r>
              <a:t>: Outstanding leadership delivering complex project on time and budget</a:t>
            </a:r>
          </a:p>
          <a:p>
            <a:pPr/>
            <a:r>
              <a:rPr b="1"/>
              <a:t>Technical Architect</a:t>
            </a:r>
            <a:r>
              <a:t>: Exceptional platform design enabling scalability and performance</a:t>
            </a:r>
          </a:p>
          <a:p>
            <a:pPr/>
            <a:r>
              <a:rPr b="1"/>
              <a:t>DevOps Lead</a:t>
            </a:r>
            <a:r>
              <a:t>: Comprehensive automation implementation and best practices</a:t>
            </a:r>
          </a:p>
          <a:p>
            <a:pPr/>
            <a:r>
              <a:rPr b="1"/>
              <a:t>Change Manager</a:t>
            </a:r>
            <a:r>
              <a:t>: Effective organizational transformation and user adoption</a:t>
            </a:r>
          </a:p>
          <a:p>
            <a:pPr/>
            <a:r>
              <a:rPr b="1"/>
              <a:t>Quality Assurance Lead</a:t>
            </a:r>
            <a:r>
              <a:t>: Rigorous testing ensuring platform reliability</a:t>
            </a:r>
          </a:p>
          <a:p>
            <a:pPr/>
            <a:r>
              <a:rPr b="1"/>
              <a:t>Platform Engineers</a:t>
            </a:r>
            <a:r>
              <a:t>: Expert Azure DevOps configuration and optimization</a:t>
            </a:r>
          </a:p>
          <a:p>
            <a:pPr/>
            <a:r>
              <a:rPr b="1"/>
              <a:t>Integration Specialists</a:t>
            </a:r>
            <a:r>
              <a:t>: Seamless integration with existing development ecosystem</a:t>
            </a:r>
          </a:p>
          <a:p>
            <a:pPr/>
            <a:r>
              <a:rPr b="1"/>
              <a:t>Security Engineers</a:t>
            </a:r>
            <a:r>
              <a:t>: Comprehensive security implementation and compliance</a:t>
            </a:r>
          </a:p>
          <a:p>
            <a:pPr/>
            <a:r>
              <a:rPr b="1"/>
              <a:t>Automation Engineers</a:t>
            </a:r>
            <a:r>
              <a:t>: Advanced pipeline development and optimization</a:t>
            </a:r>
          </a:p>
          <a:p>
            <a:pPr/>
            <a:r>
              <a:rPr b="1"/>
              <a:t>Support Engineers</a:t>
            </a:r>
            <a:r>
              <a:t>: Excellent user support and issue resolution</a:t>
            </a:r>
          </a:p>
          <a:p>
            <a:pPr/>
            <a:r>
              <a:rPr b="1"/>
              <a:t>Business Analysts</a:t>
            </a:r>
            <a:r>
              <a:t>: Comprehensive requirements gathering and validation</a:t>
            </a:r>
          </a:p>
          <a:p>
            <a:pPr/>
            <a:r>
              <a:rPr b="1"/>
              <a:t>Training Specialists</a:t>
            </a:r>
            <a:r>
              <a:t>: Outstanding training program development and delivery</a:t>
            </a:r>
          </a:p>
          <a:p>
            <a:pPr/>
            <a:r>
              <a:rPr b="1"/>
              <a:t>Communications Team</a:t>
            </a:r>
            <a:r>
              <a:t>: Effective stakeholder communication and engagement</a:t>
            </a:r>
          </a:p>
          <a:p>
            <a:pPr/>
            <a:r>
              <a:rPr b="1"/>
              <a:t>Developer Champions</a:t>
            </a:r>
            <a:r>
              <a:t>: User advocacy and feedback throughout implementation</a:t>
            </a:r>
          </a:p>
          <a:p>
            <a:pPr/>
            <a:r>
              <a:rPr b="1"/>
              <a:t>Process Engineers</a:t>
            </a:r>
            <a:r>
              <a:t>: Workflow optimization and best practice development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Awards and Recognition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Microsoft Partner Award</a:t>
            </a:r>
            <a:r>
              <a:t>: Recognized for exceptional Azure DevOps implementation excellence</a:t>
            </a:r>
          </a:p>
          <a:p>
            <a:pPr/>
            <a:r>
              <a:rPr b="1"/>
              <a:t>DevOps Excellence Award</a:t>
            </a:r>
            <a:r>
              <a:t>: Industry recognition for transformation and automation</a:t>
            </a:r>
          </a:p>
          <a:p>
            <a:pPr/>
            <a:r>
              <a:rPr b="1"/>
              <a:t>Innovation Award</a:t>
            </a:r>
            <a:r>
              <a:t>: Recognition for creative development workflow optimization</a:t>
            </a:r>
          </a:p>
          <a:p>
            <a:pPr/>
            <a:r>
              <a:rPr b="1"/>
              <a:t>Customer Success Story</a:t>
            </a:r>
            <a:r>
              <a:t>: Featured as Microsoft customer success story</a:t>
            </a:r>
          </a:p>
          <a:p>
            <a:pPr/>
            <a:r>
              <a:rPr b="1"/>
              <a:t>Best Practice Case Study</a:t>
            </a:r>
            <a:r>
              <a:t>: Implementation featured in industry publications</a:t>
            </a:r>
          </a:p>
          <a:p>
            <a:pPr/>
            <a:r>
              <a:rPr b="1"/>
              <a:t>CTO Award</a:t>
            </a:r>
            <a:r>
              <a:t>: Project team recognized with highest technology award</a:t>
            </a:r>
          </a:p>
          <a:p>
            <a:pPr/>
            <a:r>
              <a:rPr b="1"/>
              <a:t>Innovation Excellence</a:t>
            </a:r>
            <a:r>
              <a:t>: Internal innovation award for transformative impact</a:t>
            </a:r>
          </a:p>
          <a:p>
            <a:pPr/>
            <a:r>
              <a:rPr b="1"/>
              <a:t>Team Collaboration</a:t>
            </a:r>
            <a:r>
              <a:t>: Recognition for exceptional cross-team collaboration</a:t>
            </a:r>
          </a:p>
          <a:p>
            <a:pPr/>
            <a:r>
              <a:rPr b="1"/>
              <a:t>Business Impact</a:t>
            </a:r>
            <a:r>
              <a:t>: Award for significant business value delivery</a:t>
            </a:r>
          </a:p>
          <a:p>
            <a:pPr/>
            <a:r>
              <a:rPr b="1"/>
              <a:t>Technical Excellence</a:t>
            </a:r>
            <a:r>
              <a:t>: Recognition for outstanding implementation quality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Project Completion Summary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Achievements Recap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60% faster deployments</a:t>
            </a:r>
            <a:r>
              <a:t> with automated CI/CD pipelines and zero-downtime deployment</a:t>
            </a:r>
          </a:p>
          <a:p>
            <a:pPr/>
            <a:r>
              <a:rPr b="1"/>
              <a:t>270% return on investment</a:t>
            </a:r>
            <a:r>
              <a:t> with 40% operational cost reduction</a:t>
            </a:r>
          </a:p>
          <a:p>
            <a:pPr/>
            <a:r>
              <a:rPr b="1"/>
              <a:t>96% user adoption</a:t>
            </a:r>
            <a:r>
              <a:t> with comprehensive training and change management</a:t>
            </a:r>
          </a:p>
          <a:p>
            <a:pPr/>
            <a:r>
              <a:rPr b="1"/>
              <a:t>99.5% deployment success</a:t>
            </a:r>
            <a:r>
              <a:t> rate with automated rollback capabilities</a:t>
            </a:r>
          </a:p>
          <a:p>
            <a:pPr/>
            <a:r>
              <a:rPr b="1"/>
              <a:t>45% developer productivity</a:t>
            </a:r>
            <a:r>
              <a:t> improvement through automation and tooling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Immediate Next Steps (30 Days)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Performance Optimization: Complete final performance tuning based on production usage patterns</a:t>
            </a:r>
          </a:p>
          <a:p>
            <a:pPr/>
            <a:r>
              <a:t>Process Refinement: Optimize development workflows based on team feedback</a:t>
            </a:r>
          </a:p>
          <a:p>
            <a:pPr/>
            <a:r>
              <a:t>Documentation Updates: Finalize all operational procedures and best practices</a:t>
            </a:r>
          </a:p>
          <a:p>
            <a:pPr/>
            <a:r>
              <a:t>Metrics Baseline: Establish baseline metrics for ongoing performance measurement</a:t>
            </a:r>
          </a:p>
          <a:p>
            <a:pPr/>
            <a:r>
              <a:t>Support Optimization: Fine-tune support processes based on initial usage patterns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Strategic Initiatives (90 Days)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Advanced Analytics: Implement development metrics and insights dashboards</a:t>
            </a:r>
          </a:p>
          <a:p>
            <a:pPr/>
            <a:r>
              <a:t>AI Integration: Deploy GitHub Copilot for AI-assisted development</a:t>
            </a:r>
          </a:p>
          <a:p>
            <a:pPr/>
            <a:r>
              <a:t>Security Enhancement: Implement advanced security scanning and compliance automation</a:t>
            </a:r>
          </a:p>
          <a:p>
            <a:pPr/>
            <a:r>
              <a:t>Mobile Development: Extend platform capabilities to mobile application development</a:t>
            </a:r>
          </a:p>
          <a:p>
            <a:pPr/>
            <a:r>
              <a:t>API Management: Implement comprehensive API lifecycle management capabilities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Long-Term Vision (12 Months)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Manager</a:t>
            </a:r>
            <a:r>
              <a:t>: [project.manager@company.com]</a:t>
            </a:r>
          </a:p>
          <a:p>
            <a:pPr/>
            <a:r>
              <a:rPr b="1"/>
              <a:t>Technical Architect</a:t>
            </a:r>
            <a:r>
              <a:t>: [technical.architect@company.com]</a:t>
            </a:r>
          </a:p>
          <a:p>
            <a:pPr/>
            <a:r>
              <a:rPr b="1"/>
              <a:t>Business Sponsor</a:t>
            </a:r>
            <a:r>
              <a:t>: [business.sponsor@company.com]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39</Words>
  <Application>Microsoft Office PowerPoint</Application>
  <PresentationFormat>On-screen Show (16:9)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79</cp:revision>
  <dcterms:created xsi:type="dcterms:W3CDTF">2025-11-01T21:16:10Z</dcterms:created>
  <dcterms:modified xsi:type="dcterms:W3CDTF">2025-11-11T19:45:33Z</dcterms:modified>
</cp:coreProperties>
</file>