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62463"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840288" y="678433"/>
            <a:ext cx="4110037"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Solution Briefing</a:t>
            </a:r>
          </a:p>
        </p:txBody>
      </p:sp>
      <p:sp>
        <p:nvSpPr>
          <p:cNvPr id="5" name="Text Placeholder 4"/>
          <p:cNvSpPr>
            <a:spLocks noGrp="1"/>
          </p:cNvSpPr>
          <p:nvPr>
            <p:ph type="body" idx="14" sz="quarter"/>
          </p:nvPr>
        </p:nvSpPr>
        <p:spPr/>
        <p:txBody>
          <a:bodyPr/>
          <a:lstStyle/>
          <a:p>
            <a:r>
              <a:t>Azure DevOps Enterprise Platform</a:t>
            </a:r>
          </a:p>
        </p:txBody>
      </p:sp>
      <p:sp>
        <p:nvSpPr>
          <p:cNvPr id="6" name="Text Placeholder 5"/>
          <p:cNvSpPr>
            <a:spLocks noGrp="1"/>
          </p:cNvSpPr>
          <p:nvPr>
            <p:ph type="body" idx="15" sz="quarter"/>
          </p:nvPr>
        </p:nvSpPr>
        <p:spPr/>
        <p:txBody>
          <a:bodyPr/>
          <a:lstStyle/>
          <a:p>
            <a:r>
              <a:t>Alison Smith | November 22, 2025</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Business Opportunity</a:t>
            </a:r>
          </a:p>
        </p:txBody>
      </p:sp>
      <p:sp>
        <p:nvSpPr>
          <p:cNvPr id="4" name="Text Placeholder 3"/>
          <p:cNvSpPr>
            <a:spLocks noGrp="1"/>
          </p:cNvSpPr>
          <p:nvPr>
            <p:ph type="body" idx="16" sz="quarter"/>
          </p:nvPr>
        </p:nvSpPr>
        <p:spPr/>
        <p:txBody>
          <a:bodyPr/>
          <a:lstStyle/>
          <a:p>
            <a:pPr/>
            <a:r>
              <a:rPr b="1"/>
              <a:t>Opportunity</a:t>
            </a:r>
          </a:p>
          <a:p>
            <a:pPr lvl="1"/>
            <a:r>
              <a:t>Reduce time-to-market with automated build and release pipelines that eliminate manual deployment bottlenecks</a:t>
            </a:r>
          </a:p>
          <a:p>
            <a:pPr lvl="1"/>
            <a:r>
              <a:t>Improve team productivity through centralized code management and streamlined collaboration workflows</a:t>
            </a:r>
          </a:p>
          <a:p>
            <a:pPr lvl="1"/>
            <a:r>
              <a:t>Increase software quality and reliability with consistent testing and deployment practices across all projects</a:t>
            </a:r>
          </a:p>
        </p:txBody>
      </p:sp>
      <p:sp>
        <p:nvSpPr>
          <p:cNvPr id="5" name="Text Placeholder 4"/>
          <p:cNvSpPr>
            <a:spLocks noGrp="1"/>
          </p:cNvSpPr>
          <p:nvPr>
            <p:ph type="body" idx="17" sz="quarter"/>
          </p:nvPr>
        </p:nvSpPr>
        <p:spPr/>
        <p:txBody>
          <a:bodyPr/>
          <a:lstStyle/>
          <a:p>
            <a:pPr/>
            <a:r>
              <a:rPr b="1"/>
              <a:t>Success Criteria</a:t>
            </a:r>
          </a:p>
          <a:p>
            <a:pPr lvl="1"/>
            <a:r>
              <a:t>Achieve 70% reduction in deployment time within 6 months with fully automated pipelines</a:t>
            </a:r>
          </a:p>
          <a:p>
            <a:pPr lvl="1"/>
            <a:r>
              <a:t>Standardize development practices across all teams with 100% adoption of unified tooling</a:t>
            </a:r>
          </a:p>
          <a:p>
            <a:pPr lvl="1"/>
            <a:r>
              <a:t>Establish foundation for continuous delivery enabling multiple production releases per day</a:t>
            </a:r>
          </a:p>
        </p:txBody>
      </p:sp>
      <p:sp>
        <p:nvSpPr>
          <p:cNvPr id="6" name="Text Placeholder 5"/>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7" name="Picture 6" descr="consulting_company_logo.png"/>
          <p:cNvPicPr>
            <a:picLocks noChangeAspect="1"/>
          </p:cNvPicPr>
          <p:nvPr/>
        </p:nvPicPr>
        <p:blipFill>
          <a:blip r:embed="rId2"/>
          <a:stretch>
            <a:fillRect/>
          </a:stretch>
        </p:blipFill>
        <p:spPr>
          <a:xfrm>
            <a:off x="313592" y="4536078"/>
            <a:ext cx="2121877"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Engagement Scope</a:t>
            </a:r>
          </a:p>
        </p:txBody>
      </p:sp>
      <p:graphicFrame>
        <p:nvGraphicFramePr>
          <p:cNvPr id="4" name="Table Placeholder 3"/>
          <p:cNvGraphicFramePr>
            <a:graphicFrameLocks noGrp="1"/>
          </p:cNvGraphicFramePr>
          <p:nvPr>
            <p:ph type="tbl" idx="14" sz="quarter"/>
          </p:nvPr>
        </p:nvGraphicFramePr>
        <p:xfrm>
          <a:off x="256855" y="677011"/>
          <a:ext cx="8710929" cy="3337560"/>
        </p:xfrm>
        <a:graphic>
          <a:graphicData uri="http://schemas.openxmlformats.org/drawingml/2006/table">
            <a:tbl>
              <a:tblPr firstRow="1" bandRow="1">
                <a:tableStyleId>{5C22544A-7EE6-4342-B048-85BDC9FD1C3A}</a:tableStyleId>
              </a:tblPr>
              <a:tblGrid>
                <a:gridCol w="1567967"/>
                <a:gridCol w="2526170"/>
                <a:gridCol w="435546"/>
                <a:gridCol w="1567967"/>
                <a:gridCol w="2613279"/>
              </a:tblGrid>
              <a:tr h="370840">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c>
                  <a:txBody>
                    <a:bodyPr/>
                    <a:lstStyle/>
                    <a:p/>
                  </a:txBody>
                  <a:tcPr>
                    <a:solidFill>
                      <a:srgbClr val="FFFFFF"/>
                    </a:solidFill>
                  </a:tcPr>
                </a:tc>
                <a:tc>
                  <a:txBody>
                    <a:bodyPr/>
                    <a:lstStyle/>
                    <a:p>
                      <a:r>
                        <a:rPr sz="1400">
                          <a:solidFill>
                            <a:srgbClr val="FFFFFF"/>
                          </a:solidFill>
                        </a:rPr>
                        <a:t>Parameter</a:t>
                      </a:r>
                    </a:p>
                  </a:txBody>
                  <a:tcPr>
                    <a:solidFill>
                      <a:srgbClr val="A01C02"/>
                    </a:solidFill>
                  </a:tcPr>
                </a:tc>
                <a:tc>
                  <a:txBody>
                    <a:bodyPr/>
                    <a:lstStyle/>
                    <a:p>
                      <a:r>
                        <a:rPr sz="1400">
                          <a:solidFill>
                            <a:srgbClr val="FFFFFF"/>
                          </a:solidFill>
                        </a:rPr>
                        <a:t>Scope</a:t>
                      </a:r>
                    </a:p>
                  </a:txBody>
                  <a:tcPr>
                    <a:solidFill>
                      <a:srgbClr val="A01C02"/>
                    </a:solidFill>
                  </a:tcPr>
                </a:tc>
              </a:tr>
              <a:tr h="370840">
                <a:tc>
                  <a:txBody>
                    <a:bodyPr/>
                    <a:lstStyle/>
                    <a:p>
                      <a:r>
                        <a:rPr b="1" sz="1100"/>
                        <a:t>Projects/Repositories</a:t>
                      </a:r>
                    </a:p>
                  </a:txBody>
                  <a:tcPr>
                    <a:solidFill>
                      <a:srgbClr val="E7E6E6"/>
                    </a:solidFill>
                  </a:tcPr>
                </a:tc>
                <a:tc>
                  <a:txBody>
                    <a:bodyPr/>
                    <a:lstStyle/>
                    <a:p>
                      <a:r>
                        <a:rPr sz="1100"/>
                        <a:t>10-20 repositories</a:t>
                      </a:r>
                    </a:p>
                  </a:txBody>
                  <a:tcPr>
                    <a:solidFill>
                      <a:srgbClr val="E7E6E6"/>
                    </a:solidFill>
                  </a:tcPr>
                </a:tc>
                <a:tc>
                  <a:txBody>
                    <a:bodyPr/>
                    <a:lstStyle/>
                    <a:p/>
                  </a:txBody>
                  <a:tcPr>
                    <a:solidFill>
                      <a:srgbClr val="FFFFFF"/>
                    </a:solidFill>
                  </a:tcPr>
                </a:tc>
                <a:tc>
                  <a:txBody>
                    <a:bodyPr/>
                    <a:lstStyle/>
                    <a:p>
                      <a:r>
                        <a:rPr b="1" sz="1100"/>
                        <a:t>Availability Requirements</a:t>
                      </a:r>
                    </a:p>
                  </a:txBody>
                  <a:tcPr>
                    <a:solidFill>
                      <a:srgbClr val="E7E6E6"/>
                    </a:solidFill>
                  </a:tcPr>
                </a:tc>
                <a:tc>
                  <a:txBody>
                    <a:bodyPr/>
                    <a:lstStyle/>
                    <a:p>
                      <a:r>
                        <a:rPr sz="1100"/>
                        <a:t>Standard (99.5%)</a:t>
                      </a:r>
                    </a:p>
                  </a:txBody>
                  <a:tcPr>
                    <a:solidFill>
                      <a:srgbClr val="E7E6E6"/>
                    </a:solidFill>
                  </a:tcPr>
                </a:tc>
              </a:tr>
              <a:tr h="370840">
                <a:tc>
                  <a:txBody>
                    <a:bodyPr/>
                    <a:lstStyle/>
                    <a:p>
                      <a:r>
                        <a:rPr b="1" sz="1100"/>
                        <a:t>CI/CD Pipelines</a:t>
                      </a:r>
                    </a:p>
                  </a:txBody>
                  <a:tcPr>
                    <a:solidFill>
                      <a:srgbClr val="E7E6E6"/>
                    </a:solidFill>
                  </a:tcPr>
                </a:tc>
                <a:tc>
                  <a:txBody>
                    <a:bodyPr/>
                    <a:lstStyle/>
                    <a:p>
                      <a:r>
                        <a:rPr sz="1100"/>
                        <a:t>25-50 pipelines</a:t>
                      </a:r>
                    </a:p>
                  </a:txBody>
                  <a:tcPr>
                    <a:solidFill>
                      <a:srgbClr val="E7E6E6"/>
                    </a:solidFill>
                  </a:tcPr>
                </a:tc>
                <a:tc>
                  <a:txBody>
                    <a:bodyPr/>
                    <a:lstStyle/>
                    <a:p/>
                  </a:txBody>
                  <a:tcPr>
                    <a:solidFill>
                      <a:srgbClr val="FFFFFF"/>
                    </a:solidFill>
                  </a:tcPr>
                </a:tc>
                <a:tc>
                  <a:txBody>
                    <a:bodyPr/>
                    <a:lstStyle/>
                    <a:p>
                      <a:r>
                        <a:rPr b="1" sz="1100"/>
                        <a:t>Infrastructure Complexity</a:t>
                      </a:r>
                    </a:p>
                  </a:txBody>
                  <a:tcPr>
                    <a:solidFill>
                      <a:srgbClr val="E7E6E6"/>
                    </a:solidFill>
                  </a:tcPr>
                </a:tc>
                <a:tc>
                  <a:txBody>
                    <a:bodyPr/>
                    <a:lstStyle/>
                    <a:p>
                      <a:r>
                        <a:rPr sz="1100"/>
                        <a:t>Azure DevOps + self-hosted agents</a:t>
                      </a:r>
                    </a:p>
                  </a:txBody>
                  <a:tcPr>
                    <a:solidFill>
                      <a:srgbClr val="E7E6E6"/>
                    </a:solidFill>
                  </a:tcPr>
                </a:tc>
              </a:tr>
              <a:tr h="370840">
                <a:tc>
                  <a:txBody>
                    <a:bodyPr/>
                    <a:lstStyle/>
                    <a:p>
                      <a:r>
                        <a:rPr b="1" sz="1100"/>
                        <a:t>External Integrations</a:t>
                      </a:r>
                    </a:p>
                  </a:txBody>
                  <a:tcPr>
                    <a:solidFill>
                      <a:srgbClr val="E7E6E6"/>
                    </a:solidFill>
                  </a:tcPr>
                </a:tc>
                <a:tc>
                  <a:txBody>
                    <a:bodyPr/>
                    <a:lstStyle/>
                    <a:p>
                      <a:r>
                        <a:rPr sz="1100"/>
                        <a:t>GitHub SonarQube Artifactory</a:t>
                      </a:r>
                    </a:p>
                  </a:txBody>
                  <a:tcPr>
                    <a:solidFill>
                      <a:srgbClr val="E7E6E6"/>
                    </a:solidFill>
                  </a:tcPr>
                </a:tc>
                <a:tc>
                  <a:txBody>
                    <a:bodyPr/>
                    <a:lstStyle/>
                    <a:p/>
                  </a:txBody>
                  <a:tcPr>
                    <a:solidFill>
                      <a:srgbClr val="FFFFFF"/>
                    </a:solidFill>
                  </a:tcPr>
                </a:tc>
                <a:tc>
                  <a:txBody>
                    <a:bodyPr/>
                    <a:lstStyle/>
                    <a:p>
                      <a:r>
                        <a:rPr b="1" sz="1100"/>
                        <a:t>Security Requirements</a:t>
                      </a:r>
                    </a:p>
                  </a:txBody>
                  <a:tcPr>
                    <a:solidFill>
                      <a:srgbClr val="E7E6E6"/>
                    </a:solidFill>
                  </a:tcPr>
                </a:tc>
                <a:tc>
                  <a:txBody>
                    <a:bodyPr/>
                    <a:lstStyle/>
                    <a:p>
                      <a:r>
                        <a:rPr sz="1100"/>
                        <a:t>Service connections branch policies</a:t>
                      </a:r>
                    </a:p>
                  </a:txBody>
                  <a:tcPr>
                    <a:solidFill>
                      <a:srgbClr val="E7E6E6"/>
                    </a:solidFill>
                  </a:tcPr>
                </a:tc>
              </a:tr>
              <a:tr h="370840">
                <a:tc>
                  <a:txBody>
                    <a:bodyPr/>
                    <a:lstStyle/>
                    <a:p>
                      <a:r>
                        <a:rPr b="1" sz="1100"/>
                        <a:t>Deployment Targets</a:t>
                      </a:r>
                    </a:p>
                  </a:txBody>
                  <a:tcPr>
                    <a:solidFill>
                      <a:srgbClr val="E7E6E6"/>
                    </a:solidFill>
                  </a:tcPr>
                </a:tc>
                <a:tc>
                  <a:txBody>
                    <a:bodyPr/>
                    <a:lstStyle/>
                    <a:p>
                      <a:r>
                        <a:rPr sz="1100"/>
                        <a:t>Azure Kubernetes Service VMs</a:t>
                      </a:r>
                    </a:p>
                  </a:txBody>
                  <a:tcPr>
                    <a:solidFill>
                      <a:srgbClr val="E7E6E6"/>
                    </a:solidFill>
                  </a:tcPr>
                </a:tc>
                <a:tc>
                  <a:txBody>
                    <a:bodyPr/>
                    <a:lstStyle/>
                    <a:p/>
                  </a:txBody>
                  <a:tcPr>
                    <a:solidFill>
                      <a:srgbClr val="FFFFFF"/>
                    </a:solidFill>
                  </a:tcPr>
                </a:tc>
                <a:tc>
                  <a:txBody>
                    <a:bodyPr/>
                    <a:lstStyle/>
                    <a:p>
                      <a:r>
                        <a:rPr b="1" sz="1100"/>
                        <a:t>Compliance Frameworks</a:t>
                      </a:r>
                    </a:p>
                  </a:txBody>
                  <a:tcPr>
                    <a:solidFill>
                      <a:srgbClr val="E7E6E6"/>
                    </a:solidFill>
                  </a:tcPr>
                </a:tc>
                <a:tc>
                  <a:txBody>
                    <a:bodyPr/>
                    <a:lstStyle/>
                    <a:p>
                      <a:r>
                        <a:rPr sz="1100"/>
                        <a:t>SOC2</a:t>
                      </a:r>
                    </a:p>
                  </a:txBody>
                  <a:tcPr>
                    <a:solidFill>
                      <a:srgbClr val="E7E6E6"/>
                    </a:solidFill>
                  </a:tcPr>
                </a:tc>
              </a:tr>
              <a:tr h="370840">
                <a:tc>
                  <a:txBody>
                    <a:bodyPr/>
                    <a:lstStyle/>
                    <a:p>
                      <a:r>
                        <a:rPr b="1" sz="1100"/>
                        <a:t>Total Users</a:t>
                      </a:r>
                    </a:p>
                  </a:txBody>
                  <a:tcPr>
                    <a:solidFill>
                      <a:srgbClr val="E7E6E6"/>
                    </a:solidFill>
                  </a:tcPr>
                </a:tc>
                <a:tc>
                  <a:txBody>
                    <a:bodyPr/>
                    <a:lstStyle/>
                    <a:p>
                      <a:r>
                        <a:rPr sz="1100"/>
                        <a:t>50 developers</a:t>
                      </a:r>
                    </a:p>
                  </a:txBody>
                  <a:tcPr>
                    <a:solidFill>
                      <a:srgbClr val="E7E6E6"/>
                    </a:solidFill>
                  </a:tcPr>
                </a:tc>
                <a:tc>
                  <a:txBody>
                    <a:bodyPr/>
                    <a:lstStyle/>
                    <a:p/>
                  </a:txBody>
                  <a:tcPr>
                    <a:solidFill>
                      <a:srgbClr val="FFFFFF"/>
                    </a:solidFill>
                  </a:tcPr>
                </a:tc>
                <a:tc>
                  <a:txBody>
                    <a:bodyPr/>
                    <a:lstStyle/>
                    <a:p>
                      <a:r>
                        <a:rPr b="1" sz="1100"/>
                        <a:t>Build Performance</a:t>
                      </a:r>
                    </a:p>
                  </a:txBody>
                  <a:tcPr>
                    <a:solidFill>
                      <a:srgbClr val="E7E6E6"/>
                    </a:solidFill>
                  </a:tcPr>
                </a:tc>
                <a:tc>
                  <a:txBody>
                    <a:bodyPr/>
                    <a:lstStyle/>
                    <a:p>
                      <a:r>
                        <a:rPr sz="1100"/>
                        <a:t>Standard build times</a:t>
                      </a:r>
                    </a:p>
                  </a:txBody>
                  <a:tcPr>
                    <a:solidFill>
                      <a:srgbClr val="E7E6E6"/>
                    </a:solidFill>
                  </a:tcPr>
                </a:tc>
              </a:tr>
              <a:tr h="370840">
                <a:tc>
                  <a:txBody>
                    <a:bodyPr/>
                    <a:lstStyle/>
                    <a:p>
                      <a:r>
                        <a:rPr b="1" sz="1100"/>
                        <a:t>User Roles</a:t>
                      </a:r>
                    </a:p>
                  </a:txBody>
                  <a:tcPr>
                    <a:solidFill>
                      <a:srgbClr val="E7E6E6"/>
                    </a:solidFill>
                  </a:tcPr>
                </a:tc>
                <a:tc>
                  <a:txBody>
                    <a:bodyPr/>
                    <a:lstStyle/>
                    <a:p>
                      <a:r>
                        <a:rPr sz="1100"/>
                        <a:t>4 roles (dev lead ops admin)</a:t>
                      </a:r>
                    </a:p>
                  </a:txBody>
                  <a:tcPr>
                    <a:solidFill>
                      <a:srgbClr val="E7E6E6"/>
                    </a:solidFill>
                  </a:tcPr>
                </a:tc>
                <a:tc>
                  <a:txBody>
                    <a:bodyPr/>
                    <a:lstStyle/>
                    <a:p/>
                  </a:txBody>
                  <a:tcPr>
                    <a:solidFill>
                      <a:srgbClr val="FFFFFF"/>
                    </a:solidFill>
                  </a:tcPr>
                </a:tc>
                <a:tc>
                  <a:txBody>
                    <a:bodyPr/>
                    <a:lstStyle/>
                    <a:p>
                      <a:r>
                        <a:rPr b="1" sz="1100"/>
                        <a:t>Deployment Frequency</a:t>
                      </a:r>
                    </a:p>
                  </a:txBody>
                  <a:tcPr>
                    <a:solidFill>
                      <a:srgbClr val="E7E6E6"/>
                    </a:solidFill>
                  </a:tcPr>
                </a:tc>
                <a:tc>
                  <a:txBody>
                    <a:bodyPr/>
                    <a:lstStyle/>
                    <a:p>
                      <a:r>
                        <a:rPr sz="1100"/>
                        <a:t>Daily deployments</a:t>
                      </a:r>
                    </a:p>
                  </a:txBody>
                  <a:tcPr>
                    <a:solidFill>
                      <a:srgbClr val="E7E6E6"/>
                    </a:solidFill>
                  </a:tcPr>
                </a:tc>
              </a:tr>
              <a:tr h="370840">
                <a:tc>
                  <a:txBody>
                    <a:bodyPr/>
                    <a:lstStyle/>
                    <a:p>
                      <a:r>
                        <a:rPr b="1" sz="1100"/>
                        <a:t>Build Artifacts</a:t>
                      </a:r>
                    </a:p>
                  </a:txBody>
                  <a:tcPr>
                    <a:solidFill>
                      <a:srgbClr val="E7E6E6"/>
                    </a:solidFill>
                  </a:tcPr>
                </a:tc>
                <a:tc>
                  <a:txBody>
                    <a:bodyPr/>
                    <a:lstStyle/>
                    <a:p>
                      <a:r>
                        <a:rPr sz="1100"/>
                        <a:t>100 GB storage</a:t>
                      </a:r>
                    </a:p>
                  </a:txBody>
                  <a:tcPr>
                    <a:solidFill>
                      <a:srgbClr val="E7E6E6"/>
                    </a:solidFill>
                  </a:tcPr>
                </a:tc>
                <a:tc>
                  <a:txBody>
                    <a:bodyPr/>
                    <a:lstStyle/>
                    <a:p/>
                  </a:txBody>
                  <a:tcPr>
                    <a:solidFill>
                      <a:srgbClr val="FFFFFF"/>
                    </a:solidFill>
                  </a:tcPr>
                </a:tc>
                <a:tc>
                  <a:txBody>
                    <a:bodyPr/>
                    <a:lstStyle/>
                    <a:p>
                      <a:r>
                        <a:rPr b="1" sz="1100"/>
                        <a:t>Deployment Environments</a:t>
                      </a:r>
                    </a:p>
                  </a:txBody>
                  <a:tcPr>
                    <a:solidFill>
                      <a:srgbClr val="E7E6E6"/>
                    </a:solidFill>
                  </a:tcPr>
                </a:tc>
                <a:tc>
                  <a:txBody>
                    <a:bodyPr/>
                    <a:lstStyle/>
                    <a:p>
                      <a:r>
                        <a:rPr sz="1100"/>
                        <a:t>3 environments (dev staging prod)</a:t>
                      </a:r>
                    </a:p>
                  </a:txBody>
                  <a:tcPr>
                    <a:solidFill>
                      <a:srgbClr val="E7E6E6"/>
                    </a:solidFill>
                  </a:tcPr>
                </a:tc>
              </a:tr>
              <a:tr h="370840">
                <a:tc>
                  <a:txBody>
                    <a:bodyPr/>
                    <a:lstStyle/>
                    <a:p>
                      <a:r>
                        <a:rPr b="1" sz="1100"/>
                        <a:t>Pipeline Runs</a:t>
                      </a:r>
                    </a:p>
                  </a:txBody>
                  <a:tcPr>
                    <a:solidFill>
                      <a:srgbClr val="E7E6E6"/>
                    </a:solidFill>
                  </a:tcPr>
                </a:tc>
                <a:tc>
                  <a:txBody>
                    <a:bodyPr/>
                    <a:lstStyle/>
                    <a:p>
                      <a:r>
                        <a:rPr sz="1100"/>
                        <a:t>500 runs/month</a:t>
                      </a:r>
                    </a:p>
                  </a:txBody>
                  <a:tcPr>
                    <a:solidFill>
                      <a:srgbClr val="E7E6E6"/>
                    </a:solidFill>
                  </a:tcPr>
                </a:tc>
                <a:tc>
                  <a:txBody>
                    <a:bodyPr/>
                    <a:lstStyle/>
                    <a:p/>
                  </a:txBody>
                  <a:tcPr>
                    <a:solidFill>
                      <a:srgbClr val="FFFFFF"/>
                    </a:solidFill>
                  </a:tcPr>
                </a:tc>
                <a:tc>
                  <a:txBody>
                    <a:bodyPr/>
                    <a:lstStyle/>
                    <a:p>
                      <a:r>
                        <a:rPr b="1" sz="1100"/>
                        <a:t>Deployment Regions</a:t>
                      </a:r>
                    </a:p>
                  </a:txBody>
                  <a:tcPr>
                    <a:solidFill>
                      <a:srgbClr val="E7E6E6"/>
                    </a:solidFill>
                  </a:tcPr>
                </a:tc>
                <a:tc>
                  <a:txBody>
                    <a:bodyPr/>
                    <a:lstStyle/>
                    <a:p>
                      <a:r>
                        <a:rPr sz="1100"/>
                        <a:t>Single Azure region</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Solution Overview</a:t>
            </a:r>
          </a:p>
        </p:txBody>
      </p:sp>
      <p:sp>
        <p:nvSpPr>
          <p:cNvPr id="5" name="Text Placeholder 4"/>
          <p:cNvSpPr>
            <a:spLocks noGrp="1"/>
          </p:cNvSpPr>
          <p:nvPr>
            <p:ph type="body" idx="16" sz="quarter"/>
          </p:nvPr>
        </p:nvSpPr>
        <p:spPr/>
        <p:txBody>
          <a:bodyPr/>
          <a:lstStyle/>
          <a:p>
            <a:pPr/>
            <a:r>
              <a:rPr b="1"/>
              <a:t>Key Components</a:t>
            </a:r>
          </a:p>
          <a:p>
            <a:pPr lvl="1"/>
            <a:r>
              <a:rPr b="1"/>
              <a:t>Azure DevOps Services:</a:t>
            </a:r>
            <a:r>
              <a:t> Central hub for project management, code repositories, and pipeline orchestration</a:t>
            </a:r>
          </a:p>
          <a:p>
            <a:pPr lvl="1"/>
            <a:r>
              <a:rPr b="1"/>
              <a:t>Azure Pipelines:</a:t>
            </a:r>
            <a:r>
              <a:t> Automated build, test, and deployment workflows with multi-stage release management</a:t>
            </a:r>
          </a:p>
          <a:p>
            <a:pPr lvl="1"/>
            <a:r>
              <a:rPr b="1"/>
              <a:t>Azure Repos &amp; Artifacts:</a:t>
            </a:r>
            <a:r>
              <a:t> Version control for source code with centralized package management</a:t>
            </a:r>
          </a:p>
          <a:p>
            <a:pPr/>
            <a:r>
              <a:rPr b="1"/>
              <a:t>Technology Stack</a:t>
            </a:r>
          </a:p>
          <a:p>
            <a:pPr lvl="1"/>
            <a:r>
              <a:t>Platform: Azure DevOps Services with Git-based Azure Repos</a:t>
            </a:r>
          </a:p>
          <a:p>
            <a:pPr lvl="1"/>
            <a:r>
              <a:t>Build &amp; Release: YAML-based Azure Pipelines with multi-stage workflows</a:t>
            </a:r>
          </a:p>
          <a:p>
            <a:pPr lvl="1"/>
            <a:r>
              <a:t>Package Management: Azure Artifacts feeds for dependencies</a:t>
            </a:r>
          </a:p>
        </p:txBody>
      </p:sp>
      <p:sp>
        <p:nvSpPr>
          <p:cNvPr id="6" name="Text Placeholder 5"/>
          <p:cNvSpPr>
            <a:spLocks noGrp="1"/>
          </p:cNvSpPr>
          <p:nvPr>
            <p:ph type="body" idx="17" sz="quarter"/>
          </p:nvPr>
        </p:nvSpPr>
        <p:spPr/>
        <p:txBody>
          <a:bodyPr/>
          <a:lstStyle/>
          <a:p>
            <a:pPr algn="r">
              <a:buNone/>
            </a:pPr>
            <a:r>
              <a:rPr sz="1100">
                <a:solidFill>
                  <a:srgbClr val="CC0000"/>
                </a:solidFill>
              </a:rPr>
              <a:t>Azure DevOps Enterprise Platform</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3"/>
          <a:stretch>
            <a:fillRect/>
          </a:stretch>
        </p:blipFill>
        <p:spPr>
          <a:xfrm>
            <a:off x="313592" y="4536078"/>
            <a:ext cx="2130670"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Implementation Approach</a:t>
            </a:r>
          </a:p>
        </p:txBody>
      </p:sp>
      <p:sp>
        <p:nvSpPr>
          <p:cNvPr id="4" name="Text Placeholder 3"/>
          <p:cNvSpPr>
            <a:spLocks noGrp="1"/>
          </p:cNvSpPr>
          <p:nvPr>
            <p:ph type="body" idx="14" sz="quarter"/>
          </p:nvPr>
        </p:nvSpPr>
        <p:spPr/>
        <p:txBody>
          <a:bodyPr/>
          <a:lstStyle/>
          <a:p>
            <a:pPr/>
            <a:r>
              <a:rPr b="1"/>
              <a:t>Phase 1: Assessment &amp; Planning</a:t>
            </a:r>
            <a:r>
              <a:t> (Months 1-2)</a:t>
            </a:r>
          </a:p>
          <a:p>
            <a:pPr lvl="1"/>
            <a:r>
              <a:t>Current development workflow analysis and tool inventory assessment</a:t>
            </a:r>
          </a:p>
          <a:p>
            <a:pPr lvl="1"/>
            <a:r>
              <a:t>Pipeline strategy design and branching standards definition</a:t>
            </a:r>
          </a:p>
          <a:p>
            <a:pPr lvl="1"/>
            <a:r>
              <a:t>Azure DevOps organization structure and security configuration</a:t>
            </a:r>
          </a:p>
          <a:p>
            <a:pPr/>
            <a:r>
              <a:rPr b="1"/>
              <a:t>Phase 2: Core Platform Setup</a:t>
            </a:r>
            <a:r>
              <a:t> (Months 3-4)</a:t>
            </a:r>
          </a:p>
          <a:p>
            <a:pPr lvl="1"/>
            <a:r>
              <a:t>Azure Repos migration with Git history preservation</a:t>
            </a:r>
          </a:p>
          <a:p>
            <a:pPr lvl="1"/>
            <a:r>
              <a:t>Azure Pipelines templates for build and release automation</a:t>
            </a:r>
          </a:p>
          <a:p>
            <a:pPr lvl="1"/>
            <a:r>
              <a:t>Azure Artifacts feeds and package management setup</a:t>
            </a:r>
          </a:p>
          <a:p>
            <a:pPr/>
            <a:r>
              <a:rPr b="1"/>
              <a:t>Phase 3: Optimization &amp; Adoption</a:t>
            </a:r>
            <a:r>
              <a:t> (Months 5-6)</a:t>
            </a:r>
          </a:p>
          <a:p>
            <a:pPr lvl="1"/>
            <a:r>
              <a:t>Team onboarding and pipeline standardization across projects</a:t>
            </a:r>
          </a:p>
          <a:p>
            <a:pPr lvl="1"/>
            <a:r>
              <a:t>Advanced workflows including multi-stage deployments and approvals</a:t>
            </a:r>
          </a:p>
          <a:p>
            <a:pPr lvl="1"/>
            <a:r>
              <a:t>Performance monitoring and continuous improvement processes</a:t>
            </a:r>
          </a:p>
        </p:txBody>
      </p:sp>
      <p:sp>
        <p:nvSpPr>
          <p:cNvPr id="5" name="Text Placeholder 4"/>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Timeline &amp; Milestones</a:t>
            </a:r>
          </a:p>
        </p:txBody>
      </p:sp>
      <p:graphicFrame>
        <p:nvGraphicFramePr>
          <p:cNvPr id="4" name="Table Placeholder 3"/>
          <p:cNvGraphicFramePr>
            <a:graphicFrameLocks noGrp="1"/>
          </p:cNvGraphicFramePr>
          <p:nvPr>
            <p:ph type="tbl" idx="14" sz="quarter"/>
          </p:nvPr>
        </p:nvGraphicFramePr>
        <p:xfrm>
          <a:off x="256855" y="677011"/>
          <a:ext cx="8710931" cy="1483360"/>
        </p:xfrm>
        <a:graphic>
          <a:graphicData uri="http://schemas.openxmlformats.org/drawingml/2006/table">
            <a:tbl>
              <a:tblPr firstRow="1" bandRow="1">
                <a:tableStyleId>{5C22544A-7EE6-4342-B048-85BDC9FD1C3A}</a:tableStyleId>
              </a:tblPr>
              <a:tblGrid>
                <a:gridCol w="871093"/>
                <a:gridCol w="2177733"/>
                <a:gridCol w="1306639"/>
                <a:gridCol w="4355466"/>
              </a:tblGrid>
              <a:tr h="370840">
                <a:tc>
                  <a:txBody>
                    <a:bodyPr/>
                    <a:lstStyle/>
                    <a:p>
                      <a:r>
                        <a:rPr sz="1400">
                          <a:solidFill>
                            <a:srgbClr val="FFFFFF"/>
                          </a:solidFill>
                        </a:rPr>
                        <a:t>Phase No</a:t>
                      </a:r>
                    </a:p>
                  </a:txBody>
                  <a:tcPr>
                    <a:solidFill>
                      <a:srgbClr val="A01C02"/>
                    </a:solidFill>
                  </a:tcPr>
                </a:tc>
                <a:tc>
                  <a:txBody>
                    <a:bodyPr/>
                    <a:lstStyle/>
                    <a:p>
                      <a:r>
                        <a:rPr sz="1400">
                          <a:solidFill>
                            <a:srgbClr val="FFFFFF"/>
                          </a:solidFill>
                        </a:rPr>
                        <a:t>Phase Description</a:t>
                      </a:r>
                    </a:p>
                  </a:txBody>
                  <a:tcPr>
                    <a:solidFill>
                      <a:srgbClr val="A01C02"/>
                    </a:solidFill>
                  </a:tcPr>
                </a:tc>
                <a:tc>
                  <a:txBody>
                    <a:bodyPr/>
                    <a:lstStyle/>
                    <a:p>
                      <a:r>
                        <a:rPr sz="1400">
                          <a:solidFill>
                            <a:srgbClr val="FFFFFF"/>
                          </a:solidFill>
                        </a:rPr>
                        <a:t>Timeline</a:t>
                      </a:r>
                    </a:p>
                  </a:txBody>
                  <a:tcPr>
                    <a:solidFill>
                      <a:srgbClr val="A01C02"/>
                    </a:solidFill>
                  </a:tcPr>
                </a:tc>
                <a:tc>
                  <a:txBody>
                    <a:bodyPr/>
                    <a:lstStyle/>
                    <a:p>
                      <a:r>
                        <a:rPr sz="1400">
                          <a:solidFill>
                            <a:srgbClr val="FFFFFF"/>
                          </a:solidFill>
                        </a:rPr>
                        <a:t>Key Deliverables</a:t>
                      </a:r>
                    </a:p>
                  </a:txBody>
                  <a:tcPr>
                    <a:solidFill>
                      <a:srgbClr val="A01C02"/>
                    </a:solidFill>
                  </a:tcPr>
                </a:tc>
              </a:tr>
              <a:tr h="370840">
                <a:tc>
                  <a:txBody>
                    <a:bodyPr/>
                    <a:lstStyle/>
                    <a:p>
                      <a:r>
                        <a:rPr sz="1100"/>
                        <a:t>Phase 1</a:t>
                      </a:r>
                    </a:p>
                  </a:txBody>
                  <a:tcPr>
                    <a:solidFill>
                      <a:srgbClr val="E7E6E6"/>
                    </a:solidFill>
                  </a:tcPr>
                </a:tc>
                <a:tc>
                  <a:txBody>
                    <a:bodyPr/>
                    <a:lstStyle/>
                    <a:p>
                      <a:r>
                        <a:rPr sz="1100"/>
                        <a:t>Assessment &amp; Planning</a:t>
                      </a:r>
                    </a:p>
                  </a:txBody>
                  <a:tcPr>
                    <a:solidFill>
                      <a:srgbClr val="E7E6E6"/>
                    </a:solidFill>
                  </a:tcPr>
                </a:tc>
                <a:tc>
                  <a:txBody>
                    <a:bodyPr/>
                    <a:lstStyle/>
                    <a:p>
                      <a:r>
                        <a:rPr sz="1100"/>
                        <a:t>Months 1-2</a:t>
                      </a:r>
                    </a:p>
                  </a:txBody>
                  <a:tcPr>
                    <a:solidFill>
                      <a:srgbClr val="E7E6E6"/>
                    </a:solidFill>
                  </a:tcPr>
                </a:tc>
                <a:tc>
                  <a:txBody>
                    <a:bodyPr/>
                    <a:lstStyle/>
                    <a:p>
                      <a:r>
                        <a:rPr sz="1100"/>
                        <a:t>DevOps maturity assessment complete, Pipeline strategy documented, Security and governance policies defined</a:t>
                      </a:r>
                    </a:p>
                  </a:txBody>
                  <a:tcPr>
                    <a:solidFill>
                      <a:srgbClr val="E7E6E6"/>
                    </a:solidFill>
                  </a:tcPr>
                </a:tc>
              </a:tr>
              <a:tr h="370840">
                <a:tc>
                  <a:txBody>
                    <a:bodyPr/>
                    <a:lstStyle/>
                    <a:p>
                      <a:r>
                        <a:rPr sz="1100"/>
                        <a:t>Phase 2</a:t>
                      </a:r>
                    </a:p>
                  </a:txBody>
                  <a:tcPr>
                    <a:solidFill>
                      <a:srgbClr val="E7E6E6"/>
                    </a:solidFill>
                  </a:tcPr>
                </a:tc>
                <a:tc>
                  <a:txBody>
                    <a:bodyPr/>
                    <a:lstStyle/>
                    <a:p>
                      <a:r>
                        <a:rPr sz="1100"/>
                        <a:t>Core Platform Setup</a:t>
                      </a:r>
                    </a:p>
                  </a:txBody>
                  <a:tcPr>
                    <a:solidFill>
                      <a:srgbClr val="E7E6E6"/>
                    </a:solidFill>
                  </a:tcPr>
                </a:tc>
                <a:tc>
                  <a:txBody>
                    <a:bodyPr/>
                    <a:lstStyle/>
                    <a:p>
                      <a:r>
                        <a:rPr sz="1100"/>
                        <a:t>Months 3-4</a:t>
                      </a:r>
                    </a:p>
                  </a:txBody>
                  <a:tcPr>
                    <a:solidFill>
                      <a:srgbClr val="E7E6E6"/>
                    </a:solidFill>
                  </a:tcPr>
                </a:tc>
                <a:tc>
                  <a:txBody>
                    <a:bodyPr/>
                    <a:lstStyle/>
                    <a:p>
                      <a:r>
                        <a:rPr sz="1100"/>
                        <a:t>Azure Repos configured with migrated code, Build pipelines operational, Artifact feeds publishing packages</a:t>
                      </a:r>
                    </a:p>
                  </a:txBody>
                  <a:tcPr>
                    <a:solidFill>
                      <a:srgbClr val="E7E6E6"/>
                    </a:solidFill>
                  </a:tcPr>
                </a:tc>
              </a:tr>
              <a:tr h="370840">
                <a:tc>
                  <a:txBody>
                    <a:bodyPr/>
                    <a:lstStyle/>
                    <a:p>
                      <a:r>
                        <a:rPr sz="1100"/>
                        <a:t>Phase 3</a:t>
                      </a:r>
                    </a:p>
                  </a:txBody>
                  <a:tcPr>
                    <a:solidFill>
                      <a:srgbClr val="E7E6E6"/>
                    </a:solidFill>
                  </a:tcPr>
                </a:tc>
                <a:tc>
                  <a:txBody>
                    <a:bodyPr/>
                    <a:lstStyle/>
                    <a:p>
                      <a:r>
                        <a:rPr sz="1100"/>
                        <a:t>Optimization &amp; Adoption</a:t>
                      </a:r>
                    </a:p>
                  </a:txBody>
                  <a:tcPr>
                    <a:solidFill>
                      <a:srgbClr val="E7E6E6"/>
                    </a:solidFill>
                  </a:tcPr>
                </a:tc>
                <a:tc>
                  <a:txBody>
                    <a:bodyPr/>
                    <a:lstStyle/>
                    <a:p>
                      <a:r>
                        <a:rPr sz="1100"/>
                        <a:t>Months 5-6</a:t>
                      </a:r>
                    </a:p>
                  </a:txBody>
                  <a:tcPr>
                    <a:solidFill>
                      <a:srgbClr val="E7E6E6"/>
                    </a:solidFill>
                  </a:tcPr>
                </a:tc>
                <a:tc>
                  <a:txBody>
                    <a:bodyPr/>
                    <a:lstStyle/>
                    <a:p>
                      <a:r>
                        <a:rPr sz="1100"/>
                        <a:t>Release pipelines automated, All teams onboarded, Monitoring and dashboards active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Success Stories</a:t>
            </a:r>
          </a:p>
        </p:txBody>
      </p:sp>
      <p:sp>
        <p:nvSpPr>
          <p:cNvPr id="4" name="Text Placeholder 3"/>
          <p:cNvSpPr>
            <a:spLocks noGrp="1"/>
          </p:cNvSpPr>
          <p:nvPr>
            <p:ph type="body" idx="14" sz="quarter"/>
          </p:nvPr>
        </p:nvSpPr>
        <p:spPr/>
        <p:txBody>
          <a:bodyPr/>
          <a:lstStyle/>
          <a:p>
            <a:pPr/>
            <a:r>
              <a:rPr b="1"/>
              <a:t>Client Success: Enterprise Software Company</a:t>
            </a:r>
          </a:p>
          <a:p>
            <a:pPr lvl="1"/>
            <a:r>
              <a:rPr b="1"/>
              <a:t>Client:</a:t>
            </a:r>
            <a:r>
              <a:t> Software company with 200+ developers across 8 product teams</a:t>
            </a:r>
          </a:p>
          <a:p>
            <a:pPr lvl="1"/>
            <a:r>
              <a:rPr b="1"/>
              <a:t>Challenge:</a:t>
            </a:r>
            <a:r>
              <a:t> Manual deployment processes taking 4+ hours per release, inconsistent build environments causing 30% of releases to fail, and inability to track code changes across projects</a:t>
            </a:r>
          </a:p>
          <a:p>
            <a:pPr lvl="1"/>
            <a:r>
              <a:rPr b="1"/>
              <a:t>Solution:</a:t>
            </a:r>
            <a:r>
              <a:t> Deployed Azure DevOps platform with standardized YAML pipelines, automated testing integration, and centralized artifact management</a:t>
            </a:r>
          </a:p>
          <a:p>
            <a:pPr lvl="1"/>
            <a:r>
              <a:rPr b="1"/>
              <a:t>Results:</a:t>
            </a:r>
            <a:r>
              <a:t> 85% reduction in deployment time (4 hours to 35 minutes), 95% pipeline success rate, release frequency increased from monthly to weekly, full audit trail for compliance requirements</a:t>
            </a:r>
          </a:p>
          <a:p>
            <a:pPr lvl="1"/>
            <a:r>
              <a:rPr b="1"/>
              <a:t>Testimonial:</a:t>
            </a:r>
            <a:r>
              <a:t> "Azure DevOps transformed how our teams deliver software. We went from dreading release days to confidently deploying multiple times per week. Our developers focus on building features instead of fighting deployments." — </a:t>
            </a:r>
            <a:r>
              <a:rPr b="1"/>
              <a:t>Sarah Martinez, VP Engineering</a:t>
            </a:r>
            <a:r>
              <a:t>, Enterprise Software Corp</a:t>
            </a:r>
          </a:p>
        </p:txBody>
      </p:sp>
      <p:sp>
        <p:nvSpPr>
          <p:cNvPr id="5" name="Text Placeholder 4"/>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Our Partnership Advantage</a:t>
            </a:r>
          </a:p>
        </p:txBody>
      </p:sp>
      <p:sp>
        <p:nvSpPr>
          <p:cNvPr id="4" name="Text Placeholder 3"/>
          <p:cNvSpPr>
            <a:spLocks noGrp="1"/>
          </p:cNvSpPr>
          <p:nvPr>
            <p:ph type="body" idx="16" sz="quarter"/>
          </p:nvPr>
        </p:nvSpPr>
        <p:spPr/>
        <p:txBody>
          <a:bodyPr/>
          <a:lstStyle/>
          <a:p>
            <a:pPr/>
            <a:r>
              <a:rPr b="1"/>
              <a:t>What We Bring</a:t>
            </a:r>
          </a:p>
          <a:p>
            <a:pPr lvl="1"/>
            <a:r>
              <a:t>Microsoft Gold Partner with Azure DevOps specialization</a:t>
            </a:r>
          </a:p>
          <a:p>
            <a:pPr lvl="1"/>
            <a:r>
              <a:t>100+ successful DevOps platform implementations</a:t>
            </a:r>
          </a:p>
          <a:p>
            <a:pPr lvl="1"/>
            <a:r>
              <a:t>Certified Azure DevOps Engineers and Solutions Architects</a:t>
            </a:r>
          </a:p>
          <a:p>
            <a:pPr lvl="1"/>
            <a:r>
              <a:t>Pre-built pipeline templates and migration accelerators</a:t>
            </a:r>
          </a:p>
        </p:txBody>
      </p:sp>
      <p:sp>
        <p:nvSpPr>
          <p:cNvPr id="5" name="Text Placeholder 4"/>
          <p:cNvSpPr>
            <a:spLocks noGrp="1"/>
          </p:cNvSpPr>
          <p:nvPr>
            <p:ph type="body" idx="17" sz="quarter"/>
          </p:nvPr>
        </p:nvSpPr>
        <p:spPr/>
        <p:txBody>
          <a:bodyPr/>
          <a:lstStyle/>
          <a:p>
            <a:pPr/>
            <a:r>
              <a:rPr b="1"/>
              <a:t>Value to You</a:t>
            </a:r>
          </a:p>
          <a:p>
            <a:pPr lvl="1"/>
            <a:r>
              <a:t>Proven migration methodology reduces disruption to development teams</a:t>
            </a:r>
          </a:p>
          <a:p>
            <a:pPr lvl="1"/>
            <a:r>
              <a:t>Reusable pipeline templates accelerate onboarding by 50%</a:t>
            </a:r>
          </a:p>
          <a:p>
            <a:pPr lvl="1"/>
            <a:r>
              <a:t>Comprehensive training program ensures team self-sufficiency</a:t>
            </a:r>
          </a:p>
          <a:p>
            <a:pPr lvl="1"/>
            <a:r>
              <a:t>Best practices from 100+ enterprise DevOps transformations</a:t>
            </a:r>
          </a:p>
        </p:txBody>
      </p:sp>
      <p:sp>
        <p:nvSpPr>
          <p:cNvPr id="6" name="Text Placeholder 5"/>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7" name="Picture 6" descr="consulting_company_logo.png"/>
          <p:cNvPicPr>
            <a:picLocks noChangeAspect="1"/>
          </p:cNvPicPr>
          <p:nvPr/>
        </p:nvPicPr>
        <p:blipFill>
          <a:blip r:embed="rId2"/>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Investment Summary</a:t>
            </a:r>
          </a:p>
        </p:txBody>
      </p:sp>
      <p:graphicFrame>
        <p:nvGraphicFramePr>
          <p:cNvPr id="4" name="Table Placeholder 3"/>
          <p:cNvGraphicFramePr>
            <a:graphicFrameLocks noGrp="1"/>
          </p:cNvGraphicFramePr>
          <p:nvPr>
            <p:ph type="tbl" idx="14" sz="quarter"/>
          </p:nvPr>
        </p:nvGraphicFramePr>
        <p:xfrm>
          <a:off x="256855" y="677011"/>
          <a:ext cx="8710930" cy="1854200"/>
        </p:xfrm>
        <a:graphic>
          <a:graphicData uri="http://schemas.openxmlformats.org/drawingml/2006/table">
            <a:tbl>
              <a:tblPr firstRow="1" bandRow="1">
                <a:tableStyleId>{5C22544A-7EE6-4342-B048-85BDC9FD1C3A}</a:tableStyleId>
              </a:tblPr>
              <a:tblGrid>
                <a:gridCol w="1997920"/>
                <a:gridCol w="1198752"/>
                <a:gridCol w="1198752"/>
                <a:gridCol w="1198752"/>
                <a:gridCol w="959001"/>
                <a:gridCol w="959001"/>
                <a:gridCol w="1198752"/>
              </a:tblGrid>
              <a:tr h="370840">
                <a:tc>
                  <a:txBody>
                    <a:bodyPr/>
                    <a:lstStyle/>
                    <a:p>
                      <a:r>
                        <a:rPr sz="1400">
                          <a:solidFill>
                            <a:srgbClr val="FFFFFF"/>
                          </a:solidFill>
                        </a:rPr>
                        <a:t>Cost Category</a:t>
                      </a:r>
                    </a:p>
                  </a:txBody>
                  <a:tcPr>
                    <a:solidFill>
                      <a:srgbClr val="A01C02"/>
                    </a:solidFill>
                  </a:tcPr>
                </a:tc>
                <a:tc>
                  <a:txBody>
                    <a:bodyPr/>
                    <a:lstStyle/>
                    <a:p>
                      <a:r>
                        <a:rPr sz="1400">
                          <a:solidFill>
                            <a:srgbClr val="FFFFFF"/>
                          </a:solidFill>
                        </a:rPr>
                        <a:t>Year 1 List</a:t>
                      </a:r>
                    </a:p>
                  </a:txBody>
                  <a:tcPr>
                    <a:solidFill>
                      <a:srgbClr val="A01C02"/>
                    </a:solidFill>
                  </a:tcPr>
                </a:tc>
                <a:tc>
                  <a:txBody>
                    <a:bodyPr/>
                    <a:lstStyle/>
                    <a:p>
                      <a:r>
                        <a:rPr sz="1400">
                          <a:solidFill>
                            <a:srgbClr val="FFFFFF"/>
                          </a:solidFill>
                        </a:rPr>
                        <a:t>Year 1 Credits</a:t>
                      </a:r>
                    </a:p>
                  </a:txBody>
                  <a:tcPr>
                    <a:solidFill>
                      <a:srgbClr val="A01C02"/>
                    </a:solidFill>
                  </a:tcPr>
                </a:tc>
                <a:tc>
                  <a:txBody>
                    <a:bodyPr/>
                    <a:lstStyle/>
                    <a:p>
                      <a:r>
                        <a:rPr sz="1400">
                          <a:solidFill>
                            <a:srgbClr val="FFFFFF"/>
                          </a:solidFill>
                        </a:rPr>
                        <a:t>Year 1 Net</a:t>
                      </a:r>
                    </a:p>
                  </a:txBody>
                  <a:tcPr>
                    <a:solidFill>
                      <a:srgbClr val="A01C02"/>
                    </a:solidFill>
                  </a:tcPr>
                </a:tc>
                <a:tc>
                  <a:txBody>
                    <a:bodyPr/>
                    <a:lstStyle/>
                    <a:p>
                      <a:r>
                        <a:rPr sz="1400">
                          <a:solidFill>
                            <a:srgbClr val="FFFFFF"/>
                          </a:solidFill>
                        </a:rPr>
                        <a:t>Year 2</a:t>
                      </a:r>
                    </a:p>
                  </a:txBody>
                  <a:tcPr>
                    <a:solidFill>
                      <a:srgbClr val="A01C02"/>
                    </a:solidFill>
                  </a:tcPr>
                </a:tc>
                <a:tc>
                  <a:txBody>
                    <a:bodyPr/>
                    <a:lstStyle/>
                    <a:p>
                      <a:r>
                        <a:rPr sz="1400">
                          <a:solidFill>
                            <a:srgbClr val="FFFFFF"/>
                          </a:solidFill>
                        </a:rPr>
                        <a:t>Year 3</a:t>
                      </a:r>
                    </a:p>
                  </a:txBody>
                  <a:tcPr>
                    <a:solidFill>
                      <a:srgbClr val="A01C02"/>
                    </a:solidFill>
                  </a:tcPr>
                </a:tc>
                <a:tc>
                  <a:txBody>
                    <a:bodyPr/>
                    <a:lstStyle/>
                    <a:p>
                      <a:r>
                        <a:rPr sz="1400">
                          <a:solidFill>
                            <a:srgbClr val="FFFFFF"/>
                          </a:solidFill>
                        </a:rPr>
                        <a:t>3-Year Total</a:t>
                      </a:r>
                    </a:p>
                  </a:txBody>
                  <a:tcPr>
                    <a:solidFill>
                      <a:srgbClr val="A01C02"/>
                    </a:solidFill>
                  </a:tcPr>
                </a:tc>
              </a:tr>
              <a:tr h="370840">
                <a:tc>
                  <a:txBody>
                    <a:bodyPr/>
                    <a:lstStyle/>
                    <a:p>
                      <a:r>
                        <a:rPr sz="1100"/>
                        <a:t>Professional Services</a:t>
                      </a:r>
                    </a:p>
                  </a:txBody>
                  <a:tcPr>
                    <a:solidFill>
                      <a:srgbClr val="E7E6E6"/>
                    </a:solidFill>
                  </a:tcPr>
                </a:tc>
                <a:tc>
                  <a:txBody>
                    <a:bodyPr/>
                    <a:lstStyle/>
                    <a:p>
                      <a:r>
                        <a:rPr sz="1100"/>
                        <a:t>$100,000</a:t>
                      </a:r>
                    </a:p>
                  </a:txBody>
                  <a:tcPr>
                    <a:solidFill>
                      <a:srgbClr val="E7E6E6"/>
                    </a:solidFill>
                  </a:tcPr>
                </a:tc>
                <a:tc>
                  <a:txBody>
                    <a:bodyPr/>
                    <a:lstStyle/>
                    <a:p>
                      <a:r>
                        <a:rPr sz="1100"/>
                        <a:t>($8,000)</a:t>
                      </a:r>
                    </a:p>
                  </a:txBody>
                  <a:tcPr>
                    <a:solidFill>
                      <a:srgbClr val="E7E6E6"/>
                    </a:solidFill>
                  </a:tcPr>
                </a:tc>
                <a:tc>
                  <a:txBody>
                    <a:bodyPr/>
                    <a:lstStyle/>
                    <a:p>
                      <a:r>
                        <a:rPr sz="1100"/>
                        <a:t>$92,000</a:t>
                      </a:r>
                    </a:p>
                  </a:txBody>
                  <a:tcPr>
                    <a:solidFill>
                      <a:srgbClr val="E7E6E6"/>
                    </a:solidFill>
                  </a:tcPr>
                </a:tc>
                <a:tc>
                  <a:txBody>
                    <a:bodyPr/>
                    <a:lstStyle/>
                    <a:p>
                      <a:r>
                        <a:rPr sz="1100"/>
                        <a:t>$0</a:t>
                      </a:r>
                    </a:p>
                  </a:txBody>
                  <a:tcPr>
                    <a:solidFill>
                      <a:srgbClr val="E7E6E6"/>
                    </a:solidFill>
                  </a:tcPr>
                </a:tc>
                <a:tc>
                  <a:txBody>
                    <a:bodyPr/>
                    <a:lstStyle/>
                    <a:p>
                      <a:r>
                        <a:rPr sz="1100"/>
                        <a:t>$0</a:t>
                      </a:r>
                    </a:p>
                  </a:txBody>
                  <a:tcPr>
                    <a:solidFill>
                      <a:srgbClr val="E7E6E6"/>
                    </a:solidFill>
                  </a:tcPr>
                </a:tc>
                <a:tc>
                  <a:txBody>
                    <a:bodyPr/>
                    <a:lstStyle/>
                    <a:p>
                      <a:r>
                        <a:rPr sz="1100"/>
                        <a:t>$92,000</a:t>
                      </a:r>
                    </a:p>
                  </a:txBody>
                  <a:tcPr>
                    <a:solidFill>
                      <a:srgbClr val="E7E6E6"/>
                    </a:solidFill>
                  </a:tcPr>
                </a:tc>
              </a:tr>
              <a:tr h="370840">
                <a:tc>
                  <a:txBody>
                    <a:bodyPr/>
                    <a:lstStyle/>
                    <a:p>
                      <a:r>
                        <a:rPr sz="1100"/>
                        <a:t>Cloud Infrastructure</a:t>
                      </a:r>
                    </a:p>
                  </a:txBody>
                  <a:tcPr>
                    <a:solidFill>
                      <a:srgbClr val="E7E6E6"/>
                    </a:solidFill>
                  </a:tcPr>
                </a:tc>
                <a:tc>
                  <a:txBody>
                    <a:bodyPr/>
                    <a:lstStyle/>
                    <a:p>
                      <a:r>
                        <a:rPr sz="1100"/>
                        <a:t>$6,200</a:t>
                      </a:r>
                    </a:p>
                  </a:txBody>
                  <a:tcPr>
                    <a:solidFill>
                      <a:srgbClr val="E7E6E6"/>
                    </a:solidFill>
                  </a:tcPr>
                </a:tc>
                <a:tc>
                  <a:txBody>
                    <a:bodyPr/>
                    <a:lstStyle/>
                    <a:p>
                      <a:r>
                        <a:rPr sz="1100"/>
                        <a:t>$0</a:t>
                      </a:r>
                    </a:p>
                  </a:txBody>
                  <a:tcPr>
                    <a:solidFill>
                      <a:srgbClr val="E7E6E6"/>
                    </a:solidFill>
                  </a:tcPr>
                </a:tc>
                <a:tc>
                  <a:txBody>
                    <a:bodyPr/>
                    <a:lstStyle/>
                    <a:p>
                      <a:r>
                        <a:rPr sz="1100"/>
                        <a:t>$6,200</a:t>
                      </a:r>
                    </a:p>
                  </a:txBody>
                  <a:tcPr>
                    <a:solidFill>
                      <a:srgbClr val="E7E6E6"/>
                    </a:solidFill>
                  </a:tcPr>
                </a:tc>
                <a:tc>
                  <a:txBody>
                    <a:bodyPr/>
                    <a:lstStyle/>
                    <a:p>
                      <a:r>
                        <a:rPr sz="1100"/>
                        <a:t>$6,200</a:t>
                      </a:r>
                    </a:p>
                  </a:txBody>
                  <a:tcPr>
                    <a:solidFill>
                      <a:srgbClr val="E7E6E6"/>
                    </a:solidFill>
                  </a:tcPr>
                </a:tc>
                <a:tc>
                  <a:txBody>
                    <a:bodyPr/>
                    <a:lstStyle/>
                    <a:p>
                      <a:r>
                        <a:rPr sz="1100"/>
                        <a:t>$6,200</a:t>
                      </a:r>
                    </a:p>
                  </a:txBody>
                  <a:tcPr>
                    <a:solidFill>
                      <a:srgbClr val="E7E6E6"/>
                    </a:solidFill>
                  </a:tcPr>
                </a:tc>
                <a:tc>
                  <a:txBody>
                    <a:bodyPr/>
                    <a:lstStyle/>
                    <a:p>
                      <a:r>
                        <a:rPr sz="1100"/>
                        <a:t>$18,600</a:t>
                      </a:r>
                    </a:p>
                  </a:txBody>
                  <a:tcPr>
                    <a:solidFill>
                      <a:srgbClr val="E7E6E6"/>
                    </a:solidFill>
                  </a:tcPr>
                </a:tc>
              </a:tr>
              <a:tr h="370840">
                <a:tc>
                  <a:txBody>
                    <a:bodyPr/>
                    <a:lstStyle/>
                    <a:p>
                      <a:r>
                        <a:rPr sz="1100"/>
                        <a:t>Support &amp; Maintenance</a:t>
                      </a:r>
                    </a:p>
                  </a:txBody>
                  <a:tcPr>
                    <a:solidFill>
                      <a:srgbClr val="E7E6E6"/>
                    </a:solidFill>
                  </a:tcPr>
                </a:tc>
                <a:tc>
                  <a:txBody>
                    <a:bodyPr/>
                    <a:lstStyle/>
                    <a:p>
                      <a:r>
                        <a:rPr sz="1100"/>
                        <a:t>$1,524</a:t>
                      </a:r>
                    </a:p>
                  </a:txBody>
                  <a:tcPr>
                    <a:solidFill>
                      <a:srgbClr val="E7E6E6"/>
                    </a:solidFill>
                  </a:tcPr>
                </a:tc>
                <a:tc>
                  <a:txBody>
                    <a:bodyPr/>
                    <a:lstStyle/>
                    <a:p>
                      <a:r>
                        <a:rPr sz="1100"/>
                        <a:t>$0</a:t>
                      </a:r>
                    </a:p>
                  </a:txBody>
                  <a:tcPr>
                    <a:solidFill>
                      <a:srgbClr val="E7E6E6"/>
                    </a:solidFill>
                  </a:tcPr>
                </a:tc>
                <a:tc>
                  <a:txBody>
                    <a:bodyPr/>
                    <a:lstStyle/>
                    <a:p>
                      <a:r>
                        <a:rPr sz="1100"/>
                        <a:t>$1,524</a:t>
                      </a:r>
                    </a:p>
                  </a:txBody>
                  <a:tcPr>
                    <a:solidFill>
                      <a:srgbClr val="E7E6E6"/>
                    </a:solidFill>
                  </a:tcPr>
                </a:tc>
                <a:tc>
                  <a:txBody>
                    <a:bodyPr/>
                    <a:lstStyle/>
                    <a:p>
                      <a:r>
                        <a:rPr sz="1100"/>
                        <a:t>$1,524</a:t>
                      </a:r>
                    </a:p>
                  </a:txBody>
                  <a:tcPr>
                    <a:solidFill>
                      <a:srgbClr val="E7E6E6"/>
                    </a:solidFill>
                  </a:tcPr>
                </a:tc>
                <a:tc>
                  <a:txBody>
                    <a:bodyPr/>
                    <a:lstStyle/>
                    <a:p>
                      <a:r>
                        <a:rPr sz="1100"/>
                        <a:t>$1,524</a:t>
                      </a:r>
                    </a:p>
                  </a:txBody>
                  <a:tcPr>
                    <a:solidFill>
                      <a:srgbClr val="E7E6E6"/>
                    </a:solidFill>
                  </a:tcPr>
                </a:tc>
                <a:tc>
                  <a:txBody>
                    <a:bodyPr/>
                    <a:lstStyle/>
                    <a:p>
                      <a:r>
                        <a:rPr sz="1100"/>
                        <a:t>$4,572</a:t>
                      </a:r>
                    </a:p>
                  </a:txBody>
                  <a:tcPr>
                    <a:solidFill>
                      <a:srgbClr val="E7E6E6"/>
                    </a:solidFill>
                  </a:tcPr>
                </a:tc>
              </a:tr>
              <a:tr h="370840">
                <a:tc>
                  <a:txBody>
                    <a:bodyPr/>
                    <a:lstStyle/>
                    <a:p>
                      <a:r>
                        <a:rPr b="1" sz="1100"/>
                        <a:t>TOTAL</a:t>
                      </a:r>
                    </a:p>
                  </a:txBody>
                  <a:tcPr>
                    <a:solidFill>
                      <a:srgbClr val="E7E6E6"/>
                    </a:solidFill>
                  </a:tcPr>
                </a:tc>
                <a:tc>
                  <a:txBody>
                    <a:bodyPr/>
                    <a:lstStyle/>
                    <a:p>
                      <a:r>
                        <a:rPr b="1" sz="1100"/>
                        <a:t>$107,724</a:t>
                      </a:r>
                    </a:p>
                  </a:txBody>
                  <a:tcPr>
                    <a:solidFill>
                      <a:srgbClr val="E7E6E6"/>
                    </a:solidFill>
                  </a:tcPr>
                </a:tc>
                <a:tc>
                  <a:txBody>
                    <a:bodyPr/>
                    <a:lstStyle/>
                    <a:p>
                      <a:r>
                        <a:rPr b="1" sz="1100"/>
                        <a:t>($8,000)</a:t>
                      </a:r>
                    </a:p>
                  </a:txBody>
                  <a:tcPr>
                    <a:solidFill>
                      <a:srgbClr val="E7E6E6"/>
                    </a:solidFill>
                  </a:tcPr>
                </a:tc>
                <a:tc>
                  <a:txBody>
                    <a:bodyPr/>
                    <a:lstStyle/>
                    <a:p>
                      <a:r>
                        <a:rPr b="1" sz="1100"/>
                        <a:t>$99,724</a:t>
                      </a:r>
                    </a:p>
                  </a:txBody>
                  <a:tcPr>
                    <a:solidFill>
                      <a:srgbClr val="E7E6E6"/>
                    </a:solidFill>
                  </a:tcPr>
                </a:tc>
                <a:tc>
                  <a:txBody>
                    <a:bodyPr/>
                    <a:lstStyle/>
                    <a:p>
                      <a:r>
                        <a:rPr b="1" sz="1100"/>
                        <a:t>$7,724</a:t>
                      </a:r>
                    </a:p>
                  </a:txBody>
                  <a:tcPr>
                    <a:solidFill>
                      <a:srgbClr val="E7E6E6"/>
                    </a:solidFill>
                  </a:tcPr>
                </a:tc>
                <a:tc>
                  <a:txBody>
                    <a:bodyPr/>
                    <a:lstStyle/>
                    <a:p>
                      <a:r>
                        <a:rPr b="1" sz="1100"/>
                        <a:t>$7,724</a:t>
                      </a:r>
                    </a:p>
                  </a:txBody>
                  <a:tcPr>
                    <a:solidFill>
                      <a:srgbClr val="E7E6E6"/>
                    </a:solidFill>
                  </a:tcPr>
                </a:tc>
                <a:tc>
                  <a:txBody>
                    <a:bodyPr/>
                    <a:lstStyle/>
                    <a:p>
                      <a:r>
                        <a:rPr b="1" sz="1100"/>
                        <a:t>$115,172</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6" name="Picture 5" descr="consulting_company_logo.png"/>
          <p:cNvPicPr>
            <a:picLocks noChangeAspect="1"/>
          </p:cNvPicPr>
          <p:nvPr/>
        </p:nvPicPr>
        <p:blipFill>
          <a:blip r:embed="rId2"/>
          <a:stretch>
            <a:fillRect/>
          </a:stretch>
        </p:blipFill>
        <p:spPr>
          <a:xfrm>
            <a:off x="313592" y="4536078"/>
            <a:ext cx="2126273"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gn="l"/>
            <a:r>
              <a:t>Next Steps</a:t>
            </a:r>
          </a:p>
        </p:txBody>
      </p:sp>
      <p:sp>
        <p:nvSpPr>
          <p:cNvPr id="4" name="Text Placeholder 3"/>
          <p:cNvSpPr>
            <a:spLocks noGrp="1"/>
          </p:cNvSpPr>
          <p:nvPr>
            <p:ph type="body" idx="14" sz="quarter"/>
          </p:nvPr>
        </p:nvSpPr>
        <p:spPr/>
        <p:txBody>
          <a:bodyPr/>
          <a:lstStyle/>
          <a:p>
            <a:pPr/>
            <a:r>
              <a:rPr b="1"/>
              <a:t>Decision:</a:t>
            </a:r>
            <a:r>
              <a:t> Confirm DevOps platform investment by [Target Date]</a:t>
            </a:r>
          </a:p>
          <a:p>
            <a:pPr/>
            <a:r>
              <a:rPr b="1"/>
              <a:t>Kickoff:</a:t>
            </a:r>
            <a:r>
              <a:t> Project start scheduled for [Start Date] with platform owner and pilot team</a:t>
            </a:r>
          </a:p>
          <a:p>
            <a:pPr/>
            <a:r>
              <a:rPr b="1"/>
              <a:t>Team Formation:</a:t>
            </a:r>
            <a:r>
              <a:t> Identify platform owner, pilot team lead, and security approver</a:t>
            </a:r>
          </a:p>
          <a:p>
            <a:pPr/>
            <a:r>
              <a:rPr b="1"/>
              <a:t>Week 1-2:</a:t>
            </a:r>
            <a:r>
              <a:t> Contract finalization, Azure DevOps organization setup, and stakeholder interviews</a:t>
            </a:r>
          </a:p>
          <a:p>
            <a:pPr/>
            <a:r>
              <a:rPr b="1"/>
              <a:t>Week 3-4:</a:t>
            </a:r>
            <a:r>
              <a:t> Pipeline strategy workshop and pilot project selection with first automated pipeline running</a:t>
            </a:r>
          </a:p>
        </p:txBody>
      </p:sp>
      <p:sp>
        <p:nvSpPr>
          <p:cNvPr id="5" name="Text Placeholder 4"/>
          <p:cNvSpPr>
            <a:spLocks noGrp="1"/>
          </p:cNvSpPr>
          <p:nvPr>
            <p:ph type="body" idx="15" sz="quarter"/>
          </p:nvPr>
        </p:nvSpPr>
        <p:spPr/>
        <p:txBody>
          <a:bodyPr/>
          <a:lstStyle/>
          <a:p>
            <a:pPr algn="r">
              <a:buNone/>
            </a:pPr>
            <a:r>
              <a:rPr sz="1100">
                <a:solidFill>
                  <a:srgbClr val="CC0000"/>
                </a:solidFill>
              </a:rPr>
              <a:t>Azure DevOps Enterprise Platform</a:t>
            </a:r>
          </a:p>
        </p:txBody>
      </p:sp>
      <p:pic>
        <p:nvPicPr>
          <p:cNvPr id="6" name="Picture 5" descr="consulting_company_logo.png"/>
          <p:cNvPicPr>
            <a:picLocks noChangeAspect="1"/>
          </p:cNvPicPr>
          <p:nvPr/>
        </p:nvPicPr>
        <p:blipFill>
          <a:blip r:embed="rId2"/>
          <a:stretch>
            <a:fillRect/>
          </a:stretch>
        </p:blipFill>
        <p:spPr>
          <a:xfrm>
            <a:off x="313593" y="4536078"/>
            <a:ext cx="2143858" cy="52969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439</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84</cp:revision>
  <dcterms:created xsi:type="dcterms:W3CDTF">2025-11-01T21:16:10Z</dcterms:created>
  <dcterms:modified xsi:type="dcterms:W3CDTF">2025-11-22T19:37:42Z</dcterms:modified>
</cp:coreProperties>
</file>