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bin" ContentType="image/unknown"/>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7"/>
    <p:sldId id="257" r:id="rId8"/>
    <p:sldId id="258" r:id="rId6"/>
    <p:sldId id="259" r:id="rId5"/>
    <p:sldId id="260" r:id="rId4"/>
    <p:sldId id="261" r:id="rId3"/>
    <p:sldId id="262" r:id="rId2"/>
    <p:sldId id="263" r:id="rId14"/>
    <p:sldId id="264" r:id="rId15"/>
    <p:sldId id="265" r:id="rId16"/>
    <p:sldId id="266" r:id="rId1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01C0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5" d="100"/>
          <a:sy n="135" d="100"/>
        </p:scale>
        <p:origin x="380" y="308"/>
      </p:cViewPr>
      <p:guideLst/>
    </p:cSldViewPr>
  </p:slideViewPr>
  <p:notesTextViewPr>
    <p:cViewPr>
      <p:scale>
        <a:sx n="1" d="1"/>
        <a:sy n="1" d="1"/>
      </p:scale>
      <p:origin x="0" y="0"/>
    </p:cViewPr>
  </p:notesTextViewPr>
  <p:notesViewPr>
    <p:cSldViewPr snapToGrid="0" snapToObjects="1">
      <p:cViewPr varScale="1">
        <p:scale>
          <a:sx n="83" d="100"/>
          <a:sy n="83" d="100"/>
        </p:scale>
        <p:origin x="3732" y="76"/>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7.xml"/><Relationship Id="rId3" Type="http://schemas.openxmlformats.org/officeDocument/2006/relationships/slide" Target="slides/slide6.xml"/><Relationship Id="rId4" Type="http://schemas.openxmlformats.org/officeDocument/2006/relationships/slide" Target="slides/slide5.xml"/><Relationship Id="rId5" Type="http://schemas.openxmlformats.org/officeDocument/2006/relationships/slide" Target="slides/slide4.xml"/><Relationship Id="rId6" Type="http://schemas.openxmlformats.org/officeDocument/2006/relationships/slide" Target="slides/slide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endParaRPr lang="en-US"/>
          </a:p>
        </p:txBody>
      </p:sp>
    </p:spTree>
    <p:extLst>
      <p:ext uri="{BB962C8B-B14F-4D97-AF65-F5344CB8AC3E}">
        <p14:creationId xmlns:p14="http://schemas.microsoft.com/office/powerpoint/2010/main" val="290167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EO Title Slid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538528" y="1886679"/>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Presentation Title</a:t>
            </a: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1" y="4536078"/>
            <a:ext cx="2099897"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59473" y="2437679"/>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Subtitle Text</a:t>
            </a:r>
            <a:endParaRPr lang="en-US" sz="1800" dirty="0"/>
          </a:p>
        </p:txBody>
      </p:sp>
      <p:sp>
        <p:nvSpPr>
          <p:cNvPr id="12" name="Text Placeholder 11">
            <a:extLst>
              <a:ext uri="{FF2B5EF4-FFF2-40B4-BE49-F238E27FC236}">
                <a16:creationId xmlns:a16="http://schemas.microsoft.com/office/drawing/2014/main" id="{39F5D3C5-0033-51A7-77BC-7E3DBBF84F2E}"/>
              </a:ext>
            </a:extLst>
          </p:cNvPr>
          <p:cNvSpPr>
            <a:spLocks noGrp="1"/>
          </p:cNvSpPr>
          <p:nvPr>
            <p:ph type="body" sz="quarter" idx="15" hasCustomPrompt="1"/>
          </p:nvPr>
        </p:nvSpPr>
        <p:spPr>
          <a:xfrm>
            <a:off x="2734286" y="3631467"/>
            <a:ext cx="3605212" cy="33496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400">
                <a:latin typeface="Arial" panose="020B0604020202020204" pitchFamily="34" charset="0"/>
                <a:cs typeface="Arial" panose="020B0604020202020204" pitchFamily="34" charset="0"/>
              </a:defRPr>
            </a:lvl1pPr>
          </a:lstStyle>
          <a:p>
            <a:pPr lvl="0"/>
            <a:r>
              <a:rPr lang="en-US" sz="1400" dirty="0">
                <a:solidFill>
                  <a:srgbClr val="6C757D"/>
                </a:solidFill>
                <a:latin typeface="Arial" pitchFamily="34" charset="0"/>
                <a:cs typeface="Arial" pitchFamily="34" charset="-120"/>
              </a:rPr>
              <a:t>Presenter Name | Date</a:t>
            </a:r>
            <a:endParaRPr lang="en-US" dirty="0"/>
          </a:p>
        </p:txBody>
      </p:sp>
    </p:spTree>
    <p:extLst>
      <p:ext uri="{BB962C8B-B14F-4D97-AF65-F5344CB8AC3E}">
        <p14:creationId xmlns:p14="http://schemas.microsoft.com/office/powerpoint/2010/main" val="14114350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EO Single Column">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Slide Title</a:t>
            </a:r>
          </a:p>
        </p:txBody>
      </p:sp>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p:nvPr>
        </p:nvSpPr>
        <p:spPr>
          <a:xfrm>
            <a:off x="296863" y="685601"/>
            <a:ext cx="8548687" cy="3811657"/>
          </a:xfrm>
          <a:prstGeom prst="rect">
            <a:avLst/>
          </a:prstGeom>
        </p:spPr>
        <p:txBody>
          <a:bodyPr/>
          <a:lstStyle>
            <a:lvl1pPr>
              <a:defRPr sz="2000" b="1" baseline="0">
                <a:solidFill>
                  <a:srgbClr val="C00000"/>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5" name="Text Placeholder 4">
            <a:extLst>
              <a:ext uri="{FF2B5EF4-FFF2-40B4-BE49-F238E27FC236}">
                <a16:creationId xmlns:a16="http://schemas.microsoft.com/office/drawing/2014/main" id="{57F71806-AFEA-DD6D-E6AA-E2A002E682DE}"/>
              </a:ext>
            </a:extLst>
          </p:cNvPr>
          <p:cNvSpPr>
            <a:spLocks noGrp="1"/>
          </p:cNvSpPr>
          <p:nvPr>
            <p:ph type="body" sz="quarter" idx="15" hasCustomPrompt="1"/>
          </p:nvPr>
        </p:nvSpPr>
        <p:spPr>
          <a:xfrm>
            <a:off x="5627076" y="4738688"/>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0462396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O Bullet Points">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Bullet Points</a:t>
            </a:r>
          </a:p>
        </p:txBody>
      </p:sp>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hasCustomPrompt="1"/>
          </p:nvPr>
        </p:nvSpPr>
        <p:spPr>
          <a:xfrm>
            <a:off x="296863" y="685601"/>
            <a:ext cx="8548687" cy="3811657"/>
          </a:xfrm>
          <a:prstGeom prst="rect">
            <a:avLst/>
          </a:prstGeom>
        </p:spPr>
        <p:txBody>
          <a:bodyPr/>
          <a:lstStyle>
            <a:lvl1pPr>
              <a:defRPr sz="2000" baseline="0">
                <a:solidFill>
                  <a:schemeClr val="tx1"/>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Bullet Point 1</a:t>
            </a:r>
          </a:p>
          <a:p>
            <a:pPr lvl="0"/>
            <a:r>
              <a:rPr lang="en-US" dirty="0"/>
              <a:t>Bullet Point 2</a:t>
            </a:r>
          </a:p>
        </p:txBody>
      </p:sp>
      <p:sp>
        <p:nvSpPr>
          <p:cNvPr id="5" name="Text Placeholder 4">
            <a:extLst>
              <a:ext uri="{FF2B5EF4-FFF2-40B4-BE49-F238E27FC236}">
                <a16:creationId xmlns:a16="http://schemas.microsoft.com/office/drawing/2014/main" id="{162079A5-28FD-9D2F-2B9B-2FC8F9339A31}"/>
              </a:ext>
            </a:extLst>
          </p:cNvPr>
          <p:cNvSpPr>
            <a:spLocks noGrp="1"/>
          </p:cNvSpPr>
          <p:nvPr>
            <p:ph type="body" sz="quarter" idx="15" hasCustomPrompt="1"/>
          </p:nvPr>
        </p:nvSpPr>
        <p:spPr>
          <a:xfrm>
            <a:off x="5627076" y="4738688"/>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0907377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EO Two Column">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530738"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Two Column Layout</a:t>
            </a:r>
          </a:p>
        </p:txBody>
      </p:sp>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21877" cy="529698"/>
          </a:xfrm>
          <a:prstGeom prst="rect">
            <a:avLst/>
          </a:prstGeom>
        </p:spPr>
        <p:txBody>
          <a:bodyPr/>
          <a:lstStyle/>
          <a:p>
            <a:endParaRPr lang="en-US" dirty="0"/>
          </a:p>
        </p:txBody>
      </p:sp>
      <p:sp>
        <p:nvSpPr>
          <p:cNvPr id="6" name="Text Placeholder 5">
            <a:extLst>
              <a:ext uri="{FF2B5EF4-FFF2-40B4-BE49-F238E27FC236}">
                <a16:creationId xmlns:a16="http://schemas.microsoft.com/office/drawing/2014/main" id="{229E4A97-A874-D6CA-E54C-5584536CAA7C}"/>
              </a:ext>
            </a:extLst>
          </p:cNvPr>
          <p:cNvSpPr>
            <a:spLocks noGrp="1"/>
          </p:cNvSpPr>
          <p:nvPr>
            <p:ph type="body" sz="quarter" idx="16" hasCustomPrompt="1"/>
          </p:nvPr>
        </p:nvSpPr>
        <p:spPr>
          <a:xfrm>
            <a:off x="193675" y="678433"/>
            <a:ext cx="4462463" cy="3785515"/>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Left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12">
            <a:extLst>
              <a:ext uri="{FF2B5EF4-FFF2-40B4-BE49-F238E27FC236}">
                <a16:creationId xmlns:a16="http://schemas.microsoft.com/office/drawing/2014/main" id="{EF61ADBD-DA9D-A8A7-8FC3-64E82242B983}"/>
              </a:ext>
            </a:extLst>
          </p:cNvPr>
          <p:cNvSpPr>
            <a:spLocks noGrp="1"/>
          </p:cNvSpPr>
          <p:nvPr>
            <p:ph type="body" sz="quarter" idx="17" hasCustomPrompt="1"/>
          </p:nvPr>
        </p:nvSpPr>
        <p:spPr>
          <a:xfrm>
            <a:off x="4840288" y="678433"/>
            <a:ext cx="4110037" cy="3785515"/>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Right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4">
            <a:extLst>
              <a:ext uri="{FF2B5EF4-FFF2-40B4-BE49-F238E27FC236}">
                <a16:creationId xmlns:a16="http://schemas.microsoft.com/office/drawing/2014/main" id="{5DF49ED0-89F0-F008-ADD7-D71F338C8B9B}"/>
              </a:ext>
            </a:extLst>
          </p:cNvPr>
          <p:cNvSpPr>
            <a:spLocks noGrp="1"/>
          </p:cNvSpPr>
          <p:nvPr>
            <p:ph type="body" sz="quarter" idx="15" hasCustomPrompt="1"/>
          </p:nvPr>
        </p:nvSpPr>
        <p:spPr>
          <a:xfrm>
            <a:off x="5697414" y="4681864"/>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2437309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EO Table">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6855" y="39642"/>
            <a:ext cx="8710933" cy="52701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2700">
                <a:latin typeface="Arial" panose="020B0604020202020204" pitchFamily="34" charset="0"/>
                <a:cs typeface="Arial" panose="020B0604020202020204" pitchFamily="34" charset="0"/>
              </a:defRPr>
            </a:lvl1p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lang="en-US" sz="2700" b="1" dirty="0">
                <a:solidFill>
                  <a:srgbClr val="2C3E50"/>
                </a:solidFill>
                <a:latin typeface="Arial" pitchFamily="34" charset="0"/>
                <a:cs typeface="Arial" pitchFamily="34" charset="-120"/>
              </a:rPr>
              <a:t>Table</a:t>
            </a:r>
            <a:endParaRPr lang="en-US" sz="3200" dirty="0"/>
          </a:p>
          <a:p>
            <a:pPr lvl="0"/>
            <a:endParaRPr lang="en-US" dirty="0"/>
          </a:p>
        </p:txBody>
      </p:sp>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2" y="4536078"/>
            <a:ext cx="2126273" cy="529698"/>
          </a:xfrm>
          <a:prstGeom prst="rect">
            <a:avLst/>
          </a:prstGeom>
        </p:spPr>
        <p:txBody>
          <a:bodyPr/>
          <a:lstStyle/>
          <a:p>
            <a:endParaRPr lang="en-US" dirty="0"/>
          </a:p>
        </p:txBody>
      </p:sp>
      <p:sp>
        <p:nvSpPr>
          <p:cNvPr id="5" name="Table Placeholder 4">
            <a:extLst>
              <a:ext uri="{FF2B5EF4-FFF2-40B4-BE49-F238E27FC236}">
                <a16:creationId xmlns:a16="http://schemas.microsoft.com/office/drawing/2014/main" id="{D3D9E4F7-6B7D-2205-75B9-EE8C54E89A5F}"/>
              </a:ext>
            </a:extLst>
          </p:cNvPr>
          <p:cNvSpPr>
            <a:spLocks noGrp="1"/>
          </p:cNvSpPr>
          <p:nvPr>
            <p:ph type="tbl" sz="quarter" idx="14"/>
          </p:nvPr>
        </p:nvSpPr>
        <p:spPr>
          <a:xfrm>
            <a:off x="256855" y="677011"/>
            <a:ext cx="8710933" cy="3785084"/>
          </a:xfrm>
          <a:prstGeom prst="rect">
            <a:avLst/>
          </a:prstGeom>
        </p:spPr>
        <p:txBody>
          <a:bodyPr/>
          <a:lstStyle/>
          <a:p>
            <a:endParaRPr lang="en-US"/>
          </a:p>
        </p:txBody>
      </p:sp>
      <p:sp>
        <p:nvSpPr>
          <p:cNvPr id="4" name="Text Placeholder 4">
            <a:extLst>
              <a:ext uri="{FF2B5EF4-FFF2-40B4-BE49-F238E27FC236}">
                <a16:creationId xmlns:a16="http://schemas.microsoft.com/office/drawing/2014/main" id="{A00DC936-676C-1BAA-B4B4-D45CC5951D6E}"/>
              </a:ext>
            </a:extLst>
          </p:cNvPr>
          <p:cNvSpPr>
            <a:spLocks noGrp="1"/>
          </p:cNvSpPr>
          <p:nvPr>
            <p:ph type="body" sz="quarter" idx="15" hasCustomPrompt="1"/>
          </p:nvPr>
        </p:nvSpPr>
        <p:spPr>
          <a:xfrm>
            <a:off x="5749315" y="4681864"/>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28148346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EO Visual Content">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7423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Visual Content</a:t>
            </a:r>
          </a:p>
        </p:txBody>
      </p:sp>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30670" cy="529698"/>
          </a:xfrm>
          <a:prstGeom prst="rect">
            <a:avLst/>
          </a:prstGeom>
        </p:spPr>
        <p:txBody>
          <a:bodyPr/>
          <a:lstStyle/>
          <a:p>
            <a:endParaRPr lang="en-US" dirty="0"/>
          </a:p>
        </p:txBody>
      </p:sp>
      <p:sp>
        <p:nvSpPr>
          <p:cNvPr id="6" name="Picture Placeholder 5">
            <a:extLst>
              <a:ext uri="{FF2B5EF4-FFF2-40B4-BE49-F238E27FC236}">
                <a16:creationId xmlns:a16="http://schemas.microsoft.com/office/drawing/2014/main" id="{D4B682B8-2171-423F-A77B-10BADD07BC6C}"/>
              </a:ext>
            </a:extLst>
          </p:cNvPr>
          <p:cNvSpPr>
            <a:spLocks noGrp="1"/>
          </p:cNvSpPr>
          <p:nvPr>
            <p:ph type="pic" sz="quarter" idx="15"/>
          </p:nvPr>
        </p:nvSpPr>
        <p:spPr>
          <a:xfrm>
            <a:off x="4662488" y="685799"/>
            <a:ext cx="4337050" cy="3815859"/>
          </a:xfrm>
          <a:prstGeom prst="rect">
            <a:avLst/>
          </a:prstGeom>
        </p:spPr>
        <p:txBody>
          <a:bodyPr/>
          <a:lstStyle/>
          <a:p>
            <a:endParaRPr lang="en-US"/>
          </a:p>
        </p:txBody>
      </p:sp>
      <p:sp>
        <p:nvSpPr>
          <p:cNvPr id="5" name="Text Placeholder 4">
            <a:extLst>
              <a:ext uri="{FF2B5EF4-FFF2-40B4-BE49-F238E27FC236}">
                <a16:creationId xmlns:a16="http://schemas.microsoft.com/office/drawing/2014/main" id="{F1EE9992-B6F6-08BF-BFB5-6AF6BEDE367A}"/>
              </a:ext>
            </a:extLst>
          </p:cNvPr>
          <p:cNvSpPr>
            <a:spLocks noGrp="1"/>
          </p:cNvSpPr>
          <p:nvPr>
            <p:ph type="body" sz="quarter" idx="16"/>
          </p:nvPr>
        </p:nvSpPr>
        <p:spPr>
          <a:xfrm>
            <a:off x="92075" y="685800"/>
            <a:ext cx="4449763" cy="3815859"/>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ext Placeholder 4">
            <a:extLst>
              <a:ext uri="{FF2B5EF4-FFF2-40B4-BE49-F238E27FC236}">
                <a16:creationId xmlns:a16="http://schemas.microsoft.com/office/drawing/2014/main" id="{6D03683B-7C4B-D474-74C5-EC53E3BB515B}"/>
              </a:ext>
            </a:extLst>
          </p:cNvPr>
          <p:cNvSpPr>
            <a:spLocks noGrp="1"/>
          </p:cNvSpPr>
          <p:nvPr>
            <p:ph type="body" sz="quarter" idx="17" hasCustomPrompt="1"/>
          </p:nvPr>
        </p:nvSpPr>
        <p:spPr>
          <a:xfrm>
            <a:off x="5781065" y="4729530"/>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9440596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O Data Visualization">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6407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Data Visualization</a:t>
            </a:r>
          </a:p>
        </p:txBody>
      </p:sp>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04294" cy="529698"/>
          </a:xfrm>
          <a:prstGeom prst="rect">
            <a:avLst/>
          </a:prstGeom>
        </p:spPr>
        <p:txBody>
          <a:bodyPr/>
          <a:lstStyle/>
          <a:p>
            <a:endParaRPr lang="en-US" dirty="0"/>
          </a:p>
        </p:txBody>
      </p:sp>
      <p:sp>
        <p:nvSpPr>
          <p:cNvPr id="5" name="Chart Placeholder 4">
            <a:extLst>
              <a:ext uri="{FF2B5EF4-FFF2-40B4-BE49-F238E27FC236}">
                <a16:creationId xmlns:a16="http://schemas.microsoft.com/office/drawing/2014/main" id="{A686C49F-4337-BBE6-FF21-682B01E38601}"/>
              </a:ext>
            </a:extLst>
          </p:cNvPr>
          <p:cNvSpPr>
            <a:spLocks noGrp="1"/>
          </p:cNvSpPr>
          <p:nvPr>
            <p:ph type="chart" sz="quarter" idx="15"/>
          </p:nvPr>
        </p:nvSpPr>
        <p:spPr>
          <a:xfrm>
            <a:off x="4572000" y="685597"/>
            <a:ext cx="4325938" cy="3778347"/>
          </a:xfrm>
          <a:prstGeom prst="rect">
            <a:avLst/>
          </a:prstGeom>
        </p:spPr>
        <p:txBody>
          <a:bodyPr/>
          <a:lstStyle/>
          <a:p>
            <a:endParaRPr lang="en-US"/>
          </a:p>
        </p:txBody>
      </p:sp>
      <p:sp>
        <p:nvSpPr>
          <p:cNvPr id="6" name="Content Placeholder 5">
            <a:extLst>
              <a:ext uri="{FF2B5EF4-FFF2-40B4-BE49-F238E27FC236}">
                <a16:creationId xmlns:a16="http://schemas.microsoft.com/office/drawing/2014/main" id="{D0B730E7-C68E-A3E8-1745-8AF89C786D5F}"/>
              </a:ext>
            </a:extLst>
          </p:cNvPr>
          <p:cNvSpPr>
            <a:spLocks noGrp="1"/>
          </p:cNvSpPr>
          <p:nvPr>
            <p:ph sz="quarter" idx="16"/>
          </p:nvPr>
        </p:nvSpPr>
        <p:spPr>
          <a:xfrm>
            <a:off x="136525" y="678433"/>
            <a:ext cx="4237038" cy="3785513"/>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4">
            <a:extLst>
              <a:ext uri="{FF2B5EF4-FFF2-40B4-BE49-F238E27FC236}">
                <a16:creationId xmlns:a16="http://schemas.microsoft.com/office/drawing/2014/main" id="{A1231DFE-6A5A-950E-159E-9E1D3D45FD36}"/>
              </a:ext>
            </a:extLst>
          </p:cNvPr>
          <p:cNvSpPr>
            <a:spLocks noGrp="1"/>
          </p:cNvSpPr>
          <p:nvPr>
            <p:ph type="body" sz="quarter" idx="17" hasCustomPrompt="1"/>
          </p:nvPr>
        </p:nvSpPr>
        <p:spPr>
          <a:xfrm>
            <a:off x="5679465" y="4681864"/>
            <a:ext cx="3218473" cy="238125"/>
          </a:xfrm>
          <a:prstGeom prst="rect">
            <a:avLst/>
          </a:prstGeom>
        </p:spPr>
        <p:txBody>
          <a:bodyPr/>
          <a:lstStyle>
            <a:lvl5pPr algn="r">
              <a:buNone/>
              <a:defRPr sz="900"/>
            </a:lvl5pPr>
          </a:lstStyle>
          <a:p>
            <a:pPr lvl="4"/>
            <a:r>
              <a:rPr lang="en-US" dirty="0"/>
              <a:t>Project Name</a:t>
            </a:r>
          </a:p>
        </p:txBody>
      </p:sp>
    </p:spTree>
    <p:extLst>
      <p:ext uri="{BB962C8B-B14F-4D97-AF65-F5344CB8AC3E}">
        <p14:creationId xmlns:p14="http://schemas.microsoft.com/office/powerpoint/2010/main" val="4735494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EO Thank You">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736356" y="2247927"/>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Thank You</a:t>
            </a:r>
          </a:p>
          <a:p>
            <a:pPr marL="0" indent="0" algn="ctr">
              <a:lnSpc>
                <a:spcPts val="3600"/>
              </a:lnSpc>
              <a:buNone/>
            </a:pP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2" y="4536078"/>
            <a:ext cx="2164114"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24304" y="1874962"/>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Questions?</a:t>
            </a:r>
            <a:endParaRPr lang="en-US" sz="1800" dirty="0"/>
          </a:p>
        </p:txBody>
      </p:sp>
      <p:sp>
        <p:nvSpPr>
          <p:cNvPr id="2" name="Text 3">
            <a:extLst>
              <a:ext uri="{FF2B5EF4-FFF2-40B4-BE49-F238E27FC236}">
                <a16:creationId xmlns:a16="http://schemas.microsoft.com/office/drawing/2014/main" id="{5727805F-2A15-11D3-243F-1AE09D6E973E}"/>
              </a:ext>
            </a:extLst>
          </p:cNvPr>
          <p:cNvSpPr/>
          <p:nvPr userDrawn="1"/>
        </p:nvSpPr>
        <p:spPr>
          <a:xfrm>
            <a:off x="3312808" y="4536078"/>
            <a:ext cx="2797969" cy="529698"/>
          </a:xfrm>
          <a:prstGeom prst="roundRect">
            <a:avLst>
              <a:gd name="adj" fmla="val 14286"/>
            </a:avLst>
          </a:prstGeom>
          <a:solidFill>
            <a:srgbClr val="F5F5F5"/>
          </a:solidFill>
          <a:ln/>
        </p:spPr>
        <p:txBody>
          <a:bodyPr wrap="square" rtlCol="0" anchor="ctr"/>
          <a:lstStyle/>
          <a:p>
            <a:pPr marL="0" indent="0">
              <a:buNone/>
            </a:pPr>
            <a:endParaRPr lang="en-US" dirty="0"/>
          </a:p>
        </p:txBody>
      </p:sp>
      <p:sp>
        <p:nvSpPr>
          <p:cNvPr id="3" name="Text 4">
            <a:extLst>
              <a:ext uri="{FF2B5EF4-FFF2-40B4-BE49-F238E27FC236}">
                <a16:creationId xmlns:a16="http://schemas.microsoft.com/office/drawing/2014/main" id="{1034B79E-463D-8396-409E-62C28A2DEB04}"/>
              </a:ext>
            </a:extLst>
          </p:cNvPr>
          <p:cNvSpPr/>
          <p:nvPr userDrawn="1"/>
        </p:nvSpPr>
        <p:spPr>
          <a:xfrm>
            <a:off x="3614735" y="4667577"/>
            <a:ext cx="2076688" cy="266700"/>
          </a:xfrm>
          <a:prstGeom prst="rect">
            <a:avLst/>
          </a:prstGeom>
          <a:noFill/>
          <a:ln/>
        </p:spPr>
        <p:txBody>
          <a:bodyPr wrap="square" lIns="0" tIns="0" rIns="0" bIns="0" rtlCol="0" anchor="t"/>
          <a:lstStyle/>
          <a:p>
            <a:pPr marL="0" indent="0" algn="ctr">
              <a:lnSpc>
                <a:spcPts val="2100"/>
              </a:lnSpc>
              <a:spcBef>
                <a:spcPts val="300"/>
              </a:spcBef>
              <a:spcAft>
                <a:spcPts val="300"/>
              </a:spcAft>
              <a:buNone/>
            </a:pPr>
            <a:r>
              <a:rPr lang="en-US" sz="1500" b="1" dirty="0">
                <a:solidFill>
                  <a:schemeClr val="bg2">
                    <a:lumMod val="75000"/>
                  </a:schemeClr>
                </a:solidFill>
                <a:latin typeface="Arial" pitchFamily="34" charset="0"/>
                <a:ea typeface="Arial" pitchFamily="34" charset="-122"/>
                <a:cs typeface="Arial" pitchFamily="34" charset="-120"/>
              </a:rPr>
              <a:t>www.eoframework.org</a:t>
            </a:r>
            <a:endParaRPr lang="en-US" sz="1500" dirty="0">
              <a:solidFill>
                <a:schemeClr val="bg2">
                  <a:lumMod val="75000"/>
                </a:schemeClr>
              </a:solidFill>
            </a:endParaRPr>
          </a:p>
        </p:txBody>
      </p:sp>
      <p:sp>
        <p:nvSpPr>
          <p:cNvPr id="16" name="Text Placeholder 9">
            <a:extLst>
              <a:ext uri="{FF2B5EF4-FFF2-40B4-BE49-F238E27FC236}">
                <a16:creationId xmlns:a16="http://schemas.microsoft.com/office/drawing/2014/main" id="{2DED039B-C555-DCF4-1CA7-CA1E44823784}"/>
              </a:ext>
            </a:extLst>
          </p:cNvPr>
          <p:cNvSpPr>
            <a:spLocks noGrp="1"/>
          </p:cNvSpPr>
          <p:nvPr>
            <p:ph type="body" sz="quarter" idx="15" hasCustomPrompt="1"/>
          </p:nvPr>
        </p:nvSpPr>
        <p:spPr>
          <a:xfrm>
            <a:off x="268165" y="3131272"/>
            <a:ext cx="8480181"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b="0">
                <a:solidFill>
                  <a:schemeClr val="tx1"/>
                </a:solidFill>
                <a:latin typeface="Arial" panose="020B0604020202020204" pitchFamily="34" charset="0"/>
                <a:cs typeface="Arial" panose="020B0604020202020204" pitchFamily="34" charset="0"/>
              </a:defRPr>
            </a:lvl1pPr>
          </a:lstStyle>
          <a:p>
            <a:pPr>
              <a:spcAft>
                <a:spcPts val="1200"/>
              </a:spcAft>
            </a:pPr>
            <a:r>
              <a:rPr lang="en-US" sz="1800" b="1" dirty="0">
                <a:solidFill>
                  <a:srgbClr val="000000"/>
                </a:solidFill>
              </a:rPr>
              <a:t>Account Manager:</a:t>
            </a:r>
            <a:r>
              <a:rPr lang="en-US" sz="1800" dirty="0">
                <a:solidFill>
                  <a:srgbClr val="000000"/>
                </a:solidFill>
              </a:rPr>
              <a:t> [Name, Title] | [Email] | [Phone]</a:t>
            </a:r>
          </a:p>
        </p:txBody>
      </p:sp>
    </p:spTree>
    <p:extLst>
      <p:ext uri="{BB962C8B-B14F-4D97-AF65-F5344CB8AC3E}">
        <p14:creationId xmlns:p14="http://schemas.microsoft.com/office/powerpoint/2010/main" val="382102005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 id="2147483653" r:id="rId2"/>
    <p:sldLayoutId id="2147483659" r:id="rId3"/>
    <p:sldLayoutId id="2147483654" r:id="rId4"/>
    <p:sldLayoutId id="2147483655" r:id="rId5"/>
    <p:sldLayoutId id="2147483656" r:id="rId6"/>
    <p:sldLayoutId id="2147483657" r:id="rId7"/>
    <p:sldLayoutId id="2147483658"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2" sz="quarter"/>
          </p:nvPr>
        </p:nvSpPr>
        <p:spPr/>
        <p:txBody>
          <a:bodyPr/>
          <a:lstStyle/>
          <a:p>
            <a:r>
              <a:t>Solution Briefing</a:t>
            </a:r>
          </a:p>
        </p:txBody>
      </p:sp>
      <p:sp>
        <p:nvSpPr>
          <p:cNvPr id="5" name="Text Placeholder 4"/>
          <p:cNvSpPr>
            <a:spLocks noGrp="1"/>
          </p:cNvSpPr>
          <p:nvPr>
            <p:ph type="body" idx="14" sz="quarter"/>
          </p:nvPr>
        </p:nvSpPr>
        <p:spPr/>
        <p:txBody>
          <a:bodyPr/>
          <a:lstStyle/>
          <a:p>
            <a:r>
              <a:t>Azure DevOps Enterprise Platform</a:t>
            </a:r>
          </a:p>
        </p:txBody>
      </p:sp>
      <p:sp>
        <p:nvSpPr>
          <p:cNvPr id="6" name="Text Placeholder 5"/>
          <p:cNvSpPr>
            <a:spLocks noGrp="1"/>
          </p:cNvSpPr>
          <p:nvPr>
            <p:ph type="body" idx="15" sz="quarter"/>
          </p:nvPr>
        </p:nvSpPr>
        <p:spPr/>
        <p:txBody>
          <a:bodyPr/>
          <a:lstStyle/>
          <a:p>
            <a:r>
              <a:t>Alison Smith | November 22, 2025</a:t>
            </a:r>
          </a:p>
        </p:txBody>
      </p:sp>
      <p:pic>
        <p:nvPicPr>
          <p:cNvPr id="7" name="Picture 6" descr="client_logo.png"/>
          <p:cNvPicPr>
            <a:picLocks noChangeAspect="1"/>
          </p:cNvPicPr>
          <p:nvPr/>
        </p:nvPicPr>
        <p:blipFill>
          <a:blip r:embed="rId2"/>
          <a:stretch>
            <a:fillRect/>
          </a:stretch>
        </p:blipFill>
        <p:spPr>
          <a:xfrm>
            <a:off x="2180492" y="171206"/>
            <a:ext cx="3978520" cy="1314694"/>
          </a:xfrm>
          <a:prstGeom prst="rect">
            <a:avLst/>
          </a:prstGeom>
        </p:spPr>
      </p:pic>
      <p:pic>
        <p:nvPicPr>
          <p:cNvPr id="8" name="Picture 7" descr="consulting_company_logo.png"/>
          <p:cNvPicPr>
            <a:picLocks noChangeAspect="1"/>
          </p:cNvPicPr>
          <p:nvPr/>
        </p:nvPicPr>
        <p:blipFill>
          <a:blip r:embed="rId3"/>
          <a:stretch>
            <a:fillRect/>
          </a:stretch>
        </p:blipFill>
        <p:spPr>
          <a:xfrm>
            <a:off x="313591" y="4536078"/>
            <a:ext cx="2099897" cy="529698"/>
          </a:xfrm>
          <a:prstGeom prst="rect">
            <a:avLst/>
          </a:prstGeom>
        </p:spPr>
      </p:pic>
      <p:pic>
        <p:nvPicPr>
          <p:cNvPr id="9" name="Picture 8" descr="eo-framework-logo-real.png"/>
          <p:cNvPicPr>
            <a:picLocks noChangeAspect="1"/>
          </p:cNvPicPr>
          <p:nvPr/>
        </p:nvPicPr>
        <p:blipFill>
          <a:blip r:embed="rId4"/>
          <a:stretch>
            <a:fillRect/>
          </a:stretch>
        </p:blipFill>
        <p:spPr>
          <a:xfrm>
            <a:off x="6684264" y="4535424"/>
            <a:ext cx="2139696" cy="53035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Business Opportunity</a:t>
            </a:r>
          </a:p>
        </p:txBody>
      </p:sp>
      <p:sp>
        <p:nvSpPr>
          <p:cNvPr id="4" name="Text Placeholder 3"/>
          <p:cNvSpPr>
            <a:spLocks noGrp="1"/>
          </p:cNvSpPr>
          <p:nvPr>
            <p:ph type="body" idx="16" sz="quarter"/>
          </p:nvPr>
        </p:nvSpPr>
        <p:spPr/>
        <p:txBody>
          <a:bodyPr/>
          <a:lstStyle/>
          <a:p>
            <a:pPr/>
            <a:r>
              <a:rPr b="1"/>
              <a:t>Opportunity</a:t>
            </a:r>
          </a:p>
          <a:p>
            <a:pPr lvl="1"/>
            <a:r>
              <a:t>Reduce time-to-market with automated build and release pipelines that eliminate manual deployment bottlenecks</a:t>
            </a:r>
          </a:p>
          <a:p>
            <a:pPr lvl="1"/>
            <a:r>
              <a:t>Improve team productivity through centralized code management and streamlined collaboration workflows</a:t>
            </a:r>
          </a:p>
          <a:p>
            <a:pPr lvl="1"/>
            <a:r>
              <a:t>Increase software quality and reliability with consistent testing and deployment practices across all projects</a:t>
            </a:r>
          </a:p>
        </p:txBody>
      </p:sp>
      <p:sp>
        <p:nvSpPr>
          <p:cNvPr id="5" name="Text Placeholder 4"/>
          <p:cNvSpPr>
            <a:spLocks noGrp="1"/>
          </p:cNvSpPr>
          <p:nvPr>
            <p:ph type="body" idx="17" sz="quarter"/>
          </p:nvPr>
        </p:nvSpPr>
        <p:spPr/>
        <p:txBody>
          <a:bodyPr/>
          <a:lstStyle/>
          <a:p>
            <a:pPr/>
            <a:r>
              <a:rPr b="1"/>
              <a:t>Success Criteria</a:t>
            </a:r>
          </a:p>
          <a:p>
            <a:pPr lvl="1"/>
            <a:r>
              <a:t>Achieve 70% reduction in deployment time within 6 months with fully automated pipelines</a:t>
            </a:r>
          </a:p>
          <a:p>
            <a:pPr lvl="1"/>
            <a:r>
              <a:t>Standardize development practices across all teams with 100% adoption of unified tooling</a:t>
            </a:r>
          </a:p>
          <a:p>
            <a:pPr lvl="1"/>
            <a:r>
              <a:t>Establish foundation for continuous delivery enabling multiple production releases per day</a:t>
            </a:r>
          </a:p>
        </p:txBody>
      </p:sp>
      <p:sp>
        <p:nvSpPr>
          <p:cNvPr id="6" name="Text Placeholder 5"/>
          <p:cNvSpPr>
            <a:spLocks noGrp="1"/>
          </p:cNvSpPr>
          <p:nvPr>
            <p:ph type="body" idx="15" sz="quarter"/>
          </p:nvPr>
        </p:nvSpPr>
        <p:spPr/>
        <p:txBody>
          <a:bodyPr/>
          <a:lstStyle/>
          <a:p>
            <a:pPr algn="r">
              <a:buNone/>
            </a:pPr>
            <a:r>
              <a:rPr sz="1100">
                <a:solidFill>
                  <a:srgbClr val="CC0000"/>
                </a:solidFill>
              </a:rPr>
              <a:t>Azure DevOps Enterprise Platform</a:t>
            </a:r>
          </a:p>
        </p:txBody>
      </p:sp>
      <p:pic>
        <p:nvPicPr>
          <p:cNvPr id="7" name="Picture 6" descr="consulting_company_logo.png"/>
          <p:cNvPicPr>
            <a:picLocks noChangeAspect="1"/>
          </p:cNvPicPr>
          <p:nvPr/>
        </p:nvPicPr>
        <p:blipFill>
          <a:blip r:embed="rId2"/>
          <a:stretch>
            <a:fillRect/>
          </a:stretch>
        </p:blipFill>
        <p:spPr>
          <a:xfrm>
            <a:off x="313592" y="4536078"/>
            <a:ext cx="2121877" cy="52969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Engagement Scope</a:t>
            </a:r>
          </a:p>
        </p:txBody>
      </p:sp>
      <p:graphicFrame>
        <p:nvGraphicFramePr>
          <p:cNvPr id="4" name="Table Placeholder 3"/>
          <p:cNvGraphicFramePr>
            <a:graphicFrameLocks noGrp="1"/>
          </p:cNvGraphicFramePr>
          <p:nvPr>
            <p:ph type="tbl" idx="14" sz="quarter"/>
          </p:nvPr>
        </p:nvGraphicFramePr>
        <p:xfrm>
          <a:off x="256855" y="677011"/>
          <a:ext cx="8710929" cy="3337560"/>
        </p:xfrm>
        <a:graphic>
          <a:graphicData uri="http://schemas.openxmlformats.org/drawingml/2006/table">
            <a:tbl>
              <a:tblPr firstRow="1" bandRow="1">
                <a:tableStyleId>{5C22544A-7EE6-4342-B048-85BDC9FD1C3A}</a:tableStyleId>
              </a:tblPr>
              <a:tblGrid>
                <a:gridCol w="1567967"/>
                <a:gridCol w="2526170"/>
                <a:gridCol w="435546"/>
                <a:gridCol w="1567967"/>
                <a:gridCol w="2613279"/>
              </a:tblGrid>
              <a:tr h="370840">
                <a:tc>
                  <a:txBody>
                    <a:bodyPr/>
                    <a:lstStyle/>
                    <a:p>
                      <a:r>
                        <a:rPr sz="1400">
                          <a:solidFill>
                            <a:srgbClr val="FFFFFF"/>
                          </a:solidFill>
                        </a:rPr>
                        <a:t>Parameter</a:t>
                      </a:r>
                    </a:p>
                  </a:txBody>
                  <a:tcPr>
                    <a:solidFill>
                      <a:srgbClr val="A01C02"/>
                    </a:solidFill>
                  </a:tcPr>
                </a:tc>
                <a:tc>
                  <a:txBody>
                    <a:bodyPr/>
                    <a:lstStyle/>
                    <a:p>
                      <a:r>
                        <a:rPr sz="1400">
                          <a:solidFill>
                            <a:srgbClr val="FFFFFF"/>
                          </a:solidFill>
                        </a:rPr>
                        <a:t>Scope</a:t>
                      </a:r>
                    </a:p>
                  </a:txBody>
                  <a:tcPr>
                    <a:solidFill>
                      <a:srgbClr val="A01C02"/>
                    </a:solidFill>
                  </a:tcPr>
                </a:tc>
                <a:tc>
                  <a:txBody>
                    <a:bodyPr/>
                    <a:lstStyle/>
                    <a:p/>
                  </a:txBody>
                  <a:tcPr>
                    <a:solidFill>
                      <a:srgbClr val="FFFFFF"/>
                    </a:solidFill>
                  </a:tcPr>
                </a:tc>
                <a:tc>
                  <a:txBody>
                    <a:bodyPr/>
                    <a:lstStyle/>
                    <a:p>
                      <a:r>
                        <a:rPr sz="1400">
                          <a:solidFill>
                            <a:srgbClr val="FFFFFF"/>
                          </a:solidFill>
                        </a:rPr>
                        <a:t>Parameter</a:t>
                      </a:r>
                    </a:p>
                  </a:txBody>
                  <a:tcPr>
                    <a:solidFill>
                      <a:srgbClr val="A01C02"/>
                    </a:solidFill>
                  </a:tcPr>
                </a:tc>
                <a:tc>
                  <a:txBody>
                    <a:bodyPr/>
                    <a:lstStyle/>
                    <a:p>
                      <a:r>
                        <a:rPr sz="1400">
                          <a:solidFill>
                            <a:srgbClr val="FFFFFF"/>
                          </a:solidFill>
                        </a:rPr>
                        <a:t>Scope</a:t>
                      </a:r>
                    </a:p>
                  </a:txBody>
                  <a:tcPr>
                    <a:solidFill>
                      <a:srgbClr val="A01C02"/>
                    </a:solidFill>
                  </a:tcPr>
                </a:tc>
              </a:tr>
              <a:tr h="370840">
                <a:tc>
                  <a:txBody>
                    <a:bodyPr/>
                    <a:lstStyle/>
                    <a:p>
                      <a:r>
                        <a:rPr b="1" sz="1100"/>
                        <a:t>Projects/Repositories</a:t>
                      </a:r>
                    </a:p>
                  </a:txBody>
                  <a:tcPr>
                    <a:solidFill>
                      <a:srgbClr val="E7E6E6"/>
                    </a:solidFill>
                  </a:tcPr>
                </a:tc>
                <a:tc>
                  <a:txBody>
                    <a:bodyPr/>
                    <a:lstStyle/>
                    <a:p>
                      <a:r>
                        <a:rPr sz="1100"/>
                        <a:t>10-20 repositories</a:t>
                      </a:r>
                    </a:p>
                  </a:txBody>
                  <a:tcPr>
                    <a:solidFill>
                      <a:srgbClr val="E7E6E6"/>
                    </a:solidFill>
                  </a:tcPr>
                </a:tc>
                <a:tc>
                  <a:txBody>
                    <a:bodyPr/>
                    <a:lstStyle/>
                    <a:p/>
                  </a:txBody>
                  <a:tcPr>
                    <a:solidFill>
                      <a:srgbClr val="FFFFFF"/>
                    </a:solidFill>
                  </a:tcPr>
                </a:tc>
                <a:tc>
                  <a:txBody>
                    <a:bodyPr/>
                    <a:lstStyle/>
                    <a:p>
                      <a:r>
                        <a:rPr b="1" sz="1100"/>
                        <a:t>Availability Requirements</a:t>
                      </a:r>
                    </a:p>
                  </a:txBody>
                  <a:tcPr>
                    <a:solidFill>
                      <a:srgbClr val="E7E6E6"/>
                    </a:solidFill>
                  </a:tcPr>
                </a:tc>
                <a:tc>
                  <a:txBody>
                    <a:bodyPr/>
                    <a:lstStyle/>
                    <a:p>
                      <a:r>
                        <a:rPr sz="1100"/>
                        <a:t>Standard (99.5%)</a:t>
                      </a:r>
                    </a:p>
                  </a:txBody>
                  <a:tcPr>
                    <a:solidFill>
                      <a:srgbClr val="E7E6E6"/>
                    </a:solidFill>
                  </a:tcPr>
                </a:tc>
              </a:tr>
              <a:tr h="370840">
                <a:tc>
                  <a:txBody>
                    <a:bodyPr/>
                    <a:lstStyle/>
                    <a:p>
                      <a:r>
                        <a:rPr b="1" sz="1100"/>
                        <a:t>CI/CD Pipelines</a:t>
                      </a:r>
                    </a:p>
                  </a:txBody>
                  <a:tcPr>
                    <a:solidFill>
                      <a:srgbClr val="E7E6E6"/>
                    </a:solidFill>
                  </a:tcPr>
                </a:tc>
                <a:tc>
                  <a:txBody>
                    <a:bodyPr/>
                    <a:lstStyle/>
                    <a:p>
                      <a:r>
                        <a:rPr sz="1100"/>
                        <a:t>25-50 pipelines</a:t>
                      </a:r>
                    </a:p>
                  </a:txBody>
                  <a:tcPr>
                    <a:solidFill>
                      <a:srgbClr val="E7E6E6"/>
                    </a:solidFill>
                  </a:tcPr>
                </a:tc>
                <a:tc>
                  <a:txBody>
                    <a:bodyPr/>
                    <a:lstStyle/>
                    <a:p/>
                  </a:txBody>
                  <a:tcPr>
                    <a:solidFill>
                      <a:srgbClr val="FFFFFF"/>
                    </a:solidFill>
                  </a:tcPr>
                </a:tc>
                <a:tc>
                  <a:txBody>
                    <a:bodyPr/>
                    <a:lstStyle/>
                    <a:p>
                      <a:r>
                        <a:rPr b="1" sz="1100"/>
                        <a:t>Infrastructure Complexity</a:t>
                      </a:r>
                    </a:p>
                  </a:txBody>
                  <a:tcPr>
                    <a:solidFill>
                      <a:srgbClr val="E7E6E6"/>
                    </a:solidFill>
                  </a:tcPr>
                </a:tc>
                <a:tc>
                  <a:txBody>
                    <a:bodyPr/>
                    <a:lstStyle/>
                    <a:p>
                      <a:r>
                        <a:rPr sz="1100"/>
                        <a:t>Azure DevOps + self-hosted agents</a:t>
                      </a:r>
                    </a:p>
                  </a:txBody>
                  <a:tcPr>
                    <a:solidFill>
                      <a:srgbClr val="E7E6E6"/>
                    </a:solidFill>
                  </a:tcPr>
                </a:tc>
              </a:tr>
              <a:tr h="370840">
                <a:tc>
                  <a:txBody>
                    <a:bodyPr/>
                    <a:lstStyle/>
                    <a:p>
                      <a:r>
                        <a:rPr b="1" sz="1100"/>
                        <a:t>External Integrations</a:t>
                      </a:r>
                    </a:p>
                  </a:txBody>
                  <a:tcPr>
                    <a:solidFill>
                      <a:srgbClr val="E7E6E6"/>
                    </a:solidFill>
                  </a:tcPr>
                </a:tc>
                <a:tc>
                  <a:txBody>
                    <a:bodyPr/>
                    <a:lstStyle/>
                    <a:p>
                      <a:r>
                        <a:rPr sz="1100"/>
                        <a:t>GitHub SonarQube Artifactory</a:t>
                      </a:r>
                    </a:p>
                  </a:txBody>
                  <a:tcPr>
                    <a:solidFill>
                      <a:srgbClr val="E7E6E6"/>
                    </a:solidFill>
                  </a:tcPr>
                </a:tc>
                <a:tc>
                  <a:txBody>
                    <a:bodyPr/>
                    <a:lstStyle/>
                    <a:p/>
                  </a:txBody>
                  <a:tcPr>
                    <a:solidFill>
                      <a:srgbClr val="FFFFFF"/>
                    </a:solidFill>
                  </a:tcPr>
                </a:tc>
                <a:tc>
                  <a:txBody>
                    <a:bodyPr/>
                    <a:lstStyle/>
                    <a:p>
                      <a:r>
                        <a:rPr b="1" sz="1100"/>
                        <a:t>Security Requirements</a:t>
                      </a:r>
                    </a:p>
                  </a:txBody>
                  <a:tcPr>
                    <a:solidFill>
                      <a:srgbClr val="E7E6E6"/>
                    </a:solidFill>
                  </a:tcPr>
                </a:tc>
                <a:tc>
                  <a:txBody>
                    <a:bodyPr/>
                    <a:lstStyle/>
                    <a:p>
                      <a:r>
                        <a:rPr sz="1100"/>
                        <a:t>Service connections branch policies</a:t>
                      </a:r>
                    </a:p>
                  </a:txBody>
                  <a:tcPr>
                    <a:solidFill>
                      <a:srgbClr val="E7E6E6"/>
                    </a:solidFill>
                  </a:tcPr>
                </a:tc>
              </a:tr>
              <a:tr h="370840">
                <a:tc>
                  <a:txBody>
                    <a:bodyPr/>
                    <a:lstStyle/>
                    <a:p>
                      <a:r>
                        <a:rPr b="1" sz="1100"/>
                        <a:t>Deployment Targets</a:t>
                      </a:r>
                    </a:p>
                  </a:txBody>
                  <a:tcPr>
                    <a:solidFill>
                      <a:srgbClr val="E7E6E6"/>
                    </a:solidFill>
                  </a:tcPr>
                </a:tc>
                <a:tc>
                  <a:txBody>
                    <a:bodyPr/>
                    <a:lstStyle/>
                    <a:p>
                      <a:r>
                        <a:rPr sz="1100"/>
                        <a:t>Azure Kubernetes Service VMs</a:t>
                      </a:r>
                    </a:p>
                  </a:txBody>
                  <a:tcPr>
                    <a:solidFill>
                      <a:srgbClr val="E7E6E6"/>
                    </a:solidFill>
                  </a:tcPr>
                </a:tc>
                <a:tc>
                  <a:txBody>
                    <a:bodyPr/>
                    <a:lstStyle/>
                    <a:p/>
                  </a:txBody>
                  <a:tcPr>
                    <a:solidFill>
                      <a:srgbClr val="FFFFFF"/>
                    </a:solidFill>
                  </a:tcPr>
                </a:tc>
                <a:tc>
                  <a:txBody>
                    <a:bodyPr/>
                    <a:lstStyle/>
                    <a:p>
                      <a:r>
                        <a:rPr b="1" sz="1100"/>
                        <a:t>Compliance Frameworks</a:t>
                      </a:r>
                    </a:p>
                  </a:txBody>
                  <a:tcPr>
                    <a:solidFill>
                      <a:srgbClr val="E7E6E6"/>
                    </a:solidFill>
                  </a:tcPr>
                </a:tc>
                <a:tc>
                  <a:txBody>
                    <a:bodyPr/>
                    <a:lstStyle/>
                    <a:p>
                      <a:r>
                        <a:rPr sz="1100"/>
                        <a:t>SOC2</a:t>
                      </a:r>
                    </a:p>
                  </a:txBody>
                  <a:tcPr>
                    <a:solidFill>
                      <a:srgbClr val="E7E6E6"/>
                    </a:solidFill>
                  </a:tcPr>
                </a:tc>
              </a:tr>
              <a:tr h="370840">
                <a:tc>
                  <a:txBody>
                    <a:bodyPr/>
                    <a:lstStyle/>
                    <a:p>
                      <a:r>
                        <a:rPr b="1" sz="1100"/>
                        <a:t>Total Users</a:t>
                      </a:r>
                    </a:p>
                  </a:txBody>
                  <a:tcPr>
                    <a:solidFill>
                      <a:srgbClr val="E7E6E6"/>
                    </a:solidFill>
                  </a:tcPr>
                </a:tc>
                <a:tc>
                  <a:txBody>
                    <a:bodyPr/>
                    <a:lstStyle/>
                    <a:p>
                      <a:r>
                        <a:rPr sz="1100"/>
                        <a:t>50 developers</a:t>
                      </a:r>
                    </a:p>
                  </a:txBody>
                  <a:tcPr>
                    <a:solidFill>
                      <a:srgbClr val="E7E6E6"/>
                    </a:solidFill>
                  </a:tcPr>
                </a:tc>
                <a:tc>
                  <a:txBody>
                    <a:bodyPr/>
                    <a:lstStyle/>
                    <a:p/>
                  </a:txBody>
                  <a:tcPr>
                    <a:solidFill>
                      <a:srgbClr val="FFFFFF"/>
                    </a:solidFill>
                  </a:tcPr>
                </a:tc>
                <a:tc>
                  <a:txBody>
                    <a:bodyPr/>
                    <a:lstStyle/>
                    <a:p>
                      <a:r>
                        <a:rPr b="1" sz="1100"/>
                        <a:t>Build Performance</a:t>
                      </a:r>
                    </a:p>
                  </a:txBody>
                  <a:tcPr>
                    <a:solidFill>
                      <a:srgbClr val="E7E6E6"/>
                    </a:solidFill>
                  </a:tcPr>
                </a:tc>
                <a:tc>
                  <a:txBody>
                    <a:bodyPr/>
                    <a:lstStyle/>
                    <a:p>
                      <a:r>
                        <a:rPr sz="1100"/>
                        <a:t>Standard build times</a:t>
                      </a:r>
                    </a:p>
                  </a:txBody>
                  <a:tcPr>
                    <a:solidFill>
                      <a:srgbClr val="E7E6E6"/>
                    </a:solidFill>
                  </a:tcPr>
                </a:tc>
              </a:tr>
              <a:tr h="370840">
                <a:tc>
                  <a:txBody>
                    <a:bodyPr/>
                    <a:lstStyle/>
                    <a:p>
                      <a:r>
                        <a:rPr b="1" sz="1100"/>
                        <a:t>User Roles</a:t>
                      </a:r>
                    </a:p>
                  </a:txBody>
                  <a:tcPr>
                    <a:solidFill>
                      <a:srgbClr val="E7E6E6"/>
                    </a:solidFill>
                  </a:tcPr>
                </a:tc>
                <a:tc>
                  <a:txBody>
                    <a:bodyPr/>
                    <a:lstStyle/>
                    <a:p>
                      <a:r>
                        <a:rPr sz="1100"/>
                        <a:t>4 roles (dev lead ops admin)</a:t>
                      </a:r>
                    </a:p>
                  </a:txBody>
                  <a:tcPr>
                    <a:solidFill>
                      <a:srgbClr val="E7E6E6"/>
                    </a:solidFill>
                  </a:tcPr>
                </a:tc>
                <a:tc>
                  <a:txBody>
                    <a:bodyPr/>
                    <a:lstStyle/>
                    <a:p/>
                  </a:txBody>
                  <a:tcPr>
                    <a:solidFill>
                      <a:srgbClr val="FFFFFF"/>
                    </a:solidFill>
                  </a:tcPr>
                </a:tc>
                <a:tc>
                  <a:txBody>
                    <a:bodyPr/>
                    <a:lstStyle/>
                    <a:p>
                      <a:r>
                        <a:rPr b="1" sz="1100"/>
                        <a:t>Deployment Frequency</a:t>
                      </a:r>
                    </a:p>
                  </a:txBody>
                  <a:tcPr>
                    <a:solidFill>
                      <a:srgbClr val="E7E6E6"/>
                    </a:solidFill>
                  </a:tcPr>
                </a:tc>
                <a:tc>
                  <a:txBody>
                    <a:bodyPr/>
                    <a:lstStyle/>
                    <a:p>
                      <a:r>
                        <a:rPr sz="1100"/>
                        <a:t>Daily deployments</a:t>
                      </a:r>
                    </a:p>
                  </a:txBody>
                  <a:tcPr>
                    <a:solidFill>
                      <a:srgbClr val="E7E6E6"/>
                    </a:solidFill>
                  </a:tcPr>
                </a:tc>
              </a:tr>
              <a:tr h="370840">
                <a:tc>
                  <a:txBody>
                    <a:bodyPr/>
                    <a:lstStyle/>
                    <a:p>
                      <a:r>
                        <a:rPr b="1" sz="1100"/>
                        <a:t>Build Artifacts</a:t>
                      </a:r>
                    </a:p>
                  </a:txBody>
                  <a:tcPr>
                    <a:solidFill>
                      <a:srgbClr val="E7E6E6"/>
                    </a:solidFill>
                  </a:tcPr>
                </a:tc>
                <a:tc>
                  <a:txBody>
                    <a:bodyPr/>
                    <a:lstStyle/>
                    <a:p>
                      <a:r>
                        <a:rPr sz="1100"/>
                        <a:t>100 GB storage</a:t>
                      </a:r>
                    </a:p>
                  </a:txBody>
                  <a:tcPr>
                    <a:solidFill>
                      <a:srgbClr val="E7E6E6"/>
                    </a:solidFill>
                  </a:tcPr>
                </a:tc>
                <a:tc>
                  <a:txBody>
                    <a:bodyPr/>
                    <a:lstStyle/>
                    <a:p/>
                  </a:txBody>
                  <a:tcPr>
                    <a:solidFill>
                      <a:srgbClr val="FFFFFF"/>
                    </a:solidFill>
                  </a:tcPr>
                </a:tc>
                <a:tc>
                  <a:txBody>
                    <a:bodyPr/>
                    <a:lstStyle/>
                    <a:p>
                      <a:r>
                        <a:rPr b="1" sz="1100"/>
                        <a:t>Deployment Environments</a:t>
                      </a:r>
                    </a:p>
                  </a:txBody>
                  <a:tcPr>
                    <a:solidFill>
                      <a:srgbClr val="E7E6E6"/>
                    </a:solidFill>
                  </a:tcPr>
                </a:tc>
                <a:tc>
                  <a:txBody>
                    <a:bodyPr/>
                    <a:lstStyle/>
                    <a:p>
                      <a:r>
                        <a:rPr sz="1100"/>
                        <a:t>3 environments (dev staging prod)</a:t>
                      </a:r>
                    </a:p>
                  </a:txBody>
                  <a:tcPr>
                    <a:solidFill>
                      <a:srgbClr val="E7E6E6"/>
                    </a:solidFill>
                  </a:tcPr>
                </a:tc>
              </a:tr>
              <a:tr h="370840">
                <a:tc>
                  <a:txBody>
                    <a:bodyPr/>
                    <a:lstStyle/>
                    <a:p>
                      <a:r>
                        <a:rPr b="1" sz="1100"/>
                        <a:t>Pipeline Runs</a:t>
                      </a:r>
                    </a:p>
                  </a:txBody>
                  <a:tcPr>
                    <a:solidFill>
                      <a:srgbClr val="E7E6E6"/>
                    </a:solidFill>
                  </a:tcPr>
                </a:tc>
                <a:tc>
                  <a:txBody>
                    <a:bodyPr/>
                    <a:lstStyle/>
                    <a:p>
                      <a:r>
                        <a:rPr sz="1100"/>
                        <a:t>500 runs/month</a:t>
                      </a:r>
                    </a:p>
                  </a:txBody>
                  <a:tcPr>
                    <a:solidFill>
                      <a:srgbClr val="E7E6E6"/>
                    </a:solidFill>
                  </a:tcPr>
                </a:tc>
                <a:tc>
                  <a:txBody>
                    <a:bodyPr/>
                    <a:lstStyle/>
                    <a:p/>
                  </a:txBody>
                  <a:tcPr>
                    <a:solidFill>
                      <a:srgbClr val="FFFFFF"/>
                    </a:solidFill>
                  </a:tcPr>
                </a:tc>
                <a:tc>
                  <a:txBody>
                    <a:bodyPr/>
                    <a:lstStyle/>
                    <a:p>
                      <a:r>
                        <a:rPr b="1" sz="1100"/>
                        <a:t>Deployment Regions</a:t>
                      </a:r>
                    </a:p>
                  </a:txBody>
                  <a:tcPr>
                    <a:solidFill>
                      <a:srgbClr val="E7E6E6"/>
                    </a:solidFill>
                  </a:tcPr>
                </a:tc>
                <a:tc>
                  <a:txBody>
                    <a:bodyPr/>
                    <a:lstStyle/>
                    <a:p>
                      <a:r>
                        <a:rPr sz="1100"/>
                        <a:t>Single Azure region</a:t>
                      </a:r>
                    </a:p>
                  </a:txBody>
                  <a:tcPr>
                    <a:solidFill>
                      <a:srgbClr val="E7E6E6"/>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Azure DevOps Enterprise Platform</a:t>
            </a:r>
          </a:p>
        </p:txBody>
      </p:sp>
      <p:pic>
        <p:nvPicPr>
          <p:cNvPr id="6" name="Picture 5" descr="consulting_company_logo.png"/>
          <p:cNvPicPr>
            <a:picLocks noChangeAspect="1"/>
          </p:cNvPicPr>
          <p:nvPr/>
        </p:nvPicPr>
        <p:blipFill>
          <a:blip r:embed="rId2"/>
          <a:stretch>
            <a:fillRect/>
          </a:stretch>
        </p:blipFill>
        <p:spPr>
          <a:xfrm>
            <a:off x="313592" y="4536078"/>
            <a:ext cx="2126273" cy="529698"/>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Solution Overview</a:t>
            </a:r>
          </a:p>
        </p:txBody>
      </p:sp>
      <p:sp>
        <p:nvSpPr>
          <p:cNvPr id="5" name="Text Placeholder 4"/>
          <p:cNvSpPr>
            <a:spLocks noGrp="1"/>
          </p:cNvSpPr>
          <p:nvPr>
            <p:ph type="body" idx="16" sz="quarter"/>
          </p:nvPr>
        </p:nvSpPr>
        <p:spPr/>
        <p:txBody>
          <a:bodyPr/>
          <a:lstStyle/>
          <a:p>
            <a:pPr/>
            <a:r>
              <a:rPr b="1"/>
              <a:t>Key Components</a:t>
            </a:r>
          </a:p>
          <a:p>
            <a:pPr lvl="1"/>
            <a:r>
              <a:rPr b="1"/>
              <a:t>Azure DevOps Services:</a:t>
            </a:r>
            <a:r>
              <a:t> Central hub for project management, code repositories, and pipeline orchestration</a:t>
            </a:r>
          </a:p>
          <a:p>
            <a:pPr lvl="1"/>
            <a:r>
              <a:rPr b="1"/>
              <a:t>Azure Pipelines:</a:t>
            </a:r>
            <a:r>
              <a:t> Automated build, test, and deployment workflows with multi-stage release management</a:t>
            </a:r>
          </a:p>
          <a:p>
            <a:pPr lvl="1"/>
            <a:r>
              <a:rPr b="1"/>
              <a:t>Azure Repos &amp; Artifacts:</a:t>
            </a:r>
            <a:r>
              <a:t> Version control for source code with centralized package management</a:t>
            </a:r>
          </a:p>
          <a:p>
            <a:pPr/>
            <a:r>
              <a:rPr b="1"/>
              <a:t>Technology Stack</a:t>
            </a:r>
          </a:p>
          <a:p>
            <a:pPr lvl="1"/>
            <a:r>
              <a:t>Platform: Azure DevOps Services</a:t>
            </a:r>
          </a:p>
          <a:p>
            <a:pPr lvl="1"/>
            <a:r>
              <a:t>Source Control: Git with Azure Repos</a:t>
            </a:r>
          </a:p>
          <a:p>
            <a:pPr lvl="1"/>
            <a:r>
              <a:t>Build Automation: YAML-based Azure Pipelines</a:t>
            </a:r>
          </a:p>
          <a:p>
            <a:pPr lvl="1"/>
            <a:r>
              <a:t>Package Management: Azure Artifacts feeds</a:t>
            </a:r>
          </a:p>
        </p:txBody>
      </p:sp>
      <p:sp>
        <p:nvSpPr>
          <p:cNvPr id="6" name="Text Placeholder 5"/>
          <p:cNvSpPr>
            <a:spLocks noGrp="1"/>
          </p:cNvSpPr>
          <p:nvPr>
            <p:ph type="body" idx="17" sz="quarter"/>
          </p:nvPr>
        </p:nvSpPr>
        <p:spPr/>
        <p:txBody>
          <a:bodyPr/>
          <a:lstStyle/>
          <a:p>
            <a:pPr algn="r">
              <a:buNone/>
            </a:pPr>
            <a:r>
              <a:rPr sz="1100">
                <a:solidFill>
                  <a:srgbClr val="CC0000"/>
                </a:solidFill>
              </a:rPr>
              <a:t>Azure DevOps Enterprise Platform</a:t>
            </a:r>
          </a:p>
        </p:txBody>
      </p:sp>
      <p:pic>
        <p:nvPicPr>
          <p:cNvPr id="7" name="Picture 6" descr="architecture-diagram.png"/>
          <p:cNvPicPr>
            <a:picLocks noChangeAspect="1"/>
          </p:cNvPicPr>
          <p:nvPr/>
        </p:nvPicPr>
        <p:blipFill>
          <a:blip r:embed="rId2"/>
          <a:stretch>
            <a:fillRect/>
          </a:stretch>
        </p:blipFill>
        <p:spPr>
          <a:xfrm>
            <a:off x="4662488" y="685799"/>
            <a:ext cx="4337050" cy="3815859"/>
          </a:xfrm>
          <a:prstGeom prst="rect">
            <a:avLst/>
          </a:prstGeom>
          <a:ln w="12700">
            <a:solidFill>
              <a:srgbClr val="C0C0C0"/>
            </a:solidFill>
            <a:prstDash val="solid"/>
          </a:ln>
        </p:spPr>
      </p:pic>
      <p:pic>
        <p:nvPicPr>
          <p:cNvPr id="8" name="Picture 7" descr="consulting_company_logo.png"/>
          <p:cNvPicPr>
            <a:picLocks noChangeAspect="1"/>
          </p:cNvPicPr>
          <p:nvPr/>
        </p:nvPicPr>
        <p:blipFill>
          <a:blip r:embed="rId3"/>
          <a:stretch>
            <a:fillRect/>
          </a:stretch>
        </p:blipFill>
        <p:spPr>
          <a:xfrm>
            <a:off x="313592" y="4536078"/>
            <a:ext cx="2130670" cy="52969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Implementation Approach</a:t>
            </a:r>
          </a:p>
        </p:txBody>
      </p:sp>
      <p:sp>
        <p:nvSpPr>
          <p:cNvPr id="4" name="Text Placeholder 3"/>
          <p:cNvSpPr>
            <a:spLocks noGrp="1"/>
          </p:cNvSpPr>
          <p:nvPr>
            <p:ph type="body" idx="14" sz="quarter"/>
          </p:nvPr>
        </p:nvSpPr>
        <p:spPr/>
        <p:txBody>
          <a:bodyPr/>
          <a:lstStyle/>
          <a:p>
            <a:pPr/>
            <a:r>
              <a:rPr b="1"/>
              <a:t>Phase 1: Assessment &amp; Planning</a:t>
            </a:r>
            <a:r>
              <a:t> (Months 1-2)</a:t>
            </a:r>
          </a:p>
          <a:p>
            <a:pPr lvl="1"/>
            <a:r>
              <a:t>Current development workflow analysis and tool inventory assessment</a:t>
            </a:r>
          </a:p>
          <a:p>
            <a:pPr lvl="1"/>
            <a:r>
              <a:t>Pipeline strategy design and branching standards definition</a:t>
            </a:r>
          </a:p>
          <a:p>
            <a:pPr lvl="1"/>
            <a:r>
              <a:t>Azure DevOps organization structure and security configuration</a:t>
            </a:r>
          </a:p>
          <a:p>
            <a:pPr/>
            <a:r>
              <a:rPr b="1"/>
              <a:t>Phase 2: Core Platform Setup</a:t>
            </a:r>
            <a:r>
              <a:t> (Months 3-4)</a:t>
            </a:r>
          </a:p>
          <a:p>
            <a:pPr lvl="1"/>
            <a:r>
              <a:t>Azure Repos migration with Git history preservation</a:t>
            </a:r>
          </a:p>
          <a:p>
            <a:pPr lvl="1"/>
            <a:r>
              <a:t>Azure Pipelines templates for build and release automation</a:t>
            </a:r>
          </a:p>
          <a:p>
            <a:pPr lvl="1"/>
            <a:r>
              <a:t>Azure Artifacts feeds and package management setup</a:t>
            </a:r>
          </a:p>
          <a:p>
            <a:pPr/>
            <a:r>
              <a:rPr b="1"/>
              <a:t>Phase 3: Optimization &amp; Adoption</a:t>
            </a:r>
            <a:r>
              <a:t> (Months 5-6)</a:t>
            </a:r>
          </a:p>
          <a:p>
            <a:pPr lvl="1"/>
            <a:r>
              <a:t>Team onboarding and pipeline standardization across projects</a:t>
            </a:r>
          </a:p>
          <a:p>
            <a:pPr lvl="1"/>
            <a:r>
              <a:t>Advanced workflows including multi-stage deployments and approvals</a:t>
            </a:r>
          </a:p>
          <a:p>
            <a:pPr lvl="1"/>
            <a:r>
              <a:t>Performance monitoring and continuous improvement processes</a:t>
            </a:r>
          </a:p>
        </p:txBody>
      </p:sp>
      <p:sp>
        <p:nvSpPr>
          <p:cNvPr id="5" name="Text Placeholder 4"/>
          <p:cNvSpPr>
            <a:spLocks noGrp="1"/>
          </p:cNvSpPr>
          <p:nvPr>
            <p:ph type="body" idx="15" sz="quarter"/>
          </p:nvPr>
        </p:nvSpPr>
        <p:spPr/>
        <p:txBody>
          <a:bodyPr/>
          <a:lstStyle/>
          <a:p>
            <a:pPr algn="r">
              <a:buNone/>
            </a:pPr>
            <a:r>
              <a:rPr sz="1100">
                <a:solidFill>
                  <a:srgbClr val="CC0000"/>
                </a:solidFill>
              </a:rPr>
              <a:t>Azure DevOps Enterprise Platform</a:t>
            </a:r>
          </a:p>
        </p:txBody>
      </p:sp>
      <p:pic>
        <p:nvPicPr>
          <p:cNvPr id="6" name="Picture 5" descr="consulting_company_logo.png"/>
          <p:cNvPicPr>
            <a:picLocks noChangeAspect="1"/>
          </p:cNvPicPr>
          <p:nvPr/>
        </p:nvPicPr>
        <p:blipFill>
          <a:blip r:embed="rId2"/>
          <a:stretch>
            <a:fillRect/>
          </a:stretch>
        </p:blipFill>
        <p:spPr>
          <a:xfrm>
            <a:off x="313593" y="4536078"/>
            <a:ext cx="2143858" cy="52969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Timeline &amp; Milestones</a:t>
            </a:r>
          </a:p>
        </p:txBody>
      </p:sp>
      <p:graphicFrame>
        <p:nvGraphicFramePr>
          <p:cNvPr id="4" name="Table Placeholder 3"/>
          <p:cNvGraphicFramePr>
            <a:graphicFrameLocks noGrp="1"/>
          </p:cNvGraphicFramePr>
          <p:nvPr>
            <p:ph type="tbl" idx="14" sz="quarter"/>
          </p:nvPr>
        </p:nvGraphicFramePr>
        <p:xfrm>
          <a:off x="256855" y="677011"/>
          <a:ext cx="8710931" cy="1483360"/>
        </p:xfrm>
        <a:graphic>
          <a:graphicData uri="http://schemas.openxmlformats.org/drawingml/2006/table">
            <a:tbl>
              <a:tblPr firstRow="1" bandRow="1">
                <a:tableStyleId>{5C22544A-7EE6-4342-B048-85BDC9FD1C3A}</a:tableStyleId>
              </a:tblPr>
              <a:tblGrid>
                <a:gridCol w="871093"/>
                <a:gridCol w="2177733"/>
                <a:gridCol w="1306639"/>
                <a:gridCol w="4355466"/>
              </a:tblGrid>
              <a:tr h="370840">
                <a:tc>
                  <a:txBody>
                    <a:bodyPr/>
                    <a:lstStyle/>
                    <a:p>
                      <a:r>
                        <a:rPr sz="1400">
                          <a:solidFill>
                            <a:srgbClr val="FFFFFF"/>
                          </a:solidFill>
                        </a:rPr>
                        <a:t>Phase No</a:t>
                      </a:r>
                    </a:p>
                  </a:txBody>
                  <a:tcPr>
                    <a:solidFill>
                      <a:srgbClr val="A01C02"/>
                    </a:solidFill>
                  </a:tcPr>
                </a:tc>
                <a:tc>
                  <a:txBody>
                    <a:bodyPr/>
                    <a:lstStyle/>
                    <a:p>
                      <a:r>
                        <a:rPr sz="1400">
                          <a:solidFill>
                            <a:srgbClr val="FFFFFF"/>
                          </a:solidFill>
                        </a:rPr>
                        <a:t>Phase Description</a:t>
                      </a:r>
                    </a:p>
                  </a:txBody>
                  <a:tcPr>
                    <a:solidFill>
                      <a:srgbClr val="A01C02"/>
                    </a:solidFill>
                  </a:tcPr>
                </a:tc>
                <a:tc>
                  <a:txBody>
                    <a:bodyPr/>
                    <a:lstStyle/>
                    <a:p>
                      <a:r>
                        <a:rPr sz="1400">
                          <a:solidFill>
                            <a:srgbClr val="FFFFFF"/>
                          </a:solidFill>
                        </a:rPr>
                        <a:t>Timeline</a:t>
                      </a:r>
                    </a:p>
                  </a:txBody>
                  <a:tcPr>
                    <a:solidFill>
                      <a:srgbClr val="A01C02"/>
                    </a:solidFill>
                  </a:tcPr>
                </a:tc>
                <a:tc>
                  <a:txBody>
                    <a:bodyPr/>
                    <a:lstStyle/>
                    <a:p>
                      <a:r>
                        <a:rPr sz="1400">
                          <a:solidFill>
                            <a:srgbClr val="FFFFFF"/>
                          </a:solidFill>
                        </a:rPr>
                        <a:t>Key Deliverables</a:t>
                      </a:r>
                    </a:p>
                  </a:txBody>
                  <a:tcPr>
                    <a:solidFill>
                      <a:srgbClr val="A01C02"/>
                    </a:solidFill>
                  </a:tcPr>
                </a:tc>
              </a:tr>
              <a:tr h="370840">
                <a:tc>
                  <a:txBody>
                    <a:bodyPr/>
                    <a:lstStyle/>
                    <a:p>
                      <a:r>
                        <a:rPr sz="1100"/>
                        <a:t>Phase 1</a:t>
                      </a:r>
                    </a:p>
                  </a:txBody>
                  <a:tcPr>
                    <a:solidFill>
                      <a:srgbClr val="E7E6E6"/>
                    </a:solidFill>
                  </a:tcPr>
                </a:tc>
                <a:tc>
                  <a:txBody>
                    <a:bodyPr/>
                    <a:lstStyle/>
                    <a:p>
                      <a:r>
                        <a:rPr sz="1100"/>
                        <a:t>Assessment &amp; Planning</a:t>
                      </a:r>
                    </a:p>
                  </a:txBody>
                  <a:tcPr>
                    <a:solidFill>
                      <a:srgbClr val="E7E6E6"/>
                    </a:solidFill>
                  </a:tcPr>
                </a:tc>
                <a:tc>
                  <a:txBody>
                    <a:bodyPr/>
                    <a:lstStyle/>
                    <a:p>
                      <a:r>
                        <a:rPr sz="1100"/>
                        <a:t>Months 1-2</a:t>
                      </a:r>
                    </a:p>
                  </a:txBody>
                  <a:tcPr>
                    <a:solidFill>
                      <a:srgbClr val="E7E6E6"/>
                    </a:solidFill>
                  </a:tcPr>
                </a:tc>
                <a:tc>
                  <a:txBody>
                    <a:bodyPr/>
                    <a:lstStyle/>
                    <a:p>
                      <a:r>
                        <a:rPr sz="1100"/>
                        <a:t>DevOps maturity assessment complete, Pipeline strategy documented, Security and governance policies defined</a:t>
                      </a:r>
                    </a:p>
                  </a:txBody>
                  <a:tcPr>
                    <a:solidFill>
                      <a:srgbClr val="E7E6E6"/>
                    </a:solidFill>
                  </a:tcPr>
                </a:tc>
              </a:tr>
              <a:tr h="370840">
                <a:tc>
                  <a:txBody>
                    <a:bodyPr/>
                    <a:lstStyle/>
                    <a:p>
                      <a:r>
                        <a:rPr sz="1100"/>
                        <a:t>Phase 2</a:t>
                      </a:r>
                    </a:p>
                  </a:txBody>
                  <a:tcPr>
                    <a:solidFill>
                      <a:srgbClr val="E7E6E6"/>
                    </a:solidFill>
                  </a:tcPr>
                </a:tc>
                <a:tc>
                  <a:txBody>
                    <a:bodyPr/>
                    <a:lstStyle/>
                    <a:p>
                      <a:r>
                        <a:rPr sz="1100"/>
                        <a:t>Core Platform Setup</a:t>
                      </a:r>
                    </a:p>
                  </a:txBody>
                  <a:tcPr>
                    <a:solidFill>
                      <a:srgbClr val="E7E6E6"/>
                    </a:solidFill>
                  </a:tcPr>
                </a:tc>
                <a:tc>
                  <a:txBody>
                    <a:bodyPr/>
                    <a:lstStyle/>
                    <a:p>
                      <a:r>
                        <a:rPr sz="1100"/>
                        <a:t>Months 3-4</a:t>
                      </a:r>
                    </a:p>
                  </a:txBody>
                  <a:tcPr>
                    <a:solidFill>
                      <a:srgbClr val="E7E6E6"/>
                    </a:solidFill>
                  </a:tcPr>
                </a:tc>
                <a:tc>
                  <a:txBody>
                    <a:bodyPr/>
                    <a:lstStyle/>
                    <a:p>
                      <a:r>
                        <a:rPr sz="1100"/>
                        <a:t>Azure Repos configured with migrated code, Build pipelines operational, Artifact feeds publishing packages</a:t>
                      </a:r>
                    </a:p>
                  </a:txBody>
                  <a:tcPr>
                    <a:solidFill>
                      <a:srgbClr val="E7E6E6"/>
                    </a:solidFill>
                  </a:tcPr>
                </a:tc>
              </a:tr>
              <a:tr h="370840">
                <a:tc>
                  <a:txBody>
                    <a:bodyPr/>
                    <a:lstStyle/>
                    <a:p>
                      <a:r>
                        <a:rPr sz="1100"/>
                        <a:t>Phase 3</a:t>
                      </a:r>
                    </a:p>
                  </a:txBody>
                  <a:tcPr>
                    <a:solidFill>
                      <a:srgbClr val="E7E6E6"/>
                    </a:solidFill>
                  </a:tcPr>
                </a:tc>
                <a:tc>
                  <a:txBody>
                    <a:bodyPr/>
                    <a:lstStyle/>
                    <a:p>
                      <a:r>
                        <a:rPr sz="1100"/>
                        <a:t>Optimization &amp; Adoption</a:t>
                      </a:r>
                    </a:p>
                  </a:txBody>
                  <a:tcPr>
                    <a:solidFill>
                      <a:srgbClr val="E7E6E6"/>
                    </a:solidFill>
                  </a:tcPr>
                </a:tc>
                <a:tc>
                  <a:txBody>
                    <a:bodyPr/>
                    <a:lstStyle/>
                    <a:p>
                      <a:r>
                        <a:rPr sz="1100"/>
                        <a:t>Months 5-6</a:t>
                      </a:r>
                    </a:p>
                  </a:txBody>
                  <a:tcPr>
                    <a:solidFill>
                      <a:srgbClr val="E7E6E6"/>
                    </a:solidFill>
                  </a:tcPr>
                </a:tc>
                <a:tc>
                  <a:txBody>
                    <a:bodyPr/>
                    <a:lstStyle/>
                    <a:p>
                      <a:r>
                        <a:rPr sz="1100"/>
                        <a:t>Release pipelines automated, All teams onboarded, Monitoring and dashboards active</a:t>
                      </a:r>
                    </a:p>
                  </a:txBody>
                  <a:tcPr>
                    <a:solidFill>
                      <a:srgbClr val="E7E6E6"/>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Azure DevOps Enterprise Platform</a:t>
            </a:r>
          </a:p>
        </p:txBody>
      </p:sp>
      <p:pic>
        <p:nvPicPr>
          <p:cNvPr id="6" name="Picture 5" descr="consulting_company_logo.png"/>
          <p:cNvPicPr>
            <a:picLocks noChangeAspect="1"/>
          </p:cNvPicPr>
          <p:nvPr/>
        </p:nvPicPr>
        <p:blipFill>
          <a:blip r:embed="rId2"/>
          <a:stretch>
            <a:fillRect/>
          </a:stretch>
        </p:blipFill>
        <p:spPr>
          <a:xfrm>
            <a:off x="313592" y="4536078"/>
            <a:ext cx="2126273" cy="52969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Success Stories</a:t>
            </a:r>
          </a:p>
        </p:txBody>
      </p:sp>
      <p:sp>
        <p:nvSpPr>
          <p:cNvPr id="4" name="Text Placeholder 3"/>
          <p:cNvSpPr>
            <a:spLocks noGrp="1"/>
          </p:cNvSpPr>
          <p:nvPr>
            <p:ph type="body" idx="14" sz="quarter"/>
          </p:nvPr>
        </p:nvSpPr>
        <p:spPr/>
        <p:txBody>
          <a:bodyPr/>
          <a:lstStyle/>
          <a:p>
            <a:pPr/>
            <a:r>
              <a:rPr b="1"/>
              <a:t>Client Success: Enterprise Software Company</a:t>
            </a:r>
          </a:p>
          <a:p>
            <a:pPr lvl="1"/>
            <a:r>
              <a:rPr b="1"/>
              <a:t>Client:</a:t>
            </a:r>
            <a:r>
              <a:t> Software company with 200+ developers across 8 product teams</a:t>
            </a:r>
          </a:p>
          <a:p>
            <a:pPr lvl="1"/>
            <a:r>
              <a:rPr b="1"/>
              <a:t>Challenge:</a:t>
            </a:r>
            <a:r>
              <a:t> Manual deployment processes taking 4+ hours per release, inconsistent build environments causing 30% of releases to fail, and inability to track code changes across projects</a:t>
            </a:r>
          </a:p>
          <a:p>
            <a:pPr lvl="1"/>
            <a:r>
              <a:rPr b="1"/>
              <a:t>Solution:</a:t>
            </a:r>
            <a:r>
              <a:t> Deployed Azure DevOps platform with standardized YAML pipelines, automated testing integration, and centralized artifact management</a:t>
            </a:r>
          </a:p>
          <a:p>
            <a:pPr lvl="1"/>
            <a:r>
              <a:rPr b="1"/>
              <a:t>Results:</a:t>
            </a:r>
            <a:r>
              <a:t> 85% reduction in deployment time (4 hours to 35 minutes), 95% pipeline success rate, release frequency increased from monthly to weekly, full audit trail for compliance requirements</a:t>
            </a:r>
          </a:p>
          <a:p>
            <a:pPr lvl="1"/>
            <a:r>
              <a:rPr b="1"/>
              <a:t>Testimonial:</a:t>
            </a:r>
            <a:r>
              <a:t> "Azure DevOps transformed how our teams deliver software. We went from dreading release days to confidently deploying multiple times per week. Our developers focus on building features instead of fighting deployments." — </a:t>
            </a:r>
            <a:r>
              <a:rPr b="1"/>
              <a:t>Sarah Martinez, VP Engineering</a:t>
            </a:r>
            <a:r>
              <a:t>, Enterprise Software Corp</a:t>
            </a:r>
          </a:p>
        </p:txBody>
      </p:sp>
      <p:sp>
        <p:nvSpPr>
          <p:cNvPr id="5" name="Text Placeholder 4"/>
          <p:cNvSpPr>
            <a:spLocks noGrp="1"/>
          </p:cNvSpPr>
          <p:nvPr>
            <p:ph type="body" idx="15" sz="quarter"/>
          </p:nvPr>
        </p:nvSpPr>
        <p:spPr/>
        <p:txBody>
          <a:bodyPr/>
          <a:lstStyle/>
          <a:p>
            <a:pPr algn="r">
              <a:buNone/>
            </a:pPr>
            <a:r>
              <a:rPr sz="1100">
                <a:solidFill>
                  <a:srgbClr val="CC0000"/>
                </a:solidFill>
              </a:rPr>
              <a:t>Azure DevOps Enterprise Platform</a:t>
            </a:r>
          </a:p>
        </p:txBody>
      </p:sp>
      <p:pic>
        <p:nvPicPr>
          <p:cNvPr id="6" name="Picture 5" descr="consulting_company_logo.png"/>
          <p:cNvPicPr>
            <a:picLocks noChangeAspect="1"/>
          </p:cNvPicPr>
          <p:nvPr/>
        </p:nvPicPr>
        <p:blipFill>
          <a:blip r:embed="rId2"/>
          <a:stretch>
            <a:fillRect/>
          </a:stretch>
        </p:blipFill>
        <p:spPr>
          <a:xfrm>
            <a:off x="313593" y="4536078"/>
            <a:ext cx="2143858" cy="52969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Our Partnership Advantage</a:t>
            </a:r>
          </a:p>
        </p:txBody>
      </p:sp>
      <p:sp>
        <p:nvSpPr>
          <p:cNvPr id="4" name="Text Placeholder 3"/>
          <p:cNvSpPr>
            <a:spLocks noGrp="1"/>
          </p:cNvSpPr>
          <p:nvPr>
            <p:ph type="body" idx="16" sz="quarter"/>
          </p:nvPr>
        </p:nvSpPr>
        <p:spPr/>
        <p:txBody>
          <a:bodyPr/>
          <a:lstStyle/>
          <a:p>
            <a:pPr/>
            <a:r>
              <a:rPr b="1"/>
              <a:t>What We Bring</a:t>
            </a:r>
          </a:p>
          <a:p>
            <a:pPr lvl="1"/>
            <a:r>
              <a:t>Microsoft Gold Partner with Azure DevOps specialization</a:t>
            </a:r>
          </a:p>
          <a:p>
            <a:pPr lvl="1"/>
            <a:r>
              <a:t>100+ successful DevOps platform implementations</a:t>
            </a:r>
          </a:p>
          <a:p>
            <a:pPr lvl="1"/>
            <a:r>
              <a:t>Certified Azure DevOps Engineers and Solutions Architects</a:t>
            </a:r>
          </a:p>
          <a:p>
            <a:pPr lvl="1"/>
            <a:r>
              <a:t>Pre-built pipeline templates and migration accelerators</a:t>
            </a:r>
          </a:p>
        </p:txBody>
      </p:sp>
      <p:sp>
        <p:nvSpPr>
          <p:cNvPr id="5" name="Text Placeholder 4"/>
          <p:cNvSpPr>
            <a:spLocks noGrp="1"/>
          </p:cNvSpPr>
          <p:nvPr>
            <p:ph type="body" idx="17" sz="quarter"/>
          </p:nvPr>
        </p:nvSpPr>
        <p:spPr/>
        <p:txBody>
          <a:bodyPr/>
          <a:lstStyle/>
          <a:p>
            <a:pPr/>
            <a:r>
              <a:rPr b="1"/>
              <a:t>Value to You</a:t>
            </a:r>
          </a:p>
          <a:p>
            <a:pPr lvl="1"/>
            <a:r>
              <a:t>Proven migration methodology reduces disruption to development teams</a:t>
            </a:r>
          </a:p>
          <a:p>
            <a:pPr lvl="1"/>
            <a:r>
              <a:t>Reusable pipeline templates accelerate onboarding by 50%</a:t>
            </a:r>
          </a:p>
          <a:p>
            <a:pPr lvl="1"/>
            <a:r>
              <a:t>Comprehensive training program ensures team self-sufficiency</a:t>
            </a:r>
          </a:p>
          <a:p>
            <a:pPr lvl="1"/>
            <a:r>
              <a:t>Best practices from 100+ enterprise DevOps transformations</a:t>
            </a:r>
          </a:p>
        </p:txBody>
      </p:sp>
      <p:sp>
        <p:nvSpPr>
          <p:cNvPr id="6" name="Text Placeholder 5"/>
          <p:cNvSpPr>
            <a:spLocks noGrp="1"/>
          </p:cNvSpPr>
          <p:nvPr>
            <p:ph type="body" idx="15" sz="quarter"/>
          </p:nvPr>
        </p:nvSpPr>
        <p:spPr/>
        <p:txBody>
          <a:bodyPr/>
          <a:lstStyle/>
          <a:p>
            <a:pPr algn="r">
              <a:buNone/>
            </a:pPr>
            <a:r>
              <a:rPr sz="1100">
                <a:solidFill>
                  <a:srgbClr val="CC0000"/>
                </a:solidFill>
              </a:rPr>
              <a:t>Azure DevOps Enterprise Platform</a:t>
            </a:r>
          </a:p>
        </p:txBody>
      </p:sp>
      <p:pic>
        <p:nvPicPr>
          <p:cNvPr id="7" name="Picture 6" descr="consulting_company_logo.png"/>
          <p:cNvPicPr>
            <a:picLocks noChangeAspect="1"/>
          </p:cNvPicPr>
          <p:nvPr/>
        </p:nvPicPr>
        <p:blipFill>
          <a:blip r:embed="rId2"/>
          <a:stretch>
            <a:fillRect/>
          </a:stretch>
        </p:blipFill>
        <p:spPr>
          <a:xfrm>
            <a:off x="313592" y="4536078"/>
            <a:ext cx="2121877" cy="52969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Investment Summary</a:t>
            </a:r>
          </a:p>
        </p:txBody>
      </p:sp>
      <p:graphicFrame>
        <p:nvGraphicFramePr>
          <p:cNvPr id="4" name="Table Placeholder 3"/>
          <p:cNvGraphicFramePr>
            <a:graphicFrameLocks noGrp="1"/>
          </p:cNvGraphicFramePr>
          <p:nvPr>
            <p:ph type="tbl" idx="14" sz="quarter"/>
          </p:nvPr>
        </p:nvGraphicFramePr>
        <p:xfrm>
          <a:off x="256855" y="677011"/>
          <a:ext cx="8710930" cy="1854200"/>
        </p:xfrm>
        <a:graphic>
          <a:graphicData uri="http://schemas.openxmlformats.org/drawingml/2006/table">
            <a:tbl>
              <a:tblPr firstRow="1" bandRow="1">
                <a:tableStyleId>{5C22544A-7EE6-4342-B048-85BDC9FD1C3A}</a:tableStyleId>
              </a:tblPr>
              <a:tblGrid>
                <a:gridCol w="1997920"/>
                <a:gridCol w="1198752"/>
                <a:gridCol w="1198752"/>
                <a:gridCol w="1198752"/>
                <a:gridCol w="959001"/>
                <a:gridCol w="959001"/>
                <a:gridCol w="1198752"/>
              </a:tblGrid>
              <a:tr h="370840">
                <a:tc>
                  <a:txBody>
                    <a:bodyPr/>
                    <a:lstStyle/>
                    <a:p>
                      <a:r>
                        <a:rPr sz="1400">
                          <a:solidFill>
                            <a:srgbClr val="FFFFFF"/>
                          </a:solidFill>
                        </a:rPr>
                        <a:t>Cost Category</a:t>
                      </a:r>
                    </a:p>
                  </a:txBody>
                  <a:tcPr>
                    <a:solidFill>
                      <a:srgbClr val="A01C02"/>
                    </a:solidFill>
                  </a:tcPr>
                </a:tc>
                <a:tc>
                  <a:txBody>
                    <a:bodyPr/>
                    <a:lstStyle/>
                    <a:p>
                      <a:r>
                        <a:rPr sz="1400">
                          <a:solidFill>
                            <a:srgbClr val="FFFFFF"/>
                          </a:solidFill>
                        </a:rPr>
                        <a:t>Year 1 List</a:t>
                      </a:r>
                    </a:p>
                  </a:txBody>
                  <a:tcPr>
                    <a:solidFill>
                      <a:srgbClr val="A01C02"/>
                    </a:solidFill>
                  </a:tcPr>
                </a:tc>
                <a:tc>
                  <a:txBody>
                    <a:bodyPr/>
                    <a:lstStyle/>
                    <a:p>
                      <a:r>
                        <a:rPr sz="1400">
                          <a:solidFill>
                            <a:srgbClr val="FFFFFF"/>
                          </a:solidFill>
                        </a:rPr>
                        <a:t>Year 1 Credits</a:t>
                      </a:r>
                    </a:p>
                  </a:txBody>
                  <a:tcPr>
                    <a:solidFill>
                      <a:srgbClr val="A01C02"/>
                    </a:solidFill>
                  </a:tcPr>
                </a:tc>
                <a:tc>
                  <a:txBody>
                    <a:bodyPr/>
                    <a:lstStyle/>
                    <a:p>
                      <a:r>
                        <a:rPr sz="1400">
                          <a:solidFill>
                            <a:srgbClr val="FFFFFF"/>
                          </a:solidFill>
                        </a:rPr>
                        <a:t>Year 1 Net</a:t>
                      </a:r>
                    </a:p>
                  </a:txBody>
                  <a:tcPr>
                    <a:solidFill>
                      <a:srgbClr val="A01C02"/>
                    </a:solidFill>
                  </a:tcPr>
                </a:tc>
                <a:tc>
                  <a:txBody>
                    <a:bodyPr/>
                    <a:lstStyle/>
                    <a:p>
                      <a:r>
                        <a:rPr sz="1400">
                          <a:solidFill>
                            <a:srgbClr val="FFFFFF"/>
                          </a:solidFill>
                        </a:rPr>
                        <a:t>Year 2</a:t>
                      </a:r>
                    </a:p>
                  </a:txBody>
                  <a:tcPr>
                    <a:solidFill>
                      <a:srgbClr val="A01C02"/>
                    </a:solidFill>
                  </a:tcPr>
                </a:tc>
                <a:tc>
                  <a:txBody>
                    <a:bodyPr/>
                    <a:lstStyle/>
                    <a:p>
                      <a:r>
                        <a:rPr sz="1400">
                          <a:solidFill>
                            <a:srgbClr val="FFFFFF"/>
                          </a:solidFill>
                        </a:rPr>
                        <a:t>Year 3</a:t>
                      </a:r>
                    </a:p>
                  </a:txBody>
                  <a:tcPr>
                    <a:solidFill>
                      <a:srgbClr val="A01C02"/>
                    </a:solidFill>
                  </a:tcPr>
                </a:tc>
                <a:tc>
                  <a:txBody>
                    <a:bodyPr/>
                    <a:lstStyle/>
                    <a:p>
                      <a:r>
                        <a:rPr sz="1400">
                          <a:solidFill>
                            <a:srgbClr val="FFFFFF"/>
                          </a:solidFill>
                        </a:rPr>
                        <a:t>3-Year Total</a:t>
                      </a:r>
                    </a:p>
                  </a:txBody>
                  <a:tcPr>
                    <a:solidFill>
                      <a:srgbClr val="A01C02"/>
                    </a:solidFill>
                  </a:tcPr>
                </a:tc>
              </a:tr>
              <a:tr h="370840">
                <a:tc>
                  <a:txBody>
                    <a:bodyPr/>
                    <a:lstStyle/>
                    <a:p>
                      <a:r>
                        <a:rPr sz="1100"/>
                        <a:t>Professional Services</a:t>
                      </a:r>
                    </a:p>
                  </a:txBody>
                  <a:tcPr>
                    <a:solidFill>
                      <a:srgbClr val="E7E6E6"/>
                    </a:solidFill>
                  </a:tcPr>
                </a:tc>
                <a:tc>
                  <a:txBody>
                    <a:bodyPr/>
                    <a:lstStyle/>
                    <a:p>
                      <a:r>
                        <a:rPr sz="1100"/>
                        <a:t>$100,000</a:t>
                      </a:r>
                    </a:p>
                  </a:txBody>
                  <a:tcPr>
                    <a:solidFill>
                      <a:srgbClr val="E7E6E6"/>
                    </a:solidFill>
                  </a:tcPr>
                </a:tc>
                <a:tc>
                  <a:txBody>
                    <a:bodyPr/>
                    <a:lstStyle/>
                    <a:p>
                      <a:r>
                        <a:rPr sz="1100"/>
                        <a:t>($8,000)</a:t>
                      </a:r>
                    </a:p>
                  </a:txBody>
                  <a:tcPr>
                    <a:solidFill>
                      <a:srgbClr val="E7E6E6"/>
                    </a:solidFill>
                  </a:tcPr>
                </a:tc>
                <a:tc>
                  <a:txBody>
                    <a:bodyPr/>
                    <a:lstStyle/>
                    <a:p>
                      <a:r>
                        <a:rPr sz="1100"/>
                        <a:t>$92,000</a:t>
                      </a:r>
                    </a:p>
                  </a:txBody>
                  <a:tcPr>
                    <a:solidFill>
                      <a:srgbClr val="E7E6E6"/>
                    </a:solidFill>
                  </a:tcPr>
                </a:tc>
                <a:tc>
                  <a:txBody>
                    <a:bodyPr/>
                    <a:lstStyle/>
                    <a:p>
                      <a:r>
                        <a:rPr sz="1100"/>
                        <a:t>$0</a:t>
                      </a:r>
                    </a:p>
                  </a:txBody>
                  <a:tcPr>
                    <a:solidFill>
                      <a:srgbClr val="E7E6E6"/>
                    </a:solidFill>
                  </a:tcPr>
                </a:tc>
                <a:tc>
                  <a:txBody>
                    <a:bodyPr/>
                    <a:lstStyle/>
                    <a:p>
                      <a:r>
                        <a:rPr sz="1100"/>
                        <a:t>$0</a:t>
                      </a:r>
                    </a:p>
                  </a:txBody>
                  <a:tcPr>
                    <a:solidFill>
                      <a:srgbClr val="E7E6E6"/>
                    </a:solidFill>
                  </a:tcPr>
                </a:tc>
                <a:tc>
                  <a:txBody>
                    <a:bodyPr/>
                    <a:lstStyle/>
                    <a:p>
                      <a:r>
                        <a:rPr sz="1100"/>
                        <a:t>$92,000</a:t>
                      </a:r>
                    </a:p>
                  </a:txBody>
                  <a:tcPr>
                    <a:solidFill>
                      <a:srgbClr val="E7E6E6"/>
                    </a:solidFill>
                  </a:tcPr>
                </a:tc>
              </a:tr>
              <a:tr h="370840">
                <a:tc>
                  <a:txBody>
                    <a:bodyPr/>
                    <a:lstStyle/>
                    <a:p>
                      <a:r>
                        <a:rPr sz="1100"/>
                        <a:t>Cloud Infrastructure</a:t>
                      </a:r>
                    </a:p>
                  </a:txBody>
                  <a:tcPr>
                    <a:solidFill>
                      <a:srgbClr val="E7E6E6"/>
                    </a:solidFill>
                  </a:tcPr>
                </a:tc>
                <a:tc>
                  <a:txBody>
                    <a:bodyPr/>
                    <a:lstStyle/>
                    <a:p>
                      <a:r>
                        <a:rPr sz="1100"/>
                        <a:t>$6,200</a:t>
                      </a:r>
                    </a:p>
                  </a:txBody>
                  <a:tcPr>
                    <a:solidFill>
                      <a:srgbClr val="E7E6E6"/>
                    </a:solidFill>
                  </a:tcPr>
                </a:tc>
                <a:tc>
                  <a:txBody>
                    <a:bodyPr/>
                    <a:lstStyle/>
                    <a:p>
                      <a:r>
                        <a:rPr sz="1100"/>
                        <a:t>$0</a:t>
                      </a:r>
                    </a:p>
                  </a:txBody>
                  <a:tcPr>
                    <a:solidFill>
                      <a:srgbClr val="E7E6E6"/>
                    </a:solidFill>
                  </a:tcPr>
                </a:tc>
                <a:tc>
                  <a:txBody>
                    <a:bodyPr/>
                    <a:lstStyle/>
                    <a:p>
                      <a:r>
                        <a:rPr sz="1100"/>
                        <a:t>$6,200</a:t>
                      </a:r>
                    </a:p>
                  </a:txBody>
                  <a:tcPr>
                    <a:solidFill>
                      <a:srgbClr val="E7E6E6"/>
                    </a:solidFill>
                  </a:tcPr>
                </a:tc>
                <a:tc>
                  <a:txBody>
                    <a:bodyPr/>
                    <a:lstStyle/>
                    <a:p>
                      <a:r>
                        <a:rPr sz="1100"/>
                        <a:t>$6,200</a:t>
                      </a:r>
                    </a:p>
                  </a:txBody>
                  <a:tcPr>
                    <a:solidFill>
                      <a:srgbClr val="E7E6E6"/>
                    </a:solidFill>
                  </a:tcPr>
                </a:tc>
                <a:tc>
                  <a:txBody>
                    <a:bodyPr/>
                    <a:lstStyle/>
                    <a:p>
                      <a:r>
                        <a:rPr sz="1100"/>
                        <a:t>$6,200</a:t>
                      </a:r>
                    </a:p>
                  </a:txBody>
                  <a:tcPr>
                    <a:solidFill>
                      <a:srgbClr val="E7E6E6"/>
                    </a:solidFill>
                  </a:tcPr>
                </a:tc>
                <a:tc>
                  <a:txBody>
                    <a:bodyPr/>
                    <a:lstStyle/>
                    <a:p>
                      <a:r>
                        <a:rPr sz="1100"/>
                        <a:t>$18,600</a:t>
                      </a:r>
                    </a:p>
                  </a:txBody>
                  <a:tcPr>
                    <a:solidFill>
                      <a:srgbClr val="E7E6E6"/>
                    </a:solidFill>
                  </a:tcPr>
                </a:tc>
              </a:tr>
              <a:tr h="370840">
                <a:tc>
                  <a:txBody>
                    <a:bodyPr/>
                    <a:lstStyle/>
                    <a:p>
                      <a:r>
                        <a:rPr sz="1100"/>
                        <a:t>Support &amp; Maintenance</a:t>
                      </a:r>
                    </a:p>
                  </a:txBody>
                  <a:tcPr>
                    <a:solidFill>
                      <a:srgbClr val="E7E6E6"/>
                    </a:solidFill>
                  </a:tcPr>
                </a:tc>
                <a:tc>
                  <a:txBody>
                    <a:bodyPr/>
                    <a:lstStyle/>
                    <a:p>
                      <a:r>
                        <a:rPr sz="1100"/>
                        <a:t>$1,524</a:t>
                      </a:r>
                    </a:p>
                  </a:txBody>
                  <a:tcPr>
                    <a:solidFill>
                      <a:srgbClr val="E7E6E6"/>
                    </a:solidFill>
                  </a:tcPr>
                </a:tc>
                <a:tc>
                  <a:txBody>
                    <a:bodyPr/>
                    <a:lstStyle/>
                    <a:p>
                      <a:r>
                        <a:rPr sz="1100"/>
                        <a:t>$0</a:t>
                      </a:r>
                    </a:p>
                  </a:txBody>
                  <a:tcPr>
                    <a:solidFill>
                      <a:srgbClr val="E7E6E6"/>
                    </a:solidFill>
                  </a:tcPr>
                </a:tc>
                <a:tc>
                  <a:txBody>
                    <a:bodyPr/>
                    <a:lstStyle/>
                    <a:p>
                      <a:r>
                        <a:rPr sz="1100"/>
                        <a:t>$1,524</a:t>
                      </a:r>
                    </a:p>
                  </a:txBody>
                  <a:tcPr>
                    <a:solidFill>
                      <a:srgbClr val="E7E6E6"/>
                    </a:solidFill>
                  </a:tcPr>
                </a:tc>
                <a:tc>
                  <a:txBody>
                    <a:bodyPr/>
                    <a:lstStyle/>
                    <a:p>
                      <a:r>
                        <a:rPr sz="1100"/>
                        <a:t>$1,524</a:t>
                      </a:r>
                    </a:p>
                  </a:txBody>
                  <a:tcPr>
                    <a:solidFill>
                      <a:srgbClr val="E7E6E6"/>
                    </a:solidFill>
                  </a:tcPr>
                </a:tc>
                <a:tc>
                  <a:txBody>
                    <a:bodyPr/>
                    <a:lstStyle/>
                    <a:p>
                      <a:r>
                        <a:rPr sz="1100"/>
                        <a:t>$1,524</a:t>
                      </a:r>
                    </a:p>
                  </a:txBody>
                  <a:tcPr>
                    <a:solidFill>
                      <a:srgbClr val="E7E6E6"/>
                    </a:solidFill>
                  </a:tcPr>
                </a:tc>
                <a:tc>
                  <a:txBody>
                    <a:bodyPr/>
                    <a:lstStyle/>
                    <a:p>
                      <a:r>
                        <a:rPr sz="1100"/>
                        <a:t>$4,572</a:t>
                      </a:r>
                    </a:p>
                  </a:txBody>
                  <a:tcPr>
                    <a:solidFill>
                      <a:srgbClr val="E7E6E6"/>
                    </a:solidFill>
                  </a:tcPr>
                </a:tc>
              </a:tr>
              <a:tr h="370840">
                <a:tc>
                  <a:txBody>
                    <a:bodyPr/>
                    <a:lstStyle/>
                    <a:p>
                      <a:r>
                        <a:rPr b="1" sz="1100"/>
                        <a:t>TOTAL</a:t>
                      </a:r>
                    </a:p>
                  </a:txBody>
                  <a:tcPr>
                    <a:solidFill>
                      <a:srgbClr val="E7E6E6"/>
                    </a:solidFill>
                  </a:tcPr>
                </a:tc>
                <a:tc>
                  <a:txBody>
                    <a:bodyPr/>
                    <a:lstStyle/>
                    <a:p>
                      <a:r>
                        <a:rPr b="1" sz="1100"/>
                        <a:t>$107,724</a:t>
                      </a:r>
                    </a:p>
                  </a:txBody>
                  <a:tcPr>
                    <a:solidFill>
                      <a:srgbClr val="E7E6E6"/>
                    </a:solidFill>
                  </a:tcPr>
                </a:tc>
                <a:tc>
                  <a:txBody>
                    <a:bodyPr/>
                    <a:lstStyle/>
                    <a:p>
                      <a:r>
                        <a:rPr b="1" sz="1100"/>
                        <a:t>($8,000)</a:t>
                      </a:r>
                    </a:p>
                  </a:txBody>
                  <a:tcPr>
                    <a:solidFill>
                      <a:srgbClr val="E7E6E6"/>
                    </a:solidFill>
                  </a:tcPr>
                </a:tc>
                <a:tc>
                  <a:txBody>
                    <a:bodyPr/>
                    <a:lstStyle/>
                    <a:p>
                      <a:r>
                        <a:rPr b="1" sz="1100"/>
                        <a:t>$99,724</a:t>
                      </a:r>
                    </a:p>
                  </a:txBody>
                  <a:tcPr>
                    <a:solidFill>
                      <a:srgbClr val="E7E6E6"/>
                    </a:solidFill>
                  </a:tcPr>
                </a:tc>
                <a:tc>
                  <a:txBody>
                    <a:bodyPr/>
                    <a:lstStyle/>
                    <a:p>
                      <a:r>
                        <a:rPr b="1" sz="1100"/>
                        <a:t>$7,724</a:t>
                      </a:r>
                    </a:p>
                  </a:txBody>
                  <a:tcPr>
                    <a:solidFill>
                      <a:srgbClr val="E7E6E6"/>
                    </a:solidFill>
                  </a:tcPr>
                </a:tc>
                <a:tc>
                  <a:txBody>
                    <a:bodyPr/>
                    <a:lstStyle/>
                    <a:p>
                      <a:r>
                        <a:rPr b="1" sz="1100"/>
                        <a:t>$7,724</a:t>
                      </a:r>
                    </a:p>
                  </a:txBody>
                  <a:tcPr>
                    <a:solidFill>
                      <a:srgbClr val="E7E6E6"/>
                    </a:solidFill>
                  </a:tcPr>
                </a:tc>
                <a:tc>
                  <a:txBody>
                    <a:bodyPr/>
                    <a:lstStyle/>
                    <a:p>
                      <a:r>
                        <a:rPr b="1" sz="1100"/>
                        <a:t>$115,172</a:t>
                      </a:r>
                    </a:p>
                  </a:txBody>
                  <a:tcPr>
                    <a:solidFill>
                      <a:srgbClr val="E7E6E6"/>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Azure DevOps Enterprise Platform</a:t>
            </a:r>
          </a:p>
        </p:txBody>
      </p:sp>
      <p:pic>
        <p:nvPicPr>
          <p:cNvPr id="6" name="Picture 5" descr="consulting_company_logo.png"/>
          <p:cNvPicPr>
            <a:picLocks noChangeAspect="1"/>
          </p:cNvPicPr>
          <p:nvPr/>
        </p:nvPicPr>
        <p:blipFill>
          <a:blip r:embed="rId2"/>
          <a:stretch>
            <a:fillRect/>
          </a:stretch>
        </p:blipFill>
        <p:spPr>
          <a:xfrm>
            <a:off x="313592" y="4536078"/>
            <a:ext cx="2126273" cy="52969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t>Next Steps</a:t>
            </a:r>
          </a:p>
        </p:txBody>
      </p:sp>
      <p:sp>
        <p:nvSpPr>
          <p:cNvPr id="4" name="Text Placeholder 3"/>
          <p:cNvSpPr>
            <a:spLocks noGrp="1"/>
          </p:cNvSpPr>
          <p:nvPr>
            <p:ph type="body" idx="14" sz="quarter"/>
          </p:nvPr>
        </p:nvSpPr>
        <p:spPr/>
        <p:txBody>
          <a:bodyPr/>
          <a:lstStyle/>
          <a:p>
            <a:pPr/>
            <a:r>
              <a:rPr b="1"/>
              <a:t>Decision:</a:t>
            </a:r>
            <a:r>
              <a:t> Confirm DevOps platform investment by [Target Date]</a:t>
            </a:r>
          </a:p>
          <a:p>
            <a:pPr/>
            <a:r>
              <a:rPr b="1"/>
              <a:t>Kickoff:</a:t>
            </a:r>
            <a:r>
              <a:t> Project start scheduled for [Start Date] with platform owner and pilot team</a:t>
            </a:r>
          </a:p>
          <a:p>
            <a:pPr/>
            <a:r>
              <a:rPr b="1"/>
              <a:t>Team Formation:</a:t>
            </a:r>
            <a:r>
              <a:t> Identify platform owner, pilot team lead, and security approver</a:t>
            </a:r>
          </a:p>
          <a:p>
            <a:pPr/>
            <a:r>
              <a:rPr b="1"/>
              <a:t>Week 1-2:</a:t>
            </a:r>
            <a:r>
              <a:t> Contract finalization, Azure DevOps organization setup, and stakeholder interviews</a:t>
            </a:r>
          </a:p>
          <a:p>
            <a:pPr/>
            <a:r>
              <a:rPr b="1"/>
              <a:t>Week 3-4:</a:t>
            </a:r>
            <a:r>
              <a:t> Pipeline strategy workshop and pilot project selection with first automated pipeline running</a:t>
            </a:r>
          </a:p>
        </p:txBody>
      </p:sp>
      <p:sp>
        <p:nvSpPr>
          <p:cNvPr id="5" name="Text Placeholder 4"/>
          <p:cNvSpPr>
            <a:spLocks noGrp="1"/>
          </p:cNvSpPr>
          <p:nvPr>
            <p:ph type="body" idx="15" sz="quarter"/>
          </p:nvPr>
        </p:nvSpPr>
        <p:spPr/>
        <p:txBody>
          <a:bodyPr/>
          <a:lstStyle/>
          <a:p>
            <a:pPr algn="r">
              <a:buNone/>
            </a:pPr>
            <a:r>
              <a:rPr sz="1100">
                <a:solidFill>
                  <a:srgbClr val="CC0000"/>
                </a:solidFill>
              </a:rPr>
              <a:t>Azure DevOps Enterprise Platform</a:t>
            </a:r>
          </a:p>
        </p:txBody>
      </p:sp>
      <p:pic>
        <p:nvPicPr>
          <p:cNvPr id="6" name="Picture 5" descr="consulting_company_logo.png"/>
          <p:cNvPicPr>
            <a:picLocks noChangeAspect="1"/>
          </p:cNvPicPr>
          <p:nvPr/>
        </p:nvPicPr>
        <p:blipFill>
          <a:blip r:embed="rId2"/>
          <a:stretch>
            <a:fillRect/>
          </a:stretch>
        </p:blipFill>
        <p:spPr>
          <a:xfrm>
            <a:off x="313593" y="4536078"/>
            <a:ext cx="2143858" cy="529698"/>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2" sz="quarter"/>
          </p:nvPr>
        </p:nvSpPr>
        <p:spPr/>
        <p:txBody>
          <a:bodyPr/>
          <a:lstStyle/>
          <a:p>
            <a:r>
              <a:t>Thank You</a:t>
            </a:r>
          </a:p>
        </p:txBody>
      </p:sp>
      <p:sp>
        <p:nvSpPr>
          <p:cNvPr id="5" name="Text Placeholder 4"/>
          <p:cNvSpPr>
            <a:spLocks noGrp="1"/>
          </p:cNvSpPr>
          <p:nvPr>
            <p:ph type="body" idx="14" sz="quarter"/>
          </p:nvPr>
        </p:nvSpPr>
        <p:spPr/>
        <p:txBody>
          <a:bodyPr/>
          <a:lstStyle/>
          <a:p/>
        </p:txBody>
      </p:sp>
      <p:sp>
        <p:nvSpPr>
          <p:cNvPr id="6" name="Text Placeholder 5"/>
          <p:cNvSpPr>
            <a:spLocks noGrp="1"/>
          </p:cNvSpPr>
          <p:nvPr>
            <p:ph type="body" idx="15" sz="quarter"/>
          </p:nvPr>
        </p:nvSpPr>
        <p:spPr/>
        <p:txBody>
          <a:bodyPr/>
          <a:lstStyle/>
          <a:p/>
        </p:txBody>
      </p:sp>
      <p:pic>
        <p:nvPicPr>
          <p:cNvPr id="7" name="Picture 6" descr="client_logo.png"/>
          <p:cNvPicPr>
            <a:picLocks noChangeAspect="1"/>
          </p:cNvPicPr>
          <p:nvPr/>
        </p:nvPicPr>
        <p:blipFill>
          <a:blip r:embed="rId2"/>
          <a:stretch>
            <a:fillRect/>
          </a:stretch>
        </p:blipFill>
        <p:spPr>
          <a:xfrm>
            <a:off x="2180492" y="171206"/>
            <a:ext cx="3978520" cy="1314694"/>
          </a:xfrm>
          <a:prstGeom prst="rect">
            <a:avLst/>
          </a:prstGeom>
        </p:spPr>
      </p:pic>
      <p:pic>
        <p:nvPicPr>
          <p:cNvPr id="8" name="Picture 7" descr="consulting_company_logo.png"/>
          <p:cNvPicPr>
            <a:picLocks noChangeAspect="1"/>
          </p:cNvPicPr>
          <p:nvPr/>
        </p:nvPicPr>
        <p:blipFill>
          <a:blip r:embed="rId3"/>
          <a:stretch>
            <a:fillRect/>
          </a:stretch>
        </p:blipFill>
        <p:spPr>
          <a:xfrm>
            <a:off x="313592" y="4536078"/>
            <a:ext cx="2164114" cy="529698"/>
          </a:xfrm>
          <a:prstGeom prst="rect">
            <a:avLst/>
          </a:prstGeom>
        </p:spPr>
      </p:pic>
      <p:pic>
        <p:nvPicPr>
          <p:cNvPr id="9" name="Picture 8" descr="eo-framework-logo-real.png"/>
          <p:cNvPicPr>
            <a:picLocks noChangeAspect="1"/>
          </p:cNvPicPr>
          <p:nvPr/>
        </p:nvPicPr>
        <p:blipFill>
          <a:blip r:embed="rId4"/>
          <a:stretch>
            <a:fillRect/>
          </a:stretch>
        </p:blipFill>
        <p:spPr>
          <a:xfrm>
            <a:off x="6684264" y="4535424"/>
            <a:ext cx="2139696" cy="530352"/>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439</TotalTime>
  <Words>42</Words>
  <Application>Microsoft Office PowerPoint</Application>
  <PresentationFormat>On-screen Show (16:9)</PresentationFormat>
  <Paragraphs>21</Paragraphs>
  <Slides>7</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EOFramework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EOFramework Template</dc:title>
  <dc:subject>PptxGenJS Presentation</dc:subject>
  <dc:creator>EOFramework</dc:creator>
  <cp:lastModifiedBy>Kishan Siram</cp:lastModifiedBy>
  <cp:revision>84</cp:revision>
  <dcterms:created xsi:type="dcterms:W3CDTF">2025-11-01T21:16:10Z</dcterms:created>
  <dcterms:modified xsi:type="dcterms:W3CDTF">2025-11-22T19:37:42Z</dcterms:modified>
</cp:coreProperties>
</file>