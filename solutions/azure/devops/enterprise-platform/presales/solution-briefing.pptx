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bin" ContentType="image/unknown"/>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9"/>
  </p:notesMasterIdLst>
  <p:sldIdLst>
    <p:sldId id="256" r:id="rId7"/>
    <p:sldId id="257" r:id="rId8"/>
    <p:sldId id="258" r:id="rId6"/>
    <p:sldId id="259" r:id="rId5"/>
    <p:sldId id="260" r:id="rId4"/>
    <p:sldId id="261" r:id="rId3"/>
    <p:sldId id="262" r:id="rId2"/>
    <p:sldId id="263" r:id="rId14"/>
    <p:sldId id="264" r:id="rId15"/>
    <p:sldId id="265" r:id="rId16"/>
    <p:sldId id="266" r:id="rId17"/>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01C0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5" d="100"/>
          <a:sy n="135" d="100"/>
        </p:scale>
        <p:origin x="380" y="3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7.xml"/><Relationship Id="rId3" Type="http://schemas.openxmlformats.org/officeDocument/2006/relationships/slide" Target="slides/slide6.xml"/><Relationship Id="rId4" Type="http://schemas.openxmlformats.org/officeDocument/2006/relationships/slide" Target="slides/slide5.xml"/><Relationship Id="rId5" Type="http://schemas.openxmlformats.org/officeDocument/2006/relationships/slide" Target="slides/slide4.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0167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bin"/></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O Title Slid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538528" y="1886679"/>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Presentation Title</a:t>
            </a: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1" y="4536078"/>
            <a:ext cx="2099897"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59473" y="2437679"/>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Subtitle Text</a:t>
            </a:r>
            <a:endParaRPr lang="en-US" sz="1800" dirty="0"/>
          </a:p>
        </p:txBody>
      </p:sp>
      <p:sp>
        <p:nvSpPr>
          <p:cNvPr id="12" name="Text Placeholder 11">
            <a:extLst>
              <a:ext uri="{FF2B5EF4-FFF2-40B4-BE49-F238E27FC236}">
                <a16:creationId xmlns:a16="http://schemas.microsoft.com/office/drawing/2014/main" id="{39F5D3C5-0033-51A7-77BC-7E3DBBF84F2E}"/>
              </a:ext>
            </a:extLst>
          </p:cNvPr>
          <p:cNvSpPr>
            <a:spLocks noGrp="1"/>
          </p:cNvSpPr>
          <p:nvPr>
            <p:ph type="body" sz="quarter" idx="15" hasCustomPrompt="1"/>
          </p:nvPr>
        </p:nvSpPr>
        <p:spPr>
          <a:xfrm>
            <a:off x="2734286" y="3631467"/>
            <a:ext cx="3605212" cy="33496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400">
                <a:latin typeface="Arial" panose="020B0604020202020204" pitchFamily="34" charset="0"/>
                <a:cs typeface="Arial" panose="020B0604020202020204" pitchFamily="34" charset="0"/>
              </a:defRPr>
            </a:lvl1pPr>
          </a:lstStyle>
          <a:p>
            <a:pPr lvl="0"/>
            <a:r>
              <a:rPr lang="en-US" sz="1400" dirty="0">
                <a:solidFill>
                  <a:srgbClr val="6C757D"/>
                </a:solidFill>
                <a:latin typeface="Arial" pitchFamily="34" charset="0"/>
                <a:cs typeface="Arial" pitchFamily="34" charset="-120"/>
              </a:rPr>
              <a:t>Presenter Name | Date</a:t>
            </a:r>
            <a:endParaRPr lang="en-US" dirty="0"/>
          </a:p>
        </p:txBody>
      </p:sp>
    </p:spTree>
    <p:extLst>
      <p:ext uri="{BB962C8B-B14F-4D97-AF65-F5344CB8AC3E}">
        <p14:creationId xmlns:p14="http://schemas.microsoft.com/office/powerpoint/2010/main" val="14114350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O Single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Slide Title</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p:nvPr>
        </p:nvSpPr>
        <p:spPr>
          <a:xfrm>
            <a:off x="296863" y="685601"/>
            <a:ext cx="8548687" cy="3811657"/>
          </a:xfrm>
          <a:prstGeom prst="rect">
            <a:avLst/>
          </a:prstGeom>
        </p:spPr>
        <p:txBody>
          <a:bodyPr/>
          <a:lstStyle>
            <a:lvl1pPr>
              <a:defRPr sz="2000" baseline="0">
                <a:solidFill>
                  <a:srgbClr val="C00000"/>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Tree>
    <p:extLst>
      <p:ext uri="{BB962C8B-B14F-4D97-AF65-F5344CB8AC3E}">
        <p14:creationId xmlns:p14="http://schemas.microsoft.com/office/powerpoint/2010/main" val="1046239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EO Bullet Points">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96863" y="0"/>
            <a:ext cx="8509304" cy="527008"/>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Bullet Points</a:t>
            </a:r>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3" y="4536078"/>
            <a:ext cx="2143858"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4" name="Text Placeholder 3">
            <a:extLst>
              <a:ext uri="{FF2B5EF4-FFF2-40B4-BE49-F238E27FC236}">
                <a16:creationId xmlns:a16="http://schemas.microsoft.com/office/drawing/2014/main" id="{54BEE1A0-720D-187D-95F8-429F3DF3D64E}"/>
              </a:ext>
            </a:extLst>
          </p:cNvPr>
          <p:cNvSpPr>
            <a:spLocks noGrp="1"/>
          </p:cNvSpPr>
          <p:nvPr>
            <p:ph type="body" sz="quarter" idx="14" hasCustomPrompt="1"/>
          </p:nvPr>
        </p:nvSpPr>
        <p:spPr>
          <a:xfrm>
            <a:off x="296863" y="685601"/>
            <a:ext cx="8548687" cy="3811657"/>
          </a:xfrm>
          <a:prstGeom prst="rect">
            <a:avLst/>
          </a:prstGeom>
        </p:spPr>
        <p:txBody>
          <a:bodyPr/>
          <a:lstStyle>
            <a:lvl1pPr>
              <a:defRPr sz="2000" baseline="0">
                <a:solidFill>
                  <a:schemeClr val="tx1"/>
                </a:solidFill>
              </a:defRPr>
            </a:lvl1pPr>
            <a:lvl2pPr>
              <a:buFont typeface="Arial" panose="020B0604020202020204" pitchFamily="34" charset="0"/>
              <a:buChar char="•"/>
              <a:defRPr sz="1600"/>
            </a:lvl2pPr>
            <a:lvl3pPr>
              <a:defRPr sz="1400"/>
            </a:lvl3pPr>
            <a:lvl4pPr>
              <a:buFont typeface="Arial" panose="020B0604020202020204" pitchFamily="34" charset="0"/>
              <a:buChar char="•"/>
              <a:defRPr sz="1200"/>
            </a:lvl4pPr>
          </a:lstStyle>
          <a:p>
            <a:pPr lvl="0"/>
            <a:r>
              <a:rPr lang="en-US" dirty="0"/>
              <a:t>Bullet Point 1</a:t>
            </a:r>
          </a:p>
          <a:p>
            <a:pPr lvl="0"/>
            <a:r>
              <a:rPr lang="en-US" dirty="0"/>
              <a:t>Bullet Point 2</a:t>
            </a:r>
          </a:p>
        </p:txBody>
      </p:sp>
    </p:spTree>
    <p:extLst>
      <p:ext uri="{BB962C8B-B14F-4D97-AF65-F5344CB8AC3E}">
        <p14:creationId xmlns:p14="http://schemas.microsoft.com/office/powerpoint/2010/main" val="10907377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EO Two Colum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530738"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Two Column Layout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21877" cy="529698"/>
          </a:xfrm>
          <a:prstGeom prst="rect">
            <a:avLst/>
          </a:prstGeom>
        </p:spPr>
        <p:txBody>
          <a:bodyPr/>
          <a:lstStyle/>
          <a:p>
            <a:endParaRPr lang="en-US" dirty="0"/>
          </a:p>
        </p:txBody>
      </p:sp>
      <p:sp>
        <p:nvSpPr>
          <p:cNvPr id="6" name="Text Placeholder 5">
            <a:extLst>
              <a:ext uri="{FF2B5EF4-FFF2-40B4-BE49-F238E27FC236}">
                <a16:creationId xmlns:a16="http://schemas.microsoft.com/office/drawing/2014/main" id="{229E4A97-A874-D6CA-E54C-5584536CAA7C}"/>
              </a:ext>
            </a:extLst>
          </p:cNvPr>
          <p:cNvSpPr>
            <a:spLocks noGrp="1"/>
          </p:cNvSpPr>
          <p:nvPr>
            <p:ph type="body" sz="quarter" idx="16" hasCustomPrompt="1"/>
          </p:nvPr>
        </p:nvSpPr>
        <p:spPr>
          <a:xfrm>
            <a:off x="193675" y="678433"/>
            <a:ext cx="4462463"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Left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Text Placeholder 12">
            <a:extLst>
              <a:ext uri="{FF2B5EF4-FFF2-40B4-BE49-F238E27FC236}">
                <a16:creationId xmlns:a16="http://schemas.microsoft.com/office/drawing/2014/main" id="{EF61ADBD-DA9D-A8A7-8FC3-64E82242B983}"/>
              </a:ext>
            </a:extLst>
          </p:cNvPr>
          <p:cNvSpPr>
            <a:spLocks noGrp="1"/>
          </p:cNvSpPr>
          <p:nvPr>
            <p:ph type="body" sz="quarter" idx="17" hasCustomPrompt="1"/>
          </p:nvPr>
        </p:nvSpPr>
        <p:spPr>
          <a:xfrm>
            <a:off x="4840288" y="678433"/>
            <a:ext cx="4110037" cy="3785515"/>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Right Column Sub title</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12437309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EO Table">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6855" y="39642"/>
            <a:ext cx="8710933" cy="527013"/>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2700">
                <a:latin typeface="Arial" panose="020B0604020202020204" pitchFamily="34" charset="0"/>
                <a:cs typeface="Arial" panose="020B0604020202020204" pitchFamily="34" charset="0"/>
              </a:defRPr>
            </a:lvl1pPr>
          </a:lstStyle>
          <a:p>
            <a:pPr marL="0" marR="0" lvl="0" indent="0" algn="l" defTabSz="914400" rtl="0" eaLnBrk="1" fontAlgn="auto" latinLnBrk="0" hangingPunct="1">
              <a:lnSpc>
                <a:spcPct val="100000"/>
              </a:lnSpc>
              <a:spcBef>
                <a:spcPct val="20000"/>
              </a:spcBef>
              <a:spcAft>
                <a:spcPts val="0"/>
              </a:spcAft>
              <a:buClrTx/>
              <a:buSzTx/>
              <a:buFont typeface="Arial" pitchFamily="34" charset="0"/>
              <a:buNone/>
              <a:tabLst/>
              <a:defRPr/>
            </a:pPr>
            <a:r>
              <a:rPr lang="en-US" sz="2700" b="1" dirty="0">
                <a:solidFill>
                  <a:srgbClr val="2C3E50"/>
                </a:solidFill>
                <a:latin typeface="Arial" pitchFamily="34" charset="0"/>
                <a:cs typeface="Arial" pitchFamily="34" charset="-120"/>
              </a:rPr>
              <a:t>Table</a:t>
            </a:r>
            <a:endParaRPr lang="en-US" sz="3200" dirty="0"/>
          </a:p>
          <a:p>
            <a:pPr lvl="0"/>
            <a:endParaRPr lang="en-US" dirty="0"/>
          </a:p>
        </p:txBody>
      </p:sp>
      <p:sp>
        <p:nvSpPr>
          <p:cNvPr id="12" name="Picture Placeholder 13">
            <a:extLst>
              <a:ext uri="{FF2B5EF4-FFF2-40B4-BE49-F238E27FC236}">
                <a16:creationId xmlns:a16="http://schemas.microsoft.com/office/drawing/2014/main" id="{2DB97592-C4D5-B315-7F11-AA14F6EE8A62}"/>
              </a:ext>
            </a:extLst>
          </p:cNvPr>
          <p:cNvSpPr>
            <a:spLocks noGrp="1"/>
          </p:cNvSpPr>
          <p:nvPr>
            <p:ph type="pic" sz="quarter" idx="13"/>
          </p:nvPr>
        </p:nvSpPr>
        <p:spPr>
          <a:xfrm>
            <a:off x="313592" y="4536078"/>
            <a:ext cx="2126273" cy="529698"/>
          </a:xfrm>
          <a:prstGeom prst="rect">
            <a:avLst/>
          </a:prstGeom>
        </p:spPr>
        <p:txBody>
          <a:bodyPr/>
          <a:lstStyle/>
          <a:p>
            <a:endParaRPr lang="en-US" dirty="0"/>
          </a:p>
        </p:txBody>
      </p:sp>
      <p:pic>
        <p:nvPicPr>
          <p:cNvPr id="13" name="Image 0" descr="/home/claude/eo-framework-logo.png">
            <a:extLst>
              <a:ext uri="{FF2B5EF4-FFF2-40B4-BE49-F238E27FC236}">
                <a16:creationId xmlns:a16="http://schemas.microsoft.com/office/drawing/2014/main" id="{25116040-BB88-891D-9118-628A78E99872}"/>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5" name="Table Placeholder 4">
            <a:extLst>
              <a:ext uri="{FF2B5EF4-FFF2-40B4-BE49-F238E27FC236}">
                <a16:creationId xmlns:a16="http://schemas.microsoft.com/office/drawing/2014/main" id="{D3D9E4F7-6B7D-2205-75B9-EE8C54E89A5F}"/>
              </a:ext>
            </a:extLst>
          </p:cNvPr>
          <p:cNvSpPr>
            <a:spLocks noGrp="1"/>
          </p:cNvSpPr>
          <p:nvPr>
            <p:ph type="tbl" sz="quarter" idx="14"/>
          </p:nvPr>
        </p:nvSpPr>
        <p:spPr>
          <a:xfrm>
            <a:off x="256855" y="677011"/>
            <a:ext cx="8710933" cy="3785084"/>
          </a:xfrm>
          <a:prstGeom prst="rect">
            <a:avLst/>
          </a:prstGeom>
        </p:spPr>
        <p:txBody>
          <a:bodyPr/>
          <a:lstStyle/>
          <a:p>
            <a:endParaRPr lang="en-US"/>
          </a:p>
        </p:txBody>
      </p:sp>
    </p:spTree>
    <p:extLst>
      <p:ext uri="{BB962C8B-B14F-4D97-AF65-F5344CB8AC3E}">
        <p14:creationId xmlns:p14="http://schemas.microsoft.com/office/powerpoint/2010/main" val="28148346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EO Visual Content">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7423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Visual Content</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30670" cy="529698"/>
          </a:xfrm>
          <a:prstGeom prst="rect">
            <a:avLst/>
          </a:prstGeom>
        </p:spPr>
        <p:txBody>
          <a:bodyPr/>
          <a:lstStyle/>
          <a:p>
            <a:endParaRPr lang="en-US" dirty="0"/>
          </a:p>
        </p:txBody>
      </p:sp>
      <p:sp>
        <p:nvSpPr>
          <p:cNvPr id="6" name="Picture Placeholder 5">
            <a:extLst>
              <a:ext uri="{FF2B5EF4-FFF2-40B4-BE49-F238E27FC236}">
                <a16:creationId xmlns:a16="http://schemas.microsoft.com/office/drawing/2014/main" id="{D4B682B8-2171-423F-A77B-10BADD07BC6C}"/>
              </a:ext>
            </a:extLst>
          </p:cNvPr>
          <p:cNvSpPr>
            <a:spLocks noGrp="1"/>
          </p:cNvSpPr>
          <p:nvPr>
            <p:ph type="pic" sz="quarter" idx="15"/>
          </p:nvPr>
        </p:nvSpPr>
        <p:spPr>
          <a:xfrm>
            <a:off x="4662488" y="685799"/>
            <a:ext cx="4337050" cy="3815859"/>
          </a:xfrm>
          <a:prstGeom prst="rect">
            <a:avLst/>
          </a:prstGeom>
        </p:spPr>
        <p:txBody>
          <a:bodyPr/>
          <a:lstStyle/>
          <a:p>
            <a:endParaRPr lang="en-US"/>
          </a:p>
        </p:txBody>
      </p:sp>
      <p:sp>
        <p:nvSpPr>
          <p:cNvPr id="5" name="Text Placeholder 4">
            <a:extLst>
              <a:ext uri="{FF2B5EF4-FFF2-40B4-BE49-F238E27FC236}">
                <a16:creationId xmlns:a16="http://schemas.microsoft.com/office/drawing/2014/main" id="{F1EE9992-B6F6-08BF-BFB5-6AF6BEDE367A}"/>
              </a:ext>
            </a:extLst>
          </p:cNvPr>
          <p:cNvSpPr>
            <a:spLocks noGrp="1"/>
          </p:cNvSpPr>
          <p:nvPr>
            <p:ph type="body" sz="quarter" idx="16"/>
          </p:nvPr>
        </p:nvSpPr>
        <p:spPr>
          <a:xfrm>
            <a:off x="92075" y="685800"/>
            <a:ext cx="4449763" cy="3815859"/>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9440596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EO Data Visualization">
    <p:spTree>
      <p:nvGrpSpPr>
        <p:cNvPr id="1" name=""/>
        <p:cNvGrpSpPr/>
        <p:nvPr/>
      </p:nvGrpSpPr>
      <p:grpSpPr>
        <a:xfrm>
          <a:off x="0" y="0"/>
          <a:ext cx="0" cy="0"/>
          <a:chOff x="0" y="0"/>
          <a:chExt cx="0" cy="0"/>
        </a:xfrm>
      </p:grpSpPr>
      <p:sp>
        <p:nvSpPr>
          <p:cNvPr id="3" name="Shape 1">
            <a:extLst>
              <a:ext uri="{FF2B5EF4-FFF2-40B4-BE49-F238E27FC236}">
                <a16:creationId xmlns:a16="http://schemas.microsoft.com/office/drawing/2014/main" id="{4EA828A1-D5D6-9ADA-1918-E5FE226673A0}"/>
              </a:ext>
            </a:extLst>
          </p:cNvPr>
          <p:cNvSpPr/>
          <p:nvPr userDrawn="1"/>
        </p:nvSpPr>
        <p:spPr>
          <a:xfrm>
            <a:off x="0" y="606304"/>
            <a:ext cx="9144000" cy="0"/>
          </a:xfrm>
          <a:prstGeom prst="line">
            <a:avLst/>
          </a:prstGeom>
          <a:noFill/>
          <a:ln w="28575">
            <a:solidFill>
              <a:srgbClr val="CC0000"/>
            </a:solidFill>
            <a:prstDash val="solid"/>
          </a:ln>
        </p:spPr>
        <p:txBody>
          <a:bodyPr/>
          <a:lstStyle/>
          <a:p>
            <a:endParaRPr lang="en-US"/>
          </a:p>
        </p:txBody>
      </p:sp>
      <p:sp>
        <p:nvSpPr>
          <p:cNvPr id="9" name="Text Placeholder 8">
            <a:extLst>
              <a:ext uri="{FF2B5EF4-FFF2-40B4-BE49-F238E27FC236}">
                <a16:creationId xmlns:a16="http://schemas.microsoft.com/office/drawing/2014/main" id="{980A86D4-478F-6846-9F0A-B815F2A3AB2D}"/>
              </a:ext>
            </a:extLst>
          </p:cNvPr>
          <p:cNvSpPr>
            <a:spLocks noGrp="1"/>
          </p:cNvSpPr>
          <p:nvPr>
            <p:ph type="body" sz="quarter" idx="10" hasCustomPrompt="1"/>
          </p:nvPr>
        </p:nvSpPr>
        <p:spPr>
          <a:xfrm>
            <a:off x="257174" y="7163"/>
            <a:ext cx="8640764" cy="527013"/>
          </a:xfrm>
          <a:prstGeom prst="rect">
            <a:avLst/>
          </a:prstGeom>
        </p:spPr>
        <p:txBody>
          <a:bodyP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700" b="1">
                <a:latin typeface="Arial" panose="020B0604020202020204" pitchFamily="34" charset="0"/>
                <a:cs typeface="Arial" panose="020B0604020202020204" pitchFamily="34" charset="0"/>
              </a:defRPr>
            </a:lvl1pPr>
          </a:lstStyle>
          <a:p>
            <a:pPr lvl="0"/>
            <a:r>
              <a:rPr lang="en-US" dirty="0"/>
              <a:t>Data Visualization</a:t>
            </a:r>
          </a:p>
        </p:txBody>
      </p:sp>
      <p:pic>
        <p:nvPicPr>
          <p:cNvPr id="8" name="Image 0" descr="/home/claude/eo-framework-logo.png">
            <a:extLst>
              <a:ext uri="{FF2B5EF4-FFF2-40B4-BE49-F238E27FC236}">
                <a16:creationId xmlns:a16="http://schemas.microsoft.com/office/drawing/2014/main" id="{4B7035C6-0EF1-6BD3-318E-553D1AAD6709}"/>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10" name="Picture Placeholder 13">
            <a:extLst>
              <a:ext uri="{FF2B5EF4-FFF2-40B4-BE49-F238E27FC236}">
                <a16:creationId xmlns:a16="http://schemas.microsoft.com/office/drawing/2014/main" id="{6A0FA445-7602-F06E-EC73-5504EBF827CC}"/>
              </a:ext>
            </a:extLst>
          </p:cNvPr>
          <p:cNvSpPr>
            <a:spLocks noGrp="1"/>
          </p:cNvSpPr>
          <p:nvPr>
            <p:ph type="pic" sz="quarter" idx="14"/>
          </p:nvPr>
        </p:nvSpPr>
        <p:spPr>
          <a:xfrm>
            <a:off x="313592" y="4536078"/>
            <a:ext cx="2104294" cy="529698"/>
          </a:xfrm>
          <a:prstGeom prst="rect">
            <a:avLst/>
          </a:prstGeom>
        </p:spPr>
        <p:txBody>
          <a:bodyPr/>
          <a:lstStyle/>
          <a:p>
            <a:endParaRPr lang="en-US" dirty="0"/>
          </a:p>
        </p:txBody>
      </p:sp>
      <p:sp>
        <p:nvSpPr>
          <p:cNvPr id="5" name="Chart Placeholder 4">
            <a:extLst>
              <a:ext uri="{FF2B5EF4-FFF2-40B4-BE49-F238E27FC236}">
                <a16:creationId xmlns:a16="http://schemas.microsoft.com/office/drawing/2014/main" id="{A686C49F-4337-BBE6-FF21-682B01E38601}"/>
              </a:ext>
            </a:extLst>
          </p:cNvPr>
          <p:cNvSpPr>
            <a:spLocks noGrp="1"/>
          </p:cNvSpPr>
          <p:nvPr>
            <p:ph type="chart" sz="quarter" idx="15"/>
          </p:nvPr>
        </p:nvSpPr>
        <p:spPr>
          <a:xfrm>
            <a:off x="4572000" y="685597"/>
            <a:ext cx="4325938" cy="3778347"/>
          </a:xfrm>
          <a:prstGeom prst="rect">
            <a:avLst/>
          </a:prstGeom>
        </p:spPr>
        <p:txBody>
          <a:bodyPr/>
          <a:lstStyle/>
          <a:p>
            <a:endParaRPr lang="en-US"/>
          </a:p>
        </p:txBody>
      </p:sp>
      <p:sp>
        <p:nvSpPr>
          <p:cNvPr id="6" name="Content Placeholder 5">
            <a:extLst>
              <a:ext uri="{FF2B5EF4-FFF2-40B4-BE49-F238E27FC236}">
                <a16:creationId xmlns:a16="http://schemas.microsoft.com/office/drawing/2014/main" id="{D0B730E7-C68E-A3E8-1745-8AF89C786D5F}"/>
              </a:ext>
            </a:extLst>
          </p:cNvPr>
          <p:cNvSpPr>
            <a:spLocks noGrp="1"/>
          </p:cNvSpPr>
          <p:nvPr>
            <p:ph sz="quarter" idx="16"/>
          </p:nvPr>
        </p:nvSpPr>
        <p:spPr>
          <a:xfrm>
            <a:off x="136525" y="678433"/>
            <a:ext cx="4237038" cy="3785513"/>
          </a:xfrm>
          <a:prstGeom prst="rect">
            <a:avLst/>
          </a:prstGeom>
        </p:spPr>
        <p:txBody>
          <a:bodyPr/>
          <a:lstStyle>
            <a:lvl1pPr>
              <a:defRPr sz="1800">
                <a:solidFill>
                  <a:srgbClr val="C00000"/>
                </a:solidFill>
              </a:defRPr>
            </a:lvl1pPr>
            <a:lvl2pPr>
              <a:defRPr sz="1400"/>
            </a:lvl2pPr>
            <a:lvl3pPr>
              <a:defRPr sz="12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73549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EO Thank You">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8D36A0E4-7374-4A92-CEC2-AC1CC29B855F}"/>
              </a:ext>
            </a:extLst>
          </p:cNvPr>
          <p:cNvSpPr>
            <a:spLocks noGrp="1"/>
          </p:cNvSpPr>
          <p:nvPr>
            <p:ph type="pic" sz="quarter" idx="10"/>
          </p:nvPr>
        </p:nvSpPr>
        <p:spPr>
          <a:xfrm>
            <a:off x="2180492" y="171206"/>
            <a:ext cx="3978520" cy="1314694"/>
          </a:xfrm>
          <a:prstGeom prst="rect">
            <a:avLst/>
          </a:prstGeom>
        </p:spPr>
        <p:txBody>
          <a:bodyPr/>
          <a:lstStyle/>
          <a:p>
            <a:endParaRPr lang="en-US" dirty="0"/>
          </a:p>
        </p:txBody>
      </p:sp>
      <p:pic>
        <p:nvPicPr>
          <p:cNvPr id="5" name="Image 0" descr="/home/claude/eo-framework-logo.png">
            <a:extLst>
              <a:ext uri="{FF2B5EF4-FFF2-40B4-BE49-F238E27FC236}">
                <a16:creationId xmlns:a16="http://schemas.microsoft.com/office/drawing/2014/main" id="{028AFAE3-D949-BFF8-132D-C3956962B6BC}"/>
              </a:ext>
            </a:extLst>
          </p:cNvPr>
          <p:cNvPicPr>
            <a:picLocks noChangeAspect="1"/>
          </p:cNvPicPr>
          <p:nvPr userDrawn="1"/>
        </p:nvPicPr>
        <p:blipFill>
          <a:blip r:embed="rId2"/>
          <a:stretch>
            <a:fillRect/>
          </a:stretch>
        </p:blipFill>
        <p:spPr>
          <a:xfrm>
            <a:off x="6945879" y="4648200"/>
            <a:ext cx="1952244" cy="417576"/>
          </a:xfrm>
          <a:prstGeom prst="rect">
            <a:avLst/>
          </a:prstGeom>
        </p:spPr>
      </p:pic>
      <p:sp>
        <p:nvSpPr>
          <p:cNvPr id="6" name="Text Placeholder 8">
            <a:extLst>
              <a:ext uri="{FF2B5EF4-FFF2-40B4-BE49-F238E27FC236}">
                <a16:creationId xmlns:a16="http://schemas.microsoft.com/office/drawing/2014/main" id="{ABC2FEB1-3552-40B4-D5D2-8C9A2DF4EF3E}"/>
              </a:ext>
            </a:extLst>
          </p:cNvPr>
          <p:cNvSpPr>
            <a:spLocks noGrp="1"/>
          </p:cNvSpPr>
          <p:nvPr>
            <p:ph type="body" sz="quarter" idx="12" hasCustomPrompt="1"/>
          </p:nvPr>
        </p:nvSpPr>
        <p:spPr>
          <a:xfrm>
            <a:off x="736356" y="2247927"/>
            <a:ext cx="7671288" cy="527050"/>
          </a:xfrm>
          <a:prstGeom prst="rect">
            <a:avLst/>
          </a:prstGeom>
        </p:spPr>
        <p:txBody>
          <a:bodyPr/>
          <a:lstStyle>
            <a:lvl1pPr marL="0" indent="0" algn="ctr">
              <a:lnSpc>
                <a:spcPts val="3600"/>
              </a:lnSpc>
              <a:buNone/>
              <a:defRPr sz="3600" b="1" i="0" baseline="0">
                <a:latin typeface="Arial" panose="020B0604020202020204" pitchFamily="34" charset="0"/>
              </a:defRPr>
            </a:lvl1pPr>
          </a:lstStyle>
          <a:p>
            <a:pPr marL="0" indent="0" algn="ctr">
              <a:lnSpc>
                <a:spcPts val="3600"/>
              </a:lnSpc>
              <a:buNone/>
            </a:pPr>
            <a:r>
              <a:rPr lang="en-US" sz="3600" b="1" dirty="0">
                <a:solidFill>
                  <a:srgbClr val="2C3E50"/>
                </a:solidFill>
                <a:latin typeface="Arial" pitchFamily="34" charset="0"/>
                <a:ea typeface="Arial" pitchFamily="34" charset="-122"/>
                <a:cs typeface="Arial" pitchFamily="34" charset="-120"/>
              </a:rPr>
              <a:t>Thank You</a:t>
            </a:r>
          </a:p>
          <a:p>
            <a:pPr marL="0" indent="0" algn="ctr">
              <a:lnSpc>
                <a:spcPts val="3600"/>
              </a:lnSpc>
              <a:buNone/>
            </a:pPr>
            <a:endParaRPr lang="en-US" sz="3600" dirty="0"/>
          </a:p>
        </p:txBody>
      </p:sp>
      <p:sp>
        <p:nvSpPr>
          <p:cNvPr id="7" name="Picture Placeholder 13">
            <a:extLst>
              <a:ext uri="{FF2B5EF4-FFF2-40B4-BE49-F238E27FC236}">
                <a16:creationId xmlns:a16="http://schemas.microsoft.com/office/drawing/2014/main" id="{86145EB1-48C8-058E-F657-82D57B579544}"/>
              </a:ext>
            </a:extLst>
          </p:cNvPr>
          <p:cNvSpPr>
            <a:spLocks noGrp="1"/>
          </p:cNvSpPr>
          <p:nvPr>
            <p:ph type="pic" sz="quarter" idx="13"/>
          </p:nvPr>
        </p:nvSpPr>
        <p:spPr>
          <a:xfrm>
            <a:off x="313592" y="4536078"/>
            <a:ext cx="2164114" cy="529698"/>
          </a:xfrm>
          <a:prstGeom prst="rect">
            <a:avLst/>
          </a:prstGeom>
        </p:spPr>
        <p:txBody>
          <a:bodyPr/>
          <a:lstStyle/>
          <a:p>
            <a:endParaRPr lang="en-US" dirty="0"/>
          </a:p>
        </p:txBody>
      </p:sp>
      <p:sp>
        <p:nvSpPr>
          <p:cNvPr id="8" name="Text 0">
            <a:extLst>
              <a:ext uri="{FF2B5EF4-FFF2-40B4-BE49-F238E27FC236}">
                <a16:creationId xmlns:a16="http://schemas.microsoft.com/office/drawing/2014/main" id="{D51056DC-8081-0916-0351-65D88D1682B8}"/>
              </a:ext>
            </a:extLst>
          </p:cNvPr>
          <p:cNvSpPr/>
          <p:nvPr userDrawn="1"/>
        </p:nvSpPr>
        <p:spPr>
          <a:xfrm>
            <a:off x="2224455" y="1676475"/>
            <a:ext cx="3886322" cy="45719"/>
          </a:xfrm>
          <a:prstGeom prst="roundRect">
            <a:avLst>
              <a:gd name="adj" fmla="val 50000"/>
            </a:avLst>
          </a:prstGeom>
          <a:solidFill>
            <a:srgbClr val="CC0000"/>
          </a:solidFill>
          <a:ln/>
        </p:spPr>
        <p:txBody>
          <a:bodyPr wrap="square" rtlCol="0" anchor="ctr"/>
          <a:lstStyle/>
          <a:p>
            <a:pPr marL="0" indent="0">
              <a:buNone/>
            </a:pPr>
            <a:endParaRPr lang="en-US" dirty="0"/>
          </a:p>
        </p:txBody>
      </p:sp>
      <p:sp>
        <p:nvSpPr>
          <p:cNvPr id="10" name="Text Placeholder 9">
            <a:extLst>
              <a:ext uri="{FF2B5EF4-FFF2-40B4-BE49-F238E27FC236}">
                <a16:creationId xmlns:a16="http://schemas.microsoft.com/office/drawing/2014/main" id="{DC531180-94E5-3403-56E5-895E003A9D72}"/>
              </a:ext>
            </a:extLst>
          </p:cNvPr>
          <p:cNvSpPr>
            <a:spLocks noGrp="1"/>
          </p:cNvSpPr>
          <p:nvPr>
            <p:ph type="body" sz="quarter" idx="14" hasCustomPrompt="1"/>
          </p:nvPr>
        </p:nvSpPr>
        <p:spPr>
          <a:xfrm>
            <a:off x="1024304" y="1874962"/>
            <a:ext cx="6629399"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a:latin typeface="Arial" panose="020B0604020202020204" pitchFamily="34" charset="0"/>
                <a:cs typeface="Arial" panose="020B0604020202020204" pitchFamily="34" charset="0"/>
              </a:defRPr>
            </a:lvl1pPr>
          </a:lstStyle>
          <a:p>
            <a:pPr marL="0" marR="0" lvl="0" indent="0" algn="ctr" defTabSz="914400" rtl="0" eaLnBrk="1" fontAlgn="auto" latinLnBrk="0" hangingPunct="1">
              <a:lnSpc>
                <a:spcPct val="100000"/>
              </a:lnSpc>
              <a:spcBef>
                <a:spcPct val="20000"/>
              </a:spcBef>
              <a:spcAft>
                <a:spcPts val="0"/>
              </a:spcAft>
              <a:buClrTx/>
              <a:buSzTx/>
              <a:buFont typeface="Arial" pitchFamily="34" charset="0"/>
              <a:buNone/>
              <a:tabLst/>
              <a:defRPr/>
            </a:pPr>
            <a:r>
              <a:rPr lang="en-US" sz="1800" dirty="0">
                <a:solidFill>
                  <a:srgbClr val="6C757D"/>
                </a:solidFill>
                <a:latin typeface="Arial" pitchFamily="34" charset="0"/>
                <a:ea typeface="Arial" pitchFamily="34" charset="-122"/>
                <a:cs typeface="Arial" pitchFamily="34" charset="-120"/>
              </a:rPr>
              <a:t>Questions?</a:t>
            </a:r>
            <a:endParaRPr lang="en-US" sz="1800" dirty="0"/>
          </a:p>
        </p:txBody>
      </p:sp>
      <p:sp>
        <p:nvSpPr>
          <p:cNvPr id="2" name="Text 3">
            <a:extLst>
              <a:ext uri="{FF2B5EF4-FFF2-40B4-BE49-F238E27FC236}">
                <a16:creationId xmlns:a16="http://schemas.microsoft.com/office/drawing/2014/main" id="{5727805F-2A15-11D3-243F-1AE09D6E973E}"/>
              </a:ext>
            </a:extLst>
          </p:cNvPr>
          <p:cNvSpPr/>
          <p:nvPr userDrawn="1"/>
        </p:nvSpPr>
        <p:spPr>
          <a:xfrm>
            <a:off x="3312808" y="4536078"/>
            <a:ext cx="2797969" cy="529698"/>
          </a:xfrm>
          <a:prstGeom prst="roundRect">
            <a:avLst>
              <a:gd name="adj" fmla="val 14286"/>
            </a:avLst>
          </a:prstGeom>
          <a:solidFill>
            <a:srgbClr val="F5F5F5"/>
          </a:solidFill>
          <a:ln/>
        </p:spPr>
        <p:txBody>
          <a:bodyPr wrap="square" rtlCol="0" anchor="ctr"/>
          <a:lstStyle/>
          <a:p>
            <a:pPr marL="0" indent="0">
              <a:buNone/>
            </a:pPr>
            <a:endParaRPr lang="en-US" dirty="0"/>
          </a:p>
        </p:txBody>
      </p:sp>
      <p:sp>
        <p:nvSpPr>
          <p:cNvPr id="3" name="Text 4">
            <a:extLst>
              <a:ext uri="{FF2B5EF4-FFF2-40B4-BE49-F238E27FC236}">
                <a16:creationId xmlns:a16="http://schemas.microsoft.com/office/drawing/2014/main" id="{1034B79E-463D-8396-409E-62C28A2DEB04}"/>
              </a:ext>
            </a:extLst>
          </p:cNvPr>
          <p:cNvSpPr/>
          <p:nvPr userDrawn="1"/>
        </p:nvSpPr>
        <p:spPr>
          <a:xfrm>
            <a:off x="3614735" y="4667577"/>
            <a:ext cx="2076688" cy="266700"/>
          </a:xfrm>
          <a:prstGeom prst="rect">
            <a:avLst/>
          </a:prstGeom>
          <a:noFill/>
          <a:ln/>
        </p:spPr>
        <p:txBody>
          <a:bodyPr wrap="square" lIns="0" tIns="0" rIns="0" bIns="0" rtlCol="0" anchor="t"/>
          <a:lstStyle/>
          <a:p>
            <a:pPr marL="0" indent="0" algn="ctr">
              <a:lnSpc>
                <a:spcPts val="2100"/>
              </a:lnSpc>
              <a:spcBef>
                <a:spcPts val="300"/>
              </a:spcBef>
              <a:spcAft>
                <a:spcPts val="300"/>
              </a:spcAft>
              <a:buNone/>
            </a:pPr>
            <a:r>
              <a:rPr lang="en-US" sz="1500" b="1" dirty="0">
                <a:solidFill>
                  <a:schemeClr val="bg2">
                    <a:lumMod val="75000"/>
                  </a:schemeClr>
                </a:solidFill>
                <a:latin typeface="Arial" pitchFamily="34" charset="0"/>
                <a:ea typeface="Arial" pitchFamily="34" charset="-122"/>
                <a:cs typeface="Arial" pitchFamily="34" charset="-120"/>
              </a:rPr>
              <a:t>www.eoframework.org</a:t>
            </a:r>
            <a:endParaRPr lang="en-US" sz="1500" dirty="0">
              <a:solidFill>
                <a:schemeClr val="bg2">
                  <a:lumMod val="75000"/>
                </a:schemeClr>
              </a:solidFill>
            </a:endParaRPr>
          </a:p>
        </p:txBody>
      </p:sp>
      <p:sp>
        <p:nvSpPr>
          <p:cNvPr id="16" name="Text Placeholder 9">
            <a:extLst>
              <a:ext uri="{FF2B5EF4-FFF2-40B4-BE49-F238E27FC236}">
                <a16:creationId xmlns:a16="http://schemas.microsoft.com/office/drawing/2014/main" id="{2DED039B-C555-DCF4-1CA7-CA1E44823784}"/>
              </a:ext>
            </a:extLst>
          </p:cNvPr>
          <p:cNvSpPr>
            <a:spLocks noGrp="1"/>
          </p:cNvSpPr>
          <p:nvPr>
            <p:ph type="body" sz="quarter" idx="15" hasCustomPrompt="1"/>
          </p:nvPr>
        </p:nvSpPr>
        <p:spPr>
          <a:xfrm>
            <a:off x="268165" y="3131272"/>
            <a:ext cx="8480181" cy="334598"/>
          </a:xfrm>
          <a:prstGeom prst="rect">
            <a:avLst/>
          </a:prstGeom>
        </p:spPr>
        <p:txBody>
          <a:bodyP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800" b="0">
                <a:solidFill>
                  <a:schemeClr val="tx1"/>
                </a:solidFill>
                <a:latin typeface="Arial" panose="020B0604020202020204" pitchFamily="34" charset="0"/>
                <a:cs typeface="Arial" panose="020B0604020202020204" pitchFamily="34" charset="0"/>
              </a:defRPr>
            </a:lvl1pPr>
          </a:lstStyle>
          <a:p>
            <a:pPr>
              <a:spcAft>
                <a:spcPts val="1200"/>
              </a:spcAft>
            </a:pPr>
            <a:r>
              <a:rPr lang="en-US" sz="1800" b="1" dirty="0">
                <a:solidFill>
                  <a:srgbClr val="000000"/>
                </a:solidFill>
              </a:rPr>
              <a:t>Account Manager:</a:t>
            </a:r>
            <a:r>
              <a:rPr lang="en-US" sz="1800" dirty="0">
                <a:solidFill>
                  <a:srgbClr val="000000"/>
                </a:solidFill>
              </a:rPr>
              <a:t> [Name, Title] | [Email] | [Phone]</a:t>
            </a:r>
          </a:p>
        </p:txBody>
      </p:sp>
    </p:spTree>
    <p:extLst>
      <p:ext uri="{BB962C8B-B14F-4D97-AF65-F5344CB8AC3E}">
        <p14:creationId xmlns:p14="http://schemas.microsoft.com/office/powerpoint/2010/main" val="382102005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 id="2147483653" r:id="rId2"/>
    <p:sldLayoutId id="2147483659" r:id="rId3"/>
    <p:sldLayoutId id="2147483654" r:id="rId4"/>
    <p:sldLayoutId id="2147483655" r:id="rId5"/>
    <p:sldLayoutId id="2147483656" r:id="rId6"/>
    <p:sldLayoutId id="2147483657" r:id="rId7"/>
    <p:sldLayoutId id="2147483658"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Solution Briefing</a:t>
            </a:r>
          </a:p>
        </p:txBody>
      </p:sp>
      <p:pic>
        <p:nvPicPr>
          <p:cNvPr id="4" name="Picture Placeholder 3" descr="consulting_company_logo.png"/>
          <p:cNvPicPr>
            <a:picLocks noGrp="1" noChangeAspect="1"/>
          </p:cNvPicPr>
          <p:nvPr>
            <p:ph type="pic" idx="13" sz="quarter"/>
          </p:nvPr>
        </p:nvPicPr>
        <p:blipFill>
          <a:blip r:embed="rId3"/>
          <a:srcRect t="5856" b="5856"/>
          <a:stretch>
            <a:fillRect/>
          </a:stretch>
        </p:blipFill>
        <p:spPr/>
      </p:pic>
      <p:sp>
        <p:nvSpPr>
          <p:cNvPr id="5" name="Text Placeholder 4"/>
          <p:cNvSpPr>
            <a:spLocks noGrp="1"/>
          </p:cNvSpPr>
          <p:nvPr>
            <p:ph type="body" idx="14" sz="quarter"/>
          </p:nvPr>
        </p:nvSpPr>
        <p:spPr/>
        <p:txBody>
          <a:bodyPr/>
          <a:lstStyle/>
          <a:p>
            <a:r>
              <a:t>Azure DevOps Enterprise Platform</a:t>
            </a:r>
          </a:p>
        </p:txBody>
      </p:sp>
      <p:sp>
        <p:nvSpPr>
          <p:cNvPr id="6" name="Text Placeholder 5"/>
          <p:cNvSpPr>
            <a:spLocks noGrp="1"/>
          </p:cNvSpPr>
          <p:nvPr>
            <p:ph type="body" idx="15" sz="quarter"/>
          </p:nvPr>
        </p:nvSpPr>
        <p:spPr/>
        <p:txBody>
          <a:bodyPr/>
          <a:lstStyle/>
          <a:p>
            <a:r>
              <a:t>Alison Smith | November 18, 2025</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Business Opportunity</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Opportunity</a:t>
            </a:r>
          </a:p>
          <a:p>
            <a:pPr lvl="1"/>
            <a:r>
              <a:t>Reduce time-to-market with automated build and release pipelines that eliminate manual deployment bottlenecks</a:t>
            </a:r>
          </a:p>
          <a:p>
            <a:pPr lvl="1"/>
            <a:r>
              <a:t>Improve team productivity through centralized code management and streamlined collaboration workflows</a:t>
            </a:r>
          </a:p>
          <a:p>
            <a:pPr lvl="1"/>
            <a:r>
              <a:t>Increase software quality and reliability with consistent testing and deployment practices across all projects</a:t>
            </a:r>
          </a:p>
        </p:txBody>
      </p:sp>
      <p:sp>
        <p:nvSpPr>
          <p:cNvPr id="5" name="Text Placeholder 4"/>
          <p:cNvSpPr>
            <a:spLocks noGrp="1"/>
          </p:cNvSpPr>
          <p:nvPr>
            <p:ph type="body" idx="17" sz="quarter"/>
          </p:nvPr>
        </p:nvSpPr>
        <p:spPr/>
        <p:txBody>
          <a:bodyPr/>
          <a:lstStyle/>
          <a:p>
            <a:pPr/>
            <a:r>
              <a:rPr b="1"/>
              <a:t>Success Criteria</a:t>
            </a:r>
          </a:p>
          <a:p>
            <a:pPr lvl="1"/>
            <a:r>
              <a:t>Achieve 70% reduction in deployment time within 6 months with fully automated pipelines</a:t>
            </a:r>
          </a:p>
          <a:p>
            <a:pPr lvl="1"/>
            <a:r>
              <a:t>Standardize development practices across all teams with 100% adoption of unified tooling</a:t>
            </a:r>
          </a:p>
          <a:p>
            <a:pPr lvl="1"/>
            <a:r>
              <a:t>Establish foundation for continuous delivery enabling multiple production releases per day</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Engagement Scope</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3337560"/>
        </p:xfrm>
        <a:graphic>
          <a:graphicData uri="http://schemas.openxmlformats.org/drawingml/2006/table">
            <a:tbl>
              <a:tblPr firstRow="1" bandRow="1">
                <a:tableStyleId>{5C22544A-7EE6-4342-B048-85BDC9FD1C3A}</a:tableStyleId>
              </a:tblPr>
              <a:tblGrid>
                <a:gridCol w="1567967"/>
                <a:gridCol w="2526170"/>
                <a:gridCol w="435546"/>
                <a:gridCol w="1567967"/>
                <a:gridCol w="2613279"/>
              </a:tblGrid>
              <a:tr h="370840">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c>
                  <a:txBody>
                    <a:bodyPr/>
                    <a:lstStyle/>
                    <a:p/>
                  </a:txBody>
                  <a:tcPr>
                    <a:solidFill>
                      <a:srgbClr val="FFFFFF"/>
                    </a:solidFill>
                    <a:lnL w="12700">
                      <a:solidFill>
                        <a:srgbClr val="D0D0D0"/>
                      </a:solidFill>
                    </a:lnL>
                  </a:tcPr>
                </a:tc>
                <a:tc>
                  <a:txBody>
                    <a:bodyPr/>
                    <a:lstStyle/>
                    <a:p>
                      <a:r>
                        <a:rPr sz="1400">
                          <a:solidFill>
                            <a:srgbClr val="FFFFFF"/>
                          </a:solidFill>
                        </a:rPr>
                        <a:t>Parameter</a:t>
                      </a:r>
                    </a:p>
                  </a:txBody>
                  <a:tcPr>
                    <a:solidFill>
                      <a:srgbClr val="A01C02"/>
                    </a:solidFill>
                  </a:tcPr>
                </a:tc>
                <a:tc>
                  <a:txBody>
                    <a:bodyPr/>
                    <a:lstStyle/>
                    <a:p>
                      <a:r>
                        <a:rPr sz="1400">
                          <a:solidFill>
                            <a:srgbClr val="FFFFFF"/>
                          </a:solidFill>
                        </a:rPr>
                        <a:t>Scope</a:t>
                      </a:r>
                    </a:p>
                  </a:txBody>
                  <a:tcPr>
                    <a:solidFill>
                      <a:srgbClr val="A01C02"/>
                    </a:solidFill>
                  </a:tcPr>
                </a:tc>
              </a:tr>
              <a:tr h="370840">
                <a:tc>
                  <a:txBody>
                    <a:bodyPr/>
                    <a:lstStyle/>
                    <a:p>
                      <a:r>
                        <a:rPr b="1" sz="1100"/>
                        <a:t>Projects/Repositories</a:t>
                      </a:r>
                    </a:p>
                  </a:txBody>
                  <a:tcPr>
                    <a:solidFill>
                      <a:srgbClr val="E7E6E6"/>
                    </a:solidFill>
                  </a:tcPr>
                </a:tc>
                <a:tc>
                  <a:txBody>
                    <a:bodyPr/>
                    <a:lstStyle/>
                    <a:p>
                      <a:r>
                        <a:rPr sz="1100"/>
                        <a:t>10-20 repositories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Regions</a:t>
                      </a:r>
                    </a:p>
                  </a:txBody>
                  <a:tcPr>
                    <a:solidFill>
                      <a:srgbClr val="E7E6E6"/>
                    </a:solidFill>
                  </a:tcPr>
                </a:tc>
                <a:tc>
                  <a:txBody>
                    <a:bodyPr/>
                    <a:lstStyle/>
                    <a:p>
                      <a:r>
                        <a:rPr sz="1100"/>
                        <a:t>Single Azure region</a:t>
                      </a:r>
                    </a:p>
                  </a:txBody>
                  <a:tcPr>
                    <a:solidFill>
                      <a:srgbClr val="E7E6E6"/>
                    </a:solidFill>
                  </a:tcPr>
                </a:tc>
              </a:tr>
              <a:tr h="370840">
                <a:tc>
                  <a:txBody>
                    <a:bodyPr/>
                    <a:lstStyle/>
                    <a:p>
                      <a:r>
                        <a:rPr b="1" sz="1100"/>
                        <a:t>CI/CD Pipelines</a:t>
                      </a:r>
                    </a:p>
                  </a:txBody>
                  <a:tcPr>
                    <a:solidFill>
                      <a:srgbClr val="E7E6E6"/>
                    </a:solidFill>
                  </a:tcPr>
                </a:tc>
                <a:tc>
                  <a:txBody>
                    <a:bodyPr/>
                    <a:lstStyle/>
                    <a:p>
                      <a:r>
                        <a:rPr sz="1100"/>
                        <a:t>25-50 pipelines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Availability Requirements</a:t>
                      </a:r>
                    </a:p>
                  </a:txBody>
                  <a:tcPr>
                    <a:solidFill>
                      <a:srgbClr val="E7E6E6"/>
                    </a:solidFill>
                  </a:tcPr>
                </a:tc>
                <a:tc>
                  <a:txBody>
                    <a:bodyPr/>
                    <a:lstStyle/>
                    <a:p>
                      <a:r>
                        <a:rPr sz="1100"/>
                        <a:t>Standard (99.5%)</a:t>
                      </a:r>
                    </a:p>
                  </a:txBody>
                  <a:tcPr>
                    <a:solidFill>
                      <a:srgbClr val="E7E6E6"/>
                    </a:solidFill>
                  </a:tcPr>
                </a:tc>
              </a:tr>
              <a:tr h="370840">
                <a:tc>
                  <a:txBody>
                    <a:bodyPr/>
                    <a:lstStyle/>
                    <a:p>
                      <a:r>
                        <a:rPr b="1" sz="1100"/>
                        <a:t>External Integrations</a:t>
                      </a:r>
                    </a:p>
                  </a:txBody>
                  <a:tcPr>
                    <a:solidFill>
                      <a:srgbClr val="E7E6E6"/>
                    </a:solidFill>
                  </a:tcPr>
                </a:tc>
                <a:tc>
                  <a:txBody>
                    <a:bodyPr/>
                    <a:lstStyle/>
                    <a:p>
                      <a:r>
                        <a:rPr sz="1100"/>
                        <a:t>GitHub SonarQube Artifactory</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Infrastructure Complexity</a:t>
                      </a:r>
                    </a:p>
                  </a:txBody>
                  <a:tcPr>
                    <a:solidFill>
                      <a:srgbClr val="E7E6E6"/>
                    </a:solidFill>
                  </a:tcPr>
                </a:tc>
                <a:tc>
                  <a:txBody>
                    <a:bodyPr/>
                    <a:lstStyle/>
                    <a:p>
                      <a:r>
                        <a:rPr sz="1100"/>
                        <a:t>Azure DevOps + self-hosted agents</a:t>
                      </a:r>
                    </a:p>
                  </a:txBody>
                  <a:tcPr>
                    <a:solidFill>
                      <a:srgbClr val="E7E6E6"/>
                    </a:solidFill>
                  </a:tcPr>
                </a:tc>
              </a:tr>
              <a:tr h="370840">
                <a:tc>
                  <a:txBody>
                    <a:bodyPr/>
                    <a:lstStyle/>
                    <a:p>
                      <a:r>
                        <a:rPr b="1" sz="1100"/>
                        <a:t>Deployment Targets</a:t>
                      </a:r>
                    </a:p>
                  </a:txBody>
                  <a:tcPr>
                    <a:solidFill>
                      <a:srgbClr val="E7E6E6"/>
                    </a:solidFill>
                  </a:tcPr>
                </a:tc>
                <a:tc>
                  <a:txBody>
                    <a:bodyPr/>
                    <a:lstStyle/>
                    <a:p>
                      <a:r>
                        <a:rPr sz="1100"/>
                        <a:t>Azure Kubernetes Service VMs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Security Requirements</a:t>
                      </a:r>
                    </a:p>
                  </a:txBody>
                  <a:tcPr>
                    <a:solidFill>
                      <a:srgbClr val="E7E6E6"/>
                    </a:solidFill>
                  </a:tcPr>
                </a:tc>
                <a:tc>
                  <a:txBody>
                    <a:bodyPr/>
                    <a:lstStyle/>
                    <a:p>
                      <a:r>
                        <a:rPr sz="1100"/>
                        <a:t>Service connections branch policies</a:t>
                      </a:r>
                    </a:p>
                  </a:txBody>
                  <a:tcPr>
                    <a:solidFill>
                      <a:srgbClr val="E7E6E6"/>
                    </a:solidFill>
                  </a:tcPr>
                </a:tc>
              </a:tr>
              <a:tr h="370840">
                <a:tc>
                  <a:txBody>
                    <a:bodyPr/>
                    <a:lstStyle/>
                    <a:p>
                      <a:r>
                        <a:rPr b="1" sz="1100"/>
                        <a:t>Total Users</a:t>
                      </a:r>
                    </a:p>
                  </a:txBody>
                  <a:tcPr>
                    <a:solidFill>
                      <a:srgbClr val="E7E6E6"/>
                    </a:solidFill>
                  </a:tcPr>
                </a:tc>
                <a:tc>
                  <a:txBody>
                    <a:bodyPr/>
                    <a:lstStyle/>
                    <a:p>
                      <a:r>
                        <a:rPr sz="1100"/>
                        <a:t>50 developers</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Compliance Frameworks</a:t>
                      </a:r>
                    </a:p>
                  </a:txBody>
                  <a:tcPr>
                    <a:solidFill>
                      <a:srgbClr val="E7E6E6"/>
                    </a:solidFill>
                  </a:tcPr>
                </a:tc>
                <a:tc>
                  <a:txBody>
                    <a:bodyPr/>
                    <a:lstStyle/>
                    <a:p>
                      <a:r>
                        <a:rPr sz="1100"/>
                        <a:t>SOC2</a:t>
                      </a:r>
                    </a:p>
                  </a:txBody>
                  <a:tcPr>
                    <a:solidFill>
                      <a:srgbClr val="E7E6E6"/>
                    </a:solidFill>
                  </a:tcPr>
                </a:tc>
              </a:tr>
              <a:tr h="370840">
                <a:tc>
                  <a:txBody>
                    <a:bodyPr/>
                    <a:lstStyle/>
                    <a:p>
                      <a:r>
                        <a:rPr b="1" sz="1100"/>
                        <a:t>User Roles</a:t>
                      </a:r>
                    </a:p>
                  </a:txBody>
                  <a:tcPr>
                    <a:solidFill>
                      <a:srgbClr val="E7E6E6"/>
                    </a:solidFill>
                  </a:tcPr>
                </a:tc>
                <a:tc>
                  <a:txBody>
                    <a:bodyPr/>
                    <a:lstStyle/>
                    <a:p>
                      <a:r>
                        <a:rPr sz="1100"/>
                        <a:t>4 roles (dev lead ops admin)</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Build Performance</a:t>
                      </a:r>
                    </a:p>
                  </a:txBody>
                  <a:tcPr>
                    <a:solidFill>
                      <a:srgbClr val="E7E6E6"/>
                    </a:solidFill>
                  </a:tcPr>
                </a:tc>
                <a:tc>
                  <a:txBody>
                    <a:bodyPr/>
                    <a:lstStyle/>
                    <a:p>
                      <a:r>
                        <a:rPr sz="1100"/>
                        <a:t>Standard build times</a:t>
                      </a:r>
                    </a:p>
                  </a:txBody>
                  <a:tcPr>
                    <a:solidFill>
                      <a:srgbClr val="E7E6E6"/>
                    </a:solidFill>
                  </a:tcPr>
                </a:tc>
              </a:tr>
              <a:tr h="370840">
                <a:tc>
                  <a:txBody>
                    <a:bodyPr/>
                    <a:lstStyle/>
                    <a:p>
                      <a:r>
                        <a:rPr b="1" sz="1100"/>
                        <a:t>Build Artifacts</a:t>
                      </a:r>
                    </a:p>
                  </a:txBody>
                  <a:tcPr>
                    <a:solidFill>
                      <a:srgbClr val="E7E6E6"/>
                    </a:solidFill>
                  </a:tcPr>
                </a:tc>
                <a:tc>
                  <a:txBody>
                    <a:bodyPr/>
                    <a:lstStyle/>
                    <a:p>
                      <a:r>
                        <a:rPr sz="1100"/>
                        <a:t>100 GB storage</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Frequency</a:t>
                      </a:r>
                    </a:p>
                  </a:txBody>
                  <a:tcPr>
                    <a:solidFill>
                      <a:srgbClr val="E7E6E6"/>
                    </a:solidFill>
                  </a:tcPr>
                </a:tc>
                <a:tc>
                  <a:txBody>
                    <a:bodyPr/>
                    <a:lstStyle/>
                    <a:p>
                      <a:r>
                        <a:rPr sz="1100"/>
                        <a:t>Daily deployments</a:t>
                      </a:r>
                    </a:p>
                  </a:txBody>
                  <a:tcPr>
                    <a:solidFill>
                      <a:srgbClr val="E7E6E6"/>
                    </a:solidFill>
                  </a:tcPr>
                </a:tc>
              </a:tr>
              <a:tr h="370840">
                <a:tc>
                  <a:txBody>
                    <a:bodyPr/>
                    <a:lstStyle/>
                    <a:p>
                      <a:r>
                        <a:rPr b="1" sz="1100"/>
                        <a:t>Pipeline Runs</a:t>
                      </a:r>
                    </a:p>
                  </a:txBody>
                  <a:tcPr>
                    <a:solidFill>
                      <a:srgbClr val="E7E6E6"/>
                    </a:solidFill>
                  </a:tcPr>
                </a:tc>
                <a:tc>
                  <a:txBody>
                    <a:bodyPr/>
                    <a:lstStyle/>
                    <a:p>
                      <a:r>
                        <a:rPr sz="1100"/>
                        <a:t>500 runs/month</a:t>
                      </a:r>
                    </a:p>
                  </a:txBody>
                  <a:tcPr>
                    <a:solidFill>
                      <a:srgbClr val="E7E6E6"/>
                    </a:solidFill>
                  </a:tcPr>
                </a:tc>
                <a:tc>
                  <a:txBody>
                    <a:bodyPr/>
                    <a:lstStyle/>
                    <a:p/>
                  </a:txBody>
                  <a:tcPr>
                    <a:solidFill>
                      <a:srgbClr val="FFFFFF"/>
                    </a:solidFill>
                    <a:lnL w="12700">
                      <a:solidFill>
                        <a:srgbClr val="D0D0D0"/>
                      </a:solidFill>
                    </a:lnL>
                  </a:tcPr>
                </a:tc>
                <a:tc>
                  <a:txBody>
                    <a:bodyPr/>
                    <a:lstStyle/>
                    <a:p>
                      <a:r>
                        <a:rPr b="1" sz="1100"/>
                        <a:t>Deployment Environments</a:t>
                      </a:r>
                    </a:p>
                  </a:txBody>
                  <a:tcPr>
                    <a:solidFill>
                      <a:srgbClr val="E7E6E6"/>
                    </a:solidFill>
                  </a:tcPr>
                </a:tc>
                <a:tc>
                  <a:txBody>
                    <a:bodyPr/>
                    <a:lstStyle/>
                    <a:p>
                      <a:r>
                        <a:rPr sz="1100"/>
                        <a:t>3 environments (dev staging prod)</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Solution Overview</a:t>
            </a:r>
          </a:p>
        </p:txBody>
      </p:sp>
      <p:pic>
        <p:nvPicPr>
          <p:cNvPr id="3" name="Picture Placeholder 2" descr="consulting_company_logo.png"/>
          <p:cNvPicPr>
            <a:picLocks noGrp="1" noChangeAspect="1"/>
          </p:cNvPicPr>
          <p:nvPr>
            <p:ph type="pic" idx="14" sz="quarter"/>
          </p:nvPr>
        </p:nvPicPr>
        <p:blipFill>
          <a:blip r:embed="rId2"/>
          <a:srcRect t="6494" b="6494"/>
          <a:stretch>
            <a:fillRect/>
          </a:stretch>
        </p:blipFill>
        <p:spPr/>
      </p:pic>
      <p:sp>
        <p:nvSpPr>
          <p:cNvPr id="4" name="Picture Placeholder 3"/>
          <p:cNvSpPr>
            <a:spLocks noGrp="1"/>
          </p:cNvSpPr>
          <p:nvPr>
            <p:ph type="pic" idx="15" sz="quarter"/>
          </p:nvPr>
        </p:nvSpPr>
        <p:spPr/>
      </p:sp>
      <p:sp>
        <p:nvSpPr>
          <p:cNvPr id="5" name="Text Placeholder 4"/>
          <p:cNvSpPr>
            <a:spLocks noGrp="1"/>
          </p:cNvSpPr>
          <p:nvPr>
            <p:ph type="body" idx="16" sz="quarter"/>
          </p:nvPr>
        </p:nvSpPr>
        <p:spPr/>
        <p:txBody>
          <a:bodyPr/>
          <a:lstStyle/>
          <a:p>
            <a:pPr/>
            <a:r>
              <a:rPr b="1"/>
              <a:t>Key Components</a:t>
            </a:r>
          </a:p>
          <a:p>
            <a:pPr lvl="1"/>
            <a:r>
              <a:rPr b="1"/>
              <a:t>Azure DevOps Services:</a:t>
            </a:r>
            <a:r>
              <a:t> Central hub for project management, code repositories, and pipeline orchestration</a:t>
            </a:r>
          </a:p>
          <a:p>
            <a:pPr lvl="1"/>
            <a:r>
              <a:rPr b="1"/>
              <a:t>Azure Pipelines:</a:t>
            </a:r>
            <a:r>
              <a:t> Automated build, test, and deployment workflows with multi-stage release management</a:t>
            </a:r>
          </a:p>
          <a:p>
            <a:pPr lvl="1"/>
            <a:r>
              <a:rPr b="1"/>
              <a:t>Azure Repos &amp; Artifacts:</a:t>
            </a:r>
            <a:r>
              <a:t> Version control for source code with centralized package management</a:t>
            </a:r>
          </a:p>
          <a:p>
            <a:pPr/>
            <a:r>
              <a:rPr b="1"/>
              <a:t>Technology Stack</a:t>
            </a:r>
          </a:p>
          <a:p>
            <a:pPr lvl="1"/>
            <a:r>
              <a:t>Platform: Azure DevOps Services</a:t>
            </a:r>
          </a:p>
          <a:p>
            <a:pPr lvl="1"/>
            <a:r>
              <a:t>Source Control: Git with Azure Repos</a:t>
            </a:r>
          </a:p>
          <a:p>
            <a:pPr lvl="1"/>
            <a:r>
              <a:t>Build Automation: YAML-based Azure Pipelines</a:t>
            </a:r>
          </a:p>
          <a:p>
            <a:pPr lvl="1"/>
            <a:r>
              <a:t>Package Management: Azure Artifacts feeds</a:t>
            </a:r>
          </a:p>
        </p:txBody>
      </p:sp>
      <p:pic>
        <p:nvPicPr>
          <p:cNvPr id="6" name="Picture 5" descr="architecture-diagram.png"/>
          <p:cNvPicPr>
            <a:picLocks noChangeAspect="1"/>
          </p:cNvPicPr>
          <p:nvPr/>
        </p:nvPicPr>
        <p:blipFill>
          <a:blip r:embed="rId4"/>
          <a:stretch>
            <a:fillRect/>
          </a:stretch>
        </p:blipFill>
        <p:spPr>
          <a:xfrm>
            <a:off x="4662488" y="1238400"/>
            <a:ext cx="4337050" cy="2710656"/>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Implementation Approach</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Phase 1: Assessment &amp; Planning</a:t>
            </a:r>
            <a:r>
              <a:t> (Months 1-2)</a:t>
            </a:r>
          </a:p>
          <a:p>
            <a:pPr lvl="1"/>
            <a:r>
              <a:t>Current development workflow analysis and tool inventory assessment</a:t>
            </a:r>
          </a:p>
          <a:p>
            <a:pPr lvl="1"/>
            <a:r>
              <a:t>Pipeline strategy design and branching standards definition</a:t>
            </a:r>
          </a:p>
          <a:p>
            <a:pPr lvl="1"/>
            <a:r>
              <a:t>Azure DevOps organization structure and security configuration</a:t>
            </a:r>
          </a:p>
          <a:p>
            <a:pPr/>
            <a:r>
              <a:rPr b="1"/>
              <a:t>Phase 2: Core Platform Setup</a:t>
            </a:r>
            <a:r>
              <a:t> (Months 3-4)</a:t>
            </a:r>
          </a:p>
          <a:p>
            <a:pPr lvl="1"/>
            <a:r>
              <a:t>Azure Repos migration with Git history preservation</a:t>
            </a:r>
          </a:p>
          <a:p>
            <a:pPr lvl="1"/>
            <a:r>
              <a:t>Azure Pipelines templates for build and release automation</a:t>
            </a:r>
          </a:p>
          <a:p>
            <a:pPr lvl="1"/>
            <a:r>
              <a:t>Azure Artifacts feeds and package management setup</a:t>
            </a:r>
          </a:p>
          <a:p>
            <a:pPr/>
            <a:r>
              <a:rPr b="1"/>
              <a:t>Phase 3: Optimization &amp; Adoption</a:t>
            </a:r>
            <a:r>
              <a:t> (Months 5-6)</a:t>
            </a:r>
          </a:p>
          <a:p>
            <a:pPr lvl="1"/>
            <a:r>
              <a:t>Team onboarding and pipeline standardization across projects</a:t>
            </a:r>
          </a:p>
          <a:p>
            <a:pPr lvl="1"/>
            <a:r>
              <a:t>Advanced workflows including multi-stage deployments and approvals</a:t>
            </a:r>
          </a:p>
          <a:p>
            <a:pPr lvl="1"/>
            <a:r>
              <a:t>Performance monitoring and continuous improvement processes</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Timeline &amp; Milestones</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31" cy="1483360"/>
        </p:xfrm>
        <a:graphic>
          <a:graphicData uri="http://schemas.openxmlformats.org/drawingml/2006/table">
            <a:tbl>
              <a:tblPr firstRow="1" bandRow="1">
                <a:tableStyleId>{5C22544A-7EE6-4342-B048-85BDC9FD1C3A}</a:tableStyleId>
              </a:tblPr>
              <a:tblGrid>
                <a:gridCol w="871093"/>
                <a:gridCol w="2177733"/>
                <a:gridCol w="1306639"/>
                <a:gridCol w="4355466"/>
              </a:tblGrid>
              <a:tr h="370840">
                <a:tc>
                  <a:txBody>
                    <a:bodyPr/>
                    <a:lstStyle/>
                    <a:p>
                      <a:r>
                        <a:rPr sz="1400">
                          <a:solidFill>
                            <a:srgbClr val="FFFFFF"/>
                          </a:solidFill>
                        </a:rPr>
                        <a:t>Phase No</a:t>
                      </a:r>
                    </a:p>
                  </a:txBody>
                  <a:tcPr>
                    <a:solidFill>
                      <a:srgbClr val="A01C02"/>
                    </a:solidFill>
                  </a:tcPr>
                </a:tc>
                <a:tc>
                  <a:txBody>
                    <a:bodyPr/>
                    <a:lstStyle/>
                    <a:p>
                      <a:r>
                        <a:rPr sz="1400">
                          <a:solidFill>
                            <a:srgbClr val="FFFFFF"/>
                          </a:solidFill>
                        </a:rPr>
                        <a:t>Phase Description</a:t>
                      </a:r>
                    </a:p>
                  </a:txBody>
                  <a:tcPr>
                    <a:solidFill>
                      <a:srgbClr val="A01C02"/>
                    </a:solidFill>
                  </a:tcPr>
                </a:tc>
                <a:tc>
                  <a:txBody>
                    <a:bodyPr/>
                    <a:lstStyle/>
                    <a:p>
                      <a:r>
                        <a:rPr sz="1400">
                          <a:solidFill>
                            <a:srgbClr val="FFFFFF"/>
                          </a:solidFill>
                        </a:rPr>
                        <a:t>Timeline</a:t>
                      </a:r>
                    </a:p>
                  </a:txBody>
                  <a:tcPr>
                    <a:solidFill>
                      <a:srgbClr val="A01C02"/>
                    </a:solidFill>
                  </a:tcPr>
                </a:tc>
                <a:tc>
                  <a:txBody>
                    <a:bodyPr/>
                    <a:lstStyle/>
                    <a:p>
                      <a:r>
                        <a:rPr sz="1400">
                          <a:solidFill>
                            <a:srgbClr val="FFFFFF"/>
                          </a:solidFill>
                        </a:rPr>
                        <a:t>Key Deliverables</a:t>
                      </a:r>
                    </a:p>
                  </a:txBody>
                  <a:tcPr>
                    <a:solidFill>
                      <a:srgbClr val="A01C02"/>
                    </a:solidFill>
                  </a:tcPr>
                </a:tc>
              </a:tr>
              <a:tr h="370840">
                <a:tc>
                  <a:txBody>
                    <a:bodyPr/>
                    <a:lstStyle/>
                    <a:p>
                      <a:r>
                        <a:rPr sz="1100"/>
                        <a:t>Phase 1</a:t>
                      </a:r>
                    </a:p>
                  </a:txBody>
                  <a:tcPr>
                    <a:solidFill>
                      <a:srgbClr val="E7E6E6"/>
                    </a:solidFill>
                  </a:tcPr>
                </a:tc>
                <a:tc>
                  <a:txBody>
                    <a:bodyPr/>
                    <a:lstStyle/>
                    <a:p>
                      <a:r>
                        <a:rPr sz="1100"/>
                        <a:t>Assessment &amp; Planning</a:t>
                      </a:r>
                    </a:p>
                  </a:txBody>
                  <a:tcPr>
                    <a:solidFill>
                      <a:srgbClr val="E7E6E6"/>
                    </a:solidFill>
                  </a:tcPr>
                </a:tc>
                <a:tc>
                  <a:txBody>
                    <a:bodyPr/>
                    <a:lstStyle/>
                    <a:p>
                      <a:r>
                        <a:rPr sz="1100"/>
                        <a:t>Months 1-2</a:t>
                      </a:r>
                    </a:p>
                  </a:txBody>
                  <a:tcPr>
                    <a:solidFill>
                      <a:srgbClr val="E7E6E6"/>
                    </a:solidFill>
                  </a:tcPr>
                </a:tc>
                <a:tc>
                  <a:txBody>
                    <a:bodyPr/>
                    <a:lstStyle/>
                    <a:p>
                      <a:r>
                        <a:rPr sz="1100"/>
                        <a:t>DevOps maturity assessment complete, Pipeline strategy documented, Security and governance policies defined</a:t>
                      </a:r>
                    </a:p>
                  </a:txBody>
                  <a:tcPr>
                    <a:solidFill>
                      <a:srgbClr val="E7E6E6"/>
                    </a:solidFill>
                  </a:tcPr>
                </a:tc>
              </a:tr>
              <a:tr h="370840">
                <a:tc>
                  <a:txBody>
                    <a:bodyPr/>
                    <a:lstStyle/>
                    <a:p>
                      <a:r>
                        <a:rPr sz="1100"/>
                        <a:t>Phase 2</a:t>
                      </a:r>
                    </a:p>
                  </a:txBody>
                  <a:tcPr>
                    <a:solidFill>
                      <a:srgbClr val="E7E6E6"/>
                    </a:solidFill>
                  </a:tcPr>
                </a:tc>
                <a:tc>
                  <a:txBody>
                    <a:bodyPr/>
                    <a:lstStyle/>
                    <a:p>
                      <a:r>
                        <a:rPr sz="1100"/>
                        <a:t>Core Platform Setup</a:t>
                      </a:r>
                    </a:p>
                  </a:txBody>
                  <a:tcPr>
                    <a:solidFill>
                      <a:srgbClr val="E7E6E6"/>
                    </a:solidFill>
                  </a:tcPr>
                </a:tc>
                <a:tc>
                  <a:txBody>
                    <a:bodyPr/>
                    <a:lstStyle/>
                    <a:p>
                      <a:r>
                        <a:rPr sz="1100"/>
                        <a:t>Months 3-4</a:t>
                      </a:r>
                    </a:p>
                  </a:txBody>
                  <a:tcPr>
                    <a:solidFill>
                      <a:srgbClr val="E7E6E6"/>
                    </a:solidFill>
                  </a:tcPr>
                </a:tc>
                <a:tc>
                  <a:txBody>
                    <a:bodyPr/>
                    <a:lstStyle/>
                    <a:p>
                      <a:r>
                        <a:rPr sz="1100"/>
                        <a:t>Azure Repos configured with migrated code, Build pipelines operational, Artifact feeds publishing packages</a:t>
                      </a:r>
                    </a:p>
                  </a:txBody>
                  <a:tcPr>
                    <a:solidFill>
                      <a:srgbClr val="E7E6E6"/>
                    </a:solidFill>
                  </a:tcPr>
                </a:tc>
              </a:tr>
              <a:tr h="370840">
                <a:tc>
                  <a:txBody>
                    <a:bodyPr/>
                    <a:lstStyle/>
                    <a:p>
                      <a:r>
                        <a:rPr sz="1100"/>
                        <a:t>Phase 3</a:t>
                      </a:r>
                    </a:p>
                  </a:txBody>
                  <a:tcPr>
                    <a:solidFill>
                      <a:srgbClr val="E7E6E6"/>
                    </a:solidFill>
                  </a:tcPr>
                </a:tc>
                <a:tc>
                  <a:txBody>
                    <a:bodyPr/>
                    <a:lstStyle/>
                    <a:p>
                      <a:r>
                        <a:rPr sz="1100"/>
                        <a:t>Optimization &amp; Adoption</a:t>
                      </a:r>
                    </a:p>
                  </a:txBody>
                  <a:tcPr>
                    <a:solidFill>
                      <a:srgbClr val="E7E6E6"/>
                    </a:solidFill>
                  </a:tcPr>
                </a:tc>
                <a:tc>
                  <a:txBody>
                    <a:bodyPr/>
                    <a:lstStyle/>
                    <a:p>
                      <a:r>
                        <a:rPr sz="1100"/>
                        <a:t>Months 5-6</a:t>
                      </a:r>
                    </a:p>
                  </a:txBody>
                  <a:tcPr>
                    <a:solidFill>
                      <a:srgbClr val="E7E6E6"/>
                    </a:solidFill>
                  </a:tcPr>
                </a:tc>
                <a:tc>
                  <a:txBody>
                    <a:bodyPr/>
                    <a:lstStyle/>
                    <a:p>
                      <a:r>
                        <a:rPr sz="1100"/>
                        <a:t>Release pipelines automated, All teams onboarded, Monitoring and dashboards active</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Success Stories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Client Success: Enterprise Software Company</a:t>
            </a:r>
          </a:p>
          <a:p>
            <a:pPr lvl="1"/>
            <a:r>
              <a:rPr b="1"/>
              <a:t>Client:</a:t>
            </a:r>
            <a:r>
              <a:t> Mid-size software company with 200+ developers across 8 product teams</a:t>
            </a:r>
          </a:p>
          <a:p>
            <a:pPr lvl="1"/>
            <a:r>
              <a:rPr b="1"/>
              <a:t>Challenge:</a:t>
            </a:r>
            <a:r>
              <a:t> Manual deployment processes taking 4+ hours per release, inconsistent build environments causing 30% of releases to fail, and inability to track code changes across projects</a:t>
            </a:r>
          </a:p>
          <a:p>
            <a:pPr lvl="1"/>
            <a:r>
              <a:rPr b="1"/>
              <a:t>Solution:</a:t>
            </a:r>
            <a:r>
              <a:t> Deployed Azure DevOps platform with standardized YAML pipelines, automated testing integration, and centralized artifact management across all development teams</a:t>
            </a:r>
          </a:p>
          <a:p>
            <a:pPr lvl="1"/>
            <a:r>
              <a:rPr b="1"/>
              <a:t>Results:</a:t>
            </a:r>
            <a:r>
              <a:t> 85% reduction in deployment time (4 hours to 35 minutes), 95% pipeline success rate, release frequency increased from monthly to weekly, full audit trail for compliance requirements</a:t>
            </a:r>
          </a:p>
          <a:p>
            <a:pPr lvl="1"/>
            <a:r>
              <a:rPr b="1"/>
              <a:t>Testimonial:</a:t>
            </a:r>
            <a:r>
              <a:t> "Azure DevOps transformed how our teams deliver software. We went from dreading release days to confidently deploying multiple times per week. The standardization has improved quality while giving teams the flexibility they need. Our developers can focus on building features instead of fighting deployment issues." — </a:t>
            </a:r>
            <a:r>
              <a:rPr b="1"/>
              <a:t>Sarah Martinez, VP of Engineering</a:t>
            </a:r>
            <a:r>
              <a:t>, Enterprise Software Corp</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Our Partnership Advantage</a:t>
            </a:r>
          </a:p>
        </p:txBody>
      </p:sp>
      <p:pic>
        <p:nvPicPr>
          <p:cNvPr id="3" name="Picture Placeholder 2" descr="consulting_company_logo.png"/>
          <p:cNvPicPr>
            <a:picLocks noGrp="1" noChangeAspect="1"/>
          </p:cNvPicPr>
          <p:nvPr>
            <p:ph type="pic" idx="14" sz="quarter"/>
          </p:nvPr>
        </p:nvPicPr>
        <p:blipFill>
          <a:blip r:embed="rId2"/>
          <a:srcRect t="6314" b="6314"/>
          <a:stretch>
            <a:fillRect/>
          </a:stretch>
        </p:blipFill>
        <p:spPr/>
      </p:pic>
      <p:sp>
        <p:nvSpPr>
          <p:cNvPr id="4" name="Text Placeholder 3"/>
          <p:cNvSpPr>
            <a:spLocks noGrp="1"/>
          </p:cNvSpPr>
          <p:nvPr>
            <p:ph type="body" idx="16" sz="quarter"/>
          </p:nvPr>
        </p:nvSpPr>
        <p:spPr/>
        <p:txBody>
          <a:bodyPr/>
          <a:lstStyle/>
          <a:p>
            <a:pPr/>
            <a:r>
              <a:rPr b="1"/>
              <a:t>What We Bring</a:t>
            </a:r>
          </a:p>
          <a:p>
            <a:pPr lvl="1"/>
            <a:r>
              <a:t>Microsoft Gold Partner with Azure DevOps specialization</a:t>
            </a:r>
          </a:p>
          <a:p>
            <a:pPr lvl="1"/>
            <a:r>
              <a:t>100+ successful DevOps platform implementations</a:t>
            </a:r>
          </a:p>
          <a:p>
            <a:pPr lvl="1"/>
            <a:r>
              <a:t>Certified Azure DevOps Engineers and Solutions Architects</a:t>
            </a:r>
          </a:p>
          <a:p>
            <a:pPr lvl="1"/>
            <a:r>
              <a:t>Pre-built pipeline templates and migration accelerators</a:t>
            </a:r>
          </a:p>
          <a:p>
            <a:pPr lvl="1"/>
            <a:r>
              <a:t>24/7 support with dedicated DevOps expertise</a:t>
            </a:r>
          </a:p>
        </p:txBody>
      </p:sp>
      <p:sp>
        <p:nvSpPr>
          <p:cNvPr id="5" name="Text Placeholder 4"/>
          <p:cNvSpPr>
            <a:spLocks noGrp="1"/>
          </p:cNvSpPr>
          <p:nvPr>
            <p:ph type="body" idx="17" sz="quarter"/>
          </p:nvPr>
        </p:nvSpPr>
        <p:spPr/>
        <p:txBody>
          <a:bodyPr/>
          <a:lstStyle/>
          <a:p>
            <a:pPr/>
            <a:r>
              <a:rPr b="1"/>
              <a:t>Value to You</a:t>
            </a:r>
          </a:p>
          <a:p>
            <a:pPr lvl="1"/>
            <a:r>
              <a:t>Proven migration methodology reduces disruption to development teams</a:t>
            </a:r>
          </a:p>
          <a:p>
            <a:pPr lvl="1"/>
            <a:r>
              <a:t>Reusable pipeline templates accelerate onboarding by 50%</a:t>
            </a:r>
          </a:p>
          <a:p>
            <a:pPr lvl="1"/>
            <a:r>
              <a:t>Direct Microsoft escalation for complex technical issues</a:t>
            </a:r>
          </a:p>
          <a:p>
            <a:pPr lvl="1"/>
            <a:r>
              <a:t>Comprehensive training program ensures team self-sufficiency</a:t>
            </a:r>
          </a:p>
          <a:p>
            <a:pPr lvl="1"/>
            <a:r>
              <a:t>Best practices from 100+ enterprise DevOps transformations</a:t>
            </a:r>
          </a:p>
        </p:txBody>
      </p:sp>
      <p:pic>
        <p:nvPicPr>
          <p:cNvPr id="6" name="Picture 5"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pPr algn="l"/>
            <a:r>
              <a:rPr b="1"/>
              <a:t>Investment Summary</a:t>
            </a:r>
          </a:p>
        </p:txBody>
      </p:sp>
      <p:pic>
        <p:nvPicPr>
          <p:cNvPr id="3" name="Picture Placeholder 2" descr="consulting_company_logo.png"/>
          <p:cNvPicPr>
            <a:picLocks noGrp="1" noChangeAspect="1"/>
          </p:cNvPicPr>
          <p:nvPr>
            <p:ph type="pic" idx="13" sz="quarter"/>
          </p:nvPr>
        </p:nvPicPr>
        <p:blipFill>
          <a:blip r:embed="rId2"/>
          <a:srcRect t="6404" b="6404"/>
          <a:stretch>
            <a:fillRect/>
          </a:stretch>
        </p:blipFill>
        <p:spPr/>
      </p:pic>
      <p:graphicFrame>
        <p:nvGraphicFramePr>
          <p:cNvPr id="4" name="Table Placeholder 3"/>
          <p:cNvGraphicFramePr>
            <a:graphicFrameLocks noGrp="1"/>
          </p:cNvGraphicFramePr>
          <p:nvPr>
            <p:ph type="tbl" idx="14" sz="quarter"/>
          </p:nvPr>
        </p:nvGraphicFramePr>
        <p:xfrm>
          <a:off x="256855" y="677011"/>
          <a:ext cx="8710929" cy="741680"/>
        </p:xfrm>
        <a:graphic>
          <a:graphicData uri="http://schemas.openxmlformats.org/drawingml/2006/table">
            <a:tbl>
              <a:tblPr firstRow="1" bandRow="1">
                <a:tableStyleId>{5C22544A-7EE6-4342-B048-85BDC9FD1C3A}</a:tableStyleId>
              </a:tblPr>
              <a:tblGrid>
                <a:gridCol w="2177733"/>
                <a:gridCol w="1306639"/>
                <a:gridCol w="1306639"/>
                <a:gridCol w="1306639"/>
                <a:gridCol w="871093"/>
                <a:gridCol w="871093"/>
                <a:gridCol w="871093"/>
              </a:tblGrid>
              <a:tr h="370840">
                <a:tc>
                  <a:txBody>
                    <a:bodyPr/>
                    <a:lstStyle/>
                    <a:p>
                      <a:r>
                        <a:rPr sz="1400">
                          <a:solidFill>
                            <a:srgbClr val="FFFFFF"/>
                          </a:solidFill>
                        </a:rPr>
                        <a:t>Cost Category</a:t>
                      </a:r>
                    </a:p>
                  </a:txBody>
                  <a:tcPr>
                    <a:solidFill>
                      <a:srgbClr val="A01C02"/>
                    </a:solidFill>
                  </a:tcPr>
                </a:tc>
                <a:tc>
                  <a:txBody>
                    <a:bodyPr/>
                    <a:lstStyle/>
                    <a:p>
                      <a:r>
                        <a:rPr sz="1400">
                          <a:solidFill>
                            <a:srgbClr val="FFFFFF"/>
                          </a:solidFill>
                        </a:rPr>
                        <a:t>Year 1 List</a:t>
                      </a:r>
                    </a:p>
                  </a:txBody>
                  <a:tcPr>
                    <a:solidFill>
                      <a:srgbClr val="A01C02"/>
                    </a:solidFill>
                  </a:tcPr>
                </a:tc>
                <a:tc>
                  <a:txBody>
                    <a:bodyPr/>
                    <a:lstStyle/>
                    <a:p>
                      <a:r>
                        <a:rPr sz="1400">
                          <a:solidFill>
                            <a:srgbClr val="FFFFFF"/>
                          </a:solidFill>
                        </a:rPr>
                        <a:t>Provider/Partner Credits</a:t>
                      </a:r>
                    </a:p>
                  </a:txBody>
                  <a:tcPr>
                    <a:solidFill>
                      <a:srgbClr val="A01C02"/>
                    </a:solidFill>
                  </a:tcPr>
                </a:tc>
                <a:tc>
                  <a:txBody>
                    <a:bodyPr/>
                    <a:lstStyle/>
                    <a:p>
                      <a:r>
                        <a:rPr sz="1400">
                          <a:solidFill>
                            <a:srgbClr val="FFFFFF"/>
                          </a:solidFill>
                        </a:rPr>
                        <a:t>Year 1 Net</a:t>
                      </a:r>
                    </a:p>
                  </a:txBody>
                  <a:tcPr>
                    <a:solidFill>
                      <a:srgbClr val="A01C02"/>
                    </a:solidFill>
                  </a:tcPr>
                </a:tc>
                <a:tc>
                  <a:txBody>
                    <a:bodyPr/>
                    <a:lstStyle/>
                    <a:p>
                      <a:r>
                        <a:rPr sz="1400">
                          <a:solidFill>
                            <a:srgbClr val="FFFFFF"/>
                          </a:solidFill>
                        </a:rPr>
                        <a:t>Year 2</a:t>
                      </a:r>
                    </a:p>
                  </a:txBody>
                  <a:tcPr>
                    <a:solidFill>
                      <a:srgbClr val="A01C02"/>
                    </a:solidFill>
                  </a:tcPr>
                </a:tc>
                <a:tc>
                  <a:txBody>
                    <a:bodyPr/>
                    <a:lstStyle/>
                    <a:p>
                      <a:r>
                        <a:rPr sz="1400">
                          <a:solidFill>
                            <a:srgbClr val="FFFFFF"/>
                          </a:solidFill>
                        </a:rPr>
                        <a:t>Year 3</a:t>
                      </a:r>
                    </a:p>
                  </a:txBody>
                  <a:tcPr>
                    <a:solidFill>
                      <a:srgbClr val="A01C02"/>
                    </a:solidFill>
                  </a:tcPr>
                </a:tc>
                <a:tc>
                  <a:txBody>
                    <a:bodyPr/>
                    <a:lstStyle/>
                    <a:p>
                      <a:r>
                        <a:rPr sz="1400">
                          <a:solidFill>
                            <a:srgbClr val="FFFFFF"/>
                          </a:solidFill>
                        </a:rPr>
                        <a:t>3-Year Total</a:t>
                      </a:r>
                    </a:p>
                  </a:txBody>
                  <a:tcPr>
                    <a:solidFill>
                      <a:srgbClr val="A01C02"/>
                    </a:solidFill>
                  </a:tcPr>
                </a:tc>
              </a:tr>
              <a:tr h="370840">
                <a:tc>
                  <a:txBody>
                    <a:bodyPr/>
                    <a:lstStyle/>
                    <a:p>
                      <a:r>
                        <a:rPr b="1" sz="1100"/>
                        <a:t>TOTAL INVESTMENT</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c>
                  <a:txBody>
                    <a:bodyPr/>
                    <a:lstStyle/>
                    <a:p>
                      <a:r>
                        <a:rPr b="1" sz="1100"/>
                        <a:t>$0</a:t>
                      </a:r>
                    </a:p>
                  </a:txBody>
                  <a:tcPr>
                    <a:solidFill>
                      <a:srgbClr val="E7E6E6"/>
                    </a:solidFill>
                  </a:tcPr>
                </a:tc>
              </a:tr>
            </a:tbl>
          </a:graphicData>
        </a:graphic>
      </p:graphicFrame>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Next Steps</a:t>
            </a:r>
          </a:p>
        </p:txBody>
      </p:sp>
      <p:pic>
        <p:nvPicPr>
          <p:cNvPr id="3" name="Picture Placeholder 2" descr="consulting_company_logo.png"/>
          <p:cNvPicPr>
            <a:picLocks noGrp="1" noChangeAspect="1"/>
          </p:cNvPicPr>
          <p:nvPr>
            <p:ph type="pic" idx="13" sz="quarter"/>
          </p:nvPr>
        </p:nvPicPr>
        <p:blipFill>
          <a:blip r:embed="rId2"/>
          <a:srcRect t="6762" b="6762"/>
          <a:stretch>
            <a:fillRect/>
          </a:stretch>
        </p:blipFill>
        <p:spPr/>
      </p:pic>
      <p:sp>
        <p:nvSpPr>
          <p:cNvPr id="4" name="Text Placeholder 3"/>
          <p:cNvSpPr>
            <a:spLocks noGrp="1"/>
          </p:cNvSpPr>
          <p:nvPr>
            <p:ph type="body" idx="14" sz="quarter"/>
          </p:nvPr>
        </p:nvSpPr>
        <p:spPr/>
        <p:txBody>
          <a:bodyPr/>
          <a:lstStyle/>
          <a:p>
            <a:pPr/>
            <a:r>
              <a:rPr b="1"/>
              <a:t>Decision:</a:t>
            </a:r>
            <a:r>
              <a:t> Confirm DevOps platform investment by [specific date]</a:t>
            </a:r>
          </a:p>
          <a:p>
            <a:pPr/>
            <a:r>
              <a:rPr b="1"/>
              <a:t>Kickoff:</a:t>
            </a:r>
            <a:r>
              <a:t> Target project start in [Month]</a:t>
            </a:r>
          </a:p>
          <a:p>
            <a:pPr/>
            <a:r>
              <a:rPr b="1"/>
              <a:t>Team Formation:</a:t>
            </a:r>
            <a:r>
              <a:t> Identify platform owner and pilot team</a:t>
            </a:r>
          </a:p>
          <a:p>
            <a:pPr/>
            <a:r>
              <a:rPr b="1"/>
              <a:t>Week 1:</a:t>
            </a:r>
            <a:r>
              <a:t> Contract finalization and Azure DevOps organization setup</a:t>
            </a:r>
          </a:p>
          <a:p>
            <a:pPr/>
            <a:r>
              <a:rPr b="1"/>
              <a:t>Week 2:</a:t>
            </a:r>
            <a:r>
              <a:t> Current state assessment and stakeholder interviews</a:t>
            </a:r>
          </a:p>
          <a:p>
            <a:pPr/>
            <a:r>
              <a:rPr b="1"/>
              <a:t>Week 3:</a:t>
            </a:r>
            <a:r>
              <a:t> Pipeline strategy workshop with development leads</a:t>
            </a:r>
          </a:p>
          <a:p>
            <a:pPr/>
            <a:r>
              <a:rPr b="1"/>
              <a:t>Week 4:</a:t>
            </a:r>
            <a:r>
              <a:t> Pilot project selection and migration planning</a:t>
            </a:r>
          </a:p>
        </p:txBody>
      </p:sp>
      <p:pic>
        <p:nvPicPr>
          <p:cNvPr id="5" name="Picture 4" descr="eo-framework-logo-real.png"/>
          <p:cNvPicPr>
            <a:picLocks noChangeAspect="1"/>
          </p:cNvPicPr>
          <p:nvPr/>
        </p:nvPicPr>
        <p:blipFill>
          <a:blip r:embed="rId3"/>
          <a:stretch>
            <a:fillRect/>
          </a:stretch>
        </p:blipFill>
        <p:spPr>
          <a:xfrm>
            <a:off x="6684264" y="4535424"/>
            <a:ext cx="2139696" cy="5303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Placeholder 1" descr="client_logo.png"/>
          <p:cNvPicPr>
            <a:picLocks noGrp="1" noChangeAspect="1"/>
          </p:cNvPicPr>
          <p:nvPr>
            <p:ph type="pic" idx="10" sz="quarter"/>
          </p:nvPr>
        </p:nvPicPr>
        <p:blipFill>
          <a:blip r:embed="rId2"/>
          <a:srcRect t="433" b="433"/>
          <a:stretch>
            <a:fillRect/>
          </a:stretch>
        </p:blipFill>
        <p:spPr/>
      </p:pic>
      <p:sp>
        <p:nvSpPr>
          <p:cNvPr id="3" name="Text Placeholder 2"/>
          <p:cNvSpPr>
            <a:spLocks noGrp="1"/>
          </p:cNvSpPr>
          <p:nvPr>
            <p:ph type="body" idx="12" sz="quarter"/>
          </p:nvPr>
        </p:nvSpPr>
        <p:spPr/>
        <p:txBody>
          <a:bodyPr/>
          <a:lstStyle/>
          <a:p>
            <a:r>
              <a:t>Thank You</a:t>
            </a:r>
          </a:p>
        </p:txBody>
      </p:sp>
      <p:pic>
        <p:nvPicPr>
          <p:cNvPr id="4" name="Picture Placeholder 3" descr="consulting_company_logo.png"/>
          <p:cNvPicPr>
            <a:picLocks noGrp="1" noChangeAspect="1"/>
          </p:cNvPicPr>
          <p:nvPr>
            <p:ph type="pic" idx="13" sz="quarter"/>
          </p:nvPr>
        </p:nvPicPr>
        <p:blipFill>
          <a:blip r:embed="rId3"/>
          <a:srcRect t="7166" b="7166"/>
          <a:stretch>
            <a:fillRect/>
          </a:stretch>
        </p:blipFill>
        <p:spPr/>
      </p:pic>
      <p:sp>
        <p:nvSpPr>
          <p:cNvPr id="5" name="Text Placeholder 4"/>
          <p:cNvSpPr>
            <a:spLocks noGrp="1"/>
          </p:cNvSpPr>
          <p:nvPr>
            <p:ph type="body" idx="14" sz="quarter"/>
          </p:nvPr>
        </p:nvSpPr>
        <p:spPr/>
        <p:txBody>
          <a:bodyPr/>
          <a:lstStyle/>
          <a:p/>
        </p:txBody>
      </p:sp>
      <p:sp>
        <p:nvSpPr>
          <p:cNvPr id="6" name="Text Placeholder 5"/>
          <p:cNvSpPr>
            <a:spLocks noGrp="1"/>
          </p:cNvSpPr>
          <p:nvPr>
            <p:ph type="body" idx="15" sz="quarter"/>
          </p:nvPr>
        </p:nvSpPr>
        <p:spPr/>
        <p:txBody>
          <a:bodyPr/>
          <a:lstStyle/>
          <a:p>
            <a:pPr/>
            <a:r>
              <a:rPr b="1"/>
              <a:t>Your Account Manager:</a:t>
            </a:r>
            <a:r>
              <a:t> [Name, Title] | [Email] | [Phone]</a:t>
            </a:r>
          </a:p>
        </p:txBody>
      </p:sp>
      <p:pic>
        <p:nvPicPr>
          <p:cNvPr id="7" name="Picture 6" descr="eo-framework-logo-real.png"/>
          <p:cNvPicPr>
            <a:picLocks noChangeAspect="1"/>
          </p:cNvPicPr>
          <p:nvPr/>
        </p:nvPicPr>
        <p:blipFill>
          <a:blip r:embed="rId4"/>
          <a:stretch>
            <a:fillRect/>
          </a:stretch>
        </p:blipFill>
        <p:spPr>
          <a:xfrm>
            <a:off x="6684264" y="4535424"/>
            <a:ext cx="2139696" cy="530352"/>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427</TotalTime>
  <Words>39</Words>
  <Application>Microsoft Office PowerPoint</Application>
  <PresentationFormat>On-screen Show (16:9)</PresentationFormat>
  <Paragraphs>20</Paragraphs>
  <Slides>7</Slides>
  <Notes>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vt:i4>
      </vt:variant>
    </vt:vector>
  </HeadingPairs>
  <TitlesOfParts>
    <vt:vector size="9"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EOFramework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EOFramework Template</dc:title>
  <dc:subject>PptxGenJS Presentation</dc:subject>
  <dc:creator>EOFramework</dc:creator>
  <cp:lastModifiedBy>Kishan Siram</cp:lastModifiedBy>
  <cp:revision>79</cp:revision>
  <dcterms:created xsi:type="dcterms:W3CDTF">2025-11-01T21:16:10Z</dcterms:created>
  <dcterms:modified xsi:type="dcterms:W3CDTF">2025-11-11T19:45:33Z</dcterms:modified>
</cp:coreProperties>
</file>