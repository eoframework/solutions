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Enterprise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17,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Build a secure foundation for multi-subscription Azure deployments with consistent governance</a:t>
            </a:r>
          </a:p>
          <a:p>
            <a:pPr lvl="1"/>
            <a:r>
              <a:t>Reduce cloud management overhead by 40-50% through automated policy enforcement</a:t>
            </a:r>
          </a:p>
          <a:p>
            <a:pPr lvl="1"/>
            <a:r>
              <a:t>Enable rapid subscription provisioning while maintaining security and compliance standards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management group hierarchy with automated policy inheritance within 8 weeks</a:t>
            </a:r>
          </a:p>
          <a:p>
            <a:pPr lvl="1"/>
            <a:r>
              <a:t>Achieve 100% policy compliance across all subscriptions with real-time monitoring</a:t>
            </a:r>
          </a:p>
          <a:p>
            <a:pPr lvl="1"/>
            <a:r>
              <a:t>Reduce subscription provisioning time from weeks to hours with standardized templates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Management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3-tier hierarchy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Target Azure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regions (East US West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ExpressRoute circuit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Hub-spoke network topology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Federation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Connect sync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Defender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Azure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custom RBAC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Cost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Cost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Workloads to Onboard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20-30 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Governance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Policy-driven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Policy Assignments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policy assignments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Landing zones for dev staging prod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Management Groups:</a:t>
            </a:r>
            <a:r>
              <a:t> Hierarchical organization of subscriptions with inherited policies and access controls</a:t>
            </a:r>
          </a:p>
          <a:p>
            <a:pPr lvl="1"/>
            <a:r>
              <a:rPr b="1"/>
              <a:t>Azure Policy:</a:t>
            </a:r>
            <a:r>
              <a:t> Automated compliance enforcement, resource guardrails, and configuration standards</a:t>
            </a:r>
          </a:p>
          <a:p>
            <a:pPr lvl="1"/>
            <a:r>
              <a:rPr b="1"/>
              <a:t>Hub-Spoke Network:</a:t>
            </a:r>
            <a:r>
              <a:t> Centralized connectivity with Azure Virtual WAN or hub virtual network design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Microsoft Azure</a:t>
            </a:r>
          </a:p>
          <a:p>
            <a:pPr lvl="1"/>
            <a:r>
              <a:t>Governance: Azure Policy, Azure Blueprints, Azure Resource Graph</a:t>
            </a:r>
          </a:p>
          <a:p>
            <a:pPr lvl="1"/>
            <a:r>
              <a:t>Identity: Azure Active Directory with RBAC</a:t>
            </a:r>
          </a:p>
          <a:p>
            <a:pPr lvl="1"/>
            <a:r>
              <a:t>Networking: Virtual WAN, Azure Firewall, ExpressRoute/VPN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4705" y="685799"/>
            <a:ext cx="3372615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*(Weeks 1-3)*</a:t>
            </a:r>
          </a:p>
          <a:p>
            <a:pPr lvl="1"/>
            <a:r>
              <a:t>Current Azure environment inventory and gap analysis</a:t>
            </a:r>
          </a:p>
          <a:p>
            <a:pPr lvl="1"/>
            <a:r>
              <a:t>Management group hierarchy design and naming conventions</a:t>
            </a:r>
          </a:p>
          <a:p>
            <a:pPr lvl="1"/>
            <a:r>
              <a:t>Policy framework definition and compliance requirements mapping</a:t>
            </a:r>
          </a:p>
          <a:p>
            <a:pPr/>
            <a:r>
              <a:rPr b="1"/>
              <a:t>Phase 2: Foundation Deployment</a:t>
            </a:r>
            <a:r>
              <a:t> *(Weeks 4-6)*</a:t>
            </a:r>
          </a:p>
          <a:p>
            <a:pPr lvl="1"/>
            <a:r>
              <a:t>Management group structure implementation</a:t>
            </a:r>
          </a:p>
          <a:p>
            <a:pPr lvl="1"/>
            <a:r>
              <a:t>Core Azure Policy assignments (tagging, allowed regions, resource types)</a:t>
            </a:r>
          </a:p>
          <a:p>
            <a:pPr lvl="1"/>
            <a:r>
              <a:t>Hub network deployment with Azure Firewall and connectivity services</a:t>
            </a:r>
          </a:p>
          <a:p>
            <a:pPr/>
            <a:r>
              <a:rPr b="1"/>
              <a:t>Phase 3: Governance &amp; Optimization</a:t>
            </a:r>
            <a:r>
              <a:t> *(Weeks 7-10)*</a:t>
            </a:r>
          </a:p>
          <a:p>
            <a:pPr lvl="1"/>
            <a:r>
              <a:t>Azure Blueprints creation for subscription vending</a:t>
            </a:r>
          </a:p>
          <a:p>
            <a:pPr lvl="1"/>
            <a:r>
              <a:t>Azure Cost Management configuration and budget alerts</a:t>
            </a:r>
          </a:p>
          <a:p>
            <a:pPr lvl="1"/>
            <a:r>
              <a:t>Documentation, training, and operational handover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Current state analysis complete, Management group design approved, Policy framework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Management groups live, Core policies enforcing, Hub network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Governance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Blueprints ready, Cost management active, Knowledge transfer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Fortune 500 financial institution with 500+ Azure subscriptions across 20 business units</a:t>
            </a:r>
          </a:p>
          <a:p>
            <a:pPr lvl="1"/>
            <a:r>
              <a:rPr b="1"/>
              <a:t>Challenge:</a:t>
            </a:r>
            <a:r>
              <a:t> Inconsistent governance causing compliance failures, uncontrolled cloud spend exceeding budget by 35%, and 3-week subscription provisioning delays blocking business agility</a:t>
            </a:r>
          </a:p>
          <a:p>
            <a:pPr lvl="1"/>
            <a:r>
              <a:rPr b="1"/>
              <a:t>Solution:</a:t>
            </a:r>
            <a:r>
              <a:t> Deployed comprehensive Azure Landing Zone with management group hierarchy, 150+ custom policies, hub-spoke networking, and automated subscription vending through Azure Blueprints</a:t>
            </a:r>
          </a:p>
          <a:p>
            <a:pPr lvl="1"/>
            <a:r>
              <a:rPr b="1"/>
              <a:t>Results:</a:t>
            </a:r>
            <a:r>
              <a:t> 100% policy compliance achieved in 90 days, 42% reduction in cloud waste ($2.1M annual savings), subscription provisioning reduced to 4 hours, zero audit findings in subsequent compliance reviews</a:t>
            </a:r>
          </a:p>
          <a:p>
            <a:pPr lvl="1"/>
            <a:r>
              <a:rPr b="1"/>
              <a:t>Testimonial:</a:t>
            </a:r>
            <a:r>
              <a:t> "This landing zone implementation transformed our Azure governance from reactive firefighting to proactive control. We now have visibility and consistency across all our subscriptions, and our teams can self-service new environments within guardrails we trust." — </a:t>
            </a:r>
            <a:r>
              <a:rPr b="1"/>
              <a:t>Sarah Mitchell, Cloud Platform Director</a:t>
            </a:r>
            <a:r>
              <a:t>, Global Financial Services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Gold Partner with Azure Expert MSP designation</a:t>
            </a:r>
          </a:p>
          <a:p>
            <a:pPr lvl="1"/>
            <a:r>
              <a:t>100+ Azure Landing Zone implementations across enterprise clients</a:t>
            </a:r>
          </a:p>
          <a:p>
            <a:pPr lvl="1"/>
            <a:r>
              <a:t>Certified Azure Solutions Architects with governance specialization</a:t>
            </a:r>
          </a:p>
          <a:p>
            <a:pPr lvl="1"/>
            <a:r>
              <a:t>Pre-built policy libraries and landing zone accelerators</a:t>
            </a:r>
          </a:p>
          <a:p>
            <a:pPr lvl="1"/>
            <a:r>
              <a:t>Direct Microsoft escalation and Azure engineering support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landing zone frameworks reduce implementation risk by 70%</a:t>
            </a:r>
          </a:p>
          <a:p>
            <a:pPr lvl="1"/>
            <a:r>
              <a:t>Custom policy templates aligned with your compliance requirements</a:t>
            </a:r>
          </a:p>
          <a:p>
            <a:pPr lvl="1"/>
            <a:r>
              <a:t>Azure Cost Management expertise to optimize cloud spend</a:t>
            </a:r>
          </a:p>
          <a:p>
            <a:pPr lvl="1"/>
            <a:r>
              <a:t>Comprehensive skills transfer for internal team self-sufficiency</a:t>
            </a:r>
          </a:p>
          <a:p>
            <a:pPr lvl="1"/>
            <a:r>
              <a:t>Ongoing governance advisory and policy optimization support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306639"/>
                <a:gridCol w="1306639"/>
                <a:gridCol w="871093"/>
                <a:gridCol w="871093"/>
                <a:gridCol w="87109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[Specific decision needed by when]</a:t>
            </a:r>
          </a:p>
          <a:p>
            <a:pPr/>
            <a:r>
              <a:rPr b="1"/>
              <a:t>Kickoff:</a:t>
            </a:r>
            <a:r>
              <a:t> [Target start date]</a:t>
            </a:r>
          </a:p>
          <a:p>
            <a:pPr/>
            <a:r>
              <a:rPr b="1"/>
              <a:t>Team Formation:</a:t>
            </a:r>
            <a:r>
              <a:t> [Key team members required]</a:t>
            </a:r>
          </a:p>
          <a:p>
            <a:pPr/>
            <a:r>
              <a:rPr b="1"/>
              <a:t>Week 1:</a:t>
            </a:r>
            <a:r>
              <a:t> Contract finalization and Azure access provisioning</a:t>
            </a:r>
          </a:p>
          <a:p>
            <a:pPr/>
            <a:r>
              <a:rPr b="1"/>
              <a:t>Week 2:</a:t>
            </a:r>
            <a:r>
              <a:t> Current state discovery and stakeholder interviews</a:t>
            </a:r>
          </a:p>
          <a:p>
            <a:pPr/>
            <a:r>
              <a:rPr b="1"/>
              <a:t>Week 3:</a:t>
            </a:r>
            <a:r>
              <a:t> Management group design workshop</a:t>
            </a:r>
          </a:p>
          <a:p>
            <a:pPr/>
            <a:r>
              <a:rPr b="1"/>
              <a:t>Week 4:</a:t>
            </a:r>
            <a:r>
              <a:t> Foundation deployment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