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2: Agenda**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Project Overview and Cloud Foundation Objectives</a:t>
            </a:r>
          </a:p>
          <a:p>
            <a:pPr/>
            <a:r>
              <a:t>Azure Enterprise Landing Zone Delivery Summary</a:t>
            </a:r>
          </a:p>
          <a:p>
            <a:pPr/>
            <a:r>
              <a:t>Cloud Governance and Security Benefits Realization</a:t>
            </a:r>
          </a:p>
          <a:p>
            <a:pPr/>
            <a:r>
              <a:t>Enterprise Cloud Transformation Lessons Learned</a:t>
            </a:r>
          </a:p>
          <a:p>
            <a:pPr/>
            <a:r>
              <a:t>Cloud Operations Excellence Recommendations and Next Steps</a:t>
            </a:r>
          </a:p>
          <a:p>
            <a:pPr/>
            <a:r>
              <a:t>Team Recognition and Cloud Innovation Achievement</a:t>
            </a:r>
          </a:p>
          <a:p>
            <a:pPr/>
            <a:r>
              <a:t>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3: Project Charter Recap**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Original Business Problem:</a:t>
            </a:r>
            <a:r>
              <a:t> Lack of standardized cloud governance and scalable Azure foundation</a:t>
            </a:r>
          </a:p>
          <a:p>
            <a:pPr/>
            <a:r>
              <a:rPr b="1"/>
              <a:t>Project Objectives:</a:t>
            </a:r>
            <a:r>
              <a:t> Implement enterprise-grade Azure Landing Zone with comprehensive governance</a:t>
            </a:r>
          </a:p>
          <a:p>
            <a:pPr/>
            <a:r>
              <a:rPr b="1"/>
              <a:t>Success Criteria:</a:t>
            </a:r>
            <a:r>
              <a:t> Establish secure, compliant, and scalable cloud foundation for all business units</a:t>
            </a:r>
          </a:p>
          <a:p>
            <a:pPr/>
            <a:r>
              <a:rPr b="1"/>
              <a:t>Project Scope:</a:t>
            </a:r>
            <a:r>
              <a:t> Azure Landing Zone architecture with governance, security, and compliance frameworks</a:t>
            </a:r>
          </a:p>
          <a:p>
            <a:pPr/>
            <a:r>
              <a:rPr b="1"/>
              <a:t>Initial Timeline:</a:t>
            </a:r>
            <a:r>
              <a:t> [Original vs. actual timeline for enterprise cloud foundation]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4: Azure Landing Zone Scope Delivered**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Scope Element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Management Group Hierarchy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Enterprise organizational 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Complete hierarchy with 4 levels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Supports 10+ business units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Azure Policy Framework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Comprehensive governance policies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150+ policies deployed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99.8% compliance achieved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Network Architecture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Hub-and-spoke with security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Secure network foundation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trust network principles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Identity and Access Management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Enterprise RBAC and PIM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Complete IAM framework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Integration with on-premises AD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5: Project Timeline Summary**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6: Budget and Resource Summary**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Total Project Budget:</a:t>
            </a:r>
            <a:r>
              <a:t> [Approved budget including Azure services and consulting]</a:t>
            </a:r>
          </a:p>
          <a:p>
            <a:pPr/>
            <a:r>
              <a:rPr b="1"/>
              <a:t>Actual Expenditure:</a:t>
            </a:r>
            <a:r>
              <a:t> [Final cost including Azure consumption and professional services]</a:t>
            </a:r>
          </a:p>
          <a:p>
            <a:pPr/>
            <a:r>
              <a:rPr b="1"/>
              <a:t>Budget Variance:</a:t>
            </a:r>
            <a:r>
              <a:t> [Over/under budget with cloud service cost analysis]</a:t>
            </a:r>
          </a:p>
          <a:p>
            <a:pPr/>
            <a:r>
              <a:rPr b="1"/>
              <a:t>Resource Utilization:</a:t>
            </a:r>
            <a:r>
              <a:t> [Cloud architects and governance specialists effort]</a:t>
            </a:r>
          </a:p>
          <a:p>
            <a:pPr/>
            <a:r>
              <a:rPr b="1"/>
              <a:t>Ongoing Azure Costs:</a:t>
            </a:r>
            <a:r>
              <a:t> [Optimized Azure service costs with governance controls]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7: Solution Architecture Overview**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t>Azure Landing Zone reference architecture implementation</a:t>
            </a:r>
          </a:p>
          <a:p>
            <a:pPr/>
            <a:r>
              <a:t>Management group hierarchy and subscription organization</a:t>
            </a:r>
          </a:p>
          <a:p>
            <a:pPr/>
            <a:r>
              <a:t>Hub-and-spoke network topology with security perimeter</a:t>
            </a:r>
          </a:p>
          <a:p>
            <a:pPr/>
            <a:r>
              <a:t>Identity and access management with Azure AD integration</a:t>
            </a:r>
          </a:p>
          <a:p>
            <a:pPr/>
            <a:r>
              <a:t>Comprehensive monitoring and logging with Azure Monitor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8: Cloud Governance Features Delivered**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Business Value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Compliance 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Implementation Complexity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Azure Policy Framework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Automated compliance enforcement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99.8% policy compliance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 - Custom policy development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Cost Management &amp; Billing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40% cost 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Budget controls and alerts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Medium - Multi-subscription setup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Resource Tagging Strategy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Complete resource governance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resource visibility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Medium - Automated tagging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Security Center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Centralized security management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Enhanced security posture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Medium - Cross-subscription security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9: Cloud Foundation Performance Metrics**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10: Go-Live Results**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Foundation Deployment:</a:t>
            </a:r>
            <a:r>
              <a:t> Seamless deployment of enterprise-grade Azure foundation</a:t>
            </a:r>
          </a:p>
          <a:p>
            <a:pPr/>
            <a:r>
              <a:rPr b="1"/>
              <a:t>Business Unit Onboarding:</a:t>
            </a:r>
            <a:r>
              <a:t> Successfully onboarded 12 business units</a:t>
            </a:r>
          </a:p>
          <a:p>
            <a:pPr/>
            <a:r>
              <a:rPr b="1"/>
              <a:t>Compliance Validation:</a:t>
            </a:r>
            <a:r>
              <a:t> Passed all regulatory compliance assessments</a:t>
            </a:r>
          </a:p>
          <a:p>
            <a:pPr/>
            <a:r>
              <a:rPr b="1"/>
              <a:t>Cost Optimization:</a:t>
            </a:r>
            <a:r>
              <a:t> Immediate 25% cost reduction through governance controls</a:t>
            </a:r>
          </a:p>
          <a:p>
            <a:pPr/>
            <a:r>
              <a:rPr b="1"/>
              <a:t>Developer Productivity:</a:t>
            </a:r>
            <a:r>
              <a:t> 60% faster application deployment with standardized environments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11: Training and Knowledge Transfer**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Cloud Governance Training:</a:t>
            </a:r>
            <a:r>
              <a:t> Comprehensive training on Azure policy and compliance</a:t>
            </a:r>
          </a:p>
          <a:p>
            <a:pPr/>
            <a:r>
              <a:rPr b="1"/>
              <a:t>Azure Landing Zone Operations:</a:t>
            </a:r>
            <a:r>
              <a:t> Training on management and monitoring procedures</a:t>
            </a:r>
          </a:p>
          <a:p>
            <a:pPr/>
            <a:r>
              <a:rPr b="1"/>
              <a:t>FinOps Training:</a:t>
            </a:r>
            <a:r>
              <a:t> Cost management and optimization best practices</a:t>
            </a:r>
          </a:p>
          <a:p>
            <a:pPr/>
            <a:r>
              <a:rPr b="1"/>
              <a:t>Security Operations:</a:t>
            </a:r>
            <a:r>
              <a:t> Cloud security monitoring and incident response procedures</a:t>
            </a:r>
          </a:p>
          <a:p>
            <a:pPr/>
            <a:r>
              <a:rPr b="1"/>
              <a:t>Developer Enablement:</a:t>
            </a:r>
            <a:r>
              <a:t> Self-service environment provisioning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12: Business Value Delivered Through Cloud Foundation**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Measurement Method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Timeline to Full Benefit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Cost 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30% cost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40% actual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Azure Cost Management analytics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Deployment Speed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5x faster deployments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8x actual improvement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Time to deployment metrics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Immediate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Compliance Posture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95% compliance target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99.8% achieved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Azure Policy compliance reports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Immediate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Security Enhancement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Zero critical findings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Target exceeded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Azure Security Center score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6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13: Cloud Foundation ROI Analysis**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14: Operational Cloud Improvements**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Deployment Efficiency:</a:t>
            </a:r>
            <a:r>
              <a:t> 8x faster environment provisioning and application deployment</a:t>
            </a:r>
          </a:p>
          <a:p>
            <a:pPr/>
            <a:r>
              <a:rPr b="1"/>
              <a:t>Cost Visibility:</a:t>
            </a:r>
            <a:r>
              <a:t> 100% cost transparency with detailed chargeback and showback</a:t>
            </a:r>
          </a:p>
          <a:p>
            <a:pPr/>
            <a:r>
              <a:rPr b="1"/>
              <a:t>Security Posture:</a:t>
            </a:r>
            <a:r>
              <a:t> Industry-leading security score with automated threat detection</a:t>
            </a:r>
          </a:p>
          <a:p>
            <a:pPr/>
            <a:r>
              <a:rPr b="1"/>
              <a:t>Compliance Automation:</a:t>
            </a:r>
            <a:r>
              <a:t> 99.8% automated compliance with regulatory requirements</a:t>
            </a:r>
          </a:p>
          <a:p>
            <a:pPr/>
            <a:r>
              <a:rPr b="1"/>
              <a:t>Resource Governance:</a:t>
            </a:r>
            <a:r>
              <a:t> Complete resource lifecycle management and optimization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15: Strategic Cloud Value**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Digital Transformation Acceleration:</a:t>
            </a:r>
            <a:r>
              <a:t> Enterprise-ready cloud foundation for innovation</a:t>
            </a:r>
          </a:p>
          <a:p>
            <a:pPr/>
            <a:r>
              <a:rPr b="1"/>
              <a:t>Competitive Advantage:</a:t>
            </a:r>
            <a:r>
              <a:t> Faster time-to-market with standardized cloud environments</a:t>
            </a:r>
          </a:p>
          <a:p>
            <a:pPr/>
            <a:r>
              <a:rPr b="1"/>
              <a:t>Innovation Platform:</a:t>
            </a:r>
            <a:r>
              <a:t> Azure Landing Zone ready for AI, IoT, and emerging technologies</a:t>
            </a:r>
          </a:p>
          <a:p>
            <a:pPr/>
            <a:r>
              <a:rPr b="1"/>
              <a:t>Organizational Cloud Maturity:</a:t>
            </a:r>
            <a:r>
              <a:t> Established cloud-first culture and expertise</a:t>
            </a:r>
          </a:p>
          <a:p>
            <a:pPr/>
            <a:r>
              <a:rPr b="1"/>
              <a:t>Scale Foundation:</a:t>
            </a:r>
            <a:r>
              <a:t> Architecture designed for global enterprise scale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16: What Went Well**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Azure Landing Zone Design:</a:t>
            </a:r>
            <a:r>
              <a:t> Microsoft CAF reference architecture provided excellent foundation</a:t>
            </a:r>
          </a:p>
          <a:p>
            <a:pPr/>
            <a:r>
              <a:rPr b="1"/>
              <a:t>Policy-Driven Governance:</a:t>
            </a:r>
            <a:r>
              <a:t> Automated compliance enforcement exceeded expectations</a:t>
            </a:r>
          </a:p>
          <a:p>
            <a:pPr/>
            <a:r>
              <a:rPr b="1"/>
              <a:t>Cross-Functional Collaboration:</a:t>
            </a:r>
            <a:r>
              <a:t> Strong partnership between cloud, security, and business teams</a:t>
            </a:r>
          </a:p>
          <a:p>
            <a:pPr/>
            <a:r>
              <a:rPr b="1"/>
              <a:t>Phased Implementation:</a:t>
            </a:r>
            <a:r>
              <a:t> Incremental rollout minimized risk and maximized learning</a:t>
            </a:r>
          </a:p>
          <a:p>
            <a:pPr/>
            <a:r>
              <a:rPr b="1"/>
              <a:t>Microsoft Partnership:</a:t>
            </a:r>
            <a:r>
              <a:t> Excellent support from Microsoft throughout implementation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17: Cloud Governance Challenges Overcome**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311"/>
                <a:gridCol w="2177733"/>
                <a:gridCol w="1045311"/>
                <a:gridCol w="4442575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Resolution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Prevention for Future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Complex Policy Dependencies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Initial policy conflicts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Comprehensive policy testing framework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Policy impact analysis process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Legacy System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Hybrid connectivity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Detailed network architecture and testing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Hybrid connectivity design standards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Change Management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Resistance to cloud governance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Comprehensive training and stakeholder engagement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Early engagement in cloud initiatives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18: Cloud and Governance Key Learnings**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Technical Cloud Lessons:</a:t>
            </a:r>
          </a:p>
          <a:p>
            <a:pPr lvl="1"/>
            <a:r>
              <a:t>Azure Landing Zone accelerates enterprise cloud adoption significantly</a:t>
            </a:r>
          </a:p>
          <a:p>
            <a:pPr lvl="1"/>
            <a:r>
              <a:t>Policy-as-Code enables scalable governance across multiple subscriptions</a:t>
            </a:r>
          </a:p>
          <a:p>
            <a:pPr lvl="1"/>
            <a:r>
              <a:t>Network design is critical for security and performance in cloud environments</a:t>
            </a:r>
          </a:p>
          <a:p>
            <a:pPr/>
            <a:r>
              <a:rPr b="1"/>
              <a:t>Process Lessons:</a:t>
            </a:r>
          </a:p>
          <a:p>
            <a:pPr lvl="1"/>
            <a:r>
              <a:t>Governance framework must be implemented before workload migration</a:t>
            </a:r>
          </a:p>
          <a:p>
            <a:pPr lvl="1"/>
            <a:r>
              <a:t>Continuous compliance monitoring essential for enterprise environments</a:t>
            </a:r>
          </a:p>
          <a:p>
            <a:pPr lvl="1"/>
            <a:r>
              <a:t>Cost management requires both technical controls and organizational process</a:t>
            </a:r>
          </a:p>
          <a:p>
            <a:pPr/>
            <a:r>
              <a:rPr b="1"/>
              <a:t>Organizational Lessons:</a:t>
            </a:r>
          </a:p>
          <a:p>
            <a:pPr lvl="1"/>
            <a:r>
              <a:t>Cloud governance requires dedicated team and clear accountability</a:t>
            </a:r>
          </a:p>
          <a:p>
            <a:pPr lvl="1"/>
            <a:r>
              <a:t>Business unit engagement critical for successful cloud adoption</a:t>
            </a:r>
          </a:p>
          <a:p>
            <a:pPr lvl="1"/>
            <a:r>
              <a:t>Executive sponsorship essential for enterprise cloud transformation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19: Best Practices Established for Cloud**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Cloud Governance Framework:</a:t>
            </a:r>
            <a:r>
              <a:t> Comprehensive Azure policy and compliance standards</a:t>
            </a:r>
          </a:p>
          <a:p>
            <a:pPr/>
            <a:r>
              <a:rPr b="1"/>
              <a:t>Infrastructure as Code:</a:t>
            </a:r>
            <a:r>
              <a:t> Standardized Terraform and ARM template practices</a:t>
            </a:r>
          </a:p>
          <a:p>
            <a:pPr/>
            <a:r>
              <a:rPr b="1"/>
              <a:t>Cost Management:</a:t>
            </a:r>
            <a:r>
              <a:t> FinOps practices with automated cost optimization</a:t>
            </a:r>
          </a:p>
          <a:p>
            <a:pPr/>
            <a:r>
              <a:rPr b="1"/>
              <a:t>Security Standards:</a:t>
            </a:r>
            <a:r>
              <a:t> Zero trust architecture and cloud security framework</a:t>
            </a:r>
          </a:p>
          <a:p>
            <a:pPr/>
            <a:r>
              <a:rPr b="1"/>
              <a:t>Operational Excellence:</a:t>
            </a:r>
            <a:r>
              <a:t> Cloud monitoring, alerting, and incident response procedures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20: Immediate Cloud Operations Recommendations**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Governance Optimization:</a:t>
            </a:r>
          </a:p>
          <a:p>
            <a:pPr lvl="1"/>
            <a:r>
              <a:t>Continuous policy refinement based on business requirements</a:t>
            </a:r>
          </a:p>
          <a:p>
            <a:pPr lvl="1"/>
            <a:r>
              <a:t>Enhanced cost optimization with Azure Advisor recommendations</a:t>
            </a:r>
          </a:p>
          <a:p>
            <a:pPr lvl="1"/>
            <a:r>
              <a:t>Advanced security monitoring with Azure Sentinel</a:t>
            </a:r>
          </a:p>
          <a:p>
            <a:pPr/>
            <a:r>
              <a:rPr b="1"/>
              <a:t>Workload Migration:</a:t>
            </a:r>
          </a:p>
          <a:p>
            <a:pPr lvl="1"/>
            <a:r>
              <a:t>Begin systematic migration of applications to landing zone</a:t>
            </a:r>
          </a:p>
          <a:p>
            <a:pPr lvl="1"/>
            <a:r>
              <a:t>Implement application modernization roadmap</a:t>
            </a:r>
          </a:p>
          <a:p>
            <a:pPr lvl="1"/>
            <a:r>
              <a:t>Establish cloud-native development practices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21: Future Cloud Enhancement Opportunities**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Enhancement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Business Value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Multi-Region Landing Zones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Global scalability and disaster recovery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6-12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Azure DevOps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Automated CI/CD with governance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Medium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3-6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Advanced Analytics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Data-driven insights and AI capabilities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9-15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Medium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Edge Computing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IoT and edge workload support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Medium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6-9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Medium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22: Transition to Cloud Operations**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Cloud Operations Handover:</a:t>
            </a:r>
            <a:r>
              <a:t> Complete transition to cloud operations and governance teams</a:t>
            </a:r>
          </a:p>
          <a:p>
            <a:pPr/>
            <a:r>
              <a:rPr b="1"/>
              <a:t>Workload Migration Planning:</a:t>
            </a:r>
            <a:r>
              <a:t> Systematic application assessment and migration roadmap</a:t>
            </a:r>
          </a:p>
          <a:p>
            <a:pPr/>
            <a:r>
              <a:rPr b="1"/>
              <a:t>Continuous Governance:</a:t>
            </a:r>
            <a:r>
              <a:t> Ongoing policy management and compliance monitoring</a:t>
            </a:r>
          </a:p>
          <a:p>
            <a:pPr/>
            <a:r>
              <a:rPr b="1"/>
              <a:t>Cost Optimization:</a:t>
            </a:r>
            <a:r>
              <a:t> Regular cost reviews and optimization initiatives</a:t>
            </a:r>
          </a:p>
          <a:p>
            <a:pPr/>
            <a:r>
              <a:rPr b="1"/>
              <a:t>Innovation Enablement:</a:t>
            </a:r>
            <a:r>
              <a:t> Support for emerging technology adoption within governance framework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23: Cloud Foundation Core Team**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Manager:</a:t>
            </a:r>
            <a:r>
              <a:t> [Name] - Successful enterprise cloud foundation delivery</a:t>
            </a:r>
          </a:p>
          <a:p>
            <a:pPr/>
            <a:r>
              <a:rPr b="1"/>
              <a:t>Cloud Architect:</a:t>
            </a:r>
            <a:r>
              <a:t> [Name] - Azure Landing Zone design and implementation excellence</a:t>
            </a:r>
          </a:p>
          <a:p>
            <a:pPr/>
            <a:r>
              <a:rPr b="1"/>
              <a:t>Governance Lead:</a:t>
            </a:r>
            <a:r>
              <a:t> [Name] - Comprehensive policy framework and compliance achievement</a:t>
            </a:r>
          </a:p>
          <a:p>
            <a:pPr/>
            <a:r>
              <a:rPr b="1"/>
              <a:t>Network Architect:</a:t>
            </a:r>
            <a:r>
              <a:t> [Name] - Secure and scalable network foundation</a:t>
            </a:r>
          </a:p>
          <a:p>
            <a:pPr/>
            <a:r>
              <a:rPr b="1"/>
              <a:t>Security Architect:</a:t>
            </a:r>
            <a:r>
              <a:t> [Name] - Zero trust security architecture implementation</a:t>
            </a:r>
          </a:p>
          <a:p>
            <a:pPr/>
            <a:r>
              <a:rPr b="1"/>
              <a:t>FinOps Specialist:</a:t>
            </a:r>
            <a:r>
              <a:t> [Name] - Cost optimization and governance framework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24: Extended Cloud Team Recognition**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Microsoft Professional Services:</a:t>
            </a:r>
            <a:r>
              <a:t> Expert guidance on Azure Landing Zone best practices</a:t>
            </a:r>
          </a:p>
          <a:p>
            <a:pPr/>
            <a:r>
              <a:rPr b="1"/>
              <a:t>Business Unit Leaders:</a:t>
            </a:r>
            <a:r>
              <a:t> Active participation in cloud governance design</a:t>
            </a:r>
          </a:p>
          <a:p>
            <a:pPr/>
            <a:r>
              <a:rPr b="1"/>
              <a:t>Infrastructure Operations Team:</a:t>
            </a:r>
            <a:r>
              <a:t> Smooth transition to cloud operations model</a:t>
            </a:r>
          </a:p>
          <a:p>
            <a:pPr/>
            <a:r>
              <a:rPr b="1"/>
              <a:t>Application Teams:</a:t>
            </a:r>
            <a:r>
              <a:t> Cooperation in landing zone validation and testing</a:t>
            </a:r>
          </a:p>
          <a:p>
            <a:pPr/>
            <a:r>
              <a:rPr b="1"/>
              <a:t>Executive Cloud Sponsors:</a:t>
            </a:r>
            <a:r>
              <a:t> Vision and support for enterprise cloud transformation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25: Cloud Innovation Success Factors**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Cloud Expertise:</a:t>
            </a:r>
            <a:r>
              <a:t> Deep Azure architecture and governance knowledge</a:t>
            </a:r>
          </a:p>
          <a:p>
            <a:pPr/>
            <a:r>
              <a:rPr b="1"/>
              <a:t>Enterprise Thinking:</a:t>
            </a:r>
            <a:r>
              <a:t> Focus on scalable, enterprise-grade solutions</a:t>
            </a:r>
          </a:p>
          <a:p>
            <a:pPr/>
            <a:r>
              <a:rPr b="1"/>
              <a:t>Collaborative Approach:</a:t>
            </a:r>
            <a:r>
              <a:t> Strong cross-functional teamwork and communication</a:t>
            </a:r>
          </a:p>
          <a:p>
            <a:pPr/>
            <a:r>
              <a:rPr b="1"/>
              <a:t>Innovation Mindset:</a:t>
            </a:r>
            <a:r>
              <a:t> Balance between governance and business agility</a:t>
            </a:r>
          </a:p>
          <a:p>
            <a:pPr/>
            <a:r>
              <a:rPr b="1"/>
              <a:t>Continuous Learning:</a:t>
            </a:r>
            <a:r>
              <a:t> Commitment to cloud best practices and optimization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26: Cloud Foundation Project Success Declaration**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Cloud Objectives Achieved:</a:t>
            </a:r>
            <a:r>
              <a:t> Enterprise-grade Azure foundation with 99.8% compliance</a:t>
            </a:r>
          </a:p>
          <a:p>
            <a:pPr/>
            <a:r>
              <a:rPr b="1"/>
              <a:t>Business Value Delivered:</a:t>
            </a:r>
            <a:r>
              <a:t> 310% ROI with 40% cost optimization achieved</a:t>
            </a:r>
          </a:p>
          <a:p>
            <a:pPr/>
            <a:r>
              <a:rPr b="1"/>
              <a:t>Technical Excellence:</a:t>
            </a:r>
            <a:r>
              <a:t> Production-ready landing zone supporting 10+ business units</a:t>
            </a:r>
          </a:p>
          <a:p>
            <a:pPr/>
            <a:r>
              <a:rPr b="1"/>
              <a:t>Governance Success:</a:t>
            </a:r>
            <a:r>
              <a:t> Industry-leading security and compliance posture</a:t>
            </a:r>
          </a:p>
          <a:p>
            <a:pPr/>
            <a:r>
              <a:rPr b="1"/>
              <a:t>On-Time Delivery:</a:t>
            </a:r>
            <a:r>
              <a:t> Delivered enterprise cloud foundation on schedule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27: Azure Landing Zone Project Closure**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Cloud Foundation Operational:</a:t>
            </a:r>
            <a:r>
              <a:t> Production Azure Landing Zone supporting enterprise workloads</a:t>
            </a:r>
          </a:p>
          <a:p>
            <a:pPr/>
            <a:r>
              <a:rPr b="1"/>
              <a:t>Governance Framework Active:</a:t>
            </a:r>
            <a:r>
              <a:t> Automated compliance and cost management operational</a:t>
            </a:r>
          </a:p>
          <a:p>
            <a:pPr/>
            <a:r>
              <a:rPr b="1"/>
              <a:t>Knowledge Transfer Complete:</a:t>
            </a:r>
            <a:r>
              <a:t> Cloud operations team fully trained and equipped</a:t>
            </a:r>
          </a:p>
          <a:p>
            <a:pPr/>
            <a:r>
              <a:rPr b="1"/>
              <a:t>Documentation Complete:</a:t>
            </a:r>
            <a:r>
              <a:t> Comprehensive cloud architecture and governance documentation</a:t>
            </a:r>
          </a:p>
          <a:p>
            <a:pPr/>
            <a:r>
              <a:rPr b="1"/>
              <a:t>Lessons Captured:</a:t>
            </a:r>
            <a:r>
              <a:t> Best practices documented for ongoing cloud transformation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**Slide 28: Thank You and Q&amp;A**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/>
              <a:t>Appreciation:</a:t>
            </a:r>
            <a:r>
              <a:t> Thank you for supporting our enterprise cloud transformation</a:t>
            </a:r>
          </a:p>
          <a:p>
            <a:pPr/>
            <a:r>
              <a:rPr b="1"/>
              <a:t>Cloud Foundation Contact:</a:t>
            </a:r>
            <a:r>
              <a:t> [Future support and enhancement contact details]</a:t>
            </a:r>
          </a:p>
          <a:p>
            <a:pPr/>
            <a:r>
              <a:rPr b="1"/>
              <a:t>Q&amp;A Session:</a:t>
            </a:r>
            <a:r>
              <a:t> Questions about Azure Landing Zone implementation</a:t>
            </a:r>
          </a:p>
          <a:p>
            <a:pPr/>
            <a:r>
              <a:rPr b="1"/>
              <a:t>Cloud Strategy:</a:t>
            </a:r>
            <a:r>
              <a:t> Next steps in our enterprise cloud adoption journey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**Preparation Checklist**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 ] Gather cloud governance metrics and compliance data</a:t>
            </a:r>
          </a:p>
          <a:p>
            <a:pPr/>
            <a:r>
              <a:t>[ ] Collect business unit feedback on cloud foundation capabilities</a:t>
            </a:r>
          </a:p>
          <a:p>
            <a:pPr/>
            <a:r>
              <a:t>[ ] Prepare cloud cost analysis and ROI calculations</a:t>
            </a:r>
          </a:p>
          <a:p>
            <a:pPr/>
            <a:r>
              <a:t>[ ] Create visual Azure architecture and governance diagrams</a:t>
            </a:r>
          </a:p>
          <a:p>
            <a:pPr/>
            <a:r>
              <a:t>[ ] Practice presentation with live Azure portal demonstration</a:t>
            </a:r>
          </a:p>
          <a:p>
            <a:pPr/>
            <a:r>
              <a:t>[ ] Prepare for technical cloud architecture questions</a:t>
            </a:r>
          </a:p>
          <a:p>
            <a:pPr/>
            <a:r>
              <a:t>[ ] Coordinate with cloud team for technical Q&amp;A support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**Cloud Presentation Best Practices**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Business Transformation Focus:</a:t>
            </a:r>
            <a:r>
              <a:t> Lead with enterprise transformation through cloud</a:t>
            </a:r>
          </a:p>
          <a:p>
            <a:pPr/>
            <a:r>
              <a:rPr b="1"/>
              <a:t>Governance Excellence:</a:t>
            </a:r>
            <a:r>
              <a:t> Emphasize compliance, security, and cost optimization</a:t>
            </a:r>
          </a:p>
          <a:p>
            <a:pPr/>
            <a:r>
              <a:rPr b="1"/>
              <a:t>Visual Architecture:</a:t>
            </a:r>
            <a:r>
              <a:t> Include clear Azure Landing Zone architecture diagrams</a:t>
            </a:r>
          </a:p>
          <a:p>
            <a:pPr/>
            <a:r>
              <a:rPr b="1"/>
              <a:t>Foundation Story:</a:t>
            </a:r>
            <a:r>
              <a:t> Present as foundation for enterprise digital transformation</a:t>
            </a:r>
          </a:p>
          <a:p>
            <a:pPr/>
            <a:r>
              <a:rPr b="1"/>
              <a:t>Future-Ready Emphasis:</a:t>
            </a:r>
            <a:r>
              <a:t> Highlight scalability and innovation enablement</a:t>
            </a:r>
          </a:p>
          <a:p>
            <a:pPr/>
            <a:r>
              <a:rPr b="1"/>
              <a:t>Strategic Vision:</a:t>
            </a:r>
            <a:r>
              <a:t> End with enterprise cloud adoption roadmap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**Audience Engagement for Cloud Foundation**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Live Azure Demo:</a:t>
            </a:r>
            <a:r>
              <a:t> Show Azure portal with governance dashboards and policies</a:t>
            </a:r>
          </a:p>
          <a:p>
            <a:pPr/>
            <a:r>
              <a:rPr b="1"/>
              <a:t>Compliance Dashboards:</a:t>
            </a:r>
            <a:r>
              <a:t> Demonstrate real-time compliance and security monitoring</a:t>
            </a:r>
          </a:p>
          <a:p>
            <a:pPr/>
            <a:r>
              <a:rPr b="1"/>
              <a:t>Cost Management:</a:t>
            </a:r>
            <a:r>
              <a:t> Show cost optimization and budget management capabilities</a:t>
            </a:r>
          </a:p>
          <a:p>
            <a:pPr/>
            <a:r>
              <a:rPr b="1"/>
              <a:t>Foundation Innovation:</a:t>
            </a:r>
            <a:r>
              <a:t> Highlight enabling capabilities for business innovation</a:t>
            </a:r>
          </a:p>
          <a:p>
            <a:pPr/>
            <a:r>
              <a:rPr b="1"/>
              <a:t>Clear Cloud Strategy:</a:t>
            </a:r>
            <a:r>
              <a:t> Define next steps in enterprise cloud journey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**Follow-Up Actions**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 ] Distribute cloud foundation presentation and architecture documentation</a:t>
            </a:r>
          </a:p>
          <a:p>
            <a:pPr/>
            <a:r>
              <a:t>[ ] Send Azure Landing Zone governance and compliance summary</a:t>
            </a:r>
          </a:p>
          <a:p>
            <a:pPr/>
            <a:r>
              <a:t>[ ] Schedule cloud operations transition and workload migration planning</a:t>
            </a:r>
          </a:p>
          <a:p>
            <a:pPr/>
            <a:r>
              <a:t>[ ] Document cloud transformation lessons learned</a:t>
            </a:r>
          </a:p>
          <a:p>
            <a:pPr/>
            <a:r>
              <a:t>[ ] Archive cloud foundation project documentation and templates</a:t>
            </a:r>
          </a:p>
          <a:p>
            <a:pPr/>
            <a:r>
              <a:t>[ ] Plan cloud transformation team celebration and recognition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**A. Azure Cloud Foundation Dashboard**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[Include detailed cloud governance and compliance metrics]</a:t>
            </a:r>
          </a:p>
          <a:p>
            <a:pPr/>
            <a:r>
              <a:t>[Cost optimization and budget performance trends]</a:t>
            </a:r>
          </a:p>
          <a:p>
            <a:pPr/>
            <a:r>
              <a:t>[Security posture and compliance statistics]</a:t>
            </a:r>
          </a:p>
          <a:p>
            <a:pPr/>
            <a:r>
              <a:t>[Resource utilization and deployment efficiency data]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**B. Cloud Foundation Stakeholder Feedback**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[Compiled feedback from business units and application teams]</a:t>
            </a:r>
          </a:p>
          <a:p>
            <a:pPr/>
            <a:r>
              <a:t>[Cloud governance satisfaction surveys]</a:t>
            </a:r>
          </a:p>
          <a:p>
            <a:pPr/>
            <a:r>
              <a:t>[Executive feedback on cloud transformation progress]</a:t>
            </a:r>
          </a:p>
          <a:p>
            <a:pPr/>
            <a:r>
              <a:t>[Suggestions for future cloud capabilities and enhancements]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**C. Azure Landing Zone Artifacts**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[List of all cloud foundation deliverables]</a:t>
            </a:r>
          </a:p>
          <a:p>
            <a:pPr/>
            <a:r>
              <a:t>[Infrastructure as Code templates and configuration]</a:t>
            </a:r>
          </a:p>
          <a:p>
            <a:pPr/>
            <a:r>
              <a:t>[Azure policy definitions and governance framework]</a:t>
            </a:r>
          </a:p>
          <a:p>
            <a:pPr/>
            <a:r>
              <a:t>[Network architecture and security configuration documentation]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**D. Cloud Operations Transition Documentation**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[Cloud operations handover checklist]</a:t>
            </a:r>
          </a:p>
          <a:p>
            <a:pPr/>
            <a:r>
              <a:t>[Azure support and escalation procedures]</a:t>
            </a:r>
          </a:p>
          <a:p>
            <a:pPr/>
            <a:r>
              <a:t>[Cloud governance monitoring and maintenance procedures]</a:t>
            </a:r>
          </a:p>
          <a:p>
            <a:pPr/>
            <a:r>
              <a:t>[Business unit onboarding and self-service procedures]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