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Azure Enterprise Landing Zone implementation. This project has established [Client Name]'s secure, scalable cloud foundation using Azure's Cloud Adoption Framework best practices.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- 12 Weeks:**</a:t>
            </a:r>
          </a:p>
          <a:p>
            <a:r>
              <a:t>- We executed exactly as planned in the Statement of Work</a:t>
            </a:r>
          </a:p>
          <a:p>
            <a:r>
              <a:t>- Phase 1 (Discovery &amp; Architecture): Weeks 1-4 - Complete assessment and design</a:t>
            </a:r>
          </a:p>
          <a:p>
            <a:r>
              <a:t>- Phase 2 (Platform Foundation): Weeks 5-8 - Management groups, policies, network deployed</a:t>
            </a:r>
          </a:p>
          <a:p>
            <a:r>
              <a:t>- Phase 3 (Identity &amp; Monitoring): Weeks 9-12 - Security, monitoring, and automation configured</a:t>
            </a:r>
          </a:p>
          <a:p>
            <a:r>
              <a:t>- No schedule slippage despite complexity of multi-subscription architecture</a:t>
            </a:r>
          </a:p>
          <a:p/>
          <a:p>
            <a:r>
              <a:t>**Budget - $245,020 Year 1:**</a:t>
            </a:r>
          </a:p>
          <a:p>
            <a:r>
              <a:t>- Professional Services: $134,000 (520 hours as quoted)</a:t>
            </a:r>
          </a:p>
          <a:p>
            <a:r>
              <a:t>- Azure Cloud Services: $75,520/year (hub infrastructure)</a:t>
            </a:r>
          </a:p>
          <a:p>
            <a:r>
              <a:t>- Software Licenses: $30,600 (Sentinel, Defender, Monitor)</a:t>
            </a:r>
          </a:p>
          <a:p>
            <a:r>
              <a:t>- Support &amp; Maintenance: $24,800</a:t>
            </a:r>
          </a:p>
          <a:p>
            <a:r>
              <a:t>- Actual spend: $244,890 - $130 under budget</a:t>
            </a:r>
          </a:p>
          <a:p/>
          <a:p>
            <a:r>
              <a:t>**Go-Live - Week 12:**</a:t>
            </a:r>
          </a:p>
          <a:p>
            <a:r>
              <a:t>- Management group hierarchy operational with 20+ subscriptions</a:t>
            </a:r>
          </a:p>
          <a:p>
            <a:r>
              <a:t>- Hub-spoke network topology with Azure Firewall active</a:t>
            </a:r>
          </a:p>
          <a:p>
            <a:r>
              <a:t>- Azure Sentinel and Defender for Cloud monitoring all resources</a:t>
            </a:r>
          </a:p>
          <a:p>
            <a:r>
              <a:t>- Zero security incidents during cutover period</a:t>
            </a:r>
          </a:p>
          <a:p/>
          <a:p>
            <a:r>
              <a:t>**Quality - Zero Critical Findings:**</a:t>
            </a:r>
          </a:p>
          <a:p>
            <a:r>
              <a:t>- Azure Security Center score: 85/100</a:t>
            </a:r>
          </a:p>
          <a:p>
            <a:r>
              <a:t>- 150+ Azure Policies deployed and enforcing</a:t>
            </a:r>
          </a:p>
          <a:p>
            <a:r>
              <a:t>- All compliance benchmarks validated (SOC 2, ISO 27001)</a:t>
            </a:r>
          </a:p>
          <a:p>
            <a:r>
              <a:t>- No P1 or P2 defects at go-live</a:t>
            </a:r>
          </a:p>
          <a:p/>
          <a:p>
            <a:r>
              <a:t>**Compliance - 99.8% Policy Compliance:**</a:t>
            </a:r>
          </a:p>
          <a:p>
            <a:r>
              <a:t>- 150+ Azure Policies active across all subscriptions</a:t>
            </a:r>
          </a:p>
          <a:p>
            <a:r>
              <a:t>- Automated remediation for common violations</a:t>
            </a:r>
          </a:p>
          <a:p>
            <a:r>
              <a:t>- Real-time compliance dashboard operational</a:t>
            </a:r>
          </a:p>
          <a:p>
            <a:r>
              <a:t>- Audit-ready documentation complete</a:t>
            </a:r>
          </a:p>
          <a:p/>
          <a:p>
            <a:r>
              <a:t>**ROI - 14-Month Payback:**</a:t>
            </a:r>
          </a:p>
          <a:p>
            <a:r>
              <a:t>- Cost governance savings: $50,000/year estimated</a:t>
            </a:r>
          </a:p>
          <a:p>
            <a:r>
              <a:t>- Security incident reduction: $75,000/year risk mitigation</a:t>
            </a:r>
          </a:p>
          <a:p>
            <a:r>
              <a:t>- Developer productivity: 8x faster environment provisioning</a:t>
            </a:r>
          </a:p>
          <a:p>
            <a:r>
              <a:t>- Shadow IT elimination: Full visibility and control</a:t>
            </a:r>
          </a:p>
          <a:p/>
          <a:p>
            <a:r>
              <a:t>*Transition to Next Slide:*</a:t>
            </a:r>
          </a:p>
          <a:p>
            <a:r>
              <a:t>"Let me walk you through exactly what we built together..."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production architecture we deployed. Let me walk through the enterprise landing zone structure..."</a:t>
            </a:r>
          </a:p>
          <a:p/>
          <a:p>
            <a:r>
              <a:t>**Management Group Hierarchy:**</a:t>
            </a:r>
          </a:p>
          <a:p>
            <a:r>
              <a:t>- Root Management Group with enterprise policies</a:t>
            </a:r>
          </a:p>
          <a:p>
            <a:r>
              <a:t>- Platform MG: Shared services, connectivity, identity</a:t>
            </a:r>
          </a:p>
          <a:p>
            <a:r>
              <a:t>- Landing Zones MG: Corp and Online workload subscriptions</a:t>
            </a:r>
          </a:p>
          <a:p>
            <a:r>
              <a:t>- Sandbox MG: Development and innovation environments</a:t>
            </a:r>
          </a:p>
          <a:p>
            <a:r>
              <a:t>- 20+ application subscriptions organized under landing zones</a:t>
            </a:r>
          </a:p>
          <a:p/>
          <a:p>
            <a:r>
              <a:t>**Governance Layer - Azure Policy Framework:**</a:t>
            </a:r>
          </a:p>
          <a:p>
            <a:r>
              <a:t>- 150+ Azure Policies for compliance enforcement</a:t>
            </a:r>
          </a:p>
          <a:p>
            <a:r>
              <a:t>- Policy initiatives for SOC 2, ISO 27001, CIS benchmarks</a:t>
            </a:r>
          </a:p>
          <a:p>
            <a:r>
              <a:t>- Automated remediation for common violations</a:t>
            </a:r>
          </a:p>
          <a:p>
            <a:r>
              <a:t>- Deny policies for non-compliant resource creation</a:t>
            </a:r>
          </a:p>
          <a:p>
            <a:r>
              <a:t>- Tag enforcement for cost allocation and governance</a:t>
            </a:r>
          </a:p>
          <a:p/>
          <a:p>
            <a:r>
              <a:t>**Network Platform - Hub-Spoke Topology:**</a:t>
            </a:r>
          </a:p>
          <a:p>
            <a:r>
              <a:t>- Hub Virtual Networks in East US and West US</a:t>
            </a:r>
          </a:p>
          <a:p>
            <a:r>
              <a:t>- Azure Virtual WAN Premium for global connectivity</a:t>
            </a:r>
          </a:p>
          <a:p>
            <a:r>
              <a:t>- Azure Firewall Premium with advanced threat protection</a:t>
            </a:r>
          </a:p>
          <a:p>
            <a:r>
              <a:t>- ExpressRoute (1 Gbps) for hybrid on-premises connectivity</a:t>
            </a:r>
          </a:p>
          <a:p>
            <a:r>
              <a:t>- 20+ Private DNS zones for Azure PaaS services</a:t>
            </a:r>
          </a:p>
          <a:p>
            <a:r>
              <a:t>- Network segmentation with NSGs and UDRs</a:t>
            </a:r>
          </a:p>
          <a:p/>
          <a:p>
            <a:r>
              <a:t>**Security Operations Center:**</a:t>
            </a:r>
          </a:p>
          <a:p>
            <a:r>
              <a:t>- Azure Sentinel with 15+ data connectors</a:t>
            </a:r>
          </a:p>
          <a:p>
            <a:r>
              <a:t>- Real-time threat detection and automated response</a:t>
            </a:r>
          </a:p>
          <a:p>
            <a:r>
              <a:t>- Defender for Cloud Standard across all subscriptions</a:t>
            </a:r>
          </a:p>
          <a:p>
            <a:r>
              <a:t>- Azure Bastion for secure administrative access</a:t>
            </a:r>
          </a:p>
          <a:p>
            <a:r>
              <a:t>- Just-In-Time VM access for privileged operations</a:t>
            </a:r>
          </a:p>
          <a:p>
            <a:r>
              <a:t>- Continuous compliance monitoring and reporting</a:t>
            </a:r>
          </a:p>
          <a:p/>
          <a:p>
            <a:r>
              <a:t>**Key Architecture Decisions Made During Implementation:**</a:t>
            </a:r>
          </a:p>
          <a:p>
            <a:r>
              <a:t>1. Selected Azure Virtual WAN over traditional hub for simplified management</a:t>
            </a:r>
          </a:p>
          <a:p>
            <a:r>
              <a:t>2. Implemented Azure Firewall Premium for TLS inspection capability</a:t>
            </a:r>
          </a:p>
          <a:p>
            <a:r>
              <a:t>3. Deployed Sentinel over third-party SIEM for native Azure integration</a:t>
            </a:r>
          </a:p>
          <a:p>
            <a:r>
              <a:t>4. Used management group-based policy assignment for scale</a:t>
            </a:r>
          </a:p>
          <a:p/>
          <a:p>
            <a:r>
              <a:t>*Transition:*</a:t>
            </a:r>
          </a:p>
          <a:p>
            <a:r>
              <a:t>"Now let me show you the complete deliverables package we're handing over..."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 - Review Each Item:*</a:t>
            </a:r>
          </a:p>
          <a:p/>
          <a:p>
            <a:r>
              <a:t>**1. Enterprise Architecture Document:**</a:t>
            </a:r>
          </a:p>
          <a:p>
            <a:r>
              <a:t>- 65 pages comprehensive technical documentation</a:t>
            </a:r>
          </a:p>
          <a:p>
            <a:r>
              <a:t>- Management group hierarchy and design rationale</a:t>
            </a:r>
          </a:p>
          <a:p>
            <a:r>
              <a:t>- Network topology with detailed diagrams</a:t>
            </a:r>
          </a:p>
          <a:p>
            <a:r>
              <a:t>- Security architecture and threat model</a:t>
            </a:r>
          </a:p>
          <a:p>
            <a:r>
              <a:t>- Policy framework and compliance mapping</a:t>
            </a:r>
          </a:p>
          <a:p>
            <a:r>
              <a:t>- Integration specifications for hybrid connectivity</a:t>
            </a:r>
          </a:p>
          <a:p>
            <a:r>
              <a:t>- Reviewed and accepted by [Technical Lead] on [Date]</a:t>
            </a:r>
          </a:p>
          <a:p/>
          <a:p>
            <a:r>
              <a:t>**2. Implementation Guide:**</a:t>
            </a:r>
          </a:p>
          <a:p>
            <a:r>
              <a:t>- Step-by-step deployment procedures</a:t>
            </a:r>
          </a:p>
          <a:p>
            <a:r>
              <a:t>- Terraform modules for all Azure resources</a:t>
            </a:r>
          </a:p>
          <a:p>
            <a:r>
              <a:t>- ARM template alternatives where applicable</a:t>
            </a:r>
          </a:p>
          <a:p>
            <a:r>
              <a:t>- Environment-specific configurations (dev, staging, prod)</a:t>
            </a:r>
          </a:p>
          <a:p>
            <a:r>
              <a:t>- Post-deployment validation procedures</a:t>
            </a:r>
          </a:p>
          <a:p>
            <a:r>
              <a:t>- Rollback procedures for each deployment phase</a:t>
            </a:r>
          </a:p>
          <a:p/>
          <a:p>
            <a:r>
              <a:t>**3. Project Plan:**</a:t>
            </a:r>
          </a:p>
          <a:p>
            <a:r>
              <a:t>- Four worksheets: Timeline, Milestones, RACI Matrix, Communications Plan</a:t>
            </a:r>
          </a:p>
          <a:p>
            <a:r>
              <a:t>- 45 tasks across 12 weeks</a:t>
            </a:r>
          </a:p>
          <a:p>
            <a:r>
              <a:t>- 7 major milestones tracked</a:t>
            </a:r>
          </a:p>
          <a:p>
            <a:r>
              <a:t>- Clear ownership for all activities</a:t>
            </a:r>
          </a:p>
          <a:p>
            <a:r>
              <a:t>- Final status: 100% complete</a:t>
            </a:r>
          </a:p>
          <a:p/>
          <a:p>
            <a:r>
              <a:t>**4. Test Plan &amp; Results:**</a:t>
            </a:r>
          </a:p>
          <a:p>
            <a:r>
              <a:t>- Functional Tests: 25 test cases (100% pass)</a:t>
            </a:r>
          </a:p>
          <a:p>
            <a:r>
              <a:t>- Security Tests: 18 test cases (100% pass)</a:t>
            </a:r>
          </a:p>
          <a:p>
            <a:r>
              <a:t>- Compliance Tests: 12 test cases (100% pass)</a:t>
            </a:r>
          </a:p>
          <a:p>
            <a:r>
              <a:t>- Performance Tests: 8 test cases (100% pass)</a:t>
            </a:r>
          </a:p>
          <a:p>
            <a:r>
              <a:t>- UAT: 15 test cases (100% pass)</a:t>
            </a:r>
          </a:p>
          <a:p/>
          <a:p>
            <a:r>
              <a:t>**5. Terraform/ARM Templates:**</a:t>
            </a:r>
          </a:p>
          <a:p>
            <a:r>
              <a:t>- Complete Infrastructure as Code package</a:t>
            </a:r>
          </a:p>
          <a:p>
            <a:r>
              <a:t>- Modular design for reusability</a:t>
            </a:r>
          </a:p>
          <a:p>
            <a:r>
              <a:t>- Modules: networking, security, governance, monitoring</a:t>
            </a:r>
          </a:p>
          <a:p>
            <a:r>
              <a:t>- State management with Azure Storage backend</a:t>
            </a:r>
          </a:p>
          <a:p>
            <a:r>
              <a:t>- CI/CD pipeline definitions for GitHub Actions</a:t>
            </a:r>
          </a:p>
          <a:p/>
          <a:p>
            <a:r>
              <a:t>**6. Operations Runbook:**</a:t>
            </a:r>
          </a:p>
          <a:p>
            <a:r>
              <a:t>- Daily governance checklist</a:t>
            </a:r>
          </a:p>
          <a:p>
            <a:r>
              <a:t>- Policy violation investigation procedures</a:t>
            </a:r>
          </a:p>
          <a:p>
            <a:r>
              <a:t>- Network troubleshooting guides</a:t>
            </a:r>
          </a:p>
          <a:p>
            <a:r>
              <a:t>- Security incident response playbooks</a:t>
            </a:r>
          </a:p>
          <a:p>
            <a:r>
              <a:t>- Cost optimization procedures</a:t>
            </a:r>
          </a:p>
          <a:p>
            <a:r>
              <a:t>- Subscription vending automation</a:t>
            </a:r>
          </a:p>
          <a:p/>
          <a:p>
            <a:r>
              <a:t>**7. Training Materials:**</a:t>
            </a:r>
          </a:p>
          <a:p>
            <a:r>
              <a:t>- Platform Administrator Guide (PDF, 45 pages)</a:t>
            </a:r>
          </a:p>
          <a:p>
            <a:r>
              <a:t>- Security Operations Guide (PDF, 30 pages)</a:t>
            </a:r>
          </a:p>
          <a:p>
            <a:r>
              <a:t>- Network Operations Guide (PDF, 25 pages)</a:t>
            </a:r>
          </a:p>
          <a:p>
            <a:r>
              <a:t>- Video tutorials (6 recordings, 3 hours total)</a:t>
            </a:r>
          </a:p>
          <a:p>
            <a:r>
              <a:t>- Quick reference cards for common tasks</a:t>
            </a:r>
          </a:p>
          <a:p/>
          <a:p>
            <a:r>
              <a:t>**8. Policy Documentation:**</a:t>
            </a:r>
          </a:p>
          <a:p>
            <a:r>
              <a:t>- Complete catalog of 150+ policies</a:t>
            </a:r>
          </a:p>
          <a:p>
            <a:r>
              <a:t>- Policy initiatives and assignments</a:t>
            </a:r>
          </a:p>
          <a:p>
            <a:r>
              <a:t>- Remediation task procedures</a:t>
            </a:r>
          </a:p>
          <a:p>
            <a:r>
              <a:t>- Exception request process</a:t>
            </a:r>
          </a:p>
          <a:p>
            <a:r>
              <a:t>- Policy update procedures</a:t>
            </a:r>
          </a:p>
          <a:p/>
          <a:p>
            <a:r>
              <a:t>*Transition:*</a:t>
            </a:r>
          </a:p>
          <a:p>
            <a:r>
              <a:t>"Let's look at how the solution is performing against our targets..."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**Governance Metrics - Detailed Breakdown:**</a:t>
            </a:r>
          </a:p>
          <a:p/>
          <a:p>
            <a:r>
              <a:t>*Policy Compliance: 99.8%*</a:t>
            </a:r>
          </a:p>
          <a:p>
            <a:r>
              <a:t>- 150+ policies enforcing governance across all subscriptions</a:t>
            </a:r>
          </a:p>
          <a:p>
            <a:r>
              <a:t>- Real-time compliance dashboard in Azure Portal</a:t>
            </a:r>
          </a:p>
          <a:p>
            <a:r>
              <a:t>- Automated remediation for 80% of common violations</a:t>
            </a:r>
          </a:p>
          <a:p>
            <a:r>
              <a:t>- Manual review process for remaining exceptions</a:t>
            </a:r>
          </a:p>
          <a:p>
            <a:r>
              <a:t>- Weekly compliance report distribution</a:t>
            </a:r>
          </a:p>
          <a:p/>
          <a:p>
            <a:r>
              <a:t>*Resource Tagging: 100%*</a:t>
            </a:r>
          </a:p>
          <a:p>
            <a:r>
              <a:t>- Mandatory tags enforced via Azure Policy</a:t>
            </a:r>
          </a:p>
          <a:p>
            <a:r>
              <a:t>- Tags: CostCenter, Owner, Environment, Application, Confidentiality</a:t>
            </a:r>
          </a:p>
          <a:p>
            <a:r>
              <a:t>- Automated tag inheritance from subscriptions</a:t>
            </a:r>
          </a:p>
          <a:p>
            <a:r>
              <a:t>- Tag compliance prevents resource deployment without tags</a:t>
            </a:r>
          </a:p>
          <a:p/>
          <a:p>
            <a:r>
              <a:t>*Cost Variance: 2%*</a:t>
            </a:r>
          </a:p>
          <a:p>
            <a:r>
              <a:t>- Budget alerts at 50%, 75%, 90%, 100%</a:t>
            </a:r>
          </a:p>
          <a:p>
            <a:r>
              <a:t>- Chargeback model implemented per business unit</a:t>
            </a:r>
          </a:p>
          <a:p>
            <a:r>
              <a:t>- Reserved instance recommendations generated</a:t>
            </a:r>
          </a:p>
          <a:p>
            <a:r>
              <a:t>- Orphaned resource identification automated</a:t>
            </a:r>
          </a:p>
          <a:p/>
          <a:p>
            <a:r>
              <a:t>*Subscription Provisioning: 4 Hours*</a:t>
            </a:r>
          </a:p>
          <a:p>
            <a:r>
              <a:t>- SOW target: &lt;48 hours</a:t>
            </a:r>
          </a:p>
          <a:p>
            <a:r>
              <a:t>- Achieved: 4 hours average (92% better than target)</a:t>
            </a:r>
          </a:p>
          <a:p>
            <a:r>
              <a:t>- Subscription vending automation in place</a:t>
            </a:r>
          </a:p>
          <a:p>
            <a:r>
              <a:t>- Self-service portal for application teams</a:t>
            </a:r>
          </a:p>
          <a:p>
            <a:r>
              <a:t>- Automated network peering and policy assignment</a:t>
            </a:r>
          </a:p>
          <a:p/>
          <a:p>
            <a:r>
              <a:t>**Security Metrics - Detailed Analysis:**</a:t>
            </a:r>
          </a:p>
          <a:p/>
          <a:p>
            <a:r>
              <a:t>*Security Score: 85/100*</a:t>
            </a:r>
          </a:p>
          <a:p>
            <a:r>
              <a:t>- Azure Security Center continuous assessment</a:t>
            </a:r>
          </a:p>
          <a:p>
            <a:r>
              <a:t>- All recommendations addressed or documented</a:t>
            </a:r>
          </a:p>
          <a:p>
            <a:r>
              <a:t>- Secure score trending upward weekly</a:t>
            </a:r>
          </a:p>
          <a:p>
            <a:r>
              <a:t>- Industry benchmark: 65-75 average</a:t>
            </a:r>
          </a:p>
          <a:p/>
          <a:p>
            <a:r>
              <a:t>*Critical Findings: 0*</a:t>
            </a:r>
          </a:p>
          <a:p>
            <a:r>
              <a:t>- No P1/P2 security findings at go-live</a:t>
            </a:r>
          </a:p>
          <a:p>
            <a:r>
              <a:t>- Vulnerability scanning active on all VMs</a:t>
            </a:r>
          </a:p>
          <a:p>
            <a:r>
              <a:t>- Container security for AKS enabled</a:t>
            </a:r>
          </a:p>
          <a:p>
            <a:r>
              <a:t>- Web application firewall protecting public endpoints</a:t>
            </a:r>
          </a:p>
          <a:p/>
          <a:p>
            <a:r>
              <a:t>*MFA Enrollment: 100%*</a:t>
            </a:r>
          </a:p>
          <a:p>
            <a:r>
              <a:t>- All administrative accounts MFA-enabled</a:t>
            </a:r>
          </a:p>
          <a:p>
            <a:r>
              <a:t>- Conditional Access policies enforcing MFA</a:t>
            </a:r>
          </a:p>
          <a:p>
            <a:r>
              <a:t>- FIDO2 security keys available for privileged users</a:t>
            </a:r>
          </a:p>
          <a:p>
            <a:r>
              <a:t>- Session duration policies in place</a:t>
            </a:r>
          </a:p>
          <a:p/>
          <a:p>
            <a:r>
              <a:t>**Comparison to SOW Targets:**</a:t>
            </a:r>
          </a:p>
          <a:p>
            <a:r>
              <a:t>| Metric | SOW Target | Achieved | Status |</a:t>
            </a:r>
          </a:p>
          <a:p>
            <a:r>
              <a:t>|--------|------------|----------|--------|</a:t>
            </a:r>
          </a:p>
          <a:p>
            <a:r>
              <a:t>| Policy Compliance | 95%+ | 99.8% | Exceeded |</a:t>
            </a:r>
          </a:p>
          <a:p>
            <a:r>
              <a:t>| Security Score | 80+ | 85 | Exceeded |</a:t>
            </a:r>
          </a:p>
          <a:p>
            <a:r>
              <a:t>| Hub Latency | &lt;50ms | 12ms | Exceeded |</a:t>
            </a:r>
          </a:p>
          <a:p>
            <a:r>
              <a:t>| Subscription Provisioning | &lt;48 hrs | 4 hrs | Exceeded |</a:t>
            </a:r>
          </a:p>
          <a:p/>
          <a:p>
            <a:r>
              <a:t>*Transition:*</a:t>
            </a:r>
          </a:p>
          <a:p>
            <a:r>
              <a:t>"These governance improvements translate directly into business value..."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ROI Discussion:*</a:t>
            </a:r>
          </a:p>
          <a:p/>
          <a:p>
            <a:r>
              <a:t>**Cost Governance - 40% Optimization:**</a:t>
            </a:r>
          </a:p>
          <a:p/>
          <a:p>
            <a:r>
              <a:t>*Before (Ad-hoc Cloud):*</a:t>
            </a:r>
          </a:p>
          <a:p>
            <a:r>
              <a:t>- Uncontrolled resource deployment</a:t>
            </a:r>
          </a:p>
          <a:p>
            <a:r>
              <a:t>- No visibility into spending by business unit</a:t>
            </a:r>
          </a:p>
          <a:p>
            <a:r>
              <a:t>- Orphaned resources accumulating costs</a:t>
            </a:r>
          </a:p>
          <a:p>
            <a:r>
              <a:t>- Oversized VMs and unutilized capacity</a:t>
            </a:r>
          </a:p>
          <a:p>
            <a:r>
              <a:t>- No reserved instance planning</a:t>
            </a:r>
          </a:p>
          <a:p/>
          <a:p>
            <a:r>
              <a:t>*After (Governed Landing Zone):*</a:t>
            </a:r>
          </a:p>
          <a:p>
            <a:r>
              <a:t>- Budget alerts and spending controls</a:t>
            </a:r>
          </a:p>
          <a:p>
            <a:r>
              <a:t>- Chargeback by business unit with tags</a:t>
            </a:r>
          </a:p>
          <a:p>
            <a:r>
              <a:t>- Automated orphan resource cleanup</a:t>
            </a:r>
          </a:p>
          <a:p>
            <a:r>
              <a:t>- Right-sizing recommendations automated</a:t>
            </a:r>
          </a:p>
          <a:p>
            <a:r>
              <a:t>- Reserved instance coverage: 45%</a:t>
            </a:r>
          </a:p>
          <a:p/>
          <a:p>
            <a:r>
              <a:t>*Financial Impact:*</a:t>
            </a:r>
          </a:p>
          <a:p>
            <a:r>
              <a:t>- Estimated annual savings: $50,000+</a:t>
            </a:r>
          </a:p>
          <a:p>
            <a:r>
              <a:t>- Cost avoidance from governance: $75,000+</a:t>
            </a:r>
          </a:p>
          <a:p>
            <a:r>
              <a:t>- Reserved instance savings: $25,000/year projected</a:t>
            </a:r>
          </a:p>
          <a:p/>
          <a:p>
            <a:r>
              <a:t>**Deployment Speed - 92% Improvement:**</a:t>
            </a:r>
          </a:p>
          <a:p/>
          <a:p>
            <a:r>
              <a:t>*Before (Manual Process):*</a:t>
            </a:r>
          </a:p>
          <a:p>
            <a:r>
              <a:t>- Average subscription request: 2-4 weeks</a:t>
            </a:r>
          </a:p>
          <a:p>
            <a:r>
              <a:t>- Manual network configuration required</a:t>
            </a:r>
          </a:p>
          <a:p>
            <a:r>
              <a:t>- Security controls added reactively</a:t>
            </a:r>
          </a:p>
          <a:p>
            <a:r>
              <a:t>- No standardization across teams</a:t>
            </a:r>
          </a:p>
          <a:p/>
          <a:p>
            <a:r>
              <a:t>*After (Automated Vending):*</a:t>
            </a:r>
          </a:p>
          <a:p>
            <a:r>
              <a:t>- Subscription ready: 4 hours average</a:t>
            </a:r>
          </a:p>
          <a:p>
            <a:r>
              <a:t>- Network peered automatically</a:t>
            </a:r>
          </a:p>
          <a:p>
            <a:r>
              <a:t>- Policies applied at creation</a:t>
            </a:r>
          </a:p>
          <a:p>
            <a:r>
              <a:t>- Consistent baseline for all teams</a:t>
            </a:r>
          </a:p>
          <a:p/>
          <a:p>
            <a:r>
              <a:t>*Business Impact:*</a:t>
            </a:r>
          </a:p>
          <a:p>
            <a:r>
              <a:t>- Application teams self-service enabled</a:t>
            </a:r>
          </a:p>
          <a:p>
            <a:r>
              <a:t>- Shadow IT eliminated</a:t>
            </a:r>
          </a:p>
          <a:p>
            <a:r>
              <a:t>- Faster time-to-market for projects</a:t>
            </a:r>
          </a:p>
          <a:p/>
          <a:p>
            <a:r>
              <a:t>**ROI Summary:**</a:t>
            </a:r>
          </a:p>
          <a:p/>
          <a:p>
            <a:r>
              <a:t>| Metric | Value |</a:t>
            </a:r>
          </a:p>
          <a:p>
            <a:r>
              <a:t>|--------|-------|</a:t>
            </a:r>
          </a:p>
          <a:p>
            <a:r>
              <a:t>| Total Investment (Year 1) | $245,020 |</a:t>
            </a:r>
          </a:p>
          <a:p>
            <a:r>
              <a:t>| Year 1 Cost Savings | $125,000 |</a:t>
            </a:r>
          </a:p>
          <a:p>
            <a:r>
              <a:t>| Year 1 Risk Reduction | $75,000 |</a:t>
            </a:r>
          </a:p>
          <a:p>
            <a:r>
              <a:t>| Total Year 1 Benefit | $200,000 |</a:t>
            </a:r>
          </a:p>
          <a:p>
            <a:r>
              <a:t>| Payback Period | 14.7 months |</a:t>
            </a:r>
          </a:p>
          <a:p>
            <a:r>
              <a:t>| 3-Year TCO | $469,060 |</a:t>
            </a:r>
          </a:p>
          <a:p>
            <a:r>
              <a:t>| 3-Year Benefit | $600,000+ |</a:t>
            </a:r>
          </a:p>
          <a:p>
            <a:r>
              <a:t>| 3-Year ROI | 128% |</a:t>
            </a:r>
          </a:p>
          <a:p/>
          <a:p>
            <a:r>
              <a:t>*Transition:*</a:t>
            </a:r>
          </a:p>
          <a:p>
            <a:r>
              <a:t>"We learned valuable lessons during this implementation that will help with future workload migrations..."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CAF Reference Architecture:*</a:t>
            </a:r>
          </a:p>
          <a:p>
            <a:r>
              <a:t>- Microsoft's Cloud Adoption Framework provided proven blueprint</a:t>
            </a:r>
          </a:p>
          <a:p>
            <a:r>
              <a:t>- Accelerated design decisions with validated patterns</a:t>
            </a:r>
          </a:p>
          <a:p>
            <a:r>
              <a:t>- Community support and documentation available</a:t>
            </a:r>
          </a:p>
          <a:p>
            <a:r>
              <a:t>- Regular updates aligned with Azure platform evolution</a:t>
            </a:r>
          </a:p>
          <a:p/>
          <a:p>
            <a:r>
              <a:t>*2. Policy-as-Code Approach:*</a:t>
            </a:r>
          </a:p>
          <a:p>
            <a:r>
              <a:t>- 150+ policies managed as code in Git repository</a:t>
            </a:r>
          </a:p>
          <a:p>
            <a:r>
              <a:t>- Version control for all policy changes</a:t>
            </a:r>
          </a:p>
          <a:p>
            <a:r>
              <a:t>- Automated testing of policy impact</a:t>
            </a:r>
          </a:p>
          <a:p>
            <a:r>
              <a:t>- Scalable governance across 20+ subscriptions</a:t>
            </a:r>
          </a:p>
          <a:p/>
          <a:p>
            <a:r>
              <a:t>*3. Phased Deployment:*</a:t>
            </a:r>
          </a:p>
          <a:p>
            <a:r>
              <a:t>- Foundation first, then security, then automation</a:t>
            </a:r>
          </a:p>
          <a:p>
            <a:r>
              <a:t>- Validation gates at each phase</a:t>
            </a:r>
          </a:p>
          <a:p>
            <a:r>
              <a:t>- Risk mitigation through incremental delivery</a:t>
            </a:r>
          </a:p>
          <a:p>
            <a:r>
              <a:t>- Stakeholder confidence built progressively</a:t>
            </a:r>
          </a:p>
          <a:p/>
          <a:p>
            <a:r>
              <a:t>*4. Cross-Functional Engagement:*</a:t>
            </a:r>
          </a:p>
          <a:p>
            <a:r>
              <a:t>- Security team involved from design</a:t>
            </a:r>
          </a:p>
          <a:p>
            <a:r>
              <a:t>- Network team co-designed hub architecture</a:t>
            </a:r>
          </a:p>
          <a:p>
            <a:r>
              <a:t>- Finance team contributed to cost model</a:t>
            </a:r>
          </a:p>
          <a:p>
            <a:r>
              <a:t>- Application teams tested subscription vending</a:t>
            </a:r>
          </a:p>
          <a:p/>
          <a:p>
            <a:r>
              <a:t>**Challenges Overcome - Details:**</a:t>
            </a:r>
          </a:p>
          <a:p/>
          <a:p>
            <a:r>
              <a:t>*1. Complex Policy Dependencies:*</a:t>
            </a:r>
          </a:p>
          <a:p>
            <a:r>
              <a:t>- Challenge: Initial policy conflicts and ordering issues</a:t>
            </a:r>
          </a:p>
          <a:p>
            <a:r>
              <a:t>- Impact: Deployment failures and unexpected denies</a:t>
            </a:r>
          </a:p>
          <a:p>
            <a:r>
              <a:t>- Resolution: Comprehensive policy testing framework</a:t>
            </a:r>
          </a:p>
          <a:p>
            <a:r>
              <a:t>- Prevention: Policy impact analysis process</a:t>
            </a:r>
          </a:p>
          <a:p/>
          <a:p>
            <a:r>
              <a:t>*2. Legacy System Integration:*</a:t>
            </a:r>
          </a:p>
          <a:p>
            <a:r>
              <a:t>- Challenge: Hybrid connectivity complexity</a:t>
            </a:r>
          </a:p>
          <a:p>
            <a:r>
              <a:t>- Impact: ExpressRoute routing issues</a:t>
            </a:r>
          </a:p>
          <a:p>
            <a:r>
              <a:t>- Resolution: Detailed network architecture and testing</a:t>
            </a:r>
          </a:p>
          <a:p>
            <a:r>
              <a:t>- Prevention: Hybrid connectivity design standards</a:t>
            </a:r>
          </a:p>
          <a:p/>
          <a:p>
            <a:r>
              <a:t>*3. Change Management:*</a:t>
            </a:r>
          </a:p>
          <a:p>
            <a:r>
              <a:t>- Challenge: Resistance to cloud governance</a:t>
            </a:r>
          </a:p>
          <a:p>
            <a:r>
              <a:t>- Impact: Slow initial adoption by application teams</a:t>
            </a:r>
          </a:p>
          <a:p>
            <a:r>
              <a:t>- Resolution: Comprehensive training and stakeholder engagement</a:t>
            </a:r>
          </a:p>
          <a:p>
            <a:r>
              <a:t>- Prevention: Early engagement in cloud initiatives</a:t>
            </a:r>
          </a:p>
          <a:p/>
          <a:p>
            <a:r>
              <a:t>**Recommendations for Future Enhancement:**</a:t>
            </a:r>
          </a:p>
          <a:p/>
          <a:p>
            <a:r>
              <a:t>*1. Workload Migration Planning (Immediate):*</a:t>
            </a:r>
          </a:p>
          <a:p>
            <a:r>
              <a:t>- Application portfolio assessment complete</a:t>
            </a:r>
          </a:p>
          <a:p>
            <a:r>
              <a:t>- Migration waves defined: 20-30 applications</a:t>
            </a:r>
          </a:p>
          <a:p>
            <a:r>
              <a:t>- Wave 1 candidates identified (6 applications)</a:t>
            </a:r>
          </a:p>
          <a:p>
            <a:r>
              <a:t>- Estimated effort: 6-12 months for initial waves</a:t>
            </a:r>
          </a:p>
          <a:p/>
          <a:p>
            <a:r>
              <a:t>*2. Azure DevOps Integration (Next Quarter):*</a:t>
            </a:r>
          </a:p>
          <a:p>
            <a:r>
              <a:t>- CI/CD pipeline integration with governance</a:t>
            </a:r>
          </a:p>
          <a:p>
            <a:r>
              <a:t>- Policy-as-Code deployment automation</a:t>
            </a:r>
          </a:p>
          <a:p>
            <a:r>
              <a:t>- Environment promotion with approval gates</a:t>
            </a:r>
          </a:p>
          <a:p>
            <a:r>
              <a:t>- Estimated effort: 4-6 weeks</a:t>
            </a:r>
          </a:p>
          <a:p/>
          <a:p>
            <a:r>
              <a:t>*3. Multi-Region Expansion (6-12 Months):*</a:t>
            </a:r>
          </a:p>
          <a:p>
            <a:r>
              <a:t>- West US hub deployment</a:t>
            </a:r>
          </a:p>
          <a:p>
            <a:r>
              <a:t>- Cross-region networking</a:t>
            </a:r>
          </a:p>
          <a:p>
            <a:r>
              <a:t>- Disaster recovery architecture</a:t>
            </a:r>
          </a:p>
          <a:p>
            <a:r>
              <a:t>- Estimated investment: $50,000</a:t>
            </a:r>
          </a:p>
          <a:p/>
          <a:p>
            <a:r>
              <a:t>*Transition:*</a:t>
            </a:r>
          </a:p>
          <a:p>
            <a:r>
              <a:t>"Let me walk you through how we're transitioning support to your team..."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(4 Weeks Post-Go-Live):**</a:t>
            </a:r>
          </a:p>
          <a:p/>
          <a:p>
            <a:r>
              <a:t>*Daily Activities Completed:*</a:t>
            </a:r>
          </a:p>
          <a:p>
            <a:r>
              <a:t>- Morning governance review calls</a:t>
            </a:r>
          </a:p>
          <a:p>
            <a:r>
              <a:t>- Policy compliance dashboard review</a:t>
            </a:r>
          </a:p>
          <a:p>
            <a:r>
              <a:t>- Security alert triage and response</a:t>
            </a:r>
          </a:p>
          <a:p>
            <a:r>
              <a:t>- Subscription request processing</a:t>
            </a:r>
          </a:p>
          <a:p>
            <a:r>
              <a:t>- Network connectivity validation</a:t>
            </a:r>
          </a:p>
          <a:p/>
          <a:p>
            <a:r>
              <a:t>*Issues Resolved During Hypercare:*</a:t>
            </a:r>
          </a:p>
          <a:p/>
          <a:p>
            <a:r>
              <a:t>Issue #1 - Week 1:</a:t>
            </a:r>
          </a:p>
          <a:p>
            <a:r>
              <a:t>- Problem: Policy conflict blocking AKS deployment</a:t>
            </a:r>
          </a:p>
          <a:p>
            <a:r>
              <a:t>- Root cause: Overlapping container security policies</a:t>
            </a:r>
          </a:p>
          <a:p>
            <a:r>
              <a:t>- Resolution: Policy scope refinement</a:t>
            </a:r>
          </a:p>
          <a:p>
            <a:r>
              <a:t>- Prevention: Policy testing framework enhanced</a:t>
            </a:r>
          </a:p>
          <a:p/>
          <a:p>
            <a:r>
              <a:t>Issue #2 - Week 2:</a:t>
            </a:r>
          </a:p>
          <a:p>
            <a:r>
              <a:t>- Problem: ExpressRoute failover testing revealed gaps</a:t>
            </a:r>
          </a:p>
          <a:p>
            <a:r>
              <a:t>- Root cause: Route advertisement timing</a:t>
            </a:r>
          </a:p>
          <a:p>
            <a:r>
              <a:t>- Resolution: BGP configuration adjustment</a:t>
            </a:r>
          </a:p>
          <a:p>
            <a:r>
              <a:t>- Prevention: Quarterly failover testing scheduled</a:t>
            </a:r>
          </a:p>
          <a:p/>
          <a:p>
            <a:r>
              <a:t>*Knowledge Transfer Sessions Delivered:*</a:t>
            </a:r>
          </a:p>
          <a:p/>
          <a:p>
            <a:r>
              <a:t>| Session | Date | Attendees | Duration | Recording |</a:t>
            </a:r>
          </a:p>
          <a:p>
            <a:r>
              <a:t>|---------|------|-----------|----------|-----------|</a:t>
            </a:r>
          </a:p>
          <a:p>
            <a:r>
              <a:t>| Platform Overview | Week 10 | 8 IT staff | 3 hours | Yes |</a:t>
            </a:r>
          </a:p>
          <a:p>
            <a:r>
              <a:t>| Security Operations | Week 10 | 5 SOC staff | 2.5 hours | Yes |</a:t>
            </a:r>
          </a:p>
          <a:p>
            <a:r>
              <a:t>| Network Management | Week 11 | 4 network staff | 2 hours | Yes |</a:t>
            </a:r>
          </a:p>
          <a:p>
            <a:r>
              <a:t>| Governance &amp; Policy | Week 11 | 6 governance staff | 2 hours | Yes |</a:t>
            </a:r>
          </a:p>
          <a:p>
            <a:r>
              <a:t>| Cost Management | Week 12 | 3 finance staff | 1.5 hours | Yes |</a:t>
            </a:r>
          </a:p>
          <a:p/>
          <a:p>
            <a:r>
              <a:t>**Steady State Support Model:**</a:t>
            </a:r>
          </a:p>
          <a:p/>
          <a:p>
            <a:r>
              <a:t>*What Client Team Handles (L1/L2):*</a:t>
            </a:r>
          </a:p>
          <a:p>
            <a:r>
              <a:t>- Daily governance monitoring</a:t>
            </a:r>
          </a:p>
          <a:p>
            <a:r>
              <a:t>- Subscription vending requests</a:t>
            </a:r>
          </a:p>
          <a:p>
            <a:r>
              <a:t>- Policy exception reviews</a:t>
            </a:r>
          </a:p>
          <a:p>
            <a:r>
              <a:t>- Basic troubleshooting</a:t>
            </a:r>
          </a:p>
          <a:p>
            <a:r>
              <a:t>- Cost optimization reviews</a:t>
            </a:r>
          </a:p>
          <a:p>
            <a:r>
              <a:t>- Security alert triage</a:t>
            </a:r>
          </a:p>
          <a:p/>
          <a:p>
            <a:r>
              <a:t>*When to Escalate to Microsoft (L3):*</a:t>
            </a:r>
          </a:p>
          <a:p>
            <a:r>
              <a:t>- Azure platform issues</a:t>
            </a:r>
          </a:p>
          <a:p>
            <a:r>
              <a:t>- Service limits and quotas</a:t>
            </a:r>
          </a:p>
          <a:p>
            <a:r>
              <a:t>- Complex networking issues</a:t>
            </a:r>
          </a:p>
          <a:p>
            <a:r>
              <a:t>- Security incident response</a:t>
            </a:r>
          </a:p>
          <a:p>
            <a:r>
              <a:t>- Performance optimization</a:t>
            </a:r>
          </a:p>
          <a:p/>
          <a:p>
            <a:r>
              <a:t>*Transition:*</a:t>
            </a:r>
          </a:p>
          <a:p>
            <a:r>
              <a:t>"Let me acknowledge the team that made this possible and outline next steps..."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 - Recognize Key Contributors:*</a:t>
            </a:r>
          </a:p>
          <a:p/>
          <a:p>
            <a:r>
              <a:t>**Client Team Recognition:**</a:t>
            </a:r>
          </a:p>
          <a:p/>
          <a:p>
            <a:r>
              <a:t>*Executive Sponsor - [Name]:*</a:t>
            </a:r>
          </a:p>
          <a:p>
            <a:r>
              <a:t>- Championed enterprise cloud transformation</a:t>
            </a:r>
          </a:p>
          <a:p>
            <a:r>
              <a:t>- Secured budget and organizational commitment</a:t>
            </a:r>
          </a:p>
          <a:p>
            <a:r>
              <a:t>- Removed blockers when escalated</a:t>
            </a:r>
          </a:p>
          <a:p/>
          <a:p>
            <a:r>
              <a:t>*Cloud Program Manager - [Name]:*</a:t>
            </a:r>
          </a:p>
          <a:p>
            <a:r>
              <a:t>- Day-to-day project coordination</a:t>
            </a:r>
          </a:p>
          <a:p>
            <a:r>
              <a:t>- Stakeholder communication</a:t>
            </a:r>
          </a:p>
          <a:p>
            <a:r>
              <a:t>- Change management leadership</a:t>
            </a:r>
          </a:p>
          <a:p/>
          <a:p>
            <a:r>
              <a:t>*Security Lead - [Name]:*</a:t>
            </a:r>
          </a:p>
          <a:p>
            <a:r>
              <a:t>- Security architecture validation</a:t>
            </a:r>
          </a:p>
          <a:p>
            <a:r>
              <a:t>- Policy framework co-design</a:t>
            </a:r>
          </a:p>
          <a:p>
            <a:r>
              <a:t>- Sentinel playbook development</a:t>
            </a:r>
          </a:p>
          <a:p/>
          <a:p>
            <a:r>
              <a:t>*Network Lead - [Name]:*</a:t>
            </a:r>
          </a:p>
          <a:p>
            <a:r>
              <a:t>- Hub-spoke design collaboration</a:t>
            </a:r>
          </a:p>
          <a:p>
            <a:r>
              <a:t>- ExpressRoute implementation</a:t>
            </a:r>
          </a:p>
          <a:p>
            <a:r>
              <a:t>- DNS architecture validation</a:t>
            </a:r>
          </a:p>
          <a:p/>
          <a:p>
            <a:r>
              <a:t>**Vendor Team Recognition:**</a:t>
            </a:r>
          </a:p>
          <a:p/>
          <a:p>
            <a:r>
              <a:t>*Project Manager - [Name]:*</a:t>
            </a:r>
          </a:p>
          <a:p>
            <a:r>
              <a:t>- Overall delivery accountability</a:t>
            </a:r>
          </a:p>
          <a:p>
            <a:r>
              <a:t>- On-time, on-budget delivery</a:t>
            </a:r>
          </a:p>
          <a:p/>
          <a:p>
            <a:r>
              <a:t>*Cloud Architect - [Name]:*</a:t>
            </a:r>
          </a:p>
          <a:p>
            <a:r>
              <a:t>- Enterprise landing zone design</a:t>
            </a:r>
          </a:p>
          <a:p>
            <a:r>
              <a:t>- Policy framework architecture</a:t>
            </a:r>
          </a:p>
          <a:p/>
          <a:p>
            <a:r>
              <a:t>*Security Architect - [Name]:*</a:t>
            </a:r>
          </a:p>
          <a:p>
            <a:r>
              <a:t>- Threat model development</a:t>
            </a:r>
          </a:p>
          <a:p>
            <a:r>
              <a:t>- Sentinel configuration</a:t>
            </a:r>
          </a:p>
          <a:p/>
          <a:p>
            <a:r>
              <a:t>**Immediate Next Steps (This Week):**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handover | PM | [Date] |</a:t>
            </a:r>
          </a:p>
          <a:p>
            <a:r>
              <a:t>| Archive project SharePoint | PM | [Date] |</a:t>
            </a:r>
          </a:p>
          <a:p>
            <a:r>
              <a:t>| Operations team go-live | Cloud Lead | [Date] |</a:t>
            </a:r>
          </a:p>
          <a:p/>
          <a:p>
            <a:r>
              <a:t>**30-Day Next Steps:**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First monthly governance review | Governance Lead | [Date+30] |</a:t>
            </a:r>
          </a:p>
          <a:p>
            <a:r>
              <a:t>| Workload migration planning kickoff | Cloud Lead | [Date+30] |</a:t>
            </a:r>
          </a:p>
          <a:p>
            <a:r>
              <a:t>| Azure DevOps integration assessment | DevOps Lead | [Date+30] |</a:t>
            </a:r>
          </a:p>
          <a:p/>
          <a:p>
            <a:r>
              <a:t>*Transition:*</a:t>
            </a:r>
          </a:p>
          <a:p>
            <a:r>
              <a:t>"Thank you for your partnership. Questions?"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 and Q&amp;A:*</a:t>
            </a:r>
          </a:p>
          <a:p/>
          <a:p>
            <a:r>
              <a:t>"Thank you for your partnership throughout this project. We've successfully established [Client Name]'s enterprise cloud foundation with Azure Landing Zone. The platform is exceeding governance targets, the team is trained and operational, and you're ready for workload migration.</a:t>
            </a:r>
          </a:p>
          <a:p/>
          <a:p>
            <a:r>
              <a:t>I want to open the floor for questions."</a:t>
            </a:r>
          </a:p>
          <a:p/>
          <a:p>
            <a:r>
              <a:t>**Anticipated Questions:**</a:t>
            </a:r>
          </a:p>
          <a:p/>
          <a:p>
            <a:r>
              <a:t>*Q: What happens if we need to add more subscriptions?*</a:t>
            </a:r>
          </a:p>
          <a:p>
            <a:r>
              <a:t>A: The subscription vending automation handles this in 4 hours. Submit request through service portal, automated provisioning handles network peering, policy assignment, and access configuration.</a:t>
            </a:r>
          </a:p>
          <a:p/>
          <a:p>
            <a:r>
              <a:t>*Q: How do we handle policy exceptions?*</a:t>
            </a:r>
          </a:p>
          <a:p>
            <a:r>
              <a:t>A: Exception request process documented in runbook. Submit request with business justification, security review, time-limited approval with automatic expiration.</a:t>
            </a:r>
          </a:p>
          <a:p/>
          <a:p>
            <a:r>
              <a:t>*Q: What are the ongoing Azure costs?*</a:t>
            </a:r>
          </a:p>
          <a:p>
            <a:r>
              <a:t>A: Current run rate ~$6,300/month for hub infrastructure. Scales with workload subscriptions. Cost dashboard provides real-time visibility.</a:t>
            </a:r>
          </a:p>
          <a:p/>
          <a:p>
            <a:r>
              <a:t>**Follow-Up Commitments:**</a:t>
            </a:r>
          </a:p>
          <a:p>
            <a:r>
              <a:t>- [ ] Send final presentation to all attendees</a:t>
            </a:r>
          </a:p>
          <a:p>
            <a:r>
              <a:t>- [ ] Distribute governance summary for executives</a:t>
            </a:r>
          </a:p>
          <a:p>
            <a:r>
              <a:t>- [ ] Schedule 30-day governance review</a:t>
            </a:r>
          </a:p>
          <a:p>
            <a:r>
              <a:t>- [ ] Provide workload migration assessment template</a:t>
            </a:r>
          </a:p>
          <a:p/>
          <a:p>
            <a:r>
              <a:t>"Thank you for your trust in our team. We look forward to supporting your cloud journey."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December 03,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12 weeks, on schedule</a:t>
            </a:r>
          </a:p>
          <a:p>
            <a:pPr/>
            <a:r>
              <a:rPr b="1"/>
              <a:t>Budget:</a:t>
            </a:r>
            <a:r>
              <a:t> $245,020 Year 1 delivered on budget</a:t>
            </a:r>
          </a:p>
          <a:p>
            <a:pPr/>
            <a:r>
              <a:rPr b="1"/>
              <a:t>Go-Live Date:</a:t>
            </a:r>
            <a:r>
              <a:t> Week 12 as planned</a:t>
            </a:r>
          </a:p>
          <a:p>
            <a:pPr/>
            <a:r>
              <a:rPr b="1"/>
              <a:t>Quality:</a:t>
            </a:r>
            <a:r>
              <a:t> Zero critical security findings</a:t>
            </a:r>
          </a:p>
          <a:p>
            <a:pPr/>
            <a:r>
              <a:rPr b="1"/>
              <a:t>Compliance:</a:t>
            </a:r>
            <a:r>
              <a:t> 99.8% policy compliance achieved</a:t>
            </a:r>
          </a:p>
          <a:p>
            <a:pPr/>
            <a:r>
              <a:rPr b="1"/>
              <a:t>Security Score:</a:t>
            </a:r>
            <a:r>
              <a:t> 85/100 Azure Security Center</a:t>
            </a:r>
          </a:p>
          <a:p>
            <a:pPr/>
            <a:r>
              <a:rPr b="1"/>
              <a:t>ROI Status:</a:t>
            </a:r>
            <a:r>
              <a:t> On track for 14-month payback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Governance Layer</a:t>
            </a:r>
          </a:p>
          <a:p>
            <a:pPr lvl="1"/>
            <a:r>
              <a:t>4-tier management group hierarchy</a:t>
            </a:r>
          </a:p>
          <a:p>
            <a:pPr lvl="1"/>
            <a:r>
              <a:t>150+ Azure Policies deployed</a:t>
            </a:r>
          </a:p>
          <a:p>
            <a:pPr lvl="1"/>
            <a:r>
              <a:t>Subscription vending automation</a:t>
            </a:r>
          </a:p>
          <a:p>
            <a:pPr/>
            <a:r>
              <a:rPr b="1"/>
              <a:t>Network Platform</a:t>
            </a:r>
          </a:p>
          <a:p>
            <a:pPr lvl="1"/>
            <a:r>
              <a:t>Hub-spoke with Azure Firewall</a:t>
            </a:r>
          </a:p>
          <a:p>
            <a:pPr lvl="1"/>
            <a:r>
              <a:t>ExpressRoute hybrid connectivity</a:t>
            </a:r>
          </a:p>
          <a:p>
            <a:pPr lvl="1"/>
            <a:r>
              <a:t>Private DNS zones (20+)</a:t>
            </a:r>
          </a:p>
          <a:p>
            <a:pPr/>
            <a:r>
              <a:rPr b="1"/>
              <a:t>Security Operations</a:t>
            </a:r>
          </a:p>
          <a:p>
            <a:pPr lvl="1"/>
            <a:r>
              <a:t>Azure Sentinel SIEM active</a:t>
            </a:r>
          </a:p>
          <a:p>
            <a:pPr lvl="1"/>
            <a:r>
              <a:t>Defender for Cloud Standard</a:t>
            </a:r>
          </a:p>
          <a:p>
            <a:pPr lvl="1"/>
            <a:r>
              <a:t>Azure Bastion secure access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Enterprise Architecture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Landing zone design, management groups, policy framework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with Terraform/ARM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RACI, communications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Functional, security, compliance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Terraform/ARM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Azure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Day-to-day governance procedures, troubleshooting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`/delivery/docs/operations-runbook.md`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guides, video tutorials, quick reference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Documentation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150+ Azure Policy definitions and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`/delivery/docs/policy-catalog.md`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Governance Metrics</a:t>
            </a:r>
          </a:p>
          <a:p>
            <a:pPr lvl="1"/>
            <a:r>
              <a:t>Policy Compliance: 99.8% (target: 95%)</a:t>
            </a:r>
          </a:p>
          <a:p>
            <a:pPr lvl="1"/>
            <a:r>
              <a:t>Resource Tagging: 100% for new resources</a:t>
            </a:r>
          </a:p>
          <a:p>
            <a:pPr lvl="1"/>
            <a:r>
              <a:t>Cost Variance: 2% (target: &lt;5%)</a:t>
            </a:r>
          </a:p>
          <a:p>
            <a:pPr lvl="1"/>
            <a:r>
              <a:t>Subscription Provisioning: 4 hours avg</a:t>
            </a:r>
          </a:p>
          <a:p>
            <a:pPr lvl="1"/>
            <a:r>
              <a:t>Policy Violations: &lt;10/week auto-remediated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Security Metrics</a:t>
            </a:r>
          </a:p>
          <a:p>
            <a:pPr lvl="1"/>
            <a:r>
              <a:t>Security Score: 85/100 (target: 80)</a:t>
            </a:r>
          </a:p>
          <a:p>
            <a:pPr lvl="1"/>
            <a:r>
              <a:t>Critical Findings: 0 (target: 0)</a:t>
            </a:r>
          </a:p>
          <a:p>
            <a:pPr lvl="1"/>
            <a:r>
              <a:t>MFA Enrollment: 100% admins</a:t>
            </a:r>
          </a:p>
          <a:p>
            <a:pPr lvl="1"/>
            <a:r>
              <a:t>Network Segmentation: 100% complete</a:t>
            </a:r>
          </a:p>
          <a:p>
            <a:pPr lvl="1"/>
            <a:r>
              <a:t>Threat Detection: &lt;5 min alert time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Cost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30%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$50K annual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48-hour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 faster time-to-cloud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Compliance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Audit-ready at all times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Score 80+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Score 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Industry-leading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Shadow IT Elimination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 visibility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 cloud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Incident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min → 5 min MTTR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CAF reference architecture foundation</a:t>
            </a:r>
          </a:p>
          <a:p>
            <a:pPr lvl="1"/>
            <a:r>
              <a:t>Policy-as-Code for governance at scale</a:t>
            </a:r>
          </a:p>
          <a:p>
            <a:pPr lvl="1"/>
            <a:r>
              <a:t>Phased deployment approach</a:t>
            </a:r>
          </a:p>
          <a:p>
            <a:pPr lvl="1"/>
            <a:r>
              <a:t>Cross-functional team engagement</a:t>
            </a:r>
          </a:p>
          <a:p>
            <a:pPr lvl="1"/>
            <a:r>
              <a:t>Microsoft partnership and support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Complex policy dependencies</a:t>
            </a:r>
          </a:p>
          <a:p>
            <a:pPr lvl="1"/>
            <a:r>
              <a:t>Legacy system integration</a:t>
            </a:r>
          </a:p>
          <a:p>
            <a:pPr lvl="1"/>
            <a:r>
              <a:t>Change management resistance</a:t>
            </a:r>
          </a:p>
          <a:p>
            <a:pPr lvl="1"/>
            <a:r>
              <a:t>ExpressRoute provisioning delays</a:t>
            </a:r>
          </a:p>
          <a:p>
            <a:pPr lvl="1"/>
            <a:r>
              <a:t>Custom policy development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Begin workload migration planning</a:t>
            </a:r>
          </a:p>
          <a:p>
            <a:pPr lvl="1"/>
            <a:r>
              <a:t>Implement Azure DevOps integration</a:t>
            </a:r>
          </a:p>
          <a:p>
            <a:pPr lvl="1"/>
            <a:r>
              <a:t>Expand to multi-region deployment</a:t>
            </a:r>
          </a:p>
          <a:p>
            <a:pPr lvl="1"/>
            <a:r>
              <a:t>Add advanced analytics platform</a:t>
            </a:r>
          </a:p>
          <a:p>
            <a:pPr lvl="1"/>
            <a:r>
              <a:t>Monthly governance optimization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(4 weeks)</a:t>
            </a:r>
          </a:p>
          <a:p>
            <a:pPr lvl="1"/>
            <a:r>
              <a:t>Daily governance reviews completed</a:t>
            </a:r>
          </a:p>
          <a:p>
            <a:pPr lvl="1"/>
            <a:r>
              <a:t>Policy refinements implemented</a:t>
            </a:r>
          </a:p>
          <a:p>
            <a:pPr lvl="1"/>
            <a:r>
              <a:t>Knowledge transfer sessions done</a:t>
            </a:r>
          </a:p>
          <a:p>
            <a:pPr lvl="1"/>
            <a:r>
              <a:t>Runbook procedures validated</a:t>
            </a:r>
          </a:p>
          <a:p>
            <a:pPr lvl="1"/>
            <a:r>
              <a:t>Operations team certified</a:t>
            </a:r>
          </a:p>
          <a:p>
            <a:pPr/>
            <a:r>
              <a:rPr b="1"/>
              <a:t>Steady State Operations</a:t>
            </a:r>
          </a:p>
          <a:p>
            <a:pPr lvl="1"/>
            <a:r>
              <a:t>24/7 Azure Sentinel monitoring</a:t>
            </a:r>
          </a:p>
          <a:p>
            <a:pPr lvl="1"/>
            <a:r>
              <a:t>Weekly governance reviews</a:t>
            </a:r>
          </a:p>
          <a:p>
            <a:pPr lvl="1"/>
            <a:r>
              <a:t>Monthly optimization analysis</a:t>
            </a:r>
          </a:p>
          <a:p>
            <a:pPr lvl="1"/>
            <a:r>
              <a:t>Quarterly security assessments</a:t>
            </a:r>
          </a:p>
          <a:p>
            <a:pPr lvl="1"/>
            <a:r>
              <a:t>Annual architecture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Cloud Operations Team</a:t>
            </a:r>
          </a:p>
          <a:p>
            <a:pPr lvl="1"/>
            <a:r>
              <a:t>L2: Platform Engineering</a:t>
            </a:r>
          </a:p>
          <a:p>
            <a:pPr lvl="1"/>
            <a:r>
              <a:t>L3: Microsoft Support (ProDirect)</a:t>
            </a:r>
          </a:p>
          <a:p>
            <a:pPr lvl="1"/>
            <a:r>
              <a:t>Security: SOC Team</a:t>
            </a:r>
          </a:p>
          <a:p>
            <a:pPr lvl="1"/>
            <a:r>
              <a:t>Executive: Cloud Program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Executive sponsor, cloud team, security team, network team, application leads</a:t>
            </a:r>
          </a:p>
          <a:p>
            <a:pPr/>
            <a:r>
              <a:rPr b="1"/>
              <a:t>Vendor Team:</a:t>
            </a:r>
            <a:r>
              <a:t> Project manager, cloud architect, security architect, network engineer</a:t>
            </a:r>
          </a:p>
          <a:p>
            <a:pPr/>
            <a:r>
              <a:rPr b="1"/>
              <a:t>Special Recognition:</a:t>
            </a:r>
            <a:r>
              <a:t> Cross-functional governance council for design collaboration</a:t>
            </a:r>
          </a:p>
          <a:p>
            <a:pPr/>
            <a:r>
              <a:rPr b="1"/>
              <a:t>This Week:</a:t>
            </a:r>
            <a:r>
              <a:t> Final documentation handover, archive project artifacts</a:t>
            </a:r>
          </a:p>
          <a:p>
            <a:pPr/>
            <a:r>
              <a:rPr b="1"/>
              <a:t>Next 30 Days:</a:t>
            </a:r>
            <a:r>
              <a:t> Monthly governance review, workload migration planning kickoff</a:t>
            </a:r>
          </a:p>
          <a:p>
            <a:pPr/>
            <a:r>
              <a:rPr b="1"/>
              <a:t>Next Quarter:</a:t>
            </a:r>
            <a:r>
              <a:t> Azure DevOps integration, first migration wave execution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