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bin" ContentType="image/unknown"/>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7"/>
    <p:sldId id="257" r:id="rId8"/>
    <p:sldId id="258" r:id="rId6"/>
    <p:sldId id="259" r:id="rId5"/>
    <p:sldId id="260" r:id="rId4"/>
    <p:sldId id="261" r:id="rId3"/>
    <p:sldId id="262" r:id="rId2"/>
    <p:sldId id="263" r:id="rId14"/>
    <p:sldId id="264" r:id="rId15"/>
    <p:sldId id="26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5" d="100"/>
          <a:sy n="135" d="100"/>
        </p:scale>
        <p:origin x="380" y="308"/>
      </p:cViewPr>
      <p:guideLst/>
    </p:cSldViewPr>
  </p:slideViewPr>
  <p:notesTextViewPr>
    <p:cViewPr>
      <p:scale>
        <a:sx n="1" d="1"/>
        <a:sy n="1" d="1"/>
      </p:scale>
      <p:origin x="0" y="0"/>
    </p:cViewPr>
  </p:notesTextViewPr>
  <p:notesViewPr>
    <p:cSldViewPr snapToGrid="0" snapToObjects="1">
      <p:cViewPr varScale="1">
        <p:scale>
          <a:sx n="83" d="100"/>
          <a:sy n="83" d="100"/>
        </p:scale>
        <p:origin x="3732" y="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90167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*Opening Statement:*</a:t>
            </a:r>
          </a:p>
          <a:p>
            <a:r>
              <a:t>Good [morning/afternoon]. Today we're celebrating the successful completion of the Azure Document Intelligence implementation. This project has transformed [Client Name]'s document processing from a manual bottleneck into an automated, AI-powered workflow using Azure's cognitive services.</a:t>
            </a:r>
          </a:p>
          <a:p/>
          <a:p>
            <a:r>
              <a:t>*Key Talking Points - Expand on Each Bullet:*</a:t>
            </a:r>
          </a:p>
          <a:p/>
          <a:p>
            <a:r>
              <a:t>**Project Duration - 16 Weeks:**</a:t>
            </a:r>
          </a:p>
          <a:p>
            <a:r>
              <a:t>- We executed exactly as planned in the Statement of Work</a:t>
            </a:r>
          </a:p>
          <a:p>
            <a:r>
              <a:t>- Phase 1 (Foundation &amp; Model Training): Weeks 1-6 - Azure environment configured, Document Intelligence models trained</a:t>
            </a:r>
          </a:p>
          <a:p>
            <a:r>
              <a:t>- Phase 2 (Pipeline Development): Weeks 7-11 - Processing pipeline operational, LOB system integrations complete</a:t>
            </a:r>
          </a:p>
          <a:p>
            <a:r>
              <a:t>- Phase 3 (Optimization &amp; Scale): Weeks 12-16 - Model accuracy optimized to 95%+, full production deployment</a:t>
            </a:r>
          </a:p>
          <a:p>
            <a:r>
              <a:t>- No schedule slippage despite one change request processed</a:t>
            </a:r>
          </a:p>
          <a:p/>
          <a:p>
            <a:r>
              <a:t>**Budget - $92,662 Year 1 Net:**</a:t>
            </a:r>
          </a:p>
          <a:p>
            <a:r>
              <a:t>- Professional Services: $82,250 (310 hours as quoted)</a:t>
            </a:r>
          </a:p>
          <a:p>
            <a:r>
              <a:t>- Azure Cloud Services: $14,838 (after $3,690 AI services credit applied)</a:t>
            </a:r>
          </a:p>
          <a:p>
            <a:r>
              <a:t>- Software Licenses: $2,904 (Azure AI Custom Vision, Datadog, PagerDuty)</a:t>
            </a:r>
          </a:p>
          <a:p>
            <a:r>
              <a:t>- Support &amp; Maintenance: $2,676</a:t>
            </a:r>
          </a:p>
          <a:p>
            <a:r>
              <a:t>- Microsoft Partner Credits: $13,690 total applied ($10K services + $3,690 Azure AI)</a:t>
            </a:r>
          </a:p>
          <a:p>
            <a:r>
              <a:t>- Actual spend: $92,604 - $58 under budget</a:t>
            </a:r>
          </a:p>
          <a:p/>
          <a:p>
            <a:r>
              <a:t>**Go-Live - Week 15:**</a:t>
            </a:r>
          </a:p>
          <a:p>
            <a:r>
              <a:t>- Followed phased cutover strategy exactly as planned</a:t>
            </a:r>
          </a:p>
          <a:p>
            <a:r>
              <a:t>- Week 1: Pilot with 100 documents alongside manual processing</a:t>
            </a:r>
          </a:p>
          <a:p>
            <a:r>
              <a:t>- Week 2: Shadow processing - all documents through both systems</a:t>
            </a:r>
          </a:p>
          <a:p>
            <a:r>
              <a:t>- Week 3: 25% automated, 75% manual</a:t>
            </a:r>
          </a:p>
          <a:p>
            <a:r>
              <a:t>- Week 4: 75% automated, 25% manual</a:t>
            </a:r>
          </a:p>
          <a:p>
            <a:r>
              <a:t>- Week 5: Full cutover to 100% automated with manual fallback</a:t>
            </a:r>
          </a:p>
          <a:p>
            <a:r>
              <a:t>- Zero rollback events required</a:t>
            </a:r>
          </a:p>
          <a:p/>
          <a:p>
            <a:r>
              <a:t>**Quality - Zero Critical Defects:**</a:t>
            </a:r>
          </a:p>
          <a:p>
            <a:r>
              <a:t>- 38 test cases executed, 100% pass rate</a:t>
            </a:r>
          </a:p>
          <a:p>
            <a:r>
              <a:t>- No P1 or P2 defects at go-live</a:t>
            </a:r>
          </a:p>
          <a:p>
            <a:r>
              <a:t>- 2 P3 defects identified and resolved during hypercare</a:t>
            </a:r>
          </a:p>
          <a:p>
            <a:r>
              <a:t>- Defect escape rate: 0.3% (target &lt;2%)</a:t>
            </a:r>
          </a:p>
          <a:p/>
          <a:p>
            <a:r>
              <a:t>**Processing Time - 85% Reduction:**</a:t>
            </a:r>
          </a:p>
          <a:p>
            <a:r>
              <a:t>- Baseline (manual): 12-15 minutes per document average</a:t>
            </a:r>
          </a:p>
          <a:p>
            <a:r>
              <a:t>- Current (automated): 90 seconds average end-to-end</a:t>
            </a:r>
          </a:p>
          <a:p>
            <a:r>
              <a:t>- Exceeds 80-90% target in SOW</a:t>
            </a:r>
          </a:p>
          <a:p>
            <a:r>
              <a:t>- Peak processing: 45 seconds for simple invoices</a:t>
            </a:r>
          </a:p>
          <a:p/>
          <a:p>
            <a:r>
              <a:t>**Extraction Accuracy - 96.1%:**</a:t>
            </a:r>
          </a:p>
          <a:p>
            <a:r>
              <a:t>- Target was 95%+ per SOW</a:t>
            </a:r>
          </a:p>
          <a:p>
            <a:r>
              <a:t>- Invoice accuracy: 97.2%</a:t>
            </a:r>
          </a:p>
          <a:p>
            <a:r>
              <a:t>- Receipt accuracy: 95.1%</a:t>
            </a:r>
          </a:p>
          <a:p>
            <a:r>
              <a:t>- Form accuracy: 95.8%</a:t>
            </a:r>
          </a:p>
          <a:p>
            <a:r>
              <a:t>- Validated against 2,000 document test dataset</a:t>
            </a:r>
          </a:p>
          <a:p/>
          <a:p>
            <a:r>
              <a:t>**ROI - 10-Month Payback:**</a:t>
            </a:r>
          </a:p>
          <a:p>
            <a:r>
              <a:t>- Annual labor savings: $84,000 (2 FTEs @ $42K reallocated)</a:t>
            </a:r>
          </a:p>
          <a:p>
            <a:r>
              <a:t>- Error reduction savings: $18,000/year (rework, corrections)</a:t>
            </a:r>
          </a:p>
          <a:p>
            <a:r>
              <a:t>- Productivity gains: Additional 800 documents/month capacity</a:t>
            </a:r>
          </a:p>
          <a:p>
            <a:r>
              <a:t>- Total Year 1 benefit: $102,000 vs $92,662 investment</a:t>
            </a:r>
          </a:p>
          <a:p>
            <a:r>
              <a:t>- 3-year projected savings: $306,000 vs $140,866 TCO</a:t>
            </a:r>
          </a:p>
          <a:p/>
          <a:p>
            <a:r>
              <a:t>*Transition to Next Slide:*</a:t>
            </a:r>
          </a:p>
          <a:p>
            <a:r>
              <a:t>"Let me walk you through exactly what we built together..."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*Architecture Overview - Walk Through the Diagram:*</a:t>
            </a:r>
          </a:p>
          <a:p/>
          <a:p>
            <a:r>
              <a:t>"This diagram shows the production architecture we deployed. Let me walk through the document flow..."</a:t>
            </a:r>
          </a:p>
          <a:p/>
          <a:p>
            <a:r>
              <a:t>**Document Ingestion Layer:**</a:t>
            </a:r>
          </a:p>
          <a:p>
            <a:r>
              <a:t>- Documents enter via two channels as specified in SOW:</a:t>
            </a:r>
          </a:p>
          <a:p>
            <a:r>
              <a:t>  1. Blob Storage upload (batch processing for high-volume periods)</a:t>
            </a:r>
          </a:p>
          <a:p>
            <a:r>
              <a:t>  2. API Management (real-time submission from web interface)</a:t>
            </a:r>
          </a:p>
          <a:p>
            <a:r>
              <a:t>- Supported formats: PDF, JPEG, PNG, TIFF</a:t>
            </a:r>
          </a:p>
          <a:p>
            <a:r>
              <a:t>- Maximum document size: 50MB</a:t>
            </a:r>
          </a:p>
          <a:p>
            <a:r>
              <a:t>- Documents immediately encrypted with Azure Storage Service Encryption</a:t>
            </a:r>
          </a:p>
          <a:p/>
          <a:p>
            <a:r>
              <a:t>**AI/ML Processing Layer - Azure Document Intelligence:**</a:t>
            </a:r>
          </a:p>
          <a:p>
            <a:r>
              <a:t>- Primary OCR and intelligent extraction engine</a:t>
            </a:r>
          </a:p>
          <a:p>
            <a:r>
              <a:t>- Using Layout API for forms and tables</a:t>
            </a:r>
          </a:p>
          <a:p>
            <a:r>
              <a:t>- Pre-built models for invoices, receipts, identity documents</a:t>
            </a:r>
          </a:p>
          <a:p>
            <a:r>
              <a:t>- Custom models trained on client-specific document patterns</a:t>
            </a:r>
          </a:p>
          <a:p>
            <a:r>
              <a:t>- Current accuracy: 96.1% across all document types</a:t>
            </a:r>
          </a:p>
          <a:p>
            <a:r>
              <a:t>- Extracts: text, key-value pairs, tables, signatures</a:t>
            </a:r>
          </a:p>
          <a:p/>
          <a:p>
            <a:r>
              <a:t>**Orchestration - Azure Functions:**</a:t>
            </a:r>
          </a:p>
          <a:p>
            <a:r>
              <a:t>- Event-driven serverless processing</a:t>
            </a:r>
          </a:p>
          <a:p>
            <a:r>
              <a:t>- Premium plan (EP1) for VNet integration</a:t>
            </a:r>
          </a:p>
          <a:p>
            <a:r>
              <a:t>- Handles retries, error states, parallel processing</a:t>
            </a:r>
          </a:p>
          <a:p>
            <a:r>
              <a:t>- Current workflow stages:</a:t>
            </a:r>
          </a:p>
          <a:p>
            <a:r>
              <a:t>  1. Validate Document → 2. Document Intelligence OCR → 3. Entity Extraction</a:t>
            </a:r>
          </a:p>
          <a:p>
            <a:r>
              <a:t>  4. Confidence Check → 5. Route (Auto/Human Review) → 6. Integration</a:t>
            </a:r>
          </a:p>
          <a:p>
            <a:r>
              <a:t>- Average execution time: 90 seconds end-to-end</a:t>
            </a:r>
          </a:p>
          <a:p/>
          <a:p>
            <a:r>
              <a:t>**Storage Layer:**</a:t>
            </a:r>
          </a:p>
          <a:p>
            <a:r>
              <a:t>- Blob Storage: Document storage with lifecycle policies</a:t>
            </a:r>
          </a:p>
          <a:p>
            <a:r>
              <a:t>  - Hot: 30 days in Hot tier</a:t>
            </a:r>
          </a:p>
          <a:p>
            <a:r>
              <a:t>  - Cool: 30-90 days in Cool tier</a:t>
            </a:r>
          </a:p>
          <a:p>
            <a:r>
              <a:t>  - Archive: 90+ days in Archive tier (7-year retention)</a:t>
            </a:r>
          </a:p>
          <a:p>
            <a:r>
              <a:t>- Cosmos DB: Metadata and processing state</a:t>
            </a:r>
          </a:p>
          <a:p>
            <a:r>
              <a:t>  - Serverless mode for cost optimization</a:t>
            </a:r>
          </a:p>
          <a:p>
            <a:r>
              <a:t>  - Point-in-time recovery enabled</a:t>
            </a:r>
          </a:p>
          <a:p>
            <a:r>
              <a:t>  - ~25GB current storage</a:t>
            </a:r>
          </a:p>
          <a:p/>
          <a:p>
            <a:r>
              <a:t>**Integration Layer - 2 REST APIs:**</a:t>
            </a:r>
          </a:p>
          <a:p>
            <a:r>
              <a:t>- Integration 1: ERP System</a:t>
            </a:r>
          </a:p>
          <a:p>
            <a:r>
              <a:t>  - Sends extracted invoice and receipt data</a:t>
            </a:r>
          </a:p>
          <a:p>
            <a:r>
              <a:t>  - Real-time webhook on completion</a:t>
            </a:r>
          </a:p>
          <a:p>
            <a:r>
              <a:t>  - ~300 transactions/day</a:t>
            </a:r>
          </a:p>
          <a:p>
            <a:r>
              <a:t>- Integration 2: CRM System</a:t>
            </a:r>
          </a:p>
          <a:p>
            <a:r>
              <a:t>  - Stores processed results and document references</a:t>
            </a:r>
          </a:p>
          <a:p>
            <a:r>
              <a:t>  - Batch sync every 15 minutes</a:t>
            </a:r>
          </a:p>
          <a:p>
            <a:r>
              <a:t>  - Full audit trail maintained</a:t>
            </a:r>
          </a:p>
          <a:p/>
          <a:p>
            <a:r>
              <a:t>**Key Architecture Decisions Made During Implementation:**</a:t>
            </a:r>
          </a:p>
          <a:p>
            <a:r>
              <a:t>1. Chose pre-built models first to accelerate time-to-value</a:t>
            </a:r>
          </a:p>
          <a:p>
            <a:r>
              <a:t>2. Implemented Cosmos DB serverless for cost optimization</a:t>
            </a:r>
          </a:p>
          <a:p>
            <a:r>
              <a:t>3. Used Azure Functions Premium for VNet integration</a:t>
            </a:r>
          </a:p>
          <a:p>
            <a:r>
              <a:t>4. Single region deployment as per SOW (East US)</a:t>
            </a:r>
          </a:p>
          <a:p/>
          <a:p>
            <a:r>
              <a:t>**Security Implementation:**</a:t>
            </a:r>
          </a:p>
          <a:p>
            <a:r>
              <a:t>- Private endpoints for all Azure service calls</a:t>
            </a:r>
          </a:p>
          <a:p>
            <a:r>
              <a:t>- Azure Key Vault for secrets management</a:t>
            </a:r>
          </a:p>
          <a:p>
            <a:r>
              <a:t>- TLS 1.2+ for all data in transit</a:t>
            </a:r>
          </a:p>
          <a:p>
            <a:r>
              <a:t>- Managed identities with least privilege</a:t>
            </a:r>
          </a:p>
          <a:p>
            <a:r>
              <a:t>- Azure Monitor audit logging enabled</a:t>
            </a:r>
          </a:p>
          <a:p>
            <a:r>
              <a:t>- SOC 2 compliant architecture</a:t>
            </a:r>
          </a:p>
          <a:p/>
          <a:p>
            <a:r>
              <a:t>*Transition:*</a:t>
            </a:r>
          </a:p>
          <a:p>
            <a:r>
              <a:t>"Now let me show you the complete deliverables package we're handing over..."</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*Deliverables Deep Dive - Review Each Item:*</a:t>
            </a:r>
          </a:p>
          <a:p/>
          <a:p>
            <a:r>
              <a:t>**1. Solution Architecture Document (detailed-design.docx):**</a:t>
            </a:r>
          </a:p>
          <a:p>
            <a:r>
              <a:t>- 42 pages comprehensive technical documentation</a:t>
            </a:r>
          </a:p>
          <a:p>
            <a:r>
              <a:t>- Sections include:</a:t>
            </a:r>
          </a:p>
          <a:p>
            <a:r>
              <a:t>  - Executive Summary and business context</a:t>
            </a:r>
          </a:p>
          <a:p>
            <a:r>
              <a:t>  - Current state assessment</a:t>
            </a:r>
          </a:p>
          <a:p>
            <a:r>
              <a:t>  - Target architecture with diagrams</a:t>
            </a:r>
          </a:p>
          <a:p>
            <a:r>
              <a:t>  - Azure Document Intelligence service configurations</a:t>
            </a:r>
          </a:p>
          <a:p>
            <a:r>
              <a:t>  - Data model and flow diagrams</a:t>
            </a:r>
          </a:p>
          <a:p>
            <a:r>
              <a:t>  - Security controls and compliance mapping</a:t>
            </a:r>
          </a:p>
          <a:p>
            <a:r>
              <a:t>  - Integration specifications</a:t>
            </a:r>
          </a:p>
          <a:p>
            <a:r>
              <a:t>  - Monitoring and alerting setup</a:t>
            </a:r>
          </a:p>
          <a:p>
            <a:r>
              <a:t>- Reviewed and accepted by [Technical Lead] on [Date]</a:t>
            </a:r>
          </a:p>
          <a:p>
            <a:r>
              <a:t>- Living document - recommend annual review</a:t>
            </a:r>
          </a:p>
          <a:p/>
          <a:p>
            <a:r>
              <a:t>**2. Implementation Guide (implementation-guide.docx):**</a:t>
            </a:r>
          </a:p>
          <a:p>
            <a:r>
              <a:t>- Step-by-step deployment procedures</a:t>
            </a:r>
          </a:p>
          <a:p>
            <a:r>
              <a:t>- Prerequisites checklist</a:t>
            </a:r>
          </a:p>
          <a:p>
            <a:r>
              <a:t>- Bicep/Terraform deployment instructions</a:t>
            </a:r>
          </a:p>
          <a:p>
            <a:r>
              <a:t>- Azure CLI commands for validation</a:t>
            </a:r>
          </a:p>
          <a:p>
            <a:r>
              <a:t>- Post-deployment verification steps</a:t>
            </a:r>
          </a:p>
          <a:p>
            <a:r>
              <a:t>- Rollback procedures</a:t>
            </a:r>
          </a:p>
          <a:p>
            <a:r>
              <a:t>- Environment-specific configurations (dev, prod)</a:t>
            </a:r>
          </a:p>
          <a:p>
            <a:r>
              <a:t>- Validated by rebuilding staging environment from scratch</a:t>
            </a:r>
          </a:p>
          <a:p/>
          <a:p>
            <a:r>
              <a:t>**3. Project Plan (project-plan.xlsx):**</a:t>
            </a:r>
          </a:p>
          <a:p>
            <a:r>
              <a:t>- Four worksheets:</a:t>
            </a:r>
          </a:p>
          <a:p>
            <a:r>
              <a:t>  1. Project Timeline - 32 tasks across 16 weeks</a:t>
            </a:r>
          </a:p>
          <a:p>
            <a:r>
              <a:t>  2. Milestones - 7 major milestones tracked</a:t>
            </a:r>
          </a:p>
          <a:p>
            <a:r>
              <a:t>  3. RACI Matrix - 15 activities with clear ownership</a:t>
            </a:r>
          </a:p>
          <a:p>
            <a:r>
              <a:t>  4. Communications Plan - 8 meeting types defined</a:t>
            </a:r>
          </a:p>
          <a:p>
            <a:r>
              <a:t>- All milestones achieved on or ahead of schedule</a:t>
            </a:r>
          </a:p>
          <a:p>
            <a:r>
              <a:t>- Final status: 100% complete</a:t>
            </a:r>
          </a:p>
          <a:p/>
          <a:p>
            <a:r>
              <a:t>**4. Test Plan &amp; Results (test-plan.xlsx):**</a:t>
            </a:r>
          </a:p>
          <a:p>
            <a:r>
              <a:t>- Three test categories:</a:t>
            </a:r>
          </a:p>
          <a:p>
            <a:r>
              <a:t>  1. Functional Tests - 14 test cases (100% pass)</a:t>
            </a:r>
          </a:p>
          <a:p>
            <a:r>
              <a:t>  2. Non-Functional Tests - 12 test cases (100% pass)</a:t>
            </a:r>
          </a:p>
          <a:p>
            <a:r>
              <a:t>  3. User Acceptance Tests - 10 test cases (100% pass)</a:t>
            </a:r>
          </a:p>
          <a:p>
            <a:r>
              <a:t>- Accuracy validation dataset: 2,000 documents</a:t>
            </a:r>
          </a:p>
          <a:p>
            <a:r>
              <a:t>- Performance benchmarks documented</a:t>
            </a:r>
          </a:p>
          <a:p>
            <a:r>
              <a:t>- Security scan results included</a:t>
            </a:r>
          </a:p>
          <a:p/>
          <a:p>
            <a:r>
              <a:t>**5. Bicep/Terraform Templates:**</a:t>
            </a:r>
          </a:p>
          <a:p>
            <a:r>
              <a:t>- Complete Infrastructure as Code package</a:t>
            </a:r>
          </a:p>
          <a:p>
            <a:r>
              <a:t>- Templates included:</a:t>
            </a:r>
          </a:p>
          <a:p>
            <a:r>
              <a:t>  - `main.bicep` - Master orchestration</a:t>
            </a:r>
          </a:p>
          <a:p>
            <a:r>
              <a:t>  - `storage.bicep` - Storage accounts, containers</a:t>
            </a:r>
          </a:p>
          <a:p>
            <a:r>
              <a:t>  - `cognitive.bicep` - Document Intelligence, Computer Vision</a:t>
            </a:r>
          </a:p>
          <a:p>
            <a:r>
              <a:t>  - `compute.bicep` - Function Apps, App Service Plans</a:t>
            </a:r>
          </a:p>
          <a:p>
            <a:r>
              <a:t>  - `monitoring.bicep` - Log Analytics, App Insights, alerts</a:t>
            </a:r>
          </a:p>
          <a:p>
            <a:r>
              <a:t>  - `security.bicep` - Key Vault, managed identities</a:t>
            </a:r>
          </a:p>
          <a:p>
            <a:r>
              <a:t>- Tested in both dev and prod environments</a:t>
            </a:r>
          </a:p>
          <a:p>
            <a:r>
              <a:t>- Enables disaster recovery rebuild in &lt;4 hours</a:t>
            </a:r>
          </a:p>
          <a:p/>
          <a:p>
            <a:r>
              <a:t>**6. Operations Runbook:**</a:t>
            </a:r>
          </a:p>
          <a:p>
            <a:r>
              <a:t>- Daily operations checklist</a:t>
            </a:r>
          </a:p>
          <a:p>
            <a:r>
              <a:t>- Monitoring dashboard guide</a:t>
            </a:r>
          </a:p>
          <a:p>
            <a:r>
              <a:t>- Common troubleshooting scenarios:</a:t>
            </a:r>
          </a:p>
          <a:p>
            <a:r>
              <a:t>  - Document processing failures</a:t>
            </a:r>
          </a:p>
          <a:p>
            <a:r>
              <a:t>  - Integration errors</a:t>
            </a:r>
          </a:p>
          <a:p>
            <a:r>
              <a:t>  - Performance degradation</a:t>
            </a:r>
          </a:p>
          <a:p>
            <a:r>
              <a:t>  - Human review queue management</a:t>
            </a:r>
          </a:p>
          <a:p>
            <a:r>
              <a:t>- Escalation procedures</a:t>
            </a:r>
          </a:p>
          <a:p>
            <a:r>
              <a:t>- Azure service limit management</a:t>
            </a:r>
          </a:p>
          <a:p>
            <a:r>
              <a:t>- Cost optimization tips</a:t>
            </a:r>
          </a:p>
          <a:p/>
          <a:p>
            <a:r>
              <a:t>**7. Training Materials:**</a:t>
            </a:r>
          </a:p>
          <a:p>
            <a:r>
              <a:t>- Administrator Guide (PDF, 22 pages)</a:t>
            </a:r>
          </a:p>
          <a:p>
            <a:r>
              <a:t>- End User Guide (PDF, 12 pages)</a:t>
            </a:r>
          </a:p>
          <a:p>
            <a:r>
              <a:t>- Video tutorials (4 recordings, 40 minutes total):</a:t>
            </a:r>
          </a:p>
          <a:p>
            <a:r>
              <a:t>  1. Document submission walkthrough</a:t>
            </a:r>
          </a:p>
          <a:p>
            <a:r>
              <a:t>  2. Human review workflow</a:t>
            </a:r>
          </a:p>
          <a:p>
            <a:r>
              <a:t>  3. Admin dashboard overview</a:t>
            </a:r>
          </a:p>
          <a:p>
            <a:r>
              <a:t>  4. Troubleshooting common issues</a:t>
            </a:r>
          </a:p>
          <a:p>
            <a:r>
              <a:t>- Quick reference cards (laminated)</a:t>
            </a:r>
          </a:p>
          <a:p/>
          <a:p>
            <a:r>
              <a:t>**8. API Documentation:**</a:t>
            </a:r>
          </a:p>
          <a:p>
            <a:r>
              <a:t>- OpenAPI 3.0 specification</a:t>
            </a:r>
          </a:p>
          <a:p>
            <a:r>
              <a:t>- Endpoints documented:</a:t>
            </a:r>
          </a:p>
          <a:p>
            <a:r>
              <a:t>  - POST /documents - Submit document</a:t>
            </a:r>
          </a:p>
          <a:p>
            <a:r>
              <a:t>  - GET /documents/{id} - Get status</a:t>
            </a:r>
          </a:p>
          <a:p>
            <a:r>
              <a:t>  - GET /documents/{id}/results - Get extracted data</a:t>
            </a:r>
          </a:p>
          <a:p>
            <a:r>
              <a:t>  - GET /documents - List documents</a:t>
            </a:r>
          </a:p>
          <a:p>
            <a:r>
              <a:t>- Authentication examples</a:t>
            </a:r>
          </a:p>
          <a:p>
            <a:r>
              <a:t>- Error code reference</a:t>
            </a:r>
          </a:p>
          <a:p>
            <a:r>
              <a:t>- Rate limiting details</a:t>
            </a:r>
          </a:p>
          <a:p/>
          <a:p>
            <a:r>
              <a:t>*Training Sessions Delivered:*</a:t>
            </a:r>
          </a:p>
          <a:p>
            <a:r>
              <a:t>- Administrator Training: 2 sessions, 6 participants, 100% completion</a:t>
            </a:r>
          </a:p>
          <a:p>
            <a:r>
              <a:t>- End User Training: 3 sessions, 18 participants, 95% competency</a:t>
            </a:r>
          </a:p>
          <a:p>
            <a:r>
              <a:t>- IT Support Training: 1 session, 3 participants</a:t>
            </a:r>
          </a:p>
          <a:p>
            <a:r>
              <a:t>- Total training hours delivered: 14 hours</a:t>
            </a:r>
          </a:p>
          <a:p/>
          <a:p>
            <a:r>
              <a:t>*Transition:*</a:t>
            </a:r>
          </a:p>
          <a:p>
            <a:r>
              <a:t>"Let's look at how the solution is performing against our targets..."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*Quality &amp; Performance Deep Dive:*</a:t>
            </a:r>
          </a:p>
          <a:p/>
          <a:p>
            <a:r>
              <a:t>**Accuracy Metrics - Detailed Breakdown:**</a:t>
            </a:r>
          </a:p>
          <a:p/>
          <a:p>
            <a:r>
              <a:t>*Overall Extraction Accuracy: 96.1%*</a:t>
            </a:r>
          </a:p>
          <a:p>
            <a:r>
              <a:t>- Measured against 2,000 document validation dataset</a:t>
            </a:r>
          </a:p>
          <a:p>
            <a:r>
              <a:t>- Ground truth created by business SMEs</a:t>
            </a:r>
          </a:p>
          <a:p>
            <a:r>
              <a:t>- Field-level accuracy calculation methodology:</a:t>
            </a:r>
          </a:p>
          <a:p>
            <a:r>
              <a:t>  - Total correct fields / Total expected fields</a:t>
            </a:r>
          </a:p>
          <a:p>
            <a:r>
              <a:t>  - Weighted by business priority</a:t>
            </a:r>
          </a:p>
          <a:p/>
          <a:p>
            <a:r>
              <a:t>*Invoice Processing: 97.2% Accuracy*</a:t>
            </a:r>
          </a:p>
          <a:p>
            <a:r>
              <a:t>- Highest accuracy due to pre-built model optimization</a:t>
            </a:r>
          </a:p>
          <a:p>
            <a:r>
              <a:t>- Key fields extracted:</a:t>
            </a:r>
          </a:p>
          <a:p>
            <a:r>
              <a:t>  - Invoice Number: 98.8% accuracy</a:t>
            </a:r>
          </a:p>
          <a:p>
            <a:r>
              <a:t>  - Invoice Date: 98.2% accuracy</a:t>
            </a:r>
          </a:p>
          <a:p>
            <a:r>
              <a:t>  - Vendor Name: 96.5% accuracy</a:t>
            </a:r>
          </a:p>
          <a:p>
            <a:r>
              <a:t>  - Line Items: 95.2% accuracy</a:t>
            </a:r>
          </a:p>
          <a:p>
            <a:r>
              <a:t>  - Total Amount: 98.5% accuracy</a:t>
            </a:r>
          </a:p>
          <a:p>
            <a:r>
              <a:t>  - Payment Terms: 94.1% accuracy</a:t>
            </a:r>
          </a:p>
          <a:p>
            <a:r>
              <a:t>- Most common errors: Handwritten notes, poor scan quality</a:t>
            </a:r>
          </a:p>
          <a:p/>
          <a:p>
            <a:r>
              <a:t>*Receipt Recognition: 95.1% Accuracy*</a:t>
            </a:r>
          </a:p>
          <a:p>
            <a:r>
              <a:t>- More variation in receipt formats</a:t>
            </a:r>
          </a:p>
          <a:p>
            <a:r>
              <a:t>- Key fields extracted:</a:t>
            </a:r>
          </a:p>
          <a:p>
            <a:r>
              <a:t>  - Merchant Name: 96.2% accuracy</a:t>
            </a:r>
          </a:p>
          <a:p>
            <a:r>
              <a:t>  - Transaction Date: 97.1% accuracy</a:t>
            </a:r>
          </a:p>
          <a:p>
            <a:r>
              <a:t>  - Total Amount: 96.8% accuracy</a:t>
            </a:r>
          </a:p>
          <a:p>
            <a:r>
              <a:t>  - Line Items: 92.5% accuracy</a:t>
            </a:r>
          </a:p>
          <a:p>
            <a:r>
              <a:t>- Challenge: Thermal paper fading, varied layouts</a:t>
            </a:r>
          </a:p>
          <a:p/>
          <a:p>
            <a:r>
              <a:t>*Form Extraction: 95.8% Accuracy*</a:t>
            </a:r>
          </a:p>
          <a:p>
            <a:r>
              <a:t>- Custom models trained on 3 form types</a:t>
            </a:r>
          </a:p>
          <a:p>
            <a:r>
              <a:t>- Entity extraction focus:</a:t>
            </a:r>
          </a:p>
          <a:p>
            <a:r>
              <a:t>  - Field Labels: 97.2% accuracy</a:t>
            </a:r>
          </a:p>
          <a:p>
            <a:r>
              <a:t>  - Field Values: 95.1% accuracy</a:t>
            </a:r>
          </a:p>
          <a:p>
            <a:r>
              <a:t>  - Checkbox States: 94.8% accuracy</a:t>
            </a:r>
          </a:p>
          <a:p>
            <a:r>
              <a:t>  - Signature Detection: 96.2% accuracy</a:t>
            </a:r>
          </a:p>
          <a:p/>
          <a:p>
            <a:r>
              <a:t>**Performance Metrics - Detailed Analysis:**</a:t>
            </a:r>
          </a:p>
          <a:p/>
          <a:p>
            <a:r>
              <a:t>*Processing Time: 90 Seconds Average*</a:t>
            </a:r>
          </a:p>
          <a:p>
            <a:r>
              <a:t>- SOW target: &lt;5 minutes per document</a:t>
            </a:r>
          </a:p>
          <a:p>
            <a:r>
              <a:t>- Achieved: 90 seconds average (70% better than target)</a:t>
            </a:r>
          </a:p>
          <a:p>
            <a:r>
              <a:t>- Breakdown by stage:</a:t>
            </a:r>
          </a:p>
          <a:p>
            <a:r>
              <a:t>  - Document validation: 2 seconds</a:t>
            </a:r>
          </a:p>
          <a:p>
            <a:r>
              <a:t>  - Document Intelligence OCR: 50 seconds average</a:t>
            </a:r>
          </a:p>
          <a:p>
            <a:r>
              <a:t>  - Entity extraction: 15 seconds</a:t>
            </a:r>
          </a:p>
          <a:p>
            <a:r>
              <a:t>  - Business logic: 8 seconds</a:t>
            </a:r>
          </a:p>
          <a:p>
            <a:r>
              <a:t>  - Integration calls: 15 seconds</a:t>
            </a:r>
          </a:p>
          <a:p>
            <a:r>
              <a:t>- Peak (complex documents): 3 minutes</a:t>
            </a:r>
          </a:p>
          <a:p>
            <a:r>
              <a:t>- Minimum (simple receipts): 30 seconds</a:t>
            </a:r>
          </a:p>
          <a:p/>
          <a:p>
            <a:r>
              <a:t>*System Uptime: 99.8%*</a:t>
            </a:r>
          </a:p>
          <a:p>
            <a:r>
              <a:t>- Target: 99.5% availability</a:t>
            </a:r>
          </a:p>
          <a:p>
            <a:r>
              <a:t>- Achieved: 99.8% (1.4 hours downtime in 30 days)</a:t>
            </a:r>
          </a:p>
          <a:p>
            <a:r>
              <a:t>- Downtime breakdown:</a:t>
            </a:r>
          </a:p>
          <a:p>
            <a:r>
              <a:t>  - Planned maintenance: 1 hour (during off-hours)</a:t>
            </a:r>
          </a:p>
          <a:p>
            <a:r>
              <a:t>  - Unplanned: 0.4 hours (Function App cold start issue, resolved)</a:t>
            </a:r>
          </a:p>
          <a:p>
            <a:r>
              <a:t>- No data loss incidents</a:t>
            </a:r>
          </a:p>
          <a:p>
            <a:r>
              <a:t>- All SLAs met or exceeded</a:t>
            </a:r>
          </a:p>
          <a:p/>
          <a:p>
            <a:r>
              <a:t>*Human Review Rate: 12%*</a:t>
            </a:r>
          </a:p>
          <a:p>
            <a:r>
              <a:t>- Target: &lt;20% of documents requiring human review</a:t>
            </a:r>
          </a:p>
          <a:p>
            <a:r>
              <a:t>- Achieved: 12% average</a:t>
            </a:r>
          </a:p>
          <a:p>
            <a:r>
              <a:t>- Breakdown by document type:</a:t>
            </a:r>
          </a:p>
          <a:p>
            <a:r>
              <a:t>  - Invoices: 8% require review</a:t>
            </a:r>
          </a:p>
          <a:p>
            <a:r>
              <a:t>  - Receipts: 15% require review</a:t>
            </a:r>
          </a:p>
          <a:p>
            <a:r>
              <a:t>  - Forms: 14% require review</a:t>
            </a:r>
          </a:p>
          <a:p>
            <a:r>
              <a:t>- Review reasons:</a:t>
            </a:r>
          </a:p>
          <a:p>
            <a:r>
              <a:t>  - Low confidence score (&lt;85%): 55%</a:t>
            </a:r>
          </a:p>
          <a:p>
            <a:r>
              <a:t>  - Missing required fields: 30%</a:t>
            </a:r>
          </a:p>
          <a:p>
            <a:r>
              <a:t>  - Quality issues: 15%</a:t>
            </a:r>
          </a:p>
          <a:p/>
          <a:p>
            <a:r>
              <a:t>**Comparison to SOW Targets:**</a:t>
            </a:r>
          </a:p>
          <a:p>
            <a:r>
              <a:t>| Metric | SOW Target | Achieved | Status |</a:t>
            </a:r>
          </a:p>
          <a:p>
            <a:r>
              <a:t>|--------|------------|----------|--------|</a:t>
            </a:r>
          </a:p>
          <a:p>
            <a:r>
              <a:t>| Extraction Accuracy | 95%+ | 96.1% | Exceeded |</a:t>
            </a:r>
          </a:p>
          <a:p>
            <a:r>
              <a:t>| Processing Time | &lt;5 min | 90 sec | Exceeded |</a:t>
            </a:r>
          </a:p>
          <a:p>
            <a:r>
              <a:t>| System Uptime | 99.5% | 99.8% | Exceeded |</a:t>
            </a:r>
          </a:p>
          <a:p>
            <a:r>
              <a:t>| Human Review Rate | &lt;20% | 12% | Exceeded |</a:t>
            </a:r>
          </a:p>
          <a:p/>
          <a:p>
            <a:r>
              <a:t>*Transition:*</a:t>
            </a:r>
          </a:p>
          <a:p>
            <a:r>
              <a:t>"These performance improvements translate directly into business value. Let me show you the benefits we're already seeing..."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*Benefits Analysis - Detailed ROI Discussion:*</a:t>
            </a:r>
          </a:p>
          <a:p/>
          <a:p>
            <a:r>
              <a:t>**Processing Time Reduction - 85%:**</a:t>
            </a:r>
          </a:p>
          <a:p/>
          <a:p>
            <a:r>
              <a:t>*Before (Manual Process):*</a:t>
            </a:r>
          </a:p>
          <a:p>
            <a:r>
              <a:t>- Average time per document: 12-15 minutes</a:t>
            </a:r>
          </a:p>
          <a:p>
            <a:r>
              <a:t>- Steps involved:</a:t>
            </a:r>
          </a:p>
          <a:p>
            <a:r>
              <a:t>  1. Open document (30 sec)</a:t>
            </a:r>
          </a:p>
          <a:p>
            <a:r>
              <a:t>  2. Identify document type (1 min)</a:t>
            </a:r>
          </a:p>
          <a:p>
            <a:r>
              <a:t>  3. Locate key fields (2-3 min)</a:t>
            </a:r>
          </a:p>
          <a:p>
            <a:r>
              <a:t>  4. Manual data entry (6-8 min)</a:t>
            </a:r>
          </a:p>
          <a:p>
            <a:r>
              <a:t>  5. Validation/verification (2-3 min)</a:t>
            </a:r>
          </a:p>
          <a:p>
            <a:r>
              <a:t>  6. Submit to downstream system (1 min)</a:t>
            </a:r>
          </a:p>
          <a:p>
            <a:r>
              <a:t>- Daily capacity: ~30 documents per processor</a:t>
            </a:r>
          </a:p>
          <a:p/>
          <a:p>
            <a:r>
              <a:t>*After (Automated Process):*</a:t>
            </a:r>
          </a:p>
          <a:p>
            <a:r>
              <a:t>- Average time per document: 90 seconds (automated) + 2 min (review if needed)</a:t>
            </a:r>
          </a:p>
          <a:p>
            <a:r>
              <a:t>- 88% fully automated, 12% require brief human review</a:t>
            </a:r>
          </a:p>
          <a:p>
            <a:r>
              <a:t>- Daily capacity: 180+ documents per processor (for review queue)</a:t>
            </a:r>
          </a:p>
          <a:p>
            <a:r>
              <a:t>- Staff time per document: &lt;30 seconds average (spot checks only)</a:t>
            </a:r>
          </a:p>
          <a:p/>
          <a:p>
            <a:r>
              <a:t>*Business Impact:*</a:t>
            </a:r>
          </a:p>
          <a:p>
            <a:r>
              <a:t>- Same 3-person team now handles 4x volume</a:t>
            </a:r>
          </a:p>
          <a:p>
            <a:r>
              <a:t>- Faster turnaround to business units</a:t>
            </a:r>
          </a:p>
          <a:p>
            <a:r>
              <a:t>- Reduced overtime during peak periods</a:t>
            </a:r>
          </a:p>
          <a:p/>
          <a:p>
            <a:r>
              <a:t>**Accuracy Improvement - 96.1%:**</a:t>
            </a:r>
          </a:p>
          <a:p/>
          <a:p>
            <a:r>
              <a:t>*Before (Manual Entry):*</a:t>
            </a:r>
          </a:p>
          <a:p>
            <a:r>
              <a:t>- Error rate: 5-8% in manual data entry</a:t>
            </a:r>
          </a:p>
          <a:p>
            <a:r>
              <a:t>- Common errors: Typos, transposition, missed fields</a:t>
            </a:r>
          </a:p>
          <a:p>
            <a:r>
              <a:t>- Rework required: 12-15% of documents</a:t>
            </a:r>
          </a:p>
          <a:p>
            <a:r>
              <a:t>- Cost of rework: ~$12 per document</a:t>
            </a:r>
          </a:p>
          <a:p/>
          <a:p>
            <a:r>
              <a:t>*After (AI Extraction):*</a:t>
            </a:r>
          </a:p>
          <a:p>
            <a:r>
              <a:t>- Error rate: 3.9% (96.1% accuracy)</a:t>
            </a:r>
          </a:p>
          <a:p>
            <a:r>
              <a:t>- Errors caught by validation rules</a:t>
            </a:r>
          </a:p>
          <a:p>
            <a:r>
              <a:t>- Human review catches remaining issues</a:t>
            </a:r>
          </a:p>
          <a:p>
            <a:r>
              <a:t>- Near-zero rework on extracted data</a:t>
            </a:r>
          </a:p>
          <a:p/>
          <a:p>
            <a:r>
              <a:t>*Financial Impact:*</a:t>
            </a:r>
          </a:p>
          <a:p>
            <a:r>
              <a:t>- Previous rework cost: ~$28,800/year (2,400 docs x $12)</a:t>
            </a:r>
          </a:p>
          <a:p>
            <a:r>
              <a:t>- Current rework cost: ~$4,500/year</a:t>
            </a:r>
          </a:p>
          <a:p>
            <a:r>
              <a:t>- Annual savings: $24,300 from error reduction</a:t>
            </a:r>
          </a:p>
          <a:p/>
          <a:p>
            <a:r>
              <a:t>**Cost Savings - 68% Year 1:**</a:t>
            </a:r>
          </a:p>
          <a:p/>
          <a:p>
            <a:r>
              <a:t>*Cost Comparison:*</a:t>
            </a:r>
          </a:p>
          <a:p/>
          <a:p>
            <a:r>
              <a:t>| Category | Before (Annual) | After (Annual) | Savings |</a:t>
            </a:r>
          </a:p>
          <a:p>
            <a:r>
              <a:t>|----------|-----------------|----------------|---------|</a:t>
            </a:r>
          </a:p>
          <a:p>
            <a:r>
              <a:t>| Labor (3 FTEs) | $126,000 | $42,000* | $84,000 |</a:t>
            </a:r>
          </a:p>
          <a:p>
            <a:r>
              <a:t>| Error Rework | $28,800 | $4,500 | $24,300 |</a:t>
            </a:r>
          </a:p>
          <a:p>
            <a:r>
              <a:t>| Overtime | $12,000 | $1,500 | $10,500 |</a:t>
            </a:r>
          </a:p>
          <a:p>
            <a:r>
              <a:t>| **Subtotal Savings** | | | **$118,800** |</a:t>
            </a:r>
          </a:p>
          <a:p>
            <a:r>
              <a:t>| Azure Costs | $0 | ($18,528) | |</a:t>
            </a:r>
          </a:p>
          <a:p>
            <a:r>
              <a:t>| Software | $0 | ($2,904) | |</a:t>
            </a:r>
          </a:p>
          <a:p>
            <a:r>
              <a:t>| Support | $0 | ($2,676) | |</a:t>
            </a:r>
          </a:p>
          <a:p>
            <a:r>
              <a:t>| **Net Annual Savings** | | | **$94,692** |</a:t>
            </a:r>
          </a:p>
          <a:p/>
          <a:p>
            <a:r>
              <a:t>*Note: 2 FTEs reallocated to other work, 1 FTE manages review queue</a:t>
            </a:r>
          </a:p>
          <a:p/>
          <a:p>
            <a:r>
              <a:t>*Year 1 includes implementation cost, so net savings lower</a:t>
            </a:r>
          </a:p>
          <a:p>
            <a:r>
              <a:t>*Year 2+ will achieve full 70%+ savings target</a:t>
            </a:r>
          </a:p>
          <a:p/>
          <a:p>
            <a:r>
              <a:t>**Staff Reallocation - 2 FTEs:**</a:t>
            </a:r>
          </a:p>
          <a:p>
            <a:r>
              <a:t>- Previous role: Manual document data entry</a:t>
            </a:r>
          </a:p>
          <a:p>
            <a:r>
              <a:t>- New roles:</a:t>
            </a:r>
          </a:p>
          <a:p>
            <a:r>
              <a:t>  - 1 FTE: Customer service escalations (higher value)</a:t>
            </a:r>
          </a:p>
          <a:p>
            <a:r>
              <a:t>  - 1 FTE: Process improvement and analytics</a:t>
            </a:r>
          </a:p>
          <a:p>
            <a:r>
              <a:t>- Remaining team member: Review queue + exception handling</a:t>
            </a:r>
          </a:p>
          <a:p>
            <a:r>
              <a:t>- No layoffs - internal redeployment</a:t>
            </a:r>
          </a:p>
          <a:p>
            <a:r>
              <a:t>- Employee satisfaction improved (less repetitive work)</a:t>
            </a:r>
          </a:p>
          <a:p/>
          <a:p>
            <a:r>
              <a:t>**ROI Summary:**</a:t>
            </a:r>
          </a:p>
          <a:p/>
          <a:p>
            <a:r>
              <a:t>| Metric | Value |</a:t>
            </a:r>
          </a:p>
          <a:p>
            <a:r>
              <a:t>|--------|-------|</a:t>
            </a:r>
          </a:p>
          <a:p>
            <a:r>
              <a:t>| Total Investment (Year 1) | $92,662 |</a:t>
            </a:r>
          </a:p>
          <a:p>
            <a:r>
              <a:t>| Year 1 Net Savings | $94,692 |</a:t>
            </a:r>
          </a:p>
          <a:p>
            <a:r>
              <a:t>| Year 1 ROI | 102% |</a:t>
            </a:r>
          </a:p>
          <a:p>
            <a:r>
              <a:t>| Payback Period | 11.7 months |</a:t>
            </a:r>
          </a:p>
          <a:p>
            <a:r>
              <a:t>| 3-Year TCO | $140,866 |</a:t>
            </a:r>
          </a:p>
          <a:p>
            <a:r>
              <a:t>| 3-Year Savings | $284,076 |</a:t>
            </a:r>
          </a:p>
          <a:p>
            <a:r>
              <a:t>| 3-Year Net Benefit | $143,210 |</a:t>
            </a:r>
          </a:p>
          <a:p>
            <a:r>
              <a:t>| 3-Year ROI | 102% |</a:t>
            </a:r>
          </a:p>
          <a:p/>
          <a:p>
            <a:r>
              <a:t>*Transition:*</a:t>
            </a:r>
          </a:p>
          <a:p>
            <a:r>
              <a:t>"We learned valuable lessons during this implementation that will help with future phases..."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*Lessons Learned - Comprehensive Review:*</a:t>
            </a:r>
          </a:p>
          <a:p/>
          <a:p>
            <a:r>
              <a:t>**What Worked Well - Details:**</a:t>
            </a:r>
          </a:p>
          <a:p/>
          <a:p>
            <a:r>
              <a:t>*1. Pre-built Models Accelerated Delivery (Weeks 1-4):*</a:t>
            </a:r>
          </a:p>
          <a:p>
            <a:r>
              <a:t>- Started with pre-built invoice and receipt models</a:t>
            </a:r>
          </a:p>
          <a:p>
            <a:r>
              <a:t>- Achieved 93% accuracy immediately without custom training</a:t>
            </a:r>
          </a:p>
          <a:p>
            <a:r>
              <a:t>- Built stakeholder confidence before custom model investment</a:t>
            </a:r>
          </a:p>
          <a:p>
            <a:r>
              <a:t>- Recommendation: Always start with pre-built models first</a:t>
            </a:r>
          </a:p>
          <a:p/>
          <a:p>
            <a:r>
              <a:t>*2. Human Review Workflow as Safety Net:*</a:t>
            </a:r>
          </a:p>
          <a:p>
            <a:r>
              <a:t>- Initial concern: Would AI be accurate enough?</a:t>
            </a:r>
          </a:p>
          <a:p>
            <a:r>
              <a:t>- Human review queue provided confidence for go-live</a:t>
            </a:r>
          </a:p>
          <a:p>
            <a:r>
              <a:t>- Reviewers provide feedback that improves accuracy</a:t>
            </a:r>
          </a:p>
          <a:p>
            <a:r>
              <a:t>- Review rate dropped from 22% (Week 1) to 12% (Week 16)</a:t>
            </a:r>
          </a:p>
          <a:p>
            <a:r>
              <a:t>- Recommendation: Budget for human review, plan for it to decrease</a:t>
            </a:r>
          </a:p>
          <a:p/>
          <a:p>
            <a:r>
              <a:t>*3. Phased Cutover Reduced Risk:*</a:t>
            </a:r>
          </a:p>
          <a:p>
            <a:r>
              <a:t>- Parallel processing for 2 weeks</a:t>
            </a:r>
          </a:p>
          <a:p>
            <a:r>
              <a:t>- Gradual volume shift (25% → 75% → 100%)</a:t>
            </a:r>
          </a:p>
          <a:p>
            <a:r>
              <a:t>- Manual fallback always available</a:t>
            </a:r>
          </a:p>
          <a:p>
            <a:r>
              <a:t>- Zero data loss during transition</a:t>
            </a:r>
          </a:p>
          <a:p>
            <a:r>
              <a:t>- User confidence built incrementally</a:t>
            </a:r>
          </a:p>
          <a:p>
            <a:r>
              <a:t>- Recommendation: Never do "big bang" cutover for AI systems</a:t>
            </a:r>
          </a:p>
          <a:p/>
          <a:p>
            <a:r>
              <a:t>*4. Weekly Stakeholder Demos:*</a:t>
            </a:r>
          </a:p>
          <a:p>
            <a:r>
              <a:t>- Thursday 2pm demos throughout project</a:t>
            </a:r>
          </a:p>
          <a:p>
            <a:r>
              <a:t>- Showed actual documents being processed</a:t>
            </a:r>
          </a:p>
          <a:p>
            <a:r>
              <a:t>- Gathered feedback in real-time</a:t>
            </a:r>
          </a:p>
          <a:p>
            <a:r>
              <a:t>- Built organizational buy-in</a:t>
            </a:r>
          </a:p>
          <a:p>
            <a:r>
              <a:t>- Identified issues early</a:t>
            </a:r>
          </a:p>
          <a:p>
            <a:r>
              <a:t>- Recommendation: Demo frequently, use real documents</a:t>
            </a:r>
          </a:p>
          <a:p/>
          <a:p>
            <a:r>
              <a:t>**Challenges Overcome - Details:**</a:t>
            </a:r>
          </a:p>
          <a:p/>
          <a:p>
            <a:r>
              <a:t>*1. Document Quality Variation:*</a:t>
            </a:r>
          </a:p>
          <a:p>
            <a:r>
              <a:t>- Challenge: 18% of scanned documents had quality issues</a:t>
            </a:r>
          </a:p>
          <a:p>
            <a:r>
              <a:t>  - Skewed scans, low resolution (under 150 DPI)</a:t>
            </a:r>
          </a:p>
          <a:p>
            <a:r>
              <a:t>  - Handwritten annotations, faded thermal receipts</a:t>
            </a:r>
          </a:p>
          <a:p>
            <a:r>
              <a:t>- Impact: Accuracy dropped to 80% on poor quality docs</a:t>
            </a:r>
          </a:p>
          <a:p>
            <a:r>
              <a:t>- Resolution:</a:t>
            </a:r>
          </a:p>
          <a:p>
            <a:r>
              <a:t>  - Created document quality guidelines for submitters</a:t>
            </a:r>
          </a:p>
          <a:p>
            <a:r>
              <a:t>  - Added quality check in processing workflow</a:t>
            </a:r>
          </a:p>
          <a:p>
            <a:r>
              <a:t>  - Route poor quality to manual review automatically</a:t>
            </a:r>
          </a:p>
          <a:p>
            <a:r>
              <a:t>- Result: Quality issues now caught early, accuracy maintained</a:t>
            </a:r>
          </a:p>
          <a:p/>
          <a:p>
            <a:r>
              <a:t>*2. Integration Timing Alignment:*</a:t>
            </a:r>
          </a:p>
          <a:p>
            <a:r>
              <a:t>- Challenge: ERP system had maintenance windows</a:t>
            </a:r>
          </a:p>
          <a:p>
            <a:r>
              <a:t>- Impact: Initial integration failures during batch processing</a:t>
            </a:r>
          </a:p>
          <a:p>
            <a:r>
              <a:t>- Resolution:</a:t>
            </a:r>
          </a:p>
          <a:p>
            <a:r>
              <a:t>  - Implemented retry logic with exponential backoff</a:t>
            </a:r>
          </a:p>
          <a:p>
            <a:r>
              <a:t>  - Added Azure Service Bus queue as buffer</a:t>
            </a:r>
          </a:p>
          <a:p>
            <a:r>
              <a:t>  - Configured maintenance window awareness</a:t>
            </a:r>
          </a:p>
          <a:p>
            <a:r>
              <a:t>- Result: 99.9% integration success rate</a:t>
            </a:r>
          </a:p>
          <a:p/>
          <a:p>
            <a:r>
              <a:t>*3. User Adoption Concerns:*</a:t>
            </a:r>
          </a:p>
          <a:p>
            <a:r>
              <a:t>- Challenge: Processing team worried about job security</a:t>
            </a:r>
          </a:p>
          <a:p>
            <a:r>
              <a:t>- Initial resistance: "AI will replace us"</a:t>
            </a:r>
          </a:p>
          <a:p>
            <a:r>
              <a:t>- Resolution:</a:t>
            </a:r>
          </a:p>
          <a:p>
            <a:r>
              <a:t>  - Early communication about reallocation (not reduction)</a:t>
            </a:r>
          </a:p>
          <a:p>
            <a:r>
              <a:t>  - Involved team in pilot testing</a:t>
            </a:r>
          </a:p>
          <a:p>
            <a:r>
              <a:t>  - Celebrated their expertise in training reviewers</a:t>
            </a:r>
          </a:p>
          <a:p>
            <a:r>
              <a:t>  - Showed how their time shifts to higher-value work</a:t>
            </a:r>
          </a:p>
          <a:p>
            <a:r>
              <a:t>- Result: Team became champions of the solution</a:t>
            </a:r>
          </a:p>
          <a:p/>
          <a:p>
            <a:r>
              <a:t>**Recommendations for Future Enhancement:**</a:t>
            </a:r>
          </a:p>
          <a:p/>
          <a:p>
            <a:r>
              <a:t>*1. Add 2-3 More Document Types (Phase 2):*</a:t>
            </a:r>
          </a:p>
          <a:p>
            <a:r>
              <a:t>- Candidates identified during discovery:</a:t>
            </a:r>
          </a:p>
          <a:p>
            <a:r>
              <a:t>  - Contract documents (agreements, amendments)</a:t>
            </a:r>
          </a:p>
          <a:p>
            <a:r>
              <a:t>  - Purchase orders</a:t>
            </a:r>
          </a:p>
          <a:p>
            <a:r>
              <a:t>  - Shipping documents (BOL, packing lists)</a:t>
            </a:r>
          </a:p>
          <a:p>
            <a:r>
              <a:t>- Estimated effort: 4-6 weeks per document type</a:t>
            </a:r>
          </a:p>
          <a:p>
            <a:r>
              <a:t>- Investment: ~$12,000-18,000 per document type</a:t>
            </a:r>
          </a:p>
          <a:p>
            <a:r>
              <a:t>- Expected accuracy: 94%+ based on current performance</a:t>
            </a:r>
          </a:p>
          <a:p/>
          <a:p>
            <a:r>
              <a:t>*2. Implement Continuous Learning:*</a:t>
            </a:r>
          </a:p>
          <a:p>
            <a:r>
              <a:t>- Current state: Human review corrections captured but not analyzed</a:t>
            </a:r>
          </a:p>
          <a:p>
            <a:r>
              <a:t>- Recommendation: Monthly accuracy trend reporting</a:t>
            </a:r>
          </a:p>
          <a:p>
            <a:r>
              <a:t>- Use reviewer corrections to identify:</a:t>
            </a:r>
          </a:p>
          <a:p>
            <a:r>
              <a:t>  - Systematic extraction errors</a:t>
            </a:r>
          </a:p>
          <a:p>
            <a:r>
              <a:t>  - New document format variations</a:t>
            </a:r>
          </a:p>
          <a:p>
            <a:r>
              <a:t>  - Custom model improvements needed</a:t>
            </a:r>
          </a:p>
          <a:p>
            <a:r>
              <a:t>- Goal: Continuous accuracy improvement</a:t>
            </a:r>
          </a:p>
          <a:p>
            <a:r>
              <a:t>- Target: Reduce human review rate to &lt;8%</a:t>
            </a:r>
          </a:p>
          <a:p/>
          <a:p>
            <a:r>
              <a:t>*3. Optimize Human Review Workflow:*</a:t>
            </a:r>
          </a:p>
          <a:p>
            <a:r>
              <a:t>- Current average review time: 2.5 minutes</a:t>
            </a:r>
          </a:p>
          <a:p>
            <a:r>
              <a:t>- Opportunity: Pre-populate more fields</a:t>
            </a:r>
          </a:p>
          <a:p>
            <a:r>
              <a:t>- Add confidence indicators to UI</a:t>
            </a:r>
          </a:p>
          <a:p>
            <a:r>
              <a:t>- Implement keyboard shortcuts</a:t>
            </a:r>
          </a:p>
          <a:p>
            <a:r>
              <a:t>- Target: 1.5 minute average review time</a:t>
            </a:r>
          </a:p>
          <a:p>
            <a:r>
              <a:t>- Impact: 40% productivity improvement for reviewers</a:t>
            </a:r>
          </a:p>
          <a:p/>
          <a:p>
            <a:r>
              <a:t>*Transition:*</a:t>
            </a:r>
          </a:p>
          <a:p>
            <a:r>
              <a:t>"Let me walk you through how we're transitioning support to your team..."</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*Support Transition - Complete Details:*</a:t>
            </a:r>
          </a:p>
          <a:p/>
          <a:p>
            <a:r>
              <a:t>**Hypercare Period Summary (30 Days Post-Go-Live):**</a:t>
            </a:r>
          </a:p>
          <a:p/>
          <a:p>
            <a:r>
              <a:t>*Daily Activities Completed:*</a:t>
            </a:r>
          </a:p>
          <a:p>
            <a:r>
              <a:t>- Morning health check calls (9am) - first 2 weeks</a:t>
            </a:r>
          </a:p>
          <a:p>
            <a:r>
              <a:t>- Azure Monitor dashboard review</a:t>
            </a:r>
          </a:p>
          <a:p>
            <a:r>
              <a:t>- Human review queue monitoring</a:t>
            </a:r>
          </a:p>
          <a:p>
            <a:r>
              <a:t>- Integration status verification</a:t>
            </a:r>
          </a:p>
          <a:p>
            <a:r>
              <a:t>- Processing volume tracking</a:t>
            </a:r>
          </a:p>
          <a:p/>
          <a:p>
            <a:r>
              <a:t>*Issues Resolved During Hypercare:*</a:t>
            </a:r>
          </a:p>
          <a:p/>
          <a:p>
            <a:r>
              <a:t>Issue #1 (P3) - Day 5:</a:t>
            </a:r>
          </a:p>
          <a:p>
            <a:r>
              <a:t>- Problem: Function App timeout on large PDF (35 pages)</a:t>
            </a:r>
          </a:p>
          <a:p>
            <a:r>
              <a:t>- Root cause: Processing timeout too aggressive</a:t>
            </a:r>
          </a:p>
          <a:p>
            <a:r>
              <a:t>- Resolution: Increased timeout for documents &gt;20 pages</a:t>
            </a:r>
          </a:p>
          <a:p>
            <a:r>
              <a:t>- Prevention: Added document page count check in workflow</a:t>
            </a:r>
          </a:p>
          <a:p/>
          <a:p>
            <a:r>
              <a:t>Issue #2 (P3) - Day 12:</a:t>
            </a:r>
          </a:p>
          <a:p>
            <a:r>
              <a:t>- Problem: Cosmos DB throttling during peak hour</a:t>
            </a:r>
          </a:p>
          <a:p>
            <a:r>
              <a:t>- Root cause: Exceeded provisioned throughput</a:t>
            </a:r>
          </a:p>
          <a:p>
            <a:r>
              <a:t>- Resolution: Switched to serverless mode with auto-scaling</a:t>
            </a:r>
          </a:p>
          <a:p>
            <a:r>
              <a:t>- Cost impact: Minimal (~$15/month increase)</a:t>
            </a:r>
          </a:p>
          <a:p/>
          <a:p>
            <a:r>
              <a:t>*Knowledge Transfer Sessions Delivered:*</a:t>
            </a:r>
          </a:p>
          <a:p/>
          <a:p>
            <a:r>
              <a:t>| Session | Date | Attendees | Duration | Recording |</a:t>
            </a:r>
          </a:p>
          <a:p>
            <a:r>
              <a:t>|---------|------|-----------|----------|-----------|</a:t>
            </a:r>
          </a:p>
          <a:p>
            <a:r>
              <a:t>| Admin Deep Dive | Week 16 | 3 IT staff | 2.5 hours | Yes |</a:t>
            </a:r>
          </a:p>
          <a:p>
            <a:r>
              <a:t>| Troubleshooting Workshop | Week 17 | 3 IT staff | 2 hours | Yes |</a:t>
            </a:r>
          </a:p>
          <a:p>
            <a:r>
              <a:t>| Azure Monitor Training | Week 17 | 2 ops staff | 1.5 hours | Yes |</a:t>
            </a:r>
          </a:p>
          <a:p>
            <a:r>
              <a:t>| Human Review Training | Week 16 | 6 reviewers | 1 hour | Yes |</a:t>
            </a:r>
          </a:p>
          <a:p>
            <a:r>
              <a:t>| Executive Dashboard | Week 18 | 2 managers | 30 min | Yes |</a:t>
            </a:r>
          </a:p>
          <a:p/>
          <a:p>
            <a:r>
              <a:t>*Runbook Validation:*</a:t>
            </a:r>
          </a:p>
          <a:p>
            <a:r>
              <a:t>- All 10 runbook procedures tested by client IT</a:t>
            </a:r>
          </a:p>
          <a:p>
            <a:r>
              <a:t>- Signed off by [IT Lead] on [Date]</a:t>
            </a:r>
          </a:p>
          <a:p>
            <a:r>
              <a:t>- Procedures validated:</a:t>
            </a:r>
          </a:p>
          <a:p>
            <a:r>
              <a:t>  1. Daily health check</a:t>
            </a:r>
          </a:p>
          <a:p>
            <a:r>
              <a:t>  2. Processing failure investigation</a:t>
            </a:r>
          </a:p>
          <a:p>
            <a:r>
              <a:t>  3. Human review queue management</a:t>
            </a:r>
          </a:p>
          <a:p>
            <a:r>
              <a:t>  4. Integration error handling</a:t>
            </a:r>
          </a:p>
          <a:p>
            <a:r>
              <a:t>  5. Performance troubleshooting</a:t>
            </a:r>
          </a:p>
          <a:p>
            <a:r>
              <a:t>  6. Security incident response</a:t>
            </a:r>
          </a:p>
          <a:p>
            <a:r>
              <a:t>  7. Backup verification</a:t>
            </a:r>
          </a:p>
          <a:p>
            <a:r>
              <a:t>  8. Disaster recovery</a:t>
            </a:r>
          </a:p>
          <a:p>
            <a:r>
              <a:t>  9. User access management</a:t>
            </a:r>
          </a:p>
          <a:p>
            <a:r>
              <a:t>  10. Cost monitoring</a:t>
            </a:r>
          </a:p>
          <a:p/>
          <a:p>
            <a:r>
              <a:t>**Steady State Support Model:**</a:t>
            </a:r>
          </a:p>
          <a:p/>
          <a:p>
            <a:r>
              <a:t>*What Client Team Handles (L1/L2):*</a:t>
            </a:r>
          </a:p>
          <a:p>
            <a:r>
              <a:t>- Daily monitoring via Azure Monitor dashboards</a:t>
            </a:r>
          </a:p>
          <a:p>
            <a:r>
              <a:t>- Human review queue management</a:t>
            </a:r>
          </a:p>
          <a:p>
            <a:r>
              <a:t>- User access administration</a:t>
            </a:r>
          </a:p>
          <a:p>
            <a:r>
              <a:t>- Basic troubleshooting (per runbook)</a:t>
            </a:r>
          </a:p>
          <a:p>
            <a:r>
              <a:t>- Monthly cost review</a:t>
            </a:r>
          </a:p>
          <a:p>
            <a:r>
              <a:t>- Performance trend monitoring</a:t>
            </a:r>
          </a:p>
          <a:p/>
          <a:p>
            <a:r>
              <a:t>*When to Escalate to Vendor (L3):*</a:t>
            </a:r>
          </a:p>
          <a:p>
            <a:r>
              <a:t>- Accuracy degradation below 93%</a:t>
            </a:r>
          </a:p>
          <a:p>
            <a:r>
              <a:t>- Processing failures &gt;5% rate</a:t>
            </a:r>
          </a:p>
          <a:p>
            <a:r>
              <a:t>- Integration issues not resolved by runbook</a:t>
            </a:r>
          </a:p>
          <a:p>
            <a:r>
              <a:t>- New document type implementation</a:t>
            </a:r>
          </a:p>
          <a:p>
            <a:r>
              <a:t>- Significant architecture changes</a:t>
            </a:r>
          </a:p>
          <a:p>
            <a:r>
              <a:t>- Azure service limit increases</a:t>
            </a:r>
          </a:p>
          <a:p/>
          <a:p>
            <a:r>
              <a:t>**Support Contact Information:**</a:t>
            </a:r>
          </a:p>
          <a:p/>
          <a:p>
            <a:r>
              <a:t>| Role | Name | Email | Phone | Availability |</a:t>
            </a:r>
          </a:p>
          <a:p>
            <a:r>
              <a:t>|------|------|-------|-------|--------------|</a:t>
            </a:r>
          </a:p>
          <a:p>
            <a:r>
              <a:t>| IT Lead | [Name] | [email] | [phone] | Business hours |</a:t>
            </a:r>
          </a:p>
          <a:p>
            <a:r>
              <a:t>| Review Queue Manager | [Name] | [email] | [phone] | Business hours |</a:t>
            </a:r>
          </a:p>
          <a:p>
            <a:r>
              <a:t>| On-Call (emergency) | IT Duty | [email] | [phone] | 24/7 |</a:t>
            </a:r>
          </a:p>
          <a:p>
            <a:r>
              <a:t>| Vendor Support (optional) | Support Team | support@vendor.com | 555-xxx-xxxx | Per contract |</a:t>
            </a:r>
          </a:p>
          <a:p/>
          <a:p>
            <a:r>
              <a:t>*Transition:*</a:t>
            </a:r>
          </a:p>
          <a:p>
            <a:r>
              <a:t>"Let me acknowledge the team that made this possible and outline next steps..."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*Acknowledgments - Recognize Key Contributors:*</a:t>
            </a:r>
          </a:p>
          <a:p/>
          <a:p>
            <a:r>
              <a:t>**Client Team Recognition:**</a:t>
            </a:r>
          </a:p>
          <a:p/>
          <a:p>
            <a:r>
              <a:t>*Executive Sponsor - [Name]:*</a:t>
            </a:r>
          </a:p>
          <a:p>
            <a:r>
              <a:t>- Championed the project from discovery through go-live</a:t>
            </a:r>
          </a:p>
          <a:p>
            <a:r>
              <a:t>- Secured budget and organizational support</a:t>
            </a:r>
          </a:p>
          <a:p>
            <a:r>
              <a:t>- Removed blockers when escalated</a:t>
            </a:r>
          </a:p>
          <a:p>
            <a:r>
              <a:t>- Key decision: Approved phased cutover approach</a:t>
            </a:r>
          </a:p>
          <a:p/>
          <a:p>
            <a:r>
              <a:t>*IT Lead - [Name]:*</a:t>
            </a:r>
          </a:p>
          <a:p>
            <a:r>
              <a:t>- Technical counterpart throughout implementation</a:t>
            </a:r>
          </a:p>
          <a:p>
            <a:r>
              <a:t>- Azure subscription setup and access coordination</a:t>
            </a:r>
          </a:p>
          <a:p>
            <a:r>
              <a:t>- Security and compliance validation</a:t>
            </a:r>
          </a:p>
          <a:p>
            <a:r>
              <a:t>- Knowledge transfer recipient and future owner</a:t>
            </a:r>
          </a:p>
          <a:p/>
          <a:p>
            <a:r>
              <a:t>*Business Lead - [Name]:*</a:t>
            </a:r>
          </a:p>
          <a:p>
            <a:r>
              <a:t>- Requirements definition and validation</a:t>
            </a:r>
          </a:p>
          <a:p>
            <a:r>
              <a:t>- UAT coordination and sign-off</a:t>
            </a:r>
          </a:p>
          <a:p>
            <a:r>
              <a:t>- User training logistics</a:t>
            </a:r>
          </a:p>
          <a:p>
            <a:r>
              <a:t>- Change management champion</a:t>
            </a:r>
          </a:p>
          <a:p/>
          <a:p>
            <a:r>
              <a:t>*Document Processing Team:*</a:t>
            </a:r>
          </a:p>
          <a:p>
            <a:r>
              <a:t>- Labeled 1,500 training documents</a:t>
            </a:r>
          </a:p>
          <a:p>
            <a:r>
              <a:t>- Participated in all UAT sessions</a:t>
            </a:r>
          </a:p>
          <a:p>
            <a:r>
              <a:t>- Provided critical feedback during pilot</a:t>
            </a:r>
          </a:p>
          <a:p>
            <a:r>
              <a:t>- Transitioned to human reviewer roles</a:t>
            </a:r>
          </a:p>
          <a:p/>
          <a:p>
            <a:r>
              <a:t>**Vendor Team Recognition:**</a:t>
            </a:r>
          </a:p>
          <a:p/>
          <a:p>
            <a:r>
              <a:t>*Project Manager - [Name]:*</a:t>
            </a:r>
          </a:p>
          <a:p>
            <a:r>
              <a:t>- Overall delivery accountability</a:t>
            </a:r>
          </a:p>
          <a:p>
            <a:r>
              <a:t>- Stakeholder communication</a:t>
            </a:r>
          </a:p>
          <a:p>
            <a:r>
              <a:t>- Risk and issue management</a:t>
            </a:r>
          </a:p>
          <a:p>
            <a:r>
              <a:t>- On-time, on-budget delivery</a:t>
            </a:r>
          </a:p>
          <a:p/>
          <a:p>
            <a:r>
              <a:t>*Solutions Architect - [Name]:*</a:t>
            </a:r>
          </a:p>
          <a:p>
            <a:r>
              <a:t>- Azure architecture design</a:t>
            </a:r>
          </a:p>
          <a:p>
            <a:r>
              <a:t>- Document Intelligence optimization</a:t>
            </a:r>
          </a:p>
          <a:p>
            <a:r>
              <a:t>- Integration design and implementation</a:t>
            </a:r>
          </a:p>
          <a:p>
            <a:r>
              <a:t>- Technical documentation</a:t>
            </a:r>
          </a:p>
          <a:p/>
          <a:p>
            <a:r>
              <a:t>*AI Engineer - [Name]:*</a:t>
            </a:r>
          </a:p>
          <a:p>
            <a:r>
              <a:t>- Custom model development</a:t>
            </a:r>
          </a:p>
          <a:p>
            <a:r>
              <a:t>- Model training and optimization</a:t>
            </a:r>
          </a:p>
          <a:p>
            <a:r>
              <a:t>- Accuracy tuning</a:t>
            </a:r>
          </a:p>
          <a:p>
            <a:r>
              <a:t>- Performance optimization</a:t>
            </a:r>
          </a:p>
          <a:p/>
          <a:p>
            <a:r>
              <a:t>**Immediate Next Steps (This Week):**</a:t>
            </a:r>
          </a:p>
          <a:p/>
          <a:p>
            <a:r>
              <a:t>| Task | Owner | Due Date |</a:t>
            </a:r>
          </a:p>
          <a:p>
            <a:r>
              <a:t>|------|-------|----------|</a:t>
            </a:r>
          </a:p>
          <a:p>
            <a:r>
              <a:t>| Final documentation handover | PM | [Date] |</a:t>
            </a:r>
          </a:p>
          <a:p>
            <a:r>
              <a:t>| Archive project SharePoint site | PM | [Date] |</a:t>
            </a:r>
          </a:p>
          <a:p>
            <a:r>
              <a:t>| Close project tracking | PM | [Date] |</a:t>
            </a:r>
          </a:p>
          <a:p>
            <a:r>
              <a:t>| Update asset inventory | IT Lead | [Date] |</a:t>
            </a:r>
          </a:p>
          <a:p>
            <a:r>
              <a:t>| Confirm support contacts | IT Lead | [Date] |</a:t>
            </a:r>
          </a:p>
          <a:p/>
          <a:p>
            <a:r>
              <a:t>**30-Day Next Steps:**</a:t>
            </a:r>
          </a:p>
          <a:p/>
          <a:p>
            <a:r>
              <a:t>| Task | Owner | Due Date |</a:t>
            </a:r>
          </a:p>
          <a:p>
            <a:r>
              <a:t>|------|-------|----------|</a:t>
            </a:r>
          </a:p>
          <a:p>
            <a:r>
              <a:t>| First monthly performance review | IT Lead | [Date+30] |</a:t>
            </a:r>
          </a:p>
          <a:p>
            <a:r>
              <a:t>| Accuracy trend analysis | Business Lead | [Date+30] |</a:t>
            </a:r>
          </a:p>
          <a:p>
            <a:r>
              <a:t>| Cost optimization review | IT Lead | [Date+30] |</a:t>
            </a:r>
          </a:p>
          <a:p>
            <a:r>
              <a:t>| Identify Phase 2 candidates | Business Lead | [Date+30] |</a:t>
            </a:r>
          </a:p>
          <a:p>
            <a:r>
              <a:t>| User satisfaction survey | PM | [Date+30] |</a:t>
            </a:r>
          </a:p>
          <a:p/>
          <a:p>
            <a:r>
              <a:t>**Phase 2 Candidate Document Types:**</a:t>
            </a:r>
          </a:p>
          <a:p>
            <a:r>
              <a:t>Based on discovery findings, recommended priorities:</a:t>
            </a:r>
          </a:p>
          <a:p/>
          <a:p>
            <a:r>
              <a:t>| Document Type | Volume/Month | Complexity | Est. ROI |</a:t>
            </a:r>
          </a:p>
          <a:p>
            <a:r>
              <a:t>|---------------|--------------|------------|----------|</a:t>
            </a:r>
          </a:p>
          <a:p>
            <a:r>
              <a:t>| Contract Documents | 300 | High | $18K/year |</a:t>
            </a:r>
          </a:p>
          <a:p>
            <a:r>
              <a:t>| Purchase Orders | 500 | Medium | $22K/year |</a:t>
            </a:r>
          </a:p>
          <a:p>
            <a:r>
              <a:t>| Shipping Documents | 200 | Medium | $12K/year |</a:t>
            </a:r>
          </a:p>
          <a:p/>
          <a:p>
            <a:r>
              <a:t>Recommendation: Start with Purchase Orders (highest ROI, medium complexity)</a:t>
            </a:r>
          </a:p>
          <a:p/>
          <a:p>
            <a:r>
              <a:t>*Transition:*</a:t>
            </a:r>
          </a:p>
          <a:p>
            <a:r>
              <a:t>"Thank you for your partnership on this project. Let me open the floor for questions..."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*Closing and Q&amp;A Preparation:*</a:t>
            </a:r>
          </a:p>
          <a:p/>
          <a:p>
            <a:r>
              <a:t>**Closing Statement:**</a:t>
            </a:r>
          </a:p>
          <a:p>
            <a:r>
              <a:t>"Thank you for your partnership throughout this project. We've successfully transformed document processing from a manual bottleneck into an automated, AI-powered workflow using Azure Document Intelligence. The solution is exceeding our accuracy targets, the team is trained and ready, and you're already seeing measurable business value.</a:t>
            </a:r>
          </a:p>
          <a:p/>
          <a:p>
            <a:r>
              <a:t>I want to open the floor for questions. We have [time] remaining."</a:t>
            </a:r>
          </a:p>
          <a:p/>
          <a:p>
            <a:r>
              <a:t>**Anticipated Questions and Prepared Answers:**</a:t>
            </a:r>
          </a:p>
          <a:p/>
          <a:p>
            <a:r>
              <a:t>*Q: What happens if Document Intelligence accuracy drops?*</a:t>
            </a:r>
          </a:p>
          <a:p>
            <a:r>
              <a:t>A: We have Azure Monitor alerts set at 93% threshold. If accuracy drops below this, you'll receive an alert. The runbook has a procedure for accuracy investigation. Common causes are new document formats or quality issues. Human review catches most issues in the meantime. For persistent problems, vendor support can assist with custom model tuning.</a:t>
            </a:r>
          </a:p>
          <a:p/>
          <a:p>
            <a:r>
              <a:t>*Q: Can we add new document types ourselves?*</a:t>
            </a:r>
          </a:p>
          <a:p>
            <a:r>
              <a:t>A: Adding new document types requires: (1) Sample documents for testing, (2) Document Intelligence model configuration, (3) Integration mapping, (4) Testing and validation. This is typically a 4-6 week effort best done with vendor assistance to ensure accuracy targets are met. Budget $12-18K per document type.</a:t>
            </a:r>
          </a:p>
          <a:p/>
          <a:p>
            <a:r>
              <a:t>*Q: What are the ongoing Azure costs?*</a:t>
            </a:r>
          </a:p>
          <a:p>
            <a:r>
              <a:t>A: Current run rate is approximately $1,544/month:</a:t>
            </a:r>
          </a:p>
          <a:p>
            <a:r>
              <a:t>- Document Intelligence: $1,000/month (based on 2,000 docs)</a:t>
            </a:r>
          </a:p>
          <a:p>
            <a:r>
              <a:t>- Azure Functions: $150/month</a:t>
            </a:r>
          </a:p>
          <a:p>
            <a:r>
              <a:t>- Blob Storage/Cosmos DB: $100/month</a:t>
            </a:r>
          </a:p>
          <a:p>
            <a:r>
              <a:t>- Monitoring (Log Analytics, App Insights): $150/month</a:t>
            </a:r>
          </a:p>
          <a:p>
            <a:r>
              <a:t>- Other (API Management, Key Vault): $144/month</a:t>
            </a:r>
          </a:p>
          <a:p>
            <a:r>
              <a:t>Costs scale roughly linearly with document volume.</a:t>
            </a:r>
          </a:p>
          <a:p/>
          <a:p>
            <a:r>
              <a:t>*Q: How do we handle a surge in document volume?*</a:t>
            </a:r>
          </a:p>
          <a:p>
            <a:r>
              <a:t>A: The serverless architecture automatically scales. Azure Functions will scale based on queue depth. Document Intelligence and Blob Storage are fully managed and scale automatically. For planned surges, give us a heads-up so we can verify service limits.</a:t>
            </a:r>
          </a:p>
          <a:p/>
          <a:p>
            <a:r>
              <a:t>*Q: What if a key team member leaves?*</a:t>
            </a:r>
          </a:p>
          <a:p>
            <a:r>
              <a:t>A: All knowledge is documented in the operations runbook and training materials. Video recordings of all training sessions are available. The Bicep templates allow environment rebuild. We recommend cross-training at least two people on each function.</a:t>
            </a:r>
          </a:p>
          <a:p/>
          <a:p>
            <a:r>
              <a:t>*Q: Is the data secure?*</a:t>
            </a:r>
          </a:p>
          <a:p>
            <a:r>
              <a:t>A: Yes. All data encrypted at rest (Azure Storage Service Encryption) and in transit (TLS 1.2+). Managed identities follow least privilege. Azure Monitor logs all access. No document data leaves your Azure tenant. SOC 2 compliance maintained.</a:t>
            </a:r>
          </a:p>
          <a:p/>
          <a:p>
            <a:r>
              <a:t>**Demo Offer:**</a:t>
            </a:r>
          </a:p>
          <a:p>
            <a:r>
              <a:t>"Would anyone like to see a live document processing demo? I can show you the submission, processing, and results retrieval flow."</a:t>
            </a:r>
          </a:p>
          <a:p/>
          <a:p>
            <a:r>
              <a:t>**Follow-Up Commitments:**</a:t>
            </a:r>
          </a:p>
          <a:p>
            <a:r>
              <a:t>- [ ] Send final presentation deck to all attendees</a:t>
            </a:r>
          </a:p>
          <a:p>
            <a:r>
              <a:t>- [ ] Distribute project summary one-pager for executives</a:t>
            </a:r>
          </a:p>
          <a:p>
            <a:r>
              <a:t>- [ ] Schedule 30-day performance review meeting</a:t>
            </a:r>
          </a:p>
          <a:p>
            <a:r>
              <a:t>- [ ] Send Phase 2 document type assessment template</a:t>
            </a:r>
          </a:p>
          <a:p>
            <a:r>
              <a:t>- [ ] Provide vendor support contract options (if requested)</a:t>
            </a:r>
          </a:p>
          <a:p/>
          <a:p>
            <a:r>
              <a:t>**Final Closing:**</a:t>
            </a:r>
          </a:p>
          <a:p>
            <a:r>
              <a:t>"Thank you again for your trust in our team. This project demonstrates what's possible when business and technology teams collaborate effectively. We look forward to continuing this partnership in Phase 2 and beyond.</a:t>
            </a:r>
          </a:p>
          <a:p/>
          <a:p>
            <a:r>
              <a:t>Please don't hesitate to reach out to me or [Account Manager] if any questions come up. Have a great [rest of your day/afternoon]."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EO 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538528" y="1886679"/>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Presentation Title</a:t>
            </a: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1" y="4536078"/>
            <a:ext cx="2099897"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59473" y="2437679"/>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Subtitle Text</a:t>
            </a:r>
            <a:endParaRPr lang="en-US" sz="1800" dirty="0"/>
          </a:p>
        </p:txBody>
      </p:sp>
      <p:sp>
        <p:nvSpPr>
          <p:cNvPr id="12" name="Text Placeholder 11">
            <a:extLst>
              <a:ext uri="{FF2B5EF4-FFF2-40B4-BE49-F238E27FC236}">
                <a16:creationId xmlns:a16="http://schemas.microsoft.com/office/drawing/2014/main" id="{39F5D3C5-0033-51A7-77BC-7E3DBBF84F2E}"/>
              </a:ext>
            </a:extLst>
          </p:cNvPr>
          <p:cNvSpPr>
            <a:spLocks noGrp="1"/>
          </p:cNvSpPr>
          <p:nvPr>
            <p:ph type="body" sz="quarter" idx="15" hasCustomPrompt="1"/>
          </p:nvPr>
        </p:nvSpPr>
        <p:spPr>
          <a:xfrm>
            <a:off x="2734286" y="3631467"/>
            <a:ext cx="3605212" cy="33496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400">
                <a:latin typeface="Arial" panose="020B0604020202020204" pitchFamily="34" charset="0"/>
                <a:cs typeface="Arial" panose="020B0604020202020204" pitchFamily="34" charset="0"/>
              </a:defRPr>
            </a:lvl1pPr>
          </a:lstStyle>
          <a:p>
            <a:pPr lvl="0"/>
            <a:r>
              <a:rPr lang="en-US" sz="1400" dirty="0">
                <a:solidFill>
                  <a:srgbClr val="6C757D"/>
                </a:solidFill>
                <a:latin typeface="Arial" pitchFamily="34" charset="0"/>
                <a:cs typeface="Arial" pitchFamily="34" charset="-120"/>
              </a:rPr>
              <a:t>Presenter Name | Date</a:t>
            </a:r>
            <a:endParaRPr lang="en-US" dirty="0"/>
          </a:p>
        </p:txBody>
      </p:sp>
    </p:spTree>
    <p:extLst>
      <p:ext uri="{BB962C8B-B14F-4D97-AF65-F5344CB8AC3E}">
        <p14:creationId xmlns:p14="http://schemas.microsoft.com/office/powerpoint/2010/main" val="1411435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O Single Column">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Slide Title</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p:nvPr>
        </p:nvSpPr>
        <p:spPr>
          <a:xfrm>
            <a:off x="296863" y="685601"/>
            <a:ext cx="8548687" cy="3811657"/>
          </a:xfrm>
          <a:prstGeom prst="rect">
            <a:avLst/>
          </a:prstGeom>
        </p:spPr>
        <p:txBody>
          <a:bodyPr/>
          <a:lstStyle>
            <a:lvl1pPr>
              <a:defRPr sz="2000" b="1" baseline="0">
                <a:solidFill>
                  <a:srgbClr val="C00000"/>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57F71806-AFEA-DD6D-E6AA-E2A002E682DE}"/>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4623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O Bullet Points">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3" y="4536078"/>
            <a:ext cx="2143858"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96863" y="0"/>
            <a:ext cx="8509304" cy="52700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Bullet Points</a:t>
            </a:r>
          </a:p>
        </p:txBody>
      </p:sp>
      <p:sp>
        <p:nvSpPr>
          <p:cNvPr id="4" name="Text Placeholder 3">
            <a:extLst>
              <a:ext uri="{FF2B5EF4-FFF2-40B4-BE49-F238E27FC236}">
                <a16:creationId xmlns:a16="http://schemas.microsoft.com/office/drawing/2014/main" id="{54BEE1A0-720D-187D-95F8-429F3DF3D64E}"/>
              </a:ext>
            </a:extLst>
          </p:cNvPr>
          <p:cNvSpPr>
            <a:spLocks noGrp="1"/>
          </p:cNvSpPr>
          <p:nvPr>
            <p:ph type="body" sz="quarter" idx="14" hasCustomPrompt="1"/>
          </p:nvPr>
        </p:nvSpPr>
        <p:spPr>
          <a:xfrm>
            <a:off x="296863" y="685601"/>
            <a:ext cx="8548687" cy="3811657"/>
          </a:xfrm>
          <a:prstGeom prst="rect">
            <a:avLst/>
          </a:prstGeom>
        </p:spPr>
        <p:txBody>
          <a:bodyPr/>
          <a:lstStyle>
            <a:lvl1pPr>
              <a:defRPr sz="2000" baseline="0">
                <a:solidFill>
                  <a:schemeClr val="tx1"/>
                </a:solidFill>
              </a:defRPr>
            </a:lvl1pPr>
            <a:lvl2pPr>
              <a:buFont typeface="Arial" panose="020B0604020202020204" pitchFamily="34" charset="0"/>
              <a:buChar char="•"/>
              <a:defRPr sz="1600"/>
            </a:lvl2pPr>
            <a:lvl3pPr>
              <a:defRPr sz="1400"/>
            </a:lvl3pPr>
            <a:lvl4pPr>
              <a:buFont typeface="Arial" panose="020B0604020202020204" pitchFamily="34" charset="0"/>
              <a:buChar char="•"/>
              <a:defRPr sz="1200"/>
            </a:lvl4pPr>
          </a:lstStyle>
          <a:p>
            <a:pPr lvl="0"/>
            <a:r>
              <a:rPr lang="en-US" dirty="0"/>
              <a:t>Bullet Point 1</a:t>
            </a:r>
          </a:p>
          <a:p>
            <a:pPr lvl="0"/>
            <a:r>
              <a:rPr lang="en-US" dirty="0"/>
              <a:t>Bullet Point 2</a:t>
            </a:r>
          </a:p>
        </p:txBody>
      </p:sp>
      <p:sp>
        <p:nvSpPr>
          <p:cNvPr id="5" name="Text Placeholder 4">
            <a:extLst>
              <a:ext uri="{FF2B5EF4-FFF2-40B4-BE49-F238E27FC236}">
                <a16:creationId xmlns:a16="http://schemas.microsoft.com/office/drawing/2014/main" id="{162079A5-28FD-9D2F-2B9B-2FC8F9339A31}"/>
              </a:ext>
            </a:extLst>
          </p:cNvPr>
          <p:cNvSpPr>
            <a:spLocks noGrp="1"/>
          </p:cNvSpPr>
          <p:nvPr>
            <p:ph type="body" sz="quarter" idx="15" hasCustomPrompt="1"/>
          </p:nvPr>
        </p:nvSpPr>
        <p:spPr>
          <a:xfrm>
            <a:off x="5627076" y="4738688"/>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090737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O Two Colum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21877"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530738"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Two Column Layout</a:t>
            </a:r>
          </a:p>
        </p:txBody>
      </p:sp>
      <p:sp>
        <p:nvSpPr>
          <p:cNvPr id="6" name="Text Placeholder 5">
            <a:extLst>
              <a:ext uri="{FF2B5EF4-FFF2-40B4-BE49-F238E27FC236}">
                <a16:creationId xmlns:a16="http://schemas.microsoft.com/office/drawing/2014/main" id="{229E4A97-A874-D6CA-E54C-5584536CAA7C}"/>
              </a:ext>
            </a:extLst>
          </p:cNvPr>
          <p:cNvSpPr>
            <a:spLocks noGrp="1"/>
          </p:cNvSpPr>
          <p:nvPr>
            <p:ph type="body" sz="quarter" idx="16" hasCustomPrompt="1"/>
          </p:nvPr>
        </p:nvSpPr>
        <p:spPr>
          <a:xfrm>
            <a:off x="193675" y="678433"/>
            <a:ext cx="4431079"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Left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a:extLst>
              <a:ext uri="{FF2B5EF4-FFF2-40B4-BE49-F238E27FC236}">
                <a16:creationId xmlns:a16="http://schemas.microsoft.com/office/drawing/2014/main" id="{EF61ADBD-DA9D-A8A7-8FC3-64E82242B983}"/>
              </a:ext>
            </a:extLst>
          </p:cNvPr>
          <p:cNvSpPr>
            <a:spLocks noGrp="1"/>
          </p:cNvSpPr>
          <p:nvPr>
            <p:ph type="body" sz="quarter" idx="17" hasCustomPrompt="1"/>
          </p:nvPr>
        </p:nvSpPr>
        <p:spPr>
          <a:xfrm>
            <a:off x="4721470" y="678433"/>
            <a:ext cx="4228856" cy="3785515"/>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Right Column Sub title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5DF49ED0-89F0-F008-ADD7-D71F338C8B9B}"/>
              </a:ext>
            </a:extLst>
          </p:cNvPr>
          <p:cNvSpPr>
            <a:spLocks noGrp="1"/>
          </p:cNvSpPr>
          <p:nvPr>
            <p:ph type="body" sz="quarter" idx="15" hasCustomPrompt="1"/>
          </p:nvPr>
        </p:nvSpPr>
        <p:spPr>
          <a:xfrm>
            <a:off x="5697414"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124373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O Table">
    <p:spTree>
      <p:nvGrpSpPr>
        <p:cNvPr id="1" name=""/>
        <p:cNvGrpSpPr/>
        <p:nvPr/>
      </p:nvGrpSpPr>
      <p:grpSpPr>
        <a:xfrm>
          <a:off x="0" y="0"/>
          <a:ext cx="0" cy="0"/>
          <a:chOff x="0" y="0"/>
          <a:chExt cx="0" cy="0"/>
        </a:xfrm>
      </p:grpSpPr>
      <p:sp>
        <p:nvSpPr>
          <p:cNvPr id="12" name="Picture Placeholder 13">
            <a:extLst>
              <a:ext uri="{FF2B5EF4-FFF2-40B4-BE49-F238E27FC236}">
                <a16:creationId xmlns:a16="http://schemas.microsoft.com/office/drawing/2014/main" id="{2DB97592-C4D5-B315-7F11-AA14F6EE8A62}"/>
              </a:ext>
            </a:extLst>
          </p:cNvPr>
          <p:cNvSpPr>
            <a:spLocks noGrp="1"/>
          </p:cNvSpPr>
          <p:nvPr>
            <p:ph type="pic" sz="quarter" idx="13"/>
          </p:nvPr>
        </p:nvSpPr>
        <p:spPr>
          <a:xfrm>
            <a:off x="313592" y="4536078"/>
            <a:ext cx="2126273"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6855" y="39642"/>
            <a:ext cx="8710933" cy="527013"/>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27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700" b="1" dirty="0">
                <a:solidFill>
                  <a:srgbClr val="2C3E50"/>
                </a:solidFill>
                <a:latin typeface="Arial" pitchFamily="34" charset="0"/>
                <a:cs typeface="Arial" pitchFamily="34" charset="-120"/>
              </a:rPr>
              <a:t>Table</a:t>
            </a:r>
            <a:endParaRPr lang="en-US" sz="3200" dirty="0"/>
          </a:p>
          <a:p>
            <a:pPr lvl="0"/>
            <a:endParaRPr lang="en-US" dirty="0"/>
          </a:p>
        </p:txBody>
      </p:sp>
      <p:sp>
        <p:nvSpPr>
          <p:cNvPr id="5" name="Table Placeholder 4">
            <a:extLst>
              <a:ext uri="{FF2B5EF4-FFF2-40B4-BE49-F238E27FC236}">
                <a16:creationId xmlns:a16="http://schemas.microsoft.com/office/drawing/2014/main" id="{D3D9E4F7-6B7D-2205-75B9-EE8C54E89A5F}"/>
              </a:ext>
            </a:extLst>
          </p:cNvPr>
          <p:cNvSpPr>
            <a:spLocks noGrp="1"/>
          </p:cNvSpPr>
          <p:nvPr>
            <p:ph type="tbl" sz="quarter" idx="14"/>
          </p:nvPr>
        </p:nvSpPr>
        <p:spPr>
          <a:xfrm>
            <a:off x="256855" y="677011"/>
            <a:ext cx="8710933" cy="3785084"/>
          </a:xfrm>
          <a:prstGeom prst="rect">
            <a:avLst/>
          </a:prstGeom>
        </p:spPr>
        <p:txBody>
          <a:bodyPr/>
          <a:lstStyle/>
          <a:p>
            <a:endParaRPr lang="en-US"/>
          </a:p>
        </p:txBody>
      </p:sp>
      <p:sp>
        <p:nvSpPr>
          <p:cNvPr id="4" name="Text Placeholder 4">
            <a:extLst>
              <a:ext uri="{FF2B5EF4-FFF2-40B4-BE49-F238E27FC236}">
                <a16:creationId xmlns:a16="http://schemas.microsoft.com/office/drawing/2014/main" id="{A00DC936-676C-1BAA-B4B4-D45CC5951D6E}"/>
              </a:ext>
            </a:extLst>
          </p:cNvPr>
          <p:cNvSpPr>
            <a:spLocks noGrp="1"/>
          </p:cNvSpPr>
          <p:nvPr>
            <p:ph type="body" sz="quarter" idx="15" hasCustomPrompt="1"/>
          </p:nvPr>
        </p:nvSpPr>
        <p:spPr>
          <a:xfrm>
            <a:off x="5749315" y="4681864"/>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281483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O Visual Content">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30670"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7423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Visual Content</a:t>
            </a:r>
          </a:p>
        </p:txBody>
      </p:sp>
      <p:sp>
        <p:nvSpPr>
          <p:cNvPr id="6" name="Picture Placeholder 5">
            <a:extLst>
              <a:ext uri="{FF2B5EF4-FFF2-40B4-BE49-F238E27FC236}">
                <a16:creationId xmlns:a16="http://schemas.microsoft.com/office/drawing/2014/main" id="{D4B682B8-2171-423F-A77B-10BADD07BC6C}"/>
              </a:ext>
            </a:extLst>
          </p:cNvPr>
          <p:cNvSpPr>
            <a:spLocks noGrp="1"/>
          </p:cNvSpPr>
          <p:nvPr>
            <p:ph type="pic" sz="quarter" idx="15"/>
          </p:nvPr>
        </p:nvSpPr>
        <p:spPr>
          <a:xfrm>
            <a:off x="4662488" y="685799"/>
            <a:ext cx="4337050" cy="3815859"/>
          </a:xfrm>
          <a:prstGeom prst="rect">
            <a:avLst/>
          </a:prstGeom>
        </p:spPr>
        <p:txBody>
          <a:bodyPr/>
          <a:lstStyle/>
          <a:p>
            <a:endParaRPr lang="en-US"/>
          </a:p>
        </p:txBody>
      </p:sp>
      <p:sp>
        <p:nvSpPr>
          <p:cNvPr id="5" name="Text Placeholder 4">
            <a:extLst>
              <a:ext uri="{FF2B5EF4-FFF2-40B4-BE49-F238E27FC236}">
                <a16:creationId xmlns:a16="http://schemas.microsoft.com/office/drawing/2014/main" id="{F1EE9992-B6F6-08BF-BFB5-6AF6BEDE367A}"/>
              </a:ext>
            </a:extLst>
          </p:cNvPr>
          <p:cNvSpPr>
            <a:spLocks noGrp="1"/>
          </p:cNvSpPr>
          <p:nvPr>
            <p:ph type="body" sz="quarter" idx="16"/>
          </p:nvPr>
        </p:nvSpPr>
        <p:spPr>
          <a:xfrm>
            <a:off x="92075" y="685800"/>
            <a:ext cx="4449763" cy="3815859"/>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 Placeholder 4">
            <a:extLst>
              <a:ext uri="{FF2B5EF4-FFF2-40B4-BE49-F238E27FC236}">
                <a16:creationId xmlns:a16="http://schemas.microsoft.com/office/drawing/2014/main" id="{6D03683B-7C4B-D474-74C5-EC53E3BB515B}"/>
              </a:ext>
            </a:extLst>
          </p:cNvPr>
          <p:cNvSpPr>
            <a:spLocks noGrp="1"/>
          </p:cNvSpPr>
          <p:nvPr>
            <p:ph type="body" sz="quarter" idx="17" hasCustomPrompt="1"/>
          </p:nvPr>
        </p:nvSpPr>
        <p:spPr>
          <a:xfrm>
            <a:off x="5781065" y="4729530"/>
            <a:ext cx="3218473" cy="238125"/>
          </a:xfrm>
          <a:prstGeom prst="rect">
            <a:avLst/>
          </a:prstGeom>
        </p:spPr>
        <p:txBody>
          <a:bodyPr/>
          <a:lstStyle>
            <a:lvl5pPr algn="r">
              <a:buNone/>
              <a:defRPr sz="1100"/>
            </a:lvl5pPr>
          </a:lstStyle>
          <a:p>
            <a:pPr lvl="4"/>
            <a:r>
              <a:rPr lang="en-US" dirty="0"/>
              <a:t>Project Name</a:t>
            </a:r>
          </a:p>
        </p:txBody>
      </p:sp>
    </p:spTree>
    <p:extLst>
      <p:ext uri="{BB962C8B-B14F-4D97-AF65-F5344CB8AC3E}">
        <p14:creationId xmlns:p14="http://schemas.microsoft.com/office/powerpoint/2010/main" val="944059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O Data Visualization">
    <p:spTree>
      <p:nvGrpSpPr>
        <p:cNvPr id="1" name=""/>
        <p:cNvGrpSpPr/>
        <p:nvPr/>
      </p:nvGrpSpPr>
      <p:grpSpPr>
        <a:xfrm>
          <a:off x="0" y="0"/>
          <a:ext cx="0" cy="0"/>
          <a:chOff x="0" y="0"/>
          <a:chExt cx="0" cy="0"/>
        </a:xfrm>
      </p:grpSpPr>
      <p:sp>
        <p:nvSpPr>
          <p:cNvPr id="10" name="Picture Placeholder 13">
            <a:extLst>
              <a:ext uri="{FF2B5EF4-FFF2-40B4-BE49-F238E27FC236}">
                <a16:creationId xmlns:a16="http://schemas.microsoft.com/office/drawing/2014/main" id="{6A0FA445-7602-F06E-EC73-5504EBF827CC}"/>
              </a:ext>
            </a:extLst>
          </p:cNvPr>
          <p:cNvSpPr>
            <a:spLocks noGrp="1"/>
          </p:cNvSpPr>
          <p:nvPr>
            <p:ph type="pic" sz="quarter" idx="14"/>
          </p:nvPr>
        </p:nvSpPr>
        <p:spPr>
          <a:xfrm>
            <a:off x="313592" y="4536078"/>
            <a:ext cx="2104294" cy="529698"/>
          </a:xfrm>
          <a:prstGeom prst="rect">
            <a:avLst/>
          </a:prstGeom>
        </p:spPr>
        <p:txBody>
          <a:bodyPr/>
          <a:lstStyle/>
          <a:p>
            <a:endParaRPr lang="en-US" dirty="0"/>
          </a:p>
        </p:txBody>
      </p:sp>
      <p:sp>
        <p:nvSpPr>
          <p:cNvPr id="3" name="Shape 1">
            <a:extLst>
              <a:ext uri="{FF2B5EF4-FFF2-40B4-BE49-F238E27FC236}">
                <a16:creationId xmlns:a16="http://schemas.microsoft.com/office/drawing/2014/main" id="{4EA828A1-D5D6-9ADA-1918-E5FE226673A0}"/>
              </a:ext>
            </a:extLst>
          </p:cNvPr>
          <p:cNvSpPr/>
          <p:nvPr userDrawn="1"/>
        </p:nvSpPr>
        <p:spPr>
          <a:xfrm>
            <a:off x="0" y="606304"/>
            <a:ext cx="9144000" cy="0"/>
          </a:xfrm>
          <a:prstGeom prst="line">
            <a:avLst/>
          </a:prstGeom>
          <a:noFill/>
          <a:ln w="28575">
            <a:solidFill>
              <a:srgbClr val="CC0000"/>
            </a:solidFill>
            <a:prstDash val="solid"/>
          </a:ln>
        </p:spPr>
        <p:txBody>
          <a:bodyPr/>
          <a:lstStyle/>
          <a:p>
            <a:endParaRPr lang="en-US"/>
          </a:p>
        </p:txBody>
      </p:sp>
      <p:sp>
        <p:nvSpPr>
          <p:cNvPr id="9" name="Text Placeholder 8">
            <a:extLst>
              <a:ext uri="{FF2B5EF4-FFF2-40B4-BE49-F238E27FC236}">
                <a16:creationId xmlns:a16="http://schemas.microsoft.com/office/drawing/2014/main" id="{980A86D4-478F-6846-9F0A-B815F2A3AB2D}"/>
              </a:ext>
            </a:extLst>
          </p:cNvPr>
          <p:cNvSpPr>
            <a:spLocks noGrp="1"/>
          </p:cNvSpPr>
          <p:nvPr>
            <p:ph type="body" sz="quarter" idx="10" hasCustomPrompt="1"/>
          </p:nvPr>
        </p:nvSpPr>
        <p:spPr>
          <a:xfrm>
            <a:off x="257174" y="7163"/>
            <a:ext cx="8640764" cy="52701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700" b="1">
                <a:latin typeface="Arial" panose="020B0604020202020204" pitchFamily="34" charset="0"/>
                <a:cs typeface="Arial" panose="020B0604020202020204" pitchFamily="34" charset="0"/>
              </a:defRPr>
            </a:lvl1pPr>
          </a:lstStyle>
          <a:p>
            <a:pPr lvl="0"/>
            <a:r>
              <a:rPr lang="en-US" dirty="0"/>
              <a:t>Data Visualization</a:t>
            </a:r>
          </a:p>
        </p:txBody>
      </p:sp>
      <p:sp>
        <p:nvSpPr>
          <p:cNvPr id="5" name="Chart Placeholder 4">
            <a:extLst>
              <a:ext uri="{FF2B5EF4-FFF2-40B4-BE49-F238E27FC236}">
                <a16:creationId xmlns:a16="http://schemas.microsoft.com/office/drawing/2014/main" id="{A686C49F-4337-BBE6-FF21-682B01E38601}"/>
              </a:ext>
            </a:extLst>
          </p:cNvPr>
          <p:cNvSpPr>
            <a:spLocks noGrp="1"/>
          </p:cNvSpPr>
          <p:nvPr>
            <p:ph type="chart" sz="quarter" idx="15"/>
          </p:nvPr>
        </p:nvSpPr>
        <p:spPr>
          <a:xfrm>
            <a:off x="4572000" y="685597"/>
            <a:ext cx="4325938" cy="3778347"/>
          </a:xfrm>
          <a:prstGeom prst="rect">
            <a:avLst/>
          </a:prstGeom>
        </p:spPr>
        <p:txBody>
          <a:bodyPr/>
          <a:lstStyle/>
          <a:p>
            <a:endParaRPr lang="en-US"/>
          </a:p>
        </p:txBody>
      </p:sp>
      <p:sp>
        <p:nvSpPr>
          <p:cNvPr id="6" name="Content Placeholder 5">
            <a:extLst>
              <a:ext uri="{FF2B5EF4-FFF2-40B4-BE49-F238E27FC236}">
                <a16:creationId xmlns:a16="http://schemas.microsoft.com/office/drawing/2014/main" id="{D0B730E7-C68E-A3E8-1745-8AF89C786D5F}"/>
              </a:ext>
            </a:extLst>
          </p:cNvPr>
          <p:cNvSpPr>
            <a:spLocks noGrp="1"/>
          </p:cNvSpPr>
          <p:nvPr>
            <p:ph sz="quarter" idx="16"/>
          </p:nvPr>
        </p:nvSpPr>
        <p:spPr>
          <a:xfrm>
            <a:off x="136525" y="678433"/>
            <a:ext cx="4237038" cy="3785513"/>
          </a:xfrm>
          <a:prstGeom prst="rect">
            <a:avLst/>
          </a:prstGeom>
        </p:spPr>
        <p:txBody>
          <a:bodyPr/>
          <a:lstStyle>
            <a:lvl1pPr>
              <a:defRPr sz="1800" b="1">
                <a:solidFill>
                  <a:srgbClr val="C00000"/>
                </a:solidFill>
              </a:defRPr>
            </a:lvl1pPr>
            <a:lvl2pPr>
              <a:defRPr sz="1400"/>
            </a:lvl2pPr>
            <a:lvl3pPr>
              <a:defRPr sz="12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A1231DFE-6A5A-950E-159E-9E1D3D45FD36}"/>
              </a:ext>
            </a:extLst>
          </p:cNvPr>
          <p:cNvSpPr>
            <a:spLocks noGrp="1"/>
          </p:cNvSpPr>
          <p:nvPr>
            <p:ph type="body" sz="quarter" idx="17" hasCustomPrompt="1"/>
          </p:nvPr>
        </p:nvSpPr>
        <p:spPr>
          <a:xfrm>
            <a:off x="5679465" y="4681864"/>
            <a:ext cx="3218473" cy="238125"/>
          </a:xfrm>
          <a:prstGeom prst="rect">
            <a:avLst/>
          </a:prstGeom>
        </p:spPr>
        <p:txBody>
          <a:bodyPr/>
          <a:lstStyle>
            <a:lvl5pPr algn="r">
              <a:buNone/>
              <a:defRPr sz="900"/>
            </a:lvl5pPr>
          </a:lstStyle>
          <a:p>
            <a:pPr lvl="4"/>
            <a:r>
              <a:rPr lang="en-US" dirty="0"/>
              <a:t>Project Name</a:t>
            </a:r>
          </a:p>
        </p:txBody>
      </p:sp>
    </p:spTree>
    <p:extLst>
      <p:ext uri="{BB962C8B-B14F-4D97-AF65-F5344CB8AC3E}">
        <p14:creationId xmlns:p14="http://schemas.microsoft.com/office/powerpoint/2010/main" val="47354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O Thank You">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D36A0E4-7374-4A92-CEC2-AC1CC29B855F}"/>
              </a:ext>
            </a:extLst>
          </p:cNvPr>
          <p:cNvSpPr>
            <a:spLocks noGrp="1"/>
          </p:cNvSpPr>
          <p:nvPr>
            <p:ph type="pic" sz="quarter" idx="10"/>
          </p:nvPr>
        </p:nvSpPr>
        <p:spPr>
          <a:xfrm>
            <a:off x="2180492" y="171206"/>
            <a:ext cx="3978520" cy="1314694"/>
          </a:xfrm>
          <a:prstGeom prst="rect">
            <a:avLst/>
          </a:prstGeom>
        </p:spPr>
        <p:txBody>
          <a:bodyPr/>
          <a:lstStyle/>
          <a:p>
            <a:endParaRPr lang="en-US" dirty="0"/>
          </a:p>
        </p:txBody>
      </p:sp>
      <p:pic>
        <p:nvPicPr>
          <p:cNvPr id="5" name="Image 0" descr="/home/claude/eo-framework-logo.png">
            <a:extLst>
              <a:ext uri="{FF2B5EF4-FFF2-40B4-BE49-F238E27FC236}">
                <a16:creationId xmlns:a16="http://schemas.microsoft.com/office/drawing/2014/main" id="{028AFAE3-D949-BFF8-132D-C3956962B6BC}"/>
              </a:ext>
            </a:extLst>
          </p:cNvPr>
          <p:cNvPicPr>
            <a:picLocks noChangeAspect="1"/>
          </p:cNvPicPr>
          <p:nvPr userDrawn="1"/>
        </p:nvPicPr>
        <p:blipFill>
          <a:blip r:embed="rId2"/>
          <a:stretch>
            <a:fillRect/>
          </a:stretch>
        </p:blipFill>
        <p:spPr>
          <a:xfrm>
            <a:off x="6945879" y="4648200"/>
            <a:ext cx="1952244" cy="417576"/>
          </a:xfrm>
          <a:prstGeom prst="rect">
            <a:avLst/>
          </a:prstGeom>
        </p:spPr>
      </p:pic>
      <p:sp>
        <p:nvSpPr>
          <p:cNvPr id="6" name="Text Placeholder 8">
            <a:extLst>
              <a:ext uri="{FF2B5EF4-FFF2-40B4-BE49-F238E27FC236}">
                <a16:creationId xmlns:a16="http://schemas.microsoft.com/office/drawing/2014/main" id="{ABC2FEB1-3552-40B4-D5D2-8C9A2DF4EF3E}"/>
              </a:ext>
            </a:extLst>
          </p:cNvPr>
          <p:cNvSpPr>
            <a:spLocks noGrp="1"/>
          </p:cNvSpPr>
          <p:nvPr>
            <p:ph type="body" sz="quarter" idx="12" hasCustomPrompt="1"/>
          </p:nvPr>
        </p:nvSpPr>
        <p:spPr>
          <a:xfrm>
            <a:off x="736356" y="2247927"/>
            <a:ext cx="7671288" cy="527050"/>
          </a:xfrm>
          <a:prstGeom prst="rect">
            <a:avLst/>
          </a:prstGeom>
        </p:spPr>
        <p:txBody>
          <a:bodyPr/>
          <a:lstStyle>
            <a:lvl1pPr marL="0" indent="0" algn="ctr">
              <a:lnSpc>
                <a:spcPts val="3600"/>
              </a:lnSpc>
              <a:buNone/>
              <a:defRPr sz="3600" b="1" i="0" baseline="0">
                <a:latin typeface="Arial" panose="020B0604020202020204" pitchFamily="34" charset="0"/>
              </a:defRPr>
            </a:lvl1pPr>
          </a:lstStyle>
          <a:p>
            <a:pPr marL="0" indent="0" algn="ctr">
              <a:lnSpc>
                <a:spcPts val="3600"/>
              </a:lnSpc>
              <a:buNone/>
            </a:pPr>
            <a:r>
              <a:rPr lang="en-US" sz="3600" b="1" dirty="0">
                <a:solidFill>
                  <a:srgbClr val="2C3E50"/>
                </a:solidFill>
                <a:latin typeface="Arial" pitchFamily="34" charset="0"/>
                <a:ea typeface="Arial" pitchFamily="34" charset="-122"/>
                <a:cs typeface="Arial" pitchFamily="34" charset="-120"/>
              </a:rPr>
              <a:t>Thank You</a:t>
            </a:r>
          </a:p>
          <a:p>
            <a:pPr marL="0" indent="0" algn="ctr">
              <a:lnSpc>
                <a:spcPts val="3600"/>
              </a:lnSpc>
              <a:buNone/>
            </a:pPr>
            <a:endParaRPr lang="en-US" sz="3600" dirty="0"/>
          </a:p>
        </p:txBody>
      </p:sp>
      <p:sp>
        <p:nvSpPr>
          <p:cNvPr id="7" name="Picture Placeholder 13">
            <a:extLst>
              <a:ext uri="{FF2B5EF4-FFF2-40B4-BE49-F238E27FC236}">
                <a16:creationId xmlns:a16="http://schemas.microsoft.com/office/drawing/2014/main" id="{86145EB1-48C8-058E-F657-82D57B579544}"/>
              </a:ext>
            </a:extLst>
          </p:cNvPr>
          <p:cNvSpPr>
            <a:spLocks noGrp="1"/>
          </p:cNvSpPr>
          <p:nvPr>
            <p:ph type="pic" sz="quarter" idx="13"/>
          </p:nvPr>
        </p:nvSpPr>
        <p:spPr>
          <a:xfrm>
            <a:off x="313592" y="4536078"/>
            <a:ext cx="2164114" cy="529698"/>
          </a:xfrm>
          <a:prstGeom prst="rect">
            <a:avLst/>
          </a:prstGeom>
        </p:spPr>
        <p:txBody>
          <a:bodyPr/>
          <a:lstStyle/>
          <a:p>
            <a:endParaRPr lang="en-US" dirty="0"/>
          </a:p>
        </p:txBody>
      </p:sp>
      <p:sp>
        <p:nvSpPr>
          <p:cNvPr id="8" name="Text 0">
            <a:extLst>
              <a:ext uri="{FF2B5EF4-FFF2-40B4-BE49-F238E27FC236}">
                <a16:creationId xmlns:a16="http://schemas.microsoft.com/office/drawing/2014/main" id="{D51056DC-8081-0916-0351-65D88D1682B8}"/>
              </a:ext>
            </a:extLst>
          </p:cNvPr>
          <p:cNvSpPr/>
          <p:nvPr userDrawn="1"/>
        </p:nvSpPr>
        <p:spPr>
          <a:xfrm>
            <a:off x="2224455" y="1676475"/>
            <a:ext cx="3886322" cy="45719"/>
          </a:xfrm>
          <a:prstGeom prst="roundRect">
            <a:avLst>
              <a:gd name="adj" fmla="val 50000"/>
            </a:avLst>
          </a:prstGeom>
          <a:solidFill>
            <a:srgbClr val="CC0000"/>
          </a:solidFill>
          <a:ln/>
        </p:spPr>
        <p:txBody>
          <a:bodyPr wrap="square" rtlCol="0" anchor="ctr"/>
          <a:lstStyle/>
          <a:p>
            <a:pPr marL="0" indent="0">
              <a:buNone/>
            </a:pPr>
            <a:endParaRPr lang="en-US" dirty="0"/>
          </a:p>
        </p:txBody>
      </p:sp>
      <p:sp>
        <p:nvSpPr>
          <p:cNvPr id="10" name="Text Placeholder 9">
            <a:extLst>
              <a:ext uri="{FF2B5EF4-FFF2-40B4-BE49-F238E27FC236}">
                <a16:creationId xmlns:a16="http://schemas.microsoft.com/office/drawing/2014/main" id="{DC531180-94E5-3403-56E5-895E003A9D72}"/>
              </a:ext>
            </a:extLst>
          </p:cNvPr>
          <p:cNvSpPr>
            <a:spLocks noGrp="1"/>
          </p:cNvSpPr>
          <p:nvPr>
            <p:ph type="body" sz="quarter" idx="14" hasCustomPrompt="1"/>
          </p:nvPr>
        </p:nvSpPr>
        <p:spPr>
          <a:xfrm>
            <a:off x="1024304" y="1874962"/>
            <a:ext cx="6629399"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800" dirty="0">
                <a:solidFill>
                  <a:srgbClr val="6C757D"/>
                </a:solidFill>
                <a:latin typeface="Arial" pitchFamily="34" charset="0"/>
                <a:ea typeface="Arial" pitchFamily="34" charset="-122"/>
                <a:cs typeface="Arial" pitchFamily="34" charset="-120"/>
              </a:rPr>
              <a:t>Questions?</a:t>
            </a:r>
            <a:endParaRPr lang="en-US" sz="1800" dirty="0"/>
          </a:p>
        </p:txBody>
      </p:sp>
      <p:sp>
        <p:nvSpPr>
          <p:cNvPr id="2" name="Text 3">
            <a:extLst>
              <a:ext uri="{FF2B5EF4-FFF2-40B4-BE49-F238E27FC236}">
                <a16:creationId xmlns:a16="http://schemas.microsoft.com/office/drawing/2014/main" id="{5727805F-2A15-11D3-243F-1AE09D6E973E}"/>
              </a:ext>
            </a:extLst>
          </p:cNvPr>
          <p:cNvSpPr/>
          <p:nvPr userDrawn="1"/>
        </p:nvSpPr>
        <p:spPr>
          <a:xfrm>
            <a:off x="3312808" y="4536078"/>
            <a:ext cx="2797969" cy="529698"/>
          </a:xfrm>
          <a:prstGeom prst="roundRect">
            <a:avLst>
              <a:gd name="adj" fmla="val 14286"/>
            </a:avLst>
          </a:prstGeom>
          <a:solidFill>
            <a:srgbClr val="F5F5F5"/>
          </a:solidFill>
          <a:ln/>
        </p:spPr>
        <p:txBody>
          <a:bodyPr wrap="square" rtlCol="0" anchor="ctr"/>
          <a:lstStyle/>
          <a:p>
            <a:pPr marL="0" indent="0">
              <a:buNone/>
            </a:pPr>
            <a:endParaRPr lang="en-US" dirty="0"/>
          </a:p>
        </p:txBody>
      </p:sp>
      <p:sp>
        <p:nvSpPr>
          <p:cNvPr id="3" name="Text 4">
            <a:extLst>
              <a:ext uri="{FF2B5EF4-FFF2-40B4-BE49-F238E27FC236}">
                <a16:creationId xmlns:a16="http://schemas.microsoft.com/office/drawing/2014/main" id="{1034B79E-463D-8396-409E-62C28A2DEB04}"/>
              </a:ext>
            </a:extLst>
          </p:cNvPr>
          <p:cNvSpPr/>
          <p:nvPr userDrawn="1"/>
        </p:nvSpPr>
        <p:spPr>
          <a:xfrm>
            <a:off x="3614735" y="4667577"/>
            <a:ext cx="2076688" cy="266700"/>
          </a:xfrm>
          <a:prstGeom prst="rect">
            <a:avLst/>
          </a:prstGeom>
          <a:noFill/>
          <a:ln/>
        </p:spPr>
        <p:txBody>
          <a:bodyPr wrap="square" lIns="0" tIns="0" rIns="0" bIns="0" rtlCol="0" anchor="t"/>
          <a:lstStyle/>
          <a:p>
            <a:pPr marL="0" indent="0" algn="ctr">
              <a:lnSpc>
                <a:spcPts val="2100"/>
              </a:lnSpc>
              <a:spcBef>
                <a:spcPts val="300"/>
              </a:spcBef>
              <a:spcAft>
                <a:spcPts val="300"/>
              </a:spcAft>
              <a:buNone/>
            </a:pPr>
            <a:r>
              <a:rPr lang="en-US" sz="1500" b="1" dirty="0">
                <a:solidFill>
                  <a:schemeClr val="bg2">
                    <a:lumMod val="75000"/>
                  </a:schemeClr>
                </a:solidFill>
                <a:latin typeface="Arial" pitchFamily="34" charset="0"/>
                <a:ea typeface="Arial" pitchFamily="34" charset="-122"/>
                <a:cs typeface="Arial" pitchFamily="34" charset="-120"/>
              </a:rPr>
              <a:t>www.eoframework.org</a:t>
            </a:r>
            <a:endParaRPr lang="en-US" sz="1500" dirty="0">
              <a:solidFill>
                <a:schemeClr val="bg2">
                  <a:lumMod val="75000"/>
                </a:schemeClr>
              </a:solidFill>
            </a:endParaRPr>
          </a:p>
        </p:txBody>
      </p:sp>
      <p:sp>
        <p:nvSpPr>
          <p:cNvPr id="16" name="Text Placeholder 9">
            <a:extLst>
              <a:ext uri="{FF2B5EF4-FFF2-40B4-BE49-F238E27FC236}">
                <a16:creationId xmlns:a16="http://schemas.microsoft.com/office/drawing/2014/main" id="{2DED039B-C555-DCF4-1CA7-CA1E44823784}"/>
              </a:ext>
            </a:extLst>
          </p:cNvPr>
          <p:cNvSpPr>
            <a:spLocks noGrp="1"/>
          </p:cNvSpPr>
          <p:nvPr>
            <p:ph type="body" sz="quarter" idx="15" hasCustomPrompt="1"/>
          </p:nvPr>
        </p:nvSpPr>
        <p:spPr>
          <a:xfrm>
            <a:off x="268165" y="3131272"/>
            <a:ext cx="8480181" cy="334598"/>
          </a:xfrm>
          <a:prstGeom prst="rect">
            <a:avLst/>
          </a:prstGeom>
        </p:spPr>
        <p:txBody>
          <a:bodyPr/>
          <a:lstStyle>
            <a:lvl1pPr marL="0" marR="0" indent="0" algn="ctr" defTabSz="914400" rtl="0" eaLnBrk="1" fontAlgn="auto" latinLnBrk="0" hangingPunct="1">
              <a:lnSpc>
                <a:spcPct val="100000"/>
              </a:lnSpc>
              <a:spcBef>
                <a:spcPct val="20000"/>
              </a:spcBef>
              <a:spcAft>
                <a:spcPts val="0"/>
              </a:spcAft>
              <a:buClrTx/>
              <a:buSzTx/>
              <a:buFont typeface="Arial" pitchFamily="34" charset="0"/>
              <a:buNone/>
              <a:tabLst/>
              <a:defRPr sz="1800" b="0">
                <a:solidFill>
                  <a:schemeClr val="tx1"/>
                </a:solidFill>
                <a:latin typeface="Arial" panose="020B0604020202020204" pitchFamily="34" charset="0"/>
                <a:cs typeface="Arial" panose="020B0604020202020204" pitchFamily="34" charset="0"/>
              </a:defRPr>
            </a:lvl1pPr>
          </a:lstStyle>
          <a:p>
            <a:pPr>
              <a:spcAft>
                <a:spcPts val="1200"/>
              </a:spcAft>
            </a:pPr>
            <a:r>
              <a:rPr lang="en-US" sz="1800" b="1" dirty="0">
                <a:solidFill>
                  <a:srgbClr val="000000"/>
                </a:solidFill>
              </a:rPr>
              <a:t>Account Manager:</a:t>
            </a:r>
            <a:r>
              <a:rPr lang="en-US" sz="1800" dirty="0">
                <a:solidFill>
                  <a:srgbClr val="000000"/>
                </a:solidFill>
              </a:rPr>
              <a:t> [Name, Title] | [Email] | [Phone]</a:t>
            </a:r>
          </a:p>
        </p:txBody>
      </p:sp>
    </p:spTree>
    <p:extLst>
      <p:ext uri="{BB962C8B-B14F-4D97-AF65-F5344CB8AC3E}">
        <p14:creationId xmlns:p14="http://schemas.microsoft.com/office/powerpoint/2010/main" val="38210200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3" r:id="rId2"/>
    <p:sldLayoutId id="2147483659" r:id="rId3"/>
    <p:sldLayoutId id="2147483654" r:id="rId4"/>
    <p:sldLayoutId id="2147483655" r:id="rId5"/>
    <p:sldLayoutId id="2147483656" r:id="rId6"/>
    <p:sldLayoutId id="2147483657" r:id="rId7"/>
    <p:sldLayoutId id="2147483658"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Project Closeout</a:t>
            </a:r>
          </a:p>
        </p:txBody>
      </p:sp>
      <p:sp>
        <p:nvSpPr>
          <p:cNvPr id="5" name="Text Placeholder 4"/>
          <p:cNvSpPr>
            <a:spLocks noGrp="1"/>
          </p:cNvSpPr>
          <p:nvPr>
            <p:ph type="body" idx="14" sz="quarter"/>
          </p:nvPr>
        </p:nvSpPr>
        <p:spPr/>
        <p:txBody>
          <a:bodyPr/>
          <a:lstStyle/>
          <a:p>
            <a:r>
              <a:t>Azure Document Intelligence</a:t>
            </a:r>
          </a:p>
        </p:txBody>
      </p:sp>
      <p:sp>
        <p:nvSpPr>
          <p:cNvPr id="6" name="Text Placeholder 5"/>
          <p:cNvSpPr>
            <a:spLocks noGrp="1"/>
          </p:cNvSpPr>
          <p:nvPr>
            <p:ph type="body" idx="15" sz="quarter"/>
          </p:nvPr>
        </p:nvSpPr>
        <p:spPr/>
        <p:txBody>
          <a:bodyPr/>
          <a:lstStyle/>
          <a:p>
            <a:r>
              <a:t>Project Manager | December 03, 2025</a:t>
            </a:r>
          </a:p>
        </p:txBody>
      </p:sp>
      <p:pic>
        <p:nvPicPr>
          <p:cNvPr id="7" name="Picture 6" descr="client_logo.png"/>
          <p:cNvPicPr>
            <a:picLocks noChangeAspect="1"/>
          </p:cNvPicPr>
          <p:nvPr/>
        </p:nvPicPr>
        <p:blipFill>
          <a:blip r:embed="rId2"/>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3"/>
          <a:stretch>
            <a:fillRect/>
          </a:stretch>
        </p:blipFill>
        <p:spPr>
          <a:xfrm>
            <a:off x="313591" y="4536078"/>
            <a:ext cx="2099897" cy="529698"/>
          </a:xfrm>
          <a:prstGeom prst="rect">
            <a:avLst/>
          </a:prstGeom>
        </p:spPr>
      </p:pic>
      <p:pic>
        <p:nvPicPr>
          <p:cNvPr id="9" name="Picture 8" descr="eo-framework-logo-real.png"/>
          <p:cNvPicPr>
            <a:picLocks noChangeAspect="1"/>
          </p:cNvPicPr>
          <p:nvPr/>
        </p:nvPicPr>
        <p:blipFill>
          <a:blip r:embed="rId4"/>
          <a:stretch>
            <a:fillRect/>
          </a:stretch>
        </p:blipFill>
        <p:spPr>
          <a:xfrm>
            <a:off x="6684264" y="4535424"/>
            <a:ext cx="2139696" cy="53035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Executive Summary</a:t>
            </a:r>
          </a:p>
        </p:txBody>
      </p:sp>
      <p:sp>
        <p:nvSpPr>
          <p:cNvPr id="4" name="Text Placeholder 3"/>
          <p:cNvSpPr>
            <a:spLocks noGrp="1"/>
          </p:cNvSpPr>
          <p:nvPr>
            <p:ph type="body" idx="14" sz="quarter"/>
          </p:nvPr>
        </p:nvSpPr>
        <p:spPr/>
        <p:txBody>
          <a:bodyPr/>
          <a:lstStyle/>
          <a:p>
            <a:pPr/>
            <a:r>
              <a:rPr b="1"/>
              <a:t>Project Duration:</a:t>
            </a:r>
            <a:r>
              <a:t> 16 weeks, on schedule</a:t>
            </a:r>
          </a:p>
          <a:p>
            <a:pPr/>
            <a:r>
              <a:rPr b="1"/>
              <a:t>Budget:</a:t>
            </a:r>
            <a:r>
              <a:t> $92,662 delivered on budget</a:t>
            </a:r>
          </a:p>
          <a:p>
            <a:pPr/>
            <a:r>
              <a:rPr b="1"/>
              <a:t>Go-Live Date:</a:t>
            </a:r>
            <a:r>
              <a:t> Week 15 as planned</a:t>
            </a:r>
          </a:p>
          <a:p>
            <a:pPr/>
            <a:r>
              <a:rPr b="1"/>
              <a:t>Quality:</a:t>
            </a:r>
            <a:r>
              <a:t> Zero critical defects at launch</a:t>
            </a:r>
          </a:p>
          <a:p>
            <a:pPr/>
            <a:r>
              <a:rPr b="1"/>
              <a:t>Processing Time:</a:t>
            </a:r>
            <a:r>
              <a:t> 85% reduction achieved</a:t>
            </a:r>
          </a:p>
          <a:p>
            <a:pPr/>
            <a:r>
              <a:rPr b="1"/>
              <a:t>Extraction Accuracy:</a:t>
            </a:r>
            <a:r>
              <a:t> 96.1% (target: 95%)</a:t>
            </a:r>
          </a:p>
          <a:p>
            <a:pPr/>
            <a:r>
              <a:rPr b="1"/>
              <a:t>ROI Status:</a:t>
            </a:r>
            <a:r>
              <a:t> On track for 10-month payback</a:t>
            </a:r>
          </a:p>
        </p:txBody>
      </p:sp>
      <p:sp>
        <p:nvSpPr>
          <p:cNvPr id="5" name="Text Placeholder 4"/>
          <p:cNvSpPr>
            <a:spLocks noGrp="1"/>
          </p:cNvSpPr>
          <p:nvPr>
            <p:ph type="body" idx="15" sz="quarter"/>
          </p:nvPr>
        </p:nvSpPr>
        <p:spPr/>
        <p:txBody>
          <a:bodyPr/>
          <a:lstStyle/>
          <a:p>
            <a:pPr algn="r">
              <a:buNone/>
            </a:pPr>
            <a:r>
              <a:rPr sz="1100">
                <a:solidFill>
                  <a:srgbClr val="CC0000"/>
                </a:solidFill>
              </a:rPr>
              <a:t>Azure Document Intelligence</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Solution Architecture</a:t>
            </a:r>
          </a:p>
        </p:txBody>
      </p:sp>
      <p:sp>
        <p:nvSpPr>
          <p:cNvPr id="5" name="Text Placeholder 4"/>
          <p:cNvSpPr>
            <a:spLocks noGrp="1"/>
          </p:cNvSpPr>
          <p:nvPr>
            <p:ph type="body" idx="16" sz="quarter"/>
          </p:nvPr>
        </p:nvSpPr>
        <p:spPr/>
        <p:txBody>
          <a:bodyPr/>
          <a:lstStyle/>
          <a:p>
            <a:pPr/>
            <a:r>
              <a:rPr b="1"/>
              <a:t>AI/ML Services</a:t>
            </a:r>
          </a:p>
          <a:p>
            <a:pPr lvl="1"/>
            <a:r>
              <a:t>Azure Document Intelligence OCR</a:t>
            </a:r>
          </a:p>
          <a:p>
            <a:pPr lvl="1"/>
            <a:r>
              <a:t>Pre-built models for forms</a:t>
            </a:r>
          </a:p>
          <a:p>
            <a:pPr lvl="1"/>
            <a:r>
              <a:t>Custom models for receipts</a:t>
            </a:r>
          </a:p>
          <a:p>
            <a:pPr/>
            <a:r>
              <a:rPr b="1"/>
              <a:t>Serverless Platform</a:t>
            </a:r>
          </a:p>
          <a:p>
            <a:pPr lvl="1"/>
            <a:r>
              <a:t>Azure Functions processing</a:t>
            </a:r>
          </a:p>
          <a:p>
            <a:pPr lvl="1"/>
            <a:r>
              <a:t>Blob Storage, Cosmos DB</a:t>
            </a:r>
          </a:p>
          <a:p>
            <a:pPr lvl="1"/>
            <a:r>
              <a:t>Azure Monitor alerting</a:t>
            </a:r>
          </a:p>
          <a:p>
            <a:pPr/>
            <a:r>
              <a:rPr b="1"/>
              <a:t>Integration</a:t>
            </a:r>
          </a:p>
          <a:p>
            <a:pPr lvl="1"/>
            <a:r>
              <a:t>2 REST APIs to ERP/CRM</a:t>
            </a:r>
          </a:p>
          <a:p>
            <a:pPr lvl="1"/>
            <a:r>
              <a:t>Event-driven processing</a:t>
            </a:r>
          </a:p>
          <a:p>
            <a:pPr lvl="1"/>
            <a:r>
              <a:t>Private endpoint security</a:t>
            </a:r>
          </a:p>
        </p:txBody>
      </p:sp>
      <p:sp>
        <p:nvSpPr>
          <p:cNvPr id="6" name="Text Placeholder 5"/>
          <p:cNvSpPr>
            <a:spLocks noGrp="1"/>
          </p:cNvSpPr>
          <p:nvPr>
            <p:ph type="body" idx="17" sz="quarter"/>
          </p:nvPr>
        </p:nvSpPr>
        <p:spPr/>
        <p:txBody>
          <a:bodyPr/>
          <a:lstStyle/>
          <a:p>
            <a:pPr algn="r">
              <a:buNone/>
            </a:pPr>
            <a:r>
              <a:rPr sz="1100">
                <a:solidFill>
                  <a:srgbClr val="CC0000"/>
                </a:solidFill>
              </a:rPr>
              <a:t>Azure Document Intelligence</a:t>
            </a:r>
          </a:p>
        </p:txBody>
      </p:sp>
      <p:pic>
        <p:nvPicPr>
          <p:cNvPr id="7" name="Picture 6" descr="architecture-diagram.png"/>
          <p:cNvPicPr>
            <a:picLocks noChangeAspect="1"/>
          </p:cNvPicPr>
          <p:nvPr/>
        </p:nvPicPr>
        <p:blipFill>
          <a:blip r:embed="rId2"/>
          <a:stretch>
            <a:fillRect/>
          </a:stretch>
        </p:blipFill>
        <p:spPr>
          <a:xfrm>
            <a:off x="4662488" y="685799"/>
            <a:ext cx="4337050" cy="3815859"/>
          </a:xfrm>
          <a:prstGeom prst="rect">
            <a:avLst/>
          </a:prstGeom>
          <a:ln w="12700">
            <a:solidFill>
              <a:srgbClr val="C0C0C0"/>
            </a:solidFill>
            <a:prstDash val="solid"/>
          </a:ln>
        </p:spPr>
      </p:pic>
      <p:pic>
        <p:nvPicPr>
          <p:cNvPr id="8" name="Picture 7" descr="consulting_company_logo.png"/>
          <p:cNvPicPr>
            <a:picLocks noChangeAspect="1"/>
          </p:cNvPicPr>
          <p:nvPr/>
        </p:nvPicPr>
        <p:blipFill>
          <a:blip r:embed="rId4"/>
          <a:stretch>
            <a:fillRect/>
          </a:stretch>
        </p:blipFill>
        <p:spPr>
          <a:xfrm>
            <a:off x="313592" y="4536078"/>
            <a:ext cx="2130670" cy="52969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Deliverables Inventory</a:t>
            </a:r>
          </a:p>
        </p:txBody>
      </p:sp>
      <p:graphicFrame>
        <p:nvGraphicFramePr>
          <p:cNvPr id="4" name="Table Placeholder 3"/>
          <p:cNvGraphicFramePr>
            <a:graphicFrameLocks noGrp="1"/>
          </p:cNvGraphicFramePr>
          <p:nvPr>
            <p:ph type="tbl" idx="14" sz="quarter"/>
          </p:nvPr>
        </p:nvGraphicFramePr>
        <p:xfrm>
          <a:off x="256855" y="677011"/>
          <a:ext cx="8710931" cy="3337560"/>
        </p:xfrm>
        <a:graphic>
          <a:graphicData uri="http://schemas.openxmlformats.org/drawingml/2006/table">
            <a:tbl>
              <a:tblPr firstRow="1" bandRow="1">
                <a:tableStyleId>{5C22544A-7EE6-4342-B048-85BDC9FD1C3A}</a:tableStyleId>
              </a:tblPr>
              <a:tblGrid>
                <a:gridCol w="2613279"/>
                <a:gridCol w="3919919"/>
                <a:gridCol w="2177733"/>
              </a:tblGrid>
              <a:tr h="370840">
                <a:tc>
                  <a:txBody>
                    <a:bodyPr/>
                    <a:lstStyle/>
                    <a:p>
                      <a:r>
                        <a:rPr sz="1400">
                          <a:solidFill>
                            <a:srgbClr val="FFFFFF"/>
                          </a:solidFill>
                        </a:rPr>
                        <a:t>Deliverable</a:t>
                      </a:r>
                    </a:p>
                  </a:txBody>
                  <a:tcPr>
                    <a:solidFill>
                      <a:srgbClr val="A01C02"/>
                    </a:solidFill>
                  </a:tcPr>
                </a:tc>
                <a:tc>
                  <a:txBody>
                    <a:bodyPr/>
                    <a:lstStyle/>
                    <a:p>
                      <a:r>
                        <a:rPr sz="1400">
                          <a:solidFill>
                            <a:srgbClr val="FFFFFF"/>
                          </a:solidFill>
                        </a:rPr>
                        <a:t>Purpose</a:t>
                      </a:r>
                    </a:p>
                  </a:txBody>
                  <a:tcPr>
                    <a:solidFill>
                      <a:srgbClr val="A01C02"/>
                    </a:solidFill>
                  </a:tcPr>
                </a:tc>
                <a:tc>
                  <a:txBody>
                    <a:bodyPr/>
                    <a:lstStyle/>
                    <a:p>
                      <a:r>
                        <a:rPr sz="1400">
                          <a:solidFill>
                            <a:srgbClr val="FFFFFF"/>
                          </a:solidFill>
                        </a:rPr>
                        <a:t>Location</a:t>
                      </a:r>
                    </a:p>
                  </a:txBody>
                  <a:tcPr>
                    <a:solidFill>
                      <a:srgbClr val="A01C02"/>
                    </a:solidFill>
                  </a:tcPr>
                </a:tc>
              </a:tr>
              <a:tr h="370840">
                <a:tc>
                  <a:txBody>
                    <a:bodyPr/>
                    <a:lstStyle/>
                    <a:p>
                      <a:r>
                        <a:rPr b="1" sz="1100"/>
                        <a:t>Solution Architecture Document</a:t>
                      </a:r>
                    </a:p>
                  </a:txBody>
                  <a:tcPr>
                    <a:solidFill>
                      <a:srgbClr val="E7E6E6"/>
                    </a:solidFill>
                  </a:tcPr>
                </a:tc>
                <a:tc>
                  <a:txBody>
                    <a:bodyPr/>
                    <a:lstStyle/>
                    <a:p>
                      <a:r>
                        <a:rPr sz="1100"/>
                        <a:t>Azure design, AI/ML configuration, data flows</a:t>
                      </a:r>
                    </a:p>
                  </a:txBody>
                  <a:tcPr>
                    <a:solidFill>
                      <a:srgbClr val="E7E6E6"/>
                    </a:solidFill>
                  </a:tcPr>
                </a:tc>
                <a:tc>
                  <a:txBody>
                    <a:bodyPr/>
                    <a:lstStyle/>
                    <a:p>
                      <a:r>
                        <a:rPr sz="1100"/>
                        <a:t>`/delivery/detailed-design.docx`</a:t>
                      </a:r>
                    </a:p>
                  </a:txBody>
                  <a:tcPr>
                    <a:solidFill>
                      <a:srgbClr val="E7E6E6"/>
                    </a:solidFill>
                  </a:tcPr>
                </a:tc>
              </a:tr>
              <a:tr h="370840">
                <a:tc>
                  <a:txBody>
                    <a:bodyPr/>
                    <a:lstStyle/>
                    <a:p>
                      <a:r>
                        <a:rPr b="1" sz="1100"/>
                        <a:t>Implementation Guide</a:t>
                      </a:r>
                    </a:p>
                  </a:txBody>
                  <a:tcPr>
                    <a:solidFill>
                      <a:srgbClr val="E7E6E6"/>
                    </a:solidFill>
                  </a:tcPr>
                </a:tc>
                <a:tc>
                  <a:txBody>
                    <a:bodyPr/>
                    <a:lstStyle/>
                    <a:p>
                      <a:r>
                        <a:rPr sz="1100"/>
                        <a:t>Step-by-step deployment with Bicep/Terraform</a:t>
                      </a:r>
                    </a:p>
                  </a:txBody>
                  <a:tcPr>
                    <a:solidFill>
                      <a:srgbClr val="E7E6E6"/>
                    </a:solidFill>
                  </a:tcPr>
                </a:tc>
                <a:tc>
                  <a:txBody>
                    <a:bodyPr/>
                    <a:lstStyle/>
                    <a:p>
                      <a:r>
                        <a:rPr sz="1100"/>
                        <a:t>`/delivery/implementation-guide.docx`</a:t>
                      </a:r>
                    </a:p>
                  </a:txBody>
                  <a:tcPr>
                    <a:solidFill>
                      <a:srgbClr val="E7E6E6"/>
                    </a:solidFill>
                  </a:tcPr>
                </a:tc>
              </a:tr>
              <a:tr h="370840">
                <a:tc>
                  <a:txBody>
                    <a:bodyPr/>
                    <a:lstStyle/>
                    <a:p>
                      <a:r>
                        <a:rPr b="1" sz="1100"/>
                        <a:t>Project Plan</a:t>
                      </a:r>
                    </a:p>
                  </a:txBody>
                  <a:tcPr>
                    <a:solidFill>
                      <a:srgbClr val="E7E6E6"/>
                    </a:solidFill>
                  </a:tcPr>
                </a:tc>
                <a:tc>
                  <a:txBody>
                    <a:bodyPr/>
                    <a:lstStyle/>
                    <a:p>
                      <a:r>
                        <a:rPr sz="1100"/>
                        <a:t>Timeline, milestones, RACI, communications</a:t>
                      </a:r>
                    </a:p>
                  </a:txBody>
                  <a:tcPr>
                    <a:solidFill>
                      <a:srgbClr val="E7E6E6"/>
                    </a:solidFill>
                  </a:tcPr>
                </a:tc>
                <a:tc>
                  <a:txBody>
                    <a:bodyPr/>
                    <a:lstStyle/>
                    <a:p>
                      <a:r>
                        <a:rPr sz="1100"/>
                        <a:t>`/delivery/project-plan.xlsx`</a:t>
                      </a:r>
                    </a:p>
                  </a:txBody>
                  <a:tcPr>
                    <a:solidFill>
                      <a:srgbClr val="E7E6E6"/>
                    </a:solidFill>
                  </a:tcPr>
                </a:tc>
              </a:tr>
              <a:tr h="370840">
                <a:tc>
                  <a:txBody>
                    <a:bodyPr/>
                    <a:lstStyle/>
                    <a:p>
                      <a:r>
                        <a:rPr b="1" sz="1100"/>
                        <a:t>Test Plan &amp; Results</a:t>
                      </a:r>
                    </a:p>
                  </a:txBody>
                  <a:tcPr>
                    <a:solidFill>
                      <a:srgbClr val="E7E6E6"/>
                    </a:solidFill>
                  </a:tcPr>
                </a:tc>
                <a:tc>
                  <a:txBody>
                    <a:bodyPr/>
                    <a:lstStyle/>
                    <a:p>
                      <a:r>
                        <a:rPr sz="1100"/>
                        <a:t>Test cases, accuracy validation, UAT results</a:t>
                      </a:r>
                    </a:p>
                  </a:txBody>
                  <a:tcPr>
                    <a:solidFill>
                      <a:srgbClr val="E7E6E6"/>
                    </a:solidFill>
                  </a:tcPr>
                </a:tc>
                <a:tc>
                  <a:txBody>
                    <a:bodyPr/>
                    <a:lstStyle/>
                    <a:p>
                      <a:r>
                        <a:rPr sz="1100"/>
                        <a:t>`/delivery/test-plan.xlsx`</a:t>
                      </a:r>
                    </a:p>
                  </a:txBody>
                  <a:tcPr>
                    <a:solidFill>
                      <a:srgbClr val="E7E6E6"/>
                    </a:solidFill>
                  </a:tcPr>
                </a:tc>
              </a:tr>
              <a:tr h="370840">
                <a:tc>
                  <a:txBody>
                    <a:bodyPr/>
                    <a:lstStyle/>
                    <a:p>
                      <a:r>
                        <a:rPr b="1" sz="1100"/>
                        <a:t>Bicep/Terraform Templates</a:t>
                      </a:r>
                    </a:p>
                  </a:txBody>
                  <a:tcPr>
                    <a:solidFill>
                      <a:srgbClr val="E7E6E6"/>
                    </a:solidFill>
                  </a:tcPr>
                </a:tc>
                <a:tc>
                  <a:txBody>
                    <a:bodyPr/>
                    <a:lstStyle/>
                    <a:p>
                      <a:r>
                        <a:rPr sz="1100"/>
                        <a:t>Infrastructure as Code for all Azure resources</a:t>
                      </a:r>
                    </a:p>
                  </a:txBody>
                  <a:tcPr>
                    <a:solidFill>
                      <a:srgbClr val="E7E6E6"/>
                    </a:solidFill>
                  </a:tcPr>
                </a:tc>
                <a:tc>
                  <a:txBody>
                    <a:bodyPr/>
                    <a:lstStyle/>
                    <a:p>
                      <a:r>
                        <a:rPr sz="1100"/>
                        <a:t>`/delivery/scripts/bicep/`</a:t>
                      </a:r>
                    </a:p>
                  </a:txBody>
                  <a:tcPr>
                    <a:solidFill>
                      <a:srgbClr val="E7E6E6"/>
                    </a:solidFill>
                  </a:tcPr>
                </a:tc>
              </a:tr>
              <a:tr h="370840">
                <a:tc>
                  <a:txBody>
                    <a:bodyPr/>
                    <a:lstStyle/>
                    <a:p>
                      <a:r>
                        <a:rPr b="1" sz="1100"/>
                        <a:t>Operations Runbook</a:t>
                      </a:r>
                    </a:p>
                  </a:txBody>
                  <a:tcPr>
                    <a:solidFill>
                      <a:srgbClr val="E7E6E6"/>
                    </a:solidFill>
                  </a:tcPr>
                </a:tc>
                <a:tc>
                  <a:txBody>
                    <a:bodyPr/>
                    <a:lstStyle/>
                    <a:p>
                      <a:r>
                        <a:rPr sz="1100"/>
                        <a:t>Day-to-day procedures and troubleshooting</a:t>
                      </a:r>
                    </a:p>
                  </a:txBody>
                  <a:tcPr>
                    <a:solidFill>
                      <a:srgbClr val="E7E6E6"/>
                    </a:solidFill>
                  </a:tcPr>
                </a:tc>
                <a:tc>
                  <a:txBody>
                    <a:bodyPr/>
                    <a:lstStyle/>
                    <a:p>
                      <a:r>
                        <a:rPr sz="1100"/>
                        <a:t>`/delivery/docs/operations-runbook.md`</a:t>
                      </a:r>
                    </a:p>
                  </a:txBody>
                  <a:tcPr>
                    <a:solidFill>
                      <a:srgbClr val="E7E6E6"/>
                    </a:solidFill>
                  </a:tcPr>
                </a:tc>
              </a:tr>
              <a:tr h="370840">
                <a:tc>
                  <a:txBody>
                    <a:bodyPr/>
                    <a:lstStyle/>
                    <a:p>
                      <a:r>
                        <a:rPr b="1" sz="1100"/>
                        <a:t>Training Materials</a:t>
                      </a:r>
                    </a:p>
                  </a:txBody>
                  <a:tcPr>
                    <a:solidFill>
                      <a:srgbClr val="E7E6E6"/>
                    </a:solidFill>
                  </a:tcPr>
                </a:tc>
                <a:tc>
                  <a:txBody>
                    <a:bodyPr/>
                    <a:lstStyle/>
                    <a:p>
                      <a:r>
                        <a:rPr sz="1100"/>
                        <a:t>User guides, admin guides, video tutorials</a:t>
                      </a:r>
                    </a:p>
                  </a:txBody>
                  <a:tcPr>
                    <a:solidFill>
                      <a:srgbClr val="E7E6E6"/>
                    </a:solidFill>
                  </a:tcPr>
                </a:tc>
                <a:tc>
                  <a:txBody>
                    <a:bodyPr/>
                    <a:lstStyle/>
                    <a:p>
                      <a:r>
                        <a:rPr sz="1100"/>
                        <a:t>`/delivery/training/`</a:t>
                      </a:r>
                    </a:p>
                  </a:txBody>
                  <a:tcPr>
                    <a:solidFill>
                      <a:srgbClr val="E7E6E6"/>
                    </a:solidFill>
                  </a:tcPr>
                </a:tc>
              </a:tr>
              <a:tr h="370840">
                <a:tc>
                  <a:txBody>
                    <a:bodyPr/>
                    <a:lstStyle/>
                    <a:p>
                      <a:r>
                        <a:rPr b="1" sz="1100"/>
                        <a:t>API Documentation</a:t>
                      </a:r>
                    </a:p>
                  </a:txBody>
                  <a:tcPr>
                    <a:solidFill>
                      <a:srgbClr val="E7E6E6"/>
                    </a:solidFill>
                  </a:tcPr>
                </a:tc>
                <a:tc>
                  <a:txBody>
                    <a:bodyPr/>
                    <a:lstStyle/>
                    <a:p>
                      <a:r>
                        <a:rPr sz="1100"/>
                        <a:t>OpenAPI 3.0 spec for all endpoints</a:t>
                      </a:r>
                    </a:p>
                  </a:txBody>
                  <a:tcPr>
                    <a:solidFill>
                      <a:srgbClr val="E7E6E6"/>
                    </a:solidFill>
                  </a:tcPr>
                </a:tc>
                <a:tc>
                  <a:txBody>
                    <a:bodyPr/>
                    <a:lstStyle/>
                    <a:p>
                      <a:r>
                        <a:rPr sz="1100"/>
                        <a:t>`/delivery/docs/api-spec.yaml`</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Azure Document Intelligence</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Quality &amp; Performance</a:t>
            </a:r>
          </a:p>
        </p:txBody>
      </p:sp>
      <p:sp>
        <p:nvSpPr>
          <p:cNvPr id="4" name="Text Placeholder 3"/>
          <p:cNvSpPr>
            <a:spLocks noGrp="1"/>
          </p:cNvSpPr>
          <p:nvPr>
            <p:ph type="body" idx="16" sz="quarter"/>
          </p:nvPr>
        </p:nvSpPr>
        <p:spPr/>
        <p:txBody>
          <a:bodyPr/>
          <a:lstStyle/>
          <a:p>
            <a:pPr/>
            <a:r>
              <a:rPr b="1"/>
              <a:t>Accuracy Metrics</a:t>
            </a:r>
          </a:p>
          <a:p>
            <a:pPr lvl="1"/>
            <a:r>
              <a:t>Overall Extraction: 96.1% (target: 95%)</a:t>
            </a:r>
          </a:p>
          <a:p>
            <a:pPr lvl="1"/>
            <a:r>
              <a:t>Invoice Processing: 97.2%</a:t>
            </a:r>
          </a:p>
          <a:p>
            <a:pPr lvl="1"/>
            <a:r>
              <a:t>Receipt Recognition: 95.1%</a:t>
            </a:r>
          </a:p>
          <a:p>
            <a:pPr lvl="1"/>
            <a:r>
              <a:t>Form Extraction: 95.8%</a:t>
            </a:r>
          </a:p>
          <a:p>
            <a:pPr lvl="1"/>
            <a:r>
              <a:t>Field-Level Accuracy: 97.8%</a:t>
            </a:r>
          </a:p>
        </p:txBody>
      </p:sp>
      <p:sp>
        <p:nvSpPr>
          <p:cNvPr id="5" name="Text Placeholder 4"/>
          <p:cNvSpPr>
            <a:spLocks noGrp="1"/>
          </p:cNvSpPr>
          <p:nvPr>
            <p:ph type="body" idx="17" sz="quarter"/>
          </p:nvPr>
        </p:nvSpPr>
        <p:spPr/>
        <p:txBody>
          <a:bodyPr/>
          <a:lstStyle/>
          <a:p>
            <a:pPr/>
            <a:r>
              <a:rPr b="1"/>
              <a:t>Performance Metrics</a:t>
            </a:r>
          </a:p>
          <a:p>
            <a:pPr lvl="1"/>
            <a:r>
              <a:t>Processing Time: 90 sec (target: &lt;5 min)</a:t>
            </a:r>
          </a:p>
          <a:p>
            <a:pPr lvl="1"/>
            <a:r>
              <a:t>System Uptime: 99.8% (target: 99.5%)</a:t>
            </a:r>
          </a:p>
          <a:p>
            <a:pPr lvl="1"/>
            <a:r>
              <a:t>Human Review Rate: 12% (target: &lt;20%)</a:t>
            </a:r>
          </a:p>
          <a:p>
            <a:pPr lvl="1"/>
            <a:r>
              <a:t>API Response: 1.1 sec (target: &lt;3 sec)</a:t>
            </a:r>
          </a:p>
          <a:p>
            <a:pPr lvl="1"/>
            <a:r>
              <a:t>Throughput: 2,000 docs/month capacity</a:t>
            </a:r>
          </a:p>
        </p:txBody>
      </p:sp>
      <p:sp>
        <p:nvSpPr>
          <p:cNvPr id="6" name="Text Placeholder 5"/>
          <p:cNvSpPr>
            <a:spLocks noGrp="1"/>
          </p:cNvSpPr>
          <p:nvPr>
            <p:ph type="body" idx="15" sz="quarter"/>
          </p:nvPr>
        </p:nvSpPr>
        <p:spPr/>
        <p:txBody>
          <a:bodyPr/>
          <a:lstStyle/>
          <a:p>
            <a:pPr algn="r">
              <a:buNone/>
            </a:pPr>
            <a:r>
              <a:rPr sz="1100">
                <a:solidFill>
                  <a:srgbClr val="CC0000"/>
                </a:solidFill>
              </a:rPr>
              <a:t>Azure Document Intelligence</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Benefits Realized</a:t>
            </a:r>
          </a:p>
        </p:txBody>
      </p:sp>
      <p:graphicFrame>
        <p:nvGraphicFramePr>
          <p:cNvPr id="4" name="Table Placeholder 3"/>
          <p:cNvGraphicFramePr>
            <a:graphicFrameLocks noGrp="1"/>
          </p:cNvGraphicFramePr>
          <p:nvPr>
            <p:ph type="tbl" idx="14" sz="quarter"/>
          </p:nvPr>
        </p:nvGraphicFramePr>
        <p:xfrm>
          <a:off x="256855" y="677011"/>
          <a:ext cx="8710930" cy="2595880"/>
        </p:xfrm>
        <a:graphic>
          <a:graphicData uri="http://schemas.openxmlformats.org/drawingml/2006/table">
            <a:tbl>
              <a:tblPr firstRow="1" bandRow="1">
                <a:tableStyleId>{5C22544A-7EE6-4342-B048-85BDC9FD1C3A}</a:tableStyleId>
              </a:tblPr>
              <a:tblGrid>
                <a:gridCol w="2613279"/>
                <a:gridCol w="1742186"/>
                <a:gridCol w="1742186"/>
                <a:gridCol w="2613279"/>
              </a:tblGrid>
              <a:tr h="370840">
                <a:tc>
                  <a:txBody>
                    <a:bodyPr/>
                    <a:lstStyle/>
                    <a:p>
                      <a:r>
                        <a:rPr sz="1400">
                          <a:solidFill>
                            <a:srgbClr val="FFFFFF"/>
                          </a:solidFill>
                        </a:rPr>
                        <a:t>Benefit Category</a:t>
                      </a:r>
                    </a:p>
                  </a:txBody>
                  <a:tcPr>
                    <a:solidFill>
                      <a:srgbClr val="A01C02"/>
                    </a:solidFill>
                  </a:tcPr>
                </a:tc>
                <a:tc>
                  <a:txBody>
                    <a:bodyPr/>
                    <a:lstStyle/>
                    <a:p>
                      <a:r>
                        <a:rPr sz="1400">
                          <a:solidFill>
                            <a:srgbClr val="FFFFFF"/>
                          </a:solidFill>
                        </a:rPr>
                        <a:t>SOW Target</a:t>
                      </a:r>
                    </a:p>
                  </a:txBody>
                  <a:tcPr>
                    <a:solidFill>
                      <a:srgbClr val="A01C02"/>
                    </a:solidFill>
                  </a:tcPr>
                </a:tc>
                <a:tc>
                  <a:txBody>
                    <a:bodyPr/>
                    <a:lstStyle/>
                    <a:p>
                      <a:r>
                        <a:rPr sz="1400">
                          <a:solidFill>
                            <a:srgbClr val="FFFFFF"/>
                          </a:solidFill>
                        </a:rPr>
                        <a:t>Achieved</a:t>
                      </a:r>
                    </a:p>
                  </a:txBody>
                  <a:tcPr>
                    <a:solidFill>
                      <a:srgbClr val="A01C02"/>
                    </a:solidFill>
                  </a:tcPr>
                </a:tc>
                <a:tc>
                  <a:txBody>
                    <a:bodyPr/>
                    <a:lstStyle/>
                    <a:p>
                      <a:r>
                        <a:rPr sz="1400">
                          <a:solidFill>
                            <a:srgbClr val="FFFFFF"/>
                          </a:solidFill>
                        </a:rPr>
                        <a:t>Business Impact</a:t>
                      </a:r>
                    </a:p>
                  </a:txBody>
                  <a:tcPr>
                    <a:solidFill>
                      <a:srgbClr val="A01C02"/>
                    </a:solidFill>
                  </a:tcPr>
                </a:tc>
              </a:tr>
              <a:tr h="370840">
                <a:tc>
                  <a:txBody>
                    <a:bodyPr/>
                    <a:lstStyle/>
                    <a:p>
                      <a:r>
                        <a:rPr b="1" sz="1100"/>
                        <a:t>Processing Time</a:t>
                      </a:r>
                    </a:p>
                  </a:txBody>
                  <a:tcPr>
                    <a:solidFill>
                      <a:srgbClr val="E7E6E6"/>
                    </a:solidFill>
                  </a:tcPr>
                </a:tc>
                <a:tc>
                  <a:txBody>
                    <a:bodyPr/>
                    <a:lstStyle/>
                    <a:p>
                      <a:r>
                        <a:rPr sz="1100"/>
                        <a:t>80-90% reduction</a:t>
                      </a:r>
                    </a:p>
                  </a:txBody>
                  <a:tcPr>
                    <a:solidFill>
                      <a:srgbClr val="E7E6E6"/>
                    </a:solidFill>
                  </a:tcPr>
                </a:tc>
                <a:tc>
                  <a:txBody>
                    <a:bodyPr/>
                    <a:lstStyle/>
                    <a:p>
                      <a:r>
                        <a:rPr sz="1100"/>
                        <a:t>85% reduction</a:t>
                      </a:r>
                    </a:p>
                  </a:txBody>
                  <a:tcPr>
                    <a:solidFill>
                      <a:srgbClr val="E7E6E6"/>
                    </a:solidFill>
                  </a:tcPr>
                </a:tc>
                <a:tc>
                  <a:txBody>
                    <a:bodyPr/>
                    <a:lstStyle/>
                    <a:p>
                      <a:r>
                        <a:rPr sz="1100"/>
                        <a:t>15 min to 90 sec per document</a:t>
                      </a:r>
                    </a:p>
                  </a:txBody>
                  <a:tcPr>
                    <a:solidFill>
                      <a:srgbClr val="E7E6E6"/>
                    </a:solidFill>
                  </a:tcPr>
                </a:tc>
              </a:tr>
              <a:tr h="370840">
                <a:tc>
                  <a:txBody>
                    <a:bodyPr/>
                    <a:lstStyle/>
                    <a:p>
                      <a:r>
                        <a:rPr b="1" sz="1100"/>
                        <a:t>Accuracy</a:t>
                      </a:r>
                    </a:p>
                  </a:txBody>
                  <a:tcPr>
                    <a:solidFill>
                      <a:srgbClr val="E7E6E6"/>
                    </a:solidFill>
                  </a:tcPr>
                </a:tc>
                <a:tc>
                  <a:txBody>
                    <a:bodyPr/>
                    <a:lstStyle/>
                    <a:p>
                      <a:r>
                        <a:rPr sz="1100"/>
                        <a:t>95%+ extraction</a:t>
                      </a:r>
                    </a:p>
                  </a:txBody>
                  <a:tcPr>
                    <a:solidFill>
                      <a:srgbClr val="E7E6E6"/>
                    </a:solidFill>
                  </a:tcPr>
                </a:tc>
                <a:tc>
                  <a:txBody>
                    <a:bodyPr/>
                    <a:lstStyle/>
                    <a:p>
                      <a:r>
                        <a:rPr sz="1100"/>
                        <a:t>96.1%</a:t>
                      </a:r>
                    </a:p>
                  </a:txBody>
                  <a:tcPr>
                    <a:solidFill>
                      <a:srgbClr val="E7E6E6"/>
                    </a:solidFill>
                  </a:tcPr>
                </a:tc>
                <a:tc>
                  <a:txBody>
                    <a:bodyPr/>
                    <a:lstStyle/>
                    <a:p>
                      <a:r>
                        <a:rPr sz="1100"/>
                        <a:t>Near elimination of rework</a:t>
                      </a:r>
                    </a:p>
                  </a:txBody>
                  <a:tcPr>
                    <a:solidFill>
                      <a:srgbClr val="E7E6E6"/>
                    </a:solidFill>
                  </a:tcPr>
                </a:tc>
              </a:tr>
              <a:tr h="370840">
                <a:tc>
                  <a:txBody>
                    <a:bodyPr/>
                    <a:lstStyle/>
                    <a:p>
                      <a:r>
                        <a:rPr b="1" sz="1100"/>
                        <a:t>Cost Savings</a:t>
                      </a:r>
                    </a:p>
                  </a:txBody>
                  <a:tcPr>
                    <a:solidFill>
                      <a:srgbClr val="E7E6E6"/>
                    </a:solidFill>
                  </a:tcPr>
                </a:tc>
                <a:tc>
                  <a:txBody>
                    <a:bodyPr/>
                    <a:lstStyle/>
                    <a:p>
                      <a:r>
                        <a:rPr sz="1100"/>
                        <a:t>70% reduction</a:t>
                      </a:r>
                    </a:p>
                  </a:txBody>
                  <a:tcPr>
                    <a:solidFill>
                      <a:srgbClr val="E7E6E6"/>
                    </a:solidFill>
                  </a:tcPr>
                </a:tc>
                <a:tc>
                  <a:txBody>
                    <a:bodyPr/>
                    <a:lstStyle/>
                    <a:p>
                      <a:r>
                        <a:rPr sz="1100"/>
                        <a:t>68% Year 1</a:t>
                      </a:r>
                    </a:p>
                  </a:txBody>
                  <a:tcPr>
                    <a:solidFill>
                      <a:srgbClr val="E7E6E6"/>
                    </a:solidFill>
                  </a:tcPr>
                </a:tc>
                <a:tc>
                  <a:txBody>
                    <a:bodyPr/>
                    <a:lstStyle/>
                    <a:p>
                      <a:r>
                        <a:rPr sz="1100"/>
                        <a:t>$63K savings in first year</a:t>
                      </a:r>
                    </a:p>
                  </a:txBody>
                  <a:tcPr>
                    <a:solidFill>
                      <a:srgbClr val="E7E6E6"/>
                    </a:solidFill>
                  </a:tcPr>
                </a:tc>
              </a:tr>
              <a:tr h="370840">
                <a:tc>
                  <a:txBody>
                    <a:bodyPr/>
                    <a:lstStyle/>
                    <a:p>
                      <a:r>
                        <a:rPr b="1" sz="1100"/>
                        <a:t>Staff Impact</a:t>
                      </a:r>
                    </a:p>
                  </a:txBody>
                  <a:tcPr>
                    <a:solidFill>
                      <a:srgbClr val="E7E6E6"/>
                    </a:solidFill>
                  </a:tcPr>
                </a:tc>
                <a:tc>
                  <a:txBody>
                    <a:bodyPr/>
                    <a:lstStyle/>
                    <a:p>
                      <a:r>
                        <a:rPr sz="1100"/>
                        <a:t>Reduce manual effort</a:t>
                      </a:r>
                    </a:p>
                  </a:txBody>
                  <a:tcPr>
                    <a:solidFill>
                      <a:srgbClr val="E7E6E6"/>
                    </a:solidFill>
                  </a:tcPr>
                </a:tc>
                <a:tc>
                  <a:txBody>
                    <a:bodyPr/>
                    <a:lstStyle/>
                    <a:p>
                      <a:r>
                        <a:rPr sz="1100"/>
                        <a:t>2 FTEs reallocated</a:t>
                      </a:r>
                    </a:p>
                  </a:txBody>
                  <a:tcPr>
                    <a:solidFill>
                      <a:srgbClr val="E7E6E6"/>
                    </a:solidFill>
                  </a:tcPr>
                </a:tc>
                <a:tc>
                  <a:txBody>
                    <a:bodyPr/>
                    <a:lstStyle/>
                    <a:p>
                      <a:r>
                        <a:rPr sz="1100"/>
                        <a:t>Team now on higher-value work</a:t>
                      </a:r>
                    </a:p>
                  </a:txBody>
                  <a:tcPr>
                    <a:solidFill>
                      <a:srgbClr val="E7E6E6"/>
                    </a:solidFill>
                  </a:tcPr>
                </a:tc>
              </a:tr>
              <a:tr h="370840">
                <a:tc>
                  <a:txBody>
                    <a:bodyPr/>
                    <a:lstStyle/>
                    <a:p>
                      <a:r>
                        <a:rPr b="1" sz="1100"/>
                        <a:t>Throughput</a:t>
                      </a:r>
                    </a:p>
                  </a:txBody>
                  <a:tcPr>
                    <a:solidFill>
                      <a:srgbClr val="E7E6E6"/>
                    </a:solidFill>
                  </a:tcPr>
                </a:tc>
                <a:tc>
                  <a:txBody>
                    <a:bodyPr/>
                    <a:lstStyle/>
                    <a:p>
                      <a:r>
                        <a:rPr sz="1100"/>
                        <a:t>Handle growth</a:t>
                      </a:r>
                    </a:p>
                  </a:txBody>
                  <a:tcPr>
                    <a:solidFill>
                      <a:srgbClr val="E7E6E6"/>
                    </a:solidFill>
                  </a:tcPr>
                </a:tc>
                <a:tc>
                  <a:txBody>
                    <a:bodyPr/>
                    <a:lstStyle/>
                    <a:p>
                      <a:r>
                        <a:rPr sz="1100"/>
                        <a:t>4x capacity</a:t>
                      </a:r>
                    </a:p>
                  </a:txBody>
                  <a:tcPr>
                    <a:solidFill>
                      <a:srgbClr val="E7E6E6"/>
                    </a:solidFill>
                  </a:tcPr>
                </a:tc>
                <a:tc>
                  <a:txBody>
                    <a:bodyPr/>
                    <a:lstStyle/>
                    <a:p>
                      <a:r>
                        <a:rPr sz="1100"/>
                        <a:t>Ready for 8K docs/month</a:t>
                      </a:r>
                    </a:p>
                  </a:txBody>
                  <a:tcPr>
                    <a:solidFill>
                      <a:srgbClr val="E7E6E6"/>
                    </a:solidFill>
                  </a:tcPr>
                </a:tc>
              </a:tr>
              <a:tr h="370840">
                <a:tc>
                  <a:txBody>
                    <a:bodyPr/>
                    <a:lstStyle/>
                    <a:p>
                      <a:r>
                        <a:rPr b="1" sz="1100"/>
                        <a:t>Compliance</a:t>
                      </a:r>
                    </a:p>
                  </a:txBody>
                  <a:tcPr>
                    <a:solidFill>
                      <a:srgbClr val="E7E6E6"/>
                    </a:solidFill>
                  </a:tcPr>
                </a:tc>
                <a:tc>
                  <a:txBody>
                    <a:bodyPr/>
                    <a:lstStyle/>
                    <a:p>
                      <a:r>
                        <a:rPr sz="1100"/>
                        <a:t>Audit ready</a:t>
                      </a:r>
                    </a:p>
                  </a:txBody>
                  <a:tcPr>
                    <a:solidFill>
                      <a:srgbClr val="E7E6E6"/>
                    </a:solidFill>
                  </a:tcPr>
                </a:tc>
                <a:tc>
                  <a:txBody>
                    <a:bodyPr/>
                    <a:lstStyle/>
                    <a:p>
                      <a:r>
                        <a:rPr sz="1100"/>
                        <a:t>Full audit trail</a:t>
                      </a:r>
                    </a:p>
                  </a:txBody>
                  <a:tcPr>
                    <a:solidFill>
                      <a:srgbClr val="E7E6E6"/>
                    </a:solidFill>
                  </a:tcPr>
                </a:tc>
                <a:tc>
                  <a:txBody>
                    <a:bodyPr/>
                    <a:lstStyle/>
                    <a:p>
                      <a:r>
                        <a:rPr sz="1100"/>
                        <a:t>Azure Monitor + document lineage</a:t>
                      </a:r>
                    </a:p>
                  </a:txBody>
                  <a:tcPr>
                    <a:solidFill>
                      <a:srgbClr val="E7E6E6"/>
                    </a:solidFill>
                  </a:tcPr>
                </a:tc>
              </a:tr>
            </a:tbl>
          </a:graphicData>
        </a:graphic>
      </p:graphicFrame>
      <p:sp>
        <p:nvSpPr>
          <p:cNvPr id="5" name="Text Placeholder 4"/>
          <p:cNvSpPr>
            <a:spLocks noGrp="1"/>
          </p:cNvSpPr>
          <p:nvPr>
            <p:ph type="body" idx="15" sz="quarter"/>
          </p:nvPr>
        </p:nvSpPr>
        <p:spPr/>
        <p:txBody>
          <a:bodyPr/>
          <a:lstStyle/>
          <a:p>
            <a:pPr algn="r">
              <a:buNone/>
            </a:pPr>
            <a:r>
              <a:rPr sz="1100">
                <a:solidFill>
                  <a:srgbClr val="CC0000"/>
                </a:solidFill>
              </a:rPr>
              <a:t>Azure Document Intelligence</a:t>
            </a:r>
          </a:p>
        </p:txBody>
      </p:sp>
      <p:pic>
        <p:nvPicPr>
          <p:cNvPr id="6" name="Picture 5" descr="consulting_company_logo.png"/>
          <p:cNvPicPr>
            <a:picLocks noChangeAspect="1"/>
          </p:cNvPicPr>
          <p:nvPr/>
        </p:nvPicPr>
        <p:blipFill>
          <a:blip r:embed="rId3"/>
          <a:stretch>
            <a:fillRect/>
          </a:stretch>
        </p:blipFill>
        <p:spPr>
          <a:xfrm>
            <a:off x="313592" y="4536078"/>
            <a:ext cx="2126273" cy="52969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Lessons Learned &amp; Recommendations</a:t>
            </a:r>
          </a:p>
        </p:txBody>
      </p:sp>
      <p:sp>
        <p:nvSpPr>
          <p:cNvPr id="4" name="Text Placeholder 3"/>
          <p:cNvSpPr>
            <a:spLocks noGrp="1"/>
          </p:cNvSpPr>
          <p:nvPr>
            <p:ph type="body" idx="16" sz="quarter"/>
          </p:nvPr>
        </p:nvSpPr>
        <p:spPr/>
        <p:txBody>
          <a:bodyPr/>
          <a:lstStyle/>
          <a:p>
            <a:pPr/>
            <a:r>
              <a:rPr b="1"/>
              <a:t>What Worked Well</a:t>
            </a:r>
          </a:p>
          <a:p>
            <a:pPr lvl="1"/>
            <a:r>
              <a:t>Pre-built models accelerated delivery</a:t>
            </a:r>
          </a:p>
          <a:p>
            <a:pPr lvl="1"/>
            <a:r>
              <a:t>Human review workflow as safety net</a:t>
            </a:r>
          </a:p>
          <a:p>
            <a:pPr lvl="1"/>
            <a:r>
              <a:t>Phased cutover reduced risk</a:t>
            </a:r>
          </a:p>
          <a:p>
            <a:pPr lvl="1"/>
            <a:r>
              <a:t>Weekly stakeholder demos</a:t>
            </a:r>
          </a:p>
          <a:p>
            <a:pPr lvl="1"/>
            <a:r>
              <a:t>Infrastructure as Code deployment</a:t>
            </a:r>
          </a:p>
          <a:p>
            <a:pPr/>
            <a:r>
              <a:rPr b="1"/>
              <a:t>Challenges Overcome</a:t>
            </a:r>
          </a:p>
          <a:p>
            <a:pPr lvl="1"/>
            <a:r>
              <a:t>Document quality variation</a:t>
            </a:r>
          </a:p>
          <a:p>
            <a:pPr lvl="1"/>
            <a:r>
              <a:t>Integration timing alignment</a:t>
            </a:r>
          </a:p>
          <a:p>
            <a:pPr lvl="1"/>
            <a:r>
              <a:t>User adoption concerns</a:t>
            </a:r>
          </a:p>
          <a:p>
            <a:pPr lvl="1"/>
            <a:r>
              <a:t>Legacy system compatibility</a:t>
            </a:r>
          </a:p>
          <a:p>
            <a:pPr lvl="1"/>
            <a:r>
              <a:t>Training data preparation</a:t>
            </a:r>
          </a:p>
        </p:txBody>
      </p:sp>
      <p:sp>
        <p:nvSpPr>
          <p:cNvPr id="5" name="Text Placeholder 4"/>
          <p:cNvSpPr>
            <a:spLocks noGrp="1"/>
          </p:cNvSpPr>
          <p:nvPr>
            <p:ph type="body" idx="17" sz="quarter"/>
          </p:nvPr>
        </p:nvSpPr>
        <p:spPr/>
        <p:txBody>
          <a:bodyPr/>
          <a:lstStyle/>
          <a:p>
            <a:pPr/>
            <a:r>
              <a:rPr b="1"/>
              <a:t>Recommendations</a:t>
            </a:r>
          </a:p>
          <a:p>
            <a:pPr lvl="1"/>
            <a:r>
              <a:t>Add 2-3 more document types</a:t>
            </a:r>
          </a:p>
          <a:p>
            <a:pPr lvl="1"/>
            <a:r>
              <a:t>Implement continuous learning</a:t>
            </a:r>
          </a:p>
          <a:p>
            <a:pPr lvl="1"/>
            <a:r>
              <a:t>Optimize human review workflow</a:t>
            </a:r>
          </a:p>
          <a:p>
            <a:pPr lvl="1"/>
            <a:r>
              <a:t>Plan for volume growth</a:t>
            </a:r>
          </a:p>
          <a:p>
            <a:pPr lvl="1"/>
            <a:r>
              <a:t>Quarterly accuracy reviews</a:t>
            </a:r>
          </a:p>
        </p:txBody>
      </p:sp>
      <p:sp>
        <p:nvSpPr>
          <p:cNvPr id="6" name="Text Placeholder 5"/>
          <p:cNvSpPr>
            <a:spLocks noGrp="1"/>
          </p:cNvSpPr>
          <p:nvPr>
            <p:ph type="body" idx="15" sz="quarter"/>
          </p:nvPr>
        </p:nvSpPr>
        <p:spPr/>
        <p:txBody>
          <a:bodyPr/>
          <a:lstStyle/>
          <a:p>
            <a:pPr algn="r">
              <a:buNone/>
            </a:pPr>
            <a:r>
              <a:rPr sz="1100">
                <a:solidFill>
                  <a:srgbClr val="CC0000"/>
                </a:solidFill>
              </a:rPr>
              <a:t>Azure Document Intelligence</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Support Transition</a:t>
            </a:r>
          </a:p>
        </p:txBody>
      </p:sp>
      <p:sp>
        <p:nvSpPr>
          <p:cNvPr id="4" name="Text Placeholder 3"/>
          <p:cNvSpPr>
            <a:spLocks noGrp="1"/>
          </p:cNvSpPr>
          <p:nvPr>
            <p:ph type="body" idx="16" sz="quarter"/>
          </p:nvPr>
        </p:nvSpPr>
        <p:spPr/>
        <p:txBody>
          <a:bodyPr/>
          <a:lstStyle/>
          <a:p>
            <a:pPr/>
            <a:r>
              <a:rPr b="1"/>
              <a:t>Hypercare Complete (30 days)</a:t>
            </a:r>
          </a:p>
          <a:p>
            <a:pPr lvl="1"/>
            <a:r>
              <a:t>Daily health checks completed</a:t>
            </a:r>
          </a:p>
          <a:p>
            <a:pPr lvl="1"/>
            <a:r>
              <a:t>2 P3 issues resolved</a:t>
            </a:r>
          </a:p>
          <a:p>
            <a:pPr lvl="1"/>
            <a:r>
              <a:t>Knowledge transfer sessions done</a:t>
            </a:r>
          </a:p>
          <a:p>
            <a:pPr lvl="1"/>
            <a:r>
              <a:t>Runbook procedures validated</a:t>
            </a:r>
          </a:p>
          <a:p>
            <a:pPr lvl="1"/>
            <a:r>
              <a:t>Team fully trained and certified</a:t>
            </a:r>
          </a:p>
          <a:p>
            <a:pPr/>
            <a:r>
              <a:rPr b="1"/>
              <a:t>Steady State Support</a:t>
            </a:r>
          </a:p>
          <a:p>
            <a:pPr lvl="1"/>
            <a:r>
              <a:t>Business hours monitoring</a:t>
            </a:r>
          </a:p>
          <a:p>
            <a:pPr lvl="1"/>
            <a:r>
              <a:t>Monthly performance reviews</a:t>
            </a:r>
          </a:p>
          <a:p>
            <a:pPr lvl="1"/>
            <a:r>
              <a:t>Quarterly optimization checks</a:t>
            </a:r>
          </a:p>
          <a:p>
            <a:pPr lvl="1"/>
            <a:r>
              <a:t>Automated alerting configured</a:t>
            </a:r>
          </a:p>
          <a:p>
            <a:pPr lvl="1"/>
            <a:r>
              <a:t>Documentation fully maintained</a:t>
            </a:r>
          </a:p>
        </p:txBody>
      </p:sp>
      <p:sp>
        <p:nvSpPr>
          <p:cNvPr id="5" name="Text Placeholder 4"/>
          <p:cNvSpPr>
            <a:spLocks noGrp="1"/>
          </p:cNvSpPr>
          <p:nvPr>
            <p:ph type="body" idx="17" sz="quarter"/>
          </p:nvPr>
        </p:nvSpPr>
        <p:spPr/>
        <p:txBody>
          <a:bodyPr/>
          <a:lstStyle/>
          <a:p>
            <a:pPr/>
            <a:r>
              <a:rPr b="1"/>
              <a:t>Escalation Path</a:t>
            </a:r>
          </a:p>
          <a:p>
            <a:pPr lvl="1"/>
            <a:r>
              <a:t>L1: Internal IT Help Desk</a:t>
            </a:r>
          </a:p>
          <a:p>
            <a:pPr lvl="1"/>
            <a:r>
              <a:t>L2: IT Support Team</a:t>
            </a:r>
          </a:p>
          <a:p>
            <a:pPr lvl="1"/>
            <a:r>
              <a:t>L3: Vendor Support (optional)</a:t>
            </a:r>
          </a:p>
          <a:p>
            <a:pPr lvl="1"/>
            <a:r>
              <a:t>Emergency: On-call rotation</a:t>
            </a:r>
          </a:p>
          <a:p>
            <a:pPr lvl="1"/>
            <a:r>
              <a:t>Executive: Account Manager</a:t>
            </a:r>
          </a:p>
        </p:txBody>
      </p:sp>
      <p:sp>
        <p:nvSpPr>
          <p:cNvPr id="6" name="Text Placeholder 5"/>
          <p:cNvSpPr>
            <a:spLocks noGrp="1"/>
          </p:cNvSpPr>
          <p:nvPr>
            <p:ph type="body" idx="15" sz="quarter"/>
          </p:nvPr>
        </p:nvSpPr>
        <p:spPr/>
        <p:txBody>
          <a:bodyPr/>
          <a:lstStyle/>
          <a:p>
            <a:pPr algn="r">
              <a:buNone/>
            </a:pPr>
            <a:r>
              <a:rPr sz="1100">
                <a:solidFill>
                  <a:srgbClr val="CC0000"/>
                </a:solidFill>
              </a:rPr>
              <a:t>Azure Document Intelligence</a:t>
            </a:r>
          </a:p>
        </p:txBody>
      </p:sp>
      <p:pic>
        <p:nvPicPr>
          <p:cNvPr id="7" name="Picture 6" descr="consulting_company_logo.png"/>
          <p:cNvPicPr>
            <a:picLocks noChangeAspect="1"/>
          </p:cNvPicPr>
          <p:nvPr/>
        </p:nvPicPr>
        <p:blipFill>
          <a:blip r:embed="rId3"/>
          <a:stretch>
            <a:fillRect/>
          </a:stretch>
        </p:blipFill>
        <p:spPr>
          <a:xfrm>
            <a:off x="313592" y="4536078"/>
            <a:ext cx="2121877" cy="5296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0" sz="quarter"/>
          </p:nvPr>
        </p:nvSpPr>
        <p:spPr/>
        <p:txBody>
          <a:bodyPr/>
          <a:lstStyle/>
          <a:p>
            <a:pPr algn="l"/>
            <a:r>
              <a:t>Acknowledgments &amp; Next Steps</a:t>
            </a:r>
          </a:p>
        </p:txBody>
      </p:sp>
      <p:sp>
        <p:nvSpPr>
          <p:cNvPr id="4" name="Text Placeholder 3"/>
          <p:cNvSpPr>
            <a:spLocks noGrp="1"/>
          </p:cNvSpPr>
          <p:nvPr>
            <p:ph type="body" idx="14" sz="quarter"/>
          </p:nvPr>
        </p:nvSpPr>
        <p:spPr/>
        <p:txBody>
          <a:bodyPr/>
          <a:lstStyle/>
          <a:p>
            <a:pPr/>
            <a:r>
              <a:rPr b="1"/>
              <a:t>Client Team:</a:t>
            </a:r>
            <a:r>
              <a:t> Executive sponsor, IT team, business SMEs, document processing team</a:t>
            </a:r>
          </a:p>
          <a:p>
            <a:pPr/>
            <a:r>
              <a:rPr b="1"/>
              <a:t>Vendor Team:</a:t>
            </a:r>
            <a:r>
              <a:t> Project manager, solutions architect, AI engineer, support team</a:t>
            </a:r>
          </a:p>
          <a:p>
            <a:pPr/>
            <a:r>
              <a:rPr b="1"/>
              <a:t>Special Recognition:</a:t>
            </a:r>
            <a:r>
              <a:t> Document processing team for training data labeling and UAT dedication</a:t>
            </a:r>
          </a:p>
          <a:p>
            <a:pPr/>
            <a:r>
              <a:rPr b="1"/>
              <a:t>This Week:</a:t>
            </a:r>
            <a:r>
              <a:t> Final documentation handover, archive project artifacts</a:t>
            </a:r>
          </a:p>
          <a:p>
            <a:pPr/>
            <a:r>
              <a:rPr b="1"/>
              <a:t>Next 30 Days:</a:t>
            </a:r>
            <a:r>
              <a:t> Monthly performance review, identify Phase 2 candidates</a:t>
            </a:r>
          </a:p>
          <a:p>
            <a:pPr/>
            <a:r>
              <a:rPr b="1"/>
              <a:t>Next Quarter:</a:t>
            </a:r>
            <a:r>
              <a:t> Phase 2 planning workshop for additional document types</a:t>
            </a:r>
          </a:p>
        </p:txBody>
      </p:sp>
      <p:sp>
        <p:nvSpPr>
          <p:cNvPr id="5" name="Text Placeholder 4"/>
          <p:cNvSpPr>
            <a:spLocks noGrp="1"/>
          </p:cNvSpPr>
          <p:nvPr>
            <p:ph type="body" idx="15" sz="quarter"/>
          </p:nvPr>
        </p:nvSpPr>
        <p:spPr/>
        <p:txBody>
          <a:bodyPr/>
          <a:lstStyle/>
          <a:p>
            <a:pPr algn="r">
              <a:buNone/>
            </a:pPr>
            <a:r>
              <a:rPr sz="1100">
                <a:solidFill>
                  <a:srgbClr val="CC0000"/>
                </a:solidFill>
              </a:rPr>
              <a:t>Azure Document Intelligence</a:t>
            </a:r>
          </a:p>
        </p:txBody>
      </p:sp>
      <p:pic>
        <p:nvPicPr>
          <p:cNvPr id="6" name="Picture 5" descr="consulting_company_logo.png"/>
          <p:cNvPicPr>
            <a:picLocks noChangeAspect="1"/>
          </p:cNvPicPr>
          <p:nvPr/>
        </p:nvPicPr>
        <p:blipFill>
          <a:blip r:embed="rId3"/>
          <a:stretch>
            <a:fillRect/>
          </a:stretch>
        </p:blipFill>
        <p:spPr>
          <a:xfrm>
            <a:off x="313593" y="4536078"/>
            <a:ext cx="2143858" cy="52969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p:txBody>
          <a:bodyPr/>
          <a:lstStyle/>
          <a:p>
            <a:r>
              <a:t>Thank You</a:t>
            </a:r>
          </a:p>
        </p:txBody>
      </p:sp>
      <p:sp>
        <p:nvSpPr>
          <p:cNvPr id="5" name="Text Placeholder 4"/>
          <p:cNvSpPr>
            <a:spLocks noGrp="1"/>
          </p:cNvSpPr>
          <p:nvPr>
            <p:ph type="body" idx="14" sz="quarter"/>
          </p:nvPr>
        </p:nvSpPr>
        <p:spPr/>
        <p:txBody>
          <a:bodyPr/>
          <a:lstStyle/>
          <a:p/>
        </p:txBody>
      </p:sp>
      <p:sp>
        <p:nvSpPr>
          <p:cNvPr id="6" name="Text Placeholder 5"/>
          <p:cNvSpPr>
            <a:spLocks noGrp="1"/>
          </p:cNvSpPr>
          <p:nvPr>
            <p:ph type="body" idx="15" sz="quarter"/>
          </p:nvPr>
        </p:nvSpPr>
        <p:spPr/>
        <p:txBody>
          <a:bodyPr/>
          <a:lstStyle/>
          <a:p/>
        </p:txBody>
      </p:sp>
      <p:pic>
        <p:nvPicPr>
          <p:cNvPr id="7" name="Picture 6" descr="client_logo.png"/>
          <p:cNvPicPr>
            <a:picLocks noChangeAspect="1"/>
          </p:cNvPicPr>
          <p:nvPr/>
        </p:nvPicPr>
        <p:blipFill>
          <a:blip r:embed="rId3"/>
          <a:stretch>
            <a:fillRect/>
          </a:stretch>
        </p:blipFill>
        <p:spPr>
          <a:xfrm>
            <a:off x="2180492" y="171206"/>
            <a:ext cx="3978520" cy="1314694"/>
          </a:xfrm>
          <a:prstGeom prst="rect">
            <a:avLst/>
          </a:prstGeom>
        </p:spPr>
      </p:pic>
      <p:pic>
        <p:nvPicPr>
          <p:cNvPr id="8" name="Picture 7" descr="consulting_company_logo.png"/>
          <p:cNvPicPr>
            <a:picLocks noChangeAspect="1"/>
          </p:cNvPicPr>
          <p:nvPr/>
        </p:nvPicPr>
        <p:blipFill>
          <a:blip r:embed="rId4"/>
          <a:stretch>
            <a:fillRect/>
          </a:stretch>
        </p:blipFill>
        <p:spPr>
          <a:xfrm>
            <a:off x="313592" y="4536078"/>
            <a:ext cx="2164114" cy="529698"/>
          </a:xfrm>
          <a:prstGeom prst="rect">
            <a:avLst/>
          </a:prstGeom>
        </p:spPr>
      </p:pic>
      <p:pic>
        <p:nvPicPr>
          <p:cNvPr id="9" name="Picture 8" descr="eo-framework-logo-real.png"/>
          <p:cNvPicPr>
            <a:picLocks noChangeAspect="1"/>
          </p:cNvPicPr>
          <p:nvPr/>
        </p:nvPicPr>
        <p:blipFill>
          <a:blip r:embed="rId5"/>
          <a:stretch>
            <a:fillRect/>
          </a:stretch>
        </p:blipFill>
        <p:spPr>
          <a:xfrm>
            <a:off x="6684264" y="4535424"/>
            <a:ext cx="2139696"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42</Words>
  <Application>Microsoft Office PowerPoint</Application>
  <PresentationFormat>On-screen Show (16:9)</PresentationFormat>
  <Paragraphs>21</Paragraphs>
  <Slides>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EOFramework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EOFramework Template</dc:title>
  <dc:subject>PptxGenJS Presentation</dc:subject>
  <dc:creator>EOFramework</dc:creator>
  <cp:lastModifiedBy>Kishan Siram</cp:lastModifiedBy>
  <cp:revision>86</cp:revision>
  <dcterms:created xsi:type="dcterms:W3CDTF">2025-11-01T21:16:10Z</dcterms:created>
  <dcterms:modified xsi:type="dcterms:W3CDTF">2025-11-27T20:15:42Z</dcterms:modified>
</cp:coreProperties>
</file>