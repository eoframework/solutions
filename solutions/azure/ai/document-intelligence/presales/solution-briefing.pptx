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.bin" ContentType="image/unknown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7"/>
    <p:sldId id="257" r:id="rId8"/>
    <p:sldId id="258" r:id="rId6"/>
    <p:sldId id="259" r:id="rId5"/>
    <p:sldId id="260" r:id="rId4"/>
    <p:sldId id="261" r:id="rId3"/>
    <p:sldId id="262" r:id="rId2"/>
    <p:sldId id="263" r:id="rId14"/>
    <p:sldId id="264" r:id="rId15"/>
    <p:sldId id="265" r:id="rId16"/>
    <p:sldId id="266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01C0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5" d="100"/>
          <a:sy n="135" d="100"/>
        </p:scale>
        <p:origin x="380" y="3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83" d="100"/>
          <a:sy n="83" d="100"/>
        </p:scale>
        <p:origin x="3732" y="76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7.xml"/><Relationship Id="rId3" Type="http://schemas.openxmlformats.org/officeDocument/2006/relationships/slide" Target="slides/slide6.xml"/><Relationship Id="rId4" Type="http://schemas.openxmlformats.org/officeDocument/2006/relationships/slide" Target="slides/slide5.xml"/><Relationship Id="rId5" Type="http://schemas.openxmlformats.org/officeDocument/2006/relationships/slide" Target="slides/slide4.xml"/><Relationship Id="rId6" Type="http://schemas.openxmlformats.org/officeDocument/2006/relationships/slide" Target="slides/slide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1673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D36A0E4-7374-4A92-CEC2-AC1CC29B855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180492" y="171206"/>
            <a:ext cx="3978520" cy="1314694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pic>
        <p:nvPicPr>
          <p:cNvPr id="5" name="Image 0" descr="/home/claude/eo-framework-logo.png">
            <a:extLst>
              <a:ext uri="{FF2B5EF4-FFF2-40B4-BE49-F238E27FC236}">
                <a16:creationId xmlns:a16="http://schemas.microsoft.com/office/drawing/2014/main" id="{028AFAE3-D949-BFF8-132D-C3956962B6B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ABC2FEB1-3552-40B4-D5D2-8C9A2DF4EF3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8528" y="1886679"/>
            <a:ext cx="7671288" cy="52705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ts val="3600"/>
              </a:lnSpc>
              <a:buNone/>
              <a:defRPr sz="3600" b="1" i="0" baseline="0">
                <a:latin typeface="Arial" panose="020B0604020202020204" pitchFamily="34" charset="0"/>
              </a:defRPr>
            </a:lvl1pPr>
          </a:lstStyle>
          <a:p>
            <a:pPr marL="0" indent="0" algn="ctr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 Title</a:t>
            </a:r>
            <a:endParaRPr lang="en-US" sz="3600" dirty="0"/>
          </a:p>
        </p:txBody>
      </p:sp>
      <p:sp>
        <p:nvSpPr>
          <p:cNvPr id="7" name="Picture Placeholder 13">
            <a:extLst>
              <a:ext uri="{FF2B5EF4-FFF2-40B4-BE49-F238E27FC236}">
                <a16:creationId xmlns:a16="http://schemas.microsoft.com/office/drawing/2014/main" id="{86145EB1-48C8-058E-F657-82D57B57954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1" y="4536078"/>
            <a:ext cx="2099897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8" name="Text 0">
            <a:extLst>
              <a:ext uri="{FF2B5EF4-FFF2-40B4-BE49-F238E27FC236}">
                <a16:creationId xmlns:a16="http://schemas.microsoft.com/office/drawing/2014/main" id="{D51056DC-8081-0916-0351-65D88D1682B8}"/>
              </a:ext>
            </a:extLst>
          </p:cNvPr>
          <p:cNvSpPr/>
          <p:nvPr userDrawn="1"/>
        </p:nvSpPr>
        <p:spPr>
          <a:xfrm>
            <a:off x="2224455" y="1676475"/>
            <a:ext cx="3886322" cy="45719"/>
          </a:xfrm>
          <a:prstGeom prst="roundRect">
            <a:avLst>
              <a:gd name="adj" fmla="val 50000"/>
            </a:avLst>
          </a:prstGeom>
          <a:solidFill>
            <a:srgbClr val="CC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C531180-94E5-3403-56E5-895E003A9D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59473" y="2437679"/>
            <a:ext cx="6629399" cy="334598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1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Subtitle Text</a:t>
            </a:r>
            <a:endParaRPr lang="en-US" sz="1800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39F5D3C5-0033-51A7-77BC-7E3DBBF84F2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734286" y="3631467"/>
            <a:ext cx="3605212" cy="334963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sz="1400" dirty="0">
                <a:solidFill>
                  <a:srgbClr val="6C757D"/>
                </a:solidFill>
                <a:latin typeface="Arial" pitchFamily="34" charset="0"/>
                <a:cs typeface="Arial" pitchFamily="34" charset="-120"/>
              </a:rPr>
              <a:t>Presenter Name | Date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14350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Singl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2DB97592-C4D5-B315-7F11-AA14F6EE8A6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3" y="4536078"/>
            <a:ext cx="2143858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6863" y="0"/>
            <a:ext cx="8509304" cy="527008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Slide Title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BEE1A0-720D-187D-95F8-429F3DF3D64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96863" y="685601"/>
            <a:ext cx="8548687" cy="3811657"/>
          </a:xfrm>
          <a:prstGeom prst="rect">
            <a:avLst/>
          </a:prstGeom>
        </p:spPr>
        <p:txBody>
          <a:bodyPr/>
          <a:lstStyle>
            <a:lvl1pPr>
              <a:defRPr sz="2000" b="1" baseline="0">
                <a:solidFill>
                  <a:srgbClr val="C00000"/>
                </a:solidFill>
              </a:defRPr>
            </a:lvl1pPr>
            <a:lvl2pPr>
              <a:buFont typeface="Arial" panose="020B0604020202020204" pitchFamily="34" charset="0"/>
              <a:buChar char="•"/>
              <a:defRPr sz="1600"/>
            </a:lvl2pPr>
            <a:lvl3pPr>
              <a:defRPr sz="1400"/>
            </a:lvl3pPr>
            <a:lvl4pPr>
              <a:buFont typeface="Arial" panose="020B0604020202020204" pitchFamily="34" charset="0"/>
              <a:buChar char="•"/>
              <a:defRPr sz="1200"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7F71806-AFEA-DD6D-E6AA-E2A002E682D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627076" y="4738688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11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10462396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Bullet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2DB97592-C4D5-B315-7F11-AA14F6EE8A6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3" y="4536078"/>
            <a:ext cx="2143858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6863" y="0"/>
            <a:ext cx="8509304" cy="527008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Bullet Points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BEE1A0-720D-187D-95F8-429F3DF3D64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96863" y="685601"/>
            <a:ext cx="8548687" cy="3811657"/>
          </a:xfrm>
          <a:prstGeom prst="rect">
            <a:avLst/>
          </a:prstGeom>
        </p:spPr>
        <p:txBody>
          <a:bodyPr/>
          <a:lstStyle>
            <a:lvl1pPr>
              <a:defRPr sz="2000" baseline="0">
                <a:solidFill>
                  <a:schemeClr val="tx1"/>
                </a:solidFill>
              </a:defRPr>
            </a:lvl1pPr>
            <a:lvl2pPr>
              <a:buFont typeface="Arial" panose="020B0604020202020204" pitchFamily="34" charset="0"/>
              <a:buChar char="•"/>
              <a:defRPr sz="1600"/>
            </a:lvl2pPr>
            <a:lvl3pPr>
              <a:defRPr sz="1400"/>
            </a:lvl3pPr>
            <a:lvl4pPr>
              <a:buFont typeface="Arial" panose="020B0604020202020204" pitchFamily="34" charset="0"/>
              <a:buChar char="•"/>
              <a:defRPr sz="1200"/>
            </a:lvl4pPr>
          </a:lstStyle>
          <a:p>
            <a:pPr lvl="0"/>
            <a:r>
              <a:rPr lang="en-US" dirty="0"/>
              <a:t>Bullet Point 1</a:t>
            </a:r>
          </a:p>
          <a:p>
            <a:pPr lvl="0"/>
            <a:r>
              <a:rPr lang="en-US" dirty="0"/>
              <a:t>Bullet Point 2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2079A5-28FD-9D2F-2B9B-2FC8F9339A3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627076" y="4738688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11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10907377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6A0FA445-7602-F06E-EC73-5504EBF827C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3592" y="4536078"/>
            <a:ext cx="2121877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174" y="7163"/>
            <a:ext cx="8530738" cy="527013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Two Column Layout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29E4A97-A874-D6CA-E54C-5584536CAA7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3675" y="678433"/>
            <a:ext cx="4462463" cy="3785515"/>
          </a:xfrm>
          <a:prstGeom prst="rect">
            <a:avLst/>
          </a:prstGeom>
        </p:spPr>
        <p:txBody>
          <a:bodyPr/>
          <a:lstStyle>
            <a:lvl1pPr>
              <a:defRPr sz="1800" b="1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Left Column Sub Title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EF61ADBD-DA9D-A8A7-8FC3-64E82242B98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840288" y="678433"/>
            <a:ext cx="4110037" cy="3785515"/>
          </a:xfrm>
          <a:prstGeom prst="rect">
            <a:avLst/>
          </a:prstGeom>
        </p:spPr>
        <p:txBody>
          <a:bodyPr/>
          <a:lstStyle>
            <a:lvl1pPr>
              <a:defRPr sz="1800" b="1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Right Column Sub title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5DF49ED0-89F0-F008-ADD7-D71F338C8B9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697414" y="4681864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11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12437309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2DB97592-C4D5-B315-7F11-AA14F6EE8A6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2" y="4536078"/>
            <a:ext cx="2126273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6855" y="39642"/>
            <a:ext cx="8710933" cy="527013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2700" b="1" dirty="0">
                <a:solidFill>
                  <a:srgbClr val="2C3E50"/>
                </a:solidFill>
                <a:latin typeface="Arial" pitchFamily="34" charset="0"/>
                <a:cs typeface="Arial" pitchFamily="34" charset="-120"/>
              </a:rPr>
              <a:t>Table</a:t>
            </a:r>
            <a:endParaRPr lang="en-US" sz="3200" dirty="0"/>
          </a:p>
          <a:p>
            <a:pPr lvl="0"/>
            <a:endParaRPr lang="en-US" dirty="0"/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D3D9E4F7-6B7D-2205-75B9-EE8C54E89A5F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256855" y="677011"/>
            <a:ext cx="8710933" cy="378508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A00DC936-676C-1BAA-B4B4-D45CC5951D6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749315" y="4681864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11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28148346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Visua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6A0FA445-7602-F06E-EC73-5504EBF827C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3592" y="4536078"/>
            <a:ext cx="2130670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174" y="7163"/>
            <a:ext cx="8742364" cy="527013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Visual Content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4B682B8-2171-423F-A77B-10BADD07BC6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662488" y="685799"/>
            <a:ext cx="4337050" cy="3815859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1EE9992-B6F6-08BF-BFB5-6AF6BEDE367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2075" y="685800"/>
            <a:ext cx="4449763" cy="3815859"/>
          </a:xfrm>
          <a:prstGeom prst="rect">
            <a:avLst/>
          </a:prstGeom>
        </p:spPr>
        <p:txBody>
          <a:bodyPr/>
          <a:lstStyle>
            <a:lvl1pPr>
              <a:defRPr sz="1800" b="1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6D03683B-7C4B-D474-74C5-EC53E3BB515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781065" y="4729530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11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9440596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Data Visualiz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6A0FA445-7602-F06E-EC73-5504EBF827C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3592" y="4536078"/>
            <a:ext cx="2104294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174" y="7163"/>
            <a:ext cx="8640764" cy="527013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Data Visualization</a:t>
            </a:r>
          </a:p>
        </p:txBody>
      </p:sp>
      <p:sp>
        <p:nvSpPr>
          <p:cNvPr id="5" name="Chart Placeholder 4">
            <a:extLst>
              <a:ext uri="{FF2B5EF4-FFF2-40B4-BE49-F238E27FC236}">
                <a16:creationId xmlns:a16="http://schemas.microsoft.com/office/drawing/2014/main" id="{A686C49F-4337-BBE6-FF21-682B01E38601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4572000" y="685597"/>
            <a:ext cx="4325938" cy="377834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B730E7-C68E-A3E8-1745-8AF89C786D5F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136525" y="678433"/>
            <a:ext cx="4237038" cy="3785513"/>
          </a:xfrm>
          <a:prstGeom prst="rect">
            <a:avLst/>
          </a:prstGeom>
        </p:spPr>
        <p:txBody>
          <a:bodyPr/>
          <a:lstStyle>
            <a:lvl1pPr>
              <a:defRPr sz="1800" b="1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A1231DFE-6A5A-950E-159E-9E1D3D45FD3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679465" y="4681864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9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4735494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D36A0E4-7374-4A92-CEC2-AC1CC29B855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180492" y="171206"/>
            <a:ext cx="3978520" cy="1314694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pic>
        <p:nvPicPr>
          <p:cNvPr id="5" name="Image 0" descr="/home/claude/eo-framework-logo.png">
            <a:extLst>
              <a:ext uri="{FF2B5EF4-FFF2-40B4-BE49-F238E27FC236}">
                <a16:creationId xmlns:a16="http://schemas.microsoft.com/office/drawing/2014/main" id="{028AFAE3-D949-BFF8-132D-C3956962B6B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ABC2FEB1-3552-40B4-D5D2-8C9A2DF4EF3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36356" y="2247927"/>
            <a:ext cx="7671288" cy="52705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ts val="3600"/>
              </a:lnSpc>
              <a:buNone/>
              <a:defRPr sz="3600" b="1" i="0" baseline="0">
                <a:latin typeface="Arial" panose="020B0604020202020204" pitchFamily="34" charset="0"/>
              </a:defRPr>
            </a:lvl1pPr>
          </a:lstStyle>
          <a:p>
            <a:pPr marL="0" indent="0" algn="ctr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</a:p>
          <a:p>
            <a:pPr marL="0" indent="0" algn="ctr">
              <a:lnSpc>
                <a:spcPts val="3600"/>
              </a:lnSpc>
              <a:buNone/>
            </a:pPr>
            <a:endParaRPr lang="en-US" sz="3600" dirty="0"/>
          </a:p>
        </p:txBody>
      </p:sp>
      <p:sp>
        <p:nvSpPr>
          <p:cNvPr id="7" name="Picture Placeholder 13">
            <a:extLst>
              <a:ext uri="{FF2B5EF4-FFF2-40B4-BE49-F238E27FC236}">
                <a16:creationId xmlns:a16="http://schemas.microsoft.com/office/drawing/2014/main" id="{86145EB1-48C8-058E-F657-82D57B57954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2" y="4536078"/>
            <a:ext cx="2164114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8" name="Text 0">
            <a:extLst>
              <a:ext uri="{FF2B5EF4-FFF2-40B4-BE49-F238E27FC236}">
                <a16:creationId xmlns:a16="http://schemas.microsoft.com/office/drawing/2014/main" id="{D51056DC-8081-0916-0351-65D88D1682B8}"/>
              </a:ext>
            </a:extLst>
          </p:cNvPr>
          <p:cNvSpPr/>
          <p:nvPr userDrawn="1"/>
        </p:nvSpPr>
        <p:spPr>
          <a:xfrm>
            <a:off x="2224455" y="1676475"/>
            <a:ext cx="3886322" cy="45719"/>
          </a:xfrm>
          <a:prstGeom prst="roundRect">
            <a:avLst>
              <a:gd name="adj" fmla="val 50000"/>
            </a:avLst>
          </a:prstGeom>
          <a:solidFill>
            <a:srgbClr val="CC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C531180-94E5-3403-56E5-895E003A9D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24304" y="1874962"/>
            <a:ext cx="6629399" cy="334598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1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1800" dirty="0"/>
          </a:p>
        </p:txBody>
      </p:sp>
      <p:sp>
        <p:nvSpPr>
          <p:cNvPr id="2" name="Text 3">
            <a:extLst>
              <a:ext uri="{FF2B5EF4-FFF2-40B4-BE49-F238E27FC236}">
                <a16:creationId xmlns:a16="http://schemas.microsoft.com/office/drawing/2014/main" id="{5727805F-2A15-11D3-243F-1AE09D6E973E}"/>
              </a:ext>
            </a:extLst>
          </p:cNvPr>
          <p:cNvSpPr/>
          <p:nvPr userDrawn="1"/>
        </p:nvSpPr>
        <p:spPr>
          <a:xfrm>
            <a:off x="3312808" y="4536078"/>
            <a:ext cx="2797969" cy="529698"/>
          </a:xfrm>
          <a:prstGeom prst="roundRect">
            <a:avLst>
              <a:gd name="adj" fmla="val 14286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4">
            <a:extLst>
              <a:ext uri="{FF2B5EF4-FFF2-40B4-BE49-F238E27FC236}">
                <a16:creationId xmlns:a16="http://schemas.microsoft.com/office/drawing/2014/main" id="{1034B79E-463D-8396-409E-62C28A2DEB04}"/>
              </a:ext>
            </a:extLst>
          </p:cNvPr>
          <p:cNvSpPr/>
          <p:nvPr userDrawn="1"/>
        </p:nvSpPr>
        <p:spPr>
          <a:xfrm>
            <a:off x="3614735" y="4667577"/>
            <a:ext cx="207668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bg2">
                    <a:lumMod val="7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www.eoframework.org</a:t>
            </a:r>
            <a:endParaRPr lang="en-US" sz="15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2DED039B-C555-DCF4-1CA7-CA1E4482378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68165" y="3131272"/>
            <a:ext cx="8480181" cy="334598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8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spcAft>
                <a:spcPts val="1200"/>
              </a:spcAft>
            </a:pPr>
            <a:r>
              <a:rPr lang="en-US" sz="1800" b="1" dirty="0">
                <a:solidFill>
                  <a:srgbClr val="000000"/>
                </a:solidFill>
              </a:rPr>
              <a:t>Account Manager:</a:t>
            </a:r>
            <a:r>
              <a:rPr lang="en-US" sz="1800" dirty="0">
                <a:solidFill>
                  <a:srgbClr val="000000"/>
                </a:solidFill>
              </a:rPr>
              <a:t> [Name, Title] | [Email] | [Phone]</a:t>
            </a:r>
          </a:p>
        </p:txBody>
      </p:sp>
    </p:spTree>
    <p:extLst>
      <p:ext uri="{BB962C8B-B14F-4D97-AF65-F5344CB8AC3E}">
        <p14:creationId xmlns:p14="http://schemas.microsoft.com/office/powerpoint/2010/main" val="382102005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3" r:id="rId2"/>
    <p:sldLayoutId id="2147483659" r:id="rId3"/>
    <p:sldLayoutId id="2147483654" r:id="rId4"/>
    <p:sldLayoutId id="2147483655" r:id="rId5"/>
    <p:sldLayoutId id="2147483656" r:id="rId6"/>
    <p:sldLayoutId id="2147483657" r:id="rId7"/>
    <p:sldLayoutId id="2147483658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Solution Briefing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Azure Document Intelligence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['Presenter Name'] | November 22, 2025</a:t>
            </a:r>
          </a:p>
        </p:txBody>
      </p:sp>
      <p:pic>
        <p:nvPicPr>
          <p:cNvPr id="7" name="Picture 6" descr="clien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0492" y="171206"/>
            <a:ext cx="3978520" cy="1314694"/>
          </a:xfrm>
          <a:prstGeom prst="rect">
            <a:avLst/>
          </a:prstGeom>
        </p:spPr>
      </p:pic>
      <p:pic>
        <p:nvPicPr>
          <p:cNvPr id="8" name="Picture 7" descr="consulting_company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591" y="4536078"/>
            <a:ext cx="2099897" cy="529698"/>
          </a:xfrm>
          <a:prstGeom prst="rect">
            <a:avLst/>
          </a:prstGeom>
        </p:spPr>
      </p:pic>
      <p:pic>
        <p:nvPicPr>
          <p:cNvPr id="9" name="Picture 8" descr="eo-framework-logo-r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4264" y="4535424"/>
            <a:ext cx="2139696" cy="53035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Business Opportunity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pPr/>
            <a:r>
              <a:rPr b="1"/>
              <a:t>Opportunity</a:t>
            </a:r>
          </a:p>
          <a:p>
            <a:pPr lvl="1"/>
            <a:r>
              <a:t>Eliminate manual data entry and reduce document processing time by 80% with AI-powered extraction</a:t>
            </a:r>
          </a:p>
          <a:p>
            <a:pPr lvl="1"/>
            <a:r>
              <a:t>Achieve 95%+ accuracy using pre-built and custom models trained on your document types</a:t>
            </a:r>
          </a:p>
          <a:p>
            <a:pPr lvl="1"/>
            <a:r>
              <a:t>Scale document processing automatically to handle peak volumes without additional staffing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pPr/>
            <a:r>
              <a:rPr b="1"/>
              <a:t>Success Criteria</a:t>
            </a:r>
          </a:p>
          <a:p>
            <a:pPr lvl="1"/>
            <a:r>
              <a:t>85% reduction in manual data entry with measurable FTE savings within 6 months</a:t>
            </a:r>
          </a:p>
          <a:p>
            <a:pPr lvl="1"/>
            <a:r>
              <a:t>95%+ extraction accuracy validated against business-critical document types</a:t>
            </a:r>
          </a:p>
          <a:p>
            <a:pPr lvl="1"/>
            <a:r>
              <a:t>Full integration with existing LOB systems (ERP, CRM, SharePoint) operational by Month 4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Azure Document Intelligence</a:t>
            </a:r>
          </a:p>
        </p:txBody>
      </p:sp>
      <p:pic>
        <p:nvPicPr>
          <p:cNvPr id="7" name="Picture 6" descr="consulting_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92" y="4536078"/>
            <a:ext cx="2121877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Engagement Scope</a:t>
            </a:r>
          </a:p>
        </p:txBody>
      </p:sp>
      <p:graphicFrame>
        <p:nvGraphicFramePr>
          <p:cNvPr id="4" name="Table Placeholder 3"/>
          <p:cNvGraphicFramePr>
            <a:graphicFrameLocks noGrp="1"/>
          </p:cNvGraphicFramePr>
          <p:nvPr>
            <p:ph type="tbl" idx="14" sz="quarter"/>
          </p:nvPr>
        </p:nvGraphicFramePr>
        <p:xfrm>
          <a:off x="256855" y="677011"/>
          <a:ext cx="8710929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7967"/>
                <a:gridCol w="2526170"/>
                <a:gridCol w="435546"/>
                <a:gridCol w="1567967"/>
                <a:gridCol w="2613279"/>
              </a:tblGrid>
              <a:tr h="3708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Parameter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Scope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Parameter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Scope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Document Types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3 document types (invoices receipts forms)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Availability Requirements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Standard (99.5%)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AI/ML Complexity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Azure Document Intelligence pre-built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Infrastructure Complexity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Serverless (Functions Blob Doc Intel)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External System Integrations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2 REST APIs (CRM ERP)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Security Requirements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RBAC encryption at rest/transit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Data Sources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Blob Storage and SharePoint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Compliance Frameworks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SOC2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Total Users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75 users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Accuracy Requirements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95%+ extraction accuracy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User Roles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3 roles (submitter reviewer admin)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Processing Speed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Batch processing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Document Processing Volume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2000 docs/month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Deployment Environments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2 environments (dev prod)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Data Storage Requirements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250 GB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Deployment Regions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Single Azure region (East US)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</a:tbl>
          </a:graphicData>
        </a:graphic>
      </p:graphicFrame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Azure Document Intelligence</a:t>
            </a:r>
          </a:p>
        </p:txBody>
      </p:sp>
      <p:pic>
        <p:nvPicPr>
          <p:cNvPr id="6" name="Picture 5" descr="consulting_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92" y="4536078"/>
            <a:ext cx="2126273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Solution Overview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pPr/>
            <a:r>
              <a:rPr b="1"/>
              <a:t>AI/ML Services</a:t>
            </a:r>
          </a:p>
          <a:p>
            <a:pPr lvl="1"/>
            <a:r>
              <a:t>Azure Document Intelligence for OCR, layout analysis, and structured data extraction</a:t>
            </a:r>
          </a:p>
          <a:p>
            <a:pPr lvl="1"/>
            <a:r>
              <a:t>Pre-built models for invoices, receipts, contracts, and identity documents</a:t>
            </a:r>
          </a:p>
          <a:p>
            <a:pPr lvl="1"/>
            <a:r>
              <a:t>Custom models trained on your specific document types and business rules</a:t>
            </a:r>
          </a:p>
          <a:p>
            <a:pPr/>
            <a:r>
              <a:rPr b="1"/>
              <a:t>Platform Architecture</a:t>
            </a:r>
          </a:p>
          <a:p>
            <a:pPr lvl="1"/>
            <a:r>
              <a:t>Azure Functions for serverless document processing workflows</a:t>
            </a:r>
          </a:p>
          <a:p>
            <a:pPr lvl="1"/>
            <a:r>
              <a:t>Cosmos DB for scalable metadata storage and extraction results</a:t>
            </a:r>
          </a:p>
          <a:p>
            <a:pPr lvl="1"/>
            <a:r>
              <a:t>Azure Blob Storage for secure document ingestion and archival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Azure Document Intelligence</a:t>
            </a:r>
          </a:p>
        </p:txBody>
      </p:sp>
      <p:pic>
        <p:nvPicPr>
          <p:cNvPr id="7" name="Picture 6" descr="architecture-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2488" y="685799"/>
            <a:ext cx="4337050" cy="3815859"/>
          </a:xfrm>
          <a:prstGeom prst="rect">
            <a:avLst/>
          </a:prstGeom>
          <a:ln w="12700">
            <a:solidFill>
              <a:srgbClr val="C0C0C0"/>
            </a:solidFill>
            <a:prstDash val="solid"/>
          </a:ln>
        </p:spPr>
      </p:pic>
      <p:pic>
        <p:nvPicPr>
          <p:cNvPr id="8" name="Picture 7" descr="consulting_company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592" y="4536078"/>
            <a:ext cx="2130670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Implementation Approach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Phase 1: Foundation &amp; Model Training (Months 1-2)</a:t>
            </a:r>
          </a:p>
          <a:p>
            <a:pPr lvl="1"/>
            <a:r>
              <a:t>Deploy Azure Document Intelligence resource and configure security</a:t>
            </a:r>
          </a:p>
          <a:p>
            <a:pPr lvl="1"/>
            <a:r>
              <a:t>Analyze document samples and select appropriate pre-built models</a:t>
            </a:r>
          </a:p>
          <a:p>
            <a:pPr lvl="1"/>
            <a:r>
              <a:t>Train custom models for organization-specific document types</a:t>
            </a:r>
          </a:p>
          <a:p>
            <a:pPr/>
            <a:r>
              <a:rPr b="1"/>
              <a:t>Phase 2: Pipeline Development (Months 3-4)</a:t>
            </a:r>
          </a:p>
          <a:p>
            <a:pPr lvl="1"/>
            <a:r>
              <a:t>Build serverless processing pipeline with Azure Functions</a:t>
            </a:r>
          </a:p>
          <a:p>
            <a:pPr lvl="1"/>
            <a:r>
              <a:t>Implement confidence scoring and human review workflows</a:t>
            </a:r>
          </a:p>
          <a:p>
            <a:pPr lvl="1"/>
            <a:r>
              <a:t>Integrate with downstream systems via Logic Apps and APIs</a:t>
            </a:r>
          </a:p>
          <a:p>
            <a:pPr/>
            <a:r>
              <a:rPr b="1"/>
              <a:t>Phase 3: Optimization &amp; Scale (Months 5-6)</a:t>
            </a:r>
          </a:p>
          <a:p>
            <a:pPr lvl="1"/>
            <a:r>
              <a:t>Fine-tune models based on production accuracy metrics</a:t>
            </a:r>
          </a:p>
          <a:p>
            <a:pPr lvl="1"/>
            <a:r>
              <a:t>Implement advanced validation rules and exception handling</a:t>
            </a:r>
          </a:p>
          <a:p>
            <a:pPr lvl="1"/>
            <a:r>
              <a:t>Complete knowledge transfer and operations handover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Azure Document Intelligence</a:t>
            </a:r>
          </a:p>
        </p:txBody>
      </p:sp>
      <p:pic>
        <p:nvPicPr>
          <p:cNvPr id="6" name="Picture 5" descr="consulting_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93" y="4536078"/>
            <a:ext cx="2143858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Timeline &amp; Milestones</a:t>
            </a:r>
          </a:p>
        </p:txBody>
      </p:sp>
      <p:graphicFrame>
        <p:nvGraphicFramePr>
          <p:cNvPr id="4" name="Table Placeholder 3"/>
          <p:cNvGraphicFramePr>
            <a:graphicFrameLocks noGrp="1"/>
          </p:cNvGraphicFramePr>
          <p:nvPr>
            <p:ph type="tbl" idx="14" sz="quarter"/>
          </p:nvPr>
        </p:nvGraphicFramePr>
        <p:xfrm>
          <a:off x="256855" y="677011"/>
          <a:ext cx="8710931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1093"/>
                <a:gridCol w="2177733"/>
                <a:gridCol w="1306639"/>
                <a:gridCol w="4355466"/>
              </a:tblGrid>
              <a:tr h="3708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Phase No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Phase Description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Timeline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Key Deliverables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Phase 1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Foundation &amp; Model Training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Months 1-2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Azure environment configured, Document Intelligence models trained, Initial accuracy validated at 90%+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Phase 2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Pipeline Development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Months 3-4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Processing pipeline operational, LOB system integrations complete, Human review workflows functional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Phase 3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Optimization &amp; Scale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Months 5-6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Model accuracy optimized to 95%+, Full production deployment, Operations team trained and certified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</a:tbl>
          </a:graphicData>
        </a:graphic>
      </p:graphicFrame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Azure Document Intelligence</a:t>
            </a:r>
          </a:p>
        </p:txBody>
      </p:sp>
      <p:pic>
        <p:nvPicPr>
          <p:cNvPr id="6" name="Picture 5" descr="consulting_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92" y="4536078"/>
            <a:ext cx="2126273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Success Stories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Client Success: Regional Healthcare Provider</a:t>
            </a:r>
          </a:p>
          <a:p>
            <a:pPr lvl="1"/>
            <a:r>
              <a:rPr b="1"/>
              <a:t>Client:</a:t>
            </a:r>
            <a:r>
              <a:t> Mid-size healthcare network processing 50K+ documents monthly</a:t>
            </a:r>
          </a:p>
          <a:p>
            <a:pPr lvl="1"/>
            <a:r>
              <a:rPr b="1"/>
              <a:t>Challenge:</a:t>
            </a:r>
            <a:r>
              <a:t> 8 FTEs manual data entry, 72-hour backlog, 15% error rate causing compliance issues</a:t>
            </a:r>
          </a:p>
          <a:p>
            <a:pPr lvl="1"/>
            <a:r>
              <a:rPr b="1"/>
              <a:t>Solution:</a:t>
            </a:r>
            <a:r>
              <a:t> Document Intelligence with custom models for forms, claims, records</a:t>
            </a:r>
          </a:p>
          <a:p>
            <a:pPr lvl="1"/>
            <a:r>
              <a:rPr b="1"/>
              <a:t>Results:</a:t>
            </a:r>
            <a:r>
              <a:t> 85% manual reduction, 72hrs→4hrs processing, 97% accuracy, $420K savings</a:t>
            </a:r>
          </a:p>
          <a:p>
            <a:pPr lvl="1"/>
            <a:r>
              <a:rPr b="1"/>
              <a:t>Testimonial:</a:t>
            </a:r>
            <a:r>
              <a:t> "Document Intelligence transformed our patient onboarding. What took 3 days now happens in hours with better accuracy." — </a:t>
            </a:r>
            <a:r>
              <a:rPr b="1"/>
              <a:t>Sarah Mitchell, VP Operations</a:t>
            </a:r>
            <a:r>
              <a:t>, Regional Healthcare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Azure Document Intelligence</a:t>
            </a:r>
          </a:p>
        </p:txBody>
      </p:sp>
      <p:pic>
        <p:nvPicPr>
          <p:cNvPr id="6" name="Picture 5" descr="consulting_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93" y="4536078"/>
            <a:ext cx="2143858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Our Partnership Advantage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pPr/>
            <a:r>
              <a:rPr b="1"/>
              <a:t>What We Bring</a:t>
            </a:r>
          </a:p>
          <a:p>
            <a:pPr lvl="1"/>
            <a:r>
              <a:t>Microsoft Solutions Partner with AI and Data specialization</a:t>
            </a:r>
          </a:p>
          <a:p>
            <a:pPr lvl="1"/>
            <a:r>
              <a:t>50+ Azure Document Intelligence deployments across healthcare, finance, and insurance</a:t>
            </a:r>
          </a:p>
          <a:p>
            <a:pPr lvl="1"/>
            <a:r>
              <a:t>Certified Azure AI Engineers with custom model training expertise</a:t>
            </a:r>
          </a:p>
          <a:p>
            <a:pPr lvl="1"/>
            <a:r>
              <a:t>Pre-built accelerators for common document types and integrations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pPr/>
            <a:r>
              <a:rPr b="1"/>
              <a:t>Value to You</a:t>
            </a:r>
          </a:p>
          <a:p>
            <a:pPr lvl="1"/>
            <a:r>
              <a:t>Proven deployment methodology reduces risk and accelerates time-to-value</a:t>
            </a:r>
          </a:p>
          <a:p>
            <a:pPr lvl="1"/>
            <a:r>
              <a:t>Pre-trained model templates for invoices, contracts, and forms</a:t>
            </a:r>
          </a:p>
          <a:p>
            <a:pPr lvl="1"/>
            <a:r>
              <a:t>Best practices from 50+ similar implementations</a:t>
            </a:r>
          </a:p>
          <a:p>
            <a:pPr lvl="1"/>
            <a:r>
              <a:t>Comprehensive knowledge transfer ensures team self-sufficiency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Azure Document Intelligence</a:t>
            </a:r>
          </a:p>
        </p:txBody>
      </p:sp>
      <p:pic>
        <p:nvPicPr>
          <p:cNvPr id="7" name="Picture 6" descr="consulting_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92" y="4536078"/>
            <a:ext cx="2121877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Investment Summary</a:t>
            </a:r>
          </a:p>
        </p:txBody>
      </p:sp>
      <p:graphicFrame>
        <p:nvGraphicFramePr>
          <p:cNvPr id="4" name="Table Placeholder 3"/>
          <p:cNvGraphicFramePr>
            <a:graphicFrameLocks noGrp="1"/>
          </p:cNvGraphicFramePr>
          <p:nvPr>
            <p:ph type="tbl" idx="14" sz="quarter"/>
          </p:nvPr>
        </p:nvGraphicFramePr>
        <p:xfrm>
          <a:off x="256855" y="677011"/>
          <a:ext cx="871093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7920"/>
                <a:gridCol w="1198752"/>
                <a:gridCol w="1198752"/>
                <a:gridCol w="1198752"/>
                <a:gridCol w="959001"/>
                <a:gridCol w="959001"/>
                <a:gridCol w="1198752"/>
              </a:tblGrid>
              <a:tr h="3708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Cost Category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Year 1 List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Year 1 Credits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Year 1 Net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Year 2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Year 3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3-Year Total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Professional Services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$82,250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($10,000)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$72,250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$72,250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Cloud Infrastructure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$18,528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($3,690)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$14,838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$18,528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$18,528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$51,894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Software Licenses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$2,904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$2,904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$2,904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$2,904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$8,712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Support &amp; Maintenance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$2,676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$2,676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$2,676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$2,676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$8,028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TOTAL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$106,358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($13,690)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$92,668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$24,108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$24,108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$140,884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</a:tbl>
          </a:graphicData>
        </a:graphic>
      </p:graphicFrame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Azure Document Intelligence</a:t>
            </a:r>
          </a:p>
        </p:txBody>
      </p:sp>
      <p:pic>
        <p:nvPicPr>
          <p:cNvPr id="6" name="Picture 5" descr="consulting_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92" y="4536078"/>
            <a:ext cx="2126273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Next Steps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Decision:</a:t>
            </a:r>
            <a:r>
              <a:t> SOW approval and contract execution by [Target Date]</a:t>
            </a:r>
          </a:p>
          <a:p>
            <a:pPr/>
            <a:r>
              <a:rPr b="1"/>
              <a:t>Kickoff:</a:t>
            </a:r>
            <a:r>
              <a:t> Project initiation scheduled for [Start Date] with team formation</a:t>
            </a:r>
          </a:p>
          <a:p>
            <a:pPr/>
            <a:r>
              <a:rPr b="1"/>
              <a:t>Document Samples:</a:t>
            </a:r>
            <a:r>
              <a:t> Provide 50+ samples per document type for model training accuracy</a:t>
            </a:r>
          </a:p>
          <a:p>
            <a:pPr/>
            <a:r>
              <a:rPr b="1"/>
              <a:t>Week 1-2:</a:t>
            </a:r>
            <a:r>
              <a:t> Azure environment setup, security configuration, and model selection workshop</a:t>
            </a:r>
          </a:p>
          <a:p>
            <a:pPr/>
            <a:r>
              <a:rPr b="1"/>
              <a:t>Week 3-4:</a:t>
            </a:r>
            <a:r>
              <a:t> Model training with sample documents and first automated extractions validated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Azure Document Intelligence</a:t>
            </a:r>
          </a:p>
        </p:txBody>
      </p:sp>
      <p:pic>
        <p:nvPicPr>
          <p:cNvPr id="6" name="Picture 5" descr="consulting_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93" y="4536078"/>
            <a:ext cx="2143858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  <p:pic>
        <p:nvPicPr>
          <p:cNvPr id="7" name="Picture 6" descr="clien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0492" y="171206"/>
            <a:ext cx="3978520" cy="1314694"/>
          </a:xfrm>
          <a:prstGeom prst="rect">
            <a:avLst/>
          </a:prstGeom>
        </p:spPr>
      </p:pic>
      <p:pic>
        <p:nvPicPr>
          <p:cNvPr id="8" name="Picture 7" descr="consulting_company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592" y="4536078"/>
            <a:ext cx="2164114" cy="529698"/>
          </a:xfrm>
          <a:prstGeom prst="rect">
            <a:avLst/>
          </a:prstGeom>
        </p:spPr>
      </p:pic>
      <p:pic>
        <p:nvPicPr>
          <p:cNvPr id="9" name="Picture 8" descr="eo-framework-logo-r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4264" y="4535424"/>
            <a:ext cx="2139696" cy="53035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440</TotalTime>
  <Words>42</Words>
  <Application>Microsoft Office PowerPoint</Application>
  <PresentationFormat>On-screen Show (16:9)</PresentationFormat>
  <Paragraphs>21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Aptos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EOFramework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EOFramework Template</dc:title>
  <dc:subject>PptxGenJS Presentation</dc:subject>
  <dc:creator>EOFramework</dc:creator>
  <cp:lastModifiedBy>Kishan Siram</cp:lastModifiedBy>
  <cp:revision>85</cp:revision>
  <dcterms:created xsi:type="dcterms:W3CDTF">2025-11-01T21:16:10Z</dcterms:created>
  <dcterms:modified xsi:type="dcterms:W3CDTF">2025-11-22T23:24:48Z</dcterms:modified>
</cp:coreProperties>
</file>