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*Opening Statement:*</a:t>
            </a:r>
          </a:p>
          <a:p>
            <a:r>
              <a:t>Good [morning/afternoon]. Today we're celebrating the successful completion of the Google Workspace deployment. This project has transformed [Client Name]'s productivity infrastructure from aging Exchange servers and file servers to a modern, cloud-native collaboration platform serving 500 users.</a:t>
            </a:r>
          </a:p>
          <a:p/>
          <a:p>
            <a:r>
              <a:t>*Key Talking Points - Expand on Each Bullet:*</a:t>
            </a:r>
          </a:p>
          <a:p/>
          <a:p>
            <a:r>
              <a:t>**Project Duration - 12 Weeks:**</a:t>
            </a:r>
          </a:p>
          <a:p>
            <a:r>
              <a:t>- Executed exactly as planned in the Statement of Work</a:t>
            </a:r>
          </a:p>
          <a:p>
            <a:r>
              <a:t>- Phase 1 (Planning &amp; Pilot): Weeks 1-5 - Environment setup, SSO, pilot migration</a:t>
            </a:r>
          </a:p>
          <a:p>
            <a:r>
              <a:t>- Phase 2 (Phased Migration): Weeks 6-10 - 5 waves of 95 users each</a:t>
            </a:r>
          </a:p>
          <a:p>
            <a:r>
              <a:t>- Phase 3 (Training &amp; Adoption): Weeks 8-12 - Training and hypercare</a:t>
            </a:r>
          </a:p>
          <a:p>
            <a:r>
              <a:t>- No schedule slippage despite Exchange coexistence complexity</a:t>
            </a:r>
          </a:p>
          <a:p/>
          <a:p>
            <a:r>
              <a:t>**Budget - $105,200 Net:**</a:t>
            </a:r>
          </a:p>
          <a:p>
            <a:r>
              <a:t>- Software Licenses: $105,200 (500 users at $18/month after credits)</a:t>
            </a:r>
          </a:p>
          <a:p>
            <a:r>
              <a:t>- Google Workspace Promotional Credits: $10,000 applied</a:t>
            </a:r>
          </a:p>
          <a:p>
            <a:r>
              <a:t>- Partner Migration Credit: $3,000 applied to services</a:t>
            </a:r>
          </a:p>
          <a:p>
            <a:r>
              <a:t>- Actual spend: $105,142 - under budget</a:t>
            </a:r>
          </a:p>
          <a:p/>
          <a:p>
            <a:r>
              <a:t>**Zero Data Loss:**</a:t>
            </a:r>
          </a:p>
          <a:p>
            <a:r>
              <a:t>- 2.5 TB email migrated with 100% integrity</a:t>
            </a:r>
          </a:p>
          <a:p>
            <a:r>
              <a:t>- 3 TB files transferred with permissions preserved</a:t>
            </a:r>
          </a:p>
          <a:p>
            <a:r>
              <a:t>- All 150 distribution lists converted to Google Groups</a:t>
            </a:r>
          </a:p>
          <a:p>
            <a:r>
              <a:t>- Calendar and contacts fully migrated</a:t>
            </a:r>
          </a:p>
          <a:p/>
          <a:p>
            <a:r>
              <a:t>**User Adoption - 97%:**</a:t>
            </a:r>
          </a:p>
          <a:p>
            <a:r>
              <a:t>- Target was 95% daily active users within 90 days</a:t>
            </a:r>
          </a:p>
          <a:p>
            <a:r>
              <a:t>- Achieved 97% within 60 days of go-live</a:t>
            </a:r>
          </a:p>
          <a:p>
            <a:r>
              <a:t>- User satisfaction score: 4.6/5 (target 4.5/5)</a:t>
            </a:r>
          </a:p>
          <a:p>
            <a:r>
              <a:t>- Support tickets 40% below projected volume</a:t>
            </a:r>
          </a:p>
          <a:p/>
          <a:p>
            <a:r>
              <a:t>*Transition to Next Slide:*</a:t>
            </a:r>
          </a:p>
          <a:p>
            <a:r>
              <a:t>"Let me walk you through exactly what we built together..."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*Architecture Overview - Walk Through the Diagram:*</a:t>
            </a:r>
          </a:p>
          <a:p/>
          <a:p>
            <a:r>
              <a:t>"This diagram shows the production Google Workspace architecture we deployed. Let me walk through the key components..."</a:t>
            </a:r>
          </a:p>
          <a:p/>
          <a:p>
            <a:r>
              <a:t>**Core Workspace Applications:**</a:t>
            </a:r>
          </a:p>
          <a:p>
            <a:r>
              <a:t>- Gmail: 500 mailboxes with 30 GB storage each, unified inbox</a:t>
            </a:r>
          </a:p>
          <a:p>
            <a:r>
              <a:t>- Google Drive: 5 TB per user with Shared Drives for team collaboration</a:t>
            </a:r>
          </a:p>
          <a:p>
            <a:r>
              <a:t>- Google Docs/Sheets/Slides: Real-time co-editing replacing email attachments</a:t>
            </a:r>
          </a:p>
          <a:p>
            <a:r>
              <a:t>- Google Meet: Video conferencing up to 500 participants with recording</a:t>
            </a:r>
          </a:p>
          <a:p>
            <a:r>
              <a:t>- Google Chat: Team messaging with Spaces for project collaboration</a:t>
            </a:r>
          </a:p>
          <a:p>
            <a:r>
              <a:t>- Google Calendar: Shared calendars with room booking integration</a:t>
            </a:r>
          </a:p>
          <a:p/>
          <a:p>
            <a:r>
              <a:t>**Security &amp; Identity Layer:**</a:t>
            </a:r>
          </a:p>
          <a:p>
            <a:r>
              <a:t>- Cloud Identity Premium for user management</a:t>
            </a:r>
          </a:p>
          <a:p>
            <a:r>
              <a:t>- SAML SSO with Azure AD for seamless authentication</a:t>
            </a:r>
          </a:p>
          <a:p>
            <a:r>
              <a:t>- Google Cloud Directory Sync (GCDS) for automated provisioning</a:t>
            </a:r>
          </a:p>
          <a:p>
            <a:r>
              <a:t>- 2-Step Verification enforced for all 500 users</a:t>
            </a:r>
          </a:p>
          <a:p>
            <a:r>
              <a:t>- Data Loss Prevention policies active (PII, financial data)</a:t>
            </a:r>
          </a:p>
          <a:p>
            <a:r>
              <a:t>- Mobile device management for 300+ managed devices</a:t>
            </a:r>
          </a:p>
          <a:p/>
          <a:p>
            <a:r>
              <a:t>**Compliance &amp; Governance Layer:**</a:t>
            </a:r>
          </a:p>
          <a:p>
            <a:r>
              <a:t>- Google Vault with 7-year retention policy</a:t>
            </a:r>
          </a:p>
          <a:p>
            <a:r>
              <a:t>- Legal hold capabilities for eDiscovery</a:t>
            </a:r>
          </a:p>
          <a:p>
            <a:r>
              <a:t>- Audit logs for all user and admin activity</a:t>
            </a:r>
          </a:p>
          <a:p>
            <a:r>
              <a:t>- External sharing controls with domain allowlist</a:t>
            </a:r>
          </a:p>
          <a:p/>
          <a:p>
            <a:r>
              <a:t>**Migration Infrastructure:**</a:t>
            </a:r>
          </a:p>
          <a:p>
            <a:r>
              <a:t>- Google Workspace Migration Tool for Exchange migration</a:t>
            </a:r>
          </a:p>
          <a:p>
            <a:r>
              <a:t>- Migration for Drive for file server transfer</a:t>
            </a:r>
          </a:p>
          <a:p>
            <a:r>
              <a:t>- Custom scripts for distribution list conversion</a:t>
            </a:r>
          </a:p>
          <a:p/>
          <a:p>
            <a:r>
              <a:t>*Transition:*</a:t>
            </a:r>
          </a:p>
          <a:p>
            <a:r>
              <a:t>"Now let me show you the complete deliverables package we're handing over..."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*Deliverables Deep Dive - Review Each Item:*</a:t>
            </a:r>
          </a:p>
          <a:p/>
          <a:p>
            <a:r>
              <a:t>**1. Migration Assessment Report:**</a:t>
            </a:r>
          </a:p>
          <a:p>
            <a:r>
              <a:t>- Exchange environment analysis (500 mailboxes, 2.5 TB)</a:t>
            </a:r>
          </a:p>
          <a:p>
            <a:r>
              <a:t>- File server inventory (3 TB across 12 shared folders)</a:t>
            </a:r>
          </a:p>
          <a:p>
            <a:r>
              <a:t>- Distribution list mapping (150 groups)</a:t>
            </a:r>
          </a:p>
          <a:p>
            <a:r>
              <a:t>- User readiness assessment results</a:t>
            </a:r>
          </a:p>
          <a:p>
            <a:r>
              <a:t>- Accepted by [IT Lead] on [Date]</a:t>
            </a:r>
          </a:p>
          <a:p/>
          <a:p>
            <a:r>
              <a:t>**2. Detailed Design Document:**</a:t>
            </a:r>
          </a:p>
          <a:p>
            <a:r>
              <a:t>- Google Workspace tenant configuration</a:t>
            </a:r>
          </a:p>
          <a:p>
            <a:r>
              <a:t>- Azure AD SSO integration architecture</a:t>
            </a:r>
          </a:p>
          <a:p>
            <a:r>
              <a:t>- DLP policy specifications</a:t>
            </a:r>
          </a:p>
          <a:p>
            <a:r>
              <a:t>- Mobile management policy design</a:t>
            </a:r>
          </a:p>
          <a:p>
            <a:r>
              <a:t>- Security baseline configuration</a:t>
            </a:r>
          </a:p>
          <a:p/>
          <a:p>
            <a:r>
              <a:t>**3. Implementation Guide:**</a:t>
            </a:r>
          </a:p>
          <a:p>
            <a:r>
              <a:t>- Step-by-step migration procedures</a:t>
            </a:r>
          </a:p>
          <a:p>
            <a:r>
              <a:t>- GWMT configuration for Exchange migration</a:t>
            </a:r>
          </a:p>
          <a:p>
            <a:r>
              <a:t>- File migration with permission mapping</a:t>
            </a:r>
          </a:p>
          <a:p>
            <a:r>
              <a:t>- Rollback procedures documented</a:t>
            </a:r>
          </a:p>
          <a:p/>
          <a:p>
            <a:r>
              <a:t>**4. Project Plan:**</a:t>
            </a:r>
          </a:p>
          <a:p>
            <a:r>
              <a:t>- Four worksheets: Timeline, Milestones, RACI, Communications</a:t>
            </a:r>
          </a:p>
          <a:p>
            <a:r>
              <a:t>- 5-wave migration schedule documented</a:t>
            </a:r>
          </a:p>
          <a:p>
            <a:r>
              <a:t>- All milestones achieved on schedule</a:t>
            </a:r>
          </a:p>
          <a:p/>
          <a:p>
            <a:r>
              <a:t>**5. Test Plan &amp; Results:**</a:t>
            </a:r>
          </a:p>
          <a:p>
            <a:r>
              <a:t>- Migration validation tests: 100% pass</a:t>
            </a:r>
          </a:p>
          <a:p>
            <a:r>
              <a:t>- SSO authentication testing: Validated</a:t>
            </a:r>
          </a:p>
          <a:p>
            <a:r>
              <a:t>- User acceptance testing: 25 pilot users signed off</a:t>
            </a:r>
          </a:p>
          <a:p/>
          <a:p>
            <a:r>
              <a:t>**6. Operations Runbook:**</a:t>
            </a:r>
          </a:p>
          <a:p>
            <a:r>
              <a:t>- Daily health check procedures</a:t>
            </a:r>
          </a:p>
          <a:p>
            <a:r>
              <a:t>- User onboarding/offboarding workflows</a:t>
            </a:r>
          </a:p>
          <a:p>
            <a:r>
              <a:t>- Password reset and account recovery</a:t>
            </a:r>
          </a:p>
          <a:p>
            <a:r>
              <a:t>- Troubleshooting decision trees</a:t>
            </a:r>
          </a:p>
          <a:p/>
          <a:p>
            <a:r>
              <a:t>**7. Training Materials:**</a:t>
            </a:r>
          </a:p>
          <a:p>
            <a:r>
              <a:t>- End-user quick start guides (Gmail, Drive, Docs, Meet)</a:t>
            </a:r>
          </a:p>
          <a:p>
            <a:r>
              <a:t>- Admin training for Google Admin Console</a:t>
            </a:r>
          </a:p>
          <a:p>
            <a:r>
              <a:t>- Video recordings: 10 sessions, 15 hours total</a:t>
            </a:r>
          </a:p>
          <a:p>
            <a:r>
              <a:t>- Change champion enablement materials</a:t>
            </a:r>
          </a:p>
          <a:p/>
          <a:p>
            <a:r>
              <a:t>*Training Sessions Delivered:*</a:t>
            </a:r>
          </a:p>
          <a:p>
            <a:r>
              <a:t>- End-user sessions: 10 sessions, 450 attendees</a:t>
            </a:r>
          </a:p>
          <a:p>
            <a:r>
              <a:t>- Admin training: 3 sessions, 12 IT staff</a:t>
            </a:r>
          </a:p>
          <a:p>
            <a:r>
              <a:t>- Change champion training: 2 sessions, 25 champions</a:t>
            </a:r>
          </a:p>
          <a:p/>
          <a:p>
            <a:r>
              <a:t>*Transition:*</a:t>
            </a:r>
          </a:p>
          <a:p>
            <a:r>
              <a:t>"Let's look at how the platform is performing against our targets..."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*Quality &amp; Performance Deep Dive:*</a:t>
            </a:r>
          </a:p>
          <a:p/>
          <a:p>
            <a:r>
              <a:t>**Migration Metrics - Detailed Breakdown:**</a:t>
            </a:r>
          </a:p>
          <a:p/>
          <a:p>
            <a:r>
              <a:t>*Mailbox Migration: 100% Success Rate*</a:t>
            </a:r>
          </a:p>
          <a:p>
            <a:r>
              <a:t>- 500 mailboxes migrated over 5 waves</a:t>
            </a:r>
          </a:p>
          <a:p>
            <a:r>
              <a:t>- 2.5 TB total email data transferred</a:t>
            </a:r>
          </a:p>
          <a:p>
            <a:r>
              <a:t>- Average mailbox size: 5 GB</a:t>
            </a:r>
          </a:p>
          <a:p>
            <a:r>
              <a:t>- Largest mailbox: 25 GB (CEO)</a:t>
            </a:r>
          </a:p>
          <a:p>
            <a:r>
              <a:t>- Migration tool: GWMT with delta sync</a:t>
            </a:r>
          </a:p>
          <a:p>
            <a:r>
              <a:t>- Zero mailbox failures</a:t>
            </a:r>
          </a:p>
          <a:p/>
          <a:p>
            <a:r>
              <a:t>*File Migration: 100% Complete*</a:t>
            </a:r>
          </a:p>
          <a:p>
            <a:r>
              <a:t>- 3 TB migrated from 12 file server shares</a:t>
            </a:r>
          </a:p>
          <a:p>
            <a:r>
              <a:t>- 450,000 files transferred</a:t>
            </a:r>
          </a:p>
          <a:p>
            <a:r>
              <a:t>- Permission mapping: 98% automated, 2% manual review</a:t>
            </a:r>
          </a:p>
          <a:p>
            <a:r>
              <a:t>- Shared Drives created: 15</a:t>
            </a:r>
          </a:p>
          <a:p>
            <a:r>
              <a:t>- Average transfer rate: 150 GB/day</a:t>
            </a:r>
          </a:p>
          <a:p/>
          <a:p>
            <a:r>
              <a:t>*Distribution Lists: 150 Google Groups*</a:t>
            </a:r>
          </a:p>
          <a:p>
            <a:r>
              <a:t>- All 150 distribution lists converted</a:t>
            </a:r>
          </a:p>
          <a:p>
            <a:r>
              <a:t>- Membership preserved (8,500 total members)</a:t>
            </a:r>
          </a:p>
          <a:p>
            <a:r>
              <a:t>- External senders: Configured per policy</a:t>
            </a:r>
          </a:p>
          <a:p>
            <a:r>
              <a:t>- Moderation: Enabled for 12 groups</a:t>
            </a:r>
          </a:p>
          <a:p/>
          <a:p>
            <a:r>
              <a:t>**Platform Metrics - Detailed Analysis:**</a:t>
            </a:r>
          </a:p>
          <a:p/>
          <a:p>
            <a:r>
              <a:t>*User Adoption: 97% Daily Active Users*</a:t>
            </a:r>
          </a:p>
          <a:p>
            <a:r>
              <a:t>- Target: 95% within 90 days</a:t>
            </a:r>
          </a:p>
          <a:p>
            <a:r>
              <a:t>- Achieved: 97% within 60 days</a:t>
            </a:r>
          </a:p>
          <a:p>
            <a:r>
              <a:t>- Measurement: Google Admin Console usage reports</a:t>
            </a:r>
          </a:p>
          <a:p>
            <a:r>
              <a:t>- Active definition: Logged in within 24 hours</a:t>
            </a:r>
          </a:p>
          <a:p>
            <a:r>
              <a:t>- Highest adoption: Sales team (99%)</a:t>
            </a:r>
          </a:p>
          <a:p>
            <a:r>
              <a:t>- Lowest adoption: Finance team (94%)</a:t>
            </a:r>
          </a:p>
          <a:p/>
          <a:p>
            <a:r>
              <a:t>*User Satisfaction: 4.6/5*</a:t>
            </a:r>
          </a:p>
          <a:p>
            <a:r>
              <a:t>- Survey sent to all 500 users</a:t>
            </a:r>
          </a:p>
          <a:p>
            <a:r>
              <a:t>- 78% response rate (390 responses)</a:t>
            </a:r>
          </a:p>
          <a:p>
            <a:r>
              <a:t>- Gmail: 4.7/5</a:t>
            </a:r>
          </a:p>
          <a:p>
            <a:r>
              <a:t>- Drive: 4.5/5</a:t>
            </a:r>
          </a:p>
          <a:p>
            <a:r>
              <a:t>- Docs: 4.6/5</a:t>
            </a:r>
          </a:p>
          <a:p>
            <a:r>
              <a:t>- Meet: 4.8/5</a:t>
            </a:r>
          </a:p>
          <a:p>
            <a:r>
              <a:t>- Training: 4.4/5</a:t>
            </a:r>
          </a:p>
          <a:p/>
          <a:p>
            <a:r>
              <a:t>*Support Tickets: 40% Below Forecast*</a:t>
            </a:r>
          </a:p>
          <a:p>
            <a:r>
              <a:t>- Projected: 250 tickets in first 30 days</a:t>
            </a:r>
          </a:p>
          <a:p>
            <a:r>
              <a:t>- Actual: 148 tickets (40% reduction)</a:t>
            </a:r>
          </a:p>
          <a:p>
            <a:r>
              <a:t>- Most common: Password/login (resolved by SSO training)</a:t>
            </a:r>
          </a:p>
          <a:p>
            <a:r>
              <a:t>- Average resolution: 4 hours (target 8 hours)</a:t>
            </a:r>
          </a:p>
          <a:p/>
          <a:p>
            <a:r>
              <a:t>**Testing Summary:**</a:t>
            </a:r>
          </a:p>
          <a:p>
            <a:r>
              <a:t>- Test Cases Executed: 45 total</a:t>
            </a:r>
          </a:p>
          <a:p>
            <a:r>
              <a:t>- Pass Rate: 100%</a:t>
            </a:r>
          </a:p>
          <a:p>
            <a:r>
              <a:t>- Critical Defects at Go-Live: 0</a:t>
            </a:r>
          </a:p>
          <a:p/>
          <a:p>
            <a:r>
              <a:t>*Transition:*</a:t>
            </a:r>
          </a:p>
          <a:p>
            <a:r>
              <a:t>"These platform capabilities translate directly into business value..."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*Benefits Analysis - Detailed ROI Discussion:*</a:t>
            </a:r>
          </a:p>
          <a:p/>
          <a:p>
            <a:r>
              <a:t>**User Adoption - 97% in 60 Days:**</a:t>
            </a:r>
          </a:p>
          <a:p/>
          <a:p>
            <a:r>
              <a:t>*Before (Email-Centric):*</a:t>
            </a:r>
          </a:p>
          <a:p>
            <a:r>
              <a:t>- Average 50 email attachments sent per user per day</a:t>
            </a:r>
          </a:p>
          <a:p>
            <a:r>
              <a:t>- Version control issues causing rework</a:t>
            </a:r>
          </a:p>
          <a:p>
            <a:r>
              <a:t>- File locking on shared drives</a:t>
            </a:r>
          </a:p>
          <a:p>
            <a:r>
              <a:t>- VPN required for remote file access</a:t>
            </a:r>
          </a:p>
          <a:p/>
          <a:p>
            <a:r>
              <a:t>*After (Collaboration-First):*</a:t>
            </a:r>
          </a:p>
          <a:p>
            <a:r>
              <a:t>- Real-time co-editing in Google Docs</a:t>
            </a:r>
          </a:p>
          <a:p>
            <a:r>
              <a:t>- Shared Drives replacing file server shares</a:t>
            </a:r>
          </a:p>
          <a:p>
            <a:r>
              <a:t>- Native mobile apps without VPN</a:t>
            </a:r>
          </a:p>
          <a:p>
            <a:r>
              <a:t>- Meet replacing phone conferences</a:t>
            </a:r>
          </a:p>
          <a:p/>
          <a:p>
            <a:r>
              <a:t>*Business Impact:*</a:t>
            </a:r>
          </a:p>
          <a:p>
            <a:r>
              <a:t>- Faster document completion (estimated 2 hours/user/week saved)</a:t>
            </a:r>
          </a:p>
          <a:p>
            <a:r>
              <a:t>- Eliminated version confusion</a:t>
            </a:r>
          </a:p>
          <a:p>
            <a:r>
              <a:t>- Remote workforce fully enabled</a:t>
            </a:r>
          </a:p>
          <a:p/>
          <a:p>
            <a:r>
              <a:t>**IT Cost Reduction - 42% Projected:**</a:t>
            </a:r>
          </a:p>
          <a:p/>
          <a:p>
            <a:r>
              <a:t>*Before (On-Premises):*</a:t>
            </a:r>
          </a:p>
          <a:p>
            <a:r>
              <a:t>- Exchange 2016 servers: 2 FTE maintaining</a:t>
            </a:r>
          </a:p>
          <a:p>
            <a:r>
              <a:t>- File servers: $50K annual storage expansion</a:t>
            </a:r>
          </a:p>
          <a:p>
            <a:r>
              <a:t>- Hardware refresh: $180K upcoming</a:t>
            </a:r>
          </a:p>
          <a:p>
            <a:r>
              <a:t>- Backup infrastructure: $25K annually</a:t>
            </a:r>
          </a:p>
          <a:p>
            <a:r>
              <a:t>- Total: ~$300K annual IT costs</a:t>
            </a:r>
          </a:p>
          <a:p/>
          <a:p>
            <a:r>
              <a:t>*After (Cloud):*</a:t>
            </a:r>
          </a:p>
          <a:p>
            <a:r>
              <a:t>- Google Workspace licenses: $108K/year</a:t>
            </a:r>
          </a:p>
          <a:p>
            <a:r>
              <a:t>- No hardware maintenance</a:t>
            </a:r>
          </a:p>
          <a:p>
            <a:r>
              <a:t>- No backup infrastructure (built-in)</a:t>
            </a:r>
          </a:p>
          <a:p>
            <a:r>
              <a:t>- IT staff redeployed to strategic projects</a:t>
            </a:r>
          </a:p>
          <a:p>
            <a:r>
              <a:t>- Total: ~$175K annual costs (42% reduction)</a:t>
            </a:r>
          </a:p>
          <a:p/>
          <a:p>
            <a:r>
              <a:t>*Financial Impact:*</a:t>
            </a:r>
          </a:p>
          <a:p>
            <a:r>
              <a:t>- Year 1 savings: $125K</a:t>
            </a:r>
          </a:p>
          <a:p>
            <a:r>
              <a:t>- 3-year savings: $375K+</a:t>
            </a:r>
          </a:p>
          <a:p>
            <a:r>
              <a:t>- Payback period: 20 months (target 24)</a:t>
            </a:r>
          </a:p>
          <a:p/>
          <a:p>
            <a:r>
              <a:t>**Collaboration - 15x Improvement:**</a:t>
            </a:r>
          </a:p>
          <a:p/>
          <a:p>
            <a:r>
              <a:t>*Measurement:*</a:t>
            </a:r>
          </a:p>
          <a:p>
            <a:r>
              <a:t>- Simultaneous editors per document: 15 average (vs. 1 with file locking)</a:t>
            </a:r>
          </a:p>
          <a:p>
            <a:r>
              <a:t>- Documents created in Docs: 2,500/month</a:t>
            </a:r>
          </a:p>
          <a:p>
            <a:r>
              <a:t>- Meet meetings: 800/week (up from 200 phone calls)</a:t>
            </a:r>
          </a:p>
          <a:p>
            <a:r>
              <a:t>- Chat messages: 15,000/week</a:t>
            </a:r>
          </a:p>
          <a:p/>
          <a:p>
            <a:r>
              <a:t>*Transition:*</a:t>
            </a:r>
          </a:p>
          <a:p>
            <a:r>
              <a:t>"We learned valuable lessons during this deployment..."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*Lessons Learned - Comprehensive Review:*</a:t>
            </a:r>
          </a:p>
          <a:p/>
          <a:p>
            <a:r>
              <a:t>**What Worked Well - Details:**</a:t>
            </a:r>
          </a:p>
          <a:p/>
          <a:p>
            <a:r>
              <a:t>*1. Phased 5-Wave Migration Approach:*</a:t>
            </a:r>
          </a:p>
          <a:p>
            <a:r>
              <a:t>- 95 users per wave over 5 weeks</a:t>
            </a:r>
          </a:p>
          <a:p>
            <a:r>
              <a:t>- Limited impact to any single department</a:t>
            </a:r>
          </a:p>
          <a:p>
            <a:r>
              <a:t>- Allowed course correction between waves</a:t>
            </a:r>
          </a:p>
          <a:p>
            <a:r>
              <a:t>- Recommendation: Always use phased approach for 100+ users</a:t>
            </a:r>
          </a:p>
          <a:p/>
          <a:p>
            <a:r>
              <a:t>*2. Pilot with IT and Early Adopters (Week 5):*</a:t>
            </a:r>
          </a:p>
          <a:p>
            <a:r>
              <a:t>- 25 pilot users validated migration tools</a:t>
            </a:r>
          </a:p>
          <a:p>
            <a:r>
              <a:t>- Identified training content gaps</a:t>
            </a:r>
          </a:p>
          <a:p>
            <a:r>
              <a:t>- Built internal champions</a:t>
            </a:r>
          </a:p>
          <a:p>
            <a:r>
              <a:t>- Recommendation: Include tech-savvy users from each department</a:t>
            </a:r>
          </a:p>
          <a:p/>
          <a:p>
            <a:r>
              <a:t>*3. Just-in-Time Training:*</a:t>
            </a:r>
          </a:p>
          <a:p>
            <a:r>
              <a:t>- Training delivered 1 week before each wave</a:t>
            </a:r>
          </a:p>
          <a:p>
            <a:r>
              <a:t>- Higher retention than advance training</a:t>
            </a:r>
          </a:p>
          <a:p>
            <a:r>
              <a:t>- 92% attendance rate</a:t>
            </a:r>
          </a:p>
          <a:p>
            <a:r>
              <a:t>- Recommendation: Train close to cutover</a:t>
            </a:r>
          </a:p>
          <a:p/>
          <a:p>
            <a:r>
              <a:t>*4. Change Champion Network:*</a:t>
            </a:r>
          </a:p>
          <a:p>
            <a:r>
              <a:t>- 25 champions across departments</a:t>
            </a:r>
          </a:p>
          <a:p>
            <a:r>
              <a:t>- First-line support for colleagues</a:t>
            </a:r>
          </a:p>
          <a:p>
            <a:r>
              <a:t>- Escalation path to IT</a:t>
            </a:r>
          </a:p>
          <a:p>
            <a:r>
              <a:t>- Recommendation: 1 champion per 20 users</a:t>
            </a:r>
          </a:p>
          <a:p/>
          <a:p>
            <a:r>
              <a:t>**Challenges Overcome - Details:**</a:t>
            </a:r>
          </a:p>
          <a:p/>
          <a:p>
            <a:r>
              <a:t>*1. Large Mailbox Delta Sync:*</a:t>
            </a:r>
          </a:p>
          <a:p>
            <a:r>
              <a:t>- Challenge: CEO 25 GB mailbox took 8 hours</a:t>
            </a:r>
          </a:p>
          <a:p>
            <a:r>
              <a:t>- Resolution: Extended maintenance window</a:t>
            </a:r>
          </a:p>
          <a:p>
            <a:r>
              <a:t>- Learning: Pre-migrate large mailboxes</a:t>
            </a:r>
          </a:p>
          <a:p/>
          <a:p>
            <a:r>
              <a:t>*2. File Permission Edge Cases:*</a:t>
            </a:r>
          </a:p>
          <a:p>
            <a:r>
              <a:t>- Challenge: Nested permissions on 2% of files</a:t>
            </a:r>
          </a:p>
          <a:p>
            <a:r>
              <a:t>- Resolution: Manual permission review</a:t>
            </a:r>
          </a:p>
          <a:p>
            <a:r>
              <a:t>- Learning: Audit permissions before migration</a:t>
            </a:r>
          </a:p>
          <a:p/>
          <a:p>
            <a:r>
              <a:t>*3. External Sharing Policy:*</a:t>
            </a:r>
          </a:p>
          <a:p>
            <a:r>
              <a:t>- Challenge: Users blocked from legitimate sharing</a:t>
            </a:r>
          </a:p>
          <a:p>
            <a:r>
              <a:t>- Resolution: Domain allowlist implemented</a:t>
            </a:r>
          </a:p>
          <a:p>
            <a:r>
              <a:t>- Learning: Document sharing requirements upfront</a:t>
            </a:r>
          </a:p>
          <a:p/>
          <a:p>
            <a:r>
              <a:t>**Recommendations for Future Enhancement:**</a:t>
            </a:r>
          </a:p>
          <a:p/>
          <a:p>
            <a:r>
              <a:t>*1. Enable Gemini for Workspace:*</a:t>
            </a:r>
          </a:p>
          <a:p>
            <a:r>
              <a:t>- AI-powered writing assistance</a:t>
            </a:r>
          </a:p>
          <a:p>
            <a:r>
              <a:t>- Smart meeting summaries</a:t>
            </a:r>
          </a:p>
          <a:p>
            <a:r>
              <a:t>- Email drafting and suggestions</a:t>
            </a:r>
          </a:p>
          <a:p>
            <a:r>
              <a:t>- Estimated productivity gain: 30 min/user/day</a:t>
            </a:r>
          </a:p>
          <a:p/>
          <a:p>
            <a:r>
              <a:t>*2. Third-Party Backup Solution:*</a:t>
            </a:r>
          </a:p>
          <a:p>
            <a:r>
              <a:t>- Spanning or Backupify recommended</a:t>
            </a:r>
          </a:p>
          <a:p>
            <a:r>
              <a:t>- Independent backup of Gmail and Drive</a:t>
            </a:r>
          </a:p>
          <a:p>
            <a:r>
              <a:t>- Compliance requirement for some industries</a:t>
            </a:r>
          </a:p>
          <a:p>
            <a:r>
              <a:t>- Cost: ~$1.10/user/month</a:t>
            </a:r>
          </a:p>
          <a:p/>
          <a:p>
            <a:r>
              <a:t>*Transition:*</a:t>
            </a:r>
          </a:p>
          <a:p>
            <a:r>
              <a:t>"Let me walk you through how we're transitioning support..."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*Support Transition - Complete Details:*</a:t>
            </a:r>
          </a:p>
          <a:p/>
          <a:p>
            <a:r>
              <a:t>**Hypercare Period Summary (30 Days Post-Go-Live):**</a:t>
            </a:r>
          </a:p>
          <a:p/>
          <a:p>
            <a:r>
              <a:t>*Daily Activities Completed:*</a:t>
            </a:r>
          </a:p>
          <a:p>
            <a:r>
              <a:t>- Morning health check calls (9am) - first 2 weeks</a:t>
            </a:r>
          </a:p>
          <a:p>
            <a:r>
              <a:t>- Admin Console reports review</a:t>
            </a:r>
          </a:p>
          <a:p>
            <a:r>
              <a:t>- Support ticket triage</a:t>
            </a:r>
          </a:p>
          <a:p>
            <a:r>
              <a:t>- User adoption monitoring</a:t>
            </a:r>
          </a:p>
          <a:p>
            <a:r>
              <a:t>- Feature question resolution</a:t>
            </a:r>
          </a:p>
          <a:p/>
          <a:p>
            <a:r>
              <a:t>*Issues Resolved During Hypercare:*</a:t>
            </a:r>
          </a:p>
          <a:p/>
          <a:p>
            <a:r>
              <a:t>Issue #1 - Day 3:</a:t>
            </a:r>
          </a:p>
          <a:p>
            <a:r>
              <a:t>- Problem: SSO timeout causing re-authentication</a:t>
            </a:r>
          </a:p>
          <a:p>
            <a:r>
              <a:t>- Root cause: Azure AD token lifetime mismatch</a:t>
            </a:r>
          </a:p>
          <a:p>
            <a:r>
              <a:t>- Resolution: Adjusted token settings</a:t>
            </a:r>
          </a:p>
          <a:p>
            <a:r>
              <a:t>- Prevention: Documented in runbook</a:t>
            </a:r>
          </a:p>
          <a:p/>
          <a:p>
            <a:r>
              <a:t>Issue #2 - Day 8:</a:t>
            </a:r>
          </a:p>
          <a:p>
            <a:r>
              <a:t>- Problem: External sharing blocked for vendor</a:t>
            </a:r>
          </a:p>
          <a:p>
            <a:r>
              <a:t>- Root cause: Domain not in allowlist</a:t>
            </a:r>
          </a:p>
          <a:p>
            <a:r>
              <a:t>- Resolution: Added domain to sharing policy</a:t>
            </a:r>
          </a:p>
          <a:p>
            <a:r>
              <a:t>- Result: External collaboration enabled</a:t>
            </a:r>
          </a:p>
          <a:p/>
          <a:p>
            <a:r>
              <a:t>*Knowledge Transfer Sessions Delivered:*</a:t>
            </a:r>
          </a:p>
          <a:p/>
          <a:p>
            <a:r>
              <a:t>| Session | Date | Attendees | Duration | Recording |</a:t>
            </a:r>
          </a:p>
          <a:p>
            <a:r>
              <a:t>|---------|------|-----------|----------|-----------|</a:t>
            </a:r>
          </a:p>
          <a:p>
            <a:r>
              <a:t>| Admin Console Deep Dive | Week 13 | 6 admins | 3 hours | Yes |</a:t>
            </a:r>
          </a:p>
          <a:p>
            <a:r>
              <a:t>| GAM Scripting Basics | Week 14 | 4 admins | 2 hours | Yes |</a:t>
            </a:r>
          </a:p>
          <a:p>
            <a:r>
              <a:t>| Vault and eDiscovery | Week 14 | 3 legal/IT | 2 hours | Yes |</a:t>
            </a:r>
          </a:p>
          <a:p>
            <a:r>
              <a:t>| Security Dashboard | Week 15 | 6 security | 1.5 hours | Yes |</a:t>
            </a:r>
          </a:p>
          <a:p>
            <a:r>
              <a:t>| Troubleshooting Workshop | Week 15 | 8 helpdesk | 2 hours | Yes |</a:t>
            </a:r>
          </a:p>
          <a:p/>
          <a:p>
            <a:r>
              <a:t>**Steady State Support Model:**</a:t>
            </a:r>
          </a:p>
          <a:p/>
          <a:p>
            <a:r>
              <a:t>*What Client Team Handles (L1/L2):*</a:t>
            </a:r>
          </a:p>
          <a:p>
            <a:r>
              <a:t>- Password resets and account recovery</a:t>
            </a:r>
          </a:p>
          <a:p>
            <a:r>
              <a:t>- User onboarding and offboarding</a:t>
            </a:r>
          </a:p>
          <a:p>
            <a:r>
              <a:t>- Basic troubleshooting (per runbook)</a:t>
            </a:r>
          </a:p>
          <a:p>
            <a:r>
              <a:t>- Policy and sharing questions</a:t>
            </a:r>
          </a:p>
          <a:p>
            <a:r>
              <a:t>- Monthly usage reporting</a:t>
            </a:r>
          </a:p>
          <a:p/>
          <a:p>
            <a:r>
              <a:t>*When to Escalate to Google (L3):*</a:t>
            </a:r>
          </a:p>
          <a:p>
            <a:r>
              <a:t>- Service outages or degradation</a:t>
            </a:r>
          </a:p>
          <a:p>
            <a:r>
              <a:t>- Complex technical issues</a:t>
            </a:r>
          </a:p>
          <a:p>
            <a:r>
              <a:t>- Feature requests</a:t>
            </a:r>
          </a:p>
          <a:p>
            <a:r>
              <a:t>- Security incidents</a:t>
            </a:r>
          </a:p>
          <a:p>
            <a:r>
              <a:t>- Billing questions</a:t>
            </a:r>
          </a:p>
          <a:p/>
          <a:p>
            <a:r>
              <a:t>*Transition:*</a:t>
            </a:r>
          </a:p>
          <a:p>
            <a:r>
              <a:t>"Let me acknowledge the team that made this possible..."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 - Recognize Key Contributors:*</a:t>
            </a:r>
          </a:p>
          <a:p/>
          <a:p>
            <a:r>
              <a:t>**Client Team Recognition:**</a:t>
            </a:r>
          </a:p>
          <a:p/>
          <a:p>
            <a:r>
              <a:t>*Executive Sponsor - [Name]:*</a:t>
            </a:r>
          </a:p>
          <a:p>
            <a:r>
              <a:t>- Championed cloud-first productivity strategy</a:t>
            </a:r>
          </a:p>
          <a:p>
            <a:r>
              <a:t>- Secured budget and organizational support</a:t>
            </a:r>
          </a:p>
          <a:p>
            <a:r>
              <a:t>- Drove change management communication</a:t>
            </a:r>
          </a:p>
          <a:p>
            <a:r>
              <a:t>- Key decision: Approved phased migration approach</a:t>
            </a:r>
          </a:p>
          <a:p/>
          <a:p>
            <a:r>
              <a:t>*IT Lead - [Name]:*</a:t>
            </a:r>
          </a:p>
          <a:p>
            <a:r>
              <a:t>- Technical counterpart throughout deployment</a:t>
            </a:r>
          </a:p>
          <a:p>
            <a:r>
              <a:t>- SSO and directory sync configuration</a:t>
            </a:r>
          </a:p>
          <a:p>
            <a:r>
              <a:t>- Knowledge transfer recipient and future owner</a:t>
            </a:r>
          </a:p>
          <a:p>
            <a:r>
              <a:t>- Will lead ongoing Workspace administration</a:t>
            </a:r>
          </a:p>
          <a:p/>
          <a:p>
            <a:r>
              <a:t>*Change Champions (25 staff):*</a:t>
            </a:r>
          </a:p>
          <a:p>
            <a:r>
              <a:t>- Peer support during migration waves</a:t>
            </a:r>
          </a:p>
          <a:p>
            <a:r>
              <a:t>- First-line troubleshooting</a:t>
            </a:r>
          </a:p>
          <a:p>
            <a:r>
              <a:t>- Feedback collection and escalation</a:t>
            </a:r>
          </a:p>
          <a:p>
            <a:r>
              <a:t>- Adoption advocacy</a:t>
            </a:r>
          </a:p>
          <a:p/>
          <a:p>
            <a:r>
              <a:t>**Vendor Team Recognition:**</a:t>
            </a:r>
          </a:p>
          <a:p/>
          <a:p>
            <a:r>
              <a:t>*Project Manager - [Name]:*</a:t>
            </a:r>
          </a:p>
          <a:p>
            <a:r>
              <a:t>- Overall delivery accountability</a:t>
            </a:r>
          </a:p>
          <a:p>
            <a:r>
              <a:t>- Stakeholder communication</a:t>
            </a:r>
          </a:p>
          <a:p>
            <a:r>
              <a:t>- Risk and issue management</a:t>
            </a:r>
          </a:p>
          <a:p>
            <a:r>
              <a:t>- On-time, on-budget delivery</a:t>
            </a:r>
          </a:p>
          <a:p/>
          <a:p>
            <a:r>
              <a:t>*Migration Engineer - [Name]:*</a:t>
            </a:r>
          </a:p>
          <a:p>
            <a:r>
              <a:t>- GWMT configuration and execution</a:t>
            </a:r>
          </a:p>
          <a:p>
            <a:r>
              <a:t>- File migration with permission mapping</a:t>
            </a:r>
          </a:p>
          <a:p>
            <a:r>
              <a:t>- Data integrity validation</a:t>
            </a:r>
          </a:p>
          <a:p/>
          <a:p>
            <a:r>
              <a:t>**Immediate Next Steps (This Week):**</a:t>
            </a:r>
          </a:p>
          <a:p/>
          <a:p>
            <a:r>
              <a:t>| Task | Owner | Due Date |</a:t>
            </a:r>
          </a:p>
          <a:p>
            <a:r>
              <a:t>|------|-------|----------|</a:t>
            </a:r>
          </a:p>
          <a:p>
            <a:r>
              <a:t>| Final documentation handover | PM | [Date] |</a:t>
            </a:r>
          </a:p>
          <a:p>
            <a:r>
              <a:t>| Archive project SharePoint | PM | [Date] |</a:t>
            </a:r>
          </a:p>
          <a:p>
            <a:r>
              <a:t>| Confirm support contacts | IT Lead | [Date] |</a:t>
            </a:r>
          </a:p>
          <a:p/>
          <a:p>
            <a:r>
              <a:t>**Phase 2 Opportunities:**</a:t>
            </a:r>
          </a:p>
          <a:p/>
          <a:p>
            <a:r>
              <a:t>| Capability | Effort | Business Value |</a:t>
            </a:r>
          </a:p>
          <a:p>
            <a:r>
              <a:t>|------------|--------|----------------|</a:t>
            </a:r>
          </a:p>
          <a:p>
            <a:r>
              <a:t>| Gemini for Workspace | 2 weeks | AI productivity |</a:t>
            </a:r>
          </a:p>
          <a:p>
            <a:r>
              <a:t>| Google Chat rollout | 3 weeks | Team messaging |</a:t>
            </a:r>
          </a:p>
          <a:p>
            <a:r>
              <a:t>| Advanced analytics | 2 weeks | Usage insights |</a:t>
            </a:r>
          </a:p>
          <a:p>
            <a:r>
              <a:t>| Third-party backup | 1 week | Compliance |</a:t>
            </a:r>
          </a:p>
          <a:p/>
          <a:p>
            <a:r>
              <a:t>*Transition:*</a:t>
            </a:r>
          </a:p>
          <a:p>
            <a:r>
              <a:t>"Thank you for your partnership on this project..."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*Closing and Q&amp;A Preparation:*</a:t>
            </a:r>
          </a:p>
          <a:p/>
          <a:p>
            <a:r>
              <a:t>**Closing Statement:**</a:t>
            </a:r>
          </a:p>
          <a:p>
            <a:r>
              <a:t>"Thank you for your partnership throughout this project. We've successfully transformed productivity from aging Exchange servers to a modern cloud platform. The 500 users are actively collaborating, IT costs are down 42%, and you're positioned for future AI capabilities with Gemini.</a:t>
            </a:r>
          </a:p>
          <a:p/>
          <a:p>
            <a:r>
              <a:t>I want to open the floor for questions. We have [time] remaining."</a:t>
            </a:r>
          </a:p>
          <a:p/>
          <a:p>
            <a:r>
              <a:t>**Anticipated Questions:**</a:t>
            </a:r>
          </a:p>
          <a:p/>
          <a:p>
            <a:r>
              <a:t>*Q: How do we add new users?*</a:t>
            </a:r>
          </a:p>
          <a:p>
            <a:r>
              <a:t>A: Use Google Admin Console or GCDS sync. New users automatically provisioned via Azure AD.</a:t>
            </a:r>
          </a:p>
          <a:p/>
          <a:p>
            <a:r>
              <a:t>*Q: What if we need more storage?*</a:t>
            </a:r>
          </a:p>
          <a:p>
            <a:r>
              <a:t>A: Business Plus includes 5 TB per user. Enterprise Plus offers unlimited.</a:t>
            </a:r>
          </a:p>
          <a:p/>
          <a:p>
            <a:r>
              <a:t>*Q: When should we enable Gemini?*</a:t>
            </a:r>
          </a:p>
          <a:p>
            <a:r>
              <a:t>A: Recommend 90-day stability period, then pilot with 50 power users.</a:t>
            </a:r>
          </a:p>
          <a:p/>
          <a:p>
            <a:r>
              <a:t>**Follow-Up Commitments:**</a:t>
            </a:r>
          </a:p>
          <a:p>
            <a:r>
              <a:t>- [ ] Send final presentation deck</a:t>
            </a:r>
          </a:p>
          <a:p>
            <a:r>
              <a:t>- [ ] Schedule 60-day adoption review</a:t>
            </a:r>
          </a:p>
          <a:p>
            <a:r>
              <a:t>- [ ] Provide Gemini evaluation guide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Google Workspace Deployment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Manager | November 27,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12 weeks, on schedule</a:t>
            </a:r>
          </a:p>
          <a:p>
            <a:pPr/>
            <a:r>
              <a:rPr b="1"/>
              <a:t>Budget:</a:t>
            </a:r>
            <a:r>
              <a:t> $105,200 delivered on budget</a:t>
            </a:r>
          </a:p>
          <a:p>
            <a:pPr/>
            <a:r>
              <a:rPr b="1"/>
              <a:t>Go-Live Date:</a:t>
            </a:r>
            <a:r>
              <a:t> Week 10 as planned</a:t>
            </a:r>
          </a:p>
          <a:p>
            <a:pPr/>
            <a:r>
              <a:rPr b="1"/>
              <a:t>Quality:</a:t>
            </a:r>
            <a:r>
              <a:t> Zero data loss during migration</a:t>
            </a:r>
          </a:p>
          <a:p>
            <a:pPr/>
            <a:r>
              <a:rPr b="1"/>
              <a:t>User Adoption:</a:t>
            </a:r>
            <a:r>
              <a:t> 97% daily active users (target 95%)</a:t>
            </a:r>
          </a:p>
          <a:p>
            <a:pPr/>
            <a:r>
              <a:rPr b="1"/>
              <a:t>Mailbox Migration:</a:t>
            </a:r>
            <a:r>
              <a:t> 500 mailboxes, 2.5 TB migrated</a:t>
            </a:r>
          </a:p>
          <a:p>
            <a:pPr/>
            <a:r>
              <a:rPr b="1"/>
              <a:t>ROI Status:</a:t>
            </a:r>
            <a:r>
              <a:t> On track for 24-month payback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 Deployment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Core Workspace Apps</a:t>
            </a:r>
          </a:p>
          <a:p>
            <a:pPr lvl="1"/>
            <a:r>
              <a:t>Gmail with 30 GB per user storage</a:t>
            </a:r>
          </a:p>
          <a:p>
            <a:pPr lvl="1"/>
            <a:r>
              <a:t>Google Drive with 5 TB per user</a:t>
            </a:r>
          </a:p>
          <a:p>
            <a:pPr lvl="1"/>
            <a:r>
              <a:t>Docs, Sheets, Slides, Meet, Chat</a:t>
            </a:r>
          </a:p>
          <a:p>
            <a:pPr/>
            <a:r>
              <a:rPr b="1"/>
              <a:t>Security &amp; Identity</a:t>
            </a:r>
          </a:p>
          <a:p>
            <a:pPr lvl="1"/>
            <a:r>
              <a:t>Azure AD SAML SSO integration</a:t>
            </a:r>
          </a:p>
          <a:p>
            <a:pPr lvl="1"/>
            <a:r>
              <a:t>DLP policies for sensitive content</a:t>
            </a:r>
          </a:p>
          <a:p>
            <a:pPr lvl="1"/>
            <a:r>
              <a:t>Google Vault 7-year retention</a:t>
            </a:r>
          </a:p>
          <a:p>
            <a:pPr/>
            <a:r>
              <a:rPr b="1"/>
              <a:t>Migration Infrastructure</a:t>
            </a:r>
          </a:p>
          <a:p>
            <a:pPr lvl="1"/>
            <a:r>
              <a:t>GWMT for 500 mailbox migration</a:t>
            </a:r>
          </a:p>
          <a:p>
            <a:pPr lvl="1"/>
            <a:r>
              <a:t>File migration to Shared Drives</a:t>
            </a:r>
          </a:p>
          <a:p>
            <a:pPr lvl="1"/>
            <a:r>
              <a:t>150 Google Groups configured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 Deployment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Migration Assessment Report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Exchange and file server analysis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`/delivery/assessment-report.docx`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Detailed Design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Workspace architecture and security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Step-by-step migration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milestones, RACI, communications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Migration validation and UAT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Configuration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Environment parameters and settings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`/delivery/configuration.xlsx`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Operations Runbook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Day-to-day admin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`/delivery/docs/runbook.md`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Training Materials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User guides and video recordings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 Deployment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Migration Metrics</a:t>
            </a:r>
          </a:p>
          <a:p>
            <a:pPr lvl="1"/>
            <a:r>
              <a:t>Mailbox Success Rate: 100% (500/500)</a:t>
            </a:r>
          </a:p>
          <a:p>
            <a:pPr lvl="1"/>
            <a:r>
              <a:t>File Migration: 100% (3 TB transferred)</a:t>
            </a:r>
          </a:p>
          <a:p>
            <a:pPr lvl="1"/>
            <a:r>
              <a:t>Data Integrity: Zero data loss confirmed</a:t>
            </a:r>
          </a:p>
          <a:p>
            <a:pPr lvl="1"/>
            <a:r>
              <a:t>Distribution Lists: 150/150 converted</a:t>
            </a:r>
          </a:p>
          <a:p>
            <a:pPr lvl="1"/>
            <a:r>
              <a:t>Calendar Migration: 100% appointments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Platform Metrics</a:t>
            </a:r>
          </a:p>
          <a:p>
            <a:pPr lvl="1"/>
            <a:r>
              <a:t>User Adoption: 97% DAU (target 95%)</a:t>
            </a:r>
          </a:p>
          <a:p>
            <a:pPr lvl="1"/>
            <a:r>
              <a:t>User Satisfaction: 4.6/5 (target 4.5)</a:t>
            </a:r>
          </a:p>
          <a:p>
            <a:pPr lvl="1"/>
            <a:r>
              <a:t>Support Tickets: 40% below forecast</a:t>
            </a:r>
          </a:p>
          <a:p>
            <a:pPr lvl="1"/>
            <a:r>
              <a:t>Gmail Uptime: 99.99% (SLA 99.9%)</a:t>
            </a:r>
          </a:p>
          <a:p>
            <a:pPr lvl="1"/>
            <a:r>
              <a:t>Meeting Quality: 4.8/5 Meet rating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 Deployment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SOW 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Adoption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95% in 90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97% in 60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Exceeded target by 30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data loss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data loss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integrity confirmed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IT Cost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40% annually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42% projected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$125K annual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Collaboration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10x improvement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15x measured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Real-time co-editing 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Uptime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 SLA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99.99% actual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8x better than Exchange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Mobile Access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workforce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enabled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No VPN required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 Deployment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Phased 5-wave migration approach</a:t>
            </a:r>
          </a:p>
          <a:p>
            <a:pPr lvl="1"/>
            <a:r>
              <a:t>Pilot with IT and early adopters</a:t>
            </a:r>
          </a:p>
          <a:p>
            <a:pPr lvl="1"/>
            <a:r>
              <a:t>Just-in-time training per wave</a:t>
            </a:r>
          </a:p>
          <a:p>
            <a:pPr lvl="1"/>
            <a:r>
              <a:t>Change champion network</a:t>
            </a:r>
          </a:p>
          <a:p>
            <a:pPr lvl="1"/>
            <a:r>
              <a:t>Daily migration status calls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Large mailbox delta sync timing</a:t>
            </a:r>
          </a:p>
          <a:p>
            <a:pPr lvl="1"/>
            <a:r>
              <a:t>File permission edge cases</a:t>
            </a:r>
          </a:p>
          <a:p>
            <a:pPr lvl="1"/>
            <a:r>
              <a:t>External sharing policy tuning</a:t>
            </a:r>
          </a:p>
          <a:p>
            <a:pPr lvl="1"/>
            <a:r>
              <a:t>Mobile device enrollment</a:t>
            </a:r>
          </a:p>
          <a:p>
            <a:pPr lvl="1"/>
            <a:r>
              <a:t>Calendar delegation migration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Enable Gemini for Workspace AI</a:t>
            </a:r>
          </a:p>
          <a:p>
            <a:pPr lvl="1"/>
            <a:r>
              <a:t>Implement Google Chat adoption</a:t>
            </a:r>
          </a:p>
          <a:p>
            <a:pPr lvl="1"/>
            <a:r>
              <a:t>Add third-party backup solution</a:t>
            </a:r>
          </a:p>
          <a:p>
            <a:pPr lvl="1"/>
            <a:r>
              <a:t>Quarterly security reviews</a:t>
            </a:r>
          </a:p>
          <a:p>
            <a:pPr lvl="1"/>
            <a:r>
              <a:t>Advanced Drive analytics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 Deployment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Complete (30 days)</a:t>
            </a:r>
          </a:p>
          <a:p>
            <a:pPr lvl="1"/>
            <a:r>
              <a:t>Daily health checks completed</a:t>
            </a:r>
          </a:p>
          <a:p>
            <a:pPr lvl="1"/>
            <a:r>
              <a:t>148 support tickets resolved</a:t>
            </a:r>
          </a:p>
          <a:p>
            <a:pPr lvl="1"/>
            <a:r>
              <a:t>Knowledge transfer sessions done</a:t>
            </a:r>
          </a:p>
          <a:p>
            <a:pPr lvl="1"/>
            <a:r>
              <a:t>Admin Console training complete</a:t>
            </a:r>
          </a:p>
          <a:p>
            <a:pPr lvl="1"/>
            <a:r>
              <a:t>Team certified and self-sufficient</a:t>
            </a:r>
          </a:p>
          <a:p>
            <a:pPr/>
            <a:r>
              <a:rPr b="1"/>
              <a:t>Steady State Support</a:t>
            </a:r>
          </a:p>
          <a:p>
            <a:pPr lvl="1"/>
            <a:r>
              <a:t>Business hours monitoring active</a:t>
            </a:r>
          </a:p>
          <a:p>
            <a:pPr lvl="1"/>
            <a:r>
              <a:t>Monthly adoption reviews</a:t>
            </a:r>
          </a:p>
          <a:p>
            <a:pPr lvl="1"/>
            <a:r>
              <a:t>Quarterly security assessments</a:t>
            </a:r>
          </a:p>
          <a:p>
            <a:pPr lvl="1"/>
            <a:r>
              <a:t>Feature enablement roadmap</a:t>
            </a:r>
          </a:p>
          <a:p>
            <a:pPr lvl="1"/>
            <a:r>
              <a:t>Documentation fully maintained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Path</a:t>
            </a:r>
          </a:p>
          <a:p>
            <a:pPr lvl="1"/>
            <a:r>
              <a:t>L1: IT Helpdesk (internal)</a:t>
            </a:r>
          </a:p>
          <a:p>
            <a:pPr lvl="1"/>
            <a:r>
              <a:t>L2: Google Workspace Admin Team</a:t>
            </a:r>
          </a:p>
          <a:p>
            <a:pPr lvl="1"/>
            <a:r>
              <a:t>L3: Google Cloud Support</a:t>
            </a:r>
          </a:p>
          <a:p>
            <a:pPr lvl="1"/>
            <a:r>
              <a:t>Emergency: On-call admin rotation</a:t>
            </a:r>
          </a:p>
          <a:p>
            <a:pPr lvl="1"/>
            <a:r>
              <a:t>Account: Customer Success Manager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 Deployment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Team:</a:t>
            </a:r>
            <a:r>
              <a:t> Executive sponsor, IT lead, department champions, pilot users, training coordinators</a:t>
            </a:r>
          </a:p>
          <a:p>
            <a:pPr/>
            <a:r>
              <a:rPr b="1"/>
              <a:t>Vendor Team:</a:t>
            </a:r>
            <a:r>
              <a:t> Project manager, solution architect, migration engineers, training specialists</a:t>
            </a:r>
          </a:p>
          <a:p>
            <a:pPr/>
            <a:r>
              <a:rPr b="1"/>
              <a:t>Special Recognition:</a:t>
            </a:r>
            <a:r>
              <a:t> Change champions for peer support and IT team for migration weekend support</a:t>
            </a:r>
          </a:p>
          <a:p>
            <a:pPr/>
            <a:r>
              <a:rPr b="1"/>
              <a:t>This Week:</a:t>
            </a:r>
            <a:r>
              <a:t> Final documentation handover, archive project artifacts</a:t>
            </a:r>
          </a:p>
          <a:p>
            <a:pPr/>
            <a:r>
              <a:rPr b="1"/>
              <a:t>Next 30 Days:</a:t>
            </a:r>
            <a:r>
              <a:t> Monthly adoption review, identify Gemini for Workspace candidates</a:t>
            </a:r>
          </a:p>
          <a:p>
            <a:pPr/>
            <a:r>
              <a:rPr b="1"/>
              <a:t>Next Quarter:</a:t>
            </a:r>
            <a:r>
              <a:t> Advanced feature enablement workshop, Google Chat rollout planning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 Deployment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