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*Opening Statement:*</a:t>
            </a:r>
          </a:p>
          <a:p>
            <a:r>
              <a:t>Good [morning/afternoon]. Today we're celebrating the successful completion of the Google Cloud Landing Zone implementation. This project has transformed [Client Name]'s cloud adoption from fragmented, ungoverned projects into a secure, automated platform enabling 5 application teams to deploy with built-in governance.</a:t>
            </a:r>
          </a:p>
          <a:p/>
          <a:p>
            <a:r>
              <a:t>*Key Talking Points - Expand on Each Bullet:*</a:t>
            </a:r>
          </a:p>
          <a:p/>
          <a:p>
            <a:r>
              <a:t>**Project Duration - 12 Weeks:**</a:t>
            </a:r>
          </a:p>
          <a:p>
            <a:r>
              <a:t>- Executed exactly as planned in the Statement of Work</a:t>
            </a:r>
          </a:p>
          <a:p>
            <a:r>
              <a:t>- Phase 1 (Foundation): Weeks 1-4 - Organization, network, security baseline</a:t>
            </a:r>
          </a:p>
          <a:p>
            <a:r>
              <a:t>- Phase 2 (Automation): Weeks 5-8 - Terraform modules, logging, IAM policies</a:t>
            </a:r>
          </a:p>
          <a:p>
            <a:r>
              <a:t>- Phase 3 (Onboarding): Weeks 9-12 - Pilot teams, FinOps, training complete</a:t>
            </a:r>
          </a:p>
          <a:p>
            <a:r>
              <a:t>- No schedule slippage despite ISP coordination for Interconnect</a:t>
            </a:r>
          </a:p>
          <a:p/>
          <a:p>
            <a:r>
              <a:t>**Budget - $105,948 Year 1 Net:**</a:t>
            </a:r>
          </a:p>
          <a:p>
            <a:r>
              <a:t>- Professional Services: $65,000 (260 hours as quoted)</a:t>
            </a:r>
          </a:p>
          <a:p>
            <a:r>
              <a:t>- GCP Infrastructure: $39,948 (after $10,000 migration credit)</a:t>
            </a:r>
          </a:p>
          <a:p>
            <a:r>
              <a:t>- Software Licenses: $48,000 (SCC Premium, Chronicle, Cloud Identity)</a:t>
            </a:r>
          </a:p>
          <a:p>
            <a:r>
              <a:t>- Support: $18,000 (Google Cloud Enhanced Support)</a:t>
            </a:r>
          </a:p>
          <a:p>
            <a:r>
              <a:t>- Partner Credits: $15,000 total applied</a:t>
            </a:r>
          </a:p>
          <a:p>
            <a:r>
              <a:t>- Actual spend: $105,891 - $57 under budget</a:t>
            </a:r>
          </a:p>
          <a:p/>
          <a:p>
            <a:r>
              <a:t>**Go-Live - Week 12:**</a:t>
            </a:r>
          </a:p>
          <a:p>
            <a:r>
              <a:t>- Pilot-then-scale approach validated foundation before team rollout</a:t>
            </a:r>
          </a:p>
          <a:p>
            <a:r>
              <a:t>- 2 pilot teams onboarded with 4 projects (dev + prod each)</a:t>
            </a:r>
          </a:p>
          <a:p>
            <a:r>
              <a:t>- Validated project provisioning, network, security, Interconnect</a:t>
            </a:r>
          </a:p>
          <a:p>
            <a:r>
              <a:t>- Zero rollback events required</a:t>
            </a:r>
          </a:p>
          <a:p/>
          <a:p>
            <a:r>
              <a:t>**Project Provisioning - 95% Faster:**</a:t>
            </a:r>
          </a:p>
          <a:p>
            <a:r>
              <a:t>- Baseline (manual): 6-8 weeks per project with ad-hoc configuration</a:t>
            </a:r>
          </a:p>
          <a:p>
            <a:r>
              <a:t>- Current (automated): 45 minutes via Cloud Foundation Toolkit Terraform</a:t>
            </a:r>
          </a:p>
          <a:p>
            <a:r>
              <a:t>- Exceeds &lt;1 hour target in SOW</a:t>
            </a:r>
          </a:p>
          <a:p>
            <a:r>
              <a:t>- Platform team self-service enabled with guardrails</a:t>
            </a:r>
          </a:p>
          <a:p/>
          <a:p>
            <a:r>
              <a:t>**Security Compliance - 100%:**</a:t>
            </a:r>
          </a:p>
          <a:p>
            <a:r>
              <a:t>- 50+ organization policies enforced from day 1</a:t>
            </a:r>
          </a:p>
          <a:p>
            <a:r>
              <a:t>- Security Command Center Premium active with zero critical findings</a:t>
            </a:r>
          </a:p>
          <a:p>
            <a:r>
              <a:t>- Chronicle SIEM ingesting 100 GB/month for threat detection</a:t>
            </a:r>
          </a:p>
          <a:p>
            <a:r>
              <a:t>- SOC 2 and PCI-DSS controls validated by compliance team</a:t>
            </a:r>
          </a:p>
          <a:p/>
          <a:p>
            <a:r>
              <a:t>*Transition to Next Slide:*</a:t>
            </a:r>
          </a:p>
          <a:p>
            <a:r>
              <a:t>"Let me walk you through exactly what we built together..."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*Architecture Overview - Walk Through the Diagram:*</a:t>
            </a:r>
          </a:p>
          <a:p/>
          <a:p>
            <a:r>
              <a:t>"This diagram shows the production landing zone architecture we deployed. Let me walk through the key components..."</a:t>
            </a:r>
          </a:p>
          <a:p/>
          <a:p>
            <a:r>
              <a:t>**Organization Foundation Layer:**</a:t>
            </a:r>
          </a:p>
          <a:p>
            <a:r>
              <a:t>- GCP Organization with 3-tier folder hierarchy (dev/staging/prod)</a:t>
            </a:r>
          </a:p>
          <a:p>
            <a:r>
              <a:t>- 10 projects managed through Cloud Foundation Toolkit automation</a:t>
            </a:r>
          </a:p>
          <a:p>
            <a:r>
              <a:t>- 8 platform administrators with role-based access control</a:t>
            </a:r>
          </a:p>
          <a:p>
            <a:r>
              <a:t>- Centralized billing with department chargeback and cost allocation labels</a:t>
            </a:r>
          </a:p>
          <a:p/>
          <a:p>
            <a:r>
              <a:t>**Security &amp; Governance Layer:**</a:t>
            </a:r>
          </a:p>
          <a:p>
            <a:r>
              <a:t>- Security Command Center Premium for continuous threat detection</a:t>
            </a:r>
          </a:p>
          <a:p>
            <a:r>
              <a:t>- Chronicle SIEM (100 GB/month) for advanced security analytics</a:t>
            </a:r>
          </a:p>
          <a:p>
            <a:r>
              <a:t>- Cloud Armor for DDoS protection on internet-facing services</a:t>
            </a:r>
          </a:p>
          <a:p>
            <a:r>
              <a:t>- Cloud IDS (3 endpoints) for network intrusion detection</a:t>
            </a:r>
          </a:p>
          <a:p>
            <a:r>
              <a:t>- 50+ organization policy constraints enforcing compliance</a:t>
            </a:r>
          </a:p>
          <a:p>
            <a:r>
              <a:t>- Cloud KMS with 100 customer-managed encryption keys</a:t>
            </a:r>
          </a:p>
          <a:p/>
          <a:p>
            <a:r>
              <a:t>**Network &amp; Connectivity Layer:**</a:t>
            </a:r>
          </a:p>
          <a:p>
            <a:r>
              <a:t>- Shared VPC hub deployed across 3 GCP regions (us-central1, us-east1, us-west1)</a:t>
            </a:r>
          </a:p>
          <a:p>
            <a:r>
              <a:t>- Dedicated Interconnect 10 Gbps to on-premises datacenter</a:t>
            </a:r>
          </a:p>
          <a:p>
            <a:r>
              <a:t>- 4 VLAN attachments for redundant hybrid connectivity with &lt;5ms latency</a:t>
            </a:r>
          </a:p>
          <a:p>
            <a:r>
              <a:t>- Cloud NAT gateways for secure internet egress</a:t>
            </a:r>
          </a:p>
          <a:p>
            <a:r>
              <a:t>- Internal HTTP(S) load balancers for shared services</a:t>
            </a:r>
          </a:p>
          <a:p/>
          <a:p>
            <a:r>
              <a:t>**Identity &amp; Access Layer:**</a:t>
            </a:r>
          </a:p>
          <a:p>
            <a:r>
              <a:t>- Cloud Identity Premium with SAML SSO integration</a:t>
            </a:r>
          </a:p>
          <a:p>
            <a:r>
              <a:t>- Directory sync (GCDS) for automated user provisioning</a:t>
            </a:r>
          </a:p>
          <a:p>
            <a:r>
              <a:t>- Multi-factor authentication required for all admin access</a:t>
            </a:r>
          </a:p>
          <a:p>
            <a:r>
              <a:t>- Service accounts with workload identity for applications</a:t>
            </a:r>
          </a:p>
          <a:p/>
          <a:p>
            <a:r>
              <a:t>**Observability Layer:**</a:t>
            </a:r>
          </a:p>
          <a:p>
            <a:r>
              <a:t>- Cloud Logging centralized (500 GB/month capacity)</a:t>
            </a:r>
          </a:p>
          <a:p>
            <a:r>
              <a:t>- BigQuery exports for compliance and long-term analytics</a:t>
            </a:r>
          </a:p>
          <a:p>
            <a:r>
              <a:t>- Cloud Monitoring with SLO dashboards</a:t>
            </a:r>
          </a:p>
          <a:p>
            <a:r>
              <a:t>- VPC Flow Logs (200 GB/month) for network visibility</a:t>
            </a:r>
          </a:p>
          <a:p>
            <a:r>
              <a:t>- FinOps dashboards with budget alerts</a:t>
            </a:r>
          </a:p>
          <a:p/>
          <a:p>
            <a:r>
              <a:t>**Key Design Decisions:**</a:t>
            </a:r>
          </a:p>
          <a:p>
            <a:r>
              <a:t>1. Hub-spoke network enables centralized security with distributed workloads</a:t>
            </a:r>
          </a:p>
          <a:p>
            <a:r>
              <a:t>2. Cloud Foundation Toolkit ensures consistent, repeatable provisioning</a:t>
            </a:r>
          </a:p>
          <a:p>
            <a:r>
              <a:t>3. Organization policies enforce compliance before resources created</a:t>
            </a:r>
          </a:p>
          <a:p>
            <a:r>
              <a:t>4. Multi-region deployment provides resilience without complexity</a:t>
            </a:r>
          </a:p>
          <a:p/>
          <a:p>
            <a:r>
              <a:t>*Transition:*</a:t>
            </a:r>
          </a:p>
          <a:p>
            <a:r>
              <a:t>"Now let me show you the complete deliverables package we're handing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*Deliverables Deep Dive - Review Each Item:*</a:t>
            </a:r>
          </a:p>
          <a:p/>
          <a:p>
            <a:r>
              <a:t>**1. Detailed Design Document (detailed-design.docx):**</a:t>
            </a:r>
          </a:p>
          <a:p>
            <a:r>
              <a:t>- 40+ pages comprehensive technical documentation</a:t>
            </a:r>
          </a:p>
          <a:p>
            <a:r>
              <a:t>- GCP Organization structure and folder hierarchy design</a:t>
            </a:r>
          </a:p>
          <a:p>
            <a:r>
              <a:t>- Shared VPC network architecture across 3 regions</a:t>
            </a:r>
          </a:p>
          <a:p>
            <a:r>
              <a:t>- Security baseline with SCC Premium and Chronicle configuration</a:t>
            </a:r>
          </a:p>
          <a:p>
            <a:r>
              <a:t>- IAM strategy and organization policy constraints</a:t>
            </a:r>
          </a:p>
          <a:p>
            <a:r>
              <a:t>- Reviewed and accepted by [Technical Lead] on [Date]</a:t>
            </a:r>
          </a:p>
          <a:p/>
          <a:p>
            <a:r>
              <a:t>**2. Implementation Guide (implementation-guide.docx):**</a:t>
            </a:r>
          </a:p>
          <a:p>
            <a:r>
              <a:t>- Step-by-step deployment procedures using Terraform</a:t>
            </a:r>
          </a:p>
          <a:p>
            <a:r>
              <a:t>- Cloud Foundation Toolkit module customization guide</a:t>
            </a:r>
          </a:p>
          <a:p>
            <a:r>
              <a:t>- Network and Interconnect configuration procedures</a:t>
            </a:r>
          </a:p>
          <a:p>
            <a:r>
              <a:t>- Security baseline deployment instructions</a:t>
            </a:r>
          </a:p>
          <a:p>
            <a:r>
              <a:t>- Validated by rebuilding staging from scratch</a:t>
            </a:r>
          </a:p>
          <a:p/>
          <a:p>
            <a:r>
              <a:t>**3. Project Plan (project-plan.xlsx):**</a:t>
            </a:r>
          </a:p>
          <a:p>
            <a:r>
              <a:t>- Four worksheets:</a:t>
            </a:r>
          </a:p>
          <a:p>
            <a:r>
              <a:t>  1. Project Timeline - 25 tasks across 12 weeks</a:t>
            </a:r>
          </a:p>
          <a:p>
            <a:r>
              <a:t>  2. Milestones - 8 key milestones tracked</a:t>
            </a:r>
          </a:p>
          <a:p>
            <a:r>
              <a:t>  3. RACI Matrix - 13 activities with clear ownership</a:t>
            </a:r>
          </a:p>
          <a:p>
            <a:r>
              <a:t>  4. Communications Plan - 8 meeting types defined</a:t>
            </a:r>
          </a:p>
          <a:p>
            <a:r>
              <a:t>- All milestones achieved on schedule</a:t>
            </a:r>
          </a:p>
          <a:p/>
          <a:p>
            <a:r>
              <a:t>**4. Test Plan &amp; Results (test-plan.xlsx):**</a:t>
            </a:r>
          </a:p>
          <a:p>
            <a:r>
              <a:t>- Three test categories:</a:t>
            </a:r>
          </a:p>
          <a:p>
            <a:r>
              <a:t>  1. Functional Tests - Project provisioning, network, IAM</a:t>
            </a:r>
          </a:p>
          <a:p>
            <a:r>
              <a:t>  2. Non-Functional Tests - Performance, security, compliance</a:t>
            </a:r>
          </a:p>
          <a:p>
            <a:r>
              <a:t>  3. User Acceptance Tests - Pilot team validation</a:t>
            </a:r>
          </a:p>
          <a:p>
            <a:r>
              <a:t>- 100% pass rate on all test cases</a:t>
            </a:r>
          </a:p>
          <a:p/>
          <a:p>
            <a:r>
              <a:t>**5. Cloud Foundation Toolkit Modules:**</a:t>
            </a:r>
          </a:p>
          <a:p>
            <a:r>
              <a:t>- Complete Terraform module library</a:t>
            </a:r>
          </a:p>
          <a:p>
            <a:r>
              <a:t>- Project factory module for automated provisioning</a:t>
            </a:r>
          </a:p>
          <a:p>
            <a:r>
              <a:t>- Network module for Shared VPC configuration</a:t>
            </a:r>
          </a:p>
          <a:p>
            <a:r>
              <a:t>- Security module for organization policies</a:t>
            </a:r>
          </a:p>
          <a:p>
            <a:r>
              <a:t>- Enables 45-minute project creation</a:t>
            </a:r>
          </a:p>
          <a:p/>
          <a:p>
            <a:r>
              <a:t>**6. Operations Runbook:**</a:t>
            </a:r>
          </a:p>
          <a:p>
            <a:r>
              <a:t>- Daily health check procedures</a:t>
            </a:r>
          </a:p>
          <a:p>
            <a:r>
              <a:t>- Project provisioning workflow guide</a:t>
            </a:r>
          </a:p>
          <a:p>
            <a:r>
              <a:t>- Interconnect monitoring and troubleshooting</a:t>
            </a:r>
          </a:p>
          <a:p>
            <a:r>
              <a:t>- Security incident response procedures</a:t>
            </a:r>
          </a:p>
          <a:p>
            <a:r>
              <a:t>- Cost optimization recommendations</a:t>
            </a:r>
          </a:p>
          <a:p/>
          <a:p>
            <a:r>
              <a:t>**7. Training Materials:**</a:t>
            </a:r>
          </a:p>
          <a:p>
            <a:r>
              <a:t>- Administrator Guide (PDF, 30 pages)</a:t>
            </a:r>
          </a:p>
          <a:p>
            <a:r>
              <a:t>- Cloud Foundation Toolkit customization training</a:t>
            </a:r>
          </a:p>
          <a:p>
            <a:r>
              <a:t>- Google Admin Console and IAM management</a:t>
            </a:r>
          </a:p>
          <a:p>
            <a:r>
              <a:t>- Video recordings (3 sessions, 4 hours total)</a:t>
            </a:r>
          </a:p>
          <a:p/>
          <a:p>
            <a:r>
              <a:t>*Training Sessions Delivered:*</a:t>
            </a:r>
          </a:p>
          <a:p>
            <a:r>
              <a:t>- Platform Admin Training: 2 sessions, 8 participants</a:t>
            </a:r>
          </a:p>
          <a:p>
            <a:r>
              <a:t>- Security Admin Training: 1 session, 4 participants</a:t>
            </a:r>
          </a:p>
          <a:p>
            <a:r>
              <a:t>- Total training hours delivered: 12 hours</a:t>
            </a:r>
          </a:p>
          <a:p/>
          <a:p>
            <a:r>
              <a:t>*Transition:*</a:t>
            </a:r>
          </a:p>
          <a:p>
            <a:r>
              <a:t>"Let's look at how the platform is performing against our targets..."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 &amp; Performance Deep Dive:*</a:t>
            </a:r>
          </a:p>
          <a:p/>
          <a:p>
            <a:r>
              <a:t>**Automation Metrics - Detailed Breakdown:**</a:t>
            </a:r>
          </a:p>
          <a:p/>
          <a:p>
            <a:r>
              <a:t>*Project Provisioning: 45 Minutes Average*</a:t>
            </a:r>
          </a:p>
          <a:p>
            <a:r>
              <a:t>- SOW target: &lt;1 hour per project via Terraform automation</a:t>
            </a:r>
          </a:p>
          <a:p>
            <a:r>
              <a:t>- Achieved: 45 minutes average end-to-end</a:t>
            </a:r>
          </a:p>
          <a:p>
            <a:r>
              <a:t>- Breakdown by step:</a:t>
            </a:r>
          </a:p>
          <a:p>
            <a:r>
              <a:t>  - Terraform plan review: 5 minutes</a:t>
            </a:r>
          </a:p>
          <a:p>
            <a:r>
              <a:t>  - Terraform apply execution: 25 minutes</a:t>
            </a:r>
          </a:p>
          <a:p>
            <a:r>
              <a:t>  - Network attachment verification: 10 minutes</a:t>
            </a:r>
          </a:p>
          <a:p>
            <a:r>
              <a:t>  - Security baseline validation: 5 minutes</a:t>
            </a:r>
          </a:p>
          <a:p>
            <a:r>
              <a:t>- Fastest provisioning: 35 minutes (simple dev project)</a:t>
            </a:r>
          </a:p>
          <a:p>
            <a:r>
              <a:t>- Slowest provisioning: 55 minutes (prod with full security)</a:t>
            </a:r>
          </a:p>
          <a:p/>
          <a:p>
            <a:r>
              <a:t>*Terraform Module Coverage: 100%*</a:t>
            </a:r>
          </a:p>
          <a:p>
            <a:r>
              <a:t>- All infrastructure deployed via Cloud Foundation Toolkit</a:t>
            </a:r>
          </a:p>
          <a:p>
            <a:r>
              <a:t>- No manual console configuration</a:t>
            </a:r>
          </a:p>
          <a:p>
            <a:r>
              <a:t>- Complete infrastructure-as-code for audit and repeatability</a:t>
            </a:r>
          </a:p>
          <a:p>
            <a:r>
              <a:t>- Version controlled in Git with peer review</a:t>
            </a:r>
          </a:p>
          <a:p/>
          <a:p>
            <a:r>
              <a:t>*Policy Enforcement: Zero Violations*</a:t>
            </a:r>
          </a:p>
          <a:p>
            <a:r>
              <a:t>- 50+ organization policy constraints active</a:t>
            </a:r>
          </a:p>
          <a:p>
            <a:r>
              <a:t>- Prevents non-compliant resource creation</a:t>
            </a:r>
          </a:p>
          <a:p>
            <a:r>
              <a:t>- Examples enforced:</a:t>
            </a:r>
          </a:p>
          <a:p>
            <a:r>
              <a:t>  - Resource location restrictions (US regions only)</a:t>
            </a:r>
          </a:p>
          <a:p>
            <a:r>
              <a:t>  - Public IP restrictions on VMs</a:t>
            </a:r>
          </a:p>
          <a:p>
            <a:r>
              <a:t>  - Service account key creation blocked</a:t>
            </a:r>
          </a:p>
          <a:p>
            <a:r>
              <a:t>  - Uniform bucket-level access required</a:t>
            </a:r>
          </a:p>
          <a:p/>
          <a:p>
            <a:r>
              <a:t>**Platform Metrics - Detailed Analysis:**</a:t>
            </a:r>
          </a:p>
          <a:p/>
          <a:p>
            <a:r>
              <a:t>*Interconnect Uptime: 99.97%*</a:t>
            </a:r>
          </a:p>
          <a:p>
            <a:r>
              <a:t>- Target: 99.9% availability</a:t>
            </a:r>
          </a:p>
          <a:p>
            <a:r>
              <a:t>- Achieved: 99.97% (7.8 minutes downtime in 30 days)</a:t>
            </a:r>
          </a:p>
          <a:p>
            <a:r>
              <a:t>- Downtime breakdown:</a:t>
            </a:r>
          </a:p>
          <a:p>
            <a:r>
              <a:t>  - Planned maintenance: 5 minutes (Google-side)</a:t>
            </a:r>
          </a:p>
          <a:p>
            <a:r>
              <a:t>  - Unplanned: 2.8 minutes (BGP reconvergence)</a:t>
            </a:r>
          </a:p>
          <a:p>
            <a:r>
              <a:t>- 4 VLAN attachments provide full redundancy</a:t>
            </a:r>
          </a:p>
          <a:p/>
          <a:p>
            <a:r>
              <a:t>*Interconnect Latency: 4.2ms*</a:t>
            </a:r>
          </a:p>
          <a:p>
            <a:r>
              <a:t>- Target: &lt;5ms to on-premises datacenter</a:t>
            </a:r>
          </a:p>
          <a:p>
            <a:r>
              <a:t>- Achieved: 4.2ms average round-trip</a:t>
            </a:r>
          </a:p>
          <a:p>
            <a:r>
              <a:t>- Consistent performance across all 4 attachments</a:t>
            </a:r>
          </a:p>
          <a:p>
            <a:r>
              <a:t>- Enables real-time hybrid workloads</a:t>
            </a:r>
          </a:p>
          <a:p/>
          <a:p>
            <a:r>
              <a:t>*SCC Critical Findings: 0*</a:t>
            </a:r>
          </a:p>
          <a:p>
            <a:r>
              <a:t>- Security Command Center Premium scanning all projects</a:t>
            </a:r>
          </a:p>
          <a:p>
            <a:r>
              <a:t>- Zero critical or high findings at go-live</a:t>
            </a:r>
          </a:p>
          <a:p>
            <a:r>
              <a:t>- 3 medium findings identified and remediated during implementation</a:t>
            </a:r>
          </a:p>
          <a:p>
            <a:r>
              <a:t>- Continuous compliance monitoring active</a:t>
            </a:r>
          </a:p>
          <a:p/>
          <a:p>
            <a:r>
              <a:t>**Testing Summary:**</a:t>
            </a:r>
          </a:p>
          <a:p>
            <a:r>
              <a:t>- Test Cases Executed: 38 total</a:t>
            </a:r>
          </a:p>
          <a:p>
            <a:r>
              <a:t>- Pass Rate: 100%</a:t>
            </a:r>
          </a:p>
          <a:p>
            <a:r>
              <a:t>- Test Coverage: All SOW requirements covered</a:t>
            </a:r>
          </a:p>
          <a:p>
            <a:r>
              <a:t>- Critical Defects at Go-Live: 0</a:t>
            </a:r>
          </a:p>
          <a:p/>
          <a:p>
            <a:r>
              <a:t>*Transition:*</a:t>
            </a:r>
          </a:p>
          <a:p>
            <a:r>
              <a:t>"These platform capabilities translate directly into business value. Let me show you the benefits we're already seeing..."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*Benefits Analysis - Detailed ROI Discussion:*</a:t>
            </a:r>
          </a:p>
          <a:p/>
          <a:p>
            <a:r>
              <a:t>**Provisioning Time Reduction - 95%:**</a:t>
            </a:r>
          </a:p>
          <a:p/>
          <a:p>
            <a:r>
              <a:t>*Before (Manual Process):*</a:t>
            </a:r>
          </a:p>
          <a:p>
            <a:r>
              <a:t>- Average time per project: 6-8 weeks</a:t>
            </a:r>
          </a:p>
          <a:p>
            <a:r>
              <a:t>- Steps involved:</a:t>
            </a:r>
          </a:p>
          <a:p>
            <a:r>
              <a:t>  1. Submit request ticket (1 week for approval)</a:t>
            </a:r>
          </a:p>
          <a:p>
            <a:r>
              <a:t>  2. Manual project creation (2-3 days)</a:t>
            </a:r>
          </a:p>
          <a:p>
            <a:r>
              <a:t>  3. Network configuration (1-2 weeks)</a:t>
            </a:r>
          </a:p>
          <a:p>
            <a:r>
              <a:t>  4. Security controls (1 week)</a:t>
            </a:r>
          </a:p>
          <a:p>
            <a:r>
              <a:t>  5. IAM setup and testing (1 week)</a:t>
            </a:r>
          </a:p>
          <a:p>
            <a:r>
              <a:t>  6. Documentation and handover (1 week)</a:t>
            </a:r>
          </a:p>
          <a:p>
            <a:r>
              <a:t>- Inconsistent configurations causing security gaps</a:t>
            </a:r>
          </a:p>
          <a:p/>
          <a:p>
            <a:r>
              <a:t>*After (Automated Process):*</a:t>
            </a:r>
          </a:p>
          <a:p>
            <a:r>
              <a:t>- Average time per project: 45 minutes via Terraform</a:t>
            </a:r>
          </a:p>
          <a:p>
            <a:r>
              <a:t>- Consistent security baseline every time</a:t>
            </a:r>
          </a:p>
          <a:p>
            <a:r>
              <a:t>- Automated compliance validation</a:t>
            </a:r>
          </a:p>
          <a:p>
            <a:r>
              <a:t>- Self-service for approved platform admins</a:t>
            </a:r>
          </a:p>
          <a:p/>
          <a:p>
            <a:r>
              <a:t>*Business Impact:*</a:t>
            </a:r>
          </a:p>
          <a:p>
            <a:r>
              <a:t>- Teams no longer blocked waiting for infrastructure</a:t>
            </a:r>
          </a:p>
          <a:p>
            <a:r>
              <a:t>- Innovation velocity increased significantly</a:t>
            </a:r>
          </a:p>
          <a:p>
            <a:r>
              <a:t>- Security and compliance built-in from creation</a:t>
            </a:r>
          </a:p>
          <a:p/>
          <a:p>
            <a:r>
              <a:t>**Security Compliance - 100%:**</a:t>
            </a:r>
          </a:p>
          <a:p/>
          <a:p>
            <a:r>
              <a:t>*Before (Manual Governance):*</a:t>
            </a:r>
          </a:p>
          <a:p>
            <a:r>
              <a:t>- Each team configuring security differently</a:t>
            </a:r>
          </a:p>
          <a:p>
            <a:r>
              <a:t>- Audit findings from inconsistent controls</a:t>
            </a:r>
          </a:p>
          <a:p>
            <a:r>
              <a:t>- Shadow IT risk from ungoverned projects</a:t>
            </a:r>
          </a:p>
          <a:p>
            <a:r>
              <a:t>- Estimated $400K+ annual compliance risk</a:t>
            </a:r>
          </a:p>
          <a:p/>
          <a:p>
            <a:r>
              <a:t>*After (Automated Governance):*</a:t>
            </a:r>
          </a:p>
          <a:p>
            <a:r>
              <a:t>- 50+ organization policies enforced automatically</a:t>
            </a:r>
          </a:p>
          <a:p>
            <a:r>
              <a:t>- SCC Premium continuous monitoring</a:t>
            </a:r>
          </a:p>
          <a:p>
            <a:r>
              <a:t>- Chronicle SIEM for threat detection</a:t>
            </a:r>
          </a:p>
          <a:p>
            <a:r>
              <a:t>- Full audit trail via Cloud Audit Logs</a:t>
            </a:r>
          </a:p>
          <a:p/>
          <a:p>
            <a:r>
              <a:t>*Financial Impact:*</a:t>
            </a:r>
          </a:p>
          <a:p>
            <a:r>
              <a:t>- Eliminated compliance gaps</a:t>
            </a:r>
          </a:p>
          <a:p>
            <a:r>
              <a:t>- Reduced audit preparation time by 80%</a:t>
            </a:r>
          </a:p>
          <a:p>
            <a:r>
              <a:t>- Security incident risk significantly reduced</a:t>
            </a:r>
          </a:p>
          <a:p/>
          <a:p>
            <a:r>
              <a:t>**Platform Self-Service:**</a:t>
            </a:r>
          </a:p>
          <a:p>
            <a:r>
              <a:t>- 5 application teams now productive on GCP</a:t>
            </a:r>
          </a:p>
          <a:p>
            <a:r>
              <a:t>- 10 projects deployed and operational</a:t>
            </a:r>
          </a:p>
          <a:p>
            <a:r>
              <a:t>- Platform team handling requests in hours vs weeks</a:t>
            </a:r>
          </a:p>
          <a:p>
            <a:r>
              <a:t>- Clear path to scale to 75+ projects</a:t>
            </a:r>
          </a:p>
          <a:p/>
          <a:p>
            <a:r>
              <a:t>**ROI Summary:**</a:t>
            </a:r>
          </a:p>
          <a:p/>
          <a:p>
            <a:r>
              <a:t>| Metric | Value |</a:t>
            </a:r>
          </a:p>
          <a:p>
            <a:r>
              <a:t>|--------|-------|</a:t>
            </a:r>
          </a:p>
          <a:p>
            <a:r>
              <a:t>| Total Investment (Year 1) | $105,948 |</a:t>
            </a:r>
          </a:p>
          <a:p>
            <a:r>
              <a:t>| Estimated Annual Savings | $180,000* |</a:t>
            </a:r>
          </a:p>
          <a:p>
            <a:r>
              <a:t>| Payback Period | 18 months |</a:t>
            </a:r>
          </a:p>
          <a:p>
            <a:r>
              <a:t>| 3-Year Net Benefit | $280,000+ |</a:t>
            </a:r>
          </a:p>
          <a:p/>
          <a:p>
            <a:r>
              <a:t>*Savings from: faster provisioning, reduced security incidents, audit efficiency, team productivity</a:t>
            </a:r>
          </a:p>
          <a:p/>
          <a:p>
            <a:r>
              <a:t>*Transition:*</a:t>
            </a:r>
          </a:p>
          <a:p>
            <a:r>
              <a:t>"We learned valuable lessons during this implementation that will help with future expansion..."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*Lessons Learned - Comprehensive Review:*</a:t>
            </a:r>
          </a:p>
          <a:p/>
          <a:p>
            <a:r>
              <a:t>**What Worked Well - Details:**</a:t>
            </a:r>
          </a:p>
          <a:p/>
          <a:p>
            <a:r>
              <a:t>*1. Organization Policies First (Week 2-4):*</a:t>
            </a:r>
          </a:p>
          <a:p>
            <a:r>
              <a:t>- Deployed 50+ constraints before any application projects</a:t>
            </a:r>
          </a:p>
          <a:p>
            <a:r>
              <a:t>- Prevented 15+ potential security misconfigurations</a:t>
            </a:r>
          </a:p>
          <a:p>
            <a:r>
              <a:t>- Examples: blocked public IPs, enforced encryption, location restrictions</a:t>
            </a:r>
          </a:p>
          <a:p>
            <a:r>
              <a:t>- Recommendation: Always deploy policies before workloads</a:t>
            </a:r>
          </a:p>
          <a:p/>
          <a:p>
            <a:r>
              <a:t>*2. Pilot-Then-Scale Approach (Week 11-12):*</a:t>
            </a:r>
          </a:p>
          <a:p>
            <a:r>
              <a:t>- Started with 2 application teams (dev + prod projects each)</a:t>
            </a:r>
          </a:p>
          <a:p>
            <a:r>
              <a:t>- Validated provisioning workflow, network, security</a:t>
            </a:r>
          </a:p>
          <a:p>
            <a:r>
              <a:t>- Gathered feedback before broader rollout</a:t>
            </a:r>
          </a:p>
          <a:p>
            <a:r>
              <a:t>- Recommendation: 2-4 week pilot before enterprise scale</a:t>
            </a:r>
          </a:p>
          <a:p/>
          <a:p>
            <a:r>
              <a:t>*3. Cloud Foundation Toolkit Modules:*</a:t>
            </a:r>
          </a:p>
          <a:p>
            <a:r>
              <a:t>- Pre-built, Google-validated Terraform modules</a:t>
            </a:r>
          </a:p>
          <a:p>
            <a:r>
              <a:t>- Accelerated development by 40%</a:t>
            </a:r>
          </a:p>
          <a:p>
            <a:r>
              <a:t>- Consistent patterns across all projects</a:t>
            </a:r>
          </a:p>
          <a:p>
            <a:r>
              <a:t>- Recommendation: Customize CFT vs building from scratch</a:t>
            </a:r>
          </a:p>
          <a:p/>
          <a:p>
            <a:r>
              <a:t>*4. Weekly Architecture Reviews:*</a:t>
            </a:r>
          </a:p>
          <a:p>
            <a:r>
              <a:t>- Thursday reviews with platform and security teams</a:t>
            </a:r>
          </a:p>
          <a:p>
            <a:r>
              <a:t>- Caught 3 design issues early (IAM, network, logging)</a:t>
            </a:r>
          </a:p>
          <a:p>
            <a:r>
              <a:t>- Built organizational alignment</a:t>
            </a:r>
          </a:p>
          <a:p>
            <a:r>
              <a:t>- Recommendation: Continue post-implementation quarterly</a:t>
            </a:r>
          </a:p>
          <a:p/>
          <a:p>
            <a:r>
              <a:t>**Challenges Overcome - Details:**</a:t>
            </a:r>
          </a:p>
          <a:p/>
          <a:p>
            <a:r>
              <a:t>*1. ISP Coordination for Interconnect:*</a:t>
            </a:r>
          </a:p>
          <a:p>
            <a:r>
              <a:t>- Challenge: ISP required 6 weeks for circuit provisioning</a:t>
            </a:r>
          </a:p>
          <a:p>
            <a:r>
              <a:t>- Impact: Started Interconnect coordination in Week 1</a:t>
            </a:r>
          </a:p>
          <a:p>
            <a:r>
              <a:t>- Resolution: Early engagement with ISP and Google partner</a:t>
            </a:r>
          </a:p>
          <a:p>
            <a:r>
              <a:t>- Result: Interconnect live in Week 8 as planned</a:t>
            </a:r>
          </a:p>
          <a:p/>
          <a:p>
            <a:r>
              <a:t>*2. Legacy IAM Pattern Migration:*</a:t>
            </a:r>
          </a:p>
          <a:p>
            <a:r>
              <a:t>- Challenge: Teams accustomed to overly permissive IAM</a:t>
            </a:r>
          </a:p>
          <a:p>
            <a:r>
              <a:t>- Resolution: Documented new role mappings, provided training</a:t>
            </a:r>
          </a:p>
          <a:p>
            <a:r>
              <a:t>- Result: All teams operating with least-privilege model</a:t>
            </a:r>
          </a:p>
          <a:p/>
          <a:p>
            <a:r>
              <a:t>*3. Chronicle SIEM Tuning:*</a:t>
            </a:r>
          </a:p>
          <a:p>
            <a:r>
              <a:t>- Challenge: Initial alert noise from default rules</a:t>
            </a:r>
          </a:p>
          <a:p>
            <a:r>
              <a:t>- Resolution: Customized detection rules, added exclusions</a:t>
            </a:r>
          </a:p>
          <a:p>
            <a:r>
              <a:t>- Result: Actionable alerts with &lt;5% false positive rate</a:t>
            </a:r>
          </a:p>
          <a:p/>
          <a:p>
            <a:r>
              <a:t>**Recommendations for Future Enhancement:**</a:t>
            </a:r>
          </a:p>
          <a:p/>
          <a:p>
            <a:r>
              <a:t>*1. Expand to 30 Projects (Phase 2):*</a:t>
            </a:r>
          </a:p>
          <a:p>
            <a:r>
              <a:t>- Current foundation supports 75+ projects without changes</a:t>
            </a:r>
          </a:p>
          <a:p>
            <a:r>
              <a:t>- Prioritize teams by business value</a:t>
            </a:r>
          </a:p>
          <a:p>
            <a:r>
              <a:t>- Estimated effort: 4 weeks per 10 projects</a:t>
            </a:r>
          </a:p>
          <a:p>
            <a:r>
              <a:t>- Investment: ~$30K incremental (infrastructure + support)</a:t>
            </a:r>
          </a:p>
          <a:p/>
          <a:p>
            <a:r>
              <a:t>*2. Add GKE Autopilot Platform:*</a:t>
            </a:r>
          </a:p>
          <a:p>
            <a:r>
              <a:t>- Container platform for microservices workloads</a:t>
            </a:r>
          </a:p>
          <a:p>
            <a:r>
              <a:t>- Integrates with existing Shared VPC and security</a:t>
            </a:r>
          </a:p>
          <a:p>
            <a:r>
              <a:t>- Estimated effort: 6 weeks</a:t>
            </a:r>
          </a:p>
          <a:p>
            <a:r>
              <a:t>- Enables modern application architectures</a:t>
            </a:r>
          </a:p>
          <a:p/>
          <a:p>
            <a:r>
              <a:t>*3. Implement VPC Service Controls:*</a:t>
            </a:r>
          </a:p>
          <a:p>
            <a:r>
              <a:t>- Data exfiltration prevention for sensitive workloads</a:t>
            </a:r>
          </a:p>
          <a:p>
            <a:r>
              <a:t>- Required for PCI-DSS cardholder data</a:t>
            </a:r>
          </a:p>
          <a:p>
            <a:r>
              <a:t>- Estimated effort: 3 weeks</a:t>
            </a:r>
          </a:p>
          <a:p>
            <a:r>
              <a:t>- Enhances security perimeter</a:t>
            </a:r>
          </a:p>
          <a:p/>
          <a:p>
            <a:r>
              <a:t>*Transition:*</a:t>
            </a:r>
          </a:p>
          <a:p>
            <a:r>
              <a:t>"Let me walk you through how we're transitioning support to your team..."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*Support Transition - Complete Details:*</a:t>
            </a:r>
          </a:p>
          <a:p/>
          <a:p>
            <a:r>
              <a:t>**Hypercare Period Summary (30 Days Post-Go-Live):**</a:t>
            </a:r>
          </a:p>
          <a:p/>
          <a:p>
            <a:r>
              <a:t>*Daily Activities Completed:*</a:t>
            </a:r>
          </a:p>
          <a:p>
            <a:r>
              <a:t>- Morning health check calls (9am) - first 2 weeks</a:t>
            </a:r>
          </a:p>
          <a:p>
            <a:r>
              <a:t>- Cloud Monitoring dashboard review</a:t>
            </a:r>
          </a:p>
          <a:p>
            <a:r>
              <a:t>- SCC findings review</a:t>
            </a:r>
          </a:p>
          <a:p>
            <a:r>
              <a:t>- Interconnect status verification</a:t>
            </a:r>
          </a:p>
          <a:p>
            <a:r>
              <a:t>- Project provisioning queue check</a:t>
            </a:r>
          </a:p>
          <a:p/>
          <a:p>
            <a:r>
              <a:t>*Issues Resolved During Hypercare:*</a:t>
            </a:r>
          </a:p>
          <a:p/>
          <a:p>
            <a:r>
              <a:t>Issue #1 (P3) - Day 5:</a:t>
            </a:r>
          </a:p>
          <a:p>
            <a:r>
              <a:t>- Problem: Terraform state lock timeout during concurrent applies</a:t>
            </a:r>
          </a:p>
          <a:p>
            <a:r>
              <a:t>- Root cause: State backend configuration</a:t>
            </a:r>
          </a:p>
          <a:p>
            <a:r>
              <a:t>- Resolution: Implemented state locking with Cloud Storage</a:t>
            </a:r>
          </a:p>
          <a:p>
            <a:r>
              <a:t>- Prevention: Added concurrency controls to pipeline</a:t>
            </a:r>
          </a:p>
          <a:p/>
          <a:p>
            <a:r>
              <a:t>Issue #2 (P3) - Day 12:</a:t>
            </a:r>
          </a:p>
          <a:p>
            <a:r>
              <a:t>- Problem: Chronicle alert for unusual API activity</a:t>
            </a:r>
          </a:p>
          <a:p>
            <a:r>
              <a:t>- Root cause: Automated scanning tool (authorized)</a:t>
            </a:r>
          </a:p>
          <a:p>
            <a:r>
              <a:t>- Resolution: Added exclusion rule for known scanner</a:t>
            </a:r>
          </a:p>
          <a:p>
            <a:r>
              <a:t>- Result: Reduced false positives</a:t>
            </a:r>
          </a:p>
          <a:p/>
          <a:p>
            <a:r>
              <a:t>*Knowledge Transfer Sessions Delivered:*</a:t>
            </a:r>
          </a:p>
          <a:p/>
          <a:p>
            <a:r>
              <a:t>| Session | Date | Attendees | Duration | Recording |</a:t>
            </a:r>
          </a:p>
          <a:p>
            <a:r>
              <a:t>|---------|------|-----------|----------|-----------|</a:t>
            </a:r>
          </a:p>
          <a:p>
            <a:r>
              <a:t>| Platform Admin Deep Dive | Week 13 | 4 admins | 3 hours | Yes |</a:t>
            </a:r>
          </a:p>
          <a:p>
            <a:r>
              <a:t>| Terraform Module Training | Week 14 | 6 engineers | 2 hours | Yes |</a:t>
            </a:r>
          </a:p>
          <a:p>
            <a:r>
              <a:t>| Security Operations | Week 14 | 4 security | 2 hours | Yes |</a:t>
            </a:r>
          </a:p>
          <a:p>
            <a:r>
              <a:t>| FinOps Dashboard | Week 15 | 3 managers | 1 hour | Yes |</a:t>
            </a:r>
          </a:p>
          <a:p>
            <a:r>
              <a:t>| Troubleshooting Workshop | Week 15 | 8 staff | 2 hours | Yes |</a:t>
            </a:r>
          </a:p>
          <a:p/>
          <a:p>
            <a:r>
              <a:t>*Runbook Validation:*</a:t>
            </a:r>
          </a:p>
          <a:p>
            <a:r>
              <a:t>- All 10 runbook procedures tested by client team</a:t>
            </a:r>
          </a:p>
          <a:p>
            <a:r>
              <a:t>- Signed off by [Platform Lead] on [Date]</a:t>
            </a:r>
          </a:p>
          <a:p>
            <a:r>
              <a:t>- Procedures validated:</a:t>
            </a:r>
          </a:p>
          <a:p>
            <a:r>
              <a:t>  1. Daily health check</a:t>
            </a:r>
          </a:p>
          <a:p>
            <a:r>
              <a:t>  2. Project provisioning workflow</a:t>
            </a:r>
          </a:p>
          <a:p>
            <a:r>
              <a:t>  3. Interconnect monitoring</a:t>
            </a:r>
          </a:p>
          <a:p>
            <a:r>
              <a:t>  4. Security incident response</a:t>
            </a:r>
          </a:p>
          <a:p>
            <a:r>
              <a:t>  5. Organization policy exceptions</a:t>
            </a:r>
          </a:p>
          <a:p>
            <a:r>
              <a:t>  6. Cost anomaly investigation</a:t>
            </a:r>
          </a:p>
          <a:p>
            <a:r>
              <a:t>  7. User access management</a:t>
            </a:r>
          </a:p>
          <a:p>
            <a:r>
              <a:t>  8. Backup verification</a:t>
            </a:r>
          </a:p>
          <a:p>
            <a:r>
              <a:t>  9. DR procedures</a:t>
            </a:r>
          </a:p>
          <a:p>
            <a:r>
              <a:t>  10. Capacity management</a:t>
            </a:r>
          </a:p>
          <a:p/>
          <a:p>
            <a:r>
              <a:t>**Steady State Support Model:**</a:t>
            </a:r>
          </a:p>
          <a:p/>
          <a:p>
            <a:r>
              <a:t>*What Client Team Handles (L1):*</a:t>
            </a:r>
          </a:p>
          <a:p>
            <a:r>
              <a:t>- Daily monitoring via Cloud Monitoring dashboards</a:t>
            </a:r>
          </a:p>
          <a:p>
            <a:r>
              <a:t>- Project provisioning requests via Terraform</a:t>
            </a:r>
          </a:p>
          <a:p>
            <a:r>
              <a:t>- User access management</a:t>
            </a:r>
          </a:p>
          <a:p>
            <a:r>
              <a:t>- Basic troubleshooting (per runbook)</a:t>
            </a:r>
          </a:p>
          <a:p>
            <a:r>
              <a:t>- Monthly cost review</a:t>
            </a:r>
          </a:p>
          <a:p>
            <a:r>
              <a:t>- Security finding triage</a:t>
            </a:r>
          </a:p>
          <a:p/>
          <a:p>
            <a:r>
              <a:t>*When to Escalate to Google (L2/L3):*</a:t>
            </a:r>
          </a:p>
          <a:p>
            <a:r>
              <a:t>- GCP service issues or outages</a:t>
            </a:r>
          </a:p>
          <a:p>
            <a:r>
              <a:t>- Interconnect connectivity problems</a:t>
            </a:r>
          </a:p>
          <a:p>
            <a:r>
              <a:t>- SCC findings requiring Google guidance</a:t>
            </a:r>
          </a:p>
          <a:p>
            <a:r>
              <a:t>- Service limit increases</a:t>
            </a:r>
          </a:p>
          <a:p>
            <a:r>
              <a:t>- New service enablement</a:t>
            </a:r>
          </a:p>
          <a:p>
            <a:r>
              <a:t>- Architecture consultation</a:t>
            </a:r>
          </a:p>
          <a:p/>
          <a:p>
            <a:r>
              <a:t>**Support Contact Information:**</a:t>
            </a:r>
          </a:p>
          <a:p/>
          <a:p>
            <a:r>
              <a:t>| Role | Name | Email | Phone | Availability |</a:t>
            </a:r>
          </a:p>
          <a:p>
            <a:r>
              <a:t>|------|------|-------|-------|--------------|</a:t>
            </a:r>
          </a:p>
          <a:p>
            <a:r>
              <a:t>| Platform Lead | [Name] | [email] | [phone] | Business hours |</a:t>
            </a:r>
          </a:p>
          <a:p>
            <a:r>
              <a:t>| Security Lead | [Name] | [email] | [phone] | Business hours |</a:t>
            </a:r>
          </a:p>
          <a:p>
            <a:r>
              <a:t>| On-Call | Platform Team | [email] | [phone] | 24/7 |</a:t>
            </a:r>
          </a:p>
          <a:p>
            <a:r>
              <a:t>| Google Support | Enhanced | support.google.com | N/A | 24/7 |</a:t>
            </a:r>
          </a:p>
          <a:p/>
          <a:p>
            <a:r>
              <a:t>*Transition:*</a:t>
            </a:r>
          </a:p>
          <a:p>
            <a:r>
              <a:t>"Let me acknowledge the team that made this possible and outline next steps..."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*Acknowledgments - Recognize Key Contributors:*</a:t>
            </a:r>
          </a:p>
          <a:p/>
          <a:p>
            <a:r>
              <a:t>**Client Team Recognition:**</a:t>
            </a:r>
          </a:p>
          <a:p/>
          <a:p>
            <a:r>
              <a:t>*Executive Sponsor - [Name]:*</a:t>
            </a:r>
          </a:p>
          <a:p>
            <a:r>
              <a:t>- Championed cloud-first strategy and landing zone investment</a:t>
            </a:r>
          </a:p>
          <a:p>
            <a:r>
              <a:t>- Secured budget and organizational support</a:t>
            </a:r>
          </a:p>
          <a:p>
            <a:r>
              <a:t>- Drove organization policy adoption across teams</a:t>
            </a:r>
          </a:p>
          <a:p>
            <a:r>
              <a:t>- Key decision: Approved pilot-then-scale approach</a:t>
            </a:r>
          </a:p>
          <a:p/>
          <a:p>
            <a:r>
              <a:t>*Platform Lead - [Name]:*</a:t>
            </a:r>
          </a:p>
          <a:p>
            <a:r>
              <a:t>- Technical counterpart throughout implementation</a:t>
            </a:r>
          </a:p>
          <a:p>
            <a:r>
              <a:t>- Cloud Foundation Toolkit module customization</a:t>
            </a:r>
          </a:p>
          <a:p>
            <a:r>
              <a:t>- Knowledge transfer recipient and future owner</a:t>
            </a:r>
          </a:p>
          <a:p>
            <a:r>
              <a:t>- Will lead Phase 2 expansion</a:t>
            </a:r>
          </a:p>
          <a:p/>
          <a:p>
            <a:r>
              <a:t>*Security Lead - [Name]:*</a:t>
            </a:r>
          </a:p>
          <a:p>
            <a:r>
              <a:t>- Security baseline design and validation</a:t>
            </a:r>
          </a:p>
          <a:p>
            <a:r>
              <a:t>- Organization policy constraint definition</a:t>
            </a:r>
          </a:p>
          <a:p>
            <a:r>
              <a:t>- Chronicle SIEM rule customization</a:t>
            </a:r>
          </a:p>
          <a:p>
            <a:r>
              <a:t>- SOC 2 and PCI-DSS control mapping</a:t>
            </a:r>
          </a:p>
          <a:p/>
          <a:p>
            <a:r>
              <a:t>*Network Lead - [Name]:*</a:t>
            </a:r>
          </a:p>
          <a:p>
            <a:r>
              <a:t>- Interconnect coordination with ISP</a:t>
            </a:r>
          </a:p>
          <a:p>
            <a:r>
              <a:t>- Shared VPC design and IP planning</a:t>
            </a:r>
          </a:p>
          <a:p>
            <a:r>
              <a:t>- Hybrid connectivity testing</a:t>
            </a:r>
          </a:p>
          <a:p>
            <a:r>
              <a:t>- On-premises integration</a:t>
            </a:r>
          </a:p>
          <a:p/>
          <a:p>
            <a:r>
              <a:t>*Pilot Application Teams:*</a:t>
            </a:r>
          </a:p>
          <a:p>
            <a:r>
              <a:t>- First teams to trust the new platform</a:t>
            </a:r>
          </a:p>
          <a:p>
            <a:r>
              <a:t>- Provided critical feedback during pilot</a:t>
            </a:r>
          </a:p>
          <a:p>
            <a:r>
              <a:t>- Validated provisioning workflow end-to-end</a:t>
            </a:r>
          </a:p>
          <a:p>
            <a:r>
              <a:t>- Champions for broader adoption</a:t>
            </a:r>
          </a:p>
          <a:p/>
          <a:p>
            <a:r>
              <a:t>**Vendor Team Recognition:**</a:t>
            </a:r>
          </a:p>
          <a:p/>
          <a:p>
            <a:r>
              <a:t>*Project Manager - [Name]:*</a:t>
            </a:r>
          </a:p>
          <a:p>
            <a:r>
              <a:t>- Overall delivery accountability</a:t>
            </a:r>
          </a:p>
          <a:p>
            <a:r>
              <a:t>- Stakeholder communication</a:t>
            </a:r>
          </a:p>
          <a:p>
            <a:r>
              <a:t>- Risk and issue management</a:t>
            </a:r>
          </a:p>
          <a:p>
            <a:r>
              <a:t>- On-time, on-budget delivery</a:t>
            </a:r>
          </a:p>
          <a:p/>
          <a:p>
            <a:r>
              <a:t>*GCP Architect - [Name]:*</a:t>
            </a:r>
          </a:p>
          <a:p>
            <a:r>
              <a:t>- Landing zone architecture design</a:t>
            </a:r>
          </a:p>
          <a:p>
            <a:r>
              <a:t>- Cloud Foundation Toolkit configuration</a:t>
            </a:r>
          </a:p>
          <a:p>
            <a:r>
              <a:t>- Security baseline implementation</a:t>
            </a:r>
          </a:p>
          <a:p>
            <a:r>
              <a:t>- Technical documentation</a:t>
            </a:r>
          </a:p>
          <a:p/>
          <a:p>
            <a:r>
              <a:t>*Platform Engineer - [Name]:*</a:t>
            </a:r>
          </a:p>
          <a:p>
            <a:r>
              <a:t>- Terraform module development</a:t>
            </a:r>
          </a:p>
          <a:p>
            <a:r>
              <a:t>- CI/CD pipeline setup</a:t>
            </a:r>
          </a:p>
          <a:p>
            <a:r>
              <a:t>- Shared VPC deployment</a:t>
            </a:r>
          </a:p>
          <a:p>
            <a:r>
              <a:t>- Interconnect provisioning</a:t>
            </a:r>
          </a:p>
          <a:p/>
          <a:p>
            <a:r>
              <a:t>**Immediate Next Steps (This Week):**</a:t>
            </a:r>
          </a:p>
          <a:p/>
          <a:p>
            <a:r>
              <a:t>| Task | Owner | Due Date |</a:t>
            </a:r>
          </a:p>
          <a:p>
            <a:r>
              <a:t>|------|-------|----------|</a:t>
            </a:r>
          </a:p>
          <a:p>
            <a:r>
              <a:t>| Final documentation handover | PM | [Date] |</a:t>
            </a:r>
          </a:p>
          <a:p>
            <a:r>
              <a:t>| Archive project SharePoint site | PM | [Date] |</a:t>
            </a:r>
          </a:p>
          <a:p>
            <a:r>
              <a:t>| Update asset inventory | Platform Lead | [Date] |</a:t>
            </a:r>
          </a:p>
          <a:p>
            <a:r>
              <a:t>| Confirm support contacts | Platform Lead | [Date] |</a:t>
            </a:r>
          </a:p>
          <a:p/>
          <a:p>
            <a:r>
              <a:t>**30-Day Next Steps:**</a:t>
            </a:r>
          </a:p>
          <a:p/>
          <a:p>
            <a:r>
              <a:t>| Task | Owner | Due Date |</a:t>
            </a:r>
          </a:p>
          <a:p>
            <a:r>
              <a:t>|------|-------|----------|</a:t>
            </a:r>
          </a:p>
          <a:p>
            <a:r>
              <a:t>| First monthly performance review | Platform Lead | [Date+30] |</a:t>
            </a:r>
          </a:p>
          <a:p>
            <a:r>
              <a:t>| Security posture assessment | Security Lead | [Date+30] |</a:t>
            </a:r>
          </a:p>
          <a:p>
            <a:r>
              <a:t>| Cost optimization review | FinOps Lead | [Date+30] |</a:t>
            </a:r>
          </a:p>
          <a:p>
            <a:r>
              <a:t>| Identify Phase 2 teams | Business Lead | [Date+30] |</a:t>
            </a:r>
          </a:p>
          <a:p/>
          <a:p>
            <a:r>
              <a:t>**Phase 2 Opportunities:**</a:t>
            </a:r>
          </a:p>
          <a:p/>
          <a:p>
            <a:r>
              <a:t>| Capability | Effort | Business Value |</a:t>
            </a:r>
          </a:p>
          <a:p>
            <a:r>
              <a:t>|------------|--------|----------------|</a:t>
            </a:r>
          </a:p>
          <a:p>
            <a:r>
              <a:t>| Expand to 30 projects | 4 weeks | Enable 15+ teams |</a:t>
            </a:r>
          </a:p>
          <a:p>
            <a:r>
              <a:t>| GKE Autopilot platform | 6 weeks | Container workloads |</a:t>
            </a:r>
          </a:p>
          <a:p>
            <a:r>
              <a:t>| VPC Service Controls | 3 weeks | Data protection |</a:t>
            </a:r>
          </a:p>
          <a:p>
            <a:r>
              <a:t>| Advanced Chronicle | 2 weeks | Threat detection |</a:t>
            </a:r>
          </a:p>
          <a:p/>
          <a:p>
            <a:r>
              <a:t>*Transition:*</a:t>
            </a:r>
          </a:p>
          <a:p>
            <a:r>
              <a:t>"Thank you for your partnership on this project. Let me open the floor for questions..."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*Closing and Q&amp;A Preparation:*</a:t>
            </a:r>
          </a:p>
          <a:p/>
          <a:p>
            <a:r>
              <a:t>**Closing Statement:**</a:t>
            </a:r>
          </a:p>
          <a:p>
            <a:r>
              <a:t>"Thank you for your partnership throughout this project. We've successfully transformed cloud adoption from fragmented, ungoverned projects into a secure, automated platform. The landing zone is exceeding our targets, the team is trained and self-sufficient, and you're ready to scale to support the entire organization.</a:t>
            </a:r>
          </a:p>
          <a:p/>
          <a:p>
            <a:r>
              <a:t>I want to open the floor for questions. We have [time] remaining."</a:t>
            </a:r>
          </a:p>
          <a:p/>
          <a:p>
            <a:r>
              <a:t>**Anticipated Questions and Prepared Answers:**</a:t>
            </a:r>
          </a:p>
          <a:p/>
          <a:p>
            <a:r>
              <a:t>*Q: How do we add new application teams?*</a:t>
            </a:r>
          </a:p>
          <a:p>
            <a:r>
              <a:t>A: The Cloud Foundation Toolkit modules make this straightforward. Platform admins can provision new projects in 45 minutes using Terraform. The runbook documents the complete workflow. For new teams, allow 1-2 days for IAM setup and training.</a:t>
            </a:r>
          </a:p>
          <a:p/>
          <a:p>
            <a:r>
              <a:t>*Q: What if we need to change organization policies?*</a:t>
            </a:r>
          </a:p>
          <a:p>
            <a:r>
              <a:t>A: Organization policy changes should go through the security team for review. The exception workflow is documented in the runbook. Changes are made via Terraform with peer review required. Test in non-prod folder first.</a:t>
            </a:r>
          </a:p>
          <a:p/>
          <a:p>
            <a:r>
              <a:t>*Q: What are the ongoing GCP costs?*</a:t>
            </a:r>
          </a:p>
          <a:p>
            <a:r>
              <a:t>A: Current run rate is approximately $4,200/month:</a:t>
            </a:r>
          </a:p>
          <a:p>
            <a:r>
              <a:t>- Shared VPC and Cloud NAT: $420/month</a:t>
            </a:r>
          </a:p>
          <a:p>
            <a:r>
              <a:t>- Dedicated Interconnect: $2,400/month</a:t>
            </a:r>
          </a:p>
          <a:p>
            <a:r>
              <a:t>- Cloud Logging and Monitoring: $460/month</a:t>
            </a:r>
          </a:p>
          <a:p>
            <a:r>
              <a:t>- Other services: $920/month</a:t>
            </a:r>
          </a:p>
          <a:p>
            <a:r>
              <a:t>Costs scale with projects and logging volume.</a:t>
            </a:r>
          </a:p>
          <a:p/>
          <a:p>
            <a:r>
              <a:t>*Q: How do we handle Interconnect issues?*</a:t>
            </a:r>
          </a:p>
          <a:p>
            <a:r>
              <a:t>A: For Interconnect issues, check the runbook first. Common issues are BGP session flaps (usually ISP-side). Open a case with Google Cloud Support for persistent issues. The 4 VLAN attachments provide redundancy during troubleshooting.</a:t>
            </a:r>
          </a:p>
          <a:p/>
          <a:p>
            <a:r>
              <a:t>*Q: When should we start Phase 2?*</a:t>
            </a:r>
          </a:p>
          <a:p>
            <a:r>
              <a:t>A: I recommend waiting 60-90 days to:</a:t>
            </a:r>
          </a:p>
          <a:p>
            <a:r>
              <a:t>1. Establish stable operational patterns</a:t>
            </a:r>
          </a:p>
          <a:p>
            <a:r>
              <a:t>2. Complete all 5 initial teams' onboarding</a:t>
            </a:r>
          </a:p>
          <a:p>
            <a:r>
              <a:t>3. Gather usage data for capacity planning</a:t>
            </a:r>
          </a:p>
          <a:p>
            <a:r>
              <a:t>4. Build internal team confidence</a:t>
            </a:r>
          </a:p>
          <a:p>
            <a:r>
              <a:t>Then schedule Phase 2 planning workshop.</a:t>
            </a:r>
          </a:p>
          <a:p/>
          <a:p>
            <a:r>
              <a:t>**Follow-Up Commitments:**</a:t>
            </a:r>
          </a:p>
          <a:p>
            <a:r>
              <a:t>- [ ] Send final presentation deck to all attendees</a:t>
            </a:r>
          </a:p>
          <a:p>
            <a:r>
              <a:t>- [ ] Distribute project summary one-pager</a:t>
            </a:r>
          </a:p>
          <a:p>
            <a:r>
              <a:t>- [ ] Schedule 30-day performance review meeting</a:t>
            </a:r>
          </a:p>
          <a:p>
            <a:r>
              <a:t>- [ ] Send Phase 2 scope and estimate template</a:t>
            </a:r>
          </a:p>
          <a:p>
            <a:r>
              <a:t>- [ ] Provide vendor support contract options (if requested)</a:t>
            </a:r>
          </a:p>
          <a:p/>
          <a:p>
            <a:r>
              <a:t>**Final Closing:**</a:t>
            </a:r>
          </a:p>
          <a:p>
            <a:r>
              <a:t>"Thank you again for your trust in our team. This landing zone provides the secure foundation for your digital transformation. We look forward to supporting Phase 2 expansion.</a:t>
            </a:r>
          </a:p>
          <a:p/>
          <a:p>
            <a:r>
              <a:t>Please reach out to me or [Account Manager] if any questions come up. Have a great [rest of your day/afternoon]."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31079"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721470" y="678433"/>
            <a:ext cx="4228856"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Project Closeout</a:t>
            </a:r>
          </a:p>
        </p:txBody>
      </p:sp>
      <p:sp>
        <p:nvSpPr>
          <p:cNvPr id="5" name="Text Placeholder 4"/>
          <p:cNvSpPr>
            <a:spLocks noGrp="1"/>
          </p:cNvSpPr>
          <p:nvPr>
            <p:ph type="body" idx="14" sz="quarter"/>
          </p:nvPr>
        </p:nvSpPr>
        <p:spPr/>
        <p:txBody>
          <a:bodyPr/>
          <a:lstStyle/>
          <a:p>
            <a:r>
              <a:t>Google Cloud Landing Zone</a:t>
            </a:r>
          </a:p>
        </p:txBody>
      </p:sp>
      <p:sp>
        <p:nvSpPr>
          <p:cNvPr id="6" name="Text Placeholder 5"/>
          <p:cNvSpPr>
            <a:spLocks noGrp="1"/>
          </p:cNvSpPr>
          <p:nvPr>
            <p:ph type="body" idx="15" sz="quarter"/>
          </p:nvPr>
        </p:nvSpPr>
        <p:spPr/>
        <p:txBody>
          <a:bodyPr/>
          <a:lstStyle/>
          <a:p>
            <a:r>
              <a:t>Project Manager | November 27,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Executive Summary</a:t>
            </a:r>
          </a:p>
        </p:txBody>
      </p:sp>
      <p:sp>
        <p:nvSpPr>
          <p:cNvPr id="4" name="Text Placeholder 3"/>
          <p:cNvSpPr>
            <a:spLocks noGrp="1"/>
          </p:cNvSpPr>
          <p:nvPr>
            <p:ph type="body" idx="14" sz="quarter"/>
          </p:nvPr>
        </p:nvSpPr>
        <p:spPr/>
        <p:txBody>
          <a:bodyPr/>
          <a:lstStyle/>
          <a:p>
            <a:pPr/>
            <a:r>
              <a:rPr b="1"/>
              <a:t>Project Duration:</a:t>
            </a:r>
            <a:r>
              <a:t> 12 weeks, on schedule</a:t>
            </a:r>
          </a:p>
          <a:p>
            <a:pPr/>
            <a:r>
              <a:rPr b="1"/>
              <a:t>Budget:</a:t>
            </a:r>
            <a:r>
              <a:t> $105,948 delivered on budget</a:t>
            </a:r>
          </a:p>
          <a:p>
            <a:pPr/>
            <a:r>
              <a:rPr b="1"/>
              <a:t>Go-Live Date:</a:t>
            </a:r>
            <a:r>
              <a:t> Week 12 as planned</a:t>
            </a:r>
          </a:p>
          <a:p>
            <a:pPr/>
            <a:r>
              <a:rPr b="1"/>
              <a:t>Quality:</a:t>
            </a:r>
            <a:r>
              <a:t> Zero critical defects at launch</a:t>
            </a:r>
          </a:p>
          <a:p>
            <a:pPr/>
            <a:r>
              <a:rPr b="1"/>
              <a:t>Project Provisioning:</a:t>
            </a:r>
            <a:r>
              <a:t> 95% faster (6 weeks to 45 min)</a:t>
            </a:r>
          </a:p>
          <a:p>
            <a:pPr/>
            <a:r>
              <a:rPr b="1"/>
              <a:t>Security Compliance:</a:t>
            </a:r>
            <a:r>
              <a:t> 100% SOC 2 and PCI-DSS controls</a:t>
            </a:r>
          </a:p>
          <a:p>
            <a:pPr/>
            <a:r>
              <a:rPr b="1"/>
              <a:t>ROI Status:</a:t>
            </a:r>
            <a:r>
              <a:t> On track for 18-month payback</a:t>
            </a:r>
          </a:p>
        </p:txBody>
      </p:sp>
      <p:sp>
        <p:nvSpPr>
          <p:cNvPr id="5" name="Text Placeholder 4"/>
          <p:cNvSpPr>
            <a:spLocks noGrp="1"/>
          </p:cNvSpPr>
          <p:nvPr>
            <p:ph type="body" idx="15" sz="quarter"/>
          </p:nvPr>
        </p:nvSpPr>
        <p:spPr/>
        <p:txBody>
          <a:bodyPr/>
          <a:lstStyle/>
          <a:p>
            <a:pPr algn="r">
              <a:buNone/>
            </a:pPr>
            <a:r>
              <a:rPr sz="1100">
                <a:solidFill>
                  <a:srgbClr val="CC0000"/>
                </a:solidFill>
              </a:rPr>
              <a:t>Google Cloud Landing Zone</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Architecture</a:t>
            </a:r>
          </a:p>
        </p:txBody>
      </p:sp>
      <p:sp>
        <p:nvSpPr>
          <p:cNvPr id="5" name="Text Placeholder 4"/>
          <p:cNvSpPr>
            <a:spLocks noGrp="1"/>
          </p:cNvSpPr>
          <p:nvPr>
            <p:ph type="body" idx="16" sz="quarter"/>
          </p:nvPr>
        </p:nvSpPr>
        <p:spPr/>
        <p:txBody>
          <a:bodyPr/>
          <a:lstStyle/>
          <a:p>
            <a:pPr/>
            <a:r>
              <a:rPr b="1"/>
              <a:t>Platform Foundation</a:t>
            </a:r>
          </a:p>
          <a:p>
            <a:pPr lvl="1"/>
            <a:r>
              <a:t>GCP Organization with folder hierarchy</a:t>
            </a:r>
          </a:p>
          <a:p>
            <a:pPr lvl="1"/>
            <a:r>
              <a:t>Cloud Foundation Toolkit modules</a:t>
            </a:r>
          </a:p>
          <a:p>
            <a:pPr lvl="1"/>
            <a:r>
              <a:t>Centralized billing and chargeback</a:t>
            </a:r>
          </a:p>
          <a:p>
            <a:pPr/>
            <a:r>
              <a:rPr b="1"/>
              <a:t>Security &amp; Governance</a:t>
            </a:r>
          </a:p>
          <a:p>
            <a:pPr lvl="1"/>
            <a:r>
              <a:t>SCC Premium and Chronicle SIEM</a:t>
            </a:r>
          </a:p>
          <a:p>
            <a:pPr lvl="1"/>
            <a:r>
              <a:t>50+ organization policy constraints</a:t>
            </a:r>
          </a:p>
          <a:p>
            <a:pPr lvl="1"/>
            <a:r>
              <a:t>Cloud KMS encryption keys</a:t>
            </a:r>
          </a:p>
          <a:p>
            <a:pPr/>
            <a:r>
              <a:rPr b="1"/>
              <a:t>Network &amp; Connectivity</a:t>
            </a:r>
          </a:p>
          <a:p>
            <a:pPr lvl="1"/>
            <a:r>
              <a:t>Shared VPC hub-spoke (3 regions)</a:t>
            </a:r>
          </a:p>
          <a:p>
            <a:pPr lvl="1"/>
            <a:r>
              <a:t>Dedicated Interconnect 10 Gbps</a:t>
            </a:r>
          </a:p>
          <a:p>
            <a:pPr lvl="1"/>
            <a:r>
              <a:t>Cloud NAT and load balancers</a:t>
            </a:r>
          </a:p>
        </p:txBody>
      </p:sp>
      <p:sp>
        <p:nvSpPr>
          <p:cNvPr id="6" name="Text Placeholder 5"/>
          <p:cNvSpPr>
            <a:spLocks noGrp="1"/>
          </p:cNvSpPr>
          <p:nvPr>
            <p:ph type="body" idx="17" sz="quarter"/>
          </p:nvPr>
        </p:nvSpPr>
        <p:spPr/>
        <p:txBody>
          <a:bodyPr/>
          <a:lstStyle/>
          <a:p>
            <a:pPr algn="r">
              <a:buNone/>
            </a:pPr>
            <a:r>
              <a:rPr sz="1100">
                <a:solidFill>
                  <a:srgbClr val="CC0000"/>
                </a:solidFill>
              </a:rPr>
              <a:t>Google Cloud Landing Zone</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4"/>
          <a:stretch>
            <a:fillRect/>
          </a:stretch>
        </p:blipFill>
        <p:spPr>
          <a:xfrm>
            <a:off x="313592" y="4536078"/>
            <a:ext cx="2130670"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Deliverables Inventory</a:t>
            </a:r>
          </a:p>
        </p:txBody>
      </p:sp>
      <p:graphicFrame>
        <p:nvGraphicFramePr>
          <p:cNvPr id="4" name="Table Placeholder 3"/>
          <p:cNvGraphicFramePr>
            <a:graphicFrameLocks noGrp="1"/>
          </p:cNvGraphicFramePr>
          <p:nvPr>
            <p:ph type="tbl" idx="14" sz="quarter"/>
          </p:nvPr>
        </p:nvGraphicFramePr>
        <p:xfrm>
          <a:off x="256855" y="677011"/>
          <a:ext cx="8710931" cy="3337560"/>
        </p:xfrm>
        <a:graphic>
          <a:graphicData uri="http://schemas.openxmlformats.org/drawingml/2006/table">
            <a:tbl>
              <a:tblPr firstRow="1" bandRow="1">
                <a:tableStyleId>{5C22544A-7EE6-4342-B048-85BDC9FD1C3A}</a:tableStyleId>
              </a:tblPr>
              <a:tblGrid>
                <a:gridCol w="2613279"/>
                <a:gridCol w="3919919"/>
                <a:gridCol w="2177733"/>
              </a:tblGrid>
              <a:tr h="370840">
                <a:tc>
                  <a:txBody>
                    <a:bodyPr/>
                    <a:lstStyle/>
                    <a:p>
                      <a:r>
                        <a:rPr sz="1400">
                          <a:solidFill>
                            <a:srgbClr val="FFFFFF"/>
                          </a:solidFill>
                        </a:rPr>
                        <a:t>Deliverable</a:t>
                      </a:r>
                    </a:p>
                  </a:txBody>
                  <a:tcPr>
                    <a:solidFill>
                      <a:srgbClr val="A01C02"/>
                    </a:solidFill>
                  </a:tcPr>
                </a:tc>
                <a:tc>
                  <a:txBody>
                    <a:bodyPr/>
                    <a:lstStyle/>
                    <a:p>
                      <a:r>
                        <a:rPr sz="1400">
                          <a:solidFill>
                            <a:srgbClr val="FFFFFF"/>
                          </a:solidFill>
                        </a:rPr>
                        <a:t>Purpose</a:t>
                      </a:r>
                    </a:p>
                  </a:txBody>
                  <a:tcPr>
                    <a:solidFill>
                      <a:srgbClr val="A01C02"/>
                    </a:solidFill>
                  </a:tcPr>
                </a:tc>
                <a:tc>
                  <a:txBody>
                    <a:bodyPr/>
                    <a:lstStyle/>
                    <a:p>
                      <a:r>
                        <a:rPr sz="1400">
                          <a:solidFill>
                            <a:srgbClr val="FFFFFF"/>
                          </a:solidFill>
                        </a:rPr>
                        <a:t>Location</a:t>
                      </a:r>
                    </a:p>
                  </a:txBody>
                  <a:tcPr>
                    <a:solidFill>
                      <a:srgbClr val="A01C02"/>
                    </a:solidFill>
                  </a:tcPr>
                </a:tc>
              </a:tr>
              <a:tr h="370840">
                <a:tc>
                  <a:txBody>
                    <a:bodyPr/>
                    <a:lstStyle/>
                    <a:p>
                      <a:r>
                        <a:rPr b="1" sz="1100"/>
                        <a:t>Detailed Design Document</a:t>
                      </a:r>
                    </a:p>
                  </a:txBody>
                  <a:tcPr>
                    <a:solidFill>
                      <a:srgbClr val="E7E6E6"/>
                    </a:solidFill>
                  </a:tcPr>
                </a:tc>
                <a:tc>
                  <a:txBody>
                    <a:bodyPr/>
                    <a:lstStyle/>
                    <a:p>
                      <a:r>
                        <a:rPr sz="1100"/>
                        <a:t>Organization, network, security architecture</a:t>
                      </a:r>
                    </a:p>
                  </a:txBody>
                  <a:tcPr>
                    <a:solidFill>
                      <a:srgbClr val="E7E6E6"/>
                    </a:solidFill>
                  </a:tcPr>
                </a:tc>
                <a:tc>
                  <a:txBody>
                    <a:bodyPr/>
                    <a:lstStyle/>
                    <a:p>
                      <a:r>
                        <a:rPr sz="1100"/>
                        <a:t>`/delivery/detailed-design.docx`</a:t>
                      </a:r>
                    </a:p>
                  </a:txBody>
                  <a:tcPr>
                    <a:solidFill>
                      <a:srgbClr val="E7E6E6"/>
                    </a:solidFill>
                  </a:tcPr>
                </a:tc>
              </a:tr>
              <a:tr h="370840">
                <a:tc>
                  <a:txBody>
                    <a:bodyPr/>
                    <a:lstStyle/>
                    <a:p>
                      <a:r>
                        <a:rPr b="1" sz="1100"/>
                        <a:t>Implementation Guide</a:t>
                      </a:r>
                    </a:p>
                  </a:txBody>
                  <a:tcPr>
                    <a:solidFill>
                      <a:srgbClr val="E7E6E6"/>
                    </a:solidFill>
                  </a:tcPr>
                </a:tc>
                <a:tc>
                  <a:txBody>
                    <a:bodyPr/>
                    <a:lstStyle/>
                    <a:p>
                      <a:r>
                        <a:rPr sz="1100"/>
                        <a:t>Step-by-step deployment with Terraform</a:t>
                      </a:r>
                    </a:p>
                  </a:txBody>
                  <a:tcPr>
                    <a:solidFill>
                      <a:srgbClr val="E7E6E6"/>
                    </a:solidFill>
                  </a:tcPr>
                </a:tc>
                <a:tc>
                  <a:txBody>
                    <a:bodyPr/>
                    <a:lstStyle/>
                    <a:p>
                      <a:r>
                        <a:rPr sz="1100"/>
                        <a:t>`/delivery/implementation-guide.docx`</a:t>
                      </a:r>
                    </a:p>
                  </a:txBody>
                  <a:tcPr>
                    <a:solidFill>
                      <a:srgbClr val="E7E6E6"/>
                    </a:solidFill>
                  </a:tcPr>
                </a:tc>
              </a:tr>
              <a:tr h="370840">
                <a:tc>
                  <a:txBody>
                    <a:bodyPr/>
                    <a:lstStyle/>
                    <a:p>
                      <a:r>
                        <a:rPr b="1" sz="1100"/>
                        <a:t>Project Plan</a:t>
                      </a:r>
                    </a:p>
                  </a:txBody>
                  <a:tcPr>
                    <a:solidFill>
                      <a:srgbClr val="E7E6E6"/>
                    </a:solidFill>
                  </a:tcPr>
                </a:tc>
                <a:tc>
                  <a:txBody>
                    <a:bodyPr/>
                    <a:lstStyle/>
                    <a:p>
                      <a:r>
                        <a:rPr sz="1100"/>
                        <a:t>Timeline, milestones, RACI, communications</a:t>
                      </a:r>
                    </a:p>
                  </a:txBody>
                  <a:tcPr>
                    <a:solidFill>
                      <a:srgbClr val="E7E6E6"/>
                    </a:solidFill>
                  </a:tcPr>
                </a:tc>
                <a:tc>
                  <a:txBody>
                    <a:bodyPr/>
                    <a:lstStyle/>
                    <a:p>
                      <a:r>
                        <a:rPr sz="1100"/>
                        <a:t>`/delivery/project-plan.xlsx`</a:t>
                      </a:r>
                    </a:p>
                  </a:txBody>
                  <a:tcPr>
                    <a:solidFill>
                      <a:srgbClr val="E7E6E6"/>
                    </a:solidFill>
                  </a:tcPr>
                </a:tc>
              </a:tr>
              <a:tr h="370840">
                <a:tc>
                  <a:txBody>
                    <a:bodyPr/>
                    <a:lstStyle/>
                    <a:p>
                      <a:r>
                        <a:rPr b="1" sz="1100"/>
                        <a:t>Test Plan &amp; Results</a:t>
                      </a:r>
                    </a:p>
                  </a:txBody>
                  <a:tcPr>
                    <a:solidFill>
                      <a:srgbClr val="E7E6E6"/>
                    </a:solidFill>
                  </a:tcPr>
                </a:tc>
                <a:tc>
                  <a:txBody>
                    <a:bodyPr/>
                    <a:lstStyle/>
                    <a:p>
                      <a:r>
                        <a:rPr sz="1100"/>
                        <a:t>Validation tests and compliance results</a:t>
                      </a:r>
                    </a:p>
                  </a:txBody>
                  <a:tcPr>
                    <a:solidFill>
                      <a:srgbClr val="E7E6E6"/>
                    </a:solidFill>
                  </a:tcPr>
                </a:tc>
                <a:tc>
                  <a:txBody>
                    <a:bodyPr/>
                    <a:lstStyle/>
                    <a:p>
                      <a:r>
                        <a:rPr sz="1100"/>
                        <a:t>`/delivery/test-plan.xlsx`</a:t>
                      </a:r>
                    </a:p>
                  </a:txBody>
                  <a:tcPr>
                    <a:solidFill>
                      <a:srgbClr val="E7E6E6"/>
                    </a:solidFill>
                  </a:tcPr>
                </a:tc>
              </a:tr>
              <a:tr h="370840">
                <a:tc>
                  <a:txBody>
                    <a:bodyPr/>
                    <a:lstStyle/>
                    <a:p>
                      <a:r>
                        <a:rPr b="1" sz="1100"/>
                        <a:t>Cloud Foundation Toolkit</a:t>
                      </a:r>
                    </a:p>
                  </a:txBody>
                  <a:tcPr>
                    <a:solidFill>
                      <a:srgbClr val="E7E6E6"/>
                    </a:solidFill>
                  </a:tcPr>
                </a:tc>
                <a:tc>
                  <a:txBody>
                    <a:bodyPr/>
                    <a:lstStyle/>
                    <a:p>
                      <a:r>
                        <a:rPr sz="1100"/>
                        <a:t>Terraform modules for project factory</a:t>
                      </a:r>
                    </a:p>
                  </a:txBody>
                  <a:tcPr>
                    <a:solidFill>
                      <a:srgbClr val="E7E6E6"/>
                    </a:solidFill>
                  </a:tcPr>
                </a:tc>
                <a:tc>
                  <a:txBody>
                    <a:bodyPr/>
                    <a:lstStyle/>
                    <a:p>
                      <a:r>
                        <a:rPr sz="1100"/>
                        <a:t>`/delivery/scripts/terraform/`</a:t>
                      </a:r>
                    </a:p>
                  </a:txBody>
                  <a:tcPr>
                    <a:solidFill>
                      <a:srgbClr val="E7E6E6"/>
                    </a:solidFill>
                  </a:tcPr>
                </a:tc>
              </a:tr>
              <a:tr h="370840">
                <a:tc>
                  <a:txBody>
                    <a:bodyPr/>
                    <a:lstStyle/>
                    <a:p>
                      <a:r>
                        <a:rPr b="1" sz="1100"/>
                        <a:t>Configuration Guide</a:t>
                      </a:r>
                    </a:p>
                  </a:txBody>
                  <a:tcPr>
                    <a:solidFill>
                      <a:srgbClr val="E7E6E6"/>
                    </a:solidFill>
                  </a:tcPr>
                </a:tc>
                <a:tc>
                  <a:txBody>
                    <a:bodyPr/>
                    <a:lstStyle/>
                    <a:p>
                      <a:r>
                        <a:rPr sz="1100"/>
                        <a:t>Environment parameters and settings</a:t>
                      </a:r>
                    </a:p>
                  </a:txBody>
                  <a:tcPr>
                    <a:solidFill>
                      <a:srgbClr val="E7E6E6"/>
                    </a:solidFill>
                  </a:tcPr>
                </a:tc>
                <a:tc>
                  <a:txBody>
                    <a:bodyPr/>
                    <a:lstStyle/>
                    <a:p>
                      <a:r>
                        <a:rPr sz="1100"/>
                        <a:t>`/delivery/configuration.xlsx`</a:t>
                      </a:r>
                    </a:p>
                  </a:txBody>
                  <a:tcPr>
                    <a:solidFill>
                      <a:srgbClr val="E7E6E6"/>
                    </a:solidFill>
                  </a:tcPr>
                </a:tc>
              </a:tr>
              <a:tr h="370840">
                <a:tc>
                  <a:txBody>
                    <a:bodyPr/>
                    <a:lstStyle/>
                    <a:p>
                      <a:r>
                        <a:rPr b="1" sz="1100"/>
                        <a:t>Operations Runbook</a:t>
                      </a:r>
                    </a:p>
                  </a:txBody>
                  <a:tcPr>
                    <a:solidFill>
                      <a:srgbClr val="E7E6E6"/>
                    </a:solidFill>
                  </a:tcPr>
                </a:tc>
                <a:tc>
                  <a:txBody>
                    <a:bodyPr/>
                    <a:lstStyle/>
                    <a:p>
                      <a:r>
                        <a:rPr sz="1100"/>
                        <a:t>Day-to-day procedures and troubleshooting</a:t>
                      </a:r>
                    </a:p>
                  </a:txBody>
                  <a:tcPr>
                    <a:solidFill>
                      <a:srgbClr val="E7E6E6"/>
                    </a:solidFill>
                  </a:tcPr>
                </a:tc>
                <a:tc>
                  <a:txBody>
                    <a:bodyPr/>
                    <a:lstStyle/>
                    <a:p>
                      <a:r>
                        <a:rPr sz="1100"/>
                        <a:t>`/delivery/docs/runbook.md`</a:t>
                      </a:r>
                    </a:p>
                  </a:txBody>
                  <a:tcPr>
                    <a:solidFill>
                      <a:srgbClr val="E7E6E6"/>
                    </a:solidFill>
                  </a:tcPr>
                </a:tc>
              </a:tr>
              <a:tr h="370840">
                <a:tc>
                  <a:txBody>
                    <a:bodyPr/>
                    <a:lstStyle/>
                    <a:p>
                      <a:r>
                        <a:rPr b="1" sz="1100"/>
                        <a:t>Training Materials</a:t>
                      </a:r>
                    </a:p>
                  </a:txBody>
                  <a:tcPr>
                    <a:solidFill>
                      <a:srgbClr val="E7E6E6"/>
                    </a:solidFill>
                  </a:tcPr>
                </a:tc>
                <a:tc>
                  <a:txBody>
                    <a:bodyPr/>
                    <a:lstStyle/>
                    <a:p>
                      <a:r>
                        <a:rPr sz="1100"/>
                        <a:t>Admin guides and recorded sessions</a:t>
                      </a:r>
                    </a:p>
                  </a:txBody>
                  <a:tcPr>
                    <a:solidFill>
                      <a:srgbClr val="E7E6E6"/>
                    </a:solidFill>
                  </a:tcPr>
                </a:tc>
                <a:tc>
                  <a:txBody>
                    <a:bodyPr/>
                    <a:lstStyle/>
                    <a:p>
                      <a:r>
                        <a:rPr sz="1100"/>
                        <a:t>`/delivery/training/`</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Google Cloud Landing Zone</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Quality &amp; Performance</a:t>
            </a:r>
          </a:p>
        </p:txBody>
      </p:sp>
      <p:sp>
        <p:nvSpPr>
          <p:cNvPr id="4" name="Text Placeholder 3"/>
          <p:cNvSpPr>
            <a:spLocks noGrp="1"/>
          </p:cNvSpPr>
          <p:nvPr>
            <p:ph type="body" idx="16" sz="quarter"/>
          </p:nvPr>
        </p:nvSpPr>
        <p:spPr/>
        <p:txBody>
          <a:bodyPr/>
          <a:lstStyle/>
          <a:p>
            <a:pPr/>
            <a:r>
              <a:rPr b="1"/>
              <a:t>Automation Metrics</a:t>
            </a:r>
          </a:p>
          <a:p>
            <a:pPr lvl="1"/>
            <a:r>
              <a:t>Project Provisioning: 45 min (target: &lt;1 hr)</a:t>
            </a:r>
          </a:p>
          <a:p>
            <a:pPr lvl="1"/>
            <a:r>
              <a:t>Terraform Module Coverage: 100%</a:t>
            </a:r>
          </a:p>
          <a:p>
            <a:pPr lvl="1"/>
            <a:r>
              <a:t>Policy Enforcement: Zero violations</a:t>
            </a:r>
          </a:p>
          <a:p>
            <a:pPr lvl="1"/>
            <a:r>
              <a:t>Infrastructure Drift: 0 instances</a:t>
            </a:r>
          </a:p>
          <a:p>
            <a:pPr lvl="1"/>
            <a:r>
              <a:t>GitOps Deployment Success: 99.8%</a:t>
            </a:r>
          </a:p>
        </p:txBody>
      </p:sp>
      <p:sp>
        <p:nvSpPr>
          <p:cNvPr id="5" name="Text Placeholder 4"/>
          <p:cNvSpPr>
            <a:spLocks noGrp="1"/>
          </p:cNvSpPr>
          <p:nvPr>
            <p:ph type="body" idx="17" sz="quarter"/>
          </p:nvPr>
        </p:nvSpPr>
        <p:spPr/>
        <p:txBody>
          <a:bodyPr/>
          <a:lstStyle/>
          <a:p>
            <a:pPr/>
            <a:r>
              <a:rPr b="1"/>
              <a:t>Platform Metrics</a:t>
            </a:r>
          </a:p>
          <a:p>
            <a:pPr lvl="1"/>
            <a:r>
              <a:t>Interconnect Uptime: 99.97% (target: 99.9%)</a:t>
            </a:r>
          </a:p>
          <a:p>
            <a:pPr lvl="1"/>
            <a:r>
              <a:t>Interconnect Latency: 4.2ms (target: &lt;5ms)</a:t>
            </a:r>
          </a:p>
          <a:p>
            <a:pPr lvl="1"/>
            <a:r>
              <a:t>SCC Critical Findings: 0 (target: 0)</a:t>
            </a:r>
          </a:p>
          <a:p>
            <a:pPr lvl="1"/>
            <a:r>
              <a:t>Chronicle Ingestion: 100 GB/month active</a:t>
            </a:r>
          </a:p>
          <a:p>
            <a:pPr lvl="1"/>
            <a:r>
              <a:t>Cost Allocation Accuracy: 100%</a:t>
            </a:r>
          </a:p>
        </p:txBody>
      </p:sp>
      <p:sp>
        <p:nvSpPr>
          <p:cNvPr id="6" name="Text Placeholder 5"/>
          <p:cNvSpPr>
            <a:spLocks noGrp="1"/>
          </p:cNvSpPr>
          <p:nvPr>
            <p:ph type="body" idx="15" sz="quarter"/>
          </p:nvPr>
        </p:nvSpPr>
        <p:spPr/>
        <p:txBody>
          <a:bodyPr/>
          <a:lstStyle/>
          <a:p>
            <a:pPr algn="r">
              <a:buNone/>
            </a:pPr>
            <a:r>
              <a:rPr sz="1100">
                <a:solidFill>
                  <a:srgbClr val="CC0000"/>
                </a:solidFill>
              </a:rPr>
              <a:t>Google Cloud Landing Zone</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Benefits Realized</a:t>
            </a:r>
          </a:p>
        </p:txBody>
      </p:sp>
      <p:graphicFrame>
        <p:nvGraphicFramePr>
          <p:cNvPr id="4" name="Table Placeholder 3"/>
          <p:cNvGraphicFramePr>
            <a:graphicFrameLocks noGrp="1"/>
          </p:cNvGraphicFramePr>
          <p:nvPr>
            <p:ph type="tbl" idx="14" sz="quarter"/>
          </p:nvPr>
        </p:nvGraphicFramePr>
        <p:xfrm>
          <a:off x="256855" y="677011"/>
          <a:ext cx="8710930" cy="2595880"/>
        </p:xfrm>
        <a:graphic>
          <a:graphicData uri="http://schemas.openxmlformats.org/drawingml/2006/table">
            <a:tbl>
              <a:tblPr firstRow="1" bandRow="1">
                <a:tableStyleId>{5C22544A-7EE6-4342-B048-85BDC9FD1C3A}</a:tableStyleId>
              </a:tblPr>
              <a:tblGrid>
                <a:gridCol w="2613279"/>
                <a:gridCol w="1742186"/>
                <a:gridCol w="1742186"/>
                <a:gridCol w="2613279"/>
              </a:tblGrid>
              <a:tr h="370840">
                <a:tc>
                  <a:txBody>
                    <a:bodyPr/>
                    <a:lstStyle/>
                    <a:p>
                      <a:r>
                        <a:rPr sz="1400">
                          <a:solidFill>
                            <a:srgbClr val="FFFFFF"/>
                          </a:solidFill>
                        </a:rPr>
                        <a:t>Benefit Category</a:t>
                      </a:r>
                    </a:p>
                  </a:txBody>
                  <a:tcPr>
                    <a:solidFill>
                      <a:srgbClr val="A01C02"/>
                    </a:solidFill>
                  </a:tcPr>
                </a:tc>
                <a:tc>
                  <a:txBody>
                    <a:bodyPr/>
                    <a:lstStyle/>
                    <a:p>
                      <a:r>
                        <a:rPr sz="1400">
                          <a:solidFill>
                            <a:srgbClr val="FFFFFF"/>
                          </a:solidFill>
                        </a:rPr>
                        <a:t>SOW Target</a:t>
                      </a:r>
                    </a:p>
                  </a:txBody>
                  <a:tcPr>
                    <a:solidFill>
                      <a:srgbClr val="A01C02"/>
                    </a:solidFill>
                  </a:tcPr>
                </a:tc>
                <a:tc>
                  <a:txBody>
                    <a:bodyPr/>
                    <a:lstStyle/>
                    <a:p>
                      <a:r>
                        <a:rPr sz="1400">
                          <a:solidFill>
                            <a:srgbClr val="FFFFFF"/>
                          </a:solidFill>
                        </a:rPr>
                        <a:t>Achieved</a:t>
                      </a:r>
                    </a:p>
                  </a:txBody>
                  <a:tcPr>
                    <a:solidFill>
                      <a:srgbClr val="A01C02"/>
                    </a:solidFill>
                  </a:tcPr>
                </a:tc>
                <a:tc>
                  <a:txBody>
                    <a:bodyPr/>
                    <a:lstStyle/>
                    <a:p>
                      <a:r>
                        <a:rPr sz="1400">
                          <a:solidFill>
                            <a:srgbClr val="FFFFFF"/>
                          </a:solidFill>
                        </a:rPr>
                        <a:t>Business Impact</a:t>
                      </a:r>
                    </a:p>
                  </a:txBody>
                  <a:tcPr>
                    <a:solidFill>
                      <a:srgbClr val="A01C02"/>
                    </a:solidFill>
                  </a:tcPr>
                </a:tc>
              </a:tr>
              <a:tr h="370840">
                <a:tc>
                  <a:txBody>
                    <a:bodyPr/>
                    <a:lstStyle/>
                    <a:p>
                      <a:r>
                        <a:rPr b="1" sz="1100"/>
                        <a:t>Provisioning Time</a:t>
                      </a:r>
                    </a:p>
                  </a:txBody>
                  <a:tcPr>
                    <a:solidFill>
                      <a:srgbClr val="E7E6E6"/>
                    </a:solidFill>
                  </a:tcPr>
                </a:tc>
                <a:tc>
                  <a:txBody>
                    <a:bodyPr/>
                    <a:lstStyle/>
                    <a:p>
                      <a:r>
                        <a:rPr sz="1100"/>
                        <a:t>95% reduction</a:t>
                      </a:r>
                    </a:p>
                  </a:txBody>
                  <a:tcPr>
                    <a:solidFill>
                      <a:srgbClr val="E7E6E6"/>
                    </a:solidFill>
                  </a:tcPr>
                </a:tc>
                <a:tc>
                  <a:txBody>
                    <a:bodyPr/>
                    <a:lstStyle/>
                    <a:p>
                      <a:r>
                        <a:rPr sz="1100"/>
                        <a:t>95% reduction</a:t>
                      </a:r>
                    </a:p>
                  </a:txBody>
                  <a:tcPr>
                    <a:solidFill>
                      <a:srgbClr val="E7E6E6"/>
                    </a:solidFill>
                  </a:tcPr>
                </a:tc>
                <a:tc>
                  <a:txBody>
                    <a:bodyPr/>
                    <a:lstStyle/>
                    <a:p>
                      <a:r>
                        <a:rPr sz="1100"/>
                        <a:t>6 weeks to 45 minutes</a:t>
                      </a:r>
                    </a:p>
                  </a:txBody>
                  <a:tcPr>
                    <a:solidFill>
                      <a:srgbClr val="E7E6E6"/>
                    </a:solidFill>
                  </a:tcPr>
                </a:tc>
              </a:tr>
              <a:tr h="370840">
                <a:tc>
                  <a:txBody>
                    <a:bodyPr/>
                    <a:lstStyle/>
                    <a:p>
                      <a:r>
                        <a:rPr b="1" sz="1100"/>
                        <a:t>Security Compliance</a:t>
                      </a:r>
                    </a:p>
                  </a:txBody>
                  <a:tcPr>
                    <a:solidFill>
                      <a:srgbClr val="E7E6E6"/>
                    </a:solidFill>
                  </a:tcPr>
                </a:tc>
                <a:tc>
                  <a:txBody>
                    <a:bodyPr/>
                    <a:lstStyle/>
                    <a:p>
                      <a:r>
                        <a:rPr sz="1100"/>
                        <a:t>100% controls</a:t>
                      </a:r>
                    </a:p>
                  </a:txBody>
                  <a:tcPr>
                    <a:solidFill>
                      <a:srgbClr val="E7E6E6"/>
                    </a:solidFill>
                  </a:tcPr>
                </a:tc>
                <a:tc>
                  <a:txBody>
                    <a:bodyPr/>
                    <a:lstStyle/>
                    <a:p>
                      <a:r>
                        <a:rPr sz="1100"/>
                        <a:t>100% controls</a:t>
                      </a:r>
                    </a:p>
                  </a:txBody>
                  <a:tcPr>
                    <a:solidFill>
                      <a:srgbClr val="E7E6E6"/>
                    </a:solidFill>
                  </a:tcPr>
                </a:tc>
                <a:tc>
                  <a:txBody>
                    <a:bodyPr/>
                    <a:lstStyle/>
                    <a:p>
                      <a:r>
                        <a:rPr sz="1100"/>
                        <a:t>SOC 2 and PCI-DSS ready</a:t>
                      </a:r>
                    </a:p>
                  </a:txBody>
                  <a:tcPr>
                    <a:solidFill>
                      <a:srgbClr val="E7E6E6"/>
                    </a:solidFill>
                  </a:tcPr>
                </a:tc>
              </a:tr>
              <a:tr h="370840">
                <a:tc>
                  <a:txBody>
                    <a:bodyPr/>
                    <a:lstStyle/>
                    <a:p>
                      <a:r>
                        <a:rPr b="1" sz="1100"/>
                        <a:t>Policy Enforcement</a:t>
                      </a:r>
                    </a:p>
                  </a:txBody>
                  <a:tcPr>
                    <a:solidFill>
                      <a:srgbClr val="E7E6E6"/>
                    </a:solidFill>
                  </a:tcPr>
                </a:tc>
                <a:tc>
                  <a:txBody>
                    <a:bodyPr/>
                    <a:lstStyle/>
                    <a:p>
                      <a:r>
                        <a:rPr sz="1100"/>
                        <a:t>Zero violations</a:t>
                      </a:r>
                    </a:p>
                  </a:txBody>
                  <a:tcPr>
                    <a:solidFill>
                      <a:srgbClr val="E7E6E6"/>
                    </a:solidFill>
                  </a:tcPr>
                </a:tc>
                <a:tc>
                  <a:txBody>
                    <a:bodyPr/>
                    <a:lstStyle/>
                    <a:p>
                      <a:r>
                        <a:rPr sz="1100"/>
                        <a:t>Zero violations</a:t>
                      </a:r>
                    </a:p>
                  </a:txBody>
                  <a:tcPr>
                    <a:solidFill>
                      <a:srgbClr val="E7E6E6"/>
                    </a:solidFill>
                  </a:tcPr>
                </a:tc>
                <a:tc>
                  <a:txBody>
                    <a:bodyPr/>
                    <a:lstStyle/>
                    <a:p>
                      <a:r>
                        <a:rPr sz="1100"/>
                        <a:t>Automated governance</a:t>
                      </a:r>
                    </a:p>
                  </a:txBody>
                  <a:tcPr>
                    <a:solidFill>
                      <a:srgbClr val="E7E6E6"/>
                    </a:solidFill>
                  </a:tcPr>
                </a:tc>
              </a:tr>
              <a:tr h="370840">
                <a:tc>
                  <a:txBody>
                    <a:bodyPr/>
                    <a:lstStyle/>
                    <a:p>
                      <a:r>
                        <a:rPr b="1" sz="1100"/>
                        <a:t>Team Onboarding</a:t>
                      </a:r>
                    </a:p>
                  </a:txBody>
                  <a:tcPr>
                    <a:solidFill>
                      <a:srgbClr val="E7E6E6"/>
                    </a:solidFill>
                  </a:tcPr>
                </a:tc>
                <a:tc>
                  <a:txBody>
                    <a:bodyPr/>
                    <a:lstStyle/>
                    <a:p>
                      <a:r>
                        <a:rPr sz="1100"/>
                        <a:t>5 teams</a:t>
                      </a:r>
                    </a:p>
                  </a:txBody>
                  <a:tcPr>
                    <a:solidFill>
                      <a:srgbClr val="E7E6E6"/>
                    </a:solidFill>
                  </a:tcPr>
                </a:tc>
                <a:tc>
                  <a:txBody>
                    <a:bodyPr/>
                    <a:lstStyle/>
                    <a:p>
                      <a:r>
                        <a:rPr sz="1100"/>
                        <a:t>5 teams active</a:t>
                      </a:r>
                    </a:p>
                  </a:txBody>
                  <a:tcPr>
                    <a:solidFill>
                      <a:srgbClr val="E7E6E6"/>
                    </a:solidFill>
                  </a:tcPr>
                </a:tc>
                <a:tc>
                  <a:txBody>
                    <a:bodyPr/>
                    <a:lstStyle/>
                    <a:p>
                      <a:r>
                        <a:rPr sz="1100"/>
                        <a:t>Platform self-service</a:t>
                      </a:r>
                    </a:p>
                  </a:txBody>
                  <a:tcPr>
                    <a:solidFill>
                      <a:srgbClr val="E7E6E6"/>
                    </a:solidFill>
                  </a:tcPr>
                </a:tc>
              </a:tr>
              <a:tr h="370840">
                <a:tc>
                  <a:txBody>
                    <a:bodyPr/>
                    <a:lstStyle/>
                    <a:p>
                      <a:r>
                        <a:rPr b="1" sz="1100"/>
                        <a:t>Interconnect SLA</a:t>
                      </a:r>
                    </a:p>
                  </a:txBody>
                  <a:tcPr>
                    <a:solidFill>
                      <a:srgbClr val="E7E6E6"/>
                    </a:solidFill>
                  </a:tcPr>
                </a:tc>
                <a:tc>
                  <a:txBody>
                    <a:bodyPr/>
                    <a:lstStyle/>
                    <a:p>
                      <a:r>
                        <a:rPr sz="1100"/>
                        <a:t>99.9% uptime</a:t>
                      </a:r>
                    </a:p>
                  </a:txBody>
                  <a:tcPr>
                    <a:solidFill>
                      <a:srgbClr val="E7E6E6"/>
                    </a:solidFill>
                  </a:tcPr>
                </a:tc>
                <a:tc>
                  <a:txBody>
                    <a:bodyPr/>
                    <a:lstStyle/>
                    <a:p>
                      <a:r>
                        <a:rPr sz="1100"/>
                        <a:t>99.97% uptime</a:t>
                      </a:r>
                    </a:p>
                  </a:txBody>
                  <a:tcPr>
                    <a:solidFill>
                      <a:srgbClr val="E7E6E6"/>
                    </a:solidFill>
                  </a:tcPr>
                </a:tc>
                <a:tc>
                  <a:txBody>
                    <a:bodyPr/>
                    <a:lstStyle/>
                    <a:p>
                      <a:r>
                        <a:rPr sz="1100"/>
                        <a:t>Reliable hybrid connectivity</a:t>
                      </a:r>
                    </a:p>
                  </a:txBody>
                  <a:tcPr>
                    <a:solidFill>
                      <a:srgbClr val="E7E6E6"/>
                    </a:solidFill>
                  </a:tcPr>
                </a:tc>
              </a:tr>
              <a:tr h="370840">
                <a:tc>
                  <a:txBody>
                    <a:bodyPr/>
                    <a:lstStyle/>
                    <a:p>
                      <a:r>
                        <a:rPr b="1" sz="1100"/>
                        <a:t>Audit Readiness</a:t>
                      </a:r>
                    </a:p>
                  </a:txBody>
                  <a:tcPr>
                    <a:solidFill>
                      <a:srgbClr val="E7E6E6"/>
                    </a:solidFill>
                  </a:tcPr>
                </a:tc>
                <a:tc>
                  <a:txBody>
                    <a:bodyPr/>
                    <a:lstStyle/>
                    <a:p>
                      <a:r>
                        <a:rPr sz="1100"/>
                        <a:t>Compliance docs</a:t>
                      </a:r>
                    </a:p>
                  </a:txBody>
                  <a:tcPr>
                    <a:solidFill>
                      <a:srgbClr val="E7E6E6"/>
                    </a:solidFill>
                  </a:tcPr>
                </a:tc>
                <a:tc>
                  <a:txBody>
                    <a:bodyPr/>
                    <a:lstStyle/>
                    <a:p>
                      <a:r>
                        <a:rPr sz="1100"/>
                        <a:t>Full audit trail</a:t>
                      </a:r>
                    </a:p>
                  </a:txBody>
                  <a:tcPr>
                    <a:solidFill>
                      <a:srgbClr val="E7E6E6"/>
                    </a:solidFill>
                  </a:tcPr>
                </a:tc>
                <a:tc>
                  <a:txBody>
                    <a:bodyPr/>
                    <a:lstStyle/>
                    <a:p>
                      <a:r>
                        <a:rPr sz="1100"/>
                        <a:t>80% faster audit prep</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Google Cloud Landing Zone</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Lessons Learned &amp; Recommendations</a:t>
            </a:r>
          </a:p>
        </p:txBody>
      </p:sp>
      <p:sp>
        <p:nvSpPr>
          <p:cNvPr id="4" name="Text Placeholder 3"/>
          <p:cNvSpPr>
            <a:spLocks noGrp="1"/>
          </p:cNvSpPr>
          <p:nvPr>
            <p:ph type="body" idx="16" sz="quarter"/>
          </p:nvPr>
        </p:nvSpPr>
        <p:spPr/>
        <p:txBody>
          <a:bodyPr/>
          <a:lstStyle/>
          <a:p>
            <a:pPr/>
            <a:r>
              <a:rPr b="1"/>
              <a:t>What Worked Well</a:t>
            </a:r>
          </a:p>
          <a:p>
            <a:pPr lvl="1"/>
            <a:r>
              <a:t>Organization policies first approach</a:t>
            </a:r>
          </a:p>
          <a:p>
            <a:pPr lvl="1"/>
            <a:r>
              <a:t>Pilot-then-scale with 2 teams</a:t>
            </a:r>
          </a:p>
          <a:p>
            <a:pPr lvl="1"/>
            <a:r>
              <a:t>Cloud Foundation Toolkit modules</a:t>
            </a:r>
          </a:p>
          <a:p>
            <a:pPr lvl="1"/>
            <a:r>
              <a:t>Weekly architecture reviews</a:t>
            </a:r>
          </a:p>
          <a:p>
            <a:pPr lvl="1"/>
            <a:r>
              <a:t>Security baseline before workloads</a:t>
            </a:r>
          </a:p>
          <a:p>
            <a:pPr/>
            <a:r>
              <a:rPr b="1"/>
              <a:t>Challenges Overcome</a:t>
            </a:r>
          </a:p>
          <a:p>
            <a:pPr lvl="1"/>
            <a:r>
              <a:t>ISP coordination for Interconnect</a:t>
            </a:r>
          </a:p>
          <a:p>
            <a:pPr lvl="1"/>
            <a:r>
              <a:t>Legacy IAM pattern migration</a:t>
            </a:r>
          </a:p>
          <a:p>
            <a:pPr lvl="1"/>
            <a:r>
              <a:t>Chronicle SIEM tuning</a:t>
            </a:r>
          </a:p>
          <a:p>
            <a:pPr lvl="1"/>
            <a:r>
              <a:t>Policy exception workflow</a:t>
            </a:r>
          </a:p>
          <a:p>
            <a:pPr lvl="1"/>
            <a:r>
              <a:t>Training schedule alignment</a:t>
            </a:r>
          </a:p>
        </p:txBody>
      </p:sp>
      <p:sp>
        <p:nvSpPr>
          <p:cNvPr id="5" name="Text Placeholder 4"/>
          <p:cNvSpPr>
            <a:spLocks noGrp="1"/>
          </p:cNvSpPr>
          <p:nvPr>
            <p:ph type="body" idx="17" sz="quarter"/>
          </p:nvPr>
        </p:nvSpPr>
        <p:spPr/>
        <p:txBody>
          <a:bodyPr/>
          <a:lstStyle/>
          <a:p>
            <a:pPr/>
            <a:r>
              <a:rPr b="1"/>
              <a:t>Recommendations</a:t>
            </a:r>
          </a:p>
          <a:p>
            <a:pPr lvl="1"/>
            <a:r>
              <a:t>Expand to 30 projects Phase 2</a:t>
            </a:r>
          </a:p>
          <a:p>
            <a:pPr lvl="1"/>
            <a:r>
              <a:t>Add GKE Autopilot platform</a:t>
            </a:r>
          </a:p>
          <a:p>
            <a:pPr lvl="1"/>
            <a:r>
              <a:t>Implement VPC Service Controls</a:t>
            </a:r>
          </a:p>
          <a:p>
            <a:pPr lvl="1"/>
            <a:r>
              <a:t>Enable advanced Chronicle rules</a:t>
            </a:r>
          </a:p>
          <a:p>
            <a:pPr lvl="1"/>
            <a:r>
              <a:t>Quarterly security reviews</a:t>
            </a:r>
          </a:p>
        </p:txBody>
      </p:sp>
      <p:sp>
        <p:nvSpPr>
          <p:cNvPr id="6" name="Text Placeholder 5"/>
          <p:cNvSpPr>
            <a:spLocks noGrp="1"/>
          </p:cNvSpPr>
          <p:nvPr>
            <p:ph type="body" idx="15" sz="quarter"/>
          </p:nvPr>
        </p:nvSpPr>
        <p:spPr/>
        <p:txBody>
          <a:bodyPr/>
          <a:lstStyle/>
          <a:p>
            <a:pPr algn="r">
              <a:buNone/>
            </a:pPr>
            <a:r>
              <a:rPr sz="1100">
                <a:solidFill>
                  <a:srgbClr val="CC0000"/>
                </a:solidFill>
              </a:rPr>
              <a:t>Google Cloud Landing Zone</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Support Transition</a:t>
            </a:r>
          </a:p>
        </p:txBody>
      </p:sp>
      <p:sp>
        <p:nvSpPr>
          <p:cNvPr id="4" name="Text Placeholder 3"/>
          <p:cNvSpPr>
            <a:spLocks noGrp="1"/>
          </p:cNvSpPr>
          <p:nvPr>
            <p:ph type="body" idx="16" sz="quarter"/>
          </p:nvPr>
        </p:nvSpPr>
        <p:spPr/>
        <p:txBody>
          <a:bodyPr/>
          <a:lstStyle/>
          <a:p>
            <a:pPr/>
            <a:r>
              <a:rPr b="1"/>
              <a:t>Hypercare Complete (30 days)</a:t>
            </a:r>
          </a:p>
          <a:p>
            <a:pPr lvl="1"/>
            <a:r>
              <a:t>Daily health checks completed</a:t>
            </a:r>
          </a:p>
          <a:p>
            <a:pPr lvl="1"/>
            <a:r>
              <a:t>2 P3 issues resolved</a:t>
            </a:r>
          </a:p>
          <a:p>
            <a:pPr lvl="1"/>
            <a:r>
              <a:t>Knowledge transfer sessions done</a:t>
            </a:r>
          </a:p>
          <a:p>
            <a:pPr lvl="1"/>
            <a:r>
              <a:t>Runbook procedures validated</a:t>
            </a:r>
          </a:p>
          <a:p>
            <a:pPr lvl="1"/>
            <a:r>
              <a:t>Team certified and self-sufficient</a:t>
            </a:r>
          </a:p>
          <a:p>
            <a:pPr/>
            <a:r>
              <a:rPr b="1"/>
              <a:t>Steady State Support</a:t>
            </a:r>
          </a:p>
          <a:p>
            <a:pPr lvl="1"/>
            <a:r>
              <a:t>Business hours monitoring active</a:t>
            </a:r>
          </a:p>
          <a:p>
            <a:pPr lvl="1"/>
            <a:r>
              <a:t>Monthly performance reviews</a:t>
            </a:r>
          </a:p>
          <a:p>
            <a:pPr lvl="1"/>
            <a:r>
              <a:t>Quarterly security assessments</a:t>
            </a:r>
          </a:p>
          <a:p>
            <a:pPr lvl="1"/>
            <a:r>
              <a:t>FinOps optimization reviews</a:t>
            </a:r>
          </a:p>
          <a:p>
            <a:pPr lvl="1"/>
            <a:r>
              <a:t>Documentation fully maintained</a:t>
            </a:r>
          </a:p>
        </p:txBody>
      </p:sp>
      <p:sp>
        <p:nvSpPr>
          <p:cNvPr id="5" name="Text Placeholder 4"/>
          <p:cNvSpPr>
            <a:spLocks noGrp="1"/>
          </p:cNvSpPr>
          <p:nvPr>
            <p:ph type="body" idx="17" sz="quarter"/>
          </p:nvPr>
        </p:nvSpPr>
        <p:spPr/>
        <p:txBody>
          <a:bodyPr/>
          <a:lstStyle/>
          <a:p>
            <a:pPr/>
            <a:r>
              <a:rPr b="1"/>
              <a:t>Escalation Path</a:t>
            </a:r>
          </a:p>
          <a:p>
            <a:pPr lvl="1"/>
            <a:r>
              <a:t>L1: Platform Team (internal)</a:t>
            </a:r>
          </a:p>
          <a:p>
            <a:pPr lvl="1"/>
            <a:r>
              <a:t>L2: Google Cloud Support Enhanced</a:t>
            </a:r>
          </a:p>
          <a:p>
            <a:pPr lvl="1"/>
            <a:r>
              <a:t>L3: Google Professional Services</a:t>
            </a:r>
          </a:p>
          <a:p>
            <a:pPr lvl="1"/>
            <a:r>
              <a:t>Emergency: On-call rotation</a:t>
            </a:r>
          </a:p>
          <a:p>
            <a:pPr lvl="1"/>
            <a:r>
              <a:t>Account: Account Manager</a:t>
            </a:r>
          </a:p>
        </p:txBody>
      </p:sp>
      <p:sp>
        <p:nvSpPr>
          <p:cNvPr id="6" name="Text Placeholder 5"/>
          <p:cNvSpPr>
            <a:spLocks noGrp="1"/>
          </p:cNvSpPr>
          <p:nvPr>
            <p:ph type="body" idx="15" sz="quarter"/>
          </p:nvPr>
        </p:nvSpPr>
        <p:spPr/>
        <p:txBody>
          <a:bodyPr/>
          <a:lstStyle/>
          <a:p>
            <a:pPr algn="r">
              <a:buNone/>
            </a:pPr>
            <a:r>
              <a:rPr sz="1100">
                <a:solidFill>
                  <a:srgbClr val="CC0000"/>
                </a:solidFill>
              </a:rPr>
              <a:t>Google Cloud Landing Zone</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Acknowledgments &amp; Next Steps</a:t>
            </a:r>
          </a:p>
        </p:txBody>
      </p:sp>
      <p:sp>
        <p:nvSpPr>
          <p:cNvPr id="4" name="Text Placeholder 3"/>
          <p:cNvSpPr>
            <a:spLocks noGrp="1"/>
          </p:cNvSpPr>
          <p:nvPr>
            <p:ph type="body" idx="14" sz="quarter"/>
          </p:nvPr>
        </p:nvSpPr>
        <p:spPr/>
        <p:txBody>
          <a:bodyPr/>
          <a:lstStyle/>
          <a:p>
            <a:pPr/>
            <a:r>
              <a:rPr b="1"/>
              <a:t>Client Team:</a:t>
            </a:r>
            <a:r>
              <a:t> Executive sponsor, IT team, platform admins, security team, pilot application teams</a:t>
            </a:r>
          </a:p>
          <a:p>
            <a:pPr/>
            <a:r>
              <a:rPr b="1"/>
              <a:t>Vendor Team:</a:t>
            </a:r>
            <a:r>
              <a:t> Project manager, GCP architect, platform engineer, security specialist</a:t>
            </a:r>
          </a:p>
          <a:p>
            <a:pPr/>
            <a:r>
              <a:rPr b="1"/>
              <a:t>Special Recognition:</a:t>
            </a:r>
            <a:r>
              <a:t> Platform team for Terraform module testing and pilot team dedication</a:t>
            </a:r>
          </a:p>
          <a:p>
            <a:pPr/>
            <a:r>
              <a:rPr b="1"/>
              <a:t>This Week:</a:t>
            </a:r>
            <a:r>
              <a:t> Final documentation handover, archive project artifacts</a:t>
            </a:r>
          </a:p>
          <a:p>
            <a:pPr/>
            <a:r>
              <a:rPr b="1"/>
              <a:t>Next 30 Days:</a:t>
            </a:r>
            <a:r>
              <a:t> Monthly performance review, identify Phase 2 expansion teams</a:t>
            </a:r>
          </a:p>
          <a:p>
            <a:pPr/>
            <a:r>
              <a:rPr b="1"/>
              <a:t>Next Quarter:</a:t>
            </a:r>
            <a:r>
              <a:t> Phase 2 planning workshop for additional projects and GKE</a:t>
            </a:r>
          </a:p>
        </p:txBody>
      </p:sp>
      <p:sp>
        <p:nvSpPr>
          <p:cNvPr id="5" name="Text Placeholder 4"/>
          <p:cNvSpPr>
            <a:spLocks noGrp="1"/>
          </p:cNvSpPr>
          <p:nvPr>
            <p:ph type="body" idx="15" sz="quarter"/>
          </p:nvPr>
        </p:nvSpPr>
        <p:spPr/>
        <p:txBody>
          <a:bodyPr/>
          <a:lstStyle/>
          <a:p>
            <a:pPr algn="r">
              <a:buNone/>
            </a:pPr>
            <a:r>
              <a:rPr sz="1100">
                <a:solidFill>
                  <a:srgbClr val="CC0000"/>
                </a:solidFill>
              </a:rPr>
              <a:t>Google Cloud Landing Zone</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3"/>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4"/>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5"/>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86</cp:revision>
  <dcterms:created xsi:type="dcterms:W3CDTF">2025-11-01T21:16:10Z</dcterms:created>
  <dcterms:modified xsi:type="dcterms:W3CDTF">2025-11-27T20:15:42Z</dcterms:modified>
</cp:coreProperties>
</file>