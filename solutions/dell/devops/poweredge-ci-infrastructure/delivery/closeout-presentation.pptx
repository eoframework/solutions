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*Opening Statement:*</a:t>
            </a:r>
          </a:p>
          <a:p>
            <a:r>
              <a:t>Good [morning/afternoon]. Today we're celebrating the successful completion of the Dell PowerEdge CI/CD Infrastructure implementation. This project has transformed [Client Name]'s build and deployment capabilities with dedicated on-premises build servers replacing cloud-based runners.</a:t>
            </a:r>
          </a:p>
          <a:p/>
          <a:p>
            <a:r>
              <a:t>*Key Talking Points:*</a:t>
            </a:r>
          </a:p>
          <a:p/>
          <a:p>
            <a:r>
              <a:t>**Project Duration - 6 Weeks:**</a:t>
            </a:r>
          </a:p>
          <a:p>
            <a:r>
              <a:t>- Phase 1 (Weeks 1-2): Assessment, GitLab setup, infrastructure planning</a:t>
            </a:r>
          </a:p>
          <a:p>
            <a:r>
              <a:t>- Phase 2 (Weeks 3-4): Server deployment, Docker configuration, pipeline migration</a:t>
            </a:r>
          </a:p>
          <a:p>
            <a:r>
              <a:t>- Phase 3 (Weeks 5-6): Artifactory integration, validation, training</a:t>
            </a:r>
          </a:p>
          <a:p>
            <a:r>
              <a:t>- All milestones achieved on schedule</a:t>
            </a:r>
          </a:p>
          <a:p/>
          <a:p>
            <a:r>
              <a:t>**Infrastructure Delivered:**</a:t>
            </a:r>
          </a:p>
          <a:p>
            <a:r>
              <a:t>- 8 Dell PowerEdge R650 build servers</a:t>
            </a:r>
          </a:p>
          <a:p>
            <a:r>
              <a:t>- GitLab Premium self-hosted instance</a:t>
            </a:r>
          </a:p>
          <a:p>
            <a:r>
              <a:t>- JFrog Artifactory Pro for artifact management</a:t>
            </a:r>
          </a:p>
          <a:p>
            <a:r>
              <a:t>- 20TB artifact storage capacity</a:t>
            </a:r>
          </a:p>
          <a:p>
            <a:r>
              <a:t>- Docker Enterprise with private registry</a:t>
            </a:r>
          </a:p>
          <a:p/>
          <a:p>
            <a:r>
              <a:t>**Performance Achievement:**</a:t>
            </a:r>
          </a:p>
          <a:p>
            <a:r>
              <a:t>- 5000 builds per day throughput capacity</a:t>
            </a:r>
          </a:p>
          <a:p>
            <a:r>
              <a:t>- &lt;5 minute queue time (vs 15+ min cloud runners)</a:t>
            </a:r>
          </a:p>
          <a:p>
            <a:r>
              <a:t>- 15 minute average build duration</a:t>
            </a:r>
          </a:p>
          <a:p>
            <a:r>
              <a:t>- 50 developers with full CI/CD access</a:t>
            </a:r>
          </a:p>
          <a:p/>
          <a:p>
            <a:r>
              <a:t>*Transition:*</a:t>
            </a:r>
          </a:p>
          <a:p>
            <a:r>
              <a:t>"Let me walk you through the infrastructure we've built..."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*Architecture Overview:*</a:t>
            </a:r>
          </a:p>
          <a:p/>
          <a:p>
            <a:r>
              <a:t>**Build Server Layer - PowerEdge R650:**</a:t>
            </a:r>
          </a:p>
          <a:p>
            <a:r>
              <a:t>- 8 identical servers for parallel builds</a:t>
            </a:r>
          </a:p>
          <a:p>
            <a:r>
              <a:t>- Dual Intel Xeon Gold 6330 (56 cores total)</a:t>
            </a:r>
          </a:p>
          <a:p>
            <a:r>
              <a:t>- 256GB DDR4 RAM for container workloads</a:t>
            </a:r>
          </a:p>
          <a:p>
            <a:r>
              <a:t>- 4TB NVMe SSD for fast workspace I/O</a:t>
            </a:r>
          </a:p>
          <a:p>
            <a:r>
              <a:t>- Ubuntu 22.04 LTS with Docker Enterprise</a:t>
            </a:r>
          </a:p>
          <a:p/>
          <a:p>
            <a:r>
              <a:t>**CI/CD Platform - GitLab Premium:**</a:t>
            </a:r>
          </a:p>
          <a:p>
            <a:r>
              <a:t>- Self-hosted GitLab instance for code security</a:t>
            </a:r>
          </a:p>
          <a:p>
            <a:r>
              <a:t>- Unlimited CI/CD minutes (vs cloud limits)</a:t>
            </a:r>
          </a:p>
          <a:p>
            <a:r>
              <a:t>- Advanced pipeline features enabled</a:t>
            </a:r>
          </a:p>
          <a:p>
            <a:r>
              <a:t>- SAML SSO integration configured</a:t>
            </a:r>
          </a:p>
          <a:p>
            <a:r>
              <a:t>- Audit logging for compliance</a:t>
            </a:r>
          </a:p>
          <a:p/>
          <a:p>
            <a:r>
              <a:t>**Artifact Management - JFrog Artifactory:**</a:t>
            </a:r>
          </a:p>
          <a:p>
            <a:r>
              <a:t>- Maven repository for Java artifacts</a:t>
            </a:r>
          </a:p>
          <a:p>
            <a:r>
              <a:t>- npm registry for Node.js packages</a:t>
            </a:r>
          </a:p>
          <a:p>
            <a:r>
              <a:t>- Docker registry for container images</a:t>
            </a:r>
          </a:p>
          <a:p>
            <a:r>
              <a:t>- Automated cleanup policies configured</a:t>
            </a:r>
          </a:p>
          <a:p>
            <a:r>
              <a:t>- Replication for disaster recovery</a:t>
            </a:r>
          </a:p>
          <a:p/>
          <a:p>
            <a:r>
              <a:t>**Network Architecture:**</a:t>
            </a:r>
          </a:p>
          <a:p>
            <a:r>
              <a:t>- Dedicated CI/CD VLAN for build traffic</a:t>
            </a:r>
          </a:p>
          <a:p>
            <a:r>
              <a:t>- 10GbE connectivity between servers</a:t>
            </a:r>
          </a:p>
          <a:p>
            <a:r>
              <a:t>- Load balancer for GitLab high availability</a:t>
            </a:r>
          </a:p>
          <a:p>
            <a:r>
              <a:t>- Firewall rules for developer access</a:t>
            </a:r>
          </a:p>
          <a:p/>
          <a:p>
            <a:r>
              <a:t>*Transition:*</a:t>
            </a:r>
          </a:p>
          <a:p>
            <a:r>
              <a:t>"Now let me show you the complete deliverables..."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*Deliverables Deep Dive:*</a:t>
            </a:r>
          </a:p>
          <a:p/>
          <a:p>
            <a:r>
              <a:t>**1. Solution Architecture Document:**</a:t>
            </a:r>
          </a:p>
          <a:p>
            <a:r>
              <a:t>- PowerEdge R650 server specifications</a:t>
            </a:r>
          </a:p>
          <a:p>
            <a:r>
              <a:t>- GitLab Premium deployment topology</a:t>
            </a:r>
          </a:p>
          <a:p>
            <a:r>
              <a:t>- Runner configuration and scaling</a:t>
            </a:r>
          </a:p>
          <a:p>
            <a:r>
              <a:t>- Artifactory repository structure</a:t>
            </a:r>
          </a:p>
          <a:p>
            <a:r>
              <a:t>- Network and security design</a:t>
            </a:r>
          </a:p>
          <a:p/>
          <a:p>
            <a:r>
              <a:t>**2. Pipeline Templates:**</a:t>
            </a:r>
          </a:p>
          <a:p>
            <a:r>
              <a:t>- Java/Maven build template</a:t>
            </a:r>
          </a:p>
          <a:p>
            <a:r>
              <a:t>- Node.js/npm build template</a:t>
            </a:r>
          </a:p>
          <a:p>
            <a:r>
              <a:t>- Docker multi-stage build template</a:t>
            </a:r>
          </a:p>
          <a:p>
            <a:r>
              <a:t>- Security scanning integration</a:t>
            </a:r>
          </a:p>
          <a:p>
            <a:r>
              <a:t>- Artifact publishing steps</a:t>
            </a:r>
          </a:p>
          <a:p/>
          <a:p>
            <a:r>
              <a:t>**3. Admin Operations Guide:**</a:t>
            </a:r>
          </a:p>
          <a:p>
            <a:r>
              <a:t>- GitLab upgrade procedures</a:t>
            </a:r>
          </a:p>
          <a:p>
            <a:r>
              <a:t>- Runner maintenance and scaling</a:t>
            </a:r>
          </a:p>
          <a:p>
            <a:r>
              <a:t>- Artifactory cleanup and replication</a:t>
            </a:r>
          </a:p>
          <a:p>
            <a:r>
              <a:t>- Backup and recovery procedures</a:t>
            </a:r>
          </a:p>
          <a:p>
            <a:r>
              <a:t>- Troubleshooting common issues</a:t>
            </a:r>
          </a:p>
          <a:p/>
          <a:p>
            <a:r>
              <a:t>**4. Training Delivered:**</a:t>
            </a:r>
          </a:p>
          <a:p>
            <a:r>
              <a:t>| Session | Attendees | Duration |</a:t>
            </a:r>
          </a:p>
          <a:p>
            <a:r>
              <a:t>|---------|-----------|----------|</a:t>
            </a:r>
          </a:p>
          <a:p>
            <a:r>
              <a:t>| GitLab Admin Training | 4 DevOps | 8 hours |</a:t>
            </a:r>
          </a:p>
          <a:p>
            <a:r>
              <a:t>| Pipeline Development | 12 developers | 4 hours |</a:t>
            </a:r>
          </a:p>
          <a:p>
            <a:r>
              <a:t>| Artifactory Management | 3 admins | 4 hours |</a:t>
            </a:r>
          </a:p>
          <a:p>
            <a:r>
              <a:t>| Docker/Container Best Practices | 15 devs | 4 hours |</a:t>
            </a:r>
          </a:p>
          <a:p/>
          <a:p>
            <a:r>
              <a:t>*Transition:*</a:t>
            </a:r>
          </a:p>
          <a:p>
            <a:r>
              <a:t>"Let's look at build performance..."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*Performance Deep Dive:*</a:t>
            </a:r>
          </a:p>
          <a:p/>
          <a:p>
            <a:r>
              <a:t>**Build Performance:**</a:t>
            </a:r>
          </a:p>
          <a:p/>
          <a:p>
            <a:r>
              <a:t>*Queue Time - 4.2 Minutes:*</a:t>
            </a:r>
          </a:p>
          <a:p>
            <a:r>
              <a:t>- Cloud runners: 15+ minute average queue</a:t>
            </a:r>
          </a:p>
          <a:p>
            <a:r>
              <a:t>- On-premises: 4.2 minute average</a:t>
            </a:r>
          </a:p>
          <a:p>
            <a:r>
              <a:t>- 72% reduction in developer wait time</a:t>
            </a:r>
          </a:p>
          <a:p>
            <a:r>
              <a:t>- Peak hours handled without degradation</a:t>
            </a:r>
          </a:p>
          <a:p/>
          <a:p>
            <a:r>
              <a:t>*Concurrent Build Capacity:*</a:t>
            </a:r>
          </a:p>
          <a:p>
            <a:r>
              <a:t>- 8 servers x 3 concurrent builds each</a:t>
            </a:r>
          </a:p>
          <a:p>
            <a:r>
              <a:t>- 24 parallel builds at any time</a:t>
            </a:r>
          </a:p>
          <a:p>
            <a:r>
              <a:t>- Handles 5000+ builds per day</a:t>
            </a:r>
          </a:p>
          <a:p>
            <a:r>
              <a:t>- Headroom for 50% growth</a:t>
            </a:r>
          </a:p>
          <a:p/>
          <a:p>
            <a:r>
              <a:t>*Build Success Rate:*</a:t>
            </a:r>
          </a:p>
          <a:p>
            <a:r>
              <a:t>- 94.7% first-pass success rate</a:t>
            </a:r>
          </a:p>
          <a:p>
            <a:r>
              <a:t>- Failed builds: environment issues (3%)</a:t>
            </a:r>
          </a:p>
          <a:p>
            <a:r>
              <a:t>- Failed builds: test failures (2.3%)</a:t>
            </a:r>
          </a:p>
          <a:p>
            <a:r>
              <a:t>- Improved from 89% cloud baseline</a:t>
            </a:r>
          </a:p>
          <a:p/>
          <a:p>
            <a:r>
              <a:t>**Infrastructure Metrics:**</a:t>
            </a:r>
          </a:p>
          <a:p/>
          <a:p>
            <a:r>
              <a:t>*Resource Utilization:*</a:t>
            </a:r>
          </a:p>
          <a:p>
            <a:r>
              <a:t>- CPU at 65%: headroom for peaks</a:t>
            </a:r>
          </a:p>
          <a:p>
            <a:r>
              <a:t>- Memory at 72%: efficient allocation</a:t>
            </a:r>
          </a:p>
          <a:p>
            <a:r>
              <a:t>- NVMe storage: 2.1 GB/s workspace I/O</a:t>
            </a:r>
          </a:p>
          <a:p>
            <a:r>
              <a:t>- Network: no bottlenecks detected</a:t>
            </a:r>
          </a:p>
          <a:p/>
          <a:p>
            <a:r>
              <a:t>*Comparison vs Cloud Runners:*</a:t>
            </a:r>
          </a:p>
          <a:p>
            <a:r>
              <a:t>| Metric | Cloud | On-Prem | Improvement |</a:t>
            </a:r>
          </a:p>
          <a:p>
            <a:r>
              <a:t>|--------|-------|---------|-------------|</a:t>
            </a:r>
          </a:p>
          <a:p>
            <a:r>
              <a:t>| Queue Time | 15 min | 4 min | 73% faster |</a:t>
            </a:r>
          </a:p>
          <a:p>
            <a:r>
              <a:t>| Build Cost | $0.08/min | Fixed | 60% savings |</a:t>
            </a:r>
          </a:p>
          <a:p>
            <a:r>
              <a:t>| Data Security | Shared | Dedicated | 100% control |</a:t>
            </a:r>
          </a:p>
          <a:p/>
          <a:p>
            <a:r>
              <a:t>*Transition:*</a:t>
            </a:r>
          </a:p>
          <a:p>
            <a:r>
              <a:t>"These improvements deliver significant business value..."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*Benefits Analysis:*</a:t>
            </a:r>
          </a:p>
          <a:p/>
          <a:p>
            <a:r>
              <a:t>**Queue Time - 72% Faster:**</a:t>
            </a:r>
          </a:p>
          <a:p>
            <a:r>
              <a:t>- Previous: 15+ minute cloud runner queues</a:t>
            </a:r>
          </a:p>
          <a:p>
            <a:r>
              <a:t>- Current: 4.2 minute average on-premises</a:t>
            </a:r>
          </a:p>
          <a:p>
            <a:r>
              <a:t>- Developer time saved: 2.5 hours/day/team</a:t>
            </a:r>
          </a:p>
          <a:p>
            <a:r>
              <a:t>- Annual productivity value: $120K</a:t>
            </a:r>
          </a:p>
          <a:p/>
          <a:p>
            <a:r>
              <a:t>**Build Cost Savings - 60%:**</a:t>
            </a:r>
          </a:p>
          <a:p>
            <a:r>
              <a:t>- Cloud CI/CD: $450K annual spend</a:t>
            </a:r>
          </a:p>
          <a:p>
            <a:r>
              <a:t>- On-premises: $180K operational cost</a:t>
            </a:r>
          </a:p>
          <a:p>
            <a:r>
              <a:t>- Net savings: $270K per year</a:t>
            </a:r>
          </a:p>
          <a:p>
            <a:r>
              <a:t>- ROI payback: 9.5 months</a:t>
            </a:r>
          </a:p>
          <a:p/>
          <a:p>
            <a:r>
              <a:t>**Code Security:**</a:t>
            </a:r>
          </a:p>
          <a:p>
            <a:r>
              <a:t>- Source code never leaves premises</a:t>
            </a:r>
          </a:p>
          <a:p>
            <a:r>
              <a:t>- Proprietary algorithms protected</a:t>
            </a:r>
          </a:p>
          <a:p>
            <a:r>
              <a:t>- Customer data in pipelines secured</a:t>
            </a:r>
          </a:p>
          <a:p>
            <a:r>
              <a:t>- Compliance audit requirements met</a:t>
            </a:r>
          </a:p>
          <a:p/>
          <a:p>
            <a:r>
              <a:t>**Artifact Management:**</a:t>
            </a:r>
          </a:p>
          <a:p>
            <a:r>
              <a:t>- Single source of truth for dependencies</a:t>
            </a:r>
          </a:p>
          <a:p>
            <a:r>
              <a:t>- Version control for all artifacts</a:t>
            </a:r>
          </a:p>
          <a:p>
            <a:r>
              <a:t>- Docker images centrally managed</a:t>
            </a:r>
          </a:p>
          <a:p>
            <a:r>
              <a:t>- Reduced "works on my machine" issues</a:t>
            </a:r>
          </a:p>
          <a:p/>
          <a:p>
            <a:r>
              <a:t>**3-Year TCO Analysis:**</a:t>
            </a:r>
          </a:p>
          <a:p>
            <a:r>
              <a:t>| Cost Category | Year 1 | Year 2 | Year 3 | Total |</a:t>
            </a:r>
          </a:p>
          <a:p>
            <a:r>
              <a:t>|---------------|--------|--------|--------|-------|</a:t>
            </a:r>
          </a:p>
          <a:p>
            <a:r>
              <a:t>| Hardware | $160,000 | $0 | $0 | $160,000 |</a:t>
            </a:r>
          </a:p>
          <a:p>
            <a:r>
              <a:t>| Software | $45,000 | $35,000 | $35,000 | $115,000 |</a:t>
            </a:r>
          </a:p>
          <a:p>
            <a:r>
              <a:t>| Operations | $10,000 | $15,000 | $15,000 | $40,000 |</a:t>
            </a:r>
          </a:p>
          <a:p>
            <a:r>
              <a:t>| **Total** | **$215,000** | **$50,000** | **$50,000** | **$315,000** |</a:t>
            </a:r>
          </a:p>
          <a:p/>
          <a:p>
            <a:r>
              <a:t>*Cloud Alternative: $1.35M over 3 years*</a:t>
            </a:r>
          </a:p>
          <a:p/>
          <a:p>
            <a:r>
              <a:t>*Transition:*</a:t>
            </a:r>
          </a:p>
          <a:p>
            <a:r>
              <a:t>"We learned valuable lessons during this project..."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*Lessons Learned Details:*</a:t>
            </a:r>
          </a:p>
          <a:p/>
          <a:p>
            <a:r>
              <a:t>**What Worked Well:**</a:t>
            </a:r>
          </a:p>
          <a:p/>
          <a:p>
            <a:r>
              <a:t>*1. Phased Team Migration:*</a:t>
            </a:r>
          </a:p>
          <a:p>
            <a:r>
              <a:t>- Started with platform team (Week 4)</a:t>
            </a:r>
          </a:p>
          <a:p>
            <a:r>
              <a:t>- Added backend team (Week 5)</a:t>
            </a:r>
          </a:p>
          <a:p>
            <a:r>
              <a:t>- Frontend and mobile teams (Week 6)</a:t>
            </a:r>
          </a:p>
          <a:p>
            <a:r>
              <a:t>- Each wave learned from previous</a:t>
            </a:r>
          </a:p>
          <a:p>
            <a:r>
              <a:t>- Zero critical incidents during migration</a:t>
            </a:r>
          </a:p>
          <a:p/>
          <a:p>
            <a:r>
              <a:t>*2. Docker Layer Caching:*</a:t>
            </a:r>
          </a:p>
          <a:p>
            <a:r>
              <a:t>- Build times reduced 40% with caching</a:t>
            </a:r>
          </a:p>
          <a:p>
            <a:r>
              <a:t>- Shared cache across runners</a:t>
            </a:r>
          </a:p>
          <a:p>
            <a:r>
              <a:t>- Optimized Dockerfile ordering</a:t>
            </a:r>
          </a:p>
          <a:p>
            <a:r>
              <a:t>- Base images pre-pulled nightly</a:t>
            </a:r>
          </a:p>
          <a:p/>
          <a:p>
            <a:r>
              <a:t>*3. Pipeline Template Library:*</a:t>
            </a:r>
          </a:p>
          <a:p>
            <a:r>
              <a:t>- Standard templates for all languages</a:t>
            </a:r>
          </a:p>
          <a:p>
            <a:r>
              <a:t>- Security scanning built-in</a:t>
            </a:r>
          </a:p>
          <a:p>
            <a:r>
              <a:t>- Artifact publishing automated</a:t>
            </a:r>
          </a:p>
          <a:p>
            <a:r>
              <a:t>- Developers adopted quickly</a:t>
            </a:r>
          </a:p>
          <a:p/>
          <a:p>
            <a:r>
              <a:t>**Challenges Overcome:**</a:t>
            </a:r>
          </a:p>
          <a:p/>
          <a:p>
            <a:r>
              <a:t>*1. Jenkins Migration:*</a:t>
            </a:r>
          </a:p>
          <a:p>
            <a:r>
              <a:t>- Challenge: 200+ Jenkins jobs to convert</a:t>
            </a:r>
          </a:p>
          <a:p>
            <a:r>
              <a:t>- Resolution: Automated conversion scripts</a:t>
            </a:r>
          </a:p>
          <a:p>
            <a:r>
              <a:t>- Lesson: Plan 2 weeks for migration prep</a:t>
            </a:r>
          </a:p>
          <a:p/>
          <a:p>
            <a:r>
              <a:t>*2. Docker Image Bloat:*</a:t>
            </a:r>
          </a:p>
          <a:p>
            <a:r>
              <a:t>- Challenge: Images averaging 2GB</a:t>
            </a:r>
          </a:p>
          <a:p>
            <a:r>
              <a:t>- Resolution: Multi-stage builds, alpine bases</a:t>
            </a:r>
          </a:p>
          <a:p>
            <a:r>
              <a:t>- Lesson: Image optimization training critical</a:t>
            </a:r>
          </a:p>
          <a:p/>
          <a:p>
            <a:r>
              <a:t>*3. SSO Integration:*</a:t>
            </a:r>
          </a:p>
          <a:p>
            <a:r>
              <a:t>- Challenge: SAML configuration complexity</a:t>
            </a:r>
          </a:p>
          <a:p>
            <a:r>
              <a:t>- Resolution: Pre-staging in dev environment</a:t>
            </a:r>
          </a:p>
          <a:p>
            <a:r>
              <a:t>- Lesson: Include IdP team early</a:t>
            </a:r>
          </a:p>
          <a:p/>
          <a:p>
            <a:r>
              <a:t>**Recommendations:**</a:t>
            </a:r>
          </a:p>
          <a:p/>
          <a:p>
            <a:r>
              <a:t>*1. GitLab Security Scanning (High Priority):*</a:t>
            </a:r>
          </a:p>
          <a:p>
            <a:r>
              <a:t>- SAST/DAST in every pipeline</a:t>
            </a:r>
          </a:p>
          <a:p>
            <a:r>
              <a:t>- Container vulnerability scanning</a:t>
            </a:r>
          </a:p>
          <a:p>
            <a:r>
              <a:t>- Investment: Included in Premium</a:t>
            </a:r>
          </a:p>
          <a:p/>
          <a:p>
            <a:r>
              <a:t>*2. GPU Runners for ML Builds:*</a:t>
            </a:r>
          </a:p>
          <a:p>
            <a:r>
              <a:t>- Data science team needs</a:t>
            </a:r>
          </a:p>
          <a:p>
            <a:r>
              <a:t>- Model training in pipelines</a:t>
            </a:r>
          </a:p>
          <a:p>
            <a:r>
              <a:t>- Investment: $25K for 2 GPU nodes</a:t>
            </a:r>
          </a:p>
          <a:p/>
          <a:p>
            <a:r>
              <a:t>*Transition:*</a:t>
            </a:r>
          </a:p>
          <a:p>
            <a:r>
              <a:t>"Let me walk through support transition..."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*Support Transition Details:*</a:t>
            </a:r>
          </a:p>
          <a:p/>
          <a:p>
            <a:r>
              <a:t>**Team Onboarding:**</a:t>
            </a:r>
          </a:p>
          <a:p>
            <a:r>
              <a:t>- 50 developers with active access</a:t>
            </a:r>
          </a:p>
          <a:p>
            <a:r>
              <a:t>- 12 teams migrated successfully</a:t>
            </a:r>
          </a:p>
          <a:p>
            <a:r>
              <a:t>- 200+ pipelines converted</a:t>
            </a:r>
          </a:p>
          <a:p>
            <a:r>
              <a:t>- All legacy Jenkins jobs deprecated</a:t>
            </a:r>
          </a:p>
          <a:p/>
          <a:p>
            <a:r>
              <a:t>**Help Desk Procedures:**</a:t>
            </a:r>
          </a:p>
          <a:p/>
          <a:p>
            <a:r>
              <a:t>*Common Scenarios:*</a:t>
            </a:r>
          </a:p>
          <a:p>
            <a:r>
              <a:t>1. Build failure: Check pipeline logs, retry</a:t>
            </a:r>
          </a:p>
          <a:p>
            <a:r>
              <a:t>2. Runner offline: Restart Docker service</a:t>
            </a:r>
          </a:p>
          <a:p>
            <a:r>
              <a:t>3. Artifact not found: Check Artifactory retention</a:t>
            </a:r>
          </a:p>
          <a:p>
            <a:r>
              <a:t>4. Slow builds: Review resource allocation</a:t>
            </a:r>
          </a:p>
          <a:p>
            <a:r>
              <a:t>5. New project: Clone from template</a:t>
            </a:r>
          </a:p>
          <a:p/>
          <a:p>
            <a:r>
              <a:t>**Training Delivered:**</a:t>
            </a:r>
          </a:p>
          <a:p>
            <a:r>
              <a:t>| Session | Attendees | Duration |</a:t>
            </a:r>
          </a:p>
          <a:p>
            <a:r>
              <a:t>|---------|-----------|----------|</a:t>
            </a:r>
          </a:p>
          <a:p>
            <a:r>
              <a:t>| GitLab Administration | 4 DevOps | 8 hours |</a:t>
            </a:r>
          </a:p>
          <a:p>
            <a:r>
              <a:t>| Pipeline Development | 12 developers | 4 hours |</a:t>
            </a:r>
          </a:p>
          <a:p>
            <a:r>
              <a:t>| Artifactory Management | 3 admins | 4 hours |</a:t>
            </a:r>
          </a:p>
          <a:p>
            <a:r>
              <a:t>| Troubleshooting Workshop | 6 DevOps | 4 hours |</a:t>
            </a:r>
          </a:p>
          <a:p/>
          <a:p>
            <a:r>
              <a:t>**Monitoring Dashboard:**</a:t>
            </a:r>
          </a:p>
          <a:p>
            <a:r>
              <a:t>- GitLab performance metrics</a:t>
            </a:r>
          </a:p>
          <a:p>
            <a:r>
              <a:t>- Runner queue depth and wait times</a:t>
            </a:r>
          </a:p>
          <a:p>
            <a:r>
              <a:t>- Build success/failure rates</a:t>
            </a:r>
          </a:p>
          <a:p>
            <a:r>
              <a:t>- Artifactory storage utilization</a:t>
            </a:r>
          </a:p>
          <a:p>
            <a:r>
              <a:t>- Server resource consumption</a:t>
            </a:r>
          </a:p>
          <a:p/>
          <a:p>
            <a:r>
              <a:t>**Monthly Operations:**</a:t>
            </a:r>
          </a:p>
          <a:p>
            <a:r>
              <a:t>- Week 1: Review failed build trends</a:t>
            </a:r>
          </a:p>
          <a:p>
            <a:r>
              <a:t>- Week 2: Capacity and storage review</a:t>
            </a:r>
          </a:p>
          <a:p>
            <a:r>
              <a:t>- Week 3: Security patch assessment</a:t>
            </a:r>
          </a:p>
          <a:p>
            <a:r>
              <a:t>- Week 4: Performance optimization</a:t>
            </a:r>
          </a:p>
          <a:p/>
          <a:p>
            <a:r>
              <a:t>*Transition:*</a:t>
            </a:r>
          </a:p>
          <a:p>
            <a:r>
              <a:t>"Let me recognize the team..."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*Acknowledgments:*</a:t>
            </a:r>
          </a:p>
          <a:p/>
          <a:p>
            <a:r>
              <a:t>**Client Team:**</a:t>
            </a:r>
          </a:p>
          <a:p>
            <a:r>
              <a:t>- CTO: Executive sponsorship and budget</a:t>
            </a:r>
          </a:p>
          <a:p>
            <a:r>
              <a:t>- DevOps Lead: Platform ownership and operations</a:t>
            </a:r>
          </a:p>
          <a:p>
            <a:r>
              <a:t>- Platform Engineering: Integration and automation</a:t>
            </a:r>
          </a:p>
          <a:p>
            <a:r>
              <a:t>- Security Team: Compliance and access control</a:t>
            </a:r>
          </a:p>
          <a:p/>
          <a:p>
            <a:r>
              <a:t>**Vendor Team:**</a:t>
            </a:r>
          </a:p>
          <a:p>
            <a:r>
              <a:t>- Project Manager: Delivery and coordination</a:t>
            </a:r>
          </a:p>
          <a:p>
            <a:r>
              <a:t>- DevOps Architect: GitLab and pipeline design</a:t>
            </a:r>
          </a:p>
          <a:p>
            <a:r>
              <a:t>- GitLab Specialist: Runner optimization</a:t>
            </a:r>
          </a:p>
          <a:p/>
          <a:p>
            <a:r>
              <a:t>**Immediate Next Steps:**</a:t>
            </a:r>
          </a:p>
          <a:p>
            <a:r>
              <a:t>| Task | Owner | Due |</a:t>
            </a:r>
          </a:p>
          <a:p>
            <a:r>
              <a:t>|------|-------|-----|</a:t>
            </a:r>
          </a:p>
          <a:p>
            <a:r>
              <a:t>| Jenkins shutdown | DevOps Lead | This week |</a:t>
            </a:r>
          </a:p>
          <a:p>
            <a:r>
              <a:t>| Security scanning pilot | Security Team | Week 2 |</a:t>
            </a:r>
          </a:p>
          <a:p>
            <a:r>
              <a:t>| GPU runner assessment | Platform Eng | Week 4 |</a:t>
            </a:r>
          </a:p>
          <a:p>
            <a:r>
              <a:t>| Kubernetes runner POC | DevOps | Week 6 |</a:t>
            </a:r>
          </a:p>
          <a:p/>
          <a:p>
            <a:r>
              <a:t>**Phase 2 Considerations:**</a:t>
            </a:r>
          </a:p>
          <a:p>
            <a:r>
              <a:t>| Enhancement | Investment | Benefit |</a:t>
            </a:r>
          </a:p>
          <a:p>
            <a:r>
              <a:t>|-------------|------------|---------|</a:t>
            </a:r>
          </a:p>
          <a:p>
            <a:r>
              <a:t>| GPU Runners | $25K | ML/AI pipeline support |</a:t>
            </a:r>
          </a:p>
          <a:p>
            <a:r>
              <a:t>| Kubernetes Runners | $15K | Dynamic scaling |</a:t>
            </a:r>
          </a:p>
          <a:p>
            <a:r>
              <a:t>| GitLab Ultimate | $20K/yr | Advanced security |</a:t>
            </a:r>
          </a:p>
          <a:p>
            <a:r>
              <a:t>| Additional Servers | $40K | 2x build capacity |</a:t>
            </a:r>
          </a:p>
          <a:p/>
          <a:p>
            <a:r>
              <a:t>*Transition:*</a:t>
            </a:r>
          </a:p>
          <a:p>
            <a:r>
              <a:t>"Thank you for your partnership..."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*Closing:*</a:t>
            </a:r>
          </a:p>
          <a:p>
            <a:r>
              <a:t>"Thank you for your partnership. The Dell PowerEdge CI/CD infrastructure provides dedicated build capacity with GitLab Premium and Artifactory, delivering 60% cost savings and 72% faster build queue times.</a:t>
            </a:r>
          </a:p>
          <a:p/>
          <a:p>
            <a:r>
              <a:t>Questions?"</a:t>
            </a:r>
          </a:p>
          <a:p/>
          <a:p>
            <a:r>
              <a:t>**Anticipated Questions:**</a:t>
            </a:r>
          </a:p>
          <a:p/>
          <a:p>
            <a:r>
              <a:t>*Q: Can we add more build servers later?*</a:t>
            </a:r>
          </a:p>
          <a:p>
            <a:r>
              <a:t>A: Yes, GitLab Runner scales horizontally. Add servers and register new runners in minutes. Each R650 adds 3 concurrent build slots.</a:t>
            </a:r>
          </a:p>
          <a:p/>
          <a:p>
            <a:r>
              <a:t>*Q: How do we handle GitLab upgrades?*</a:t>
            </a:r>
          </a:p>
          <a:p>
            <a:r>
              <a:t>A: Monthly maintenance windows for minor updates. Major versions tested in staging first. Zero-downtime upgrade supported.</a:t>
            </a:r>
          </a:p>
          <a:p/>
          <a:p>
            <a:r>
              <a:t>*Q: What about disaster recovery?*</a:t>
            </a:r>
          </a:p>
          <a:p>
            <a:r>
              <a:t>A: GitLab data backed up daily. Artifactory replicates to secondary storage. RTO &lt;4 hours with documented recovery procedures.</a:t>
            </a:r>
          </a:p>
          <a:p/>
          <a:p>
            <a:r>
              <a:t>*Q: Can contractors access the build system?*</a:t>
            </a:r>
          </a:p>
          <a:p>
            <a:r>
              <a:t>A: Yes, with SAML SSO and project-level permissions. External collaborators get limited access to specific repositories.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Dell PowerEdge CI/CD Infrastructure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28,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6 weeks, on schedule</a:t>
            </a:r>
          </a:p>
          <a:p>
            <a:pPr/>
            <a:r>
              <a:rPr b="1"/>
              <a:t>Budget:</a:t>
            </a:r>
            <a:r>
              <a:t> $215,000 delivered on budget</a:t>
            </a:r>
          </a:p>
          <a:p>
            <a:pPr/>
            <a:r>
              <a:rPr b="1"/>
              <a:t>Go-Live Date:</a:t>
            </a:r>
            <a:r>
              <a:t> Week 6 as planned</a:t>
            </a:r>
          </a:p>
          <a:p>
            <a:pPr/>
            <a:r>
              <a:rPr b="1"/>
              <a:t>Quality:</a:t>
            </a:r>
            <a:r>
              <a:t> Zero critical issues at launch</a:t>
            </a:r>
          </a:p>
          <a:p>
            <a:pPr/>
            <a:r>
              <a:rPr b="1"/>
              <a:t>Build Servers:</a:t>
            </a:r>
            <a:r>
              <a:t> 8 PowerEdge R650 nodes</a:t>
            </a:r>
          </a:p>
          <a:p>
            <a:pPr/>
            <a:r>
              <a:rPr b="1"/>
              <a:t>Pipeline Volume:</a:t>
            </a:r>
            <a:r>
              <a:t> 5000 builds per day capacity</a:t>
            </a:r>
          </a:p>
          <a:p>
            <a:pPr/>
            <a:r>
              <a:rPr b="1"/>
              <a:t>Queue Time:</a:t>
            </a:r>
            <a:r>
              <a:t> &lt;5 minute average achieved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PowerEdge CI/CD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Build Server Layer</a:t>
            </a:r>
          </a:p>
          <a:p>
            <a:pPr lvl="1"/>
            <a:r>
              <a:t>8x Dell PowerEdge R650 servers</a:t>
            </a:r>
          </a:p>
          <a:p>
            <a:pPr lvl="1"/>
            <a:r>
              <a:t>Dual Intel Xeon Gold 6330 CPUs</a:t>
            </a:r>
          </a:p>
          <a:p>
            <a:pPr lvl="1"/>
            <a:r>
              <a:t>256GB RAM, 4TB NVMe SSD each</a:t>
            </a:r>
          </a:p>
          <a:p>
            <a:pPr/>
            <a:r>
              <a:rPr b="1"/>
              <a:t>CI/CD Platform Layer</a:t>
            </a:r>
          </a:p>
          <a:p>
            <a:pPr lvl="1"/>
            <a:r>
              <a:t>GitLab Premium self-hosted</a:t>
            </a:r>
          </a:p>
          <a:p>
            <a:pPr lvl="1"/>
            <a:r>
              <a:t>GitLab Runner with Docker executor</a:t>
            </a:r>
          </a:p>
          <a:p>
            <a:pPr lvl="1"/>
            <a:r>
              <a:t>Multi-stage pipeline support</a:t>
            </a:r>
          </a:p>
          <a:p>
            <a:pPr/>
            <a:r>
              <a:rPr b="1"/>
              <a:t>Artifact Management Layer</a:t>
            </a:r>
          </a:p>
          <a:p>
            <a:pPr lvl="1"/>
            <a:r>
              <a:t>JFrog Artifactory Pro</a:t>
            </a:r>
          </a:p>
          <a:p>
            <a:pPr lvl="1"/>
            <a:r>
              <a:t>Maven, npm, Docker registries</a:t>
            </a:r>
          </a:p>
          <a:p>
            <a:pPr lvl="1"/>
            <a:r>
              <a:t>20TB artifact storage capacity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PowerEdge CI/CD Infrastructure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Solution Architecture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CI/CD design with GitLab topology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and migration runbooks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RACI matrix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Build performance and load testing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Configuration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GitLab, Runner, Artifactory settings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`/delivery/configuration.xlsx`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Pipeline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CI/CD pipeline examples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`/delivery/pipeline-templates/`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Admin Operations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GitLab and Artifactory procedures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`/delivery/admin-guide.docx`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Migration Playbook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Team-by-team migration steps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`/delivery/migration-playbook.docx`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PowerEdge CI/CD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Build Performance</a:t>
            </a:r>
          </a:p>
          <a:p>
            <a:pPr lvl="1"/>
            <a:r>
              <a:t>Queue Time: 4.2 min (target: &lt;5 min)</a:t>
            </a:r>
          </a:p>
          <a:p>
            <a:pPr lvl="1"/>
            <a:r>
              <a:t>Build Duration: 14 min average</a:t>
            </a:r>
          </a:p>
          <a:p>
            <a:pPr lvl="1"/>
            <a:r>
              <a:t>Concurrent Builds: 24 parallel</a:t>
            </a:r>
          </a:p>
          <a:p>
            <a:pPr lvl="1"/>
            <a:r>
              <a:t>Daily Capacity: 5000+ builds</a:t>
            </a:r>
          </a:p>
          <a:p>
            <a:pPr lvl="1"/>
            <a:r>
              <a:t>Success Rate: 94.7% first pass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Infrastructure Metrics</a:t>
            </a:r>
          </a:p>
          <a:p>
            <a:pPr lvl="1"/>
            <a:r>
              <a:t>CPU Utilization: 65% average</a:t>
            </a:r>
          </a:p>
          <a:p>
            <a:pPr lvl="1"/>
            <a:r>
              <a:t>Memory Usage: 72% average</a:t>
            </a:r>
          </a:p>
          <a:p>
            <a:pPr lvl="1"/>
            <a:r>
              <a:t>Storage I/O: 2.1 GB/s aggregate</a:t>
            </a:r>
          </a:p>
          <a:p>
            <a:pPr lvl="1"/>
            <a:r>
              <a:t>Network: 8 Gbps sustained</a:t>
            </a:r>
          </a:p>
          <a:p>
            <a:pPr lvl="1"/>
            <a:r>
              <a:t>Uptime: 99.95% availability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PowerEdge CI/CD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SOW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Queue Time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&lt;5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4.2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72% faster feedback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Build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$180K annual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Code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 on-prem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IP protection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Build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5000/day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5500/day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Growth headroom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Developer Productivity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20% gain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25% gain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Faster iterations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Artifact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Centralized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Unified repos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Dependency control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PowerEdge CI/CD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Phased team-by-team migration</a:t>
            </a:r>
          </a:p>
          <a:p>
            <a:pPr lvl="1"/>
            <a:r>
              <a:t>GitLab Runner auto-scaling</a:t>
            </a:r>
          </a:p>
          <a:p>
            <a:pPr lvl="1"/>
            <a:r>
              <a:t>Docker layer caching</a:t>
            </a:r>
          </a:p>
          <a:p>
            <a:pPr lvl="1"/>
            <a:r>
              <a:t>Pipeline template library</a:t>
            </a:r>
          </a:p>
          <a:p>
            <a:pPr lvl="1"/>
            <a:r>
              <a:t>Early developer engagement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Jenkins migration</a:t>
            </a:r>
          </a:p>
          <a:p>
            <a:pPr lvl="1"/>
            <a:r>
              <a:t>Docker image size optimization</a:t>
            </a:r>
          </a:p>
          <a:p>
            <a:pPr lvl="1"/>
            <a:r>
              <a:t>Artifactory storage growth</a:t>
            </a:r>
          </a:p>
          <a:p>
            <a:pPr lvl="1"/>
            <a:r>
              <a:t>SSO integration complexity</a:t>
            </a:r>
          </a:p>
          <a:p>
            <a:pPr lvl="1"/>
            <a:r>
              <a:t>Build parallelization tuning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Implement GitLab Security scanning</a:t>
            </a:r>
          </a:p>
          <a:p>
            <a:pPr lvl="1"/>
            <a:r>
              <a:t>Add GPU runners for ML builds</a:t>
            </a:r>
          </a:p>
          <a:p>
            <a:pPr lvl="1"/>
            <a:r>
              <a:t>Enable merge request approvals</a:t>
            </a:r>
          </a:p>
          <a:p>
            <a:pPr lvl="1"/>
            <a:r>
              <a:t>Consider Kubernetes runners</a:t>
            </a:r>
          </a:p>
          <a:p>
            <a:pPr lvl="1"/>
            <a:r>
              <a:t>Quarterly capacity reviews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PowerEdge CI/CD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Complete (6 weeks)</a:t>
            </a:r>
          </a:p>
          <a:p>
            <a:pPr lvl="1"/>
            <a:r>
              <a:t>50 developers onboarded</a:t>
            </a:r>
          </a:p>
          <a:p>
            <a:pPr lvl="1"/>
            <a:r>
              <a:t>0 critical build failures</a:t>
            </a:r>
          </a:p>
          <a:p>
            <a:pPr lvl="1"/>
            <a:r>
              <a:t>All teams migrated from cloud</a:t>
            </a:r>
          </a:p>
          <a:p>
            <a:pPr lvl="1"/>
            <a:r>
              <a:t>DevOps team certified</a:t>
            </a:r>
          </a:p>
          <a:p>
            <a:pPr lvl="1"/>
            <a:r>
              <a:t>Runbooks validated</a:t>
            </a:r>
          </a:p>
          <a:p>
            <a:pPr/>
            <a:r>
              <a:rPr b="1"/>
              <a:t>Steady State Support</a:t>
            </a:r>
          </a:p>
          <a:p>
            <a:pPr lvl="1"/>
            <a:r>
              <a:t>Dell ProSupport for hardware</a:t>
            </a:r>
          </a:p>
          <a:p>
            <a:pPr lvl="1"/>
            <a:r>
              <a:t>GitLab Premium support</a:t>
            </a:r>
          </a:p>
          <a:p>
            <a:pPr lvl="1"/>
            <a:r>
              <a:t>JFrog support contract</a:t>
            </a:r>
          </a:p>
          <a:p>
            <a:pPr lvl="1"/>
            <a:r>
              <a:t>Internal DevOps L1 support</a:t>
            </a:r>
          </a:p>
          <a:p>
            <a:pPr lvl="1"/>
            <a:r>
              <a:t>Monthly platform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Path</a:t>
            </a:r>
          </a:p>
          <a:p>
            <a:pPr lvl="1"/>
            <a:r>
              <a:t>L1: Internal DevOps Team</a:t>
            </a:r>
          </a:p>
          <a:p>
            <a:pPr lvl="1"/>
            <a:r>
              <a:t>L2: Platform Engineering</a:t>
            </a:r>
          </a:p>
          <a:p>
            <a:pPr lvl="1"/>
            <a:r>
              <a:t>L3: GitLab Support</a:t>
            </a:r>
          </a:p>
          <a:p>
            <a:pPr lvl="1"/>
            <a:r>
              <a:t>Hardware: Dell ProSupport</a:t>
            </a:r>
          </a:p>
          <a:p>
            <a:pPr lvl="1"/>
            <a:r>
              <a:t>Artifacts: JFrog Support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PowerEdge CI/CD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Team:</a:t>
            </a:r>
            <a:r>
              <a:t> CTO, DevOps lead, platform engineering, security team</a:t>
            </a:r>
          </a:p>
          <a:p>
            <a:pPr/>
            <a:r>
              <a:rPr b="1"/>
              <a:t>Vendor Team:</a:t>
            </a:r>
            <a:r>
              <a:t> Project manager, DevOps architect, GitLab specialist</a:t>
            </a:r>
          </a:p>
          <a:p>
            <a:pPr/>
            <a:r>
              <a:rPr b="1"/>
              <a:t>Special Recognition:</a:t>
            </a:r>
            <a:r>
              <a:t> DevOps team for migration coordination</a:t>
            </a:r>
          </a:p>
          <a:p>
            <a:pPr/>
            <a:r>
              <a:rPr b="1"/>
              <a:t>This Week:</a:t>
            </a:r>
            <a:r>
              <a:t> Legacy Jenkins decommission, final documentation</a:t>
            </a:r>
          </a:p>
          <a:p>
            <a:pPr/>
            <a:r>
              <a:rPr b="1"/>
              <a:t>Next 30 Days:</a:t>
            </a:r>
            <a:r>
              <a:t> Security scanning enablement, ML runner planning</a:t>
            </a:r>
          </a:p>
          <a:p>
            <a:pPr/>
            <a:r>
              <a:rPr b="1"/>
              <a:t>Next Quarter:</a:t>
            </a:r>
            <a:r>
              <a:t> Kubernetes runner evaluation, capacity expansion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PowerEdge CI/CD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