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bin" ContentType="image/unknown"/>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 id="258" r:id="rId6"/>
    <p:sldId id="259" r:id="rId5"/>
    <p:sldId id="260" r:id="rId4"/>
    <p:sldId id="261" r:id="rId3"/>
    <p:sldId id="262" r:id="rId2"/>
    <p:sldId id="263" r:id="rId14"/>
    <p:sldId id="264" r:id="rId15"/>
    <p:sldId id="265" r:id="rId16"/>
    <p:sldId id="266"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1C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5" d="100"/>
          <a:sy n="145" d="100"/>
        </p:scale>
        <p:origin x="100" y="1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167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O 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538528" y="1886679"/>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Presentation Title</a:t>
            </a: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1" y="4536078"/>
            <a:ext cx="2099897"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59473" y="2437679"/>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Subtitle Text</a:t>
            </a:r>
            <a:endParaRPr lang="en-US" sz="1800" dirty="0"/>
          </a:p>
        </p:txBody>
      </p:sp>
      <p:sp>
        <p:nvSpPr>
          <p:cNvPr id="12" name="Text Placeholder 11">
            <a:extLst>
              <a:ext uri="{FF2B5EF4-FFF2-40B4-BE49-F238E27FC236}">
                <a16:creationId xmlns:a16="http://schemas.microsoft.com/office/drawing/2014/main" id="{39F5D3C5-0033-51A7-77BC-7E3DBBF84F2E}"/>
              </a:ext>
            </a:extLst>
          </p:cNvPr>
          <p:cNvSpPr>
            <a:spLocks noGrp="1"/>
          </p:cNvSpPr>
          <p:nvPr>
            <p:ph type="body" sz="quarter" idx="15" hasCustomPrompt="1"/>
          </p:nvPr>
        </p:nvSpPr>
        <p:spPr>
          <a:xfrm>
            <a:off x="2734286" y="3631467"/>
            <a:ext cx="3605212" cy="33496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400">
                <a:latin typeface="Arial" panose="020B0604020202020204" pitchFamily="34" charset="0"/>
                <a:cs typeface="Arial" panose="020B0604020202020204" pitchFamily="34" charset="0"/>
              </a:defRPr>
            </a:lvl1pPr>
          </a:lstStyle>
          <a:p>
            <a:pPr lvl="0"/>
            <a:r>
              <a:rPr lang="en-US" sz="1400" dirty="0">
                <a:solidFill>
                  <a:srgbClr val="6C757D"/>
                </a:solidFill>
                <a:latin typeface="Arial" pitchFamily="34" charset="0"/>
                <a:cs typeface="Arial" pitchFamily="34" charset="-120"/>
              </a:rPr>
              <a:t>Presenter Name | Date</a:t>
            </a:r>
            <a:endParaRPr lang="en-US" dirty="0"/>
          </a:p>
        </p:txBody>
      </p:sp>
    </p:spTree>
    <p:extLst>
      <p:ext uri="{BB962C8B-B14F-4D97-AF65-F5344CB8AC3E}">
        <p14:creationId xmlns:p14="http://schemas.microsoft.com/office/powerpoint/2010/main" val="1411435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O Single Column">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Slide Title</a:t>
            </a:r>
          </a:p>
        </p:txBody>
      </p:sp>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p:nvPr>
        </p:nvSpPr>
        <p:spPr>
          <a:xfrm>
            <a:off x="296863" y="685601"/>
            <a:ext cx="8548687" cy="3811657"/>
          </a:xfrm>
          <a:prstGeom prst="rect">
            <a:avLst/>
          </a:prstGeom>
        </p:spPr>
        <p:txBody>
          <a:bodyPr/>
          <a:lstStyle>
            <a:lvl1pPr>
              <a:defRPr sz="2000" b="1" baseline="0">
                <a:solidFill>
                  <a:srgbClr val="C00000"/>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57F71806-AFEA-DD6D-E6AA-E2A002E682DE}"/>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4623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O Bullet Points">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Bullet Points</a:t>
            </a:r>
          </a:p>
        </p:txBody>
      </p:sp>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hasCustomPrompt="1"/>
          </p:nvPr>
        </p:nvSpPr>
        <p:spPr>
          <a:xfrm>
            <a:off x="296863" y="685601"/>
            <a:ext cx="8548687" cy="3811657"/>
          </a:xfrm>
          <a:prstGeom prst="rect">
            <a:avLst/>
          </a:prstGeom>
        </p:spPr>
        <p:txBody>
          <a:bodyPr/>
          <a:lstStyle>
            <a:lvl1pPr>
              <a:defRPr sz="2000" baseline="0">
                <a:solidFill>
                  <a:schemeClr val="tx1"/>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Bullet Point 1</a:t>
            </a:r>
          </a:p>
          <a:p>
            <a:pPr lvl="0"/>
            <a:r>
              <a:rPr lang="en-US" dirty="0"/>
              <a:t>Bullet Point 2</a:t>
            </a:r>
          </a:p>
        </p:txBody>
      </p:sp>
      <p:sp>
        <p:nvSpPr>
          <p:cNvPr id="5" name="Text Placeholder 4">
            <a:extLst>
              <a:ext uri="{FF2B5EF4-FFF2-40B4-BE49-F238E27FC236}">
                <a16:creationId xmlns:a16="http://schemas.microsoft.com/office/drawing/2014/main" id="{162079A5-28FD-9D2F-2B9B-2FC8F9339A31}"/>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90737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O Two Column">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530738"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Two Column Layout</a:t>
            </a:r>
          </a:p>
        </p:txBody>
      </p:sp>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21877" cy="529698"/>
          </a:xfrm>
          <a:prstGeom prst="rect">
            <a:avLst/>
          </a:prstGeom>
        </p:spPr>
        <p:txBody>
          <a:bodyPr/>
          <a:lstStyle/>
          <a:p>
            <a:endParaRPr lang="en-US" dirty="0"/>
          </a:p>
        </p:txBody>
      </p:sp>
      <p:sp>
        <p:nvSpPr>
          <p:cNvPr id="6" name="Text Placeholder 5">
            <a:extLst>
              <a:ext uri="{FF2B5EF4-FFF2-40B4-BE49-F238E27FC236}">
                <a16:creationId xmlns:a16="http://schemas.microsoft.com/office/drawing/2014/main" id="{229E4A97-A874-D6CA-E54C-5584536CAA7C}"/>
              </a:ext>
            </a:extLst>
          </p:cNvPr>
          <p:cNvSpPr>
            <a:spLocks noGrp="1"/>
          </p:cNvSpPr>
          <p:nvPr>
            <p:ph type="body" sz="quarter" idx="16" hasCustomPrompt="1"/>
          </p:nvPr>
        </p:nvSpPr>
        <p:spPr>
          <a:xfrm>
            <a:off x="193675" y="678433"/>
            <a:ext cx="4462463"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Left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EF61ADBD-DA9D-A8A7-8FC3-64E82242B983}"/>
              </a:ext>
            </a:extLst>
          </p:cNvPr>
          <p:cNvSpPr>
            <a:spLocks noGrp="1"/>
          </p:cNvSpPr>
          <p:nvPr>
            <p:ph type="body" sz="quarter" idx="17" hasCustomPrompt="1"/>
          </p:nvPr>
        </p:nvSpPr>
        <p:spPr>
          <a:xfrm>
            <a:off x="4840288" y="678433"/>
            <a:ext cx="4110037"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Right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5DF49ED0-89F0-F008-ADD7-D71F338C8B9B}"/>
              </a:ext>
            </a:extLst>
          </p:cNvPr>
          <p:cNvSpPr>
            <a:spLocks noGrp="1"/>
          </p:cNvSpPr>
          <p:nvPr>
            <p:ph type="body" sz="quarter" idx="15" hasCustomPrompt="1"/>
          </p:nvPr>
        </p:nvSpPr>
        <p:spPr>
          <a:xfrm>
            <a:off x="5697414"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243730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O Table">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6855" y="39642"/>
            <a:ext cx="8710933" cy="52701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27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700" b="1" dirty="0">
                <a:solidFill>
                  <a:srgbClr val="2C3E50"/>
                </a:solidFill>
                <a:latin typeface="Arial" pitchFamily="34" charset="0"/>
                <a:cs typeface="Arial" pitchFamily="34" charset="-120"/>
              </a:rPr>
              <a:t>Table</a:t>
            </a:r>
            <a:endParaRPr lang="en-US" sz="3200" dirty="0"/>
          </a:p>
          <a:p>
            <a:pPr lvl="0"/>
            <a:endParaRPr lang="en-US" dirty="0"/>
          </a:p>
        </p:txBody>
      </p:sp>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2" y="4536078"/>
            <a:ext cx="2126273" cy="529698"/>
          </a:xfrm>
          <a:prstGeom prst="rect">
            <a:avLst/>
          </a:prstGeom>
        </p:spPr>
        <p:txBody>
          <a:bodyPr/>
          <a:lstStyle/>
          <a:p>
            <a:endParaRPr lang="en-US" dirty="0"/>
          </a:p>
        </p:txBody>
      </p:sp>
      <p:sp>
        <p:nvSpPr>
          <p:cNvPr id="5" name="Table Placeholder 4">
            <a:extLst>
              <a:ext uri="{FF2B5EF4-FFF2-40B4-BE49-F238E27FC236}">
                <a16:creationId xmlns:a16="http://schemas.microsoft.com/office/drawing/2014/main" id="{D3D9E4F7-6B7D-2205-75B9-EE8C54E89A5F}"/>
              </a:ext>
            </a:extLst>
          </p:cNvPr>
          <p:cNvSpPr>
            <a:spLocks noGrp="1"/>
          </p:cNvSpPr>
          <p:nvPr>
            <p:ph type="tbl" sz="quarter" idx="14"/>
          </p:nvPr>
        </p:nvSpPr>
        <p:spPr>
          <a:xfrm>
            <a:off x="256855" y="677011"/>
            <a:ext cx="8710933" cy="3785084"/>
          </a:xfrm>
          <a:prstGeom prst="rect">
            <a:avLst/>
          </a:prstGeom>
        </p:spPr>
        <p:txBody>
          <a:bodyPr/>
          <a:lstStyle/>
          <a:p>
            <a:endParaRPr lang="en-US"/>
          </a:p>
        </p:txBody>
      </p:sp>
      <p:sp>
        <p:nvSpPr>
          <p:cNvPr id="4" name="Text Placeholder 4">
            <a:extLst>
              <a:ext uri="{FF2B5EF4-FFF2-40B4-BE49-F238E27FC236}">
                <a16:creationId xmlns:a16="http://schemas.microsoft.com/office/drawing/2014/main" id="{A00DC936-676C-1BAA-B4B4-D45CC5951D6E}"/>
              </a:ext>
            </a:extLst>
          </p:cNvPr>
          <p:cNvSpPr>
            <a:spLocks noGrp="1"/>
          </p:cNvSpPr>
          <p:nvPr>
            <p:ph type="body" sz="quarter" idx="15" hasCustomPrompt="1"/>
          </p:nvPr>
        </p:nvSpPr>
        <p:spPr>
          <a:xfrm>
            <a:off x="5749315"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2814834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O Visual Content">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7423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Visual Content</a:t>
            </a:r>
          </a:p>
        </p:txBody>
      </p:sp>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30670" cy="529698"/>
          </a:xfrm>
          <a:prstGeom prst="rect">
            <a:avLst/>
          </a:prstGeom>
        </p:spPr>
        <p:txBody>
          <a:bodyPr/>
          <a:lstStyle/>
          <a:p>
            <a:endParaRPr lang="en-US" dirty="0"/>
          </a:p>
        </p:txBody>
      </p:sp>
      <p:sp>
        <p:nvSpPr>
          <p:cNvPr id="6" name="Picture Placeholder 5">
            <a:extLst>
              <a:ext uri="{FF2B5EF4-FFF2-40B4-BE49-F238E27FC236}">
                <a16:creationId xmlns:a16="http://schemas.microsoft.com/office/drawing/2014/main" id="{D4B682B8-2171-423F-A77B-10BADD07BC6C}"/>
              </a:ext>
            </a:extLst>
          </p:cNvPr>
          <p:cNvSpPr>
            <a:spLocks noGrp="1"/>
          </p:cNvSpPr>
          <p:nvPr>
            <p:ph type="pic" sz="quarter" idx="15"/>
          </p:nvPr>
        </p:nvSpPr>
        <p:spPr>
          <a:xfrm>
            <a:off x="4662488" y="685799"/>
            <a:ext cx="4337050" cy="3815859"/>
          </a:xfrm>
          <a:prstGeom prst="rect">
            <a:avLst/>
          </a:prstGeom>
        </p:spPr>
        <p:txBody>
          <a:bodyPr/>
          <a:lstStyle/>
          <a:p>
            <a:endParaRPr lang="en-US"/>
          </a:p>
        </p:txBody>
      </p:sp>
      <p:sp>
        <p:nvSpPr>
          <p:cNvPr id="5" name="Text Placeholder 4">
            <a:extLst>
              <a:ext uri="{FF2B5EF4-FFF2-40B4-BE49-F238E27FC236}">
                <a16:creationId xmlns:a16="http://schemas.microsoft.com/office/drawing/2014/main" id="{F1EE9992-B6F6-08BF-BFB5-6AF6BEDE367A}"/>
              </a:ext>
            </a:extLst>
          </p:cNvPr>
          <p:cNvSpPr>
            <a:spLocks noGrp="1"/>
          </p:cNvSpPr>
          <p:nvPr>
            <p:ph type="body" sz="quarter" idx="16"/>
          </p:nvPr>
        </p:nvSpPr>
        <p:spPr>
          <a:xfrm>
            <a:off x="92075" y="685800"/>
            <a:ext cx="4449763" cy="3815859"/>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4">
            <a:extLst>
              <a:ext uri="{FF2B5EF4-FFF2-40B4-BE49-F238E27FC236}">
                <a16:creationId xmlns:a16="http://schemas.microsoft.com/office/drawing/2014/main" id="{6D03683B-7C4B-D474-74C5-EC53E3BB515B}"/>
              </a:ext>
            </a:extLst>
          </p:cNvPr>
          <p:cNvSpPr>
            <a:spLocks noGrp="1"/>
          </p:cNvSpPr>
          <p:nvPr>
            <p:ph type="body" sz="quarter" idx="17" hasCustomPrompt="1"/>
          </p:nvPr>
        </p:nvSpPr>
        <p:spPr>
          <a:xfrm>
            <a:off x="5781065" y="4729530"/>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944059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O Data Visualization">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6407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Data Visualization</a:t>
            </a:r>
          </a:p>
        </p:txBody>
      </p:sp>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04294" cy="529698"/>
          </a:xfrm>
          <a:prstGeom prst="rect">
            <a:avLst/>
          </a:prstGeom>
        </p:spPr>
        <p:txBody>
          <a:bodyPr/>
          <a:lstStyle/>
          <a:p>
            <a:endParaRPr lang="en-US" dirty="0"/>
          </a:p>
        </p:txBody>
      </p:sp>
      <p:sp>
        <p:nvSpPr>
          <p:cNvPr id="5" name="Chart Placeholder 4">
            <a:extLst>
              <a:ext uri="{FF2B5EF4-FFF2-40B4-BE49-F238E27FC236}">
                <a16:creationId xmlns:a16="http://schemas.microsoft.com/office/drawing/2014/main" id="{A686C49F-4337-BBE6-FF21-682B01E38601}"/>
              </a:ext>
            </a:extLst>
          </p:cNvPr>
          <p:cNvSpPr>
            <a:spLocks noGrp="1"/>
          </p:cNvSpPr>
          <p:nvPr>
            <p:ph type="chart" sz="quarter" idx="15"/>
          </p:nvPr>
        </p:nvSpPr>
        <p:spPr>
          <a:xfrm>
            <a:off x="4572000" y="685597"/>
            <a:ext cx="4325938" cy="3778347"/>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D0B730E7-C68E-A3E8-1745-8AF89C786D5F}"/>
              </a:ext>
            </a:extLst>
          </p:cNvPr>
          <p:cNvSpPr>
            <a:spLocks noGrp="1"/>
          </p:cNvSpPr>
          <p:nvPr>
            <p:ph sz="quarter" idx="16"/>
          </p:nvPr>
        </p:nvSpPr>
        <p:spPr>
          <a:xfrm>
            <a:off x="136525" y="678433"/>
            <a:ext cx="4237038" cy="3785513"/>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A1231DFE-6A5A-950E-159E-9E1D3D45FD36}"/>
              </a:ext>
            </a:extLst>
          </p:cNvPr>
          <p:cNvSpPr>
            <a:spLocks noGrp="1"/>
          </p:cNvSpPr>
          <p:nvPr>
            <p:ph type="body" sz="quarter" idx="17" hasCustomPrompt="1"/>
          </p:nvPr>
        </p:nvSpPr>
        <p:spPr>
          <a:xfrm>
            <a:off x="5679465" y="4681864"/>
            <a:ext cx="3218473" cy="238125"/>
          </a:xfrm>
          <a:prstGeom prst="rect">
            <a:avLst/>
          </a:prstGeom>
        </p:spPr>
        <p:txBody>
          <a:bodyPr/>
          <a:lstStyle>
            <a:lvl5pPr algn="r">
              <a:buNone/>
              <a:defRPr sz="900"/>
            </a:lvl5pPr>
          </a:lstStyle>
          <a:p>
            <a:pPr lvl="4"/>
            <a:r>
              <a:rPr lang="en-US" dirty="0"/>
              <a:t>Project Name</a:t>
            </a:r>
          </a:p>
        </p:txBody>
      </p:sp>
    </p:spTree>
    <p:extLst>
      <p:ext uri="{BB962C8B-B14F-4D97-AF65-F5344CB8AC3E}">
        <p14:creationId xmlns:p14="http://schemas.microsoft.com/office/powerpoint/2010/main" val="47354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O Thank You">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736356" y="2247927"/>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Thank You</a:t>
            </a:r>
          </a:p>
          <a:p>
            <a:pPr marL="0" indent="0" algn="ctr">
              <a:lnSpc>
                <a:spcPts val="3600"/>
              </a:lnSpc>
              <a:buNone/>
            </a:pP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2" y="4536078"/>
            <a:ext cx="2164114"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24304" y="1874962"/>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Questions?</a:t>
            </a:r>
            <a:endParaRPr lang="en-US" sz="1800" dirty="0"/>
          </a:p>
        </p:txBody>
      </p:sp>
      <p:sp>
        <p:nvSpPr>
          <p:cNvPr id="2" name="Text 3">
            <a:extLst>
              <a:ext uri="{FF2B5EF4-FFF2-40B4-BE49-F238E27FC236}">
                <a16:creationId xmlns:a16="http://schemas.microsoft.com/office/drawing/2014/main" id="{5727805F-2A15-11D3-243F-1AE09D6E973E}"/>
              </a:ext>
            </a:extLst>
          </p:cNvPr>
          <p:cNvSpPr/>
          <p:nvPr userDrawn="1"/>
        </p:nvSpPr>
        <p:spPr>
          <a:xfrm>
            <a:off x="3312808" y="4536078"/>
            <a:ext cx="2797969" cy="529698"/>
          </a:xfrm>
          <a:prstGeom prst="roundRect">
            <a:avLst>
              <a:gd name="adj" fmla="val 14286"/>
            </a:avLst>
          </a:prstGeom>
          <a:solidFill>
            <a:srgbClr val="F5F5F5"/>
          </a:solidFill>
          <a:ln/>
        </p:spPr>
        <p:txBody>
          <a:bodyPr wrap="square" rtlCol="0" anchor="ctr"/>
          <a:lstStyle/>
          <a:p>
            <a:pPr marL="0" indent="0">
              <a:buNone/>
            </a:pPr>
            <a:endParaRPr lang="en-US" dirty="0"/>
          </a:p>
        </p:txBody>
      </p:sp>
      <p:sp>
        <p:nvSpPr>
          <p:cNvPr id="3" name="Text 4">
            <a:extLst>
              <a:ext uri="{FF2B5EF4-FFF2-40B4-BE49-F238E27FC236}">
                <a16:creationId xmlns:a16="http://schemas.microsoft.com/office/drawing/2014/main" id="{1034B79E-463D-8396-409E-62C28A2DEB04}"/>
              </a:ext>
            </a:extLst>
          </p:cNvPr>
          <p:cNvSpPr/>
          <p:nvPr userDrawn="1"/>
        </p:nvSpPr>
        <p:spPr>
          <a:xfrm>
            <a:off x="3614735" y="4667577"/>
            <a:ext cx="2076688" cy="266700"/>
          </a:xfrm>
          <a:prstGeom prst="rect">
            <a:avLst/>
          </a:prstGeom>
          <a:noFill/>
          <a:ln/>
        </p:spPr>
        <p:txBody>
          <a:bodyPr wrap="square" lIns="0" tIns="0" rIns="0" bIns="0" rtlCol="0" anchor="t"/>
          <a:lstStyle/>
          <a:p>
            <a:pPr marL="0" indent="0" algn="ctr">
              <a:lnSpc>
                <a:spcPts val="2100"/>
              </a:lnSpc>
              <a:spcBef>
                <a:spcPts val="300"/>
              </a:spcBef>
              <a:spcAft>
                <a:spcPts val="300"/>
              </a:spcAft>
              <a:buNone/>
            </a:pPr>
            <a:r>
              <a:rPr lang="en-US" sz="1500" b="1" dirty="0">
                <a:solidFill>
                  <a:schemeClr val="bg2">
                    <a:lumMod val="75000"/>
                  </a:schemeClr>
                </a:solidFill>
                <a:latin typeface="Arial" pitchFamily="34" charset="0"/>
                <a:ea typeface="Arial" pitchFamily="34" charset="-122"/>
                <a:cs typeface="Arial" pitchFamily="34" charset="-120"/>
              </a:rPr>
              <a:t>www.eoframework.org</a:t>
            </a:r>
            <a:endParaRPr lang="en-US" sz="1500" dirty="0">
              <a:solidFill>
                <a:schemeClr val="bg2">
                  <a:lumMod val="75000"/>
                </a:schemeClr>
              </a:solidFill>
            </a:endParaRPr>
          </a:p>
        </p:txBody>
      </p:sp>
      <p:sp>
        <p:nvSpPr>
          <p:cNvPr id="16" name="Text Placeholder 9">
            <a:extLst>
              <a:ext uri="{FF2B5EF4-FFF2-40B4-BE49-F238E27FC236}">
                <a16:creationId xmlns:a16="http://schemas.microsoft.com/office/drawing/2014/main" id="{2DED039B-C555-DCF4-1CA7-CA1E44823784}"/>
              </a:ext>
            </a:extLst>
          </p:cNvPr>
          <p:cNvSpPr>
            <a:spLocks noGrp="1"/>
          </p:cNvSpPr>
          <p:nvPr>
            <p:ph type="body" sz="quarter" idx="15" hasCustomPrompt="1"/>
          </p:nvPr>
        </p:nvSpPr>
        <p:spPr>
          <a:xfrm>
            <a:off x="268165" y="3131272"/>
            <a:ext cx="8480181"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b="0">
                <a:solidFill>
                  <a:schemeClr val="tx1"/>
                </a:solidFill>
                <a:latin typeface="Arial" panose="020B0604020202020204" pitchFamily="34" charset="0"/>
                <a:cs typeface="Arial" panose="020B0604020202020204" pitchFamily="34" charset="0"/>
              </a:defRPr>
            </a:lvl1pPr>
          </a:lstStyle>
          <a:p>
            <a:pPr>
              <a:spcAft>
                <a:spcPts val="1200"/>
              </a:spcAft>
            </a:pPr>
            <a:r>
              <a:rPr lang="en-US" sz="1800" b="1" dirty="0">
                <a:solidFill>
                  <a:srgbClr val="000000"/>
                </a:solidFill>
              </a:rPr>
              <a:t>Account Manager:</a:t>
            </a:r>
            <a:r>
              <a:rPr lang="en-US" sz="1800" dirty="0">
                <a:solidFill>
                  <a:srgbClr val="000000"/>
                </a:solidFill>
              </a:rPr>
              <a:t> [Name, Title] | [Email] | [Phone]</a:t>
            </a:r>
          </a:p>
        </p:txBody>
      </p:sp>
    </p:spTree>
    <p:extLst>
      <p:ext uri="{BB962C8B-B14F-4D97-AF65-F5344CB8AC3E}">
        <p14:creationId xmlns:p14="http://schemas.microsoft.com/office/powerpoint/2010/main" val="38210200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3" r:id="rId2"/>
    <p:sldLayoutId id="2147483659" r:id="rId3"/>
    <p:sldLayoutId id="2147483654" r:id="rId4"/>
    <p:sldLayoutId id="2147483655" r:id="rId5"/>
    <p:sldLayoutId id="2147483656" r:id="rId6"/>
    <p:sldLayoutId id="2147483657" r:id="rId7"/>
    <p:sldLayoutId id="2147483658"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Solution Briefing</a:t>
            </a:r>
          </a:p>
        </p:txBody>
      </p:sp>
      <p:sp>
        <p:nvSpPr>
          <p:cNvPr id="5" name="Text Placeholder 4"/>
          <p:cNvSpPr>
            <a:spLocks noGrp="1"/>
          </p:cNvSpPr>
          <p:nvPr>
            <p:ph type="body" idx="14" sz="quarter"/>
          </p:nvPr>
        </p:nvSpPr>
        <p:spPr/>
        <p:txBody>
          <a:bodyPr/>
          <a:lstStyle/>
          <a:p>
            <a:r>
              <a:t>Dell Precision AI Workstation Infrastructure</a:t>
            </a:r>
          </a:p>
        </p:txBody>
      </p:sp>
      <p:sp>
        <p:nvSpPr>
          <p:cNvPr id="6" name="Text Placeholder 5"/>
          <p:cNvSpPr>
            <a:spLocks noGrp="1"/>
          </p:cNvSpPr>
          <p:nvPr>
            <p:ph type="body" idx="15" sz="quarter"/>
          </p:nvPr>
        </p:nvSpPr>
        <p:spPr/>
        <p:txBody>
          <a:bodyPr/>
          <a:lstStyle/>
          <a:p>
            <a:r>
              <a:t>['Presenter Name'] | November 22, 2025</a:t>
            </a:r>
          </a:p>
        </p:txBody>
      </p:sp>
      <p:pic>
        <p:nvPicPr>
          <p:cNvPr id="7" name="Picture 6" descr="client_logo.png"/>
          <p:cNvPicPr>
            <a:picLocks noChangeAspect="1"/>
          </p:cNvPicPr>
          <p:nvPr/>
        </p:nvPicPr>
        <p:blipFill>
          <a:blip r:embed="rId2"/>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3"/>
          <a:stretch>
            <a:fillRect/>
          </a:stretch>
        </p:blipFill>
        <p:spPr>
          <a:xfrm>
            <a:off x="313591" y="4536078"/>
            <a:ext cx="2099897" cy="529698"/>
          </a:xfrm>
          <a:prstGeom prst="rect">
            <a:avLst/>
          </a:prstGeom>
        </p:spPr>
      </p:pic>
      <p:pic>
        <p:nvPicPr>
          <p:cNvPr id="9" name="Picture 8" descr="eo-framework-logo-real.png"/>
          <p:cNvPicPr>
            <a:picLocks noChangeAspect="1"/>
          </p:cNvPicPr>
          <p:nvPr/>
        </p:nvPicPr>
        <p:blipFill>
          <a:blip r:embed="rId4"/>
          <a:stretch>
            <a:fillRect/>
          </a:stretch>
        </p:blipFill>
        <p:spPr>
          <a:xfrm>
            <a:off x="6684264" y="4535424"/>
            <a:ext cx="2139696" cy="5303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Business Opportunity</a:t>
            </a:r>
          </a:p>
        </p:txBody>
      </p:sp>
      <p:sp>
        <p:nvSpPr>
          <p:cNvPr id="4" name="Text Placeholder 3"/>
          <p:cNvSpPr>
            <a:spLocks noGrp="1"/>
          </p:cNvSpPr>
          <p:nvPr>
            <p:ph type="body" idx="16" sz="quarter"/>
          </p:nvPr>
        </p:nvSpPr>
        <p:spPr/>
        <p:txBody>
          <a:bodyPr/>
          <a:lstStyle/>
          <a:p>
            <a:pPr/>
            <a:r>
              <a:rPr b="1"/>
              <a:t>Opportunity</a:t>
            </a:r>
          </a:p>
          <a:p>
            <a:pPr lvl="1"/>
            <a:r>
              <a:t>Reduce cloud GPU costs by 60-70% with on-premises Dell Precision workstations optimized for AI/ML</a:t>
            </a:r>
          </a:p>
          <a:p>
            <a:pPr lvl="1"/>
            <a:r>
              <a:t>Enable data scientists to train large language models and computer vision models locally with NVIDIA RTX A6000 GPUs</a:t>
            </a:r>
          </a:p>
          <a:p>
            <a:pPr lvl="1"/>
            <a:r>
              <a:t>Achieve data sovereignty and eliminate multi-terabyte dataset transfer bottlenecks costing hours of productivity</a:t>
            </a:r>
          </a:p>
        </p:txBody>
      </p:sp>
      <p:sp>
        <p:nvSpPr>
          <p:cNvPr id="5" name="Text Placeholder 4"/>
          <p:cNvSpPr>
            <a:spLocks noGrp="1"/>
          </p:cNvSpPr>
          <p:nvPr>
            <p:ph type="body" idx="17" sz="quarter"/>
          </p:nvPr>
        </p:nvSpPr>
        <p:spPr/>
        <p:txBody>
          <a:bodyPr/>
          <a:lstStyle/>
          <a:p>
            <a:pPr/>
            <a:r>
              <a:rPr b="1"/>
              <a:t>Success Criteria</a:t>
            </a:r>
          </a:p>
          <a:p>
            <a:pPr lvl="1"/>
            <a:r>
              <a:t>ROI realization within 3-6 months through cloud cost avoidance and productivity gains</a:t>
            </a:r>
          </a:p>
          <a:p>
            <a:pPr lvl="1"/>
            <a:r>
              <a:t>Model training time reduced from days to hours with 48GB GPU memory and 7000MB/s NVMe storage</a:t>
            </a:r>
          </a:p>
          <a:p>
            <a:pPr lvl="1"/>
            <a:r>
              <a:t>10 data scientists fully equipped with dedicated workstations achieving 95%+ GPU utilization</a:t>
            </a:r>
          </a:p>
        </p:txBody>
      </p:sp>
      <p:sp>
        <p:nvSpPr>
          <p:cNvPr id="6" name="Text Placeholder 5"/>
          <p:cNvSpPr>
            <a:spLocks noGrp="1"/>
          </p:cNvSpPr>
          <p:nvPr>
            <p:ph type="body" idx="15" sz="quarter"/>
          </p:nvPr>
        </p:nvSpPr>
        <p:spPr/>
        <p:txBody>
          <a:bodyPr/>
          <a:lstStyle/>
          <a:p>
            <a:pPr algn="r">
              <a:buNone/>
            </a:pPr>
            <a:r>
              <a:rPr sz="1100">
                <a:solidFill>
                  <a:srgbClr val="CC0000"/>
                </a:solidFill>
              </a:rPr>
              <a:t>Dell Precision AI Workstation Infrastructure</a:t>
            </a:r>
          </a:p>
        </p:txBody>
      </p:sp>
      <p:pic>
        <p:nvPicPr>
          <p:cNvPr id="7" name="Picture 6" descr="consulting_company_logo.png"/>
          <p:cNvPicPr>
            <a:picLocks noChangeAspect="1"/>
          </p:cNvPicPr>
          <p:nvPr/>
        </p:nvPicPr>
        <p:blipFill>
          <a:blip r:embed="rId2"/>
          <a:stretch>
            <a:fillRect/>
          </a:stretch>
        </p:blipFill>
        <p:spPr>
          <a:xfrm>
            <a:off x="313592" y="4536078"/>
            <a:ext cx="2121877" cy="52969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Engagement Scope</a:t>
            </a:r>
          </a:p>
        </p:txBody>
      </p:sp>
      <p:graphicFrame>
        <p:nvGraphicFramePr>
          <p:cNvPr id="4" name="Table Placeholder 3"/>
          <p:cNvGraphicFramePr>
            <a:graphicFrameLocks noGrp="1"/>
          </p:cNvGraphicFramePr>
          <p:nvPr>
            <p:ph type="tbl" idx="14" sz="quarter"/>
          </p:nvPr>
        </p:nvGraphicFramePr>
        <p:xfrm>
          <a:off x="256855" y="677011"/>
          <a:ext cx="8710929" cy="3337560"/>
        </p:xfrm>
        <a:graphic>
          <a:graphicData uri="http://schemas.openxmlformats.org/drawingml/2006/table">
            <a:tbl>
              <a:tblPr firstRow="1" bandRow="1">
                <a:tableStyleId>{5C22544A-7EE6-4342-B048-85BDC9FD1C3A}</a:tableStyleId>
              </a:tblPr>
              <a:tblGrid>
                <a:gridCol w="1567967"/>
                <a:gridCol w="2526170"/>
                <a:gridCol w="435546"/>
                <a:gridCol w="1567967"/>
                <a:gridCol w="2613279"/>
              </a:tblGrid>
              <a:tr h="370840">
                <a:tc>
                  <a:txBody>
                    <a:bodyPr/>
                    <a:lstStyle/>
                    <a:p>
                      <a:r>
                        <a:rPr sz="1400">
                          <a:solidFill>
                            <a:srgbClr val="FFFFFF"/>
                          </a:solidFill>
                        </a:rPr>
                        <a:t>Parameter</a:t>
                      </a:r>
                    </a:p>
                  </a:txBody>
                  <a:tcPr>
                    <a:solidFill>
                      <a:srgbClr val="A01C02"/>
                    </a:solidFill>
                  </a:tcPr>
                </a:tc>
                <a:tc>
                  <a:txBody>
                    <a:bodyPr/>
                    <a:lstStyle/>
                    <a:p>
                      <a:r>
                        <a:rPr sz="1400">
                          <a:solidFill>
                            <a:srgbClr val="FFFFFF"/>
                          </a:solidFill>
                        </a:rPr>
                        <a:t>Scope</a:t>
                      </a:r>
                    </a:p>
                  </a:txBody>
                  <a:tcPr>
                    <a:solidFill>
                      <a:srgbClr val="A01C02"/>
                    </a:solidFill>
                  </a:tcPr>
                </a:tc>
                <a:tc>
                  <a:txBody>
                    <a:bodyPr/>
                    <a:lstStyle/>
                    <a:p/>
                  </a:txBody>
                  <a:tcPr>
                    <a:solidFill>
                      <a:srgbClr val="FFFFFF"/>
                    </a:solidFill>
                  </a:tcPr>
                </a:tc>
                <a:tc>
                  <a:txBody>
                    <a:bodyPr/>
                    <a:lstStyle/>
                    <a:p>
                      <a:r>
                        <a:rPr sz="1400">
                          <a:solidFill>
                            <a:srgbClr val="FFFFFF"/>
                          </a:solidFill>
                        </a:rPr>
                        <a:t>Parameter</a:t>
                      </a:r>
                    </a:p>
                  </a:txBody>
                  <a:tcPr>
                    <a:solidFill>
                      <a:srgbClr val="A01C02"/>
                    </a:solidFill>
                  </a:tcPr>
                </a:tc>
                <a:tc>
                  <a:txBody>
                    <a:bodyPr/>
                    <a:lstStyle/>
                    <a:p>
                      <a:r>
                        <a:rPr sz="1400">
                          <a:solidFill>
                            <a:srgbClr val="FFFFFF"/>
                          </a:solidFill>
                        </a:rPr>
                        <a:t>Scope</a:t>
                      </a:r>
                    </a:p>
                  </a:txBody>
                  <a:tcPr>
                    <a:solidFill>
                      <a:srgbClr val="A01C02"/>
                    </a:solidFill>
                  </a:tcPr>
                </a:tc>
              </a:tr>
              <a:tr h="370840">
                <a:tc>
                  <a:txBody>
                    <a:bodyPr/>
                    <a:lstStyle/>
                    <a:p>
                      <a:r>
                        <a:rPr b="1" sz="1100"/>
                        <a:t>Number of Workstations</a:t>
                      </a:r>
                    </a:p>
                  </a:txBody>
                  <a:tcPr>
                    <a:solidFill>
                      <a:srgbClr val="E7E6E6"/>
                    </a:solidFill>
                  </a:tcPr>
                </a:tc>
                <a:tc>
                  <a:txBody>
                    <a:bodyPr/>
                    <a:lstStyle/>
                    <a:p>
                      <a:r>
                        <a:rPr sz="1100"/>
                        <a:t>10 Dell Precision 7960 units</a:t>
                      </a:r>
                    </a:p>
                  </a:txBody>
                  <a:tcPr>
                    <a:solidFill>
                      <a:srgbClr val="E7E6E6"/>
                    </a:solidFill>
                  </a:tcPr>
                </a:tc>
                <a:tc>
                  <a:txBody>
                    <a:bodyPr/>
                    <a:lstStyle/>
                    <a:p/>
                  </a:txBody>
                  <a:tcPr>
                    <a:solidFill>
                      <a:srgbClr val="FFFFFF"/>
                    </a:solidFill>
                  </a:tcPr>
                </a:tc>
                <a:tc>
                  <a:txBody>
                    <a:bodyPr/>
                    <a:lstStyle/>
                    <a:p>
                      <a:r>
                        <a:rPr b="1" sz="1100"/>
                        <a:t>Workstation Performance</a:t>
                      </a:r>
                    </a:p>
                  </a:txBody>
                  <a:tcPr>
                    <a:solidFill>
                      <a:srgbClr val="E7E6E6"/>
                    </a:solidFill>
                  </a:tcPr>
                </a:tc>
                <a:tc>
                  <a:txBody>
                    <a:bodyPr/>
                    <a:lstStyle/>
                    <a:p>
                      <a:r>
                        <a:rPr sz="1100"/>
                        <a:t>Dell Precision 7960 dual Xeon Gold</a:t>
                      </a:r>
                    </a:p>
                  </a:txBody>
                  <a:tcPr>
                    <a:solidFill>
                      <a:srgbClr val="E7E6E6"/>
                    </a:solidFill>
                  </a:tcPr>
                </a:tc>
              </a:tr>
              <a:tr h="370840">
                <a:tc>
                  <a:txBody>
                    <a:bodyPr/>
                    <a:lstStyle/>
                    <a:p>
                      <a:r>
                        <a:rPr b="1" sz="1100"/>
                        <a:t>GPU Configuration</a:t>
                      </a:r>
                    </a:p>
                  </a:txBody>
                  <a:tcPr>
                    <a:solidFill>
                      <a:srgbClr val="E7E6E6"/>
                    </a:solidFill>
                  </a:tcPr>
                </a:tc>
                <a:tc>
                  <a:txBody>
                    <a:bodyPr/>
                    <a:lstStyle/>
                    <a:p>
                      <a:r>
                        <a:rPr sz="1100"/>
                        <a:t>NVIDIA RTX A6000 48GB</a:t>
                      </a:r>
                    </a:p>
                  </a:txBody>
                  <a:tcPr>
                    <a:solidFill>
                      <a:srgbClr val="E7E6E6"/>
                    </a:solidFill>
                  </a:tcPr>
                </a:tc>
                <a:tc>
                  <a:txBody>
                    <a:bodyPr/>
                    <a:lstStyle/>
                    <a:p/>
                  </a:txBody>
                  <a:tcPr>
                    <a:solidFill>
                      <a:srgbClr val="FFFFFF"/>
                    </a:solidFill>
                  </a:tcPr>
                </a:tc>
                <a:tc>
                  <a:txBody>
                    <a:bodyPr/>
                    <a:lstStyle/>
                    <a:p>
                      <a:r>
                        <a:rPr b="1" sz="1100"/>
                        <a:t>Operating System</a:t>
                      </a:r>
                    </a:p>
                  </a:txBody>
                  <a:tcPr>
                    <a:solidFill>
                      <a:srgbClr val="E7E6E6"/>
                    </a:solidFill>
                  </a:tcPr>
                </a:tc>
                <a:tc>
                  <a:txBody>
                    <a:bodyPr/>
                    <a:lstStyle/>
                    <a:p>
                      <a:r>
                        <a:rPr sz="1100"/>
                        <a:t>Ubuntu 22.04 LTS with CUDA</a:t>
                      </a:r>
                    </a:p>
                  </a:txBody>
                  <a:tcPr>
                    <a:solidFill>
                      <a:srgbClr val="E7E6E6"/>
                    </a:solidFill>
                  </a:tcPr>
                </a:tc>
              </a:tr>
              <a:tr h="370840">
                <a:tc>
                  <a:txBody>
                    <a:bodyPr/>
                    <a:lstStyle/>
                    <a:p>
                      <a:r>
                        <a:rPr b="1" sz="1100"/>
                        <a:t>Data Science Tools</a:t>
                      </a:r>
                    </a:p>
                  </a:txBody>
                  <a:tcPr>
                    <a:solidFill>
                      <a:srgbClr val="E7E6E6"/>
                    </a:solidFill>
                  </a:tcPr>
                </a:tc>
                <a:tc>
                  <a:txBody>
                    <a:bodyPr/>
                    <a:lstStyle/>
                    <a:p>
                      <a:r>
                        <a:rPr sz="1100"/>
                        <a:t>Standard stack (PyTorch TensorFlow)</a:t>
                      </a:r>
                    </a:p>
                  </a:txBody>
                  <a:tcPr>
                    <a:solidFill>
                      <a:srgbClr val="E7E6E6"/>
                    </a:solidFill>
                  </a:tcPr>
                </a:tc>
                <a:tc>
                  <a:txBody>
                    <a:bodyPr/>
                    <a:lstStyle/>
                    <a:p/>
                  </a:txBody>
                  <a:tcPr>
                    <a:solidFill>
                      <a:srgbClr val="FFFFFF"/>
                    </a:solidFill>
                  </a:tcPr>
                </a:tc>
                <a:tc>
                  <a:txBody>
                    <a:bodyPr/>
                    <a:lstStyle/>
                    <a:p>
                      <a:r>
                        <a:rPr b="1" sz="1100"/>
                        <a:t>Access Control</a:t>
                      </a:r>
                    </a:p>
                  </a:txBody>
                  <a:tcPr>
                    <a:solidFill>
                      <a:srgbClr val="E7E6E6"/>
                    </a:solidFill>
                  </a:tcPr>
                </a:tc>
                <a:tc>
                  <a:txBody>
                    <a:bodyPr/>
                    <a:lstStyle/>
                    <a:p>
                      <a:r>
                        <a:rPr sz="1100"/>
                        <a:t>Standard file permissions and SSH</a:t>
                      </a:r>
                    </a:p>
                  </a:txBody>
                  <a:tcPr>
                    <a:solidFill>
                      <a:srgbClr val="E7E6E6"/>
                    </a:solidFill>
                  </a:tcPr>
                </a:tc>
              </a:tr>
              <a:tr h="370840">
                <a:tc>
                  <a:txBody>
                    <a:bodyPr/>
                    <a:lstStyle/>
                    <a:p>
                      <a:r>
                        <a:rPr b="1" sz="1100"/>
                        <a:t>Shared Storage</a:t>
                      </a:r>
                    </a:p>
                  </a:txBody>
                  <a:tcPr>
                    <a:solidFill>
                      <a:srgbClr val="E7E6E6"/>
                    </a:solidFill>
                  </a:tcPr>
                </a:tc>
                <a:tc>
                  <a:txBody>
                    <a:bodyPr/>
                    <a:lstStyle/>
                    <a:p>
                      <a:r>
                        <a:rPr sz="1100"/>
                        <a:t>Dell PowerScale F600 100TB NAS</a:t>
                      </a:r>
                    </a:p>
                  </a:txBody>
                  <a:tcPr>
                    <a:solidFill>
                      <a:srgbClr val="E7E6E6"/>
                    </a:solidFill>
                  </a:tcPr>
                </a:tc>
                <a:tc>
                  <a:txBody>
                    <a:bodyPr/>
                    <a:lstStyle/>
                    <a:p/>
                  </a:txBody>
                  <a:tcPr>
                    <a:solidFill>
                      <a:srgbClr val="FFFFFF"/>
                    </a:solidFill>
                  </a:tcPr>
                </a:tc>
                <a:tc>
                  <a:txBody>
                    <a:bodyPr/>
                    <a:lstStyle/>
                    <a:p>
                      <a:r>
                        <a:rPr b="1" sz="1100"/>
                        <a:t>Data Classification</a:t>
                      </a:r>
                    </a:p>
                  </a:txBody>
                  <a:tcPr>
                    <a:solidFill>
                      <a:srgbClr val="E7E6E6"/>
                    </a:solidFill>
                  </a:tcPr>
                </a:tc>
                <a:tc>
                  <a:txBody>
                    <a:bodyPr/>
                    <a:lstStyle/>
                    <a:p>
                      <a:r>
                        <a:rPr sz="1100"/>
                        <a:t>Unclassified research data</a:t>
                      </a:r>
                    </a:p>
                  </a:txBody>
                  <a:tcPr>
                    <a:solidFill>
                      <a:srgbClr val="E7E6E6"/>
                    </a:solidFill>
                  </a:tcPr>
                </a:tc>
              </a:tr>
              <a:tr h="370840">
                <a:tc>
                  <a:txBody>
                    <a:bodyPr/>
                    <a:lstStyle/>
                    <a:p>
                      <a:r>
                        <a:rPr b="1" sz="1100"/>
                        <a:t>Data Scientists</a:t>
                      </a:r>
                    </a:p>
                  </a:txBody>
                  <a:tcPr>
                    <a:solidFill>
                      <a:srgbClr val="E7E6E6"/>
                    </a:solidFill>
                  </a:tcPr>
                </a:tc>
                <a:tc>
                  <a:txBody>
                    <a:bodyPr/>
                    <a:lstStyle/>
                    <a:p>
                      <a:r>
                        <a:rPr sz="1100"/>
                        <a:t>10 concurrent users</a:t>
                      </a:r>
                    </a:p>
                  </a:txBody>
                  <a:tcPr>
                    <a:solidFill>
                      <a:srgbClr val="E7E6E6"/>
                    </a:solidFill>
                  </a:tcPr>
                </a:tc>
                <a:tc>
                  <a:txBody>
                    <a:bodyPr/>
                    <a:lstStyle/>
                    <a:p/>
                  </a:txBody>
                  <a:tcPr>
                    <a:solidFill>
                      <a:srgbClr val="FFFFFF"/>
                    </a:solidFill>
                  </a:tcPr>
                </a:tc>
                <a:tc>
                  <a:txBody>
                    <a:bodyPr/>
                    <a:lstStyle/>
                    <a:p>
                      <a:r>
                        <a:rPr b="1" sz="1100"/>
                        <a:t>Training Performance</a:t>
                      </a:r>
                    </a:p>
                  </a:txBody>
                  <a:tcPr>
                    <a:solidFill>
                      <a:srgbClr val="E7E6E6"/>
                    </a:solidFill>
                  </a:tcPr>
                </a:tc>
                <a:tc>
                  <a:txBody>
                    <a:bodyPr/>
                    <a:lstStyle/>
                    <a:p>
                      <a:r>
                        <a:rPr sz="1100"/>
                        <a:t>Target: 80% GPU utilization average</a:t>
                      </a:r>
                    </a:p>
                  </a:txBody>
                  <a:tcPr>
                    <a:solidFill>
                      <a:srgbClr val="E7E6E6"/>
                    </a:solidFill>
                  </a:tcPr>
                </a:tc>
              </a:tr>
              <a:tr h="370840">
                <a:tc>
                  <a:txBody>
                    <a:bodyPr/>
                    <a:lstStyle/>
                    <a:p>
                      <a:r>
                        <a:rPr b="1" sz="1100"/>
                        <a:t>User Roles</a:t>
                      </a:r>
                    </a:p>
                  </a:txBody>
                  <a:tcPr>
                    <a:solidFill>
                      <a:srgbClr val="E7E6E6"/>
                    </a:solidFill>
                  </a:tcPr>
                </a:tc>
                <a:tc>
                  <a:txBody>
                    <a:bodyPr/>
                    <a:lstStyle/>
                    <a:p>
                      <a:r>
                        <a:rPr sz="1100"/>
                        <a:t>2 roles (data scientist admin)</a:t>
                      </a:r>
                    </a:p>
                  </a:txBody>
                  <a:tcPr>
                    <a:solidFill>
                      <a:srgbClr val="E7E6E6"/>
                    </a:solidFill>
                  </a:tcPr>
                </a:tc>
                <a:tc>
                  <a:txBody>
                    <a:bodyPr/>
                    <a:lstStyle/>
                    <a:p/>
                  </a:txBody>
                  <a:tcPr>
                    <a:solidFill>
                      <a:srgbClr val="FFFFFF"/>
                    </a:solidFill>
                  </a:tcPr>
                </a:tc>
                <a:tc>
                  <a:txBody>
                    <a:bodyPr/>
                    <a:lstStyle/>
                    <a:p>
                      <a:r>
                        <a:rPr b="1" sz="1100"/>
                        <a:t>Storage Performance</a:t>
                      </a:r>
                    </a:p>
                  </a:txBody>
                  <a:tcPr>
                    <a:solidFill>
                      <a:srgbClr val="E7E6E6"/>
                    </a:solidFill>
                  </a:tcPr>
                </a:tc>
                <a:tc>
                  <a:txBody>
                    <a:bodyPr/>
                    <a:lstStyle/>
                    <a:p>
                      <a:r>
                        <a:rPr sz="1100"/>
                        <a:t>7000 MB/s NVMe read per workstation</a:t>
                      </a:r>
                    </a:p>
                  </a:txBody>
                  <a:tcPr>
                    <a:solidFill>
                      <a:srgbClr val="E7E6E6"/>
                    </a:solidFill>
                  </a:tcPr>
                </a:tc>
              </a:tr>
              <a:tr h="370840">
                <a:tc>
                  <a:txBody>
                    <a:bodyPr/>
                    <a:lstStyle/>
                    <a:p>
                      <a:r>
                        <a:rPr b="1" sz="1100"/>
                        <a:t>Dataset Size per Project</a:t>
                      </a:r>
                    </a:p>
                  </a:txBody>
                  <a:tcPr>
                    <a:solidFill>
                      <a:srgbClr val="E7E6E6"/>
                    </a:solidFill>
                  </a:tcPr>
                </a:tc>
                <a:tc>
                  <a:txBody>
                    <a:bodyPr/>
                    <a:lstStyle/>
                    <a:p>
                      <a:r>
                        <a:rPr sz="1100"/>
                        <a:t>5TB average dataset size</a:t>
                      </a:r>
                    </a:p>
                  </a:txBody>
                  <a:tcPr>
                    <a:solidFill>
                      <a:srgbClr val="E7E6E6"/>
                    </a:solidFill>
                  </a:tcPr>
                </a:tc>
                <a:tc>
                  <a:txBody>
                    <a:bodyPr/>
                    <a:lstStyle/>
                    <a:p/>
                  </a:txBody>
                  <a:tcPr>
                    <a:solidFill>
                      <a:srgbClr val="FFFFFF"/>
                    </a:solidFill>
                  </a:tcPr>
                </a:tc>
                <a:tc>
                  <a:txBody>
                    <a:bodyPr/>
                    <a:lstStyle/>
                    <a:p>
                      <a:r>
                        <a:rPr b="1" sz="1100"/>
                        <a:t>Deployment Environments</a:t>
                      </a:r>
                    </a:p>
                  </a:txBody>
                  <a:tcPr>
                    <a:solidFill>
                      <a:srgbClr val="E7E6E6"/>
                    </a:solidFill>
                  </a:tcPr>
                </a:tc>
                <a:tc>
                  <a:txBody>
                    <a:bodyPr/>
                    <a:lstStyle/>
                    <a:p>
                      <a:r>
                        <a:rPr sz="1100"/>
                        <a:t>Production only</a:t>
                      </a:r>
                    </a:p>
                  </a:txBody>
                  <a:tcPr>
                    <a:solidFill>
                      <a:srgbClr val="E7E6E6"/>
                    </a:solidFill>
                  </a:tcPr>
                </a:tc>
              </a:tr>
              <a:tr h="370840">
                <a:tc>
                  <a:txBody>
                    <a:bodyPr/>
                    <a:lstStyle/>
                    <a:p>
                      <a:r>
                        <a:rPr b="1" sz="1100"/>
                        <a:t>Model Checkpoint Storage</a:t>
                      </a:r>
                    </a:p>
                  </a:txBody>
                  <a:tcPr>
                    <a:solidFill>
                      <a:srgbClr val="E7E6E6"/>
                    </a:solidFill>
                  </a:tcPr>
                </a:tc>
                <a:tc>
                  <a:txBody>
                    <a:bodyPr/>
                    <a:lstStyle/>
                    <a:p>
                      <a:r>
                        <a:rPr sz="1100"/>
                        <a:t>2TB model storage requirements</a:t>
                      </a:r>
                    </a:p>
                  </a:txBody>
                  <a:tcPr>
                    <a:solidFill>
                      <a:srgbClr val="E7E6E6"/>
                    </a:solidFill>
                  </a:tcPr>
                </a:tc>
                <a:tc>
                  <a:txBody>
                    <a:bodyPr/>
                    <a:lstStyle/>
                    <a:p/>
                  </a:txBody>
                  <a:tcPr>
                    <a:solidFill>
                      <a:srgbClr val="FFFFFF"/>
                    </a:solidFill>
                  </a:tcPr>
                </a:tc>
                <a:tc>
                  <a:txBody>
                    <a:bodyPr/>
                    <a:lstStyle/>
                    <a:p>
                      <a:r>
                        <a:rPr b="1" sz="1100"/>
                        <a:t>Network Connectivity</a:t>
                      </a:r>
                    </a:p>
                  </a:txBody>
                  <a:tcPr>
                    <a:solidFill>
                      <a:srgbClr val="E7E6E6"/>
                    </a:solidFill>
                  </a:tcPr>
                </a:tc>
                <a:tc>
                  <a:txBody>
                    <a:bodyPr/>
                    <a:lstStyle/>
                    <a:p>
                      <a:r>
                        <a:rPr sz="1100"/>
                        <a:t>10GbE to shared storage</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Dell Precision AI Workstation Infrastructure</a:t>
            </a:r>
          </a:p>
        </p:txBody>
      </p:sp>
      <p:pic>
        <p:nvPicPr>
          <p:cNvPr id="6" name="Picture 5" descr="consulting_company_logo.png"/>
          <p:cNvPicPr>
            <a:picLocks noChangeAspect="1"/>
          </p:cNvPicPr>
          <p:nvPr/>
        </p:nvPicPr>
        <p:blipFill>
          <a:blip r:embed="rId2"/>
          <a:stretch>
            <a:fillRect/>
          </a:stretch>
        </p:blipFill>
        <p:spPr>
          <a:xfrm>
            <a:off x="313592" y="4536078"/>
            <a:ext cx="2126273" cy="52969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Solution Overview</a:t>
            </a:r>
          </a:p>
        </p:txBody>
      </p:sp>
      <p:sp>
        <p:nvSpPr>
          <p:cNvPr id="5" name="Text Placeholder 4"/>
          <p:cNvSpPr>
            <a:spLocks noGrp="1"/>
          </p:cNvSpPr>
          <p:nvPr>
            <p:ph type="body" idx="16" sz="quarter"/>
          </p:nvPr>
        </p:nvSpPr>
        <p:spPr/>
        <p:txBody>
          <a:bodyPr/>
          <a:lstStyle/>
          <a:p>
            <a:pPr/>
            <a:r>
              <a:rPr b="1"/>
              <a:t>Workstation Platform</a:t>
            </a:r>
          </a:p>
          <a:p>
            <a:pPr lvl="1"/>
            <a:r>
              <a:t>Dell Precision 7960 Tower with dual Intel Xeon Gold 6430 processors (64 cores total)</a:t>
            </a:r>
          </a:p>
          <a:p>
            <a:pPr lvl="1"/>
            <a:r>
              <a:t>512GB DDR5 RAM for large-scale data preprocessing and in-memory operations</a:t>
            </a:r>
          </a:p>
          <a:p>
            <a:pPr lvl="1"/>
            <a:r>
              <a:t>4TB NVMe SSD achieving 7000MB/s read speeds for training dataset I/O</a:t>
            </a:r>
          </a:p>
          <a:p>
            <a:pPr/>
            <a:r>
              <a:rPr b="1"/>
              <a:t>GPU Acceleration</a:t>
            </a:r>
          </a:p>
          <a:p>
            <a:pPr lvl="1"/>
            <a:r>
              <a:t>NVIDIA RTX A6000 with 48GB GDDR6 memory and 10752 CUDA cores for parallel computing</a:t>
            </a:r>
          </a:p>
          <a:p>
            <a:pPr lvl="1"/>
            <a:r>
              <a:t>336 Tensor cores for mixed-precision training acceleration (FP16/TF32)</a:t>
            </a:r>
          </a:p>
          <a:p>
            <a:pPr lvl="1"/>
            <a:r>
              <a:t>NVIDIA AI Enterprise software suite with TensorRT and NGC catalog access</a:t>
            </a:r>
          </a:p>
          <a:p>
            <a:pPr/>
            <a:r>
              <a:rPr b="1"/>
              <a:t>Shared Infrastructure</a:t>
            </a:r>
          </a:p>
          <a:p>
            <a:pPr lvl="1"/>
            <a:r>
              <a:t>Dell PowerScale F600 NAS with 100TB usable capacity for team dataset repository</a:t>
            </a:r>
          </a:p>
          <a:p>
            <a:pPr lvl="1"/>
            <a:r>
              <a:t>10GbE network fabric for high-speed data transfer between workstations and storage</a:t>
            </a:r>
          </a:p>
          <a:p>
            <a:pPr lvl="1"/>
            <a:r>
              <a:t>Centralized monitoring with Datadog for GPU utilization and infrastructure metrics</a:t>
            </a:r>
          </a:p>
        </p:txBody>
      </p:sp>
      <p:sp>
        <p:nvSpPr>
          <p:cNvPr id="6" name="Text Placeholder 5"/>
          <p:cNvSpPr>
            <a:spLocks noGrp="1"/>
          </p:cNvSpPr>
          <p:nvPr>
            <p:ph type="body" idx="17" sz="quarter"/>
          </p:nvPr>
        </p:nvSpPr>
        <p:spPr/>
        <p:txBody>
          <a:bodyPr/>
          <a:lstStyle/>
          <a:p>
            <a:pPr algn="r">
              <a:buNone/>
            </a:pPr>
            <a:r>
              <a:rPr sz="1100">
                <a:solidFill>
                  <a:srgbClr val="CC0000"/>
                </a:solidFill>
              </a:rPr>
              <a:t>Dell Precision AI Workstation Infrastructure</a:t>
            </a:r>
          </a:p>
        </p:txBody>
      </p:sp>
      <p:pic>
        <p:nvPicPr>
          <p:cNvPr id="7" name="Picture 6" descr="architecture-diagram.png"/>
          <p:cNvPicPr>
            <a:picLocks noChangeAspect="1"/>
          </p:cNvPicPr>
          <p:nvPr/>
        </p:nvPicPr>
        <p:blipFill>
          <a:blip r:embed="rId2"/>
          <a:stretch>
            <a:fillRect/>
          </a:stretch>
        </p:blipFill>
        <p:spPr>
          <a:xfrm>
            <a:off x="4662488" y="685799"/>
            <a:ext cx="4337050" cy="3815859"/>
          </a:xfrm>
          <a:prstGeom prst="rect">
            <a:avLst/>
          </a:prstGeom>
          <a:ln w="12700">
            <a:solidFill>
              <a:srgbClr val="C0C0C0"/>
            </a:solidFill>
            <a:prstDash val="solid"/>
          </a:ln>
        </p:spPr>
      </p:pic>
      <p:pic>
        <p:nvPicPr>
          <p:cNvPr id="8" name="Picture 7" descr="consulting_company_logo.png"/>
          <p:cNvPicPr>
            <a:picLocks noChangeAspect="1"/>
          </p:cNvPicPr>
          <p:nvPr/>
        </p:nvPicPr>
        <p:blipFill>
          <a:blip r:embed="rId3"/>
          <a:stretch>
            <a:fillRect/>
          </a:stretch>
        </p:blipFill>
        <p:spPr>
          <a:xfrm>
            <a:off x="313592" y="4536078"/>
            <a:ext cx="2130670" cy="52969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Implementation Approach</a:t>
            </a:r>
          </a:p>
        </p:txBody>
      </p:sp>
      <p:sp>
        <p:nvSpPr>
          <p:cNvPr id="4" name="Text Placeholder 3"/>
          <p:cNvSpPr>
            <a:spLocks noGrp="1"/>
          </p:cNvSpPr>
          <p:nvPr>
            <p:ph type="body" idx="14" sz="quarter"/>
          </p:nvPr>
        </p:nvSpPr>
        <p:spPr/>
        <p:txBody>
          <a:bodyPr/>
          <a:lstStyle/>
          <a:p>
            <a:pPr/>
            <a:r>
              <a:rPr b="1"/>
              <a:t>Phase 1: Planning &amp; Procurement (Weeks 1-2)</a:t>
            </a:r>
          </a:p>
          <a:p>
            <a:pPr lvl="1"/>
            <a:r>
              <a:t>Finalize hardware specifications and validate power/cooling requirements</a:t>
            </a:r>
          </a:p>
          <a:p>
            <a:pPr lvl="1"/>
            <a:r>
              <a:t>Submit Dell hardware order and coordinate delivery logistics</a:t>
            </a:r>
          </a:p>
          <a:p>
            <a:pPr lvl="1"/>
            <a:r>
              <a:t>Prepare data center space including rack installation and network cabling</a:t>
            </a:r>
          </a:p>
          <a:p>
            <a:pPr/>
            <a:r>
              <a:rPr b="1"/>
              <a:t>Phase 2: Deployment &amp; Configuration (Weeks 3-4)</a:t>
            </a:r>
          </a:p>
          <a:p>
            <a:pPr lvl="1"/>
            <a:r>
              <a:t>Dell ProDeploy rack installation and initial hardware setup</a:t>
            </a:r>
          </a:p>
          <a:p>
            <a:pPr lvl="1"/>
            <a:r>
              <a:t>Ubuntu 22.04 LTS installation with CUDA 12.2 and ML framework stack</a:t>
            </a:r>
          </a:p>
          <a:p>
            <a:pPr lvl="1"/>
            <a:r>
              <a:t>PowerScale NAS configuration with NFS shares and access permissions</a:t>
            </a:r>
          </a:p>
          <a:p>
            <a:pPr/>
            <a:r>
              <a:rPr b="1"/>
              <a:t>Phase 3: Validation &amp; Training (Weeks 5-6)</a:t>
            </a:r>
          </a:p>
          <a:p>
            <a:pPr lvl="1"/>
            <a:r>
              <a:t>GPU benchmark testing and ML framework validation with sample models</a:t>
            </a:r>
          </a:p>
          <a:p>
            <a:pPr lvl="1"/>
            <a:r>
              <a:t>Dataset migration from cloud storage to PowerScale shared repository</a:t>
            </a:r>
          </a:p>
          <a:p>
            <a:pPr lvl="1"/>
            <a:r>
              <a:t>2-day hands-on training and production go-live with real-world workloads</a:t>
            </a:r>
          </a:p>
        </p:txBody>
      </p:sp>
      <p:sp>
        <p:nvSpPr>
          <p:cNvPr id="5" name="Text Placeholder 4"/>
          <p:cNvSpPr>
            <a:spLocks noGrp="1"/>
          </p:cNvSpPr>
          <p:nvPr>
            <p:ph type="body" idx="15" sz="quarter"/>
          </p:nvPr>
        </p:nvSpPr>
        <p:spPr/>
        <p:txBody>
          <a:bodyPr/>
          <a:lstStyle/>
          <a:p>
            <a:pPr algn="r">
              <a:buNone/>
            </a:pPr>
            <a:r>
              <a:rPr sz="1100">
                <a:solidFill>
                  <a:srgbClr val="CC0000"/>
                </a:solidFill>
              </a:rPr>
              <a:t>Dell Precision AI Workstation Infrastructure</a:t>
            </a:r>
          </a:p>
        </p:txBody>
      </p:sp>
      <p:pic>
        <p:nvPicPr>
          <p:cNvPr id="6" name="Picture 5" descr="consulting_company_logo.png"/>
          <p:cNvPicPr>
            <a:picLocks noChangeAspect="1"/>
          </p:cNvPicPr>
          <p:nvPr/>
        </p:nvPicPr>
        <p:blipFill>
          <a:blip r:embed="rId2"/>
          <a:stretch>
            <a:fillRect/>
          </a:stretch>
        </p:blipFill>
        <p:spPr>
          <a:xfrm>
            <a:off x="313593" y="4536078"/>
            <a:ext cx="2143858" cy="52969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Timeline &amp; Milestones</a:t>
            </a:r>
          </a:p>
        </p:txBody>
      </p:sp>
      <p:graphicFrame>
        <p:nvGraphicFramePr>
          <p:cNvPr id="4" name="Table Placeholder 3"/>
          <p:cNvGraphicFramePr>
            <a:graphicFrameLocks noGrp="1"/>
          </p:cNvGraphicFramePr>
          <p:nvPr>
            <p:ph type="tbl" idx="14" sz="quarter"/>
          </p:nvPr>
        </p:nvGraphicFramePr>
        <p:xfrm>
          <a:off x="256855" y="677011"/>
          <a:ext cx="8710931" cy="1483360"/>
        </p:xfrm>
        <a:graphic>
          <a:graphicData uri="http://schemas.openxmlformats.org/drawingml/2006/table">
            <a:tbl>
              <a:tblPr firstRow="1" bandRow="1">
                <a:tableStyleId>{5C22544A-7EE6-4342-B048-85BDC9FD1C3A}</a:tableStyleId>
              </a:tblPr>
              <a:tblGrid>
                <a:gridCol w="871093"/>
                <a:gridCol w="2177733"/>
                <a:gridCol w="1306639"/>
                <a:gridCol w="4355466"/>
              </a:tblGrid>
              <a:tr h="370840">
                <a:tc>
                  <a:txBody>
                    <a:bodyPr/>
                    <a:lstStyle/>
                    <a:p>
                      <a:r>
                        <a:rPr sz="1400">
                          <a:solidFill>
                            <a:srgbClr val="FFFFFF"/>
                          </a:solidFill>
                        </a:rPr>
                        <a:t>Phase No</a:t>
                      </a:r>
                    </a:p>
                  </a:txBody>
                  <a:tcPr>
                    <a:solidFill>
                      <a:srgbClr val="A01C02"/>
                    </a:solidFill>
                  </a:tcPr>
                </a:tc>
                <a:tc>
                  <a:txBody>
                    <a:bodyPr/>
                    <a:lstStyle/>
                    <a:p>
                      <a:r>
                        <a:rPr sz="1400">
                          <a:solidFill>
                            <a:srgbClr val="FFFFFF"/>
                          </a:solidFill>
                        </a:rPr>
                        <a:t>Phase Description</a:t>
                      </a:r>
                    </a:p>
                  </a:txBody>
                  <a:tcPr>
                    <a:solidFill>
                      <a:srgbClr val="A01C02"/>
                    </a:solidFill>
                  </a:tcPr>
                </a:tc>
                <a:tc>
                  <a:txBody>
                    <a:bodyPr/>
                    <a:lstStyle/>
                    <a:p>
                      <a:r>
                        <a:rPr sz="1400">
                          <a:solidFill>
                            <a:srgbClr val="FFFFFF"/>
                          </a:solidFill>
                        </a:rPr>
                        <a:t>Timeline</a:t>
                      </a:r>
                    </a:p>
                  </a:txBody>
                  <a:tcPr>
                    <a:solidFill>
                      <a:srgbClr val="A01C02"/>
                    </a:solidFill>
                  </a:tcPr>
                </a:tc>
                <a:tc>
                  <a:txBody>
                    <a:bodyPr/>
                    <a:lstStyle/>
                    <a:p>
                      <a:r>
                        <a:rPr sz="1400">
                          <a:solidFill>
                            <a:srgbClr val="FFFFFF"/>
                          </a:solidFill>
                        </a:rPr>
                        <a:t>Key Deliverables</a:t>
                      </a:r>
                    </a:p>
                  </a:txBody>
                  <a:tcPr>
                    <a:solidFill>
                      <a:srgbClr val="A01C02"/>
                    </a:solidFill>
                  </a:tcPr>
                </a:tc>
              </a:tr>
              <a:tr h="370840">
                <a:tc>
                  <a:txBody>
                    <a:bodyPr/>
                    <a:lstStyle/>
                    <a:p>
                      <a:r>
                        <a:rPr sz="1100"/>
                        <a:t>Phase 1</a:t>
                      </a:r>
                    </a:p>
                  </a:txBody>
                  <a:tcPr>
                    <a:solidFill>
                      <a:srgbClr val="E7E6E6"/>
                    </a:solidFill>
                  </a:tcPr>
                </a:tc>
                <a:tc>
                  <a:txBody>
                    <a:bodyPr/>
                    <a:lstStyle/>
                    <a:p>
                      <a:r>
                        <a:rPr sz="1100"/>
                        <a:t>Planning &amp; Procurement</a:t>
                      </a:r>
                    </a:p>
                  </a:txBody>
                  <a:tcPr>
                    <a:solidFill>
                      <a:srgbClr val="E7E6E6"/>
                    </a:solidFill>
                  </a:tcPr>
                </a:tc>
                <a:tc>
                  <a:txBody>
                    <a:bodyPr/>
                    <a:lstStyle/>
                    <a:p>
                      <a:r>
                        <a:rPr sz="1100"/>
                        <a:t>Weeks 1-2</a:t>
                      </a:r>
                    </a:p>
                  </a:txBody>
                  <a:tcPr>
                    <a:solidFill>
                      <a:srgbClr val="E7E6E6"/>
                    </a:solidFill>
                  </a:tcPr>
                </a:tc>
                <a:tc>
                  <a:txBody>
                    <a:bodyPr/>
                    <a:lstStyle/>
                    <a:p>
                      <a:r>
                        <a:rPr sz="1100"/>
                        <a:t>Hardware ordered, Data center space prepared, Network infrastructure validated</a:t>
                      </a:r>
                    </a:p>
                  </a:txBody>
                  <a:tcPr>
                    <a:solidFill>
                      <a:srgbClr val="E7E6E6"/>
                    </a:solidFill>
                  </a:tcPr>
                </a:tc>
              </a:tr>
              <a:tr h="370840">
                <a:tc>
                  <a:txBody>
                    <a:bodyPr/>
                    <a:lstStyle/>
                    <a:p>
                      <a:r>
                        <a:rPr sz="1100"/>
                        <a:t>Phase 2</a:t>
                      </a:r>
                    </a:p>
                  </a:txBody>
                  <a:tcPr>
                    <a:solidFill>
                      <a:srgbClr val="E7E6E6"/>
                    </a:solidFill>
                  </a:tcPr>
                </a:tc>
                <a:tc>
                  <a:txBody>
                    <a:bodyPr/>
                    <a:lstStyle/>
                    <a:p>
                      <a:r>
                        <a:rPr sz="1100"/>
                        <a:t>Deployment &amp; Configuration</a:t>
                      </a:r>
                    </a:p>
                  </a:txBody>
                  <a:tcPr>
                    <a:solidFill>
                      <a:srgbClr val="E7E6E6"/>
                    </a:solidFill>
                  </a:tcPr>
                </a:tc>
                <a:tc>
                  <a:txBody>
                    <a:bodyPr/>
                    <a:lstStyle/>
                    <a:p>
                      <a:r>
                        <a:rPr sz="1100"/>
                        <a:t>Weeks 3-4</a:t>
                      </a:r>
                    </a:p>
                  </a:txBody>
                  <a:tcPr>
                    <a:solidFill>
                      <a:srgbClr val="E7E6E6"/>
                    </a:solidFill>
                  </a:tcPr>
                </a:tc>
                <a:tc>
                  <a:txBody>
                    <a:bodyPr/>
                    <a:lstStyle/>
                    <a:p>
                      <a:r>
                        <a:rPr sz="1100"/>
                        <a:t>All 10 workstations installed, Ubuntu and CUDA configured, PowerScale NAS operational</a:t>
                      </a:r>
                    </a:p>
                  </a:txBody>
                  <a:tcPr>
                    <a:solidFill>
                      <a:srgbClr val="E7E6E6"/>
                    </a:solidFill>
                  </a:tcPr>
                </a:tc>
              </a:tr>
              <a:tr h="370840">
                <a:tc>
                  <a:txBody>
                    <a:bodyPr/>
                    <a:lstStyle/>
                    <a:p>
                      <a:r>
                        <a:rPr sz="1100"/>
                        <a:t>Phase 3</a:t>
                      </a:r>
                    </a:p>
                  </a:txBody>
                  <a:tcPr>
                    <a:solidFill>
                      <a:srgbClr val="E7E6E6"/>
                    </a:solidFill>
                  </a:tcPr>
                </a:tc>
                <a:tc>
                  <a:txBody>
                    <a:bodyPr/>
                    <a:lstStyle/>
                    <a:p>
                      <a:r>
                        <a:rPr sz="1100"/>
                        <a:t>Validation &amp; Training</a:t>
                      </a:r>
                    </a:p>
                  </a:txBody>
                  <a:tcPr>
                    <a:solidFill>
                      <a:srgbClr val="E7E6E6"/>
                    </a:solidFill>
                  </a:tcPr>
                </a:tc>
                <a:tc>
                  <a:txBody>
                    <a:bodyPr/>
                    <a:lstStyle/>
                    <a:p>
                      <a:r>
                        <a:rPr sz="1100"/>
                        <a:t>Weeks 5-6</a:t>
                      </a:r>
                    </a:p>
                  </a:txBody>
                  <a:tcPr>
                    <a:solidFill>
                      <a:srgbClr val="E7E6E6"/>
                    </a:solidFill>
                  </a:tcPr>
                </a:tc>
                <a:tc>
                  <a:txBody>
                    <a:bodyPr/>
                    <a:lstStyle/>
                    <a:p>
                      <a:r>
                        <a:rPr sz="1100"/>
                        <a:t>Benchmark performance validated, Team training completed, First models trained successfully</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Dell Precision AI Workstation Infrastructure</a:t>
            </a:r>
          </a:p>
        </p:txBody>
      </p:sp>
      <p:pic>
        <p:nvPicPr>
          <p:cNvPr id="6" name="Picture 5" descr="consulting_company_logo.png"/>
          <p:cNvPicPr>
            <a:picLocks noChangeAspect="1"/>
          </p:cNvPicPr>
          <p:nvPr/>
        </p:nvPicPr>
        <p:blipFill>
          <a:blip r:embed="rId2"/>
          <a:stretch>
            <a:fillRect/>
          </a:stretch>
        </p:blipFill>
        <p:spPr>
          <a:xfrm>
            <a:off x="313592" y="4536078"/>
            <a:ext cx="2126273" cy="52969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Success Stories</a:t>
            </a:r>
          </a:p>
        </p:txBody>
      </p:sp>
      <p:sp>
        <p:nvSpPr>
          <p:cNvPr id="4" name="Text Placeholder 3"/>
          <p:cNvSpPr>
            <a:spLocks noGrp="1"/>
          </p:cNvSpPr>
          <p:nvPr>
            <p:ph type="body" idx="14" sz="quarter"/>
          </p:nvPr>
        </p:nvSpPr>
        <p:spPr/>
        <p:txBody>
          <a:bodyPr/>
          <a:lstStyle/>
          <a:p>
            <a:pPr/>
            <a:r>
              <a:rPr b="1"/>
              <a:t>Client Success: Autonomous Vehicle Research Lab</a:t>
            </a:r>
          </a:p>
          <a:p>
            <a:pPr lvl="1"/>
            <a:r>
              <a:rPr b="1"/>
              <a:t>Client:</a:t>
            </a:r>
            <a:r>
              <a:t> University research lab training computer vision models for autonomous driving with 15 PhD students and post-docs</a:t>
            </a:r>
          </a:p>
          <a:p>
            <a:pPr lvl="1"/>
            <a:r>
              <a:rPr b="1"/>
              <a:t>Challenge:</a:t>
            </a:r>
            <a:r>
              <a:t> Spending $480K annually on AWS p4d instances with 8-hour daily usage. Dataset transfer from S3 taking 3-4 hours daily costing researcher productivity. Data sovereignty concerns with sensitive driving footage.</a:t>
            </a:r>
          </a:p>
          <a:p>
            <a:pPr lvl="1"/>
            <a:r>
              <a:rPr b="1"/>
              <a:t>Solution:</a:t>
            </a:r>
            <a:r>
              <a:t> Deployed 15 Dell Precision 7960 workstations with NVIDIA RTX A6000 48GB GPUs. Configured PowerScale F900 with 500TB for multi-terabyte video dataset repository. 10GbE network fabric for high-speed storage access.</a:t>
            </a:r>
          </a:p>
          <a:p>
            <a:pPr lvl="1"/>
            <a:r>
              <a:rPr b="1"/>
              <a:t>Results:</a:t>
            </a:r>
            <a:r>
              <a:t> $320K annual savings (67% cost reduction vs AWS p4d baseline). Model training time reduced from 36 hours to 14 hours with local NVMe storage eliminating S3 download latency. ROI achieved in 4.2 months. 100% data sovereignty with all datasets on-premises.</a:t>
            </a:r>
          </a:p>
          <a:p>
            <a:pPr lvl="1"/>
            <a:r>
              <a:rPr b="1"/>
              <a:t>Testimonial:</a:t>
            </a:r>
            <a:r>
              <a:t> "Switching to Dell Precision workstations transformed our research productivity. Our students can now iterate on models 3x faster, and we eliminated the frustration of waiting hours for datasets to download from S3. The cost savings funded two additional PhD positions." — </a:t>
            </a:r>
            <a:r>
              <a:rPr b="1"/>
              <a:t>Dr. Amanda Chen</a:t>
            </a:r>
            <a:r>
              <a:t>, Director of Autonomous Systems Lab</a:t>
            </a:r>
          </a:p>
        </p:txBody>
      </p:sp>
      <p:sp>
        <p:nvSpPr>
          <p:cNvPr id="5" name="Text Placeholder 4"/>
          <p:cNvSpPr>
            <a:spLocks noGrp="1"/>
          </p:cNvSpPr>
          <p:nvPr>
            <p:ph type="body" idx="15" sz="quarter"/>
          </p:nvPr>
        </p:nvSpPr>
        <p:spPr/>
        <p:txBody>
          <a:bodyPr/>
          <a:lstStyle/>
          <a:p>
            <a:pPr algn="r">
              <a:buNone/>
            </a:pPr>
            <a:r>
              <a:rPr sz="1100">
                <a:solidFill>
                  <a:srgbClr val="CC0000"/>
                </a:solidFill>
              </a:rPr>
              <a:t>Dell Precision AI Workstation Infrastructure</a:t>
            </a:r>
          </a:p>
        </p:txBody>
      </p:sp>
      <p:pic>
        <p:nvPicPr>
          <p:cNvPr id="6" name="Picture 5" descr="consulting_company_logo.png"/>
          <p:cNvPicPr>
            <a:picLocks noChangeAspect="1"/>
          </p:cNvPicPr>
          <p:nvPr/>
        </p:nvPicPr>
        <p:blipFill>
          <a:blip r:embed="rId2"/>
          <a:stretch>
            <a:fillRect/>
          </a:stretch>
        </p:blipFill>
        <p:spPr>
          <a:xfrm>
            <a:off x="313593" y="4536078"/>
            <a:ext cx="2143858" cy="52969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Our Partnership Advantage</a:t>
            </a:r>
          </a:p>
        </p:txBody>
      </p:sp>
      <p:sp>
        <p:nvSpPr>
          <p:cNvPr id="4" name="Text Placeholder 3"/>
          <p:cNvSpPr>
            <a:spLocks noGrp="1"/>
          </p:cNvSpPr>
          <p:nvPr>
            <p:ph type="body" idx="16" sz="quarter"/>
          </p:nvPr>
        </p:nvSpPr>
        <p:spPr/>
        <p:txBody>
          <a:bodyPr/>
          <a:lstStyle/>
          <a:p>
            <a:pPr/>
            <a:r>
              <a:rPr b="1"/>
              <a:t>What We Bring</a:t>
            </a:r>
          </a:p>
          <a:p>
            <a:pPr lvl="1"/>
            <a:r>
              <a:t>8+ years deploying Dell AI infrastructure with 100+ GPU workstation implementations</a:t>
            </a:r>
          </a:p>
          <a:p>
            <a:pPr lvl="1"/>
            <a:r>
              <a:t>Deep expertise in CUDA optimization PyTorch/TensorFlow tuning and distributed training</a:t>
            </a:r>
          </a:p>
          <a:p>
            <a:pPr lvl="1"/>
            <a:r>
              <a:t>Dell Titanium Partner with AI/ML Center of Excellence designation</a:t>
            </a:r>
          </a:p>
          <a:p>
            <a:pPr lvl="1"/>
            <a:r>
              <a:t>Certified solutions architects with NVIDIA DLI Deep Learning certification</a:t>
            </a:r>
          </a:p>
        </p:txBody>
      </p:sp>
      <p:sp>
        <p:nvSpPr>
          <p:cNvPr id="5" name="Text Placeholder 4"/>
          <p:cNvSpPr>
            <a:spLocks noGrp="1"/>
          </p:cNvSpPr>
          <p:nvPr>
            <p:ph type="body" idx="17" sz="quarter"/>
          </p:nvPr>
        </p:nvSpPr>
        <p:spPr/>
        <p:txBody>
          <a:bodyPr/>
          <a:lstStyle/>
          <a:p>
            <a:pPr/>
            <a:r>
              <a:rPr b="1"/>
              <a:t>Value to You</a:t>
            </a:r>
          </a:p>
          <a:p>
            <a:pPr lvl="1"/>
            <a:r>
              <a:t>Pre-configured software stacks accelerate deployment (Ubuntu + CUDA + PyTorch/TensorFlow validated)</a:t>
            </a:r>
          </a:p>
          <a:p>
            <a:pPr lvl="1"/>
            <a:r>
              <a:t>GPU performance tuning methodology achieving 95%+ utilization vs 60-70% typical</a:t>
            </a:r>
          </a:p>
          <a:p>
            <a:pPr lvl="1"/>
            <a:r>
              <a:t>Direct Dell and NVIDIA technical support escalation through partner channels</a:t>
            </a:r>
          </a:p>
          <a:p>
            <a:pPr lvl="1"/>
            <a:r>
              <a:t>Best practices from 100+ deployments avoid common pitfalls (driver conflicts, memory bottlenecks, I/O tuning)</a:t>
            </a:r>
          </a:p>
        </p:txBody>
      </p:sp>
      <p:sp>
        <p:nvSpPr>
          <p:cNvPr id="6" name="Text Placeholder 5"/>
          <p:cNvSpPr>
            <a:spLocks noGrp="1"/>
          </p:cNvSpPr>
          <p:nvPr>
            <p:ph type="body" idx="15" sz="quarter"/>
          </p:nvPr>
        </p:nvSpPr>
        <p:spPr/>
        <p:txBody>
          <a:bodyPr/>
          <a:lstStyle/>
          <a:p>
            <a:pPr algn="r">
              <a:buNone/>
            </a:pPr>
            <a:r>
              <a:rPr sz="1100">
                <a:solidFill>
                  <a:srgbClr val="CC0000"/>
                </a:solidFill>
              </a:rPr>
              <a:t>Dell Precision AI Workstation Infrastructure</a:t>
            </a:r>
          </a:p>
        </p:txBody>
      </p:sp>
      <p:pic>
        <p:nvPicPr>
          <p:cNvPr id="7" name="Picture 6" descr="consulting_company_logo.png"/>
          <p:cNvPicPr>
            <a:picLocks noChangeAspect="1"/>
          </p:cNvPicPr>
          <p:nvPr/>
        </p:nvPicPr>
        <p:blipFill>
          <a:blip r:embed="rId2"/>
          <a:stretch>
            <a:fillRect/>
          </a:stretch>
        </p:blipFill>
        <p:spPr>
          <a:xfrm>
            <a:off x="313592" y="4536078"/>
            <a:ext cx="2121877" cy="52969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Investment Summary</a:t>
            </a:r>
          </a:p>
        </p:txBody>
      </p:sp>
      <p:graphicFrame>
        <p:nvGraphicFramePr>
          <p:cNvPr id="4" name="Table Placeholder 3"/>
          <p:cNvGraphicFramePr>
            <a:graphicFrameLocks noGrp="1"/>
          </p:cNvGraphicFramePr>
          <p:nvPr>
            <p:ph type="tbl" idx="14" sz="quarter"/>
          </p:nvPr>
        </p:nvGraphicFramePr>
        <p:xfrm>
          <a:off x="256855" y="677011"/>
          <a:ext cx="8710930" cy="2225040"/>
        </p:xfrm>
        <a:graphic>
          <a:graphicData uri="http://schemas.openxmlformats.org/drawingml/2006/table">
            <a:tbl>
              <a:tblPr firstRow="1" bandRow="1">
                <a:tableStyleId>{5C22544A-7EE6-4342-B048-85BDC9FD1C3A}</a:tableStyleId>
              </a:tblPr>
              <a:tblGrid>
                <a:gridCol w="1997920"/>
                <a:gridCol w="1198752"/>
                <a:gridCol w="1198752"/>
                <a:gridCol w="1198752"/>
                <a:gridCol w="959001"/>
                <a:gridCol w="959001"/>
                <a:gridCol w="1198752"/>
              </a:tblGrid>
              <a:tr h="370840">
                <a:tc>
                  <a:txBody>
                    <a:bodyPr/>
                    <a:lstStyle/>
                    <a:p>
                      <a:r>
                        <a:rPr sz="1400">
                          <a:solidFill>
                            <a:srgbClr val="FFFFFF"/>
                          </a:solidFill>
                        </a:rPr>
                        <a:t>Cost Category</a:t>
                      </a:r>
                    </a:p>
                  </a:txBody>
                  <a:tcPr>
                    <a:solidFill>
                      <a:srgbClr val="A01C02"/>
                    </a:solidFill>
                  </a:tcPr>
                </a:tc>
                <a:tc>
                  <a:txBody>
                    <a:bodyPr/>
                    <a:lstStyle/>
                    <a:p>
                      <a:r>
                        <a:rPr sz="1400">
                          <a:solidFill>
                            <a:srgbClr val="FFFFFF"/>
                          </a:solidFill>
                        </a:rPr>
                        <a:t>Year 1 List</a:t>
                      </a:r>
                    </a:p>
                  </a:txBody>
                  <a:tcPr>
                    <a:solidFill>
                      <a:srgbClr val="A01C02"/>
                    </a:solidFill>
                  </a:tcPr>
                </a:tc>
                <a:tc>
                  <a:txBody>
                    <a:bodyPr/>
                    <a:lstStyle/>
                    <a:p>
                      <a:r>
                        <a:rPr sz="1400">
                          <a:solidFill>
                            <a:srgbClr val="FFFFFF"/>
                          </a:solidFill>
                        </a:rPr>
                        <a:t>Year 1 Credits</a:t>
                      </a:r>
                    </a:p>
                  </a:txBody>
                  <a:tcPr>
                    <a:solidFill>
                      <a:srgbClr val="A01C02"/>
                    </a:solidFill>
                  </a:tcPr>
                </a:tc>
                <a:tc>
                  <a:txBody>
                    <a:bodyPr/>
                    <a:lstStyle/>
                    <a:p>
                      <a:r>
                        <a:rPr sz="1400">
                          <a:solidFill>
                            <a:srgbClr val="FFFFFF"/>
                          </a:solidFill>
                        </a:rPr>
                        <a:t>Year 1 Net</a:t>
                      </a:r>
                    </a:p>
                  </a:txBody>
                  <a:tcPr>
                    <a:solidFill>
                      <a:srgbClr val="A01C02"/>
                    </a:solidFill>
                  </a:tcPr>
                </a:tc>
                <a:tc>
                  <a:txBody>
                    <a:bodyPr/>
                    <a:lstStyle/>
                    <a:p>
                      <a:r>
                        <a:rPr sz="1400">
                          <a:solidFill>
                            <a:srgbClr val="FFFFFF"/>
                          </a:solidFill>
                        </a:rPr>
                        <a:t>Year 2</a:t>
                      </a:r>
                    </a:p>
                  </a:txBody>
                  <a:tcPr>
                    <a:solidFill>
                      <a:srgbClr val="A01C02"/>
                    </a:solidFill>
                  </a:tcPr>
                </a:tc>
                <a:tc>
                  <a:txBody>
                    <a:bodyPr/>
                    <a:lstStyle/>
                    <a:p>
                      <a:r>
                        <a:rPr sz="1400">
                          <a:solidFill>
                            <a:srgbClr val="FFFFFF"/>
                          </a:solidFill>
                        </a:rPr>
                        <a:t>Year 3</a:t>
                      </a:r>
                    </a:p>
                  </a:txBody>
                  <a:tcPr>
                    <a:solidFill>
                      <a:srgbClr val="A01C02"/>
                    </a:solidFill>
                  </a:tcPr>
                </a:tc>
                <a:tc>
                  <a:txBody>
                    <a:bodyPr/>
                    <a:lstStyle/>
                    <a:p>
                      <a:r>
                        <a:rPr sz="1400">
                          <a:solidFill>
                            <a:srgbClr val="FFFFFF"/>
                          </a:solidFill>
                        </a:rPr>
                        <a:t>3-Year Total</a:t>
                      </a:r>
                    </a:p>
                  </a:txBody>
                  <a:tcPr>
                    <a:solidFill>
                      <a:srgbClr val="A01C02"/>
                    </a:solidFill>
                  </a:tcPr>
                </a:tc>
              </a:tr>
              <a:tr h="370840">
                <a:tc>
                  <a:txBody>
                    <a:bodyPr/>
                    <a:lstStyle/>
                    <a:p>
                      <a:r>
                        <a:rPr sz="1100"/>
                        <a:t>Professional Services</a:t>
                      </a:r>
                    </a:p>
                  </a:txBody>
                  <a:tcPr>
                    <a:solidFill>
                      <a:srgbClr val="E7E6E6"/>
                    </a:solidFill>
                  </a:tcPr>
                </a:tc>
                <a:tc>
                  <a:txBody>
                    <a:bodyPr/>
                    <a:lstStyle/>
                    <a:p>
                      <a:r>
                        <a:rPr sz="1100"/>
                        <a:t>$38,000</a:t>
                      </a:r>
                    </a:p>
                  </a:txBody>
                  <a:tcPr>
                    <a:solidFill>
                      <a:srgbClr val="E7E6E6"/>
                    </a:solidFill>
                  </a:tcPr>
                </a:tc>
                <a:tc>
                  <a:txBody>
                    <a:bodyPr/>
                    <a:lstStyle/>
                    <a:p>
                      <a:r>
                        <a:rPr sz="1100"/>
                        <a:t>($4,000)</a:t>
                      </a:r>
                    </a:p>
                  </a:txBody>
                  <a:tcPr>
                    <a:solidFill>
                      <a:srgbClr val="E7E6E6"/>
                    </a:solidFill>
                  </a:tcPr>
                </a:tc>
                <a:tc>
                  <a:txBody>
                    <a:bodyPr/>
                    <a:lstStyle/>
                    <a:p>
                      <a:r>
                        <a:rPr sz="1100"/>
                        <a:t>$34,000</a:t>
                      </a:r>
                    </a:p>
                  </a:txBody>
                  <a:tcPr>
                    <a:solidFill>
                      <a:srgbClr val="E7E6E6"/>
                    </a:solidFill>
                  </a:tcPr>
                </a:tc>
                <a:tc>
                  <a:txBody>
                    <a:bodyPr/>
                    <a:lstStyle/>
                    <a:p>
                      <a:r>
                        <a:rPr sz="1100"/>
                        <a:t>$0</a:t>
                      </a:r>
                    </a:p>
                  </a:txBody>
                  <a:tcPr>
                    <a:solidFill>
                      <a:srgbClr val="E7E6E6"/>
                    </a:solidFill>
                  </a:tcPr>
                </a:tc>
                <a:tc>
                  <a:txBody>
                    <a:bodyPr/>
                    <a:lstStyle/>
                    <a:p>
                      <a:r>
                        <a:rPr sz="1100"/>
                        <a:t>$0</a:t>
                      </a:r>
                    </a:p>
                  </a:txBody>
                  <a:tcPr>
                    <a:solidFill>
                      <a:srgbClr val="E7E6E6"/>
                    </a:solidFill>
                  </a:tcPr>
                </a:tc>
                <a:tc>
                  <a:txBody>
                    <a:bodyPr/>
                    <a:lstStyle/>
                    <a:p>
                      <a:r>
                        <a:rPr sz="1100"/>
                        <a:t>$34,000</a:t>
                      </a:r>
                    </a:p>
                  </a:txBody>
                  <a:tcPr>
                    <a:solidFill>
                      <a:srgbClr val="E7E6E6"/>
                    </a:solidFill>
                  </a:tcPr>
                </a:tc>
              </a:tr>
              <a:tr h="370840">
                <a:tc>
                  <a:txBody>
                    <a:bodyPr/>
                    <a:lstStyle/>
                    <a:p>
                      <a:r>
                        <a:rPr sz="1100"/>
                        <a:t>Hardware</a:t>
                      </a:r>
                    </a:p>
                  </a:txBody>
                  <a:tcPr>
                    <a:solidFill>
                      <a:srgbClr val="E7E6E6"/>
                    </a:solidFill>
                  </a:tcPr>
                </a:tc>
                <a:tc>
                  <a:txBody>
                    <a:bodyPr/>
                    <a:lstStyle/>
                    <a:p>
                      <a:r>
                        <a:rPr sz="1100"/>
                        <a:t>$306,000</a:t>
                      </a:r>
                    </a:p>
                  </a:txBody>
                  <a:tcPr>
                    <a:solidFill>
                      <a:srgbClr val="E7E6E6"/>
                    </a:solidFill>
                  </a:tcPr>
                </a:tc>
                <a:tc>
                  <a:txBody>
                    <a:bodyPr/>
                    <a:lstStyle/>
                    <a:p>
                      <a:r>
                        <a:rPr sz="1100"/>
                        <a:t>($59,175)</a:t>
                      </a:r>
                    </a:p>
                  </a:txBody>
                  <a:tcPr>
                    <a:solidFill>
                      <a:srgbClr val="E7E6E6"/>
                    </a:solidFill>
                  </a:tcPr>
                </a:tc>
                <a:tc>
                  <a:txBody>
                    <a:bodyPr/>
                    <a:lstStyle/>
                    <a:p>
                      <a:r>
                        <a:rPr sz="1100"/>
                        <a:t>$246,825</a:t>
                      </a:r>
                    </a:p>
                  </a:txBody>
                  <a:tcPr>
                    <a:solidFill>
                      <a:srgbClr val="E7E6E6"/>
                    </a:solidFill>
                  </a:tcPr>
                </a:tc>
                <a:tc>
                  <a:txBody>
                    <a:bodyPr/>
                    <a:lstStyle/>
                    <a:p>
                      <a:r>
                        <a:rPr sz="1100"/>
                        <a:t>$0</a:t>
                      </a:r>
                    </a:p>
                  </a:txBody>
                  <a:tcPr>
                    <a:solidFill>
                      <a:srgbClr val="E7E6E6"/>
                    </a:solidFill>
                  </a:tcPr>
                </a:tc>
                <a:tc>
                  <a:txBody>
                    <a:bodyPr/>
                    <a:lstStyle/>
                    <a:p>
                      <a:r>
                        <a:rPr sz="1100"/>
                        <a:t>$0</a:t>
                      </a:r>
                    </a:p>
                  </a:txBody>
                  <a:tcPr>
                    <a:solidFill>
                      <a:srgbClr val="E7E6E6"/>
                    </a:solidFill>
                  </a:tcPr>
                </a:tc>
                <a:tc>
                  <a:txBody>
                    <a:bodyPr/>
                    <a:lstStyle/>
                    <a:p>
                      <a:r>
                        <a:rPr sz="1100"/>
                        <a:t>$246,825</a:t>
                      </a:r>
                    </a:p>
                  </a:txBody>
                  <a:tcPr>
                    <a:solidFill>
                      <a:srgbClr val="E7E6E6"/>
                    </a:solidFill>
                  </a:tcPr>
                </a:tc>
              </a:tr>
              <a:tr h="370840">
                <a:tc>
                  <a:txBody>
                    <a:bodyPr/>
                    <a:lstStyle/>
                    <a:p>
                      <a:r>
                        <a:rPr sz="1100"/>
                        <a:t>Software</a:t>
                      </a:r>
                    </a:p>
                  </a:txBody>
                  <a:tcPr>
                    <a:solidFill>
                      <a:srgbClr val="E7E6E6"/>
                    </a:solidFill>
                  </a:tcPr>
                </a:tc>
                <a:tc>
                  <a:txBody>
                    <a:bodyPr/>
                    <a:lstStyle/>
                    <a:p>
                      <a:r>
                        <a:rPr sz="1100"/>
                        <a:t>$45,260</a:t>
                      </a:r>
                    </a:p>
                  </a:txBody>
                  <a:tcPr>
                    <a:solidFill>
                      <a:srgbClr val="E7E6E6"/>
                    </a:solidFill>
                  </a:tcPr>
                </a:tc>
                <a:tc>
                  <a:txBody>
                    <a:bodyPr/>
                    <a:lstStyle/>
                    <a:p>
                      <a:r>
                        <a:rPr sz="1100"/>
                        <a:t>($10,800)</a:t>
                      </a:r>
                    </a:p>
                  </a:txBody>
                  <a:tcPr>
                    <a:solidFill>
                      <a:srgbClr val="E7E6E6"/>
                    </a:solidFill>
                  </a:tcPr>
                </a:tc>
                <a:tc>
                  <a:txBody>
                    <a:bodyPr/>
                    <a:lstStyle/>
                    <a:p>
                      <a:r>
                        <a:rPr sz="1100"/>
                        <a:t>$34,460</a:t>
                      </a:r>
                    </a:p>
                  </a:txBody>
                  <a:tcPr>
                    <a:solidFill>
                      <a:srgbClr val="E7E6E6"/>
                    </a:solidFill>
                  </a:tcPr>
                </a:tc>
                <a:tc>
                  <a:txBody>
                    <a:bodyPr/>
                    <a:lstStyle/>
                    <a:p>
                      <a:r>
                        <a:rPr sz="1100"/>
                        <a:t>$45,260</a:t>
                      </a:r>
                    </a:p>
                  </a:txBody>
                  <a:tcPr>
                    <a:solidFill>
                      <a:srgbClr val="E7E6E6"/>
                    </a:solidFill>
                  </a:tcPr>
                </a:tc>
                <a:tc>
                  <a:txBody>
                    <a:bodyPr/>
                    <a:lstStyle/>
                    <a:p>
                      <a:r>
                        <a:rPr sz="1100"/>
                        <a:t>$45,260</a:t>
                      </a:r>
                    </a:p>
                  </a:txBody>
                  <a:tcPr>
                    <a:solidFill>
                      <a:srgbClr val="E7E6E6"/>
                    </a:solidFill>
                  </a:tcPr>
                </a:tc>
                <a:tc>
                  <a:txBody>
                    <a:bodyPr/>
                    <a:lstStyle/>
                    <a:p>
                      <a:r>
                        <a:rPr sz="1100"/>
                        <a:t>$125,980</a:t>
                      </a:r>
                    </a:p>
                  </a:txBody>
                  <a:tcPr>
                    <a:solidFill>
                      <a:srgbClr val="E7E6E6"/>
                    </a:solidFill>
                  </a:tcPr>
                </a:tc>
              </a:tr>
              <a:tr h="370840">
                <a:tc>
                  <a:txBody>
                    <a:bodyPr/>
                    <a:lstStyle/>
                    <a:p>
                      <a:r>
                        <a:rPr sz="1100"/>
                        <a:t>Support &amp; Maintenance</a:t>
                      </a:r>
                    </a:p>
                  </a:txBody>
                  <a:tcPr>
                    <a:solidFill>
                      <a:srgbClr val="E7E6E6"/>
                    </a:solidFill>
                  </a:tcPr>
                </a:tc>
                <a:tc>
                  <a:txBody>
                    <a:bodyPr/>
                    <a:lstStyle/>
                    <a:p>
                      <a:r>
                        <a:rPr sz="1100"/>
                        <a:t>$24,850</a:t>
                      </a:r>
                    </a:p>
                  </a:txBody>
                  <a:tcPr>
                    <a:solidFill>
                      <a:srgbClr val="E7E6E6"/>
                    </a:solidFill>
                  </a:tcPr>
                </a:tc>
                <a:tc>
                  <a:txBody>
                    <a:bodyPr/>
                    <a:lstStyle/>
                    <a:p>
                      <a:r>
                        <a:rPr sz="1100"/>
                        <a:t>$0</a:t>
                      </a:r>
                    </a:p>
                  </a:txBody>
                  <a:tcPr>
                    <a:solidFill>
                      <a:srgbClr val="E7E6E6"/>
                    </a:solidFill>
                  </a:tcPr>
                </a:tc>
                <a:tc>
                  <a:txBody>
                    <a:bodyPr/>
                    <a:lstStyle/>
                    <a:p>
                      <a:r>
                        <a:rPr sz="1100"/>
                        <a:t>$24,850</a:t>
                      </a:r>
                    </a:p>
                  </a:txBody>
                  <a:tcPr>
                    <a:solidFill>
                      <a:srgbClr val="E7E6E6"/>
                    </a:solidFill>
                  </a:tcPr>
                </a:tc>
                <a:tc>
                  <a:txBody>
                    <a:bodyPr/>
                    <a:lstStyle/>
                    <a:p>
                      <a:r>
                        <a:rPr sz="1100"/>
                        <a:t>$24,850</a:t>
                      </a:r>
                    </a:p>
                  </a:txBody>
                  <a:tcPr>
                    <a:solidFill>
                      <a:srgbClr val="E7E6E6"/>
                    </a:solidFill>
                  </a:tcPr>
                </a:tc>
                <a:tc>
                  <a:txBody>
                    <a:bodyPr/>
                    <a:lstStyle/>
                    <a:p>
                      <a:r>
                        <a:rPr sz="1100"/>
                        <a:t>$24,850</a:t>
                      </a:r>
                    </a:p>
                  </a:txBody>
                  <a:tcPr>
                    <a:solidFill>
                      <a:srgbClr val="E7E6E6"/>
                    </a:solidFill>
                  </a:tcPr>
                </a:tc>
                <a:tc>
                  <a:txBody>
                    <a:bodyPr/>
                    <a:lstStyle/>
                    <a:p>
                      <a:r>
                        <a:rPr sz="1100"/>
                        <a:t>$74,550</a:t>
                      </a:r>
                    </a:p>
                  </a:txBody>
                  <a:tcPr>
                    <a:solidFill>
                      <a:srgbClr val="E7E6E6"/>
                    </a:solidFill>
                  </a:tcPr>
                </a:tc>
              </a:tr>
              <a:tr h="370840">
                <a:tc>
                  <a:txBody>
                    <a:bodyPr/>
                    <a:lstStyle/>
                    <a:p>
                      <a:r>
                        <a:rPr b="1" sz="1100"/>
                        <a:t>TOTAL</a:t>
                      </a:r>
                    </a:p>
                  </a:txBody>
                  <a:tcPr>
                    <a:solidFill>
                      <a:srgbClr val="E7E6E6"/>
                    </a:solidFill>
                  </a:tcPr>
                </a:tc>
                <a:tc>
                  <a:txBody>
                    <a:bodyPr/>
                    <a:lstStyle/>
                    <a:p>
                      <a:r>
                        <a:rPr b="1" sz="1100"/>
                        <a:t>$414,110</a:t>
                      </a:r>
                    </a:p>
                  </a:txBody>
                  <a:tcPr>
                    <a:solidFill>
                      <a:srgbClr val="E7E6E6"/>
                    </a:solidFill>
                  </a:tcPr>
                </a:tc>
                <a:tc>
                  <a:txBody>
                    <a:bodyPr/>
                    <a:lstStyle/>
                    <a:p>
                      <a:r>
                        <a:rPr b="1" sz="1100"/>
                        <a:t>($73,975)</a:t>
                      </a:r>
                    </a:p>
                  </a:txBody>
                  <a:tcPr>
                    <a:solidFill>
                      <a:srgbClr val="E7E6E6"/>
                    </a:solidFill>
                  </a:tcPr>
                </a:tc>
                <a:tc>
                  <a:txBody>
                    <a:bodyPr/>
                    <a:lstStyle/>
                    <a:p>
                      <a:r>
                        <a:rPr b="1" sz="1100"/>
                        <a:t>$340,135</a:t>
                      </a:r>
                    </a:p>
                  </a:txBody>
                  <a:tcPr>
                    <a:solidFill>
                      <a:srgbClr val="E7E6E6"/>
                    </a:solidFill>
                  </a:tcPr>
                </a:tc>
                <a:tc>
                  <a:txBody>
                    <a:bodyPr/>
                    <a:lstStyle/>
                    <a:p>
                      <a:r>
                        <a:rPr b="1" sz="1100"/>
                        <a:t>$70,110</a:t>
                      </a:r>
                    </a:p>
                  </a:txBody>
                  <a:tcPr>
                    <a:solidFill>
                      <a:srgbClr val="E7E6E6"/>
                    </a:solidFill>
                  </a:tcPr>
                </a:tc>
                <a:tc>
                  <a:txBody>
                    <a:bodyPr/>
                    <a:lstStyle/>
                    <a:p>
                      <a:r>
                        <a:rPr b="1" sz="1100"/>
                        <a:t>$70,110</a:t>
                      </a:r>
                    </a:p>
                  </a:txBody>
                  <a:tcPr>
                    <a:solidFill>
                      <a:srgbClr val="E7E6E6"/>
                    </a:solidFill>
                  </a:tcPr>
                </a:tc>
                <a:tc>
                  <a:txBody>
                    <a:bodyPr/>
                    <a:lstStyle/>
                    <a:p>
                      <a:r>
                        <a:rPr b="1" sz="1100"/>
                        <a:t>$481,355</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Dell Precision AI Workstation Infrastructure</a:t>
            </a:r>
          </a:p>
        </p:txBody>
      </p:sp>
      <p:pic>
        <p:nvPicPr>
          <p:cNvPr id="6" name="Picture 5" descr="consulting_company_logo.png"/>
          <p:cNvPicPr>
            <a:picLocks noChangeAspect="1"/>
          </p:cNvPicPr>
          <p:nvPr/>
        </p:nvPicPr>
        <p:blipFill>
          <a:blip r:embed="rId2"/>
          <a:stretch>
            <a:fillRect/>
          </a:stretch>
        </p:blipFill>
        <p:spPr>
          <a:xfrm>
            <a:off x="313592" y="4536078"/>
            <a:ext cx="2126273" cy="52969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Next Steps</a:t>
            </a:r>
          </a:p>
        </p:txBody>
      </p:sp>
      <p:sp>
        <p:nvSpPr>
          <p:cNvPr id="4" name="Text Placeholder 3"/>
          <p:cNvSpPr>
            <a:spLocks noGrp="1"/>
          </p:cNvSpPr>
          <p:nvPr>
            <p:ph type="body" idx="14" sz="quarter"/>
          </p:nvPr>
        </p:nvSpPr>
        <p:spPr/>
        <p:txBody>
          <a:bodyPr/>
          <a:lstStyle/>
          <a:p>
            <a:pPr/>
            <a:r>
              <a:rPr b="1"/>
              <a:t>Decision:</a:t>
            </a:r>
            <a:r>
              <a:t> Executive approval for AI workstation deployment by [specific date]</a:t>
            </a:r>
          </a:p>
          <a:p>
            <a:pPr/>
            <a:r>
              <a:rPr b="1"/>
              <a:t>Kickoff:</a:t>
            </a:r>
            <a:r>
              <a:t> Submit Dell hardware purchase order within 1 week of approval</a:t>
            </a:r>
          </a:p>
          <a:p>
            <a:pPr/>
            <a:r>
              <a:rPr b="1"/>
              <a:t>Preparation &amp; Delivery:</a:t>
            </a:r>
            <a:r>
              <a:t> Validate data center space and Dell ships equipment (Weeks 1-3)</a:t>
            </a:r>
          </a:p>
          <a:p>
            <a:pPr/>
            <a:r>
              <a:rPr b="1"/>
              <a:t>Deployment:</a:t>
            </a:r>
            <a:r>
              <a:t> Dell ProDeploy on-site installation and our team configures Ubuntu/CUDA stack (Weeks 3-4)</a:t>
            </a:r>
          </a:p>
          <a:p>
            <a:pPr/>
            <a:r>
              <a:rPr b="1"/>
              <a:t>Training &amp; Go-Live:</a:t>
            </a:r>
            <a:r>
              <a:t> 2-day hands-on workshop and first production models trained (Weeks 5-6)</a:t>
            </a:r>
          </a:p>
        </p:txBody>
      </p:sp>
      <p:sp>
        <p:nvSpPr>
          <p:cNvPr id="5" name="Text Placeholder 4"/>
          <p:cNvSpPr>
            <a:spLocks noGrp="1"/>
          </p:cNvSpPr>
          <p:nvPr>
            <p:ph type="body" idx="15" sz="quarter"/>
          </p:nvPr>
        </p:nvSpPr>
        <p:spPr/>
        <p:txBody>
          <a:bodyPr/>
          <a:lstStyle/>
          <a:p>
            <a:pPr algn="r">
              <a:buNone/>
            </a:pPr>
            <a:r>
              <a:rPr sz="1100">
                <a:solidFill>
                  <a:srgbClr val="CC0000"/>
                </a:solidFill>
              </a:rPr>
              <a:t>Dell Precision AI Workstation Infrastructure</a:t>
            </a:r>
          </a:p>
        </p:txBody>
      </p:sp>
      <p:pic>
        <p:nvPicPr>
          <p:cNvPr id="6" name="Picture 5" descr="consulting_company_logo.png"/>
          <p:cNvPicPr>
            <a:picLocks noChangeAspect="1"/>
          </p:cNvPicPr>
          <p:nvPr/>
        </p:nvPicPr>
        <p:blipFill>
          <a:blip r:embed="rId2"/>
          <a:stretch>
            <a:fillRect/>
          </a:stretch>
        </p:blipFill>
        <p:spPr>
          <a:xfrm>
            <a:off x="313593" y="4536078"/>
            <a:ext cx="2143858" cy="52969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Thank You</a:t>
            </a:r>
          </a:p>
        </p:txBody>
      </p:sp>
      <p:sp>
        <p:nvSpPr>
          <p:cNvPr id="5" name="Text Placeholder 4"/>
          <p:cNvSpPr>
            <a:spLocks noGrp="1"/>
          </p:cNvSpPr>
          <p:nvPr>
            <p:ph type="body" idx="14" sz="quarter"/>
          </p:nvPr>
        </p:nvSpPr>
        <p:spPr/>
        <p:txBody>
          <a:bodyPr/>
          <a:lstStyle/>
          <a:p/>
        </p:txBody>
      </p:sp>
      <p:sp>
        <p:nvSpPr>
          <p:cNvPr id="6" name="Text Placeholder 5"/>
          <p:cNvSpPr>
            <a:spLocks noGrp="1"/>
          </p:cNvSpPr>
          <p:nvPr>
            <p:ph type="body" idx="15" sz="quarter"/>
          </p:nvPr>
        </p:nvSpPr>
        <p:spPr/>
        <p:txBody>
          <a:bodyPr/>
          <a:lstStyle/>
          <a:p/>
        </p:txBody>
      </p:sp>
      <p:pic>
        <p:nvPicPr>
          <p:cNvPr id="7" name="Picture 6" descr="client_logo.png"/>
          <p:cNvPicPr>
            <a:picLocks noChangeAspect="1"/>
          </p:cNvPicPr>
          <p:nvPr/>
        </p:nvPicPr>
        <p:blipFill>
          <a:blip r:embed="rId2"/>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3"/>
          <a:stretch>
            <a:fillRect/>
          </a:stretch>
        </p:blipFill>
        <p:spPr>
          <a:xfrm>
            <a:off x="313592" y="4536078"/>
            <a:ext cx="2164114" cy="529698"/>
          </a:xfrm>
          <a:prstGeom prst="rect">
            <a:avLst/>
          </a:prstGeom>
        </p:spPr>
      </p:pic>
      <p:pic>
        <p:nvPicPr>
          <p:cNvPr id="9" name="Picture 8" descr="eo-framework-logo-real.png"/>
          <p:cNvPicPr>
            <a:picLocks noChangeAspect="1"/>
          </p:cNvPicPr>
          <p:nvPr/>
        </p:nvPicPr>
        <p:blipFill>
          <a:blip r:embed="rId4"/>
          <a:stretch>
            <a:fillRect/>
          </a:stretch>
        </p:blipFill>
        <p:spPr>
          <a:xfrm>
            <a:off x="6684264" y="4535424"/>
            <a:ext cx="2139696" cy="5303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436</TotalTime>
  <Words>39</Words>
  <Application>Microsoft Office PowerPoint</Application>
  <PresentationFormat>On-screen Show (16:9)</PresentationFormat>
  <Paragraphs>20</Paragraphs>
  <Slides>7</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EOFramework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EOFramework Template</dc:title>
  <dc:subject>PptxGenJS Presentation</dc:subject>
  <dc:creator>EOFramework</dc:creator>
  <cp:lastModifiedBy>Kishan Siram</cp:lastModifiedBy>
  <cp:revision>83</cp:revision>
  <dcterms:created xsi:type="dcterms:W3CDTF">2025-11-01T21:16:10Z</dcterms:created>
  <dcterms:modified xsi:type="dcterms:W3CDTF">2025-11-20T16:23:18Z</dcterms:modified>
</cp:coreProperties>
</file>