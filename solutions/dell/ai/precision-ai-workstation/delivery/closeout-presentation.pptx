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*Opening Statement:*</a:t>
            </a:r>
          </a:p>
          <a:p>
            <a:r>
              <a:t>Good [morning/afternoon]. Today we're celebrating the successful completion of the Dell Precision AI Workstation Infrastructure implementation. This project has transformed [Client Name]'s AI/ML computing from cloud-dependent operations to a sovereign, cost-effective on-premises capability.</a:t>
            </a:r>
          </a:p>
          <a:p/>
          <a:p>
            <a:r>
              <a:t>*Key Talking Points - Expand on Each Bullet:*</a:t>
            </a:r>
          </a:p>
          <a:p/>
          <a:p>
            <a:r>
              <a:t>**Project Duration - 6 Weeks:**</a:t>
            </a:r>
          </a:p>
          <a:p>
            <a:r>
              <a:t>- Executed exactly as planned in the Statement of Work</a:t>
            </a:r>
          </a:p>
          <a:p>
            <a:r>
              <a:t>- Phase 1 (Weeks 1-2): Planning, procurement, and data center preparation</a:t>
            </a:r>
          </a:p>
          <a:p>
            <a:r>
              <a:t>- Phase 2 (Weeks 3-4): Hardware installation, OS/GPU driver configuration</a:t>
            </a:r>
          </a:p>
          <a:p>
            <a:r>
              <a:t>- Phase 3 (Weeks 5-6): Validation, training, and production go-live</a:t>
            </a:r>
          </a:p>
          <a:p>
            <a:r>
              <a:t>- No schedule slippage despite supply chain coordination complexity</a:t>
            </a:r>
          </a:p>
          <a:p/>
          <a:p>
            <a:r>
              <a:t>**Budget - $306,135 Year 1 Net:**</a:t>
            </a:r>
          </a:p>
          <a:p>
            <a:r>
              <a:t>- Hardware: $246,825 (after $59,175 Dell credits)</a:t>
            </a:r>
          </a:p>
          <a:p>
            <a:r>
              <a:t>- Software Licenses: $34,460 (after $10,800 credits)</a:t>
            </a:r>
          </a:p>
          <a:p>
            <a:r>
              <a:t>- Support &amp; Maintenance: $24,850</a:t>
            </a:r>
          </a:p>
          <a:p>
            <a:r>
              <a:t>- Total credits applied: $69,975 from Dell Partner program</a:t>
            </a:r>
          </a:p>
          <a:p>
            <a:r>
              <a:t>- Actual spend: $306,089 - $46 under budget</a:t>
            </a:r>
          </a:p>
          <a:p/>
          <a:p>
            <a:r>
              <a:t>**Cost Savings vs Cloud:**</a:t>
            </a:r>
          </a:p>
          <a:p>
            <a:r>
              <a:t>- Previous cloud spend: $58,000/month ($696K/year) on AWS p4d.24xlarge instances</a:t>
            </a:r>
          </a:p>
          <a:p>
            <a:r>
              <a:t>- New on-premises cost: ~$70K/year (Year 2+ operational costs)</a:t>
            </a:r>
          </a:p>
          <a:p>
            <a:r>
              <a:t>- Annual savings: $626,000 (90% reduction after Year 1)</a:t>
            </a:r>
          </a:p>
          <a:p>
            <a:r>
              <a:t>- Year 1 savings: 65% accounting for capital investment</a:t>
            </a:r>
          </a:p>
          <a:p/>
          <a:p>
            <a:r>
              <a:t>**GPU Utilization - 92%:**</a:t>
            </a:r>
          </a:p>
          <a:p>
            <a:r>
              <a:t>- Target was 80%+ per SOW</a:t>
            </a:r>
          </a:p>
          <a:p>
            <a:r>
              <a:t>- Achieved 92% average across 10 workstations</a:t>
            </a:r>
          </a:p>
          <a:p>
            <a:r>
              <a:t>- Peak utilization during training: 98%</a:t>
            </a:r>
          </a:p>
          <a:p>
            <a:r>
              <a:t>- No GPU memory bottlenecks with 48GB RTX A6000</a:t>
            </a:r>
          </a:p>
          <a:p/>
          <a:p>
            <a:r>
              <a:t>**ROI Summary:**</a:t>
            </a:r>
          </a:p>
          <a:p>
            <a:r>
              <a:t>- Year 1 investment: $306,135</a:t>
            </a:r>
          </a:p>
          <a:p>
            <a:r>
              <a:t>- Year 1 cloud cost avoided: $696,000</a:t>
            </a:r>
          </a:p>
          <a:p>
            <a:r>
              <a:t>- Year 1 net benefit: $389,865</a:t>
            </a:r>
          </a:p>
          <a:p>
            <a:r>
              <a:t>- Payback period: ~4 months</a:t>
            </a:r>
          </a:p>
          <a:p>
            <a:r>
              <a:t>- 3-year savings: $1.68M vs cloud baseline</a:t>
            </a:r>
          </a:p>
          <a:p/>
          <a:p>
            <a:r>
              <a:t>*Transition:*</a:t>
            </a:r>
          </a:p>
          <a:p>
            <a:r>
              <a:t>"Let me walk you through exactly what we built together..."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*Architecture Overview - Walk Through the Diagram:*</a:t>
            </a:r>
          </a:p>
          <a:p/>
          <a:p>
            <a:r>
              <a:t>"This diagram shows the production AI workstation infrastructure we deployed. Let me walk through each layer..."</a:t>
            </a:r>
          </a:p>
          <a:p/>
          <a:p>
            <a:r>
              <a:t>**Compute Layer - Dell Precision 7960 Workstations (10 units):**</a:t>
            </a:r>
          </a:p>
          <a:p>
            <a:r>
              <a:t>- Processor: Dual Intel Xeon Gold 6430 (64 cores total per workstation)</a:t>
            </a:r>
          </a:p>
          <a:p>
            <a:r>
              <a:t>- Memory: 512GB DDR5 RAM for large dataset preprocessing</a:t>
            </a:r>
          </a:p>
          <a:p>
            <a:r>
              <a:t>- Local Storage: 4TB NVMe SSD (7000 MB/s read performance)</a:t>
            </a:r>
          </a:p>
          <a:p>
            <a:r>
              <a:t>- GPU: NVIDIA RTX A6000 with 48GB GDDR6 and 10,752 CUDA cores</a:t>
            </a:r>
          </a:p>
          <a:p>
            <a:r>
              <a:t>- Form factor: Tower configuration for optimal cooling</a:t>
            </a:r>
          </a:p>
          <a:p>
            <a:r>
              <a:t>- Power: 1400W PSU, 208V circuit per workstation</a:t>
            </a:r>
          </a:p>
          <a:p/>
          <a:p>
            <a:r>
              <a:t>**Storage Layer - Dell PowerScale F600:**</a:t>
            </a:r>
          </a:p>
          <a:p>
            <a:r>
              <a:t>- Capacity: 100TB usable for team dataset repository</a:t>
            </a:r>
          </a:p>
          <a:p>
            <a:r>
              <a:t>- Protocol: NFS v4.1 with user quotas and access controls</a:t>
            </a:r>
          </a:p>
          <a:p>
            <a:r>
              <a:t>- Performance: 10GbE aggregate throughput (1GB/s+ to each workstation)</a:t>
            </a:r>
          </a:p>
          <a:p>
            <a:r>
              <a:t>- Data protection: Snapshots every 4 hours, 30-day retention</a:t>
            </a:r>
          </a:p>
          <a:p>
            <a:r>
              <a:t>- Scalability: Can expand to 500TB+ without architecture changes</a:t>
            </a:r>
          </a:p>
          <a:p/>
          <a:p>
            <a:r>
              <a:t>**Software Stack:**</a:t>
            </a:r>
          </a:p>
          <a:p>
            <a:r>
              <a:t>- Operating System: Ubuntu 22.04 LTS (stable, long-term support)</a:t>
            </a:r>
          </a:p>
          <a:p>
            <a:r>
              <a:t>- GPU Drivers: NVIDIA 535.x with CUDA 12.2 and cuDNN 8.9</a:t>
            </a:r>
          </a:p>
          <a:p>
            <a:r>
              <a:t>- ML Frameworks: PyTorch 2.1, TensorFlow 2.14, JAX 0.4</a:t>
            </a:r>
          </a:p>
          <a:p>
            <a:r>
              <a:t>- Development: Jupyter Lab, VS Code with Remote-SSH</a:t>
            </a:r>
          </a:p>
          <a:p>
            <a:r>
              <a:t>- Package Management: Conda environments per project</a:t>
            </a:r>
          </a:p>
          <a:p/>
          <a:p>
            <a:r>
              <a:t>**Monitoring and Management:**</a:t>
            </a:r>
          </a:p>
          <a:p>
            <a:r>
              <a:t>- Datadog infrastructure monitoring with GPU metrics</a:t>
            </a:r>
          </a:p>
          <a:p>
            <a:r>
              <a:t>- GPU temperature and utilization dashboards</a:t>
            </a:r>
          </a:p>
          <a:p>
            <a:r>
              <a:t>- Storage capacity alerts at 80% threshold</a:t>
            </a:r>
          </a:p>
          <a:p>
            <a:r>
              <a:t>- Centralized logging for troubleshooting</a:t>
            </a:r>
          </a:p>
          <a:p/>
          <a:p>
            <a:r>
              <a:t>**Key Architecture Decisions:**</a:t>
            </a:r>
          </a:p>
          <a:p>
            <a:r>
              <a:t>1. Tower workstations vs rack-mount for better cooling and GPU thermals</a:t>
            </a:r>
          </a:p>
          <a:p>
            <a:r>
              <a:t>2. 10GbE storage network for dataset transfer without bottlenecks</a:t>
            </a:r>
          </a:p>
          <a:p>
            <a:r>
              <a:t>3. Local NVMe for training (7GB/s) with PowerScale for sharing</a:t>
            </a:r>
          </a:p>
          <a:p>
            <a:r>
              <a:t>4. Ubuntu LTS for CUDA/cuDNN compatibility and stability</a:t>
            </a:r>
          </a:p>
          <a:p/>
          <a:p>
            <a:r>
              <a:t>**Data Sovereignty Achieved:**</a:t>
            </a:r>
          </a:p>
          <a:p>
            <a:r>
              <a:t>- All training data remains on-premises</a:t>
            </a:r>
          </a:p>
          <a:p>
            <a:r>
              <a:t>- No cloud data transfer or residency concerns</a:t>
            </a:r>
          </a:p>
          <a:p>
            <a:r>
              <a:t>- Full control over model checkpoints and artifacts</a:t>
            </a:r>
          </a:p>
          <a:p>
            <a:r>
              <a:t>- Compliant with internal data classification policies</a:t>
            </a:r>
          </a:p>
          <a:p/>
          <a:p>
            <a:r>
              <a:t>*Transition:*</a:t>
            </a:r>
          </a:p>
          <a:p>
            <a:r>
              <a:t>"Now let me show you the complete deliverables package we're handing over..."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*Deliverables Deep Dive - Review Each Item:*</a:t>
            </a:r>
          </a:p>
          <a:p/>
          <a:p>
            <a:r>
              <a:t>**1. Solution Architecture Document (detailed-design.docx):**</a:t>
            </a:r>
          </a:p>
          <a:p>
            <a:r>
              <a:t>- 35+ pages comprehensive technical documentation</a:t>
            </a:r>
          </a:p>
          <a:p>
            <a:r>
              <a:t>- Hardware specifications for all 10 workstations</a:t>
            </a:r>
          </a:p>
          <a:p>
            <a:r>
              <a:t>- Network topology and VLAN configuration</a:t>
            </a:r>
          </a:p>
          <a:p>
            <a:r>
              <a:t>- PowerScale NAS configuration and share structure</a:t>
            </a:r>
          </a:p>
          <a:p>
            <a:r>
              <a:t>- GPU driver and CUDA version matrix</a:t>
            </a:r>
          </a:p>
          <a:p>
            <a:r>
              <a:t>- Security controls and access management</a:t>
            </a:r>
          </a:p>
          <a:p>
            <a:r>
              <a:t>- Reviewed and accepted by [IT Lead] on [Date]</a:t>
            </a:r>
          </a:p>
          <a:p/>
          <a:p>
            <a:r>
              <a:t>**2. Implementation Guide (implementation-guide.docx):**</a:t>
            </a:r>
          </a:p>
          <a:p>
            <a:r>
              <a:t>- Step-by-step deployment procedures</a:t>
            </a:r>
          </a:p>
          <a:p>
            <a:r>
              <a:t>- Ubuntu 22.04 installation checklist</a:t>
            </a:r>
          </a:p>
          <a:p>
            <a:r>
              <a:t>- NVIDIA driver and CUDA installation commands</a:t>
            </a:r>
          </a:p>
          <a:p>
            <a:r>
              <a:t>- PowerScale NFS mount configuration</a:t>
            </a:r>
          </a:p>
          <a:p>
            <a:r>
              <a:t>- ML framework installation with conda environments</a:t>
            </a:r>
          </a:p>
          <a:p>
            <a:r>
              <a:t>- Post-deployment verification steps</a:t>
            </a:r>
          </a:p>
          <a:p>
            <a:r>
              <a:t>- Validated by rebuilding workstation from scratch</a:t>
            </a:r>
          </a:p>
          <a:p/>
          <a:p>
            <a:r>
              <a:t>**3. Project Plan (project-plan.xlsx):**</a:t>
            </a:r>
          </a:p>
          <a:p>
            <a:r>
              <a:t>- Four worksheets:</a:t>
            </a:r>
          </a:p>
          <a:p>
            <a:r>
              <a:t>  1. Project Timeline - 25 tasks across 6 weeks</a:t>
            </a:r>
          </a:p>
          <a:p>
            <a:r>
              <a:t>  2. Milestones - 5 major milestones tracked</a:t>
            </a:r>
          </a:p>
          <a:p>
            <a:r>
              <a:t>  3. RACI Matrix - Clear ownership for all activities</a:t>
            </a:r>
          </a:p>
          <a:p>
            <a:r>
              <a:t>  4. Communications Plan - Meeting schedule defined</a:t>
            </a:r>
          </a:p>
          <a:p>
            <a:r>
              <a:t>- All milestones achieved on or ahead of schedule</a:t>
            </a:r>
          </a:p>
          <a:p/>
          <a:p>
            <a:r>
              <a:t>**4. Test Plan &amp; Results (test-plan.xlsx):**</a:t>
            </a:r>
          </a:p>
          <a:p>
            <a:r>
              <a:t>- Three test categories:</a:t>
            </a:r>
          </a:p>
          <a:p>
            <a:r>
              <a:t>  1. Functional Tests - Hardware validation (100% pass)</a:t>
            </a:r>
          </a:p>
          <a:p>
            <a:r>
              <a:t>  2. Non-Functional Tests - GPU benchmarks (100% pass)</a:t>
            </a:r>
          </a:p>
          <a:p>
            <a:r>
              <a:t>  3. User Acceptance Tests - Data scientist validation (100% pass)</a:t>
            </a:r>
          </a:p>
          <a:p>
            <a:r>
              <a:t>- Performance benchmarks documented</a:t>
            </a:r>
          </a:p>
          <a:p>
            <a:r>
              <a:t>- Sample model training validation complete</a:t>
            </a:r>
          </a:p>
          <a:p/>
          <a:p>
            <a:r>
              <a:t>**5. Training Sessions Delivered:**</a:t>
            </a:r>
          </a:p>
          <a:p>
            <a:r>
              <a:t>- 2-day hands-on workshop for 10 data scientists (CUDA optimization, GPU profiling)</a:t>
            </a:r>
          </a:p>
          <a:p>
            <a:r>
              <a:t>- 1-day administrator training for 3 IT staff (Ubuntu, drivers, PowerScale)</a:t>
            </a:r>
          </a:p>
          <a:p>
            <a:r>
              <a:t>- Total training hours delivered: 32 hours</a:t>
            </a:r>
          </a:p>
          <a:p>
            <a:r>
              <a:t>- All participants certified competent</a:t>
            </a:r>
          </a:p>
          <a:p/>
          <a:p>
            <a:r>
              <a:t>*Transition:*</a:t>
            </a:r>
          </a:p>
          <a:p>
            <a:r>
              <a:t>"Let's look at how the solution is performing against our targets..."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*Quality &amp; Performance Deep Dive:*</a:t>
            </a:r>
          </a:p>
          <a:p/>
          <a:p>
            <a:r>
              <a:t>**GPU Performance Metrics:**</a:t>
            </a:r>
          </a:p>
          <a:p/>
          <a:p>
            <a:r>
              <a:t>*GPU Utilization - 92% Average:*</a:t>
            </a:r>
          </a:p>
          <a:p>
            <a:r>
              <a:t>- SOW target: 80%+ during training workloads</a:t>
            </a:r>
          </a:p>
          <a:p>
            <a:r>
              <a:t>- Achieved: 92% average across all workstations</a:t>
            </a:r>
          </a:p>
          <a:p>
            <a:r>
              <a:t>- Peak during ResNet-152 training: 98%</a:t>
            </a:r>
          </a:p>
          <a:p>
            <a:r>
              <a:t>- Idle time primarily during data loading phases</a:t>
            </a:r>
          </a:p>
          <a:p>
            <a:r>
              <a:t>- Recommendation: Implement data prefetching for 95%+ utilization</a:t>
            </a:r>
          </a:p>
          <a:p/>
          <a:p>
            <a:r>
              <a:t>*CUDA Compute Performance:*</a:t>
            </a:r>
          </a:p>
          <a:p>
            <a:r>
              <a:t>- RTX A6000 delivers 45 TFLOPS FP32</a:t>
            </a:r>
          </a:p>
          <a:p>
            <a:r>
              <a:t>- FP16 Tensor Core performance: 155 TFLOPS</a:t>
            </a:r>
          </a:p>
          <a:p>
            <a:r>
              <a:t>- PyTorch benchmark: 2.3x faster than cloud p4d instances</a:t>
            </a:r>
          </a:p>
          <a:p>
            <a:r>
              <a:t>- TensorFlow benchmark: 2.1x faster than cloud baseline</a:t>
            </a:r>
          </a:p>
          <a:p/>
          <a:p>
            <a:r>
              <a:t>*GPU Memory - 48GB GDDR6:*</a:t>
            </a:r>
          </a:p>
          <a:p>
            <a:r>
              <a:t>- Full 48GB available per workstation</a:t>
            </a:r>
          </a:p>
          <a:p>
            <a:r>
              <a:t>- Enables training larger models than cloud (p4d limited to 40GB)</a:t>
            </a:r>
          </a:p>
          <a:p>
            <a:r>
              <a:t>- Batch sizes increased 20% vs previous cloud configuration</a:t>
            </a:r>
          </a:p>
          <a:p>
            <a:r>
              <a:t>- No out-of-memory errors during testing</a:t>
            </a:r>
          </a:p>
          <a:p/>
          <a:p>
            <a:r>
              <a:t>**Storage Performance:**</a:t>
            </a:r>
          </a:p>
          <a:p/>
          <a:p>
            <a:r>
              <a:t>*Local NVMe - 7,100 MB/s:*</a:t>
            </a:r>
          </a:p>
          <a:p>
            <a:r>
              <a:t>- SOW target: 7,000 MB/s read performance</a:t>
            </a:r>
          </a:p>
          <a:p>
            <a:r>
              <a:t>- Achieved: 7,100 MB/s sequential read</a:t>
            </a:r>
          </a:p>
          <a:p>
            <a:r>
              <a:t>- Random 4K: 1.2M IOPS</a:t>
            </a:r>
          </a:p>
          <a:p>
            <a:r>
              <a:t>- Eliminates dataset loading as bottleneck</a:t>
            </a:r>
          </a:p>
          <a:p>
            <a:r>
              <a:t>- Training data copied from PowerScale to local NVMe for maximum speed</a:t>
            </a:r>
          </a:p>
          <a:p/>
          <a:p>
            <a:r>
              <a:t>*PowerScale NAS - 1.2 GB/s Aggregate:*</a:t>
            </a:r>
          </a:p>
          <a:p>
            <a:r>
              <a:t>- SOW target: 1 GB/s+ aggregate throughput</a:t>
            </a:r>
          </a:p>
          <a:p>
            <a:r>
              <a:t>- Achieved: 1.2 GB/s with 10 concurrent streams</a:t>
            </a:r>
          </a:p>
          <a:p>
            <a:r>
              <a:t>- NFS v4.1 with Jumbo Frames enabled</a:t>
            </a:r>
          </a:p>
          <a:p>
            <a:r>
              <a:t>- User quotas configured per data scientist</a:t>
            </a:r>
          </a:p>
          <a:p/>
          <a:p>
            <a:r>
              <a:t>**Training Time Improvements:**</a:t>
            </a:r>
          </a:p>
          <a:p>
            <a:r>
              <a:t>- ResNet-152 on ImageNet: 4.2 hours (was 9.5 hours on cloud)</a:t>
            </a:r>
          </a:p>
          <a:p>
            <a:r>
              <a:t>- BERT-Large fine-tuning: 2.8 hours (was 6.1 hours on cloud)</a:t>
            </a:r>
          </a:p>
          <a:p>
            <a:r>
              <a:t>- Custom NLP model: 1.5 hours (was 3.2 hours on cloud)</a:t>
            </a:r>
          </a:p>
          <a:p>
            <a:r>
              <a:t>- Average improvement: 55% faster than cloud baseline</a:t>
            </a:r>
          </a:p>
          <a:p/>
          <a:p>
            <a:r>
              <a:t>**Comparison to SOW Targets:**</a:t>
            </a:r>
          </a:p>
          <a:p>
            <a:r>
              <a:t>| Metric | SOW Target | Achieved | Status |</a:t>
            </a:r>
          </a:p>
          <a:p>
            <a:r>
              <a:t>|--------|------------|----------|--------|</a:t>
            </a:r>
          </a:p>
          <a:p>
            <a:r>
              <a:t>| GPU Utilization | 80%+ | 92% | Exceeded |</a:t>
            </a:r>
          </a:p>
          <a:p>
            <a:r>
              <a:t>| NVMe Read Speed | 7,000 MB/s | 7,100 MB/s | Exceeded |</a:t>
            </a:r>
          </a:p>
          <a:p>
            <a:r>
              <a:t>| PowerScale Throughput | 1 GB/s | 1.2 GB/s | Exceeded |</a:t>
            </a:r>
          </a:p>
          <a:p>
            <a:r>
              <a:t>| Training Time Reduction | 50% | 55% | Exceeded |</a:t>
            </a:r>
          </a:p>
          <a:p/>
          <a:p>
            <a:r>
              <a:t>*Transition:*</a:t>
            </a:r>
          </a:p>
          <a:p>
            <a:r>
              <a:t>"These performance improvements translate directly into business value..."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*Benefits Analysis - Detailed ROI Discussion:*</a:t>
            </a:r>
          </a:p>
          <a:p/>
          <a:p>
            <a:r>
              <a:t>**Cloud Cost Reduction - 65% Year 1:**</a:t>
            </a:r>
          </a:p>
          <a:p/>
          <a:p>
            <a:r>
              <a:t>*Previous Cloud Costs (Baseline):*</a:t>
            </a:r>
          </a:p>
          <a:p>
            <a:r>
              <a:t>- AWS p4d.24xlarge instances: $32.77/hour</a:t>
            </a:r>
          </a:p>
          <a:p>
            <a:r>
              <a:t>- Average usage: 1,770 hours/month (10 scientists)</a:t>
            </a:r>
          </a:p>
          <a:p>
            <a:r>
              <a:t>- Monthly cloud spend: $58,000</a:t>
            </a:r>
          </a:p>
          <a:p>
            <a:r>
              <a:t>- Annual cloud spend: $696,000</a:t>
            </a:r>
          </a:p>
          <a:p>
            <a:r>
              <a:t>- Plus data transfer costs: ~$5,000/month</a:t>
            </a:r>
          </a:p>
          <a:p/>
          <a:p>
            <a:r>
              <a:t>*New On-Premises Costs:*</a:t>
            </a:r>
          </a:p>
          <a:p>
            <a:r>
              <a:t>- Year 1 Total: $306,135 (including hardware capital)</a:t>
            </a:r>
          </a:p>
          <a:p>
            <a:r>
              <a:t>- Year 2+ Operational: $70,110/year (software, support)</a:t>
            </a:r>
          </a:p>
          <a:p>
            <a:r>
              <a:t>- 3-Year TCO: $446,355</a:t>
            </a:r>
          </a:p>
          <a:p/>
          <a:p>
            <a:r>
              <a:t>*Cost Savings Calculation:*</a:t>
            </a:r>
          </a:p>
          <a:p>
            <a:r>
              <a:t>| Period | Cloud Cost | On-Prem Cost | Savings |</a:t>
            </a:r>
          </a:p>
          <a:p>
            <a:r>
              <a:t>|--------|------------|--------------|---------|</a:t>
            </a:r>
          </a:p>
          <a:p>
            <a:r>
              <a:t>| Year 1 | $696,000 | $306,135 | $389,865 (56%) |</a:t>
            </a:r>
          </a:p>
          <a:p>
            <a:r>
              <a:t>| Year 2 | $696,000 | $70,110 | $625,890 (90%) |</a:t>
            </a:r>
          </a:p>
          <a:p>
            <a:r>
              <a:t>| Year 3 | $696,000 | $70,110 | $625,890 (90%) |</a:t>
            </a:r>
          </a:p>
          <a:p>
            <a:r>
              <a:t>| **3-Year Total** | $2,088,000 | $446,355 | **$1,641,645** |</a:t>
            </a:r>
          </a:p>
          <a:p/>
          <a:p>
            <a:r>
              <a:t>**Training Time Reduction - 55%:**</a:t>
            </a:r>
          </a:p>
          <a:p/>
          <a:p>
            <a:r>
              <a:t>*Before (Cloud):*</a:t>
            </a:r>
          </a:p>
          <a:p>
            <a:r>
              <a:t>- ResNet-152 training: 9.5 hours</a:t>
            </a:r>
          </a:p>
          <a:p>
            <a:r>
              <a:t>- Dataset transfer to cloud: 2-4 hours for 5TB</a:t>
            </a:r>
          </a:p>
          <a:p>
            <a:r>
              <a:t>- Total iteration cycle: 12+ hours</a:t>
            </a:r>
          </a:p>
          <a:p>
            <a:r>
              <a:t>- Experiments per week: 3-4 per scientist</a:t>
            </a:r>
          </a:p>
          <a:p/>
          <a:p>
            <a:r>
              <a:t>*After (On-Premises):*</a:t>
            </a:r>
          </a:p>
          <a:p>
            <a:r>
              <a:t>- ResNet-152 training: 4.2 hours</a:t>
            </a:r>
          </a:p>
          <a:p>
            <a:r>
              <a:t>- Dataset already local: 0 transfer time</a:t>
            </a:r>
          </a:p>
          <a:p>
            <a:r>
              <a:t>- Total iteration cycle: 4-5 hours</a:t>
            </a:r>
          </a:p>
          <a:p>
            <a:r>
              <a:t>- Experiments per week: 7-8 per scientist</a:t>
            </a:r>
          </a:p>
          <a:p/>
          <a:p>
            <a:r>
              <a:t>*Productivity Impact:*</a:t>
            </a:r>
          </a:p>
          <a:p>
            <a:r>
              <a:t>- 2x more experiments per scientist per week</a:t>
            </a:r>
          </a:p>
          <a:p>
            <a:r>
              <a:t>- Faster model iteration and improvement</a:t>
            </a:r>
          </a:p>
          <a:p>
            <a:r>
              <a:t>- Reduced time-to-production for new models</a:t>
            </a:r>
          </a:p>
          <a:p>
            <a:r>
              <a:t>- Data scientists report higher job satisfaction</a:t>
            </a:r>
          </a:p>
          <a:p/>
          <a:p>
            <a:r>
              <a:t>**Data Sovereignty - 100% On-Premises:**</a:t>
            </a:r>
          </a:p>
          <a:p/>
          <a:p>
            <a:r>
              <a:t>*Compliance Achievement:*</a:t>
            </a:r>
          </a:p>
          <a:p>
            <a:r>
              <a:t>- All training datasets remain in client data center</a:t>
            </a:r>
          </a:p>
          <a:p>
            <a:r>
              <a:t>- No cloud data residency concerns</a:t>
            </a:r>
          </a:p>
          <a:p>
            <a:r>
              <a:t>- Full audit trail for data access</a:t>
            </a:r>
          </a:p>
          <a:p>
            <a:r>
              <a:t>- Meets internal security classification requirements</a:t>
            </a:r>
          </a:p>
          <a:p/>
          <a:p>
            <a:r>
              <a:t>*Business Value:*</a:t>
            </a:r>
          </a:p>
          <a:p>
            <a:r>
              <a:t>- Can train on sensitive customer data</a:t>
            </a:r>
          </a:p>
          <a:p>
            <a:r>
              <a:t>- No regulatory concerns for regulated industries</a:t>
            </a:r>
          </a:p>
          <a:p>
            <a:r>
              <a:t>- Full control over model artifacts and IP</a:t>
            </a:r>
          </a:p>
          <a:p>
            <a:r>
              <a:t>- Enables new use cases previously blocked</a:t>
            </a:r>
          </a:p>
          <a:p/>
          <a:p>
            <a:r>
              <a:t>**Team Capacity and Scaling:**</a:t>
            </a:r>
          </a:p>
          <a:p/>
          <a:p>
            <a:r>
              <a:t>*Current State:*</a:t>
            </a:r>
          </a:p>
          <a:p>
            <a:r>
              <a:t>- 10 data scientists fully equipped</a:t>
            </a:r>
          </a:p>
          <a:p>
            <a:r>
              <a:t>- Each has dedicated workstation</a:t>
            </a:r>
          </a:p>
          <a:p>
            <a:r>
              <a:t>- Shared PowerScale storage for collaboration</a:t>
            </a:r>
          </a:p>
          <a:p/>
          <a:p>
            <a:r>
              <a:t>*Future Scaling:*</a:t>
            </a:r>
          </a:p>
          <a:p>
            <a:r>
              <a:t>- Infrastructure supports 25+ data scientists</a:t>
            </a:r>
          </a:p>
          <a:p>
            <a:r>
              <a:t>- PowerScale expandable to 500TB</a:t>
            </a:r>
          </a:p>
          <a:p>
            <a:r>
              <a:t>- Additional workstations: $30K each</a:t>
            </a:r>
          </a:p>
          <a:p>
            <a:r>
              <a:t>- No architecture changes needed</a:t>
            </a:r>
          </a:p>
          <a:p/>
          <a:p>
            <a:r>
              <a:t>*Transition:*</a:t>
            </a:r>
          </a:p>
          <a:p>
            <a:r>
              <a:t>"We learned valuable lessons during this implementation..."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*Lessons Learned - Comprehensive Review:*</a:t>
            </a:r>
          </a:p>
          <a:p/>
          <a:p>
            <a:r>
              <a:t>**What Worked Well - Details:**</a:t>
            </a:r>
          </a:p>
          <a:p/>
          <a:p>
            <a:r>
              <a:t>*1. Dell ProDeploy Service:*</a:t>
            </a:r>
          </a:p>
          <a:p>
            <a:r>
              <a:t>- Dell professional installation reduced setup time by 2 days</a:t>
            </a:r>
          </a:p>
          <a:p>
            <a:r>
              <a:t>- Proper rack/desk placement and cable management</a:t>
            </a:r>
          </a:p>
          <a:p>
            <a:r>
              <a:t>- BIOS configuration optimized for AI workloads</a:t>
            </a:r>
          </a:p>
          <a:p>
            <a:r>
              <a:t>- Thermal validation under load</a:t>
            </a:r>
          </a:p>
          <a:p>
            <a:r>
              <a:t>- Recommendation: Always use ProDeploy for GPU workstations</a:t>
            </a:r>
          </a:p>
          <a:p/>
          <a:p>
            <a:r>
              <a:t>*2. CUDA Version Standardization:*</a:t>
            </a:r>
          </a:p>
          <a:p>
            <a:r>
              <a:t>- Standardized on CUDA 12.2 across all workstations</a:t>
            </a:r>
          </a:p>
          <a:p>
            <a:r>
              <a:t>- Avoided version mismatch issues</a:t>
            </a:r>
          </a:p>
          <a:p>
            <a:r>
              <a:t>- PyTorch and TensorFlow compatibility verified</a:t>
            </a:r>
          </a:p>
          <a:p>
            <a:r>
              <a:t>- Documentation includes upgrade procedures</a:t>
            </a:r>
          </a:p>
          <a:p/>
          <a:p>
            <a:r>
              <a:t>*3. Conda Environment Isolation:*</a:t>
            </a:r>
          </a:p>
          <a:p>
            <a:r>
              <a:t>- Each project has isolated conda environment</a:t>
            </a:r>
          </a:p>
          <a:p>
            <a:r>
              <a:t>- No package conflicts between teams</a:t>
            </a:r>
          </a:p>
          <a:p>
            <a:r>
              <a:t>- Easy environment recreation from YAML</a:t>
            </a:r>
          </a:p>
          <a:p>
            <a:r>
              <a:t>- Shared base environment for common packages</a:t>
            </a:r>
          </a:p>
          <a:p/>
          <a:p>
            <a:r>
              <a:t>*4. Datadog GPU Monitoring:*</a:t>
            </a:r>
          </a:p>
          <a:p>
            <a:r>
              <a:t>- Real-time GPU utilization dashboards</a:t>
            </a:r>
          </a:p>
          <a:p>
            <a:r>
              <a:t>- Temperature alerting prevents thermal throttling</a:t>
            </a:r>
          </a:p>
          <a:p>
            <a:r>
              <a:t>- Capacity planning data for future</a:t>
            </a:r>
          </a:p>
          <a:p>
            <a:r>
              <a:t>- Integration with existing IT monitoring</a:t>
            </a:r>
          </a:p>
          <a:p/>
          <a:p>
            <a:r>
              <a:t>**Challenges Overcome - Details:**</a:t>
            </a:r>
          </a:p>
          <a:p/>
          <a:p>
            <a:r>
              <a:t>*1. Power Circuit Installation:*</a:t>
            </a:r>
          </a:p>
          <a:p>
            <a:r>
              <a:t>- Challenge: 208V circuits required for workstations</a:t>
            </a:r>
          </a:p>
          <a:p>
            <a:r>
              <a:t>- Impact: Potential 1-week delay</a:t>
            </a:r>
          </a:p>
          <a:p>
            <a:r>
              <a:t>- Resolution: Coordinated with facilities, parallel installation</a:t>
            </a:r>
          </a:p>
          <a:p>
            <a:r>
              <a:t>- Lesson: Start electrical work during procurement phase</a:t>
            </a:r>
          </a:p>
          <a:p/>
          <a:p>
            <a:r>
              <a:t>*2. Driver Compatibility:*</a:t>
            </a:r>
          </a:p>
          <a:p>
            <a:r>
              <a:t>- Challenge: NVIDIA 535.x had issues with Ubuntu 22.04.3</a:t>
            </a:r>
          </a:p>
          <a:p>
            <a:r>
              <a:t>- Impact: Initial installation failures</a:t>
            </a:r>
          </a:p>
          <a:p>
            <a:r>
              <a:t>- Resolution: Pinned to 535.86.05 after testing</a:t>
            </a:r>
          </a:p>
          <a:p>
            <a:r>
              <a:t>- Lesson: Test specific driver versions before deployment</a:t>
            </a:r>
          </a:p>
          <a:p/>
          <a:p>
            <a:r>
              <a:t>*3. NFS Mount Optimization:*</a:t>
            </a:r>
          </a:p>
          <a:p>
            <a:r>
              <a:t>- Challenge: Initial NFS mounts had 800 MB/s throughput</a:t>
            </a:r>
          </a:p>
          <a:p>
            <a:r>
              <a:t>- Impact: Below 1 GB/s target</a:t>
            </a:r>
          </a:p>
          <a:p>
            <a:r>
              <a:t>- Resolution: Enabled Jumbo Frames, optimized mount options</a:t>
            </a:r>
          </a:p>
          <a:p>
            <a:r>
              <a:t>- Lesson: Tune NFS options for large file workloads</a:t>
            </a:r>
          </a:p>
          <a:p/>
          <a:p>
            <a:r>
              <a:t>**Recommendations for Future Enhancement:**</a:t>
            </a:r>
          </a:p>
          <a:p/>
          <a:p>
            <a:r>
              <a:t>*1. Distributed Training (Phase 2):*</a:t>
            </a:r>
          </a:p>
          <a:p>
            <a:r>
              <a:t>- Implement Horovod or PyTorch Distributed</a:t>
            </a:r>
          </a:p>
          <a:p>
            <a:r>
              <a:t>- Enable multi-GPU training across workstations</a:t>
            </a:r>
          </a:p>
          <a:p>
            <a:r>
              <a:t>- Estimated effort: 2 weeks configuration</a:t>
            </a:r>
          </a:p>
          <a:p>
            <a:r>
              <a:t>- Business case: 4-8x faster training for large models</a:t>
            </a:r>
          </a:p>
          <a:p/>
          <a:p>
            <a:r>
              <a:t>*2. MLOps Pipeline:*</a:t>
            </a:r>
          </a:p>
          <a:p>
            <a:r>
              <a:t>- Deploy MLflow for experiment tracking</a:t>
            </a:r>
          </a:p>
          <a:p>
            <a:r>
              <a:t>- Implement model registry for versioning</a:t>
            </a:r>
          </a:p>
          <a:p>
            <a:r>
              <a:t>- Automate model deployment pipeline</a:t>
            </a:r>
          </a:p>
          <a:p>
            <a:r>
              <a:t>- Estimated investment: $15K-25K</a:t>
            </a:r>
          </a:p>
          <a:p/>
          <a:p>
            <a:r>
              <a:t>*3. GPU Cluster Scheduling:*</a:t>
            </a:r>
          </a:p>
          <a:p>
            <a:r>
              <a:t>- Consider SLURM or Kubernetes for job scheduling</a:t>
            </a:r>
          </a:p>
          <a:p>
            <a:r>
              <a:t>- Optimize GPU utilization across team</a:t>
            </a:r>
          </a:p>
          <a:p>
            <a:r>
              <a:t>- Enable fair queuing for shared resources</a:t>
            </a:r>
          </a:p>
          <a:p>
            <a:r>
              <a:t>- Recommended when team exceeds 15 scientists</a:t>
            </a:r>
          </a:p>
          <a:p/>
          <a:p>
            <a:r>
              <a:t>*Not Recommended at This Time:*</a:t>
            </a:r>
          </a:p>
          <a:p>
            <a:r>
              <a:t>- Cloud hybrid bursting (on-prem meeting all needs)</a:t>
            </a:r>
          </a:p>
          <a:p>
            <a:r>
              <a:t>- Additional GPU per workstation (48GB sufficient)</a:t>
            </a:r>
          </a:p>
          <a:p>
            <a:r>
              <a:t>- SSD tier on PowerScale (NVMe local sufficient)</a:t>
            </a:r>
          </a:p>
          <a:p/>
          <a:p>
            <a:r>
              <a:t>*Transition:*</a:t>
            </a:r>
          </a:p>
          <a:p>
            <a:r>
              <a:t>"Let me walk you through how we're transitioning support..."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*Support Transition - Complete Details:*</a:t>
            </a:r>
          </a:p>
          <a:p/>
          <a:p>
            <a:r>
              <a:t>**Hypercare Period Summary (6 Weeks Post-Deployment):**</a:t>
            </a:r>
          </a:p>
          <a:p/>
          <a:p>
            <a:r>
              <a:t>*Daily Activities Completed:*</a:t>
            </a:r>
          </a:p>
          <a:p>
            <a:r>
              <a:t>- Morning health check calls (Week 1-2)</a:t>
            </a:r>
          </a:p>
          <a:p>
            <a:r>
              <a:t>- GPU utilization and temperature review</a:t>
            </a:r>
          </a:p>
          <a:p>
            <a:r>
              <a:t>- Storage capacity monitoring</a:t>
            </a:r>
          </a:p>
          <a:p>
            <a:r>
              <a:t>- User feedback collection</a:t>
            </a:r>
          </a:p>
          <a:p>
            <a:r>
              <a:t>- Issue triage and resolution</a:t>
            </a:r>
          </a:p>
          <a:p/>
          <a:p>
            <a:r>
              <a:t>*Issues Resolved During Hypercare:*</a:t>
            </a:r>
          </a:p>
          <a:p>
            <a:r>
              <a:t>- Issue #1: Conda environment path conflict (P3, resolved Day 2)</a:t>
            </a:r>
          </a:p>
          <a:p>
            <a:r>
              <a:t>- Issue #2: Datadog agent memory usage (P3, resolved Day 5)</a:t>
            </a:r>
          </a:p>
          <a:p>
            <a:r>
              <a:t>- Issue #3: NFS timeout during large file copy (P3, resolved Day 8)</a:t>
            </a:r>
          </a:p>
          <a:p>
            <a:r>
              <a:t>- Total critical/high issues: 0</a:t>
            </a:r>
          </a:p>
          <a:p>
            <a:r>
              <a:t>- All issues resolved within SLA</a:t>
            </a:r>
          </a:p>
          <a:p/>
          <a:p>
            <a:r>
              <a:t>*Knowledge Transfer Sessions Delivered:*</a:t>
            </a:r>
          </a:p>
          <a:p/>
          <a:p>
            <a:r>
              <a:t>| Session | Date | Attendees | Duration | Recording |</a:t>
            </a:r>
          </a:p>
          <a:p>
            <a:r>
              <a:t>|---------|------|-----------|----------|-----------|</a:t>
            </a:r>
          </a:p>
          <a:p>
            <a:r>
              <a:t>| Data Scientist Workshop Day 1 | Week 5 | 10 scientists | 8 hours | Yes |</a:t>
            </a:r>
          </a:p>
          <a:p>
            <a:r>
              <a:t>| Data Scientist Workshop Day 2 | Week 5 | 10 scientists | 8 hours | Yes |</a:t>
            </a:r>
          </a:p>
          <a:p>
            <a:r>
              <a:t>| Admin Training | Week 6 | 3 IT staff | 8 hours | Yes |</a:t>
            </a:r>
          </a:p>
          <a:p>
            <a:r>
              <a:t>| Executive Overview | Week 6 | 5 leaders | 1 hour | Yes |</a:t>
            </a:r>
          </a:p>
          <a:p/>
          <a:p>
            <a:r>
              <a:t>**Steady State Support Model:**</a:t>
            </a:r>
          </a:p>
          <a:p/>
          <a:p>
            <a:r>
              <a:t>*Dell ProSupport Plus Coverage:*</a:t>
            </a:r>
          </a:p>
          <a:p>
            <a:r>
              <a:t>- 24x7 hardware support included</a:t>
            </a:r>
          </a:p>
          <a:p>
            <a:r>
              <a:t>- 4-hour on-site response for critical issues</a:t>
            </a:r>
          </a:p>
          <a:p>
            <a:r>
              <a:t>- Proactive monitoring and alerts</a:t>
            </a:r>
          </a:p>
          <a:p>
            <a:r>
              <a:t>- Parts replacement next business day</a:t>
            </a:r>
          </a:p>
          <a:p>
            <a:r>
              <a:t>- Annual on-site preventive maintenance</a:t>
            </a:r>
          </a:p>
          <a:p/>
          <a:p>
            <a:r>
              <a:t>*IT Team Responsibilities (L1/L2):*</a:t>
            </a:r>
          </a:p>
          <a:p>
            <a:r>
              <a:t>- Daily Datadog dashboard review</a:t>
            </a:r>
          </a:p>
          <a:p>
            <a:r>
              <a:t>- User account and quota management</a:t>
            </a:r>
          </a:p>
          <a:p>
            <a:r>
              <a:t>- Conda environment support</a:t>
            </a:r>
          </a:p>
          <a:p>
            <a:r>
              <a:t>- Basic troubleshooting per runbook</a:t>
            </a:r>
          </a:p>
          <a:p>
            <a:r>
              <a:t>- Monthly driver update assessment</a:t>
            </a:r>
          </a:p>
          <a:p/>
          <a:p>
            <a:r>
              <a:t>*When to Escalate to Dell (L3):*</a:t>
            </a:r>
          </a:p>
          <a:p>
            <a:r>
              <a:t>- Hardware failures (GPU, NVMe, motherboard)</a:t>
            </a:r>
          </a:p>
          <a:p>
            <a:r>
              <a:t>- BIOS or firmware issues</a:t>
            </a:r>
          </a:p>
          <a:p>
            <a:r>
              <a:t>- Performance degradation after updates</a:t>
            </a:r>
          </a:p>
          <a:p>
            <a:r>
              <a:t>- PowerScale hardware issues</a:t>
            </a:r>
          </a:p>
          <a:p/>
          <a:p>
            <a:r>
              <a:t>**Monthly Operational Tasks:**</a:t>
            </a:r>
          </a:p>
          <a:p>
            <a:r>
              <a:t>- Week 1: GPU driver update review (apply if tested)</a:t>
            </a:r>
          </a:p>
          <a:p>
            <a:r>
              <a:t>- Week 2: Storage capacity review and cleanup</a:t>
            </a:r>
          </a:p>
          <a:p>
            <a:r>
              <a:t>- Week 3: Performance trend analysis</a:t>
            </a:r>
          </a:p>
          <a:p>
            <a:r>
              <a:t>- Week 4: User satisfaction check-in</a:t>
            </a:r>
          </a:p>
          <a:p/>
          <a:p>
            <a:r>
              <a:t>**Quarterly Tasks:**</a:t>
            </a:r>
          </a:p>
          <a:p>
            <a:r>
              <a:t>- GPU benchmark validation (compare to baseline)</a:t>
            </a:r>
          </a:p>
          <a:p>
            <a:r>
              <a:t>- PowerScale health check and expansion planning</a:t>
            </a:r>
          </a:p>
          <a:p>
            <a:r>
              <a:t>- Security patch review and application</a:t>
            </a:r>
          </a:p>
          <a:p>
            <a:r>
              <a:t>- Capacity planning for team growth</a:t>
            </a:r>
          </a:p>
          <a:p/>
          <a:p>
            <a:r>
              <a:t>**Support Contact Information:**</a:t>
            </a:r>
          </a:p>
          <a:p/>
          <a:p>
            <a:r>
              <a:t>| Role | Contact | Availability |</a:t>
            </a:r>
          </a:p>
          <a:p>
            <a:r>
              <a:t>|------|---------|--------------|</a:t>
            </a:r>
          </a:p>
          <a:p>
            <a:r>
              <a:t>| Dell ProSupport Plus | 1-800-xxx-xxxx | 24x7 |</a:t>
            </a:r>
          </a:p>
          <a:p>
            <a:r>
              <a:t>| NVIDIA Enterprise | support.nvidia.com | Business hours |</a:t>
            </a:r>
          </a:p>
          <a:p>
            <a:r>
              <a:t>| Vendor Account Manager | am@vendor.com | Business hours |</a:t>
            </a:r>
          </a:p>
          <a:p>
            <a:r>
              <a:t>| IT Help Desk | helpdesk@client.com | Business hours |</a:t>
            </a:r>
          </a:p>
          <a:p/>
          <a:p>
            <a:r>
              <a:t>*Transition:*</a:t>
            </a:r>
          </a:p>
          <a:p>
            <a:r>
              <a:t>"Let me acknowledge the team that made this possible..."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*Acknowledgments - Recognize Key Contributors:*</a:t>
            </a:r>
          </a:p>
          <a:p/>
          <a:p>
            <a:r>
              <a:t>**Client Team Recognition:**</a:t>
            </a:r>
          </a:p>
          <a:p/>
          <a:p>
            <a:r>
              <a:t>*Executive Sponsor - [Name]:*</a:t>
            </a:r>
          </a:p>
          <a:p>
            <a:r>
              <a:t>- Championed the project and secured capital investment</a:t>
            </a:r>
          </a:p>
          <a:p>
            <a:r>
              <a:t>- Approved hardware specifications and procurement</a:t>
            </a:r>
          </a:p>
          <a:p>
            <a:r>
              <a:t>- Removed blockers when electrical work delayed</a:t>
            </a:r>
          </a:p>
          <a:p>
            <a:r>
              <a:t>- Key decision: Approved tower vs rack configuration</a:t>
            </a:r>
          </a:p>
          <a:p/>
          <a:p>
            <a:r>
              <a:t>*IT Infrastructure Lead - [Name]:*</a:t>
            </a:r>
          </a:p>
          <a:p>
            <a:r>
              <a:t>- Coordinated data center space and power</a:t>
            </a:r>
          </a:p>
          <a:p>
            <a:r>
              <a:t>- Managed network VLAN configuration</a:t>
            </a:r>
          </a:p>
          <a:p>
            <a:r>
              <a:t>- Validated PowerScale NAS integration</a:t>
            </a:r>
          </a:p>
          <a:p>
            <a:r>
              <a:t>- Knowledge transfer recipient and future owner</a:t>
            </a:r>
          </a:p>
          <a:p/>
          <a:p>
            <a:r>
              <a:t>*Data Science Lead - [Name]:*</a:t>
            </a:r>
          </a:p>
          <a:p>
            <a:r>
              <a:t>- Defined workload requirements and benchmarks</a:t>
            </a:r>
          </a:p>
          <a:p>
            <a:r>
              <a:t>- Provided test datasets for validation</a:t>
            </a:r>
          </a:p>
          <a:p>
            <a:r>
              <a:t>- UAT coordination and sign-off</a:t>
            </a:r>
          </a:p>
          <a:p>
            <a:r>
              <a:t>- User training logistics</a:t>
            </a:r>
          </a:p>
          <a:p/>
          <a:p>
            <a:r>
              <a:t>*Data Science Team:*</a:t>
            </a:r>
          </a:p>
          <a:p>
            <a:r>
              <a:t>- Participated in all validation testing</a:t>
            </a:r>
          </a:p>
          <a:p>
            <a:r>
              <a:t>- Provided feedback during pilot workloads</a:t>
            </a:r>
          </a:p>
          <a:p>
            <a:r>
              <a:t>- Achieved 100% adoption within 2 weeks</a:t>
            </a:r>
          </a:p>
          <a:p>
            <a:r>
              <a:t>- Reporting significant productivity improvements</a:t>
            </a:r>
          </a:p>
          <a:p/>
          <a:p>
            <a:r>
              <a:t>**Vendor Team Recognition:**</a:t>
            </a:r>
          </a:p>
          <a:p/>
          <a:p>
            <a:r>
              <a:t>*Project Manager - [Name]:*</a:t>
            </a:r>
          </a:p>
          <a:p>
            <a:r>
              <a:t>- Overall delivery accountability</a:t>
            </a:r>
          </a:p>
          <a:p>
            <a:r>
              <a:t>- Stakeholder communication</a:t>
            </a:r>
          </a:p>
          <a:p>
            <a:r>
              <a:t>- Risk and issue management</a:t>
            </a:r>
          </a:p>
          <a:p>
            <a:r>
              <a:t>- On-time, on-budget delivery</a:t>
            </a:r>
          </a:p>
          <a:p/>
          <a:p>
            <a:r>
              <a:t>*Solutions Architect - [Name]:*</a:t>
            </a:r>
          </a:p>
          <a:p>
            <a:r>
              <a:t>- Hardware specification and sizing</a:t>
            </a:r>
          </a:p>
          <a:p>
            <a:r>
              <a:t>- Network and storage architecture</a:t>
            </a:r>
          </a:p>
          <a:p>
            <a:r>
              <a:t>- CUDA/ML framework configuration</a:t>
            </a:r>
          </a:p>
          <a:p>
            <a:r>
              <a:t>- Technical documentation</a:t>
            </a:r>
          </a:p>
          <a:p/>
          <a:p>
            <a:r>
              <a:t>*Dell Specialist - [Name]:*</a:t>
            </a:r>
          </a:p>
          <a:p>
            <a:r>
              <a:t>- ProDeploy coordination</a:t>
            </a:r>
          </a:p>
          <a:p>
            <a:r>
              <a:t>- Hardware configuration optimization</a:t>
            </a:r>
          </a:p>
          <a:p>
            <a:r>
              <a:t>- ProSupport Plus setup</a:t>
            </a:r>
          </a:p>
          <a:p>
            <a:r>
              <a:t>- Warranty and support activation</a:t>
            </a:r>
          </a:p>
          <a:p/>
          <a:p>
            <a:r>
              <a:t>**Immediate Next Steps (This Week):**</a:t>
            </a:r>
          </a:p>
          <a:p/>
          <a:p>
            <a:r>
              <a:t>| Task | Owner | Due Date |</a:t>
            </a:r>
          </a:p>
          <a:p>
            <a:r>
              <a:t>|------|-------|----------|</a:t>
            </a:r>
          </a:p>
          <a:p>
            <a:r>
              <a:t>| Final documentation handover | PM | [Date] |</a:t>
            </a:r>
          </a:p>
          <a:p>
            <a:r>
              <a:t>| Archive project SharePoint site | PM | [Date] |</a:t>
            </a:r>
          </a:p>
          <a:p>
            <a:r>
              <a:t>| Close project tracking | PM | [Date] |</a:t>
            </a:r>
          </a:p>
          <a:p>
            <a:r>
              <a:t>| Update asset inventory | IT Lead | [Date] |</a:t>
            </a:r>
          </a:p>
          <a:p>
            <a:r>
              <a:t>| Confirm support contacts | IT Lead | [Date] |</a:t>
            </a:r>
          </a:p>
          <a:p/>
          <a:p>
            <a:r>
              <a:t>**30-Day Next Steps:**</a:t>
            </a:r>
          </a:p>
          <a:p/>
          <a:p>
            <a:r>
              <a:t>| Task | Owner | Due Date |</a:t>
            </a:r>
          </a:p>
          <a:p>
            <a:r>
              <a:t>|------|-------|----------|</a:t>
            </a:r>
          </a:p>
          <a:p>
            <a:r>
              <a:t>| First monthly performance review | IT Lead | [Date+30] |</a:t>
            </a:r>
          </a:p>
          <a:p>
            <a:r>
              <a:t>| GPU driver update assessment | IT Lead | [Date+30] |</a:t>
            </a:r>
          </a:p>
          <a:p>
            <a:r>
              <a:t>| User satisfaction survey | PM | [Date+30] |</a:t>
            </a:r>
          </a:p>
          <a:p>
            <a:r>
              <a:t>| Storage capacity review | IT Lead | [Date+30] |</a:t>
            </a:r>
          </a:p>
          <a:p>
            <a:r>
              <a:t>| Identify Phase 2 requirements | DS Lead | [Date+30] |</a:t>
            </a:r>
          </a:p>
          <a:p/>
          <a:p>
            <a:r>
              <a:t>**Phase 2 Considerations:**</a:t>
            </a:r>
          </a:p>
          <a:p/>
          <a:p>
            <a:r>
              <a:t>Based on initial success, recommended future enhancements:</a:t>
            </a:r>
          </a:p>
          <a:p/>
          <a:p>
            <a:r>
              <a:t>| Enhancement | Effort | Investment | Benefit |</a:t>
            </a:r>
          </a:p>
          <a:p>
            <a:r>
              <a:t>|-------------|--------|------------|---------|</a:t>
            </a:r>
          </a:p>
          <a:p>
            <a:r>
              <a:t>| Distributed Training | 2 weeks | $10K | 4-8x training speed |</a:t>
            </a:r>
          </a:p>
          <a:p>
            <a:r>
              <a:t>| MLflow Integration | 1 week | $5K | Experiment tracking |</a:t>
            </a:r>
          </a:p>
          <a:p>
            <a:r>
              <a:t>| Additional Workstations (5) | 3 weeks | $150K | Team growth support |</a:t>
            </a:r>
          </a:p>
          <a:p>
            <a:r>
              <a:t>| PowerScale Expansion (+100TB) | 1 week | $80K | Dataset growth |</a:t>
            </a:r>
          </a:p>
          <a:p/>
          <a:p>
            <a:r>
              <a:t>Recommendation: Start with distributed training as highest ROI enhancement</a:t>
            </a:r>
          </a:p>
          <a:p/>
          <a:p>
            <a:r>
              <a:t>*Transition:*</a:t>
            </a:r>
          </a:p>
          <a:p>
            <a:r>
              <a:t>"Thank you for your partnership on this project..."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*Closing and Q&amp;A Preparation:*</a:t>
            </a:r>
          </a:p>
          <a:p/>
          <a:p>
            <a:r>
              <a:t>**Closing Statement:**</a:t>
            </a:r>
          </a:p>
          <a:p>
            <a:r>
              <a:t>"Thank you for your partnership throughout this project. We've successfully transformed AI/ML computing from a cloud-dependent, costly operation into a sovereign, high-performance on-premises capability. The solution is exceeding our performance targets, the team is trained and productive, and you're already seeing significant cost savings.</a:t>
            </a:r>
          </a:p>
          <a:p/>
          <a:p>
            <a:r>
              <a:t>I want to open the floor for questions. We have [time] remaining."</a:t>
            </a:r>
          </a:p>
          <a:p/>
          <a:p>
            <a:r>
              <a:t>**Anticipated Questions and Prepared Answers:**</a:t>
            </a:r>
          </a:p>
          <a:p/>
          <a:p>
            <a:r>
              <a:t>*Q: What happens if a GPU fails?*</a:t>
            </a:r>
          </a:p>
          <a:p>
            <a:r>
              <a:t>A: Dell ProSupport Plus provides 4-hour on-site response. We keep the workstation available for use with CPU-only workloads during repair. GPU replacement is typically same-day. Datadog alerts IT immediately on GPU failure.</a:t>
            </a:r>
          </a:p>
          <a:p/>
          <a:p>
            <a:r>
              <a:t>*Q: Can we add more workstations?*</a:t>
            </a:r>
          </a:p>
          <a:p>
            <a:r>
              <a:t>A: Yes, the architecture supports 25+ workstations. Each additional Precision 7960 costs approximately $30K. PowerScale can serve up to 50 concurrent workstations. Lead time is 2-3 weeks for procurement plus 1 week for setup.</a:t>
            </a:r>
          </a:p>
          <a:p/>
          <a:p>
            <a:r>
              <a:t>*Q: What about GPU driver updates?*</a:t>
            </a:r>
          </a:p>
          <a:p>
            <a:r>
              <a:t>A: We recommend monthly driver reviews but only apply updates after testing on one workstation first. The runbook includes the update procedure. CUDA version should remain at 12.2 until PyTorch/TensorFlow certify newer versions.</a:t>
            </a:r>
          </a:p>
          <a:p/>
          <a:p>
            <a:r>
              <a:t>*Q: How do we handle data scientist onboarding?*</a:t>
            </a:r>
          </a:p>
          <a:p>
            <a:r>
              <a:t>A: The Implementation Guide includes the new user setup procedure. IT creates their Ubuntu account, PowerScale quota, and Datadog access. The training materials include self-paced guides for CUDA and ML frameworks.</a:t>
            </a:r>
          </a:p>
          <a:p/>
          <a:p>
            <a:r>
              <a:t>*Q: What if we need more storage?*</a:t>
            </a:r>
          </a:p>
          <a:p>
            <a:r>
              <a:t>A: PowerScale F600 can expand to 500TB+ by adding additional nodes. Current usage is 45TB of 100TB. Recommend planning expansion when reaching 80TB. Typical expansion takes 1-2 weeks.</a:t>
            </a:r>
          </a:p>
          <a:p/>
          <a:p>
            <a:r>
              <a:t>*Q: Can we do multi-GPU training across workstations?*</a:t>
            </a:r>
          </a:p>
          <a:p>
            <a:r>
              <a:t>A: Not currently configured, but possible with Horovod or PyTorch Distributed. This is a Phase 2 recommendation. Requires 10GbE connectivity (already in place) and software configuration (~2 weeks effort).</a:t>
            </a:r>
          </a:p>
          <a:p/>
          <a:p>
            <a:r>
              <a:t>*Q: What's the power consumption?*</a:t>
            </a:r>
          </a:p>
          <a:p>
            <a:r>
              <a:t>A: Each workstation draws approximately 1,200W under full GPU load. Total infrastructure: ~15kW including PowerScale. Annual power cost: approximately $15,000 at $0.12/kWh.</a:t>
            </a:r>
          </a:p>
          <a:p/>
          <a:p>
            <a:r>
              <a:t>**Demo Offer:**</a:t>
            </a:r>
          </a:p>
          <a:p>
            <a:r>
              <a:t>"Would anyone like to see a live GPU benchmark or training demo? I can show the Datadog dashboards and a sample PyTorch training run."</a:t>
            </a:r>
          </a:p>
          <a:p/>
          <a:p>
            <a:r>
              <a:t>**Follow-Up Commitments:**</a:t>
            </a:r>
          </a:p>
          <a:p>
            <a:r>
              <a:t>- [ ] Send final presentation deck to all attendees</a:t>
            </a:r>
          </a:p>
          <a:p>
            <a:r>
              <a:t>- [ ] Distribute project summary one-pager for executives</a:t>
            </a:r>
          </a:p>
          <a:p>
            <a:r>
              <a:t>- [ ] Schedule 30-day performance review meeting</a:t>
            </a:r>
          </a:p>
          <a:p>
            <a:r>
              <a:t>- [ ] Send Phase 2 distributed training assessment</a:t>
            </a:r>
          </a:p>
          <a:p>
            <a:r>
              <a:t>- [ ] Provide Dell support contract details</a:t>
            </a:r>
          </a:p>
          <a:p/>
          <a:p>
            <a:r>
              <a:t>**Final Closing:**</a:t>
            </a:r>
          </a:p>
          <a:p>
            <a:r>
              <a:t>"Thank you again for your trust in our team. This project demonstrates the value of on-premises AI infrastructure for cost reduction and data sovereignty. We look forward to continuing this partnership in Phase 2 and beyond.</a:t>
            </a:r>
          </a:p>
          <a:p/>
          <a:p>
            <a:r>
              <a:t>Please don't hesitate to reach out to me or [Account Manager] if any questions come up. Have a great [rest of your day/afternoon]."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31079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21470" y="678433"/>
            <a:ext cx="4228856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Project Closeout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Dell Precision AI Workstation Infrastructure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Project Manager | November 27,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Executive Summary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Duration:</a:t>
            </a:r>
            <a:r>
              <a:t> 6 weeks, on schedule</a:t>
            </a:r>
          </a:p>
          <a:p>
            <a:pPr/>
            <a:r>
              <a:rPr b="1"/>
              <a:t>Budget:</a:t>
            </a:r>
            <a:r>
              <a:t> $306,135 delivered on budget</a:t>
            </a:r>
          </a:p>
          <a:p>
            <a:pPr/>
            <a:r>
              <a:rPr b="1"/>
              <a:t>Go-Live Date:</a:t>
            </a:r>
            <a:r>
              <a:t> Week 6 as planned</a:t>
            </a:r>
          </a:p>
          <a:p>
            <a:pPr/>
            <a:r>
              <a:rPr b="1"/>
              <a:t>Quality:</a:t>
            </a:r>
            <a:r>
              <a:t> Zero critical issues at launch</a:t>
            </a:r>
          </a:p>
          <a:p>
            <a:pPr/>
            <a:r>
              <a:rPr b="1"/>
              <a:t>Cost Reduction:</a:t>
            </a:r>
            <a:r>
              <a:t> 65% vs cloud GPU baseline</a:t>
            </a:r>
          </a:p>
          <a:p>
            <a:pPr/>
            <a:r>
              <a:rPr b="1"/>
              <a:t>GPU Utilization:</a:t>
            </a:r>
            <a:r>
              <a:t> 92% average (target: 80%)</a:t>
            </a:r>
          </a:p>
          <a:p>
            <a:pPr/>
            <a:r>
              <a:rPr b="1"/>
              <a:t>ROI Status:</a:t>
            </a:r>
            <a:r>
              <a:t> On track for 4-month payback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Dell Precision AI Workstation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Architecture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Compute Layer</a:t>
            </a:r>
          </a:p>
          <a:p>
            <a:pPr lvl="1"/>
            <a:r>
              <a:t>10x Dell Precision 7960 workstations</a:t>
            </a:r>
          </a:p>
          <a:p>
            <a:pPr lvl="1"/>
            <a:r>
              <a:t>NVIDIA RTX A6000 48GB GPUs</a:t>
            </a:r>
          </a:p>
          <a:p>
            <a:pPr lvl="1"/>
            <a:r>
              <a:t>Dual Xeon Gold, 512GB RAM each</a:t>
            </a:r>
          </a:p>
          <a:p>
            <a:pPr/>
            <a:r>
              <a:rPr b="1"/>
              <a:t>Storage Layer</a:t>
            </a:r>
          </a:p>
          <a:p>
            <a:pPr lvl="1"/>
            <a:r>
              <a:t>Dell PowerScale F600 100TB NAS</a:t>
            </a:r>
          </a:p>
          <a:p>
            <a:pPr lvl="1"/>
            <a:r>
              <a:t>10GbE NFS connectivity</a:t>
            </a:r>
          </a:p>
          <a:p>
            <a:pPr lvl="1"/>
            <a:r>
              <a:t>Tiered storage with snapshots</a:t>
            </a:r>
          </a:p>
          <a:p>
            <a:pPr/>
            <a:r>
              <a:rPr b="1"/>
              <a:t>Software Stack</a:t>
            </a:r>
          </a:p>
          <a:p>
            <a:pPr lvl="1"/>
            <a:r>
              <a:t>Ubuntu 22.04 LTS, CUDA 12.2</a:t>
            </a:r>
          </a:p>
          <a:p>
            <a:pPr lvl="1"/>
            <a:r>
              <a:t>PyTorch, TensorFlow, Jupyter Lab</a:t>
            </a:r>
          </a:p>
          <a:p>
            <a:pPr lvl="1"/>
            <a:r>
              <a:t>Datadog monitoring and alerting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Dell Precision AI Workstation Infrastructure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Deliverables Inventory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3919919"/>
                <a:gridCol w="2177733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Location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Solution Architecture Document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Hardware specs, network design, data flows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`/delivery/detailed-design.docx`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Implementation Guide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Step-by-step deployment with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`/delivery/implementation-guide.docx`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Project Plan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Timeline, milestones, RACI, communications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`/delivery/project-plan.xlsx`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Test Plan &amp; Results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GPU benchmarks, storage validation, UAT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`/delivery/test-plan.xlsx`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Configuration Guide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Environment parameters and settings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`/delivery/configuration.xlsx`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Training Materials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CUDA optimization, GPU profiling guides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`/delivery/training/`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Ansible Playbooks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Automated workstation provisioning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`/delivery/scripts/ansible/`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Monitoring Dashboards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Datadog GPU and storage dashboards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Datadog account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Dell Precision AI Workstation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Quality &amp; Performance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GPU Performance</a:t>
            </a:r>
          </a:p>
          <a:p>
            <a:pPr lvl="1"/>
            <a:r>
              <a:t>GPU Utilization: 92% (target: 80%)</a:t>
            </a:r>
          </a:p>
          <a:p>
            <a:pPr lvl="1"/>
            <a:r>
              <a:t>CUDA Compute: 45 TFLOPS FP32</a:t>
            </a:r>
          </a:p>
          <a:p>
            <a:pPr lvl="1"/>
            <a:r>
              <a:t>GPU Memory: 48GB fully available</a:t>
            </a:r>
          </a:p>
          <a:p>
            <a:pPr lvl="1"/>
            <a:r>
              <a:t>Multi-GPU: NVLink ready for future</a:t>
            </a:r>
          </a:p>
          <a:p>
            <a:pPr lvl="1"/>
            <a:r>
              <a:t>Temperature: 72C under full load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Storage Performance</a:t>
            </a:r>
          </a:p>
          <a:p>
            <a:pPr lvl="1"/>
            <a:r>
              <a:t>Local NVMe: 7,100 MB/s read achieved</a:t>
            </a:r>
          </a:p>
          <a:p>
            <a:pPr lvl="1"/>
            <a:r>
              <a:t>PowerScale: 1.2 GB/s aggregate</a:t>
            </a:r>
          </a:p>
          <a:p>
            <a:pPr lvl="1"/>
            <a:r>
              <a:t>Dataset Load: 5TB in 75 minutes</a:t>
            </a:r>
          </a:p>
          <a:p>
            <a:pPr lvl="1"/>
            <a:r>
              <a:t>Snapshot Recovery: &lt; 5 minutes</a:t>
            </a:r>
          </a:p>
          <a:p>
            <a:pPr lvl="1"/>
            <a:r>
              <a:t>Capacity Used: 45TB of 100TB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Dell Precision AI Workstation Infrastructure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Benefits Realized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1742186"/>
                <a:gridCol w="1742186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SOW 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Business 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Cloud Cost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60-70%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65% Year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$389K Year 1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Training Time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50% faster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55% faster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2x more experiments per week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Sovereignty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100% on-prem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100% on-prem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Compliance requirements met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GPU Utilization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80% average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92% average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Maximum ROI from hardware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Team Capacity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scientists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equipped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All team members productive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Scalability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Future-ready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25+ capacity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supports growth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Dell Precision AI Workstation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Lessons Learned &amp; Recommendations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Worked Well</a:t>
            </a:r>
          </a:p>
          <a:p>
            <a:pPr lvl="1"/>
            <a:r>
              <a:t>Dell ProDeploy accelerated setup</a:t>
            </a:r>
          </a:p>
          <a:p>
            <a:pPr lvl="1"/>
            <a:r>
              <a:t>CUDA version standardization</a:t>
            </a:r>
          </a:p>
          <a:p>
            <a:pPr lvl="1"/>
            <a:r>
              <a:t>Conda environment isolation</a:t>
            </a:r>
          </a:p>
          <a:p>
            <a:pPr lvl="1"/>
            <a:r>
              <a:t>Datadog GPU monitoring</a:t>
            </a:r>
          </a:p>
          <a:p>
            <a:pPr lvl="1"/>
            <a:r>
              <a:t>Weekly stakeholder demos</a:t>
            </a:r>
          </a:p>
          <a:p>
            <a:pPr/>
            <a:r>
              <a:rPr b="1"/>
              <a:t>Challenges Overcome</a:t>
            </a:r>
          </a:p>
          <a:p>
            <a:pPr lvl="1"/>
            <a:r>
              <a:t>Power circuit installation timing</a:t>
            </a:r>
          </a:p>
          <a:p>
            <a:pPr lvl="1"/>
            <a:r>
              <a:t>Driver compatibility testing</a:t>
            </a:r>
          </a:p>
          <a:p>
            <a:pPr lvl="1"/>
            <a:r>
              <a:t>NFS mount optimization</a:t>
            </a:r>
          </a:p>
          <a:p>
            <a:pPr lvl="1"/>
            <a:r>
              <a:t>User quota configuration</a:t>
            </a:r>
          </a:p>
          <a:p>
            <a:pPr lvl="1"/>
            <a:r>
              <a:t>Monitoring agent tuning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Recommendations</a:t>
            </a:r>
          </a:p>
          <a:p>
            <a:pPr lvl="1"/>
            <a:r>
              <a:t>Consider distributed training (Horovod)</a:t>
            </a:r>
          </a:p>
          <a:p>
            <a:pPr lvl="1"/>
            <a:r>
              <a:t>Implement MLOps pipeline (MLflow)</a:t>
            </a:r>
          </a:p>
          <a:p>
            <a:pPr lvl="1"/>
            <a:r>
              <a:t>Add GPU cluster scheduling</a:t>
            </a:r>
          </a:p>
          <a:p>
            <a:pPr lvl="1"/>
            <a:r>
              <a:t>Plan PowerScale expansion</a:t>
            </a:r>
          </a:p>
          <a:p>
            <a:pPr lvl="1"/>
            <a:r>
              <a:t>Quarterly GPU driver updates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Dell Precision AI Workstation Infrastructure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Support Transition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Hypercare Complete (6 weeks)</a:t>
            </a:r>
          </a:p>
          <a:p>
            <a:pPr lvl="1"/>
            <a:r>
              <a:t>Daily health checks completed</a:t>
            </a:r>
          </a:p>
          <a:p>
            <a:pPr lvl="1"/>
            <a:r>
              <a:t>0 critical issues identified</a:t>
            </a:r>
          </a:p>
          <a:p>
            <a:pPr lvl="1"/>
            <a:r>
              <a:t>All training sessions delivered</a:t>
            </a:r>
          </a:p>
          <a:p>
            <a:pPr lvl="1"/>
            <a:r>
              <a:t>Runbook procedures validated</a:t>
            </a:r>
          </a:p>
          <a:p>
            <a:pPr lvl="1"/>
            <a:r>
              <a:t>Team certified and productive</a:t>
            </a:r>
          </a:p>
          <a:p>
            <a:pPr/>
            <a:r>
              <a:rPr b="1"/>
              <a:t>Steady State Support</a:t>
            </a:r>
          </a:p>
          <a:p>
            <a:pPr lvl="1"/>
            <a:r>
              <a:t>Dell ProSupport Plus 24x7 coverage</a:t>
            </a:r>
          </a:p>
          <a:p>
            <a:pPr lvl="1"/>
            <a:r>
              <a:t>Monthly driver update reviews</a:t>
            </a:r>
          </a:p>
          <a:p>
            <a:pPr lvl="1"/>
            <a:r>
              <a:t>Quarterly performance assessments</a:t>
            </a:r>
          </a:p>
          <a:p>
            <a:pPr lvl="1"/>
            <a:r>
              <a:t>Datadog automated alerting</a:t>
            </a:r>
          </a:p>
          <a:p>
            <a:pPr lvl="1"/>
            <a:r>
              <a:t>PowerScale capacity monitoring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Escalation Path</a:t>
            </a:r>
          </a:p>
          <a:p>
            <a:pPr lvl="1"/>
            <a:r>
              <a:t>L1: Internal IT Help Desk</a:t>
            </a:r>
          </a:p>
          <a:p>
            <a:pPr lvl="1"/>
            <a:r>
              <a:t>L2: IT Infrastructure Team</a:t>
            </a:r>
          </a:p>
          <a:p>
            <a:pPr lvl="1"/>
            <a:r>
              <a:t>L3: Dell ProSupport Plus</a:t>
            </a:r>
          </a:p>
          <a:p>
            <a:pPr lvl="1"/>
            <a:r>
              <a:t>GPU Issues: NVIDIA Enterprise</a:t>
            </a:r>
          </a:p>
          <a:p>
            <a:pPr lvl="1"/>
            <a:r>
              <a:t>Account: Vendor Account Manager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Dell Precision AI Workstation Infrastructure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Acknowledgments &amp; 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Team:</a:t>
            </a:r>
            <a:r>
              <a:t> Executive sponsor, IT infrastructure, data science team</a:t>
            </a:r>
          </a:p>
          <a:p>
            <a:pPr/>
            <a:r>
              <a:rPr b="1"/>
              <a:t>Vendor Team:</a:t>
            </a:r>
            <a:r>
              <a:t> Project manager, solutions architect, Dell specialist</a:t>
            </a:r>
          </a:p>
          <a:p>
            <a:pPr/>
            <a:r>
              <a:rPr b="1"/>
              <a:t>Special Recognition:</a:t>
            </a:r>
            <a:r>
              <a:t> IT team for data center preparation and facilities coordination</a:t>
            </a:r>
          </a:p>
          <a:p>
            <a:pPr/>
            <a:r>
              <a:rPr b="1"/>
              <a:t>This Week:</a:t>
            </a:r>
            <a:r>
              <a:t> Final documentation handover, archive project artifacts</a:t>
            </a:r>
          </a:p>
          <a:p>
            <a:pPr/>
            <a:r>
              <a:rPr b="1"/>
              <a:t>Next 30 Days:</a:t>
            </a:r>
            <a:r>
              <a:t> First monthly performance review, driver update assessment</a:t>
            </a:r>
          </a:p>
          <a:p>
            <a:pPr/>
            <a:r>
              <a:rPr b="1"/>
              <a:t>Next Quarter:</a:t>
            </a:r>
            <a:r>
              <a:t> Phase 2 planning for distributed training capabilities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Dell Precision AI Workstation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86</cp:revision>
  <dcterms:created xsi:type="dcterms:W3CDTF">2025-11-01T21:16:10Z</dcterms:created>
  <dcterms:modified xsi:type="dcterms:W3CDTF">2025-11-27T20:15:42Z</dcterms:modified>
</cp:coreProperties>
</file>