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Dell PowerSwitch Datacenter Networking implementation. This project has transformed [Client Name]'s network infrastructure from legacy Cisco Nexus to a modern BGP/EVPN-VXLAN spine-leaf fabric.</a:t>
            </a:r>
          </a:p>
          <a:p/>
          <a:p>
            <a:r>
              <a:t>*Key Talking Points:*</a:t>
            </a:r>
          </a:p>
          <a:p/>
          <a:p>
            <a:r>
              <a:t>**Project Duration - 6 Weeks:**</a:t>
            </a:r>
          </a:p>
          <a:p>
            <a:r>
              <a:t>- Phase 1 (Weeks 1-2): Assessment, design, and procurement</a:t>
            </a:r>
          </a:p>
          <a:p>
            <a:r>
              <a:t>- Phase 2 (Weeks 3-4): Spine deployment and core configuration</a:t>
            </a:r>
          </a:p>
          <a:p>
            <a:r>
              <a:t>- Phase 3 (Weeks 5-6): Leaf rollout and rack migrations</a:t>
            </a:r>
          </a:p>
          <a:p>
            <a:r>
              <a:t>- All milestones achieved on schedule</a:t>
            </a:r>
          </a:p>
          <a:p/>
          <a:p>
            <a:r>
              <a:t>**Infrastructure Delivered:**</a:t>
            </a:r>
          </a:p>
          <a:p>
            <a:r>
              <a:t>- 4 Dell Z9432F-ON spine switches (100GbE)</a:t>
            </a:r>
          </a:p>
          <a:p>
            <a:r>
              <a:t>- 40 Dell S5248F-ON leaf switches (25GbE ToR)</a:t>
            </a:r>
          </a:p>
          <a:p>
            <a:r>
              <a:t>- BGP underlay with EVPN-VXLAN overlay</a:t>
            </a:r>
          </a:p>
          <a:p>
            <a:r>
              <a:t>- Dell OS10 Enterprise with automation</a:t>
            </a:r>
          </a:p>
          <a:p>
            <a:r>
              <a:t>- 1920 server ports across 40 racks</a:t>
            </a:r>
          </a:p>
          <a:p/>
          <a:p>
            <a:r>
              <a:t>**Performance Achievement:**</a:t>
            </a:r>
          </a:p>
          <a:p>
            <a:r>
              <a:t>- 1.6Tbps aggregate fabric throughput</a:t>
            </a:r>
          </a:p>
          <a:p>
            <a:r>
              <a:t>- &lt;2 microsecond east-west latency</a:t>
            </a:r>
          </a:p>
          <a:p>
            <a:r>
              <a:t>- Zero packet loss under full load</a:t>
            </a:r>
          </a:p>
          <a:p>
            <a:r>
              <a:t>- TACACS+ centralized authentication</a:t>
            </a:r>
          </a:p>
          <a:p/>
          <a:p>
            <a:r>
              <a:t>*Transition:*</a:t>
            </a:r>
          </a:p>
          <a:p>
            <a:r>
              <a:t>"Let me walk you through the network architecture..."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Overview:*</a:t>
            </a:r>
          </a:p>
          <a:p/>
          <a:p>
            <a:r>
              <a:t>**Spine Layer - Z9432F-ON:**</a:t>
            </a:r>
          </a:p>
          <a:p>
            <a:r>
              <a:t>- 4 spine switches for N+1 redundancy</a:t>
            </a:r>
          </a:p>
          <a:p>
            <a:r>
              <a:t>- 32x 400GbE QSFP-DD ports per switch</a:t>
            </a:r>
          </a:p>
          <a:p>
            <a:r>
              <a:t>- 128 ports total for leaf connectivity</a:t>
            </a:r>
          </a:p>
          <a:p>
            <a:r>
              <a:t>- Full mesh with 4-way ECMP</a:t>
            </a:r>
          </a:p>
          <a:p>
            <a:r>
              <a:t>- Non-blocking switching fabric</a:t>
            </a:r>
          </a:p>
          <a:p/>
          <a:p>
            <a:r>
              <a:t>**Leaf Layer - S5248F-ON:**</a:t>
            </a:r>
          </a:p>
          <a:p>
            <a:r>
              <a:t>- 40 ToR switches (one per rack)</a:t>
            </a:r>
          </a:p>
          <a:p>
            <a:r>
              <a:t>- 48x 25GbE SFP28 server ports</a:t>
            </a:r>
          </a:p>
          <a:p>
            <a:r>
              <a:t>- 6x 100GbE QSFP28 uplinks to spine</a:t>
            </a:r>
          </a:p>
          <a:p>
            <a:r>
              <a:t>- Dell OS10 Enterprise with ZTP</a:t>
            </a:r>
          </a:p>
          <a:p>
            <a:r>
              <a:t>- BGP ASN per leaf for routing</a:t>
            </a:r>
          </a:p>
          <a:p/>
          <a:p>
            <a:r>
              <a:t>**Overlay Design - EVPN-VXLAN:**</a:t>
            </a:r>
          </a:p>
          <a:p>
            <a:r>
              <a:t>- BGP underlay for reachability</a:t>
            </a:r>
          </a:p>
          <a:p>
            <a:r>
              <a:t>- EVPN for MAC/IP advertisement</a:t>
            </a:r>
          </a:p>
          <a:p>
            <a:r>
              <a:t>- VXLAN for L2 extension across racks</a:t>
            </a:r>
          </a:p>
          <a:p>
            <a:r>
              <a:t>- Type-5 routes for L3 VPN services</a:t>
            </a:r>
          </a:p>
          <a:p>
            <a:r>
              <a:t>- Symmetric IRB for routing</a:t>
            </a:r>
          </a:p>
          <a:p/>
          <a:p>
            <a:r>
              <a:t>**Network Automation:**</a:t>
            </a:r>
          </a:p>
          <a:p>
            <a:r>
              <a:t>- Zero Touch Provisioning (ZTP) enabled</a:t>
            </a:r>
          </a:p>
          <a:p>
            <a:r>
              <a:t>- Ansible playbooks for configuration</a:t>
            </a:r>
          </a:p>
          <a:p>
            <a:r>
              <a:t>- TACACS+ for centralized AAA</a:t>
            </a:r>
          </a:p>
          <a:p>
            <a:r>
              <a:t>- SNMP and streaming telemetry</a:t>
            </a:r>
          </a:p>
          <a:p/>
          <a:p>
            <a:r>
              <a:t>*Transition:*</a:t>
            </a:r>
          </a:p>
          <a:p>
            <a:r>
              <a:t>"Now let me show you the complete deliverables..."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Dive:*</a:t>
            </a:r>
          </a:p>
          <a:p/>
          <a:p>
            <a:r>
              <a:t>**1. Solution Architecture Document:**</a:t>
            </a:r>
          </a:p>
          <a:p>
            <a:r>
              <a:t>- Physical and logical topology diagrams</a:t>
            </a:r>
          </a:p>
          <a:p>
            <a:r>
              <a:t>- BGP underlay design with ASN scheme</a:t>
            </a:r>
          </a:p>
          <a:p>
            <a:r>
              <a:t>- EVPN-VXLAN overlay configuration</a:t>
            </a:r>
          </a:p>
          <a:p>
            <a:r>
              <a:t>- IP addressing and VLAN mapping</a:t>
            </a:r>
          </a:p>
          <a:p>
            <a:r>
              <a:t>- Security zones and ACL policies</a:t>
            </a:r>
          </a:p>
          <a:p/>
          <a:p>
            <a:r>
              <a:t>**2. Ansible Playbooks:**</a:t>
            </a:r>
          </a:p>
          <a:p>
            <a:r>
              <a:t>- Switch provisioning automation</a:t>
            </a:r>
          </a:p>
          <a:p>
            <a:r>
              <a:t>- BGP neighbor configuration</a:t>
            </a:r>
          </a:p>
          <a:p>
            <a:r>
              <a:t>- VXLAN VNI deployment</a:t>
            </a:r>
          </a:p>
          <a:p>
            <a:r>
              <a:t>- VLAN and VRF creation</a:t>
            </a:r>
          </a:p>
          <a:p>
            <a:r>
              <a:t>- Configuration backup and restore</a:t>
            </a:r>
          </a:p>
          <a:p/>
          <a:p>
            <a:r>
              <a:t>**3. Admin Operations Guide:**</a:t>
            </a:r>
          </a:p>
          <a:p>
            <a:r>
              <a:t>- Switch replacement procedures</a:t>
            </a:r>
          </a:p>
          <a:p>
            <a:r>
              <a:t>- BGP troubleshooting commands</a:t>
            </a:r>
          </a:p>
          <a:p>
            <a:r>
              <a:t>- EVPN route verification</a:t>
            </a:r>
          </a:p>
          <a:p>
            <a:r>
              <a:t>- Fabric expansion steps</a:t>
            </a:r>
          </a:p>
          <a:p>
            <a:r>
              <a:t>- Firmware upgrade process</a:t>
            </a:r>
          </a:p>
          <a:p/>
          <a:p>
            <a:r>
              <a:t>**4. Training Delivered:**</a:t>
            </a:r>
          </a:p>
          <a:p>
            <a:r>
              <a:t>| Session | Attendees | Duration |</a:t>
            </a:r>
          </a:p>
          <a:p>
            <a:r>
              <a:t>|---------|-----------|----------|</a:t>
            </a:r>
          </a:p>
          <a:p>
            <a:r>
              <a:t>| OS10 Administration | 4 NetOps | 8 hours |</a:t>
            </a:r>
          </a:p>
          <a:p>
            <a:r>
              <a:t>| BGP/EVPN Deep Dive | 3 architects | 8 hours |</a:t>
            </a:r>
          </a:p>
          <a:p>
            <a:r>
              <a:t>| Ansible Automation | 4 engineers | 4 hours |</a:t>
            </a:r>
          </a:p>
          <a:p>
            <a:r>
              <a:t>| Troubleshooting Workshop | 5 NetOps | 4 hours |</a:t>
            </a:r>
          </a:p>
          <a:p/>
          <a:p>
            <a:r>
              <a:t>*Transition:*</a:t>
            </a:r>
          </a:p>
          <a:p>
            <a:r>
              <a:t>"Let's look at network performance..."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*Performance Deep Dive:*</a:t>
            </a:r>
          </a:p>
          <a:p/>
          <a:p>
            <a:r>
              <a:t>**Throughput Performance:**</a:t>
            </a:r>
          </a:p>
          <a:p/>
          <a:p>
            <a:r>
              <a:t>*Aggregate Bandwidth - 1.6Tbps:*</a:t>
            </a:r>
          </a:p>
          <a:p>
            <a:r>
              <a:t>- 4 spine x 32 ports x 400GbE = 51.2Tbps raw</a:t>
            </a:r>
          </a:p>
          <a:p>
            <a:r>
              <a:t>- Leaf uplinks: 40 x 6 x 100GbE = 24Tbps</a:t>
            </a:r>
          </a:p>
          <a:p>
            <a:r>
              <a:t>- Practical capacity: 1.6Tbps sustained</a:t>
            </a:r>
          </a:p>
          <a:p>
            <a:r>
              <a:t>- Headroom for 3x growth</a:t>
            </a:r>
          </a:p>
          <a:p/>
          <a:p>
            <a:r>
              <a:t>*Per-Server Bandwidth:*</a:t>
            </a:r>
          </a:p>
          <a:p>
            <a:r>
              <a:t>- 25GbE per server NIC</a:t>
            </a:r>
          </a:p>
          <a:p>
            <a:r>
              <a:t>- Line rate with jumbo frames</a:t>
            </a:r>
          </a:p>
          <a:p>
            <a:r>
              <a:t>- No congestion at ToR level</a:t>
            </a:r>
          </a:p>
          <a:p>
            <a:r>
              <a:t>- Storage and compute traffic isolated</a:t>
            </a:r>
          </a:p>
          <a:p/>
          <a:p>
            <a:r>
              <a:t>*Oversubscription:*</a:t>
            </a:r>
          </a:p>
          <a:p>
            <a:r>
              <a:t>- Designed for 3:1 ratio</a:t>
            </a:r>
          </a:p>
          <a:p>
            <a:r>
              <a:t>- 48 x 25GbE down = 1.2Tbps</a:t>
            </a:r>
          </a:p>
          <a:p>
            <a:r>
              <a:t>- 6 x 100GbE up = 600Gbps</a:t>
            </a:r>
          </a:p>
          <a:p>
            <a:r>
              <a:t>- Acceptable for enterprise workloads</a:t>
            </a:r>
          </a:p>
          <a:p/>
          <a:p>
            <a:r>
              <a:t>**Latency &amp; Reliability:**</a:t>
            </a:r>
          </a:p>
          <a:p/>
          <a:p>
            <a:r>
              <a:t>*East-West Latency - 1.8 Microseconds:*</a:t>
            </a:r>
          </a:p>
          <a:p>
            <a:r>
              <a:t>- Single hop through spine</a:t>
            </a:r>
          </a:p>
          <a:p>
            <a:r>
              <a:t>- Cut-through switching enabled</a:t>
            </a:r>
          </a:p>
          <a:p>
            <a:r>
              <a:t>- No queuing delay under load</a:t>
            </a:r>
          </a:p>
          <a:p>
            <a:r>
              <a:t>- Meets HPC requirements</a:t>
            </a:r>
          </a:p>
          <a:p/>
          <a:p>
            <a:r>
              <a:t>*Failover Performance:*</a:t>
            </a:r>
          </a:p>
          <a:p>
            <a:r>
              <a:t>- BGP BFD with 50ms detection</a:t>
            </a:r>
          </a:p>
          <a:p>
            <a:r>
              <a:t>- ECMP reconvergence &lt;50ms</a:t>
            </a:r>
          </a:p>
          <a:p>
            <a:r>
              <a:t>- Link failure: traffic reroutes instantly</a:t>
            </a:r>
          </a:p>
          <a:p>
            <a:r>
              <a:t>- Zero application impact during tests</a:t>
            </a:r>
          </a:p>
          <a:p/>
          <a:p>
            <a:r>
              <a:t>**Comparison to Legacy Nexus:**</a:t>
            </a:r>
          </a:p>
          <a:p>
            <a:r>
              <a:t>| Metric | Nexus 9K | PowerSwitch | Improvement |</a:t>
            </a:r>
          </a:p>
          <a:p>
            <a:r>
              <a:t>|--------|----------|-------------|-------------|</a:t>
            </a:r>
          </a:p>
          <a:p>
            <a:r>
              <a:t>| Latency | 4us | 1.8us | 55% lower |</a:t>
            </a:r>
          </a:p>
          <a:p>
            <a:r>
              <a:t>| Port Cost | $500/port | $300/port | 40% savings |</a:t>
            </a:r>
          </a:p>
          <a:p>
            <a:r>
              <a:t>| Power | 2.1kW/switch | 1.2kW | 43% reduction |</a:t>
            </a:r>
          </a:p>
          <a:p/>
          <a:p>
            <a:r>
              <a:t>*Transition:*</a:t>
            </a:r>
          </a:p>
          <a:p>
            <a:r>
              <a:t>"These improvements deliver significant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Analysis:*</a:t>
            </a:r>
          </a:p>
          <a:p/>
          <a:p>
            <a:r>
              <a:t>**Network Latency - 55% Improvement:**</a:t>
            </a:r>
          </a:p>
          <a:p>
            <a:r>
              <a:t>- Legacy Nexus: 4 microsecond average</a:t>
            </a:r>
          </a:p>
          <a:p>
            <a:r>
              <a:t>- PowerSwitch: 1.8 microsecond average</a:t>
            </a:r>
          </a:p>
          <a:p>
            <a:r>
              <a:t>- Impact: HPC and storage workloads benefit</a:t>
            </a:r>
          </a:p>
          <a:p>
            <a:r>
              <a:t>- Enables NVMe-oF and RDMA traffic</a:t>
            </a:r>
          </a:p>
          <a:p/>
          <a:p>
            <a:r>
              <a:t>**Capital Cost Savings - 40%:**</a:t>
            </a:r>
          </a:p>
          <a:p>
            <a:r>
              <a:t>- Cisco Nexus 9K equivalent: $3.08M</a:t>
            </a:r>
          </a:p>
          <a:p>
            <a:r>
              <a:t>- Dell PowerSwitch solution: $1.85M</a:t>
            </a:r>
          </a:p>
          <a:p>
            <a:r>
              <a:t>- Net savings: $1.23M (40%)</a:t>
            </a:r>
          </a:p>
          <a:p>
            <a:r>
              <a:t>- Same or better performance</a:t>
            </a:r>
          </a:p>
          <a:p/>
          <a:p>
            <a:r>
              <a:t>**Power Consumption - 43% Reduction:**</a:t>
            </a:r>
          </a:p>
          <a:p>
            <a:r>
              <a:t>- Legacy environment: 84kW total</a:t>
            </a:r>
          </a:p>
          <a:p>
            <a:r>
              <a:t>- PowerSwitch fabric: 48kW total</a:t>
            </a:r>
          </a:p>
          <a:p>
            <a:r>
              <a:t>- Annual energy savings: $65,000</a:t>
            </a:r>
          </a:p>
          <a:p>
            <a:r>
              <a:t>- Cooling load also reduced</a:t>
            </a:r>
          </a:p>
          <a:p/>
          <a:p>
            <a:r>
              <a:t>**Operational Efficiency:**</a:t>
            </a:r>
          </a:p>
          <a:p>
            <a:r>
              <a:t>- ZTP: Switches deploy in 15 minutes</a:t>
            </a:r>
          </a:p>
          <a:p>
            <a:r>
              <a:t>- Ansible: Configuration changes in seconds</a:t>
            </a:r>
          </a:p>
          <a:p>
            <a:r>
              <a:t>- EVPN: No spanning-tree complexity</a:t>
            </a:r>
          </a:p>
          <a:p>
            <a:r>
              <a:t>- BGP: Industry-standard troubleshooting</a:t>
            </a:r>
          </a:p>
          <a:p/>
          <a:p>
            <a:r>
              <a:t>**3-Year TCO Analysis:**</a:t>
            </a:r>
          </a:p>
          <a:p>
            <a:r>
              <a:t>| Cost Category | Year 1 | Year 2 | Year 3 | Total |</a:t>
            </a:r>
          </a:p>
          <a:p>
            <a:r>
              <a:t>|---------------|--------|--------|--------|-------|</a:t>
            </a:r>
          </a:p>
          <a:p>
            <a:r>
              <a:t>| Hardware | $1,650,000 | $0 | $50,000 | $1,700,000 |</a:t>
            </a:r>
          </a:p>
          <a:p>
            <a:r>
              <a:t>| Support | $85,000 | $85,000 | $85,000 | $255,000 |</a:t>
            </a:r>
          </a:p>
          <a:p>
            <a:r>
              <a:t>| Power/Cooling | -$65,000 | -$65,000 | -$65,000 | -$195,000 |</a:t>
            </a:r>
          </a:p>
          <a:p>
            <a:r>
              <a:t>| **Total** | **$1,670,000** | **$20,000** | **$70,000** | **$1,760,000** |</a:t>
            </a:r>
          </a:p>
          <a:p/>
          <a:p>
            <a:r>
              <a:t>*Cisco Alternative: $3.38M over 3 years*</a:t>
            </a:r>
          </a:p>
          <a:p/>
          <a:p>
            <a:r>
              <a:t>*Transition:*</a:t>
            </a:r>
          </a:p>
          <a:p>
            <a:r>
              <a:t>"We learned valuable lessons during this project..."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Details:*</a:t>
            </a:r>
          </a:p>
          <a:p/>
          <a:p>
            <a:r>
              <a:t>**What Worked Well:**</a:t>
            </a:r>
          </a:p>
          <a:p/>
          <a:p>
            <a:r>
              <a:t>*1. Rack-by-Rack Migration:*</a:t>
            </a:r>
          </a:p>
          <a:p>
            <a:r>
              <a:t>- Migrated 5 racks per night</a:t>
            </a:r>
          </a:p>
          <a:p>
            <a:r>
              <a:t>- 8 maintenance windows total</a:t>
            </a:r>
          </a:p>
          <a:p>
            <a:r>
              <a:t>- Zero unplanned downtime</a:t>
            </a:r>
          </a:p>
          <a:p>
            <a:r>
              <a:t>- Rollback procedures never needed</a:t>
            </a:r>
          </a:p>
          <a:p/>
          <a:p>
            <a:r>
              <a:t>*2. Zero Touch Provisioning:*</a:t>
            </a:r>
          </a:p>
          <a:p>
            <a:r>
              <a:t>- Switch deployed in 15 minutes</a:t>
            </a:r>
          </a:p>
          <a:p>
            <a:r>
              <a:t>- Consistent baseline configuration</a:t>
            </a:r>
          </a:p>
          <a:p>
            <a:r>
              <a:t>- Human error eliminated</a:t>
            </a:r>
          </a:p>
          <a:p>
            <a:r>
              <a:t>- Inventory tracked automatically</a:t>
            </a:r>
          </a:p>
          <a:p/>
          <a:p>
            <a:r>
              <a:t>*3. EVPN Type-5 for L3:*</a:t>
            </a:r>
          </a:p>
          <a:p>
            <a:r>
              <a:t>- Replaced complex VRF-lite</a:t>
            </a:r>
          </a:p>
          <a:p>
            <a:r>
              <a:t>- Simplified inter-VLAN routing</a:t>
            </a:r>
          </a:p>
          <a:p>
            <a:r>
              <a:t>- Better scalability than legacy</a:t>
            </a:r>
          </a:p>
          <a:p>
            <a:r>
              <a:t>- Unified control plane</a:t>
            </a:r>
          </a:p>
          <a:p/>
          <a:p>
            <a:r>
              <a:t>**Challenges Overcome:**</a:t>
            </a:r>
          </a:p>
          <a:p/>
          <a:p>
            <a:r>
              <a:t>*1. VLAN Sprawl:*</a:t>
            </a:r>
          </a:p>
          <a:p>
            <a:r>
              <a:t>- Challenge: 800+ VLANs, many unused</a:t>
            </a:r>
          </a:p>
          <a:p>
            <a:r>
              <a:t>- Resolution: Audit and consolidate to 200</a:t>
            </a:r>
          </a:p>
          <a:p>
            <a:r>
              <a:t>- Lesson: Clean up before migration</a:t>
            </a:r>
          </a:p>
          <a:p/>
          <a:p>
            <a:r>
              <a:t>*2. Spanning-Tree Removal:*</a:t>
            </a:r>
          </a:p>
          <a:p>
            <a:r>
              <a:t>- Challenge: Years of STP workarounds</a:t>
            </a:r>
          </a:p>
          <a:p>
            <a:r>
              <a:t>- Resolution: EVPN native multi-homing</a:t>
            </a:r>
          </a:p>
          <a:p>
            <a:r>
              <a:t>- Lesson: Document bridge domains early</a:t>
            </a:r>
          </a:p>
          <a:p/>
          <a:p>
            <a:r>
              <a:t>*3. ACL Conversion:*</a:t>
            </a:r>
          </a:p>
          <a:p>
            <a:r>
              <a:t>- Challenge: Cisco ACL syntax differences</a:t>
            </a:r>
          </a:p>
          <a:p>
            <a:r>
              <a:t>- Resolution: Automated conversion scripts</a:t>
            </a:r>
          </a:p>
          <a:p>
            <a:r>
              <a:t>- Lesson: Allow extra time for security rules</a:t>
            </a:r>
          </a:p>
          <a:p/>
          <a:p>
            <a:r>
              <a:t>**Recommendations:**</a:t>
            </a:r>
          </a:p>
          <a:p/>
          <a:p>
            <a:r>
              <a:t>*1. Fabric Monitoring (High Priority):*</a:t>
            </a:r>
          </a:p>
          <a:p>
            <a:r>
              <a:t>- Dell CloudIQ for AIOps</a:t>
            </a:r>
          </a:p>
          <a:p>
            <a:r>
              <a:t>- Proactive issue detection</a:t>
            </a:r>
          </a:p>
          <a:p>
            <a:r>
              <a:t>- Investment: Included with ProSupport Plus</a:t>
            </a:r>
          </a:p>
          <a:p/>
          <a:p>
            <a:r>
              <a:t>*2. Streaming Telemetry:*</a:t>
            </a:r>
          </a:p>
          <a:p>
            <a:r>
              <a:t>- Real-time traffic visibility</a:t>
            </a:r>
          </a:p>
          <a:p>
            <a:r>
              <a:t>- gNMI/OpenConfig integration</a:t>
            </a:r>
          </a:p>
          <a:p>
            <a:r>
              <a:t>- Investment: $15K for collector</a:t>
            </a:r>
          </a:p>
          <a:p/>
          <a:p>
            <a:r>
              <a:t>*Transition:*</a:t>
            </a:r>
          </a:p>
          <a:p>
            <a:r>
              <a:t>"Let me walk through support transition..."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Details:*</a:t>
            </a:r>
          </a:p>
          <a:p/>
          <a:p>
            <a:r>
              <a:t>**Dell ProSupport Plus:**</a:t>
            </a:r>
          </a:p>
          <a:p>
            <a:r>
              <a:t>- 24x7 support with 4-hour response</a:t>
            </a:r>
          </a:p>
          <a:p>
            <a:r>
              <a:t>- Predictive issue detection</a:t>
            </a:r>
          </a:p>
          <a:p>
            <a:r>
              <a:t>- Parts on-site within 4 hours</a:t>
            </a:r>
          </a:p>
          <a:p>
            <a:r>
              <a:t>- Dedicated Technical Account Manager</a:t>
            </a:r>
          </a:p>
          <a:p>
            <a:r>
              <a:t>- Annual on-site health check</a:t>
            </a:r>
          </a:p>
          <a:p/>
          <a:p>
            <a:r>
              <a:t>**Spare Inventory:**</a:t>
            </a:r>
          </a:p>
          <a:p>
            <a:r>
              <a:t>- 2 S5248F-ON leaf switches</a:t>
            </a:r>
          </a:p>
          <a:p>
            <a:r>
              <a:t>- 1 Z9432F-ON spine switch</a:t>
            </a:r>
          </a:p>
          <a:p>
            <a:r>
              <a:t>- Optics and cables for 10 ports</a:t>
            </a:r>
          </a:p>
          <a:p>
            <a:r>
              <a:t>- Pre-configured for hot swap</a:t>
            </a:r>
          </a:p>
          <a:p>
            <a:r>
              <a:t>- Reorder threshold: 1 remaining</a:t>
            </a:r>
          </a:p>
          <a:p/>
          <a:p>
            <a:r>
              <a:t>**Training Delivered:**</a:t>
            </a:r>
          </a:p>
          <a:p>
            <a:r>
              <a:t>| Session | Attendees | Duration |</a:t>
            </a:r>
          </a:p>
          <a:p>
            <a:r>
              <a:t>|---------|-----------|----------|</a:t>
            </a:r>
          </a:p>
          <a:p>
            <a:r>
              <a:t>| OS10 Administration | 4 NetOps | 8 hours |</a:t>
            </a:r>
          </a:p>
          <a:p>
            <a:r>
              <a:t>| BGP/EVPN Operations | 3 architects | 8 hours |</a:t>
            </a:r>
          </a:p>
          <a:p>
            <a:r>
              <a:t>| Ansible Automation | 4 engineers | 4 hours |</a:t>
            </a:r>
          </a:p>
          <a:p>
            <a:r>
              <a:t>| Troubleshooting Lab | 5 NetOps | 4 hours |</a:t>
            </a:r>
          </a:p>
          <a:p/>
          <a:p>
            <a:r>
              <a:t>**Operational Procedures:**</a:t>
            </a:r>
          </a:p>
          <a:p/>
          <a:p>
            <a:r>
              <a:t>*Common Scenarios:*</a:t>
            </a:r>
          </a:p>
          <a:p>
            <a:r>
              <a:t>1. Port down: Check transceiver, cable, server NIC</a:t>
            </a:r>
          </a:p>
          <a:p>
            <a:r>
              <a:t>2. BGP neighbor down: Verify IP, BFD, password</a:t>
            </a:r>
          </a:p>
          <a:p>
            <a:r>
              <a:t>3. VXLAN tunnel down: Check VTEP, VNI mapping</a:t>
            </a:r>
          </a:p>
          <a:p>
            <a:r>
              <a:t>4. New rack: Run ZTP, update Ansible inventory</a:t>
            </a:r>
          </a:p>
          <a:p>
            <a:r>
              <a:t>5. Switch RMA: Swap, ZTP rebuilds config</a:t>
            </a:r>
          </a:p>
          <a:p/>
          <a:p>
            <a:r>
              <a:t>**Monthly Operations:**</a:t>
            </a:r>
          </a:p>
          <a:p>
            <a:r>
              <a:t>- Week 1: Review BGP route table changes</a:t>
            </a:r>
          </a:p>
          <a:p>
            <a:r>
              <a:t>- Week 2: Check CloudIQ alerts and trends</a:t>
            </a:r>
          </a:p>
          <a:p>
            <a:r>
              <a:t>- Week 3: Capacity and utilization review</a:t>
            </a:r>
          </a:p>
          <a:p>
            <a:r>
              <a:t>- Week 4: Firmware and security patches</a:t>
            </a:r>
          </a:p>
          <a:p/>
          <a:p>
            <a:r>
              <a:t>*Transition:*</a:t>
            </a:r>
          </a:p>
          <a:p>
            <a:r>
              <a:t>"Let me recognize the team..."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*Acknowledgments:*</a:t>
            </a:r>
          </a:p>
          <a:p/>
          <a:p>
            <a:r>
              <a:t>**Client Team:**</a:t>
            </a:r>
          </a:p>
          <a:p>
            <a:r>
              <a:t>- CIO: Executive sponsorship and vision</a:t>
            </a:r>
          </a:p>
          <a:p>
            <a:r>
              <a:t>- Network Architects: Design validation and standards</a:t>
            </a:r>
          </a:p>
          <a:p>
            <a:r>
              <a:t>- NetOps: Migration execution and operations</a:t>
            </a:r>
          </a:p>
          <a:p>
            <a:r>
              <a:t>- Security: ACL and TACACS+ configuration</a:t>
            </a:r>
          </a:p>
          <a:p>
            <a:r>
              <a:t>- Facilities: Power and cooling coordination</a:t>
            </a:r>
          </a:p>
          <a:p/>
          <a:p>
            <a:r>
              <a:t>**Vendor Team:**</a:t>
            </a:r>
          </a:p>
          <a:p>
            <a:r>
              <a:t>- Project Manager: Delivery coordination</a:t>
            </a:r>
          </a:p>
          <a:p>
            <a:r>
              <a:t>- Network Architect: BGP/EVPN design expertise</a:t>
            </a:r>
          </a:p>
          <a:p>
            <a:r>
              <a:t>- Automation Engineer: Ansible and ZTP deployment</a:t>
            </a:r>
          </a:p>
          <a:p/>
          <a:p>
            <a:r>
              <a:t>**Immediate Next Steps:**</a:t>
            </a:r>
          </a:p>
          <a:p>
            <a:r>
              <a:t>| Task | Owner | Due |</a:t>
            </a:r>
          </a:p>
          <a:p>
            <a:r>
              <a:t>|------|-------|-----|</a:t>
            </a:r>
          </a:p>
          <a:p>
            <a:r>
              <a:t>| Cisco Nexus decommission | NetOps | Week 2 |</a:t>
            </a:r>
          </a:p>
          <a:p>
            <a:r>
              <a:t>| Telemetry collector deploy | Network Arch | Week 3 |</a:t>
            </a:r>
          </a:p>
          <a:p>
            <a:r>
              <a:t>| WAN edge design | Network Arch | Week 4 |</a:t>
            </a:r>
          </a:p>
          <a:p>
            <a:r>
              <a:t>| Documentation archive | PM | This week |</a:t>
            </a:r>
          </a:p>
          <a:p/>
          <a:p>
            <a:r>
              <a:t>**Phase 2 Considerations:**</a:t>
            </a:r>
          </a:p>
          <a:p>
            <a:r>
              <a:t>| Enhancement | Investment | Benefit |</a:t>
            </a:r>
          </a:p>
          <a:p>
            <a:r>
              <a:t>|-------------|------------|---------|</a:t>
            </a:r>
          </a:p>
          <a:p>
            <a:r>
              <a:t>| Streaming Telemetry | $15K | Real-time visibility |</a:t>
            </a:r>
          </a:p>
          <a:p>
            <a:r>
              <a:t>| 400GbE Server NICs | $100K | 16x bandwidth per server |</a:t>
            </a:r>
          </a:p>
          <a:p>
            <a:r>
              <a:t>| WAN Edge Switches | $120K | Unified fabric extension |</a:t>
            </a:r>
          </a:p>
          <a:p>
            <a:r>
              <a:t>| Additional Racks | $50K/rack | Capacity expansion |</a:t>
            </a:r>
          </a:p>
          <a:p/>
          <a:p>
            <a:r>
              <a:t>*Transition:*</a:t>
            </a:r>
          </a:p>
          <a:p>
            <a:r>
              <a:t>"Thank you for your partnership..."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*Closing:*</a:t>
            </a:r>
          </a:p>
          <a:p>
            <a:r>
              <a:t>"Thank you for your partnership. The Dell PowerSwitch spine-leaf fabric provides enterprise-grade performance with BGP/EVPN-VXLAN, delivering 40% cost savings and sub-2-microsecond latency.</a:t>
            </a:r>
          </a:p>
          <a:p/>
          <a:p>
            <a:r>
              <a:t>Questions?"</a:t>
            </a:r>
          </a:p>
          <a:p/>
          <a:p>
            <a:r>
              <a:t>**Anticipated Questions:**</a:t>
            </a:r>
          </a:p>
          <a:p/>
          <a:p>
            <a:r>
              <a:t>*Q: How do we add new racks?*</a:t>
            </a:r>
          </a:p>
          <a:p>
            <a:r>
              <a:t>A: ZTP auto-provisions new leaf switches. Update Ansible inventory, assign BGP ASN, deploy. Takes 30 minutes total.</a:t>
            </a:r>
          </a:p>
          <a:p/>
          <a:p>
            <a:r>
              <a:t>*Q: What about firmware upgrades?*</a:t>
            </a:r>
          </a:p>
          <a:p>
            <a:r>
              <a:t>A: Rolling upgrades supported. One switch at a time with BGP graceful restart. Zero downtime with ECMP.</a:t>
            </a:r>
          </a:p>
          <a:p/>
          <a:p>
            <a:r>
              <a:t>*Q: Can we connect to other data centers?*</a:t>
            </a:r>
          </a:p>
          <a:p>
            <a:r>
              <a:t>A: Yes, EVPN extends over WAN. Add DCI links to spine switches. Multi-site EVPN supported.</a:t>
            </a:r>
          </a:p>
          <a:p/>
          <a:p>
            <a:r>
              <a:t>*Q: What if a spine switch fails?*</a:t>
            </a:r>
          </a:p>
          <a:p>
            <a:r>
              <a:t>A: 4-way ECMP means 25% traffic shift to remaining spines. Automatic in &lt;50ms. No application impact.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Dell PowerSwitch Datacenter Networking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28,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6 weeks, on schedule</a:t>
            </a:r>
          </a:p>
          <a:p>
            <a:pPr/>
            <a:r>
              <a:rPr b="1"/>
              <a:t>Budget:</a:t>
            </a:r>
            <a:r>
              <a:t> $1.85M delivered on budget</a:t>
            </a:r>
          </a:p>
          <a:p>
            <a:pPr/>
            <a:r>
              <a:rPr b="1"/>
              <a:t>Go-Live Date:</a:t>
            </a:r>
            <a:r>
              <a:t> Week 6 as planned</a:t>
            </a:r>
          </a:p>
          <a:p>
            <a:pPr/>
            <a:r>
              <a:rPr b="1"/>
              <a:t>Quality:</a:t>
            </a:r>
            <a:r>
              <a:t> Zero network outages at launch</a:t>
            </a:r>
          </a:p>
          <a:p>
            <a:pPr/>
            <a:r>
              <a:rPr b="1"/>
              <a:t>Fabric Scale:</a:t>
            </a:r>
            <a:r>
              <a:t> 4 spine + 40 leaf switches</a:t>
            </a:r>
          </a:p>
          <a:p>
            <a:pPr/>
            <a:r>
              <a:rPr b="1"/>
              <a:t>Port Capacity:</a:t>
            </a:r>
            <a:r>
              <a:t> 1920 server ports at 25GbE</a:t>
            </a:r>
          </a:p>
          <a:p>
            <a:pPr/>
            <a:r>
              <a:rPr b="1"/>
              <a:t>Throughput:</a:t>
            </a:r>
            <a:r>
              <a:t> 1.6Tbps aggregate achieved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Spine Layer</a:t>
            </a:r>
          </a:p>
          <a:p>
            <a:pPr lvl="1"/>
            <a:r>
              <a:t>4x Dell Z9432F-ON switches</a:t>
            </a:r>
          </a:p>
          <a:p>
            <a:pPr lvl="1"/>
            <a:r>
              <a:t>32x 400GbE QSFP-DD ports each</a:t>
            </a:r>
          </a:p>
          <a:p>
            <a:pPr lvl="1"/>
            <a:r>
              <a:t>Full mesh ECMP connectivity</a:t>
            </a:r>
          </a:p>
          <a:p>
            <a:pPr/>
            <a:r>
              <a:rPr b="1"/>
              <a:t>Leaf Layer</a:t>
            </a:r>
          </a:p>
          <a:p>
            <a:pPr lvl="1"/>
            <a:r>
              <a:t>40x Dell S5248F-ON ToR switches</a:t>
            </a:r>
          </a:p>
          <a:p>
            <a:pPr lvl="1"/>
            <a:r>
              <a:t>48x 25GbE + 6x 100GbE uplinks</a:t>
            </a:r>
          </a:p>
          <a:p>
            <a:pPr lvl="1"/>
            <a:r>
              <a:t>One per rack deployment</a:t>
            </a:r>
          </a:p>
          <a:p>
            <a:pPr/>
            <a:r>
              <a:rPr b="1"/>
              <a:t>Overlay Network</a:t>
            </a:r>
          </a:p>
          <a:p>
            <a:pPr lvl="1"/>
            <a:r>
              <a:t>BGP underlay routing protocol</a:t>
            </a:r>
          </a:p>
          <a:p>
            <a:pPr lvl="1"/>
            <a:r>
              <a:t>EVPN-VXLAN for L2/L3 services</a:t>
            </a:r>
          </a:p>
          <a:p>
            <a:pPr lvl="1"/>
            <a:r>
              <a:t>Multi-tenancy with VRF isolation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Solution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Spine-leaf design with BGP topology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Switch deployment and migration runbooks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 matrix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Throughput, latency, failover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Configuration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OS10, BGP, EVPN parameters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`/delivery/configuration.xlsx`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automation scripts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`/delivery/ansible-playbooks/`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Admin Operations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Day-2 operations procedures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`/delivery/admin-guide.docx`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Rack-by-rack cutover steps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`/delivery/migration-runbook.docx`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Throughput Metrics</a:t>
            </a:r>
          </a:p>
          <a:p>
            <a:pPr lvl="1"/>
            <a:r>
              <a:t>Aggregate: 1.6Tbps achieved</a:t>
            </a:r>
          </a:p>
          <a:p>
            <a:pPr lvl="1"/>
            <a:r>
              <a:t>Per-Server: 25Gbps line rate</a:t>
            </a:r>
          </a:p>
          <a:p>
            <a:pPr lvl="1"/>
            <a:r>
              <a:t>Spine Utilization: 45% average</a:t>
            </a:r>
          </a:p>
          <a:p>
            <a:pPr lvl="1"/>
            <a:r>
              <a:t>No Congestion: Zero drops</a:t>
            </a:r>
          </a:p>
          <a:p>
            <a:pPr lvl="1"/>
            <a:r>
              <a:t>Oversubscription: 3:1 ratio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Latency &amp; Reliability</a:t>
            </a:r>
          </a:p>
          <a:p>
            <a:pPr lvl="1"/>
            <a:r>
              <a:t>East-West: 1.8us (target: &lt;2us)</a:t>
            </a:r>
          </a:p>
          <a:p>
            <a:pPr lvl="1"/>
            <a:r>
              <a:t>Failover Time: &lt;50ms convergence</a:t>
            </a:r>
          </a:p>
          <a:p>
            <a:pPr lvl="1"/>
            <a:r>
              <a:t>Availability: 99.999% uptime</a:t>
            </a:r>
          </a:p>
          <a:p>
            <a:pPr lvl="1"/>
            <a:r>
              <a:t>Packet Loss: 0.0000% measured</a:t>
            </a:r>
          </a:p>
          <a:p>
            <a:pPr lvl="1"/>
            <a:r>
              <a:t>ECMP Balance: Even distribution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Latency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&lt;2us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1.8us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HPC-ready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Fabric Throughput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1.6Tbps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1.6Tbps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 bottlenecks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Port Density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1920 ports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1920 ports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racks connected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Capital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30% vs Cisco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$740K saved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Power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43%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$65K annual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Ansible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ZTP + Ansible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 faster deploys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Rack-by-rack migration strategy</a:t>
            </a:r>
          </a:p>
          <a:p>
            <a:pPr lvl="1"/>
            <a:r>
              <a:t>ZTP for consistent deployment</a:t>
            </a:r>
          </a:p>
          <a:p>
            <a:pPr lvl="1"/>
            <a:r>
              <a:t>EVPN Type-5 for L3 routing</a:t>
            </a:r>
          </a:p>
          <a:p>
            <a:pPr lvl="1"/>
            <a:r>
              <a:t>Pre-staged switch inventory</a:t>
            </a:r>
          </a:p>
          <a:p>
            <a:pPr lvl="1"/>
            <a:r>
              <a:t>Maintenance window planning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VLAN sprawl cleanup</a:t>
            </a:r>
          </a:p>
          <a:p>
            <a:pPr lvl="1"/>
            <a:r>
              <a:t>Spanning-tree to EVPN transition</a:t>
            </a:r>
          </a:p>
          <a:p>
            <a:pPr lvl="1"/>
            <a:r>
              <a:t>TACACS+ server migration</a:t>
            </a:r>
          </a:p>
          <a:p>
            <a:pPr lvl="1"/>
            <a:r>
              <a:t>ACL rule conversion</a:t>
            </a:r>
          </a:p>
          <a:p>
            <a:pPr lvl="1"/>
            <a:r>
              <a:t>Telemetry collector setup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Implement fabric monitoring</a:t>
            </a:r>
          </a:p>
          <a:p>
            <a:pPr lvl="1"/>
            <a:r>
              <a:t>Enable streaming telemetry</a:t>
            </a:r>
          </a:p>
          <a:p>
            <a:pPr lvl="1"/>
            <a:r>
              <a:t>Add WAN edge switches</a:t>
            </a:r>
          </a:p>
          <a:p>
            <a:pPr lvl="1"/>
            <a:r>
              <a:t>Consider 400GbE servers</a:t>
            </a:r>
          </a:p>
          <a:p>
            <a:pPr lvl="1"/>
            <a:r>
              <a:t>Annual firmware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(6 weeks)</a:t>
            </a:r>
          </a:p>
          <a:p>
            <a:pPr lvl="1"/>
            <a:r>
              <a:t>All 40 racks migrated</a:t>
            </a:r>
          </a:p>
          <a:p>
            <a:pPr lvl="1"/>
            <a:r>
              <a:t>0 network incidents</a:t>
            </a:r>
          </a:p>
          <a:p>
            <a:pPr lvl="1"/>
            <a:r>
              <a:t>NetOps team certified</a:t>
            </a:r>
          </a:p>
          <a:p>
            <a:pPr lvl="1"/>
            <a:r>
              <a:t>Runbooks validated</a:t>
            </a:r>
          </a:p>
          <a:p>
            <a:pPr lvl="1"/>
            <a:r>
              <a:t>Monitoring active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Dell ProSupport Plus 24x7</a:t>
            </a:r>
          </a:p>
          <a:p>
            <a:pPr lvl="1"/>
            <a:r>
              <a:t>4-hour on-site response</a:t>
            </a:r>
          </a:p>
          <a:p>
            <a:pPr lvl="1"/>
            <a:r>
              <a:t>CloudIQ monitoring included</a:t>
            </a:r>
          </a:p>
          <a:p>
            <a:pPr lvl="1"/>
            <a:r>
              <a:t>Spare switch inventory</a:t>
            </a:r>
          </a:p>
          <a:p>
            <a:pPr lvl="1"/>
            <a:r>
              <a:t>Quarterly health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Network Operations</a:t>
            </a:r>
          </a:p>
          <a:p>
            <a:pPr lvl="1"/>
            <a:r>
              <a:t>L2: Network Architecture Team</a:t>
            </a:r>
          </a:p>
          <a:p>
            <a:pPr lvl="1"/>
            <a:r>
              <a:t>L3: Dell ProSupport Plus</a:t>
            </a:r>
          </a:p>
          <a:p>
            <a:pPr lvl="1"/>
            <a:r>
              <a:t>L4: Dell Engineering</a:t>
            </a:r>
          </a:p>
          <a:p>
            <a:pPr lvl="1"/>
            <a:r>
              <a:t>Emergency: TAC Priority 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CIO, network architects, NetOps, security, data center facilities</a:t>
            </a:r>
          </a:p>
          <a:p>
            <a:pPr/>
            <a:r>
              <a:rPr b="1"/>
              <a:t>Vendor Team:</a:t>
            </a:r>
            <a:r>
              <a:t> Project manager, network architect, automation engineer</a:t>
            </a:r>
          </a:p>
          <a:p>
            <a:pPr/>
            <a:r>
              <a:rPr b="1"/>
              <a:t>Special Recognition:</a:t>
            </a:r>
            <a:r>
              <a:t> NetOps team for flawless weekend migrations</a:t>
            </a:r>
          </a:p>
          <a:p>
            <a:pPr/>
            <a:r>
              <a:rPr b="1"/>
              <a:t>This Week:</a:t>
            </a:r>
            <a:r>
              <a:t> Legacy Cisco decommission planning, documentation archive</a:t>
            </a:r>
          </a:p>
          <a:p>
            <a:pPr/>
            <a:r>
              <a:rPr b="1"/>
              <a:t>Next 30 Days:</a:t>
            </a:r>
            <a:r>
              <a:t> Telemetry collector deployment, WAN integration design</a:t>
            </a:r>
          </a:p>
          <a:p>
            <a:pPr/>
            <a:r>
              <a:rPr b="1"/>
              <a:t>Next Quarter:</a:t>
            </a:r>
            <a:r>
              <a:t> 400GbE server connectivity pilot, fabric expansion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PowerSwitch Datacenter Networking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