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Dell SafeID Enterprise Authentication implementation. This project has transformed [Client Name]'s identity security from password-based authentication to phishing-resistant FIDO2 hardware tokens.</a:t>
            </a:r>
          </a:p>
          <a:p/>
          <a:p>
            <a:r>
              <a:t>*Key Talking Points:*</a:t>
            </a:r>
          </a:p>
          <a:p/>
          <a:p>
            <a:r>
              <a:t>**Project Duration - 6 Weeks:**</a:t>
            </a:r>
          </a:p>
          <a:p>
            <a:r>
              <a:t>- Phase 1 (Weeks 1-2): Infrastructure setup, AD integration</a:t>
            </a:r>
          </a:p>
          <a:p>
            <a:r>
              <a:t>- Phase 2 (Weeks 3-4): Pilot rollout, VPN integration</a:t>
            </a:r>
          </a:p>
          <a:p>
            <a:r>
              <a:t>- Phase 3 (Weeks 5-6): Full deployment, training</a:t>
            </a:r>
          </a:p>
          <a:p>
            <a:r>
              <a:t>- All milestones achieved on schedule</a:t>
            </a:r>
          </a:p>
          <a:p/>
          <a:p>
            <a:r>
              <a:t>**Phishing-Resistant Security:**</a:t>
            </a:r>
          </a:p>
          <a:p>
            <a:r>
              <a:t>- YubiKey 5 NFC hardware tokens for all 500 users</a:t>
            </a:r>
          </a:p>
          <a:p>
            <a:r>
              <a:t>- FIDO2 WebAuthn eliminates phishing attacks</a:t>
            </a:r>
          </a:p>
          <a:p>
            <a:r>
              <a:t>- No more password resets or credential theft</a:t>
            </a:r>
          </a:p>
          <a:p>
            <a:r>
              <a:t>- Separate admin YubiKeys for privileged access</a:t>
            </a:r>
          </a:p>
          <a:p/>
          <a:p>
            <a:r>
              <a:t>**Compliance Achievement:**</a:t>
            </a:r>
          </a:p>
          <a:p>
            <a:r>
              <a:t>- CMMC Level 2 MFA requirements met</a:t>
            </a:r>
          </a:p>
          <a:p>
            <a:r>
              <a:t>- 3-year audit log retention configured</a:t>
            </a:r>
          </a:p>
          <a:p>
            <a:r>
              <a:t>- NIST 800-63B AAL2 compliance</a:t>
            </a:r>
          </a:p>
          <a:p>
            <a:r>
              <a:t>- Ready for DoD contract requirements</a:t>
            </a:r>
          </a:p>
          <a:p/>
          <a:p>
            <a:r>
              <a:t>**User Experience:**</a:t>
            </a:r>
          </a:p>
          <a:p>
            <a:r>
              <a:t>- &lt;2 second authentication with tap</a:t>
            </a:r>
          </a:p>
          <a:p>
            <a:r>
              <a:t>- &lt;5 minute self-service enrollment</a:t>
            </a:r>
          </a:p>
          <a:p>
            <a:r>
              <a:t>- Mobile and desktop support</a:t>
            </a:r>
          </a:p>
          <a:p>
            <a:r>
              <a:t>- Works offline with FIDO2</a:t>
            </a:r>
          </a:p>
          <a:p/>
          <a:p>
            <a:r>
              <a:t>*Transition:*</a:t>
            </a:r>
          </a:p>
          <a:p>
            <a:r>
              <a:t>"Let me walk you through what we deployed..."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Overview:*</a:t>
            </a:r>
          </a:p>
          <a:p/>
          <a:p>
            <a:r>
              <a:t>**Identity Layer - Dell SafeID Enterprise:**</a:t>
            </a:r>
          </a:p>
          <a:p>
            <a:r>
              <a:t>- High-availability authentication servers</a:t>
            </a:r>
          </a:p>
          <a:p>
            <a:r>
              <a:t>- Active Directory sync for user provisioning</a:t>
            </a:r>
          </a:p>
          <a:p>
            <a:r>
              <a:t>- RADIUS integration for VPN authentication</a:t>
            </a:r>
          </a:p>
          <a:p>
            <a:r>
              <a:t>- SAML IdP for cloud SSO</a:t>
            </a:r>
          </a:p>
          <a:p>
            <a:r>
              <a:t>- Audit logging with 3-year retention</a:t>
            </a:r>
          </a:p>
          <a:p/>
          <a:p>
            <a:r>
              <a:t>**Token Layer - YubiKey 5 NFC:**</a:t>
            </a:r>
          </a:p>
          <a:p>
            <a:r>
              <a:t>- Hardware security key for each user</a:t>
            </a:r>
          </a:p>
          <a:p>
            <a:r>
              <a:t>- FIDO2/WebAuthn phishing-resistant protocol</a:t>
            </a:r>
          </a:p>
          <a:p>
            <a:r>
              <a:t>- NFC for mobile authentication</a:t>
            </a:r>
          </a:p>
          <a:p>
            <a:r>
              <a:t>- USB-A and USB-C support</a:t>
            </a:r>
          </a:p>
          <a:p>
            <a:r>
              <a:t>- PIV smart card capability (future)</a:t>
            </a:r>
          </a:p>
          <a:p/>
          <a:p>
            <a:r>
              <a:t>**Integration Points:**</a:t>
            </a:r>
          </a:p>
          <a:p>
            <a:r>
              <a:t>- Cisco AnyConnect: RADIUS MFA</a:t>
            </a:r>
          </a:p>
          <a:p>
            <a:r>
              <a:t>- Microsoft 365: SAML SSO with YubiKey</a:t>
            </a:r>
          </a:p>
          <a:p>
            <a:r>
              <a:t>- AWS: IAM Identity Center federation</a:t>
            </a:r>
          </a:p>
          <a:p>
            <a:r>
              <a:t>- Windows logon: Smart card ready</a:t>
            </a:r>
          </a:p>
          <a:p/>
          <a:p>
            <a:r>
              <a:t>**Key Architecture Decisions:**</a:t>
            </a:r>
          </a:p>
          <a:p>
            <a:r>
              <a:t>1. YubiKey 5 NFC for mobile flexibility</a:t>
            </a:r>
          </a:p>
          <a:p>
            <a:r>
              <a:t>2. FIDO2 over TOTP for phishing resistance</a:t>
            </a:r>
          </a:p>
          <a:p>
            <a:r>
              <a:t>3. Separate admin tokens for privileged access</a:t>
            </a:r>
          </a:p>
          <a:p>
            <a:r>
              <a:t>4. Self-service portal for enrollment</a:t>
            </a:r>
          </a:p>
          <a:p/>
          <a:p>
            <a:r>
              <a:t>*Transition:*</a:t>
            </a:r>
          </a:p>
          <a:p>
            <a:r>
              <a:t>"Now let me show you the complete deliverables..."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Dive:*</a:t>
            </a:r>
          </a:p>
          <a:p/>
          <a:p>
            <a:r>
              <a:t>**1. Solution Architecture Document:**</a:t>
            </a:r>
          </a:p>
          <a:p>
            <a:r>
              <a:t>- Dell SafeID server configuration</a:t>
            </a:r>
          </a:p>
          <a:p>
            <a:r>
              <a:t>- Active Directory integration design</a:t>
            </a:r>
          </a:p>
          <a:p>
            <a:r>
              <a:t>- RADIUS and SAML configuration</a:t>
            </a:r>
          </a:p>
          <a:p>
            <a:r>
              <a:t>- YubiKey enrollment workflow</a:t>
            </a:r>
          </a:p>
          <a:p>
            <a:r>
              <a:t>- Backup and recovery procedures</a:t>
            </a:r>
          </a:p>
          <a:p/>
          <a:p>
            <a:r>
              <a:t>**2. User Enrollment Guide:**</a:t>
            </a:r>
          </a:p>
          <a:p>
            <a:r>
              <a:t>- Self-service portal instructions</a:t>
            </a:r>
          </a:p>
          <a:p>
            <a:r>
              <a:t>- YubiKey registration steps</a:t>
            </a:r>
          </a:p>
          <a:p>
            <a:r>
              <a:t>- Mobile NFC setup for Android/iOS</a:t>
            </a:r>
          </a:p>
          <a:p>
            <a:r>
              <a:t>- Troubleshooting common issues</a:t>
            </a:r>
          </a:p>
          <a:p>
            <a:r>
              <a:t>- Available in print and digital</a:t>
            </a:r>
          </a:p>
          <a:p/>
          <a:p>
            <a:r>
              <a:t>**3. Admin Operations Guide:**</a:t>
            </a:r>
          </a:p>
          <a:p>
            <a:r>
              <a:t>- User provisioning procedures</a:t>
            </a:r>
          </a:p>
          <a:p>
            <a:r>
              <a:t>- Token replacement process</a:t>
            </a:r>
          </a:p>
          <a:p>
            <a:r>
              <a:t>- Lost token recovery workflow</a:t>
            </a:r>
          </a:p>
          <a:p>
            <a:r>
              <a:t>- Audit log review procedures</a:t>
            </a:r>
          </a:p>
          <a:p>
            <a:r>
              <a:t>- CMMC compliance reporting</a:t>
            </a:r>
          </a:p>
          <a:p/>
          <a:p>
            <a:r>
              <a:t>**4. Training Delivered:**</a:t>
            </a:r>
          </a:p>
          <a:p>
            <a:r>
              <a:t>- Help desk training: 4 hours</a:t>
            </a:r>
          </a:p>
          <a:p>
            <a:r>
              <a:t>- IT admin training: 8 hours</a:t>
            </a:r>
          </a:p>
          <a:p>
            <a:r>
              <a:t>- User awareness sessions: 1 hour each</a:t>
            </a:r>
          </a:p>
          <a:p>
            <a:r>
              <a:t>- Total: 500+ users trained</a:t>
            </a:r>
          </a:p>
          <a:p/>
          <a:p>
            <a:r>
              <a:t>*Transition:*</a:t>
            </a:r>
          </a:p>
          <a:p>
            <a:r>
              <a:t>"Let's look at security and performance..."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*Security Deep Dive:*</a:t>
            </a:r>
          </a:p>
          <a:p/>
          <a:p>
            <a:r>
              <a:t>**Phishing Resistance - 100%:**</a:t>
            </a:r>
          </a:p>
          <a:p>
            <a:r>
              <a:t>- FIDO2 WebAuthn prevents credential theft</a:t>
            </a:r>
          </a:p>
          <a:p>
            <a:r>
              <a:t>- Origin-bound keys cannot be phished</a:t>
            </a:r>
          </a:p>
          <a:p>
            <a:r>
              <a:t>- No shared secrets to intercept</a:t>
            </a:r>
          </a:p>
          <a:p>
            <a:r>
              <a:t>- Hardware attestation verifies genuine keys</a:t>
            </a:r>
          </a:p>
          <a:p/>
          <a:p>
            <a:r>
              <a:t>**Zero Password Resets:**</a:t>
            </a:r>
          </a:p>
          <a:p>
            <a:r>
              <a:t>- Eliminated #1 help desk call reason</a:t>
            </a:r>
          </a:p>
          <a:p>
            <a:r>
              <a:t>- No forgotten passwords with YubiKey</a:t>
            </a:r>
          </a:p>
          <a:p>
            <a:r>
              <a:t>- Self-service enrollment reduces IT burden</a:t>
            </a:r>
          </a:p>
          <a:p>
            <a:r>
              <a:t>- PIN recovery available if needed</a:t>
            </a:r>
          </a:p>
          <a:p/>
          <a:p>
            <a:r>
              <a:t>**Compliance Evidence:**</a:t>
            </a:r>
          </a:p>
          <a:p>
            <a:r>
              <a:t>- CMMC Level 2 IA.2.078: MFA for network access</a:t>
            </a:r>
          </a:p>
          <a:p>
            <a:r>
              <a:t>- CMMC Level 2 IA.2.079: MFA for privileged users</a:t>
            </a:r>
          </a:p>
          <a:p>
            <a:r>
              <a:t>- NIST 800-63B AAL2: Hardware token requirement</a:t>
            </a:r>
          </a:p>
          <a:p>
            <a:r>
              <a:t>- Audit logs: 3 years retained</a:t>
            </a:r>
          </a:p>
          <a:p/>
          <a:p>
            <a:r>
              <a:t>**Performance Metrics:**</a:t>
            </a:r>
          </a:p>
          <a:p/>
          <a:p>
            <a:r>
              <a:t>*Authentication Time - 1.8 seconds:*</a:t>
            </a:r>
          </a:p>
          <a:p>
            <a:r>
              <a:t>- User taps YubiKey</a:t>
            </a:r>
          </a:p>
          <a:p>
            <a:r>
              <a:t>- FIDO2 challenge/response</a:t>
            </a:r>
          </a:p>
          <a:p>
            <a:r>
              <a:t>- Authentication complete</a:t>
            </a:r>
          </a:p>
          <a:p>
            <a:r>
              <a:t>- Faster than TOTP or SMS</a:t>
            </a:r>
          </a:p>
          <a:p/>
          <a:p>
            <a:r>
              <a:t>*Enrollment - 4 minutes average:*</a:t>
            </a:r>
          </a:p>
          <a:p>
            <a:r>
              <a:t>- User receives YubiKey</a:t>
            </a:r>
          </a:p>
          <a:p>
            <a:r>
              <a:t>- Scans QR code to enroll</a:t>
            </a:r>
          </a:p>
          <a:p>
            <a:r>
              <a:t>- Taps key to confirm</a:t>
            </a:r>
          </a:p>
          <a:p>
            <a:r>
              <a:t>- Immediate access enabled</a:t>
            </a:r>
          </a:p>
          <a:p/>
          <a:p>
            <a:r>
              <a:t>**User Satisfaction Survey:**</a:t>
            </a:r>
          </a:p>
          <a:p>
            <a:r>
              <a:t>- 94% prefer YubiKey to passwords</a:t>
            </a:r>
          </a:p>
          <a:p>
            <a:r>
              <a:t>- 89% find enrollment easy</a:t>
            </a:r>
          </a:p>
          <a:p>
            <a:r>
              <a:t>- 96% would recommend to colleagues</a:t>
            </a:r>
          </a:p>
          <a:p/>
          <a:p>
            <a:r>
              <a:t>*Transition:*</a:t>
            </a:r>
          </a:p>
          <a:p>
            <a:r>
              <a:t>"These improvements deliver significant value..."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Analysis:*</a:t>
            </a:r>
          </a:p>
          <a:p/>
          <a:p>
            <a:r>
              <a:t>**Phishing Protection - 100%:**</a:t>
            </a:r>
          </a:p>
          <a:p>
            <a:r>
              <a:t>- Legacy: Passwords phished via email attacks</a:t>
            </a:r>
          </a:p>
          <a:p>
            <a:r>
              <a:t>- New: FIDO2 cannot be phished (cryptographic)</a:t>
            </a:r>
          </a:p>
          <a:p>
            <a:r>
              <a:t>- Business impact: Zero credential theft incidents</a:t>
            </a:r>
          </a:p>
          <a:p>
            <a:r>
              <a:t>- Estimated annual savings: $150K (breach prevention)</a:t>
            </a:r>
          </a:p>
          <a:p/>
          <a:p>
            <a:r>
              <a:t>**Password Reset Elimination:**</a:t>
            </a:r>
          </a:p>
          <a:p>
            <a:r>
              <a:t>- Previous: 50 password resets/month</a:t>
            </a:r>
          </a:p>
          <a:p>
            <a:r>
              <a:t>- Current: 0 password resets (no passwords)</a:t>
            </a:r>
          </a:p>
          <a:p>
            <a:r>
              <a:t>- Help desk time saved: 25 hours/month</a:t>
            </a:r>
          </a:p>
          <a:p>
            <a:r>
              <a:t>- Annual savings: $15,000 in labor</a:t>
            </a:r>
          </a:p>
          <a:p/>
          <a:p>
            <a:r>
              <a:t>**CMMC Level 2 Compliance:**</a:t>
            </a:r>
          </a:p>
          <a:p>
            <a:r>
              <a:t>- All MFA requirements met</a:t>
            </a:r>
          </a:p>
          <a:p>
            <a:r>
              <a:t>- Audit artifacts generated automatically</a:t>
            </a:r>
          </a:p>
          <a:p>
            <a:r>
              <a:t>- Ready for DoD assessor review</a:t>
            </a:r>
          </a:p>
          <a:p>
            <a:r>
              <a:t>- Enables $5M+ contract eligibility</a:t>
            </a:r>
          </a:p>
          <a:p/>
          <a:p>
            <a:r>
              <a:t>**User Experience:**</a:t>
            </a:r>
          </a:p>
          <a:p>
            <a:r>
              <a:t>- 1.8 second authentication</a:t>
            </a:r>
          </a:p>
          <a:p>
            <a:r>
              <a:t>- No password memorization</a:t>
            </a:r>
          </a:p>
          <a:p>
            <a:r>
              <a:t>- Works across VPN, M365, AWS</a:t>
            </a:r>
          </a:p>
          <a:p>
            <a:r>
              <a:t>- Mobile support with NFC</a:t>
            </a:r>
          </a:p>
          <a:p/>
          <a:p>
            <a:r>
              <a:t>**3-Year TCO Analysis:**</a:t>
            </a:r>
          </a:p>
          <a:p>
            <a:r>
              <a:t>| Cost Category | Year 1 | Year 2 | Year 3 | Total |</a:t>
            </a:r>
          </a:p>
          <a:p>
            <a:r>
              <a:t>|---------------|--------|--------|--------|-------|</a:t>
            </a:r>
          </a:p>
          <a:p>
            <a:r>
              <a:t>| Hardware | $75,000 | $5,000 | $5,000 | $85,000 |</a:t>
            </a:r>
          </a:p>
          <a:p>
            <a:r>
              <a:t>| Software | $50,000 | $30,000 | $30,000 | $110,000 |</a:t>
            </a:r>
          </a:p>
          <a:p>
            <a:r>
              <a:t>| Services | $60,000 | $10,000 | $10,000 | $80,000 |</a:t>
            </a:r>
          </a:p>
          <a:p>
            <a:r>
              <a:t>| **Total** | **$185,000** | **$45,000** | **$45,000** | **$275,000** |</a:t>
            </a:r>
          </a:p>
          <a:p/>
          <a:p>
            <a:r>
              <a:t>*Transition:*</a:t>
            </a:r>
          </a:p>
          <a:p>
            <a:r>
              <a:t>"We learned valuable lessons..."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Details:*</a:t>
            </a:r>
          </a:p>
          <a:p/>
          <a:p>
            <a:r>
              <a:t>**What Worked Well:**</a:t>
            </a:r>
          </a:p>
          <a:p/>
          <a:p>
            <a:r>
              <a:t>*1. Self-Service Enrollment:*</a:t>
            </a:r>
          </a:p>
          <a:p>
            <a:r>
              <a:t>- Users enroll their own YubiKeys</a:t>
            </a:r>
          </a:p>
          <a:p>
            <a:r>
              <a:t>- Reduces IT burden significantly</a:t>
            </a:r>
          </a:p>
          <a:p>
            <a:r>
              <a:t>- 4-minute average enrollment time</a:t>
            </a:r>
          </a:p>
          <a:p>
            <a:r>
              <a:t>- Help desk calls minimized</a:t>
            </a:r>
          </a:p>
          <a:p/>
          <a:p>
            <a:r>
              <a:t>*2. Phased Department Rollout:*</a:t>
            </a:r>
          </a:p>
          <a:p>
            <a:r>
              <a:t>- Started with IT department</a:t>
            </a:r>
          </a:p>
          <a:p>
            <a:r>
              <a:t>- Expanded to finance, then engineering</a:t>
            </a:r>
          </a:p>
          <a:p>
            <a:r>
              <a:t>- Each wave learned from previous</a:t>
            </a:r>
          </a:p>
          <a:p>
            <a:r>
              <a:t>- Final wave to field workers</a:t>
            </a:r>
          </a:p>
          <a:p/>
          <a:p>
            <a:r>
              <a:t>*3. Executive Support:*</a:t>
            </a:r>
          </a:p>
          <a:p>
            <a:r>
              <a:t>- CEO enrolled first publicly</a:t>
            </a:r>
          </a:p>
          <a:p>
            <a:r>
              <a:t>- Set example for organization</a:t>
            </a:r>
          </a:p>
          <a:p>
            <a:r>
              <a:t>- Reinforced security culture</a:t>
            </a:r>
          </a:p>
          <a:p>
            <a:r>
              <a:t>- Helped with change management</a:t>
            </a:r>
          </a:p>
          <a:p/>
          <a:p>
            <a:r>
              <a:t>**Challenges Overcome:**</a:t>
            </a:r>
          </a:p>
          <a:p/>
          <a:p>
            <a:r>
              <a:t>*1. Legacy App Compatibility:*</a:t>
            </a:r>
          </a:p>
          <a:p>
            <a:r>
              <a:t>- Challenge: Some apps don't support FIDO2</a:t>
            </a:r>
          </a:p>
          <a:p>
            <a:r>
              <a:t>- Resolution: RADIUS bridge for legacy systems</a:t>
            </a:r>
          </a:p>
          <a:p>
            <a:r>
              <a:t>- Lesson: Inventory apps early in planning</a:t>
            </a:r>
          </a:p>
          <a:p/>
          <a:p>
            <a:r>
              <a:t>*2. Remote Worker Enrollment:*</a:t>
            </a:r>
          </a:p>
          <a:p>
            <a:r>
              <a:t>- Challenge: Shipping YubiKeys securely</a:t>
            </a:r>
          </a:p>
          <a:p>
            <a:r>
              <a:t>- Resolution: Registered mail with tracking</a:t>
            </a:r>
          </a:p>
          <a:p>
            <a:r>
              <a:t>- Lesson: Plan logistics for remote users</a:t>
            </a:r>
          </a:p>
          <a:p/>
          <a:p>
            <a:r>
              <a:t>**Recommendations:**</a:t>
            </a:r>
          </a:p>
          <a:p/>
          <a:p>
            <a:r>
              <a:t>*1. Expand to Contractors (Priority: High):*</a:t>
            </a:r>
          </a:p>
          <a:p>
            <a:r>
              <a:t>- Extend MFA to contractor population</a:t>
            </a:r>
          </a:p>
          <a:p>
            <a:r>
              <a:t>- Separate enrollment workflow</a:t>
            </a:r>
          </a:p>
          <a:p>
            <a:r>
              <a:t>- Investment: $20K for 100 contractors</a:t>
            </a:r>
          </a:p>
          <a:p/>
          <a:p>
            <a:r>
              <a:t>*2. Passwordless Windows Logon:*</a:t>
            </a:r>
          </a:p>
          <a:p>
            <a:r>
              <a:t>- Use YubiKey for Windows sign-in</a:t>
            </a:r>
          </a:p>
          <a:p>
            <a:r>
              <a:t>- Eliminate domain passwords entirely</a:t>
            </a:r>
          </a:p>
          <a:p>
            <a:r>
              <a:t>- Timeline: Phase 2 consideration</a:t>
            </a:r>
          </a:p>
          <a:p/>
          <a:p>
            <a:r>
              <a:t>*Transition:*</a:t>
            </a:r>
          </a:p>
          <a:p>
            <a:r>
              <a:t>"Let me walk through support..."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Details:*</a:t>
            </a:r>
          </a:p>
          <a:p/>
          <a:p>
            <a:r>
              <a:t>**Help Desk Procedures:**</a:t>
            </a:r>
          </a:p>
          <a:p/>
          <a:p>
            <a:r>
              <a:t>*Common Scenarios:*</a:t>
            </a:r>
          </a:p>
          <a:p>
            <a:r>
              <a:t>1. Lost YubiKey: Issue temp token, order replacement</a:t>
            </a:r>
          </a:p>
          <a:p>
            <a:r>
              <a:t>2. Damaged YubiKey: Same-day replacement from stock</a:t>
            </a:r>
          </a:p>
          <a:p>
            <a:r>
              <a:t>3. New hire: Add to SafeID, ship YubiKey</a:t>
            </a:r>
          </a:p>
          <a:p>
            <a:r>
              <a:t>4. Termination: Disable user, recover token</a:t>
            </a:r>
          </a:p>
          <a:p>
            <a:r>
              <a:t>5. PIN forgotten: Self-service PIN reset</a:t>
            </a:r>
          </a:p>
          <a:p/>
          <a:p>
            <a:r>
              <a:t>**Training Delivered:**</a:t>
            </a:r>
          </a:p>
          <a:p>
            <a:r>
              <a:t>| Session | Attendees | Duration |</a:t>
            </a:r>
          </a:p>
          <a:p>
            <a:r>
              <a:t>|---------|-----------|----------|</a:t>
            </a:r>
          </a:p>
          <a:p>
            <a:r>
              <a:t>| Help Desk Training | 8 staff | 4 hours |</a:t>
            </a:r>
          </a:p>
          <a:p>
            <a:r>
              <a:t>| IT Admin Training | 4 staff | 8 hours |</a:t>
            </a:r>
          </a:p>
          <a:p>
            <a:r>
              <a:t>| Security Team | 3 staff | 4 hours |</a:t>
            </a:r>
          </a:p>
          <a:p>
            <a:r>
              <a:t>| User Awareness | 500 users | 1 hour |</a:t>
            </a:r>
          </a:p>
          <a:p/>
          <a:p>
            <a:r>
              <a:t>**Spare Token Inventory:**</a:t>
            </a:r>
          </a:p>
          <a:p>
            <a:r>
              <a:t>- 25 YubiKey 5 NFC spares on-hand</a:t>
            </a:r>
          </a:p>
          <a:p>
            <a:r>
              <a:t>- 5 admin YubiKeys in reserve</a:t>
            </a:r>
          </a:p>
          <a:p>
            <a:r>
              <a:t>- Reorder threshold: 10 remaining</a:t>
            </a:r>
          </a:p>
          <a:p>
            <a:r>
              <a:t>- Yubico ships within 48 hours</a:t>
            </a:r>
          </a:p>
          <a:p/>
          <a:p>
            <a:r>
              <a:t>**Monthly Operational Tasks:**</a:t>
            </a:r>
          </a:p>
          <a:p>
            <a:r>
              <a:t>- Week 1: Review failed auth attempts</a:t>
            </a:r>
          </a:p>
          <a:p>
            <a:r>
              <a:t>- Week 2: Check token inventory levels</a:t>
            </a:r>
          </a:p>
          <a:p>
            <a:r>
              <a:t>- Week 3: Audit privileged user access</a:t>
            </a:r>
          </a:p>
          <a:p>
            <a:r>
              <a:t>- Week 4: Generate compliance reports</a:t>
            </a:r>
          </a:p>
          <a:p/>
          <a:p>
            <a:r>
              <a:t>*Transition:*</a:t>
            </a:r>
          </a:p>
          <a:p>
            <a:r>
              <a:t>"Let me recognize the team..."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*Acknowledgments:*</a:t>
            </a:r>
          </a:p>
          <a:p/>
          <a:p>
            <a:r>
              <a:t>**Client Team:**</a:t>
            </a:r>
          </a:p>
          <a:p>
            <a:r>
              <a:t>- CISO: Executive sponsorship and security vision</a:t>
            </a:r>
          </a:p>
          <a:p>
            <a:r>
              <a:t>- IT Security Lead: Technical implementation ownership</a:t>
            </a:r>
          </a:p>
          <a:p>
            <a:r>
              <a:t>- Help Desk Manager: User support coordination</a:t>
            </a:r>
          </a:p>
          <a:p>
            <a:r>
              <a:t>- HR Communications: Employee messaging</a:t>
            </a:r>
          </a:p>
          <a:p/>
          <a:p>
            <a:r>
              <a:t>**Vendor Team:**</a:t>
            </a:r>
          </a:p>
          <a:p>
            <a:r>
              <a:t>- Project Manager: Delivery accountability</a:t>
            </a:r>
          </a:p>
          <a:p>
            <a:r>
              <a:t>- Security Architect: SafeID and FIDO2 design</a:t>
            </a:r>
          </a:p>
          <a:p>
            <a:r>
              <a:t>- Deployment Engineer: Rollout execution</a:t>
            </a:r>
          </a:p>
          <a:p/>
          <a:p>
            <a:r>
              <a:t>**Immediate Next Steps:**</a:t>
            </a:r>
          </a:p>
          <a:p>
            <a:r>
              <a:t>| Task | Owner | Due |</a:t>
            </a:r>
          </a:p>
          <a:p>
            <a:r>
              <a:t>|------|-------|-----|</a:t>
            </a:r>
          </a:p>
          <a:p>
            <a:r>
              <a:t>| Final enrollment completion | IT Security | This week |</a:t>
            </a:r>
          </a:p>
          <a:p>
            <a:r>
              <a:t>| Documentation archive | PM | This week |</a:t>
            </a:r>
          </a:p>
          <a:p>
            <a:r>
              <a:t>| CMMC assessor scheduling | CISO | Week 2 |</a:t>
            </a:r>
          </a:p>
          <a:p>
            <a:r>
              <a:t>| Contractor scope definition | Security | Week 4 |</a:t>
            </a:r>
          </a:p>
          <a:p/>
          <a:p>
            <a:r>
              <a:t>**Phase 2 Considerations:**</a:t>
            </a:r>
          </a:p>
          <a:p>
            <a:r>
              <a:t>| Enhancement | Investment | Benefit |</a:t>
            </a:r>
          </a:p>
          <a:p>
            <a:r>
              <a:t>|-------------|------------|---------|</a:t>
            </a:r>
          </a:p>
          <a:p>
            <a:r>
              <a:t>| Contractor MFA | $20K | Supply chain security |</a:t>
            </a:r>
          </a:p>
          <a:p>
            <a:r>
              <a:t>| Passwordless Windows | $15K | Complete password elimination |</a:t>
            </a:r>
          </a:p>
          <a:p>
            <a:r>
              <a:t>| YubiKey Bio | $25K | Biometric for high-security |</a:t>
            </a:r>
          </a:p>
          <a:p>
            <a:r>
              <a:t>| PIV Smart Card | $10K | Government requirements |</a:t>
            </a:r>
          </a:p>
          <a:p/>
          <a:p>
            <a:r>
              <a:t>*Transition:*</a:t>
            </a:r>
          </a:p>
          <a:p>
            <a:r>
              <a:t>"Thank you for your partnership..."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*Closing:*</a:t>
            </a:r>
          </a:p>
          <a:p>
            <a:r>
              <a:t>"Thank you for your partnership. The Dell SafeID platform with YubiKey hardware tokens provides phishing-resistant authentication that meets CMMC Level 2 requirements and significantly improves your security posture.</a:t>
            </a:r>
          </a:p>
          <a:p/>
          <a:p>
            <a:r>
              <a:t>Questions?"</a:t>
            </a:r>
          </a:p>
          <a:p/>
          <a:p>
            <a:r>
              <a:t>**Anticipated Questions:**</a:t>
            </a:r>
          </a:p>
          <a:p/>
          <a:p>
            <a:r>
              <a:t>*Q: What if someone loses their YubiKey?*</a:t>
            </a:r>
          </a:p>
          <a:p>
            <a:r>
              <a:t>A: Help desk issues temporary token, orders replacement. User re-enrolls new key in 4 minutes. Lost key cannot be used without PIN.</a:t>
            </a:r>
          </a:p>
          <a:p/>
          <a:p>
            <a:r>
              <a:t>*Q: Can we use YubiKey for more applications?*</a:t>
            </a:r>
          </a:p>
          <a:p>
            <a:r>
              <a:t>A: Yes, YubiKey supports many protocols. We can add SSH, code signing, and additional SAML apps.</a:t>
            </a:r>
          </a:p>
          <a:p/>
          <a:p>
            <a:r>
              <a:t>*Q: What about mobile-only users?*</a:t>
            </a:r>
          </a:p>
          <a:p>
            <a:r>
              <a:t>A: YubiKey 5 NFC works with iOS and Android via NFC. Also supports mobile authenticator app as backup.</a:t>
            </a:r>
          </a:p>
          <a:p/>
          <a:p>
            <a:r>
              <a:t>*Q: How long do YubiKeys last?*</a:t>
            </a:r>
          </a:p>
          <a:p>
            <a:r>
              <a:t>A: No battery, no moving parts. Yubico warrants 2 years, but keys typically last 5+ years.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SafeID Enterprise Authentication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28,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6 weeks, on schedule</a:t>
            </a:r>
          </a:p>
          <a:p>
            <a:pPr/>
            <a:r>
              <a:rPr b="1"/>
              <a:t>Budget:</a:t>
            </a:r>
            <a:r>
              <a:t> $185,000 delivered on budget</a:t>
            </a:r>
          </a:p>
          <a:p>
            <a:pPr/>
            <a:r>
              <a:rPr b="1"/>
              <a:t>Go-Live Date:</a:t>
            </a:r>
            <a:r>
              <a:t> Week 6 as planned</a:t>
            </a:r>
          </a:p>
          <a:p>
            <a:pPr/>
            <a:r>
              <a:rPr b="1"/>
              <a:t>Quality:</a:t>
            </a:r>
            <a:r>
              <a:t> Zero security incidents</a:t>
            </a:r>
          </a:p>
          <a:p>
            <a:pPr/>
            <a:r>
              <a:rPr b="1"/>
              <a:t>Users Enrolled:</a:t>
            </a:r>
            <a:r>
              <a:t> 500 with YubiKey tokens</a:t>
            </a:r>
          </a:p>
          <a:p>
            <a:pPr/>
            <a:r>
              <a:rPr b="1"/>
              <a:t>Compliance:</a:t>
            </a:r>
            <a:r>
              <a:t> CMMC Level 2 achieved</a:t>
            </a:r>
          </a:p>
          <a:p>
            <a:pPr/>
            <a:r>
              <a:rPr b="1"/>
              <a:t>Authentication:</a:t>
            </a:r>
            <a:r>
              <a:t> &lt;2 second tap response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Identity Layer</a:t>
            </a:r>
          </a:p>
          <a:p>
            <a:pPr lvl="1"/>
            <a:r>
              <a:t>Dell SafeID Enterprise server</a:t>
            </a:r>
          </a:p>
          <a:p>
            <a:pPr lvl="1"/>
            <a:r>
              <a:t>Active Directory integration</a:t>
            </a:r>
          </a:p>
          <a:p>
            <a:pPr lvl="1"/>
            <a:r>
              <a:t>LDAP/RADIUS authentication</a:t>
            </a:r>
          </a:p>
          <a:p>
            <a:pPr/>
            <a:r>
              <a:rPr b="1"/>
              <a:t>Token Layer</a:t>
            </a:r>
          </a:p>
          <a:p>
            <a:pPr lvl="1"/>
            <a:r>
              <a:t>500x YubiKey 5 NFC tokens</a:t>
            </a:r>
          </a:p>
          <a:p>
            <a:pPr lvl="1"/>
            <a:r>
              <a:t>FIDO2 phishing-resistant auth</a:t>
            </a:r>
          </a:p>
          <a:p>
            <a:pPr lvl="1"/>
            <a:r>
              <a:t>Backup tokens for recovery</a:t>
            </a:r>
          </a:p>
          <a:p>
            <a:pPr/>
            <a:r>
              <a:rPr b="1"/>
              <a:t>Integration Layer</a:t>
            </a:r>
          </a:p>
          <a:p>
            <a:pPr lvl="1"/>
            <a:r>
              <a:t>Cisco AnyConnect VPN MFA</a:t>
            </a:r>
          </a:p>
          <a:p>
            <a:pPr lvl="1"/>
            <a:r>
              <a:t>Microsoft 365 SAML SSO</a:t>
            </a:r>
          </a:p>
          <a:p>
            <a:pPr lvl="1"/>
            <a:r>
              <a:t>AWS IAM Identity Center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Solution 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SafeID design and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 and enrollment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 matrix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Security validation and UAT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SafeID and RADIUS parameters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Enrollment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Self-service enrollment steps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`/delivery/user-guide.pdf`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Admin Operations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Token management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`/delivery/admin-guide.docx`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Compliance Evidence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CMMC Level 2 artifacts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Compliance portal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Security Metrics</a:t>
            </a:r>
          </a:p>
          <a:p>
            <a:pPr lvl="1"/>
            <a:r>
              <a:t>Phishing Resistance: 100%</a:t>
            </a:r>
          </a:p>
          <a:p>
            <a:pPr lvl="1"/>
            <a:r>
              <a:t>Password Resets: 0 required</a:t>
            </a:r>
          </a:p>
          <a:p>
            <a:pPr lvl="1"/>
            <a:r>
              <a:t>Account Takeovers: 0 incidents</a:t>
            </a:r>
          </a:p>
          <a:p>
            <a:pPr lvl="1"/>
            <a:r>
              <a:t>Credential Theft: Eliminated</a:t>
            </a:r>
          </a:p>
          <a:p>
            <a:pPr lvl="1"/>
            <a:r>
              <a:t>Audit Coverage: 100%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Auth Time: 1.8s (target: &lt;2s)</a:t>
            </a:r>
          </a:p>
          <a:p>
            <a:pPr lvl="1"/>
            <a:r>
              <a:t>Enrollment Time: 4 min avg</a:t>
            </a:r>
          </a:p>
          <a:p>
            <a:pPr lvl="1"/>
            <a:r>
              <a:t>Availability: 99.99% uptime</a:t>
            </a:r>
          </a:p>
          <a:p>
            <a:pPr lvl="1"/>
            <a:r>
              <a:t>Daily Auths: 10,000+ handled</a:t>
            </a:r>
          </a:p>
          <a:p>
            <a:pPr lvl="1"/>
            <a:r>
              <a:t>User Satisfaction: 94%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Phishing Protection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credential theft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Password Resets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Help desk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CMMC 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Level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Level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DoD contract ready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Experience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&lt;5s auth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1.8s auth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Higher productivity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Privileged Access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MFA required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YubiKey enforced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Reduced admin risk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Audit Capability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year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years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Extended 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Self-service enrollment portal</a:t>
            </a:r>
          </a:p>
          <a:p>
            <a:pPr lvl="1"/>
            <a:r>
              <a:t>Department-by-department rollout</a:t>
            </a:r>
          </a:p>
          <a:p>
            <a:pPr lvl="1"/>
            <a:r>
              <a:t>YubiKey 5 NFC flexibility</a:t>
            </a:r>
          </a:p>
          <a:p>
            <a:pPr lvl="1"/>
            <a:r>
              <a:t>Executive champion support</a:t>
            </a:r>
          </a:p>
          <a:p>
            <a:pPr lvl="1"/>
            <a:r>
              <a:t>Pre-registration communication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Legacy app compatibility</a:t>
            </a:r>
          </a:p>
          <a:p>
            <a:pPr lvl="1"/>
            <a:r>
              <a:t>Remote worker enrollment</a:t>
            </a:r>
          </a:p>
          <a:p>
            <a:pPr lvl="1"/>
            <a:r>
              <a:t>USB-C adapter needs</a:t>
            </a:r>
          </a:p>
          <a:p>
            <a:pPr lvl="1"/>
            <a:r>
              <a:t>Mobile app configuration</a:t>
            </a:r>
          </a:p>
          <a:p>
            <a:pPr lvl="1"/>
            <a:r>
              <a:t>Backup token logistics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Expand to contractors</a:t>
            </a:r>
          </a:p>
          <a:p>
            <a:pPr lvl="1"/>
            <a:r>
              <a:t>Add passwordless Windows</a:t>
            </a:r>
          </a:p>
          <a:p>
            <a:pPr lvl="1"/>
            <a:r>
              <a:t>Implement PIV capability</a:t>
            </a:r>
          </a:p>
          <a:p>
            <a:pPr lvl="1"/>
            <a:r>
              <a:t>Consider YubiKey Bio</a:t>
            </a:r>
          </a:p>
          <a:p>
            <a:pPr lvl="1"/>
            <a:r>
              <a:t>Annual security training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(6 weeks)</a:t>
            </a:r>
          </a:p>
          <a:p>
            <a:pPr lvl="1"/>
            <a:r>
              <a:t>Daily enrollment support</a:t>
            </a:r>
          </a:p>
          <a:p>
            <a:pPr lvl="1"/>
            <a:r>
              <a:t>0 security incidents</a:t>
            </a:r>
          </a:p>
          <a:p>
            <a:pPr lvl="1"/>
            <a:r>
              <a:t>All users trained</a:t>
            </a:r>
          </a:p>
          <a:p>
            <a:pPr lvl="1"/>
            <a:r>
              <a:t>Help desk certified</a:t>
            </a:r>
          </a:p>
          <a:p>
            <a:pPr lvl="1"/>
            <a:r>
              <a:t>Runbooks validated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Dell SafeID support contract</a:t>
            </a:r>
          </a:p>
          <a:p>
            <a:pPr lvl="1"/>
            <a:r>
              <a:t>Yubico technical support</a:t>
            </a:r>
          </a:p>
          <a:p>
            <a:pPr lvl="1"/>
            <a:r>
              <a:t>Help desk Tier 1 handling</a:t>
            </a:r>
          </a:p>
          <a:p>
            <a:pPr lvl="1"/>
            <a:r>
              <a:t>Monthly security reviews</a:t>
            </a:r>
          </a:p>
          <a:p>
            <a:pPr lvl="1"/>
            <a:r>
              <a:t>Quarterly audit reports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Internal Help Desk</a:t>
            </a:r>
          </a:p>
          <a:p>
            <a:pPr lvl="1"/>
            <a:r>
              <a:t>L2: IT Security Team</a:t>
            </a:r>
          </a:p>
          <a:p>
            <a:pPr lvl="1"/>
            <a:r>
              <a:t>L3: Dell SafeID Support</a:t>
            </a:r>
          </a:p>
          <a:p>
            <a:pPr lvl="1"/>
            <a:r>
              <a:t>Token Issues: Yubico Support</a:t>
            </a:r>
          </a:p>
          <a:p>
            <a:pPr lvl="1"/>
            <a:r>
              <a:t>Compliance: Security Officer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CISO, IT security, help desk, HR for communications</a:t>
            </a:r>
          </a:p>
          <a:p>
            <a:pPr/>
            <a:r>
              <a:rPr b="1"/>
              <a:t>Vendor Team:</a:t>
            </a:r>
            <a:r>
              <a:t> Project manager, security architect, deployment engineer</a:t>
            </a:r>
          </a:p>
          <a:p>
            <a:pPr/>
            <a:r>
              <a:rPr b="1"/>
              <a:t>Special Recognition:</a:t>
            </a:r>
            <a:r>
              <a:t> Help desk team for excellent user support</a:t>
            </a:r>
          </a:p>
          <a:p>
            <a:pPr/>
            <a:r>
              <a:rPr b="1"/>
              <a:t>This Week:</a:t>
            </a:r>
            <a:r>
              <a:t> Final user enrollment, documentation handover</a:t>
            </a:r>
          </a:p>
          <a:p>
            <a:pPr/>
            <a:r>
              <a:rPr b="1"/>
              <a:t>Next 30 Days:</a:t>
            </a:r>
            <a:r>
              <a:t> Contractor expansion planning, audit preparation</a:t>
            </a:r>
          </a:p>
          <a:p>
            <a:pPr/>
            <a:r>
              <a:rPr b="1"/>
              <a:t>Next Quarter:</a:t>
            </a:r>
            <a:r>
              <a:t> Passwordless Windows evaluation, PIV assessment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Enterprise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