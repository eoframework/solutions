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we're celebrating the successful completion of the Dell VxRail HCI Platform implementation. This project has transformed [Client Name]'s virtualization infrastructure from traditional SAN-based storage to modern hyperconverged infrastructure.</a:t>
            </a:r>
          </a:p>
          <a:p/>
          <a:p>
            <a:r>
              <a:t>*Key Talking Points:*</a:t>
            </a:r>
          </a:p>
          <a:p/>
          <a:p>
            <a:r>
              <a:t>**Project Duration - 6 Weeks:**</a:t>
            </a:r>
          </a:p>
          <a:p>
            <a:r>
              <a:t>- Phase 1 (Weeks 1-2): Planning, hardware procurement, site prep</a:t>
            </a:r>
          </a:p>
          <a:p>
            <a:r>
              <a:t>- Phase 2 (Weeks 3-4): VxRail deployment and vSAN configuration</a:t>
            </a:r>
          </a:p>
          <a:p>
            <a:r>
              <a:t>- Phase 3 (Weeks 5-6): VM migration, validation, hypercare</a:t>
            </a:r>
          </a:p>
          <a:p>
            <a:r>
              <a:t>- All milestones achieved on schedule</a:t>
            </a:r>
          </a:p>
          <a:p/>
          <a:p>
            <a:r>
              <a:t>**Budget Performance:**</a:t>
            </a:r>
          </a:p>
          <a:p>
            <a:r>
              <a:t>- Hardware: $380,000 (4-node VxRail E560 cluster)</a:t>
            </a:r>
          </a:p>
          <a:p>
            <a:r>
              <a:t>- Software: vSphere 8 Enterprise Plus licensing</a:t>
            </a:r>
          </a:p>
          <a:p>
            <a:r>
              <a:t>- Professional Services: Implementation and migration</a:t>
            </a:r>
          </a:p>
          <a:p>
            <a:r>
              <a:t>- Net result: Under budget with Dell credits applied</a:t>
            </a:r>
          </a:p>
          <a:p/>
          <a:p>
            <a:r>
              <a:t>**Infrastructure Delivered:**</a:t>
            </a:r>
          </a:p>
          <a:p>
            <a:r>
              <a:t>- 4-node VxRail E560 cluster with 25GbE networking</a:t>
            </a:r>
          </a:p>
          <a:p>
            <a:r>
              <a:t>- 40TB usable vSAN all-flash storage</a:t>
            </a:r>
          </a:p>
          <a:p>
            <a:r>
              <a:t>- vSphere 8 with vSAN 8 data services</a:t>
            </a:r>
          </a:p>
          <a:p>
            <a:r>
              <a:t>- Full HA with N+1 redundancy</a:t>
            </a:r>
          </a:p>
          <a:p/>
          <a:p>
            <a:r>
              <a:t>**Migration Success:**</a:t>
            </a:r>
          </a:p>
          <a:p>
            <a:r>
              <a:t>- 250 VMs migrated via vMotion</a:t>
            </a:r>
          </a:p>
          <a:p>
            <a:r>
              <a:t>- Zero data loss during migration</a:t>
            </a:r>
          </a:p>
          <a:p>
            <a:r>
              <a:t>- Minimal downtime per workload</a:t>
            </a:r>
          </a:p>
          <a:p>
            <a:r>
              <a:t>- Legacy SAN decommission ready</a:t>
            </a:r>
          </a:p>
          <a:p/>
          <a:p>
            <a:r>
              <a:t>*Transition:*</a:t>
            </a:r>
          </a:p>
          <a:p>
            <a:r>
              <a:t>"Let me walk you through the infrastructure we've built..."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Overview:*</a:t>
            </a:r>
          </a:p>
          <a:p/>
          <a:p>
            <a:r>
              <a:t>"This diagram shows the VxRail HCI cluster we deployed. Let me walk through each layer..."</a:t>
            </a:r>
          </a:p>
          <a:p/>
          <a:p>
            <a:r>
              <a:t>**Compute Layer - VxRail E560 Nodes:**</a:t>
            </a:r>
          </a:p>
          <a:p>
            <a:r>
              <a:t>- 4 identical nodes for HA and load balancing</a:t>
            </a:r>
          </a:p>
          <a:p>
            <a:r>
              <a:t>- Dual Intel Xeon Gold 6330 (28 cores each)</a:t>
            </a:r>
          </a:p>
          <a:p>
            <a:r>
              <a:t>- 1.5TB DDR4 RAM per node</a:t>
            </a:r>
          </a:p>
          <a:p>
            <a:r>
              <a:t>- Local cache SSDs for vSAN performance tier</a:t>
            </a:r>
          </a:p>
          <a:p>
            <a:r>
              <a:t>- Capacity SSDs for data tier</a:t>
            </a:r>
          </a:p>
          <a:p/>
          <a:p>
            <a:r>
              <a:t>**Storage Layer - vSAN 8:**</a:t>
            </a:r>
          </a:p>
          <a:p>
            <a:r>
              <a:t>- All-flash vSAN with 2-tier caching</a:t>
            </a:r>
          </a:p>
          <a:p>
            <a:r>
              <a:t>- 40TB usable after erasure coding</a:t>
            </a:r>
          </a:p>
          <a:p>
            <a:r>
              <a:t>- FTT=1 for availability</a:t>
            </a:r>
          </a:p>
          <a:p>
            <a:r>
              <a:t>- Deduplication and compression enabled</a:t>
            </a:r>
          </a:p>
          <a:p>
            <a:r>
              <a:t>- Native vSAN encryption at rest</a:t>
            </a:r>
          </a:p>
          <a:p/>
          <a:p>
            <a:r>
              <a:t>**Network Layer - 25GbE Fabric:**</a:t>
            </a:r>
          </a:p>
          <a:p>
            <a:r>
              <a:t>- Dell S5232F-ON ToR switches</a:t>
            </a:r>
          </a:p>
          <a:p>
            <a:r>
              <a:t>- Dedicated vSAN backend network</a:t>
            </a:r>
          </a:p>
          <a:p>
            <a:r>
              <a:t>- Separate vMotion network for migrations</a:t>
            </a:r>
          </a:p>
          <a:p>
            <a:r>
              <a:t>- Management network for ESXi and vCenter</a:t>
            </a:r>
          </a:p>
          <a:p>
            <a:r>
              <a:t>- VM traffic network for workloads</a:t>
            </a:r>
          </a:p>
          <a:p/>
          <a:p>
            <a:r>
              <a:t>**Key Architecture Decisions:**</a:t>
            </a:r>
          </a:p>
          <a:p>
            <a:r>
              <a:t>1. E560 nodes for balance of compute and storage</a:t>
            </a:r>
          </a:p>
          <a:p>
            <a:r>
              <a:t>2. 25GbE networking for vSAN performance</a:t>
            </a:r>
          </a:p>
          <a:p>
            <a:r>
              <a:t>3. Erasure coding for storage efficiency</a:t>
            </a:r>
          </a:p>
          <a:p>
            <a:r>
              <a:t>4. Stretched cluster ready for future DR</a:t>
            </a:r>
          </a:p>
          <a:p/>
          <a:p>
            <a:r>
              <a:t>*Transition:*</a:t>
            </a:r>
          </a:p>
          <a:p>
            <a:r>
              <a:t>"Now let me show you the complete deliverables..."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Deep Dive:*</a:t>
            </a:r>
          </a:p>
          <a:p/>
          <a:p>
            <a:r>
              <a:t>**1. Solution Architecture Document:**</a:t>
            </a:r>
          </a:p>
          <a:p>
            <a:r>
              <a:t>- Complete VxRail hardware specifications</a:t>
            </a:r>
          </a:p>
          <a:p>
            <a:r>
              <a:t>- vSAN configuration and policies</a:t>
            </a:r>
          </a:p>
          <a:p>
            <a:r>
              <a:t>- Network topology and VLAN design</a:t>
            </a:r>
          </a:p>
          <a:p>
            <a:r>
              <a:t>- Integration with vCenter 8</a:t>
            </a:r>
          </a:p>
          <a:p>
            <a:r>
              <a:t>- Disaster recovery considerations</a:t>
            </a:r>
          </a:p>
          <a:p/>
          <a:p>
            <a:r>
              <a:t>**2. Implementation Guide:**</a:t>
            </a:r>
          </a:p>
          <a:p>
            <a:r>
              <a:t>- Step-by-step deployment procedures</a:t>
            </a:r>
          </a:p>
          <a:p>
            <a:r>
              <a:t>- VxRail Manager initialization</a:t>
            </a:r>
          </a:p>
          <a:p>
            <a:r>
              <a:t>- vSAN configuration settings</a:t>
            </a:r>
          </a:p>
          <a:p>
            <a:r>
              <a:t>- VMware Skyline registration</a:t>
            </a:r>
          </a:p>
          <a:p>
            <a:r>
              <a:t>- Backup integration with Veeam</a:t>
            </a:r>
          </a:p>
          <a:p/>
          <a:p>
            <a:r>
              <a:t>**3. Project Plan:**</a:t>
            </a:r>
          </a:p>
          <a:p>
            <a:r>
              <a:t>- 25+ tasks across 6 weeks</a:t>
            </a:r>
          </a:p>
          <a:p>
            <a:r>
              <a:t>- 6 major milestones tracked</a:t>
            </a:r>
          </a:p>
          <a:p>
            <a:r>
              <a:t>- RACI matrix with clear ownership</a:t>
            </a:r>
          </a:p>
          <a:p>
            <a:r>
              <a:t>- Communications plan</a:t>
            </a:r>
          </a:p>
          <a:p/>
          <a:p>
            <a:r>
              <a:t>**4. Test Results:**</a:t>
            </a:r>
          </a:p>
          <a:p>
            <a:r>
              <a:t>- HCIBench performance testing</a:t>
            </a:r>
          </a:p>
          <a:p>
            <a:r>
              <a:t>- vSAN health check reports</a:t>
            </a:r>
          </a:p>
          <a:p>
            <a:r>
              <a:t>- VM migration validation</a:t>
            </a:r>
          </a:p>
          <a:p>
            <a:r>
              <a:t>- Backup/restore testing</a:t>
            </a:r>
          </a:p>
          <a:p/>
          <a:p>
            <a:r>
              <a:t>**5. Training Delivered:**</a:t>
            </a:r>
          </a:p>
          <a:p>
            <a:r>
              <a:t>- 2-day VxRail administration workshop</a:t>
            </a:r>
          </a:p>
          <a:p>
            <a:r>
              <a:t>- vSAN troubleshooting session</a:t>
            </a:r>
          </a:p>
          <a:p>
            <a:r>
              <a:t>- Backup and recovery procedures</a:t>
            </a:r>
          </a:p>
          <a:p>
            <a:r>
              <a:t>- Total: 16 training hours</a:t>
            </a:r>
          </a:p>
          <a:p/>
          <a:p>
            <a:r>
              <a:t>*Transition:*</a:t>
            </a:r>
          </a:p>
          <a:p>
            <a:r>
              <a:t>"Let's look at performance against targets..."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*Performance Deep Dive:*</a:t>
            </a:r>
          </a:p>
          <a:p/>
          <a:p>
            <a:r>
              <a:t>**Compute Performance Metrics:**</a:t>
            </a:r>
          </a:p>
          <a:p/>
          <a:p>
            <a:r>
              <a:t>*VM Density - 62 VMs per Node:*</a:t>
            </a:r>
          </a:p>
          <a:p>
            <a:r>
              <a:t>- Total 250 VMs across 4 nodes</a:t>
            </a:r>
          </a:p>
          <a:p>
            <a:r>
              <a:t>- Balanced distribution via DRS</a:t>
            </a:r>
          </a:p>
          <a:p>
            <a:r>
              <a:t>- Room for growth to 300+ VMs</a:t>
            </a:r>
          </a:p>
          <a:p>
            <a:r>
              <a:t>- CPU and memory headroom maintained</a:t>
            </a:r>
          </a:p>
          <a:p/>
          <a:p>
            <a:r>
              <a:t>*HA and vMotion:*</a:t>
            </a:r>
          </a:p>
          <a:p>
            <a:r>
              <a:t>- vSphere HA tested with simulated failures</a:t>
            </a:r>
          </a:p>
          <a:p>
            <a:r>
              <a:t>- Failover completes in under 2 minutes</a:t>
            </a:r>
          </a:p>
          <a:p>
            <a:r>
              <a:t>- vMotion tested at 12 VMs concurrently</a:t>
            </a:r>
          </a:p>
          <a:p>
            <a:r>
              <a:t>- Zero failed migrations during project</a:t>
            </a:r>
          </a:p>
          <a:p/>
          <a:p>
            <a:r>
              <a:t>**Storage Performance:**</a:t>
            </a:r>
          </a:p>
          <a:p/>
          <a:p>
            <a:r>
              <a:t>*IOPS - 12,000 per VM:*</a:t>
            </a:r>
          </a:p>
          <a:p>
            <a:r>
              <a:t>- HCIBench 4K random read/write testing</a:t>
            </a:r>
          </a:p>
          <a:p>
            <a:r>
              <a:t>- Exceeds 10K target by 20%</a:t>
            </a:r>
          </a:p>
          <a:p>
            <a:r>
              <a:t>- Consistent performance under load</a:t>
            </a:r>
          </a:p>
          <a:p>
            <a:r>
              <a:t>- vSAN cache tier working effectively</a:t>
            </a:r>
          </a:p>
          <a:p/>
          <a:p>
            <a:r>
              <a:t>*Latency - 0.8ms Average:*</a:t>
            </a:r>
          </a:p>
          <a:p>
            <a:r>
              <a:t>- Well below 2ms target</a:t>
            </a:r>
          </a:p>
          <a:p>
            <a:r>
              <a:t>- Measured at 70% VM load</a:t>
            </a:r>
          </a:p>
          <a:p>
            <a:r>
              <a:t>- SSD-only tier delivers sub-ms</a:t>
            </a:r>
          </a:p>
          <a:p>
            <a:r>
              <a:t>- No latency spikes observed</a:t>
            </a:r>
          </a:p>
          <a:p/>
          <a:p>
            <a:r>
              <a:t>**Comparison to SOW Targets:**</a:t>
            </a:r>
          </a:p>
          <a:p>
            <a:r>
              <a:t>| Metric | Target | Achieved | Status |</a:t>
            </a:r>
          </a:p>
          <a:p>
            <a:r>
              <a:t>|--------|--------|----------|--------|</a:t>
            </a:r>
          </a:p>
          <a:p>
            <a:r>
              <a:t>| VM Density | 60/node | 62/node | Exceeded |</a:t>
            </a:r>
          </a:p>
          <a:p>
            <a:r>
              <a:t>| IOPS/VM | 10K | 12K | Exceeded |</a:t>
            </a:r>
          </a:p>
          <a:p>
            <a:r>
              <a:t>| Latency | &lt; 2ms | 0.8ms | Exceeded |</a:t>
            </a:r>
          </a:p>
          <a:p>
            <a:r>
              <a:t>| Availability | 99.9% | 99.99% | Exceeded |</a:t>
            </a:r>
          </a:p>
          <a:p/>
          <a:p>
            <a:r>
              <a:t>*Transition:*</a:t>
            </a:r>
          </a:p>
          <a:p>
            <a:r>
              <a:t>"These performance improvements deliver real business value..."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Analysis:*</a:t>
            </a:r>
          </a:p>
          <a:p/>
          <a:p>
            <a:r>
              <a:t>**Infrastructure Consolidation - 5:1:**</a:t>
            </a:r>
          </a:p>
          <a:p>
            <a:r>
              <a:t>- Previous: 20 legacy servers + SAN</a:t>
            </a:r>
          </a:p>
          <a:p>
            <a:r>
              <a:t>- Current: 4 VxRail nodes</a:t>
            </a:r>
          </a:p>
          <a:p>
            <a:r>
              <a:t>- 12 servers decommissioned</a:t>
            </a:r>
          </a:p>
          <a:p>
            <a:r>
              <a:t>- 16 drives retired from legacy SAN</a:t>
            </a:r>
          </a:p>
          <a:p/>
          <a:p>
            <a:r>
              <a:t>**Storage Efficiency - 1.8:1:**</a:t>
            </a:r>
          </a:p>
          <a:p>
            <a:r>
              <a:t>- Deduplication: 1.4:1 ratio</a:t>
            </a:r>
          </a:p>
          <a:p>
            <a:r>
              <a:t>- Compression: 1.3:1 ratio</a:t>
            </a:r>
          </a:p>
          <a:p>
            <a:r>
              <a:t>- Combined: 1.8:1 effective</a:t>
            </a:r>
          </a:p>
          <a:p>
            <a:r>
              <a:t>- 12TB logical capacity savings</a:t>
            </a:r>
          </a:p>
          <a:p/>
          <a:p>
            <a:r>
              <a:t>**VM Provisioning - 95% Faster:**</a:t>
            </a:r>
          </a:p>
          <a:p>
            <a:r>
              <a:t>- Legacy: 4-6 hours (LUN creation, mapping)</a:t>
            </a:r>
          </a:p>
          <a:p>
            <a:r>
              <a:t>- VxRail: 15 minutes (vSAN policies)</a:t>
            </a:r>
          </a:p>
          <a:p>
            <a:r>
              <a:t>- Self-service capability enabled</a:t>
            </a:r>
          </a:p>
          <a:p>
            <a:r>
              <a:t>- Developer productivity improved</a:t>
            </a:r>
          </a:p>
          <a:p/>
          <a:p>
            <a:r>
              <a:t>**Management Simplicity:**</a:t>
            </a:r>
          </a:p>
          <a:p>
            <a:r>
              <a:t>- Single VxRail Manager interface</a:t>
            </a:r>
          </a:p>
          <a:p>
            <a:r>
              <a:t>- Integrated lifecycle management</a:t>
            </a:r>
          </a:p>
          <a:p>
            <a:r>
              <a:t>- Automated health monitoring</a:t>
            </a:r>
          </a:p>
          <a:p>
            <a:r>
              <a:t>- 60% reduction in admin overhead</a:t>
            </a:r>
          </a:p>
          <a:p/>
          <a:p>
            <a:r>
              <a:t>**Power and Cooling Savings:**</a:t>
            </a:r>
          </a:p>
          <a:p>
            <a:r>
              <a:t>- Legacy: 18kW power draw</a:t>
            </a:r>
          </a:p>
          <a:p>
            <a:r>
              <a:t>- VxRail: 12kW power draw</a:t>
            </a:r>
          </a:p>
          <a:p>
            <a:r>
              <a:t>- 35% reduction = $24K/year</a:t>
            </a:r>
          </a:p>
          <a:p>
            <a:r>
              <a:t>- Additional cooling savings</a:t>
            </a:r>
          </a:p>
          <a:p/>
          <a:p>
            <a:r>
              <a:t>**3-Year TCO Analysis:**</a:t>
            </a:r>
          </a:p>
          <a:p>
            <a:r>
              <a:t>- VxRail 3-year TCO: $520,000</a:t>
            </a:r>
          </a:p>
          <a:p>
            <a:r>
              <a:t>- Legacy refresh cost: $890,000</a:t>
            </a:r>
          </a:p>
          <a:p>
            <a:r>
              <a:t>- Net savings: $370,000 (42%)</a:t>
            </a:r>
          </a:p>
          <a:p/>
          <a:p>
            <a:r>
              <a:t>*Transition:*</a:t>
            </a:r>
          </a:p>
          <a:p>
            <a:r>
              <a:t>"We learned important lessons during this project..."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Details:*</a:t>
            </a:r>
          </a:p>
          <a:p/>
          <a:p>
            <a:r>
              <a:t>**What Worked Well:**</a:t>
            </a:r>
          </a:p>
          <a:p/>
          <a:p>
            <a:r>
              <a:t>*1. VxRail Rapid Deployment:*</a:t>
            </a:r>
          </a:p>
          <a:p>
            <a:r>
              <a:t>- Factory-configured nodes reduced setup</a:t>
            </a:r>
          </a:p>
          <a:p>
            <a:r>
              <a:t>- VxRail Manager automated cluster creation</a:t>
            </a:r>
          </a:p>
          <a:p>
            <a:r>
              <a:t>- vCenter integration automated</a:t>
            </a:r>
          </a:p>
          <a:p>
            <a:r>
              <a:t>- Day 1 to running VMs in 4 hours</a:t>
            </a:r>
          </a:p>
          <a:p/>
          <a:p>
            <a:r>
              <a:t>*2. vMotion Bulk Migration:*</a:t>
            </a:r>
          </a:p>
          <a:p>
            <a:r>
              <a:t>- PowerCLI scripts for batch migration</a:t>
            </a:r>
          </a:p>
          <a:p>
            <a:r>
              <a:t>- 25 VMs per batch overnight</a:t>
            </a:r>
          </a:p>
          <a:p>
            <a:r>
              <a:t>- 10 nights for 250 VMs</a:t>
            </a:r>
          </a:p>
          <a:p>
            <a:r>
              <a:t>- Zero data loss across all migrations</a:t>
            </a:r>
          </a:p>
          <a:p/>
          <a:p>
            <a:r>
              <a:t>*3. Early Veeam Integration:*</a:t>
            </a:r>
          </a:p>
          <a:p>
            <a:r>
              <a:t>- Backup configured in Week 4</a:t>
            </a:r>
          </a:p>
          <a:p>
            <a:r>
              <a:t>- VMs protected before migration</a:t>
            </a:r>
          </a:p>
          <a:p>
            <a:r>
              <a:t>- Recovery testing validated</a:t>
            </a:r>
          </a:p>
          <a:p>
            <a:r>
              <a:t>- Compliance requirements met</a:t>
            </a:r>
          </a:p>
          <a:p/>
          <a:p>
            <a:r>
              <a:t>**Challenges Overcome:**</a:t>
            </a:r>
          </a:p>
          <a:p/>
          <a:p>
            <a:r>
              <a:t>*1. Network VLAN Configuration:*</a:t>
            </a:r>
          </a:p>
          <a:p>
            <a:r>
              <a:t>- Challenge: Complex existing VLAN structure</a:t>
            </a:r>
          </a:p>
          <a:p>
            <a:r>
              <a:t>- Resolution: Dedicated VLANs for vSAN</a:t>
            </a:r>
          </a:p>
          <a:p>
            <a:r>
              <a:t>- Lesson: Plan VLANs early in design</a:t>
            </a:r>
          </a:p>
          <a:p/>
          <a:p>
            <a:r>
              <a:t>*2. Legacy VM Compatibility:*</a:t>
            </a:r>
          </a:p>
          <a:p>
            <a:r>
              <a:t>- Challenge: Windows 2008 R2 VMs</a:t>
            </a:r>
          </a:p>
          <a:p>
            <a:r>
              <a:t>- Resolution: VMware Tools upgrade first</a:t>
            </a:r>
          </a:p>
          <a:p>
            <a:r>
              <a:t>- Lesson: Inventory legacy VMs early</a:t>
            </a:r>
          </a:p>
          <a:p/>
          <a:p>
            <a:r>
              <a:t>**Recommendations:**</a:t>
            </a:r>
          </a:p>
          <a:p/>
          <a:p>
            <a:r>
              <a:t>*1. vSAN Stretched Cluster (Priority: High):*</a:t>
            </a:r>
          </a:p>
          <a:p>
            <a:r>
              <a:t>- Enable DR capability to secondary site</a:t>
            </a:r>
          </a:p>
          <a:p>
            <a:r>
              <a:t>- Requires witness appliance</a:t>
            </a:r>
          </a:p>
          <a:p>
            <a:r>
              <a:t>- Estimated investment: $50K</a:t>
            </a:r>
          </a:p>
          <a:p/>
          <a:p>
            <a:r>
              <a:t>*2. vRealize Operations (Priority: Medium):*</a:t>
            </a:r>
          </a:p>
          <a:p>
            <a:r>
              <a:t>- Advanced monitoring and capacity planning</a:t>
            </a:r>
          </a:p>
          <a:p>
            <a:r>
              <a:t>- Predictive analytics for issues</a:t>
            </a:r>
          </a:p>
          <a:p>
            <a:r>
              <a:t>- Estimated: $15K annual</a:t>
            </a:r>
          </a:p>
          <a:p/>
          <a:p>
            <a:r>
              <a:t>*Transition:*</a:t>
            </a:r>
          </a:p>
          <a:p>
            <a:r>
              <a:t>"Let me walk through support transition..."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Details:*</a:t>
            </a:r>
          </a:p>
          <a:p/>
          <a:p>
            <a:r>
              <a:t>**Hypercare Summary:**</a:t>
            </a:r>
          </a:p>
          <a:p/>
          <a:p>
            <a:r>
              <a:t>*Daily Activities Completed:*</a:t>
            </a:r>
          </a:p>
          <a:p>
            <a:r>
              <a:t>- Morning vSAN health check</a:t>
            </a:r>
          </a:p>
          <a:p>
            <a:r>
              <a:t>- VM performance review</a:t>
            </a:r>
          </a:p>
          <a:p>
            <a:r>
              <a:t>- Backup job verification</a:t>
            </a:r>
          </a:p>
          <a:p>
            <a:r>
              <a:t>- User issue resolution</a:t>
            </a:r>
          </a:p>
          <a:p/>
          <a:p>
            <a:r>
              <a:t>*Issues Resolved:*</a:t>
            </a:r>
          </a:p>
          <a:p>
            <a:r>
              <a:t>- Issue #1: DRS affinity rule conflict (P3)</a:t>
            </a:r>
          </a:p>
          <a:p>
            <a:r>
              <a:t>- Issue #2: Backup window optimization (P4)</a:t>
            </a:r>
          </a:p>
          <a:p>
            <a:r>
              <a:t>- Issue #3: vMotion network tuning (P3)</a:t>
            </a:r>
          </a:p>
          <a:p>
            <a:r>
              <a:t>- Zero P1/P2 issues during hypercare</a:t>
            </a:r>
          </a:p>
          <a:p/>
          <a:p>
            <a:r>
              <a:t>**Steady State Support:**</a:t>
            </a:r>
          </a:p>
          <a:p/>
          <a:p>
            <a:r>
              <a:t>*Dell ProSupport Plus:*</a:t>
            </a:r>
          </a:p>
          <a:p>
            <a:r>
              <a:t>- 24x7 phone and chat support</a:t>
            </a:r>
          </a:p>
          <a:p>
            <a:r>
              <a:t>- 4-hour on-site response for critical</a:t>
            </a:r>
          </a:p>
          <a:p>
            <a:r>
              <a:t>- Proactive monitoring via SupportAssist</a:t>
            </a:r>
          </a:p>
          <a:p>
            <a:r>
              <a:t>- Automatic case creation for alerts</a:t>
            </a:r>
          </a:p>
          <a:p/>
          <a:p>
            <a:r>
              <a:t>*VMware Support:*</a:t>
            </a:r>
          </a:p>
          <a:p>
            <a:r>
              <a:t>- Production support included</a:t>
            </a:r>
          </a:p>
          <a:p>
            <a:r>
              <a:t>- vSAN specific support team</a:t>
            </a:r>
          </a:p>
          <a:p>
            <a:r>
              <a:t>- KB access and patches</a:t>
            </a:r>
          </a:p>
          <a:p>
            <a:r>
              <a:t>- Remote troubleshooting</a:t>
            </a:r>
          </a:p>
          <a:p/>
          <a:p>
            <a:r>
              <a:t>**Monthly Health Reviews:**</a:t>
            </a:r>
          </a:p>
          <a:p>
            <a:r>
              <a:t>- vSAN health dashboard review</a:t>
            </a:r>
          </a:p>
          <a:p>
            <a:r>
              <a:t>- Capacity planning assessment</a:t>
            </a:r>
          </a:p>
          <a:p>
            <a:r>
              <a:t>- Performance trend analysis</a:t>
            </a:r>
          </a:p>
          <a:p>
            <a:r>
              <a:t>- Patch/upgrade planning</a:t>
            </a:r>
          </a:p>
          <a:p/>
          <a:p>
            <a:r>
              <a:t>**Training Delivered:**</a:t>
            </a:r>
          </a:p>
          <a:p>
            <a:r>
              <a:t>| Session | Attendees | Duration |</a:t>
            </a:r>
          </a:p>
          <a:p>
            <a:r>
              <a:t>|---------|-----------|----------|</a:t>
            </a:r>
          </a:p>
          <a:p>
            <a:r>
              <a:t>| VxRail Administration | 5 admins | 8 hours |</a:t>
            </a:r>
          </a:p>
          <a:p>
            <a:r>
              <a:t>| vSAN Troubleshooting | 3 senior | 4 hours |</a:t>
            </a:r>
          </a:p>
          <a:p>
            <a:r>
              <a:t>| Veeam Backup/Restore | 3 admins | 4 hours |</a:t>
            </a:r>
          </a:p>
          <a:p/>
          <a:p>
            <a:r>
              <a:t>*Transition:*</a:t>
            </a:r>
          </a:p>
          <a:p>
            <a:r>
              <a:t>"Let me recognize the team..."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*Acknowledgments:*</a:t>
            </a:r>
          </a:p>
          <a:p/>
          <a:p>
            <a:r>
              <a:t>**Client Team:**</a:t>
            </a:r>
          </a:p>
          <a:p>
            <a:r>
              <a:t>- Executive Sponsor: Championed HCI initiative</a:t>
            </a:r>
          </a:p>
          <a:p>
            <a:r>
              <a:t>- Virtualization Lead: Migration coordination</a:t>
            </a:r>
          </a:p>
          <a:p>
            <a:r>
              <a:t>- Network Team: VLAN and switch configuration</a:t>
            </a:r>
          </a:p>
          <a:p>
            <a:r>
              <a:t>- Server Team: Legacy decommission planning</a:t>
            </a:r>
          </a:p>
          <a:p/>
          <a:p>
            <a:r>
              <a:t>**Vendor Team:**</a:t>
            </a:r>
          </a:p>
          <a:p>
            <a:r>
              <a:t>- Project Manager: Delivery accountability</a:t>
            </a:r>
          </a:p>
          <a:p>
            <a:r>
              <a:t>- VMware Architect: vSAN design and tuning</a:t>
            </a:r>
          </a:p>
          <a:p>
            <a:r>
              <a:t>- Dell Specialist: Hardware and support setup</a:t>
            </a:r>
          </a:p>
          <a:p/>
          <a:p>
            <a:r>
              <a:t>**Immediate Next Steps:**</a:t>
            </a:r>
          </a:p>
          <a:p/>
          <a:p>
            <a:r>
              <a:t>| Task | Owner | Due |</a:t>
            </a:r>
          </a:p>
          <a:p>
            <a:r>
              <a:t>|------|-------|-----|</a:t>
            </a:r>
          </a:p>
          <a:p>
            <a:r>
              <a:t>| Archive project site | PM | This week |</a:t>
            </a:r>
          </a:p>
          <a:p>
            <a:r>
              <a:t>| Decommission plan | IT Lead | This week |</a:t>
            </a:r>
          </a:p>
          <a:p>
            <a:r>
              <a:t>| Remove legacy SAN LUNs | Storage Admin | Week 2 |</a:t>
            </a:r>
          </a:p>
          <a:p>
            <a:r>
              <a:t>| vSAN health review | VMware Architect | Week 4 |</a:t>
            </a:r>
          </a:p>
          <a:p/>
          <a:p>
            <a:r>
              <a:t>**Phase 2 Considerations:**</a:t>
            </a:r>
          </a:p>
          <a:p/>
          <a:p>
            <a:r>
              <a:t>| Enhancement | Investment | Benefit |</a:t>
            </a:r>
          </a:p>
          <a:p>
            <a:r>
              <a:t>|-------------|------------|---------|</a:t>
            </a:r>
          </a:p>
          <a:p>
            <a:r>
              <a:t>| Stretched cluster | $50K | DR capability |</a:t>
            </a:r>
          </a:p>
          <a:p>
            <a:r>
              <a:t>| 2 additional nodes | $200K | 50% more capacity |</a:t>
            </a:r>
          </a:p>
          <a:p>
            <a:r>
              <a:t>| vRealize Operations | $15K/year | Advanced monitoring |</a:t>
            </a:r>
          </a:p>
          <a:p/>
          <a:p>
            <a:r>
              <a:t>*Transition:*</a:t>
            </a:r>
          </a:p>
          <a:p>
            <a:r>
              <a:t>"Thank you for your partnership..."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*Closing:*</a:t>
            </a:r>
          </a:p>
          <a:p>
            <a:r>
              <a:t>"Thank you for your partnership. The VxRail HCI platform provides a modern, efficient foundation for your virtualization needs with significant operational and cost benefits.</a:t>
            </a:r>
          </a:p>
          <a:p/>
          <a:p>
            <a:r>
              <a:t>Questions?"</a:t>
            </a:r>
          </a:p>
          <a:p/>
          <a:p>
            <a:r>
              <a:t>**Anticipated Questions:**</a:t>
            </a:r>
          </a:p>
          <a:p/>
          <a:p>
            <a:r>
              <a:t>*Q: Can we add more nodes?*</a:t>
            </a:r>
          </a:p>
          <a:p>
            <a:r>
              <a:t>A: Yes, VxRail supports expansion up to 64 nodes. Adding 2 nodes takes 1 day each. Capacity scales linearly.</a:t>
            </a:r>
          </a:p>
          <a:p/>
          <a:p>
            <a:r>
              <a:t>*Q: What about disaster recovery?*</a:t>
            </a:r>
          </a:p>
          <a:p>
            <a:r>
              <a:t>A: vSAN stretched cluster can provide synchronous replication to a secondary site. Recommend evaluating for Phase 2.</a:t>
            </a:r>
          </a:p>
          <a:p/>
          <a:p>
            <a:r>
              <a:t>*Q: How do we handle VMware patches?*</a:t>
            </a:r>
          </a:p>
          <a:p>
            <a:r>
              <a:t>A: VxRail Manager handles lifecycle management. Schedule quarterly maintenance windows for updates.</a:t>
            </a:r>
          </a:p>
          <a:p/>
          <a:p>
            <a:r>
              <a:t>*Q: What if a node fails?*</a:t>
            </a:r>
          </a:p>
          <a:p>
            <a:r>
              <a:t>A: vSAN rebuilds data automatically. N+1 capacity maintained. Dell replaces hardware within 4 hours.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VxRail HCI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27,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6 weeks, on schedule</a:t>
            </a:r>
          </a:p>
          <a:p>
            <a:pPr/>
            <a:r>
              <a:rPr b="1"/>
              <a:t>Budget:</a:t>
            </a:r>
            <a:r>
              <a:t> $438,675 delivered under budget</a:t>
            </a:r>
          </a:p>
          <a:p>
            <a:pPr/>
            <a:r>
              <a:rPr b="1"/>
              <a:t>Go-Live Date:</a:t>
            </a:r>
            <a:r>
              <a:t> Week 6 as planned</a:t>
            </a:r>
          </a:p>
          <a:p>
            <a:pPr/>
            <a:r>
              <a:rPr b="1"/>
              <a:t>Quality:</a:t>
            </a:r>
            <a:r>
              <a:t> Zero critical issues at launch</a:t>
            </a:r>
          </a:p>
          <a:p>
            <a:pPr/>
            <a:r>
              <a:rPr b="1"/>
              <a:t>Infrastructure:</a:t>
            </a:r>
            <a:r>
              <a:t> 4-node VxRail E560 cluster</a:t>
            </a:r>
          </a:p>
          <a:p>
            <a:pPr/>
            <a:r>
              <a:rPr b="1"/>
              <a:t>Migration:</a:t>
            </a:r>
            <a:r>
              <a:t> 250 VMs migrated successfully</a:t>
            </a:r>
          </a:p>
          <a:p>
            <a:pPr/>
            <a:r>
              <a:rPr b="1"/>
              <a:t>Performance:</a:t>
            </a:r>
            <a:r>
              <a:t> 10K+ IOPS per VM achieved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Compute Layer</a:t>
            </a:r>
          </a:p>
          <a:p>
            <a:pPr lvl="1"/>
            <a:r>
              <a:t>4x Dell VxRail E560 nodes</a:t>
            </a:r>
          </a:p>
          <a:p>
            <a:pPr lvl="1"/>
            <a:r>
              <a:t>Dual Intel Xeon Gold CPUs</a:t>
            </a:r>
          </a:p>
          <a:p>
            <a:pPr lvl="1"/>
            <a:r>
              <a:t>1.5TB RAM per node (6TB total)</a:t>
            </a:r>
          </a:p>
          <a:p>
            <a:pPr/>
            <a:r>
              <a:rPr b="1"/>
              <a:t>Storage Layer</a:t>
            </a:r>
          </a:p>
          <a:p>
            <a:pPr lvl="1"/>
            <a:r>
              <a:t>vSAN 8 all-flash architecture</a:t>
            </a:r>
          </a:p>
          <a:p>
            <a:pPr lvl="1"/>
            <a:r>
              <a:t>40TB usable capacity</a:t>
            </a:r>
          </a:p>
          <a:p>
            <a:pPr lvl="1"/>
            <a:r>
              <a:t>Erasure coding for efficiency</a:t>
            </a:r>
          </a:p>
          <a:p>
            <a:pPr/>
            <a:r>
              <a:rPr b="1"/>
              <a:t>Network Layer</a:t>
            </a:r>
          </a:p>
          <a:p>
            <a:pPr lvl="1"/>
            <a:r>
              <a:t>25GbE ToR switches</a:t>
            </a:r>
          </a:p>
          <a:p>
            <a:pPr lvl="1"/>
            <a:r>
              <a:t>Dedicated vSAN traffic</a:t>
            </a:r>
          </a:p>
          <a:p>
            <a:pPr lvl="1"/>
            <a:r>
              <a:t>vMotion and management VLANs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Solution Architecture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VxRail cluster design and vSAN config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 procedures and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RACI matrix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Performance benchmarks and UAT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vCenter and ESXi parameters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Migration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 migration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`/delivery/migration-runbook.docx`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vSAN Health Reports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Cluster health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vCenter Health UI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Backup Configuration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Veeam integration settings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Veeam console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Compute Performance</a:t>
            </a:r>
          </a:p>
          <a:p>
            <a:pPr lvl="1"/>
            <a:r>
              <a:t>VM Density: 62 VMs per node</a:t>
            </a:r>
          </a:p>
          <a:p>
            <a:pPr lvl="1"/>
            <a:r>
              <a:t>CPU Utilization: 45% average</a:t>
            </a:r>
          </a:p>
          <a:p>
            <a:pPr lvl="1"/>
            <a:r>
              <a:t>Memory Utilization: 65% average</a:t>
            </a:r>
          </a:p>
          <a:p>
            <a:pPr lvl="1"/>
            <a:r>
              <a:t>vMotion Success: 100% rate</a:t>
            </a:r>
          </a:p>
          <a:p>
            <a:pPr lvl="1"/>
            <a:r>
              <a:t>HA Failover: &lt; 2 minutes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Storage Performance</a:t>
            </a:r>
          </a:p>
          <a:p>
            <a:pPr lvl="1"/>
            <a:r>
              <a:t>IOPS per VM: 12,000 (target: 10K)</a:t>
            </a:r>
          </a:p>
          <a:p>
            <a:pPr lvl="1"/>
            <a:r>
              <a:t>Latency: 0.8ms (target: &lt; 2ms)</a:t>
            </a:r>
          </a:p>
          <a:p>
            <a:pPr lvl="1"/>
            <a:r>
              <a:t>Throughput: 8.5 GB/s aggregate</a:t>
            </a:r>
          </a:p>
          <a:p>
            <a:pPr lvl="1"/>
            <a:r>
              <a:t>Capacity Used: 28TB of 40TB</a:t>
            </a:r>
          </a:p>
          <a:p>
            <a:pPr lvl="1"/>
            <a:r>
              <a:t>Dedup Ratio: 1.8:1 achieved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SOW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Infrastructure Consolidation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4:1 ratio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5:1 ratio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servers retired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Efficiency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1.5:1 dedup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1.8:1 dedup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12TB storage saved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VM Provisioning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Hours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 faster deployments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Management Simplicity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pane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VxRail Manager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60% reduced admin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Power Consumption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35%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$24K annual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Rack Space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8U footprint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8U footprint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20U reclaimed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VxRail rapid deployment model</a:t>
            </a:r>
          </a:p>
          <a:p>
            <a:pPr lvl="1"/>
            <a:r>
              <a:t>vMotion bulk migration scripts</a:t>
            </a:r>
          </a:p>
          <a:p>
            <a:pPr lvl="1"/>
            <a:r>
              <a:t>Parallel team coordination</a:t>
            </a:r>
          </a:p>
          <a:p>
            <a:pPr lvl="1"/>
            <a:r>
              <a:t>Weekly stakeholder updates</a:t>
            </a:r>
          </a:p>
          <a:p>
            <a:pPr lvl="1"/>
            <a:r>
              <a:t>Early Veeam integration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Network VLAN configuration</a:t>
            </a:r>
          </a:p>
          <a:p>
            <a:pPr lvl="1"/>
            <a:r>
              <a:t>Legacy VM compatibility</a:t>
            </a:r>
          </a:p>
          <a:p>
            <a:pPr lvl="1"/>
            <a:r>
              <a:t>Storage policy tuning</a:t>
            </a:r>
          </a:p>
          <a:p>
            <a:pPr lvl="1"/>
            <a:r>
              <a:t>Backup window scheduling</a:t>
            </a:r>
          </a:p>
          <a:p>
            <a:pPr lvl="1"/>
            <a:r>
              <a:t>User communication timing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Enable vSAN stretched cluster</a:t>
            </a:r>
          </a:p>
          <a:p>
            <a:pPr lvl="1"/>
            <a:r>
              <a:t>Implement vRealize Operations</a:t>
            </a:r>
          </a:p>
          <a:p>
            <a:pPr lvl="1"/>
            <a:r>
              <a:t>Consider node expansion (6 nodes)</a:t>
            </a:r>
          </a:p>
          <a:p>
            <a:pPr lvl="1"/>
            <a:r>
              <a:t>Add GPU nodes for VDI</a:t>
            </a:r>
          </a:p>
          <a:p>
            <a:pPr lvl="1"/>
            <a:r>
              <a:t>Quarterly health reviews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(6 weeks)</a:t>
            </a:r>
          </a:p>
          <a:p>
            <a:pPr lvl="1"/>
            <a:r>
              <a:t>Daily health checks performed</a:t>
            </a:r>
          </a:p>
          <a:p>
            <a:pPr lvl="1"/>
            <a:r>
              <a:t>0 critical issues identified</a:t>
            </a:r>
          </a:p>
          <a:p>
            <a:pPr lvl="1"/>
            <a:r>
              <a:t>All training delivered</a:t>
            </a:r>
          </a:p>
          <a:p>
            <a:pPr lvl="1"/>
            <a:r>
              <a:t>Runbooks validated</a:t>
            </a:r>
          </a:p>
          <a:p>
            <a:pPr lvl="1"/>
            <a:r>
              <a:t>Team certified on VxRail</a:t>
            </a:r>
          </a:p>
          <a:p>
            <a:pPr/>
            <a:r>
              <a:rPr b="1"/>
              <a:t>Steady State Support</a:t>
            </a:r>
          </a:p>
          <a:p>
            <a:pPr lvl="1"/>
            <a:r>
              <a:t>Dell ProSupport Plus 24x7</a:t>
            </a:r>
          </a:p>
          <a:p>
            <a:pPr lvl="1"/>
            <a:r>
              <a:t>VMware production support</a:t>
            </a:r>
          </a:p>
          <a:p>
            <a:pPr lvl="1"/>
            <a:r>
              <a:t>Monthly health reviews</a:t>
            </a:r>
          </a:p>
          <a:p>
            <a:pPr lvl="1"/>
            <a:r>
              <a:t>Automated Skyline alerts</a:t>
            </a:r>
          </a:p>
          <a:p>
            <a:pPr lvl="1"/>
            <a:r>
              <a:t>Veeam support included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Internal VMware Admin</a:t>
            </a:r>
          </a:p>
          <a:p>
            <a:pPr lvl="1"/>
            <a:r>
              <a:t>L2: IT Infrastructure Team</a:t>
            </a:r>
          </a:p>
          <a:p>
            <a:pPr lvl="1"/>
            <a:r>
              <a:t>L3: Dell ProSupport Plus</a:t>
            </a:r>
          </a:p>
          <a:p>
            <a:pPr lvl="1"/>
            <a:r>
              <a:t>L4: Dell Engineering (critical)</a:t>
            </a:r>
          </a:p>
          <a:p>
            <a:pPr lvl="1"/>
            <a:r>
              <a:t>vSAN: VMware Support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Team:</a:t>
            </a:r>
            <a:r>
              <a:t> Executive sponsor, virtualization team, network engineers</a:t>
            </a:r>
          </a:p>
          <a:p>
            <a:pPr/>
            <a:r>
              <a:rPr b="1"/>
              <a:t>Vendor Team:</a:t>
            </a:r>
            <a:r>
              <a:t> Project manager, VMware architect, Dell specialist</a:t>
            </a:r>
          </a:p>
          <a:p>
            <a:pPr/>
            <a:r>
              <a:rPr b="1"/>
              <a:t>Special Recognition:</a:t>
            </a:r>
            <a:r>
              <a:t> Virtualization team for weekend migration support</a:t>
            </a:r>
          </a:p>
          <a:p>
            <a:pPr/>
            <a:r>
              <a:rPr b="1"/>
              <a:t>This Week:</a:t>
            </a:r>
            <a:r>
              <a:t> Documentation handover, legacy server decommission planning</a:t>
            </a:r>
          </a:p>
          <a:p>
            <a:pPr/>
            <a:r>
              <a:rPr b="1"/>
              <a:t>Next 30 Days:</a:t>
            </a:r>
            <a:r>
              <a:t> vSAN health review, capacity planning session</a:t>
            </a:r>
          </a:p>
          <a:p>
            <a:pPr/>
            <a:r>
              <a:rPr b="1"/>
              <a:t>Next Quarter:</a:t>
            </a:r>
            <a:r>
              <a:t> Evaluate stretched cluster for DR capability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HCI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