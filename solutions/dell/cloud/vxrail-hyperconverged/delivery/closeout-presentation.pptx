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*Opening Statement:*</a:t>
            </a:r>
          </a:p>
          <a:p>
            <a:r>
              <a:t>Good [morning/afternoon]. Today we're celebrating the successful completion of the Dell VxRail Hyperconverged Infrastructure implementation. This enterprise-grade deployment has transformed [Client Name]'s mission-critical infrastructure with all-NVMe performance and 99.99% availability.</a:t>
            </a:r>
          </a:p>
          <a:p/>
          <a:p>
            <a:r>
              <a:t>*Key Talking Points:*</a:t>
            </a:r>
          </a:p>
          <a:p/>
          <a:p>
            <a:r>
              <a:t>**Project Duration - 8 Weeks:**</a:t>
            </a:r>
          </a:p>
          <a:p>
            <a:r>
              <a:t>- Phase 1 (Weeks 1-2): Planning, procurement, DR design</a:t>
            </a:r>
          </a:p>
          <a:p>
            <a:r>
              <a:t>- Phase 2 (Weeks 3-4): VxRail deployment and vSAN configuration</a:t>
            </a:r>
          </a:p>
          <a:p>
            <a:r>
              <a:t>- Phase 3 (Weeks 5-6): Database and VM migrations</a:t>
            </a:r>
          </a:p>
          <a:p>
            <a:r>
              <a:t>- Phase 4 (Weeks 7-8): DR configuration, validation, training</a:t>
            </a:r>
          </a:p>
          <a:p>
            <a:r>
              <a:t>- All milestones achieved on schedule</a:t>
            </a:r>
          </a:p>
          <a:p/>
          <a:p>
            <a:r>
              <a:t>**Infrastructure Delivered:**</a:t>
            </a:r>
          </a:p>
          <a:p>
            <a:r>
              <a:t>- 8-node VxRail P570 all-NVMe cluster</a:t>
            </a:r>
          </a:p>
          <a:p>
            <a:r>
              <a:t>- 200TB usable vSAN capacity</a:t>
            </a:r>
          </a:p>
          <a:p>
            <a:r>
              <a:t>- 100GbE spine-leaf networking</a:t>
            </a:r>
          </a:p>
          <a:p>
            <a:r>
              <a:t>- VMware SRM with RecoverPoint for DR</a:t>
            </a:r>
          </a:p>
          <a:p>
            <a:r>
              <a:t>- 99.99% availability with N+2 fault tolerance</a:t>
            </a:r>
          </a:p>
          <a:p/>
          <a:p>
            <a:r>
              <a:t>**Mission-Critical Workloads:**</a:t>
            </a:r>
          </a:p>
          <a:p>
            <a:r>
              <a:t>- 800 VMs migrated successfully</a:t>
            </a:r>
          </a:p>
          <a:p>
            <a:r>
              <a:t>- Oracle RAC databases (sub-ms latency)</a:t>
            </a:r>
          </a:p>
          <a:p>
            <a:r>
              <a:t>- SQL Server Always-On clusters</a:t>
            </a:r>
          </a:p>
          <a:p>
            <a:r>
              <a:t>- SAP HANA with certified performance</a:t>
            </a:r>
          </a:p>
          <a:p>
            <a:r>
              <a:t>- Zero data loss across all migrations</a:t>
            </a:r>
          </a:p>
          <a:p/>
          <a:p>
            <a:r>
              <a:t>*Transition:*</a:t>
            </a:r>
          </a:p>
          <a:p>
            <a:r>
              <a:t>"Let me walk you through the infrastructure we've built..."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*Architecture Overview:*</a:t>
            </a:r>
          </a:p>
          <a:p/>
          <a:p>
            <a:r>
              <a:t>**Compute Layer - VxRail P570 Nodes:**</a:t>
            </a:r>
          </a:p>
          <a:p>
            <a:r>
              <a:t>- 8 identical nodes for maximum availability</a:t>
            </a:r>
          </a:p>
          <a:p>
            <a:r>
              <a:t>- Dual Intel Xeon Platinum 8380 (40 cores each)</a:t>
            </a:r>
          </a:p>
          <a:p>
            <a:r>
              <a:t>- 2TB DDR4 RAM per node for large databases</a:t>
            </a:r>
          </a:p>
          <a:p>
            <a:r>
              <a:t>- All-NVMe storage: 30.72TB per node</a:t>
            </a:r>
          </a:p>
          <a:p>
            <a:r>
              <a:t>- GPU-ready for future AI workloads</a:t>
            </a:r>
          </a:p>
          <a:p/>
          <a:p>
            <a:r>
              <a:t>**Storage Layer - vSAN 8 All-NVMe:**</a:t>
            </a:r>
          </a:p>
          <a:p>
            <a:r>
              <a:t>- 200TB usable after FTT=2 erasure coding</a:t>
            </a:r>
          </a:p>
          <a:p>
            <a:r>
              <a:t>- Sub-millisecond latency for databases</a:t>
            </a:r>
          </a:p>
          <a:p>
            <a:r>
              <a:t>- 100,000+ IOPS cluster aggregate</a:t>
            </a:r>
          </a:p>
          <a:p>
            <a:r>
              <a:t>- Native encryption with external KMS</a:t>
            </a:r>
          </a:p>
          <a:p>
            <a:r>
              <a:t>- Deduplication and compression: 2.1:1 ratio</a:t>
            </a:r>
          </a:p>
          <a:p/>
          <a:p>
            <a:r>
              <a:t>**Network Layer - 100GbE Fabric:**</a:t>
            </a:r>
          </a:p>
          <a:p>
            <a:r>
              <a:t>- Spine-leaf architecture with Dell Z9432F</a:t>
            </a:r>
          </a:p>
          <a:p>
            <a:r>
              <a:t>- 100GbE uplinks between nodes</a:t>
            </a:r>
          </a:p>
          <a:p>
            <a:r>
              <a:t>- NSX-T microsegmentation for security</a:t>
            </a:r>
          </a:p>
          <a:p>
            <a:r>
              <a:t>- Dedicated networks: vSAN, vMotion, VM traffic</a:t>
            </a:r>
          </a:p>
          <a:p>
            <a:r>
              <a:t>- Zero packet loss under full load</a:t>
            </a:r>
          </a:p>
          <a:p/>
          <a:p>
            <a:r>
              <a:t>**DR Architecture:**</a:t>
            </a:r>
          </a:p>
          <a:p>
            <a:r>
              <a:t>- VMware SRM for orchestrated failover</a:t>
            </a:r>
          </a:p>
          <a:p>
            <a:r>
              <a:t>- RecoverPoint for VMs: RPO &lt;5 minutes</a:t>
            </a:r>
          </a:p>
          <a:p>
            <a:r>
              <a:t>- RTO &lt;15 minutes for Tier 1 applications</a:t>
            </a:r>
          </a:p>
          <a:p>
            <a:r>
              <a:t>- Secondary site with 8-node cluster</a:t>
            </a:r>
          </a:p>
          <a:p/>
          <a:p>
            <a:r>
              <a:t>*Transition:*</a:t>
            </a:r>
          </a:p>
          <a:p>
            <a:r>
              <a:t>"Now let me show you the complete deliverables..."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*Deliverables Deep Dive:*</a:t>
            </a:r>
          </a:p>
          <a:p/>
          <a:p>
            <a:r>
              <a:t>**1. Solution Architecture Document:**</a:t>
            </a:r>
          </a:p>
          <a:p>
            <a:r>
              <a:t>- Complete VxRail P570 specifications</a:t>
            </a:r>
          </a:p>
          <a:p>
            <a:r>
              <a:t>- vSAN all-NVMe configuration</a:t>
            </a:r>
          </a:p>
          <a:p>
            <a:r>
              <a:t>- 100GbE network design with NSX-T</a:t>
            </a:r>
          </a:p>
          <a:p>
            <a:r>
              <a:t>- DR architecture with SRM topology</a:t>
            </a:r>
          </a:p>
          <a:p>
            <a:r>
              <a:t>- Security controls and encryption</a:t>
            </a:r>
          </a:p>
          <a:p/>
          <a:p>
            <a:r>
              <a:t>**2. DR Runbook:**</a:t>
            </a:r>
          </a:p>
          <a:p>
            <a:r>
              <a:t>- VMware SRM recovery plans</a:t>
            </a:r>
          </a:p>
          <a:p>
            <a:r>
              <a:t>- RecoverPoint journal management</a:t>
            </a:r>
          </a:p>
          <a:p>
            <a:r>
              <a:t>- Failover validation procedures</a:t>
            </a:r>
          </a:p>
          <a:p>
            <a:r>
              <a:t>- Failback and reprotect steps</a:t>
            </a:r>
          </a:p>
          <a:p>
            <a:r>
              <a:t>- Communication templates</a:t>
            </a:r>
          </a:p>
          <a:p/>
          <a:p>
            <a:r>
              <a:t>**3. Database Migration Guide:**</a:t>
            </a:r>
          </a:p>
          <a:p>
            <a:r>
              <a:t>- Oracle RAC to vSAN best practices</a:t>
            </a:r>
          </a:p>
          <a:p>
            <a:r>
              <a:t>- SQL Always-On migration steps</a:t>
            </a:r>
          </a:p>
          <a:p>
            <a:r>
              <a:t>- SAP HANA certification validation</a:t>
            </a:r>
          </a:p>
          <a:p>
            <a:r>
              <a:t>- Performance baseline comparisons</a:t>
            </a:r>
          </a:p>
          <a:p/>
          <a:p>
            <a:r>
              <a:t>**4. Test Results:**</a:t>
            </a:r>
          </a:p>
          <a:p>
            <a:r>
              <a:t>- HCIBench: 125,000 IOPS achieved</a:t>
            </a:r>
          </a:p>
          <a:p>
            <a:r>
              <a:t>- Database benchmarks: sub-ms latency</a:t>
            </a:r>
          </a:p>
          <a:p>
            <a:r>
              <a:t>- DR testing: RPO/RTO verified</a:t>
            </a:r>
          </a:p>
          <a:p>
            <a:r>
              <a:t>- Load testing: 800 VMs concurrent</a:t>
            </a:r>
          </a:p>
          <a:p/>
          <a:p>
            <a:r>
              <a:t>*Transition:*</a:t>
            </a:r>
          </a:p>
          <a:p>
            <a:r>
              <a:t>"Let's look at performance against targets..."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*Performance Deep Dive:*</a:t>
            </a:r>
          </a:p>
          <a:p/>
          <a:p>
            <a:r>
              <a:t>**Compute Performance:**</a:t>
            </a:r>
          </a:p>
          <a:p/>
          <a:p>
            <a:r>
              <a:t>*VM Density - 100 VMs per Node:*</a:t>
            </a:r>
          </a:p>
          <a:p>
            <a:r>
              <a:t>- 800 total VMs across 8 nodes</a:t>
            </a:r>
          </a:p>
          <a:p>
            <a:r>
              <a:t>- DRS maintains optimal balance</a:t>
            </a:r>
          </a:p>
          <a:p>
            <a:r>
              <a:t>- CPU headroom for burst workloads</a:t>
            </a:r>
          </a:p>
          <a:p>
            <a:r>
              <a:t>- Memory overcommit minimal (1.1:1)</a:t>
            </a:r>
          </a:p>
          <a:p/>
          <a:p>
            <a:r>
              <a:t>*HA and Fault Tolerance:*</a:t>
            </a:r>
          </a:p>
          <a:p>
            <a:r>
              <a:t>- N+2 design survives 2 node failures</a:t>
            </a:r>
          </a:p>
          <a:p>
            <a:r>
              <a:t>- HA restarts VMs in &lt; 90 seconds</a:t>
            </a:r>
          </a:p>
          <a:p>
            <a:r>
              <a:t>- vSAN stretched cluster for DR</a:t>
            </a:r>
          </a:p>
          <a:p>
            <a:r>
              <a:t>- Zero unplanned downtime during project</a:t>
            </a:r>
          </a:p>
          <a:p/>
          <a:p>
            <a:r>
              <a:t>**Storage Performance:**</a:t>
            </a:r>
          </a:p>
          <a:p/>
          <a:p>
            <a:r>
              <a:t>*IOPS - 125,000 Cluster Aggregate:*</a:t>
            </a:r>
          </a:p>
          <a:p>
            <a:r>
              <a:t>- All-NVMe delivers 25% above target</a:t>
            </a:r>
          </a:p>
          <a:p>
            <a:r>
              <a:t>- Oracle RAC: 45,000 IOPS per database</a:t>
            </a:r>
          </a:p>
          <a:p>
            <a:r>
              <a:t>- SQL Server: 30,000 IOPS per instance</a:t>
            </a:r>
          </a:p>
          <a:p>
            <a:r>
              <a:t>- Consistent under 800 VM load</a:t>
            </a:r>
          </a:p>
          <a:p/>
          <a:p>
            <a:r>
              <a:t>*Latency - 0.4ms Average:*</a:t>
            </a:r>
          </a:p>
          <a:p>
            <a:r>
              <a:t>- Sub-millisecond for all database workloads</a:t>
            </a:r>
          </a:p>
          <a:p>
            <a:r>
              <a:t>- 99th percentile: 0.8ms</a:t>
            </a:r>
          </a:p>
          <a:p>
            <a:r>
              <a:t>- No latency spikes during testing</a:t>
            </a:r>
          </a:p>
          <a:p>
            <a:r>
              <a:t>- SAP HANA certified performance</a:t>
            </a:r>
          </a:p>
          <a:p/>
          <a:p>
            <a:r>
              <a:t>**DR Performance:**</a:t>
            </a:r>
          </a:p>
          <a:p>
            <a:r>
              <a:t>| Metric | Target | Achieved |</a:t>
            </a:r>
          </a:p>
          <a:p>
            <a:r>
              <a:t>|--------|--------|----------|</a:t>
            </a:r>
          </a:p>
          <a:p>
            <a:r>
              <a:t>| RPO | &lt;5 min | 3 min |</a:t>
            </a:r>
          </a:p>
          <a:p>
            <a:r>
              <a:t>| RTO | &lt;15 min | 12 min |</a:t>
            </a:r>
          </a:p>
          <a:p>
            <a:r>
              <a:t>| Failover Test | Pass | Pass |</a:t>
            </a:r>
          </a:p>
          <a:p/>
          <a:p>
            <a:r>
              <a:t>*Transition:*</a:t>
            </a:r>
          </a:p>
          <a:p>
            <a:r>
              <a:t>"These performance results deliver significant business value..."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*Benefits Analysis:*</a:t>
            </a:r>
          </a:p>
          <a:p/>
          <a:p>
            <a:r>
              <a:t>**Infrastructure Consolidation - 7:1:**</a:t>
            </a:r>
          </a:p>
          <a:p>
            <a:r>
              <a:t>- Previous: 56 servers + enterprise SAN</a:t>
            </a:r>
          </a:p>
          <a:p>
            <a:r>
              <a:t>- Current: 8 VxRail P570 nodes</a:t>
            </a:r>
          </a:p>
          <a:p>
            <a:r>
              <a:t>- Rack space: 40U to 8U</a:t>
            </a:r>
          </a:p>
          <a:p>
            <a:r>
              <a:t>- Cabling complexity reduced 80%</a:t>
            </a:r>
          </a:p>
          <a:p/>
          <a:p>
            <a:r>
              <a:t>**Database Performance - 2.5x:**</a:t>
            </a:r>
          </a:p>
          <a:p>
            <a:r>
              <a:t>- Oracle RAC: Query time reduced 60%</a:t>
            </a:r>
          </a:p>
          <a:p>
            <a:r>
              <a:t>- SQL Server: Transaction throughput +150%</a:t>
            </a:r>
          </a:p>
          <a:p>
            <a:r>
              <a:t>- SAP HANA: Certified performance achieved</a:t>
            </a:r>
          </a:p>
          <a:p>
            <a:r>
              <a:t>- Batch processing: 4-hour jobs now 1.5 hours</a:t>
            </a:r>
          </a:p>
          <a:p/>
          <a:p>
            <a:r>
              <a:t>**Availability - 99.995%:**</a:t>
            </a:r>
          </a:p>
          <a:p>
            <a:r>
              <a:t>- Calculated: 26 minutes downtime/year</a:t>
            </a:r>
          </a:p>
          <a:p>
            <a:r>
              <a:t>- Legacy SAN: 4+ hours downtime/year</a:t>
            </a:r>
          </a:p>
          <a:p>
            <a:r>
              <a:t>- 8x improvement in availability</a:t>
            </a:r>
          </a:p>
          <a:p>
            <a:r>
              <a:t>- DR adds additional protection layer</a:t>
            </a:r>
          </a:p>
          <a:p/>
          <a:p>
            <a:r>
              <a:t>**3-Year TCO Analysis:**</a:t>
            </a:r>
          </a:p>
          <a:p>
            <a:r>
              <a:t>| Cost Category | Legacy | VxRail | Savings |</a:t>
            </a:r>
          </a:p>
          <a:p>
            <a:r>
              <a:t>|---------------|--------|--------|---------|</a:t>
            </a:r>
          </a:p>
          <a:p>
            <a:r>
              <a:t>| Hardware | $2.8M | $1.2M | $1.6M |</a:t>
            </a:r>
          </a:p>
          <a:p>
            <a:r>
              <a:t>| Power/Cooling | $255K | $140K | $115K |</a:t>
            </a:r>
          </a:p>
          <a:p>
            <a:r>
              <a:t>| Admin Labor | $450K | $180K | $270K |</a:t>
            </a:r>
          </a:p>
          <a:p>
            <a:r>
              <a:t>| **Total** | **$3.5M** | **$1.52M** | **$1.98M (57%)** |</a:t>
            </a:r>
          </a:p>
          <a:p/>
          <a:p>
            <a:r>
              <a:t>*Transition:*</a:t>
            </a:r>
          </a:p>
          <a:p>
            <a:r>
              <a:t>"We learned valuable lessons during this project..."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*Lessons Learned Details:*</a:t>
            </a:r>
          </a:p>
          <a:p/>
          <a:p>
            <a:r>
              <a:t>**What Worked Well:**</a:t>
            </a:r>
          </a:p>
          <a:p/>
          <a:p>
            <a:r>
              <a:t>*1. All-NVMe Performance:*</a:t>
            </a:r>
          </a:p>
          <a:p>
            <a:r>
              <a:t>- Sub-ms latency exceeded all expectations</a:t>
            </a:r>
          </a:p>
          <a:p>
            <a:r>
              <a:t>- No storage tuning required for databases</a:t>
            </a:r>
          </a:p>
          <a:p>
            <a:r>
              <a:t>- vSAN policies simplified management</a:t>
            </a:r>
          </a:p>
          <a:p>
            <a:r>
              <a:t>- Zero performance-related issues</a:t>
            </a:r>
          </a:p>
          <a:p/>
          <a:p>
            <a:r>
              <a:t>*2. Database Migration Methodology:*</a:t>
            </a:r>
          </a:p>
          <a:p>
            <a:r>
              <a:t>- Oracle Data Guard for zero-downtime migration</a:t>
            </a:r>
          </a:p>
          <a:p>
            <a:r>
              <a:t>- SQL Always-On AG migration seamless</a:t>
            </a:r>
          </a:p>
          <a:p>
            <a:r>
              <a:t>- SAP HANA HW certification validated</a:t>
            </a:r>
          </a:p>
          <a:p>
            <a:r>
              <a:t>- Rollback procedures never needed</a:t>
            </a:r>
          </a:p>
          <a:p/>
          <a:p>
            <a:r>
              <a:t>*3. NSX-T Microsegmentation:*</a:t>
            </a:r>
          </a:p>
          <a:p>
            <a:r>
              <a:t>- Database security zones implemented</a:t>
            </a:r>
          </a:p>
          <a:p>
            <a:r>
              <a:t>- East-west traffic visibility achieved</a:t>
            </a:r>
          </a:p>
          <a:p>
            <a:r>
              <a:t>- Compliance evidence automated</a:t>
            </a:r>
          </a:p>
          <a:p>
            <a:r>
              <a:t>- Zero performance impact</a:t>
            </a:r>
          </a:p>
          <a:p/>
          <a:p>
            <a:r>
              <a:t>**Challenges Overcome:**</a:t>
            </a:r>
          </a:p>
          <a:p/>
          <a:p>
            <a:r>
              <a:t>*1. Oracle RAC Witness:*</a:t>
            </a:r>
          </a:p>
          <a:p>
            <a:r>
              <a:t>- Challenge: Witness placement across nodes</a:t>
            </a:r>
          </a:p>
          <a:p>
            <a:r>
              <a:t>- Resolution: Dedicated vSAN policy</a:t>
            </a:r>
          </a:p>
          <a:p>
            <a:r>
              <a:t>- Lesson: Plan RAC topology early</a:t>
            </a:r>
          </a:p>
          <a:p/>
          <a:p>
            <a:r>
              <a:t>*2. KMS Integration:*</a:t>
            </a:r>
          </a:p>
          <a:p>
            <a:r>
              <a:t>- Challenge: External KMS timing</a:t>
            </a:r>
          </a:p>
          <a:p>
            <a:r>
              <a:t>- Resolution: Pre-stage KMS before go-live</a:t>
            </a:r>
          </a:p>
          <a:p>
            <a:r>
              <a:t>- Lesson: Include KMS in prerequisites</a:t>
            </a:r>
          </a:p>
          <a:p/>
          <a:p>
            <a:r>
              <a:t>**Recommendations:**</a:t>
            </a:r>
          </a:p>
          <a:p/>
          <a:p>
            <a:r>
              <a:t>*1. vRealize Operations (High Priority):*</a:t>
            </a:r>
          </a:p>
          <a:p>
            <a:r>
              <a:t>- Capacity planning and forecasting</a:t>
            </a:r>
          </a:p>
          <a:p>
            <a:r>
              <a:t>- Performance anomaly detection</a:t>
            </a:r>
          </a:p>
          <a:p>
            <a:r>
              <a:t>- Investment: $25K/year</a:t>
            </a:r>
          </a:p>
          <a:p/>
          <a:p>
            <a:r>
              <a:t>*2. Quarterly DR Drills:*</a:t>
            </a:r>
          </a:p>
          <a:p>
            <a:r>
              <a:t>- Validate SRM recovery plans</a:t>
            </a:r>
          </a:p>
          <a:p>
            <a:r>
              <a:t>- Train operations team</a:t>
            </a:r>
          </a:p>
          <a:p>
            <a:r>
              <a:t>- Document lessons learned</a:t>
            </a:r>
          </a:p>
          <a:p/>
          <a:p>
            <a:r>
              <a:t>*Transition:*</a:t>
            </a:r>
          </a:p>
          <a:p>
            <a:r>
              <a:t>"Let me walk through support transition..."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*Support Transition Details:*</a:t>
            </a:r>
          </a:p>
          <a:p/>
          <a:p>
            <a:r>
              <a:t>**Mission Critical Support:**</a:t>
            </a:r>
          </a:p>
          <a:p/>
          <a:p>
            <a:r>
              <a:t>*Dell ProSupport Mission Critical:*</a:t>
            </a:r>
          </a:p>
          <a:p>
            <a:r>
              <a:t>- 24x7 support with 2-hour response</a:t>
            </a:r>
          </a:p>
          <a:p>
            <a:r>
              <a:t>- Dedicated Technical Account Manager</a:t>
            </a:r>
          </a:p>
          <a:p>
            <a:r>
              <a:t>- Proactive monitoring via SupportAssist</a:t>
            </a:r>
          </a:p>
          <a:p>
            <a:r>
              <a:t>- Parts on-site within 4 hours</a:t>
            </a:r>
          </a:p>
          <a:p>
            <a:r>
              <a:t>- Annual on-site health check</a:t>
            </a:r>
          </a:p>
          <a:p/>
          <a:p>
            <a:r>
              <a:t>*VMware Premier Support:*</a:t>
            </a:r>
          </a:p>
          <a:p>
            <a:r>
              <a:t>- Direct access to senior engineers</a:t>
            </a:r>
          </a:p>
          <a:p>
            <a:r>
              <a:t>- vSAN and NSX specialists</a:t>
            </a:r>
          </a:p>
          <a:p>
            <a:r>
              <a:t>- SRM support included</a:t>
            </a:r>
          </a:p>
          <a:p>
            <a:r>
              <a:t>- Upgrade planning assistance</a:t>
            </a:r>
          </a:p>
          <a:p/>
          <a:p>
            <a:r>
              <a:t>**Training Delivered:**</a:t>
            </a:r>
          </a:p>
          <a:p>
            <a:r>
              <a:t>| Session | Attendees | Duration |</a:t>
            </a:r>
          </a:p>
          <a:p>
            <a:r>
              <a:t>|---------|-----------|----------|</a:t>
            </a:r>
          </a:p>
          <a:p>
            <a:r>
              <a:t>| VxRail Administration | 6 admins | 16 hours |</a:t>
            </a:r>
          </a:p>
          <a:p>
            <a:r>
              <a:t>| vSAN Troubleshooting | 4 senior | 8 hours |</a:t>
            </a:r>
          </a:p>
          <a:p>
            <a:r>
              <a:t>| NSX-T Operations | 4 admins | 8 hours |</a:t>
            </a:r>
          </a:p>
          <a:p>
            <a:r>
              <a:t>| SRM DR Procedures | 6 admins | 4 hours |</a:t>
            </a:r>
          </a:p>
          <a:p>
            <a:r>
              <a:t>| Database on vSAN | 3 DBAs | 8 hours |</a:t>
            </a:r>
          </a:p>
          <a:p/>
          <a:p>
            <a:r>
              <a:t>**DR Validation Schedule:**</a:t>
            </a:r>
          </a:p>
          <a:p>
            <a:r>
              <a:t>- Monthly: Automated SRM test failover</a:t>
            </a:r>
          </a:p>
          <a:p>
            <a:r>
              <a:t>- Quarterly: Full DR drill with DBs</a:t>
            </a:r>
          </a:p>
          <a:p>
            <a:r>
              <a:t>- Annual: Complete site failover test</a:t>
            </a:r>
          </a:p>
          <a:p/>
          <a:p>
            <a:r>
              <a:t>*Transition:*</a:t>
            </a:r>
          </a:p>
          <a:p>
            <a:r>
              <a:t>"Let me recognize the team..."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*Acknowledgments:*</a:t>
            </a:r>
          </a:p>
          <a:p/>
          <a:p>
            <a:r>
              <a:t>**Client Team:**</a:t>
            </a:r>
          </a:p>
          <a:p>
            <a:r>
              <a:t>- Executive Sponsor: Budget and organizational support</a:t>
            </a:r>
          </a:p>
          <a:p>
            <a:r>
              <a:t>- Infrastructure Lead: VxRail deployment coordination</a:t>
            </a:r>
          </a:p>
          <a:p>
            <a:r>
              <a:t>- DBA Lead: Database migration ownership</a:t>
            </a:r>
          </a:p>
          <a:p>
            <a:r>
              <a:t>- Network Team: 100GbE fabric implementation</a:t>
            </a:r>
          </a:p>
          <a:p>
            <a:r>
              <a:t>- Security Team: NSX and encryption configuration</a:t>
            </a:r>
          </a:p>
          <a:p/>
          <a:p>
            <a:r>
              <a:t>**Vendor Team:**</a:t>
            </a:r>
          </a:p>
          <a:p>
            <a:r>
              <a:t>- Project Manager: Delivery accountability</a:t>
            </a:r>
          </a:p>
          <a:p>
            <a:r>
              <a:t>- VMware Architect: vSAN and NSX design</a:t>
            </a:r>
          </a:p>
          <a:p>
            <a:r>
              <a:t>- Storage Specialist: Database optimization</a:t>
            </a:r>
          </a:p>
          <a:p>
            <a:r>
              <a:t>- NSX Engineer: Microsegmentation implementation</a:t>
            </a:r>
          </a:p>
          <a:p/>
          <a:p>
            <a:r>
              <a:t>**Immediate Next Steps:**</a:t>
            </a:r>
          </a:p>
          <a:p>
            <a:r>
              <a:t>| Task | Owner | Due |</a:t>
            </a:r>
          </a:p>
          <a:p>
            <a:r>
              <a:t>|------|-------|-----|</a:t>
            </a:r>
          </a:p>
          <a:p>
            <a:r>
              <a:t>| Legacy server decommission | IT Lead | Week 2 |</a:t>
            </a:r>
          </a:p>
          <a:p>
            <a:r>
              <a:t>| vROps deployment | VMware Architect | Week 4 |</a:t>
            </a:r>
          </a:p>
          <a:p>
            <a:r>
              <a:t>| First quarterly DR drill | DR Lead | Week 6 |</a:t>
            </a:r>
          </a:p>
          <a:p>
            <a:r>
              <a:t>| Stretched cluster assessment | Architect | Week 8 |</a:t>
            </a:r>
          </a:p>
          <a:p/>
          <a:p>
            <a:r>
              <a:t>*Transition:*</a:t>
            </a:r>
          </a:p>
          <a:p>
            <a:r>
              <a:t>"Thank you for your partnership..."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*Closing:*</a:t>
            </a:r>
          </a:p>
          <a:p>
            <a:r>
              <a:t>"Thank you for your partnership. The VxRail P570 platform provides enterprise-grade performance for your mission-critical databases with comprehensive DR protection.</a:t>
            </a:r>
          </a:p>
          <a:p/>
          <a:p>
            <a:r>
              <a:t>Questions?"</a:t>
            </a:r>
          </a:p>
          <a:p/>
          <a:p>
            <a:r>
              <a:t>**Anticipated Questions:**</a:t>
            </a:r>
          </a:p>
          <a:p/>
          <a:p>
            <a:r>
              <a:t>*Q: How do we handle Oracle RAC expansion?*</a:t>
            </a:r>
          </a:p>
          <a:p>
            <a:r>
              <a:t>A: Add vSAN capacity or nodes. VxRail scales online. DBA can extend ASM disk groups without downtime.</a:t>
            </a:r>
          </a:p>
          <a:p/>
          <a:p>
            <a:r>
              <a:t>*Q: What about vSAN upgrades?*</a:t>
            </a:r>
          </a:p>
          <a:p>
            <a:r>
              <a:t>A: VxRail LCM handles all updates. Schedule quarterly maintenance windows. Rolling upgrades maintain availability.</a:t>
            </a:r>
          </a:p>
          <a:p/>
          <a:p>
            <a:r>
              <a:t>*Q: Can we add more database workloads?*</a:t>
            </a:r>
          </a:p>
          <a:p>
            <a:r>
              <a:t>A: Current cluster at 55% CPU, 70% RAM. Can add 200+ VMs or expand to 16 nodes.</a:t>
            </a:r>
          </a:p>
          <a:p/>
          <a:p>
            <a:r>
              <a:t>*Q: How does NSX licensing work?*</a:t>
            </a:r>
          </a:p>
          <a:p>
            <a:r>
              <a:t>A: NSX-T included with VxRail Enterprise Plus. Full microsegmentation capabilities included.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31079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1470" y="678433"/>
            <a:ext cx="4228856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Project Closeout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Dell VxRail Hyperconverged Infrastructure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Project Manager | November 28, 2025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Executive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Project Duration:</a:t>
            </a:r>
            <a:r>
              <a:t> 8 weeks, on schedule</a:t>
            </a:r>
          </a:p>
          <a:p>
            <a:pPr/>
            <a:r>
              <a:rPr b="1"/>
              <a:t>Budget:</a:t>
            </a:r>
            <a:r>
              <a:t> $1.2M delivered on budget</a:t>
            </a:r>
          </a:p>
          <a:p>
            <a:pPr/>
            <a:r>
              <a:rPr b="1"/>
              <a:t>Go-Live Date:</a:t>
            </a:r>
            <a:r>
              <a:t> Week 8 as planned</a:t>
            </a:r>
          </a:p>
          <a:p>
            <a:pPr/>
            <a:r>
              <a:rPr b="1"/>
              <a:t>Quality:</a:t>
            </a:r>
            <a:r>
              <a:t> Zero critical issues at launch</a:t>
            </a:r>
          </a:p>
          <a:p>
            <a:pPr/>
            <a:r>
              <a:rPr b="1"/>
              <a:t>Infrastructure:</a:t>
            </a:r>
            <a:r>
              <a:t> 8-node VxRail P570 cluster</a:t>
            </a:r>
          </a:p>
          <a:p>
            <a:pPr/>
            <a:r>
              <a:rPr b="1"/>
              <a:t>Migration:</a:t>
            </a:r>
            <a:r>
              <a:t> 800 VMs including databases</a:t>
            </a:r>
          </a:p>
          <a:p>
            <a:pPr/>
            <a:r>
              <a:rPr b="1"/>
              <a:t>Performance:</a:t>
            </a:r>
            <a:r>
              <a:t> Sub-ms latency achieved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VxRail Hyperconverged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Architecture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Compute Layer</a:t>
            </a:r>
          </a:p>
          <a:p>
            <a:pPr lvl="1"/>
            <a:r>
              <a:t>8x Dell VxRail P570 nodes</a:t>
            </a:r>
          </a:p>
          <a:p>
            <a:pPr lvl="1"/>
            <a:r>
              <a:t>Dual Xeon Platinum 8380 CPUs</a:t>
            </a:r>
          </a:p>
          <a:p>
            <a:pPr lvl="1"/>
            <a:r>
              <a:t>2TB RAM per node (16TB total)</a:t>
            </a:r>
          </a:p>
          <a:p>
            <a:pPr/>
            <a:r>
              <a:rPr b="1"/>
              <a:t>Storage Layer</a:t>
            </a:r>
          </a:p>
          <a:p>
            <a:pPr lvl="1"/>
            <a:r>
              <a:t>All-NVMe vSAN 8 architecture</a:t>
            </a:r>
          </a:p>
          <a:p>
            <a:pPr lvl="1"/>
            <a:r>
              <a:t>200TB usable with erasure coding</a:t>
            </a:r>
          </a:p>
          <a:p>
            <a:pPr lvl="1"/>
            <a:r>
              <a:t>FTT=2 for mission-critical data</a:t>
            </a:r>
          </a:p>
          <a:p>
            <a:pPr/>
            <a:r>
              <a:rPr b="1"/>
              <a:t>Network Layer</a:t>
            </a:r>
          </a:p>
          <a:p>
            <a:pPr lvl="1"/>
            <a:r>
              <a:t>100GbE spine-leaf fabric</a:t>
            </a:r>
          </a:p>
          <a:p>
            <a:pPr lvl="1"/>
            <a:r>
              <a:t>NSX-T for microsegmentation</a:t>
            </a:r>
          </a:p>
          <a:p>
            <a:pPr lvl="1"/>
            <a:r>
              <a:t>Dedicated vSAN and vMotion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VxRail Hyperconverged Infrastructure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Deliverables Inventory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279"/>
                <a:gridCol w="3919919"/>
                <a:gridCol w="2177733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Location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Solution Architecture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VxRail design with DR topology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`/delivery/detailed-design.docx`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Implementation Guide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Deployment and migration runbooks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`/delivery/implementation-guide.docx`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Project Plan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Timeline, milestones, RACI matrix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`/delivery/project-plan.xlsx`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Test Results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HCIBench, database, and DR testing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`/delivery/test-plan.xlsx`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Configuration Guide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vCenter, NSX, SRM parameters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`/delivery/configuration.xlsx`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DR Runbook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Failover and failback procedures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`/delivery/dr-runbook.docx`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Database Migration Guide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Oracle, SQL, SAP migration steps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`/delivery/db-migration.docx`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Compliance Documentation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SOC 2, ISO 27001 evidence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Compliance portal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VxRail Hyperconverged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Quality &amp; Performance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Compute Performance</a:t>
            </a:r>
          </a:p>
          <a:p>
            <a:pPr lvl="1"/>
            <a:r>
              <a:t>VM Density: 100 VMs per node</a:t>
            </a:r>
          </a:p>
          <a:p>
            <a:pPr lvl="1"/>
            <a:r>
              <a:t>CPU Utilization: 55% average</a:t>
            </a:r>
          </a:p>
          <a:p>
            <a:pPr lvl="1"/>
            <a:r>
              <a:t>Memory Utilization: 70% average</a:t>
            </a:r>
          </a:p>
          <a:p>
            <a:pPr lvl="1"/>
            <a:r>
              <a:t>DRS Balance: Optimal distribution</a:t>
            </a:r>
          </a:p>
          <a:p>
            <a:pPr lvl="1"/>
            <a:r>
              <a:t>HA Failover: &lt; 90 seconds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Storage Performance</a:t>
            </a:r>
          </a:p>
          <a:p>
            <a:pPr lvl="1"/>
            <a:r>
              <a:t>IOPS: 125,000 (target: 100K)</a:t>
            </a:r>
          </a:p>
          <a:p>
            <a:pPr lvl="1"/>
            <a:r>
              <a:t>Latency: 0.4ms (target: &lt;1ms)</a:t>
            </a:r>
          </a:p>
          <a:p>
            <a:pPr lvl="1"/>
            <a:r>
              <a:t>Throughput: 18 GB/s aggregate</a:t>
            </a:r>
          </a:p>
          <a:p>
            <a:pPr lvl="1"/>
            <a:r>
              <a:t>Dedup Ratio: 2.1:1 achieved</a:t>
            </a:r>
          </a:p>
          <a:p>
            <a:pPr lvl="1"/>
            <a:r>
              <a:t>Encryption: AES-256 active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VxRail Hyperconverged Infrastructure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Benefits Realized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279"/>
                <a:gridCol w="1742186"/>
                <a:gridCol w="1742186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Benefit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SOW Target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Achieved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Business Impact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Infrastructure Consolidation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6:1 ratio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7:1 ratio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56 servers retired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Database Performance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2x faster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2.5x faster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Faster transactions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Storage Efficiency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2:1 ratio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2.1:1 ratio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40TB logical saved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Availability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99.99%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99.995%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&lt;26 min downtime/year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DR Capability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RPO &lt;5min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RPO 3min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Better data protection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Power Reduction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40%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45%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$85K annual savings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VxRail Hyperconverged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Lessons Learned &amp; Recommendations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Worked Well</a:t>
            </a:r>
          </a:p>
          <a:p>
            <a:pPr lvl="1"/>
            <a:r>
              <a:t>VxRail P570 all-NVMe performance</a:t>
            </a:r>
          </a:p>
          <a:p>
            <a:pPr lvl="1"/>
            <a:r>
              <a:t>Database migration methodology</a:t>
            </a:r>
          </a:p>
          <a:p>
            <a:pPr lvl="1"/>
            <a:r>
              <a:t>NSX-T microsegmentation</a:t>
            </a:r>
          </a:p>
          <a:p>
            <a:pPr lvl="1"/>
            <a:r>
              <a:t>SRM orchestrated DR testing</a:t>
            </a:r>
          </a:p>
          <a:p>
            <a:pPr lvl="1"/>
            <a:r>
              <a:t>Weekend maintenance windows</a:t>
            </a:r>
          </a:p>
          <a:p>
            <a:pPr/>
            <a:r>
              <a:rPr b="1"/>
              <a:t>Challenges Overcome</a:t>
            </a:r>
          </a:p>
          <a:p>
            <a:pPr lvl="1"/>
            <a:r>
              <a:t>Oracle RAC witness placement</a:t>
            </a:r>
          </a:p>
          <a:p>
            <a:pPr lvl="1"/>
            <a:r>
              <a:t>NSX-T learning curve</a:t>
            </a:r>
          </a:p>
          <a:p>
            <a:pPr lvl="1"/>
            <a:r>
              <a:t>KMS integration timing</a:t>
            </a:r>
          </a:p>
          <a:p>
            <a:pPr lvl="1"/>
            <a:r>
              <a:t>SAP HANA certification</a:t>
            </a:r>
          </a:p>
          <a:p>
            <a:pPr lvl="1"/>
            <a:r>
              <a:t>Legacy SAN cleanup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Recommendations</a:t>
            </a:r>
          </a:p>
          <a:p>
            <a:pPr lvl="1"/>
            <a:r>
              <a:t>Implement vRealize Operations</a:t>
            </a:r>
          </a:p>
          <a:p>
            <a:pPr lvl="1"/>
            <a:r>
              <a:t>Consider vSAN stretched cluster</a:t>
            </a:r>
          </a:p>
          <a:p>
            <a:pPr lvl="1"/>
            <a:r>
              <a:t>Add GPU nodes for analytics</a:t>
            </a:r>
          </a:p>
          <a:p>
            <a:pPr lvl="1"/>
            <a:r>
              <a:t>Enable vSAN HCI Mesh</a:t>
            </a:r>
          </a:p>
          <a:p>
            <a:pPr lvl="1"/>
            <a:r>
              <a:t>Quarterly DR drills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VxRail Hyperconverged Infrastructure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Support Transition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Hypercare Complete (8 weeks)</a:t>
            </a:r>
          </a:p>
          <a:p>
            <a:pPr lvl="1"/>
            <a:r>
              <a:t>Daily health checks performed</a:t>
            </a:r>
          </a:p>
          <a:p>
            <a:pPr lvl="1"/>
            <a:r>
              <a:t>0 critical issues identified</a:t>
            </a:r>
          </a:p>
          <a:p>
            <a:pPr lvl="1"/>
            <a:r>
              <a:t>Database team trained</a:t>
            </a:r>
          </a:p>
          <a:p>
            <a:pPr lvl="1"/>
            <a:r>
              <a:t>DR drills completed</a:t>
            </a:r>
          </a:p>
          <a:p>
            <a:pPr lvl="1"/>
            <a:r>
              <a:t>Team certified on VxRail</a:t>
            </a:r>
          </a:p>
          <a:p>
            <a:pPr/>
            <a:r>
              <a:rPr b="1"/>
              <a:t>Steady State Support</a:t>
            </a:r>
          </a:p>
          <a:p>
            <a:pPr lvl="1"/>
            <a:r>
              <a:t>Dell ProSupport Mission Critical</a:t>
            </a:r>
          </a:p>
          <a:p>
            <a:pPr lvl="1"/>
            <a:r>
              <a:t>VMware Premier Support</a:t>
            </a:r>
          </a:p>
          <a:p>
            <a:pPr lvl="1"/>
            <a:r>
              <a:t>24x7 monitoring via CloudIQ</a:t>
            </a:r>
          </a:p>
          <a:p>
            <a:pPr lvl="1"/>
            <a:r>
              <a:t>Monthly DR validation</a:t>
            </a:r>
          </a:p>
          <a:p>
            <a:pPr lvl="1"/>
            <a:r>
              <a:t>Quarterly health reviews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Escalation Path</a:t>
            </a:r>
          </a:p>
          <a:p>
            <a:pPr lvl="1"/>
            <a:r>
              <a:t>L1: Internal VMware/DBA Team</a:t>
            </a:r>
          </a:p>
          <a:p>
            <a:pPr lvl="1"/>
            <a:r>
              <a:t>L2: Infrastructure Architect</a:t>
            </a:r>
          </a:p>
          <a:p>
            <a:pPr lvl="1"/>
            <a:r>
              <a:t>L3: Dell ProSupport MC</a:t>
            </a:r>
          </a:p>
          <a:p>
            <a:pPr lvl="1"/>
            <a:r>
              <a:t>L4: Dell/VMware Engineering</a:t>
            </a:r>
          </a:p>
          <a:p>
            <a:pPr lvl="1"/>
            <a:r>
              <a:t>DR: SRM Recovery Plans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VxRail Hyperconverged Infrastructure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Acknowledgments &amp; 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Team:</a:t>
            </a:r>
            <a:r>
              <a:t> Executive sponsor, infrastructure, DBA, network, security teams</a:t>
            </a:r>
          </a:p>
          <a:p>
            <a:pPr/>
            <a:r>
              <a:rPr b="1"/>
              <a:t>Vendor Team:</a:t>
            </a:r>
            <a:r>
              <a:t> Project manager, VMware architect, storage specialist, NSX engineer</a:t>
            </a:r>
          </a:p>
          <a:p>
            <a:pPr/>
            <a:r>
              <a:rPr b="1"/>
              <a:t>Special Recognition:</a:t>
            </a:r>
            <a:r>
              <a:t> DBA team for weekend migration support</a:t>
            </a:r>
          </a:p>
          <a:p>
            <a:pPr/>
            <a:r>
              <a:rPr b="1"/>
              <a:t>This Week:</a:t>
            </a:r>
            <a:r>
              <a:t> Documentation handover, legacy decommission planning</a:t>
            </a:r>
          </a:p>
          <a:p>
            <a:pPr/>
            <a:r>
              <a:rPr b="1"/>
              <a:t>Next 30 Days:</a:t>
            </a:r>
            <a:r>
              <a:t> First DR drill, vROps implementation planning</a:t>
            </a:r>
          </a:p>
          <a:p>
            <a:pPr/>
            <a:r>
              <a:rPr b="1"/>
              <a:t>Next Quarter:</a:t>
            </a:r>
            <a:r>
              <a:t> Stretched cluster evaluation, capacity review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VxRail Hyperconverged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86</cp:revision>
  <dcterms:created xsi:type="dcterms:W3CDTF">2025-11-01T21:16:10Z</dcterms:created>
  <dcterms:modified xsi:type="dcterms:W3CDTF">2025-11-27T20:15:42Z</dcterms:modified>
</cp:coreProperties>
</file>