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273A1B3-664A-DD19-7B35-B4E3982A4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863" y="685597"/>
            <a:ext cx="8509304" cy="37711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This is a single-column content slide. Use this layout for focused content with paragraphs or key messages.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Left Column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C844534-A763-9158-4BA6-CAC056383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69866" y="685597"/>
            <a:ext cx="4049062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Right Column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Left Column Text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3BE8D56-FD01-D4AD-8CBA-DDE513CC6B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9865" y="1076365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Right Column Text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Key Points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AEFB5-8B48-8F55-D6C9-5B1A508AD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175" y="698500"/>
            <a:ext cx="8710613" cy="376555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Image Description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Image Description Context Text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800"/>
            <a:ext cx="4337050" cy="37417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Key Insights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First data insight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Second key finding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Third important trend</a:t>
            </a:r>
            <a:endParaRPr lang="en-US" dirty="0"/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419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Executive Presentation Template - AWS Intelligent Document Processing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5856" b="585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This template provides a complete executive presentation for AWS Intelligent Document Processing solution, designed for C-level and senior stakeholder audiences.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EO Framework Team | November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Processing Bottlenecks: [X] hour average processing time per document</a:t>
            </a:r>
          </a:p>
          <a:p>
            <a:pPr/>
            <a:r>
              <a:t>Human Error: [Y]% error rate requiring costly rework</a:t>
            </a:r>
          </a:p>
          <a:p>
            <a:pPr/>
            <a:r>
              <a:t>Scalability Limits: Cannot handle volume spikes or growth</a:t>
            </a:r>
          </a:p>
          <a:p>
            <a:pPr/>
            <a:r>
              <a:t>Resource Intensive: [Z] FTE dedicated to manual data entry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Financial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Annual Processing Costs: $[Amount]</a:t>
            </a:r>
          </a:p>
          <a:p>
            <a:pPr/>
            <a:r>
              <a:t>Error and Rework Costs: $[Amount]</a:t>
            </a:r>
          </a:p>
          <a:p>
            <a:pPr/>
            <a:r>
              <a:t>Opportunity Costs: $[Amount] (staff redeployment value)</a:t>
            </a:r>
          </a:p>
          <a:p>
            <a:pPr/>
            <a:r>
              <a:t>Total Current State Cost: $[Amount] annually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Competitive Disadvantage: Slower than digital-first competitors</a:t>
            </a:r>
          </a:p>
          <a:p>
            <a:pPr/>
            <a:r>
              <a:t>Customer Experience: Delayed processing impacts satisfaction</a:t>
            </a:r>
          </a:p>
          <a:p>
            <a:pPr/>
            <a:r>
              <a:t>Compliance Risk: Manual processes increase audit exposure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AI-Powered Automation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Amazon Textract: Advanced OCR and document analysis</a:t>
            </a:r>
          </a:p>
          <a:p>
            <a:pPr/>
            <a:r>
              <a:t>Amazon Comprehend: Natural language processing and entity recognition</a:t>
            </a:r>
          </a:p>
          <a:p>
            <a:pPr/>
            <a:r>
              <a:t>Amazon A2I: Human-in-the-loop quality assurance</a:t>
            </a:r>
          </a:p>
          <a:p>
            <a:pPr/>
            <a:r>
              <a:t>Serverless Architecture: AWS Lambda, S3, DynamoDB integration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Multi-Format Support: PDF, images, scanned documents</a:t>
            </a:r>
          </a:p>
          <a:p>
            <a:pPr/>
            <a:r>
              <a:t>Intelligent Extraction: Forms, tables, unstructured text</a:t>
            </a:r>
          </a:p>
          <a:p>
            <a:pPr/>
            <a:r>
              <a:t>Document Classification: Automatic type identification</a:t>
            </a:r>
          </a:p>
          <a:p>
            <a:pPr/>
            <a:r>
              <a:t>Quality Assurance: Confidence-based human review workflows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Processing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Excellence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Financial Benefits (Annual)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Labor Cost Savings: $[Amount]</a:t>
            </a:r>
          </a:p>
          <a:p>
            <a:pPr/>
            <a:r>
              <a:t>Error Reduction: $[Amount]</a:t>
            </a:r>
          </a:p>
          <a:p>
            <a:pPr/>
            <a:r>
              <a:t>Efficiency Gains: $[Amount]</a:t>
            </a:r>
          </a:p>
          <a:p>
            <a:pPr/>
            <a:r>
              <a:t>Total Annual Benefit: $[Amount]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Advantages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Competitive Edge: Industry-leading automation capabilities</a:t>
            </a:r>
          </a:p>
          <a:p>
            <a:pPr/>
            <a:r>
              <a:t>Scalability: Handle 10X growth without proportional cost increase</a:t>
            </a:r>
          </a:p>
          <a:p>
            <a:pPr/>
            <a:r>
              <a:t>Innovation Platform: Foundation for additional AI initiatives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Encryption: Data encrypted at rest and in transit</a:t>
            </a:r>
          </a:p>
          <a:p>
            <a:pPr/>
            <a:r>
              <a:t>Access Control: IAM-based role security</a:t>
            </a:r>
          </a:p>
          <a:p>
            <a:pPr/>
            <a:r>
              <a:t>Audit Trail: Complete processing history</a:t>
            </a:r>
          </a:p>
          <a:p>
            <a:pPr/>
            <a:r>
              <a:t>Compliance: SOC 2, GDPR, HIPAA ready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Phase 1: Pilot (Months 1-2)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Scope: Single document type, limited volume</a:t>
            </a:r>
          </a:p>
          <a:p>
            <a:pPr/>
            <a:r>
              <a:t>Objective: Validate accuracy and integration</a:t>
            </a:r>
          </a:p>
          <a:p>
            <a:pPr/>
            <a:r>
              <a:t>Success Criteria: &gt;95% accuracy, successful integration</a:t>
            </a:r>
          </a:p>
          <a:p>
            <a:pPr/>
            <a:r>
              <a:t>Investment: $[Amount]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Phase 2: Expansion (Months 3-4)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Scope: Additional document types, increased volume</a:t>
            </a:r>
          </a:p>
          <a:p>
            <a:pPr/>
            <a:r>
              <a:t>Objective: Scale to production levels</a:t>
            </a:r>
          </a:p>
          <a:p>
            <a:pPr/>
            <a:r>
              <a:t>Success Criteria: Handle peak volumes, user acceptance</a:t>
            </a:r>
          </a:p>
          <a:p>
            <a:pPr/>
            <a:r>
              <a:t>Investment: $[Amount]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Phase 3: Full Deployment (Months 5-6)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Scope: Complete automation across all document types</a:t>
            </a:r>
          </a:p>
          <a:p>
            <a:pPr/>
            <a:r>
              <a:t>Objective: Achieve target ROI metrics</a:t>
            </a:r>
          </a:p>
          <a:p>
            <a:pPr/>
            <a:r>
              <a:t>Success Criteria: Full cost savings realization</a:t>
            </a:r>
          </a:p>
          <a:p>
            <a:pPr/>
            <a:r>
              <a:t>Investment: $[Amount]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Risk Mitigation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Proof of Concept: Validate with actual documents</a:t>
            </a:r>
          </a:p>
          <a:p>
            <a:pPr/>
            <a:r>
              <a:t>Parallel Processing: Maintain manual backup initially</a:t>
            </a:r>
          </a:p>
          <a:p>
            <a:pPr/>
            <a:r>
              <a:t>Progressive Rollout: Gradual transition minimizes disruption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Benefits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Financial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ROI: [X]% over 5 years</a:t>
            </a:r>
          </a:p>
          <a:p>
            <a:pPr/>
            <a:r>
              <a:t>Payback Period: [Y] months</a:t>
            </a:r>
          </a:p>
          <a:p>
            <a:pPr/>
            <a:r>
              <a:t>NPV: $[Amount] (at [Z]% discount rate)</a:t>
            </a:r>
          </a:p>
          <a:p>
            <a:pPr/>
            <a:r>
              <a:t>Year 1 Net Benefit: $[Amount]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Current Position vs. Competition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Market Positioning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Short-term (6-12 months): First-mover advantage in AI automation</a:t>
            </a:r>
          </a:p>
          <a:p>
            <a:pPr/>
            <a:r>
              <a:t>Medium-term (1-2 years): Cost leadership enables aggressive pricing</a:t>
            </a:r>
          </a:p>
          <a:p>
            <a:pPr/>
            <a:r>
              <a:t>Long-term (2+ years): AI expertise attracts top talent and customers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Financial Protection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Fixed-price Implementation: No cost overrun risk</a:t>
            </a:r>
          </a:p>
          <a:p>
            <a:pPr/>
            <a:r>
              <a:t>Proof of Concept: Validate ROI assumptions</a:t>
            </a:r>
          </a:p>
          <a:p>
            <a:pPr/>
            <a:r>
              <a:t>Phased Investment: Staged funding reduces exposure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Financial Services Company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Challenge: 50,000 loan applications monthly</a:t>
            </a:r>
          </a:p>
          <a:p>
            <a:pPr/>
            <a:r>
              <a:t>Results: 90% processing time reduction, $2M annual savings</a:t>
            </a:r>
          </a:p>
          <a:p>
            <a:pPr/>
            <a:r>
              <a:t>ROI: 340% over 3 years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Healthcare Organization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Challenge: Medical records digitization</a:t>
            </a:r>
          </a:p>
          <a:p>
            <a:pPr/>
            <a:r>
              <a:t>Results: 95% accuracy, HIPAA compliance, 80% cost reduction</a:t>
            </a:r>
          </a:p>
          <a:p>
            <a:pPr/>
            <a:r>
              <a:t>ROI: 280% over 3 years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Government Agency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Challenge: Citizen service forms processing</a:t>
            </a:r>
          </a:p>
          <a:p>
            <a:pPr/>
            <a:r>
              <a:t>Results: 24/7 processing, 85% staff redeployment, improved satisfaction</a:t>
            </a:r>
          </a:p>
          <a:p>
            <a:pPr/>
            <a:r>
              <a:t>ROI: 250% over 3 years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Phase 1: Foundation (Months 1-6)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Core document processing automation</a:t>
            </a:r>
          </a:p>
          <a:p>
            <a:pPr/>
            <a:r>
              <a:t>Basic AI model deployment</a:t>
            </a:r>
          </a:p>
          <a:p>
            <a:pPr/>
            <a:r>
              <a:t>System integration completion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Phase 2: Enhancement (Months 7-12)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Custom AI model development</a:t>
            </a:r>
          </a:p>
          <a:p>
            <a:pPr/>
            <a:r>
              <a:t>Advanced workflow automation</a:t>
            </a:r>
          </a:p>
          <a:p>
            <a:pPr/>
            <a:r>
              <a:t>Performance optimization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Phase 3: Innovation (Year 2+)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Multi-language support</a:t>
            </a:r>
          </a:p>
          <a:p>
            <a:pPr/>
            <a:r>
              <a:t>Advanced analytics and insights</a:t>
            </a:r>
          </a:p>
          <a:p>
            <a:pPr/>
            <a:r>
              <a:t>Additional AI/ML use cases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Future Opportunities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Predictive Analytics: Document pattern analysis</a:t>
            </a:r>
          </a:p>
          <a:p>
            <a:pPr/>
            <a:r>
              <a:t>Intelligent Routing: Smart workflow orchestration</a:t>
            </a:r>
          </a:p>
          <a:p>
            <a:pPr/>
            <a:r>
              <a:t>Compliance Automation: Regulatory requirement detection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Milestones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Month 1: Pilot environment operational</a:t>
            </a:r>
          </a:p>
          <a:p>
            <a:pPr/>
            <a:r>
              <a:t>Month 2: Accuracy validation complete</a:t>
            </a:r>
          </a:p>
          <a:p>
            <a:pPr/>
            <a:r>
              <a:t>Month 4: Production scaling achieved</a:t>
            </a:r>
          </a:p>
          <a:p>
            <a:pPr/>
            <a:r>
              <a:t>Month 6: Full ROI realization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Staffing Transformation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New Capabilities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AI Operations: Monitor and optimize AI performance</a:t>
            </a:r>
          </a:p>
          <a:p>
            <a:pPr/>
            <a:r>
              <a:t>Exception Handling: Focus on complex cases requiring human judgment</a:t>
            </a:r>
          </a:p>
          <a:p>
            <a:pPr/>
            <a:r>
              <a:t>Process Innovation: Continuous improvement and expansion</a:t>
            </a:r>
          </a:p>
          <a:p>
            <a:pPr/>
            <a:r>
              <a:t>Customer Service: Enhanced customer interaction roles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Change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Communication Plan: Regular updates and transparency</a:t>
            </a:r>
          </a:p>
          <a:p>
            <a:pPr/>
            <a:r>
              <a:t>Training Program: Comprehensive skills development</a:t>
            </a:r>
          </a:p>
          <a:p>
            <a:pPr/>
            <a:r>
              <a:t>Support System: Dedicated support during transition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Technology Leadership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Proven AI Services: Textract and Comprehend used by Fortune 500</a:t>
            </a:r>
          </a:p>
          <a:p>
            <a:pPr/>
            <a:r>
              <a:t>Continuous Innovation: Regular model improvements and new features</a:t>
            </a:r>
          </a:p>
          <a:p>
            <a:pPr/>
            <a:r>
              <a:t>Scale and Reliability: 99.9% uptime with global infrastructure</a:t>
            </a:r>
          </a:p>
          <a:p>
            <a:pPr/>
            <a:r>
              <a:t>Security: Enterprise-grade security and compliance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Advantages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Pay-per-Use Pricing: No upfront licensing costs</a:t>
            </a:r>
          </a:p>
          <a:p>
            <a:pPr/>
            <a:r>
              <a:t>Managed Services: Reduced operational overhead</a:t>
            </a:r>
          </a:p>
          <a:p>
            <a:pPr/>
            <a:r>
              <a:t>Partner Ecosystem: Extensive implementation partner network</a:t>
            </a:r>
          </a:p>
          <a:p>
            <a:pPr/>
            <a:r>
              <a:t>Support Options: 24/7 enterprise support available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Competitive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Investment Authorization Required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Total Investment: $[Amount] over 3 years</a:t>
            </a:r>
          </a:p>
          <a:p>
            <a:pPr/>
            <a:r>
              <a:t>Annual Budget Impact: $[Amount] (net positive Year 1)</a:t>
            </a:r>
          </a:p>
          <a:p>
            <a:pPr/>
            <a:r>
              <a:t>Capital vs. Operating: [X]% CAPEX, [Y]% OPEX</a:t>
            </a:r>
          </a:p>
          <a:p>
            <a:pPr/>
            <a:r>
              <a:t>Funding Source: [Department/Budget Line]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Decision Timeline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Today: Executive briefing and initial approval</a:t>
            </a:r>
          </a:p>
          <a:p>
            <a:pPr/>
            <a:r>
              <a:t>Week 1: Detailed technical review</a:t>
            </a:r>
          </a:p>
          <a:p>
            <a:pPr/>
            <a:r>
              <a:t>Week 2: Financial approval and contracting</a:t>
            </a:r>
          </a:p>
          <a:p>
            <a:pPr/>
            <a:r>
              <a:t>Week 3: Project initiation and team assignment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Recommended Decision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Strong Financial Case: [X]% ROI with [Y] month payback</a:t>
            </a:r>
          </a:p>
          <a:p>
            <a:pPr/>
            <a:r>
              <a:t>Proven Technology: Industry-leading AI services</a:t>
            </a:r>
          </a:p>
          <a:p>
            <a:pPr/>
            <a:r>
              <a:t>Low Risk: Phased approach with proof of concept</a:t>
            </a:r>
          </a:p>
          <a:p>
            <a:pPr/>
            <a:r>
              <a:t>Strategic Value: Foundation for digital transformation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Immediate Next Steps (30 days)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Executive Approval: Authorize project and budget</a:t>
            </a:r>
          </a:p>
          <a:p>
            <a:pPr/>
            <a:r>
              <a:t>Project Team: Assign project manager and core team</a:t>
            </a:r>
          </a:p>
          <a:p>
            <a:pPr/>
            <a:r>
              <a:t>Vendor Engagement: Finalize AWS partnership and implementation</a:t>
            </a:r>
          </a:p>
          <a:p>
            <a:pPr/>
            <a:r>
              <a:t>Stakeholder Communication: Announce initiative and timeline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90-Day Milestones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Pilot Launch: Deploy pilot environment and begin testing</a:t>
            </a:r>
          </a:p>
          <a:p>
            <a:pPr/>
            <a:r>
              <a:t>Integration Design: Complete technical integration planning</a:t>
            </a:r>
          </a:p>
          <a:p>
            <a:pPr/>
            <a:r>
              <a:t>Change Management: Initiate staff communication and training</a:t>
            </a:r>
          </a:p>
          <a:p>
            <a:pPr/>
            <a:r>
              <a:t>Success Metrics: Establish baseline and tracking mechanisms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Questions for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Budget Approval: Authority to proceed with $[Amount] investment?</a:t>
            </a:r>
          </a:p>
          <a:p>
            <a:pPr/>
            <a:r>
              <a:t>Timeline Alignment: Acceptable 6-month implementation timeline?</a:t>
            </a:r>
          </a:p>
          <a:p>
            <a:pPr/>
            <a:r>
              <a:t>Resource Commitment: Availability of required project team?</a:t>
            </a:r>
          </a:p>
          <a:p>
            <a:pPr/>
            <a:r>
              <a:t>Success Definition: Agreement on target ROI and metrics?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A1: Detailed Technical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A2: Complete Financial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A3: Implementation Team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A4: Risk Register and Mitigation Plans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A5: Reference Customers and Case Studies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Duration: 30-45 minutes presentation + 15 minutes Q&amp;A</a:t>
            </a:r>
          </a:p>
          <a:p>
            <a:pPr/>
            <a:r>
              <a:t>Audience: C-level executives, senior management, decision makers</a:t>
            </a:r>
          </a:p>
          <a:p>
            <a:pPr/>
            <a:r>
              <a:t>Delivery: In-person preferred, virtual acceptable</a:t>
            </a:r>
          </a:p>
          <a:p>
            <a:pPr/>
            <a:r>
              <a:t>Materials: Provide executive summary handout</a:t>
            </a:r>
          </a:p>
          <a:p>
            <a:pPr/>
            <a:r>
              <a:t>Follow-up: Schedule detailed technical session within 1 week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28</cp:revision>
  <dcterms:created xsi:type="dcterms:W3CDTF">2025-11-01T21:16:10Z</dcterms:created>
  <dcterms:modified xsi:type="dcterms:W3CDTF">2025-11-03T05:12:47Z</dcterms:modified>
</cp:coreProperties>
</file>