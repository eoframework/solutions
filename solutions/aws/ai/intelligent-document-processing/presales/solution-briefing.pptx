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787400"/>
            <a:ext cx="8548687" cy="3568700"/>
          </a:xfrm>
          <a:prstGeom prst="rect">
            <a:avLst/>
          </a:prstGeom>
        </p:spPr>
        <p:txBody>
          <a:bodyPr/>
          <a:lstStyle>
            <a:lvl1pPr>
              <a:defRPr sz="24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2000"/>
            </a:lvl2pPr>
            <a:lvl3pPr>
              <a:defRPr sz="1800"/>
            </a:lvl3pPr>
            <a:lvl4pPr>
              <a:buFont typeface="Arial" panose="020B0604020202020204" pitchFamily="34" charset="0"/>
              <a:buChar char="•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 Left Column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 Left Column Text</a:t>
            </a:r>
          </a:p>
          <a:p>
            <a:pPr lvl="0"/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 Right Column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 Right Column Text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20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10,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2: Agenda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3: Business Challenge &amp; Impact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Manual processing of thousands of documents creates operational bottlenecks</a:t>
            </a:r>
          </a:p>
          <a:p>
            <a:pPr/>
            <a:r>
              <a:rPr>
                <a:solidFill>
                  <a:srgbClr val="000000"/>
                </a:solidFill>
              </a:rPr>
              <a:t>High labor costs and processing delays impact business competitiveness</a:t>
            </a:r>
          </a:p>
          <a:p>
            <a:pPr/>
            <a:r>
              <a:rPr>
                <a:solidFill>
                  <a:srgbClr val="000000"/>
                </a:solidFill>
              </a:rPr>
              <a:t>Human errors in data entry require costly rework and corrections</a:t>
            </a:r>
          </a:p>
          <a:p>
            <a:pPr/>
            <a:r>
              <a:rPr>
                <a:solidFill>
                  <a:srgbClr val="000000"/>
                </a:solidFill>
              </a:rPr>
              <a:t>Processing Bottlenecks: Average processing time of hours per document</a:t>
            </a:r>
          </a:p>
          <a:p>
            <a:pPr/>
            <a:r>
              <a:rPr>
                <a:solidFill>
                  <a:srgbClr val="000000"/>
                </a:solidFill>
              </a:rPr>
              <a:t>High Error Rates: Manual data entry errors requiring costly rework</a:t>
            </a:r>
          </a:p>
          <a:p>
            <a:pPr/>
            <a:r>
              <a:rPr>
                <a:solidFill>
                  <a:srgbClr val="000000"/>
                </a:solidFill>
              </a:rPr>
              <a:t>Resource Intensive: Skilled employees performing repetitive, low-value tasks</a:t>
            </a:r>
          </a:p>
          <a:p>
            <a:pPr/>
            <a:r>
              <a:rPr>
                <a:solidFill>
                  <a:srgbClr val="000000"/>
                </a:solidFill>
              </a:rPr>
              <a:t>Scalability Limits: Cannot handle volume fluctuations or business growth</a:t>
            </a:r>
          </a:p>
          <a:p>
            <a:pPr/>
            <a:r>
              <a:rPr>
                <a:solidFill>
                  <a:srgbClr val="000000"/>
                </a:solidFill>
              </a:rPr>
              <a:t>Labor Costs: $[Amount] annually for document processing staff</a:t>
            </a:r>
          </a:p>
          <a:p>
            <a:pPr/>
            <a:r>
              <a:rPr>
                <a:solidFill>
                  <a:srgbClr val="000000"/>
                </a:solidFill>
              </a:rPr>
              <a:t>Error Costs: $[Amount] annually for rework and corrections</a:t>
            </a:r>
          </a:p>
          <a:p>
            <a:pPr/>
            <a:r>
              <a:rPr>
                <a:solidFill>
                  <a:srgbClr val="000000"/>
                </a:solidFill>
              </a:rPr>
              <a:t>Delay Costs: Processing delays impact customer satisfaction and revenue</a:t>
            </a:r>
          </a:p>
          <a:p>
            <a:pPr/>
            <a:r>
              <a:rPr>
                <a:solidFill>
                  <a:srgbClr val="000000"/>
                </a:solidFill>
              </a:rPr>
              <a:t>Opportunity Costs: Staff could be redeployed to higher-value activities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4: Success Framework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Operations Team: Seeking to eliminate manual data entry and reduce errors</a:t>
            </a:r>
          </a:p>
          <a:p>
            <a:pPr/>
            <a:r>
              <a:rPr>
                <a:solidFill>
                  <a:srgbClr val="000000"/>
                </a:solidFill>
              </a:rPr>
              <a:t>IT Leadership: Looking for scalable, secure AI/ML automation platform</a:t>
            </a:r>
          </a:p>
          <a:p>
            <a:pPr/>
            <a:r>
              <a:rPr>
                <a:solidFill>
                  <a:srgbClr val="000000"/>
                </a:solidFill>
              </a:rPr>
              <a:t>Finance: Focused on cost reduction and ROI realization</a:t>
            </a:r>
          </a:p>
          <a:p>
            <a:pPr/>
            <a:r>
              <a:rPr>
                <a:solidFill>
                  <a:srgbClr val="000000"/>
                </a:solidFill>
              </a:rPr>
              <a:t>Compliance: Ensuring data security and regulatory requirements are met</a:t>
            </a:r>
          </a:p>
          <a:p>
            <a:pPr/>
            <a:r>
              <a:rPr>
                <a:solidFill>
                  <a:srgbClr val="000000"/>
                </a:solidFill>
              </a:rPr>
              <a:t>95%+ Data Extraction Accuracy: AI-powered extraction meets quality standards</a:t>
            </a:r>
          </a:p>
          <a:p>
            <a:pPr/>
            <a:r>
              <a:rPr>
                <a:solidFill>
                  <a:srgbClr val="000000"/>
                </a:solidFill>
              </a:rPr>
              <a:t>90% Processing Time Reduction: Hours to minutes for document processing</a:t>
            </a:r>
          </a:p>
          <a:p>
            <a:pPr/>
            <a:r>
              <a:rPr>
                <a:solidFill>
                  <a:srgbClr val="000000"/>
                </a:solidFill>
              </a:rPr>
              <a:t>70% Cost Savings: Significant reduction in document operations costs</a:t>
            </a:r>
          </a:p>
          <a:p>
            <a:pPr/>
            <a:r>
              <a:rPr>
                <a:solidFill>
                  <a:srgbClr val="000000"/>
                </a:solidFill>
              </a:rPr>
              <a:t>6-Month Implementation: Rapid time-to-value with phased deployment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5: Solution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Amazon Textract: Advanced OCR and document analysis for forms, tables, and text extraction</a:t>
            </a:r>
          </a:p>
          <a:p>
            <a:pPr/>
            <a:r>
              <a:rPr>
                <a:solidFill>
                  <a:srgbClr val="000000"/>
                </a:solidFill>
              </a:rPr>
              <a:t>Amazon Comprehend: Natural language processing and entity recognition</a:t>
            </a:r>
          </a:p>
          <a:p>
            <a:pPr/>
            <a:r>
              <a:rPr>
                <a:solidFill>
                  <a:srgbClr val="000000"/>
                </a:solidFill>
              </a:rPr>
              <a:t>Amazon A2I (Augmented AI): Human-in-the-loop quality assurance for low-confidence results</a:t>
            </a:r>
          </a:p>
          <a:p>
            <a:pPr/>
            <a:r>
              <a:rPr>
                <a:solidFill>
                  <a:srgbClr val="000000"/>
                </a:solidFill>
              </a:rPr>
              <a:t>Serverless Architecture: AWS Lambda, S3, DynamoDB for scalable processing</a:t>
            </a:r>
          </a:p>
          <a:p>
            <a:pPr/>
            <a:r>
              <a:rPr>
                <a:solidFill>
                  <a:srgbClr val="000000"/>
                </a:solidFill>
              </a:rPr>
              <a:t>Document Processing Pipeline: Automated ingestion, analysis, validation, and integration</a:t>
            </a:r>
          </a:p>
          <a:p>
            <a:pPr/>
            <a:r>
              <a:rPr>
                <a:solidFill>
                  <a:srgbClr val="000000"/>
                </a:solidFill>
              </a:rPr>
              <a:t>API Gateway: REST APIs for document submission and results retrieval</a:t>
            </a:r>
          </a:p>
          <a:p>
            <a:pPr/>
            <a:r>
              <a:rPr>
                <a:solidFill>
                  <a:srgbClr val="000000"/>
                </a:solidFill>
              </a:rPr>
              <a:t>Monitoring &amp; Security: CloudWatch monitoring, CloudTrail audit logs, encryption at rest and in transit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5" name="Picture Placeholder 4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15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6: Why This Solution?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Financial Services: 90% processing time reduction, $2M annual savings, 340% ROI</a:t>
            </a:r>
          </a:p>
          <a:p>
            <a:pPr/>
            <a:r>
              <a:rPr>
                <a:solidFill>
                  <a:srgbClr val="000000"/>
                </a:solidFill>
              </a:rPr>
              <a:t>Healthcare: 95% accuracy with HIPAA compliance, 80% cost reduction, 280% ROI</a:t>
            </a:r>
          </a:p>
          <a:p>
            <a:pPr/>
            <a:r>
              <a:rPr>
                <a:solidFill>
                  <a:srgbClr val="000000"/>
                </a:solidFill>
              </a:rPr>
              <a:t>Government: 24/7 processing capability, 85% staff redeployment, 250% ROI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AWS Textract and Comprehend used by Fortune 500 companies</a:t>
            </a:r>
          </a:p>
          <a:p>
            <a:pPr/>
            <a:r>
              <a:rPr>
                <a:solidFill>
                  <a:srgbClr val="000000"/>
                </a:solidFill>
              </a:rPr>
              <a:t>99.9% uptime with global infrastructure</a:t>
            </a:r>
          </a:p>
          <a:p>
            <a:pPr/>
            <a:r>
              <a:rPr>
                <a:solidFill>
                  <a:srgbClr val="000000"/>
                </a:solidFill>
              </a:rPr>
              <a:t>Enterprise-grade security and compliance (SOC 2, GDPR, HIPAA ready)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6" name="Picture Placeholder 5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7: Business Value - Strategic Benefits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Processing Speed: 95% reduction in document processing time (hours → minutes)</a:t>
            </a:r>
          </a:p>
          <a:p>
            <a:pPr/>
            <a:r>
              <a:rPr>
                <a:solidFill>
                  <a:srgbClr val="000000"/>
                </a:solidFill>
              </a:rPr>
              <a:t>Accuracy Improvement: 99%+ data extraction accuracy vs 90-95% manual accuracy</a:t>
            </a:r>
          </a:p>
          <a:p>
            <a:pPr/>
            <a:r>
              <a:rPr>
                <a:solidFill>
                  <a:srgbClr val="000000"/>
                </a:solidFill>
              </a:rPr>
              <a:t>24/7 Processing: Serverless architecture enables continuous operation</a:t>
            </a:r>
          </a:p>
          <a:p>
            <a:pPr/>
            <a:r>
              <a:rPr>
                <a:solidFill>
                  <a:srgbClr val="000000"/>
                </a:solidFill>
              </a:rPr>
              <a:t>Scalability: Handle 10X volume growth without proportional cost increase</a:t>
            </a:r>
          </a:p>
          <a:p>
            <a:pPr/>
            <a:r>
              <a:rPr>
                <a:solidFill>
                  <a:srgbClr val="000000"/>
                </a:solidFill>
              </a:rPr>
              <a:t>Labor Cost Savings: $[Amount] - Reduce processing staff by 70-80%</a:t>
            </a:r>
          </a:p>
          <a:p>
            <a:pPr/>
            <a:r>
              <a:rPr>
                <a:solidFill>
                  <a:srgbClr val="000000"/>
                </a:solidFill>
              </a:rPr>
              <a:t>Error Reduction: $[Amount] - Eliminate costly rework and corrections</a:t>
            </a:r>
          </a:p>
          <a:p>
            <a:pPr/>
            <a:r>
              <a:rPr>
                <a:solidFill>
                  <a:srgbClr val="000000"/>
                </a:solidFill>
              </a:rPr>
              <a:t>Efficiency Gains: $[Amount] - Staff redeployment to higher-value activities</a:t>
            </a:r>
          </a:p>
          <a:p>
            <a:pPr/>
            <a:r>
              <a:rPr>
                <a:solidFill>
                  <a:srgbClr val="000000"/>
                </a:solidFill>
              </a:rPr>
              <a:t>Total Annual Benefit: $[Amount]</a:t>
            </a:r>
          </a:p>
          <a:p>
            <a:pPr/>
            <a:r>
              <a:rPr>
                <a:solidFill>
                  <a:srgbClr val="000000"/>
                </a:solidFill>
              </a:rPr>
              <a:t>Faster Processing: Industry-leading turnaround times improve customer satisfaction</a:t>
            </a:r>
          </a:p>
          <a:p>
            <a:pPr/>
            <a:r>
              <a:rPr>
                <a:solidFill>
                  <a:srgbClr val="000000"/>
                </a:solidFill>
              </a:rPr>
              <a:t>Cost Leadership: Lower cost structure enables competitive pricing</a:t>
            </a:r>
          </a:p>
          <a:p>
            <a:pPr/>
            <a:r>
              <a:rPr>
                <a:solidFill>
                  <a:srgbClr val="000000"/>
                </a:solidFill>
              </a:rPr>
              <a:t>Innovation Platform: Foundation for additional AI/ML initiatives across organization</a:t>
            </a:r>
          </a:p>
          <a:p>
            <a:pPr/>
            <a:r>
              <a:rPr>
                <a:solidFill>
                  <a:srgbClr val="000000"/>
                </a:solidFill>
              </a:rPr>
              <a:t>Audit Trail: Complete CloudTrail logging for compliance and tracking</a:t>
            </a:r>
          </a:p>
          <a:p>
            <a:pPr/>
            <a:r>
              <a:rPr>
                <a:solidFill>
                  <a:srgbClr val="000000"/>
                </a:solidFill>
              </a:rPr>
              <a:t>Data Security: Encryption at rest and in transit, IAM-based access control</a:t>
            </a:r>
          </a:p>
          <a:p>
            <a:pPr/>
            <a:r>
              <a:rPr>
                <a:solidFill>
                  <a:srgbClr val="000000"/>
                </a:solidFill>
              </a:rPr>
              <a:t>Business Continuity: Serverless architecture eliminates single points of failure</a:t>
            </a:r>
          </a:p>
          <a:p>
            <a:pPr/>
            <a:r>
              <a:rPr>
                <a:solidFill>
                  <a:srgbClr val="000000"/>
                </a:solidFill>
              </a:rPr>
              <a:t>Compliance: SOC 2, GDPR, HIPAA-ready architecture</a:t>
            </a:r>
          </a:p>
          <a:p>
            <a:pPr/>
            <a:r>
              <a:rPr>
                <a:solidFill>
                  <a:srgbClr val="000000"/>
                </a:solidFill>
              </a:rPr>
              <a:t>AI/ML Foundation: Platform for expanding automation to other business processes</a:t>
            </a:r>
          </a:p>
          <a:p>
            <a:pPr/>
            <a:r>
              <a:rPr>
                <a:solidFill>
                  <a:srgbClr val="000000"/>
                </a:solidFill>
              </a:rPr>
              <a:t>Advanced Analytics: Document pattern analysis and insights from extracted data</a:t>
            </a:r>
          </a:p>
          <a:p>
            <a:pPr/>
            <a:r>
              <a:rPr>
                <a:solidFill>
                  <a:srgbClr val="000000"/>
                </a:solidFill>
              </a:rPr>
              <a:t>Future Capabilities: Multi-language support, intelligent routing, predictive analytics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8: 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Deploy single document type with limited volume</a:t>
            </a:r>
          </a:p>
          <a:p>
            <a:pPr/>
            <a:r>
              <a:rPr>
                <a:solidFill>
                  <a:srgbClr val="000000"/>
                </a:solidFill>
              </a:rPr>
              <a:t>Validate AI accuracy with actual documents (&gt;95% target)</a:t>
            </a:r>
          </a:p>
          <a:p>
            <a:pPr/>
            <a:r>
              <a:rPr>
                <a:solidFill>
                  <a:srgbClr val="000000"/>
                </a:solidFill>
              </a:rPr>
              <a:t>Complete integration testing with existing systems</a:t>
            </a:r>
          </a:p>
          <a:p>
            <a:pPr/>
            <a:r>
              <a:rPr>
                <a:solidFill>
                  <a:srgbClr val="000000"/>
                </a:solidFill>
              </a:rPr>
              <a:t>User acceptance testing and feedback</a:t>
            </a:r>
          </a:p>
          <a:p>
            <a:pPr/>
            <a:r>
              <a:rPr>
                <a:solidFill>
                  <a:srgbClr val="000000"/>
                </a:solidFill>
              </a:rPr>
              <a:t>Investment: $[Amount]</a:t>
            </a:r>
          </a:p>
          <a:p>
            <a:pPr/>
            <a:r>
              <a:rPr>
                <a:solidFill>
                  <a:srgbClr val="000000"/>
                </a:solidFill>
              </a:rPr>
              <a:t>Add additional document types and increase volume</a:t>
            </a:r>
          </a:p>
          <a:p>
            <a:pPr/>
            <a:r>
              <a:rPr>
                <a:solidFill>
                  <a:srgbClr val="000000"/>
                </a:solidFill>
              </a:rPr>
              <a:t>Scale to production processing levels</a:t>
            </a:r>
          </a:p>
          <a:p>
            <a:pPr/>
            <a:r>
              <a:rPr>
                <a:solidFill>
                  <a:srgbClr val="000000"/>
                </a:solidFill>
              </a:rPr>
              <a:t>Optimize ML models based on pilot learnings</a:t>
            </a:r>
          </a:p>
          <a:p>
            <a:pPr/>
            <a:r>
              <a:rPr>
                <a:solidFill>
                  <a:srgbClr val="000000"/>
                </a:solidFill>
              </a:rPr>
              <a:t>Comprehensive user training and adoption</a:t>
            </a:r>
          </a:p>
          <a:p>
            <a:pPr/>
            <a:r>
              <a:rPr>
                <a:solidFill>
                  <a:srgbClr val="000000"/>
                </a:solidFill>
              </a:rPr>
              <a:t>Investment: $[Amount]</a:t>
            </a:r>
          </a:p>
          <a:p>
            <a:pPr/>
            <a:r>
              <a:rPr>
                <a:solidFill>
                  <a:srgbClr val="000000"/>
                </a:solidFill>
              </a:rPr>
              <a:t>Complete automation across all document types</a:t>
            </a:r>
          </a:p>
          <a:p>
            <a:pPr/>
            <a:r>
              <a:rPr>
                <a:solidFill>
                  <a:srgbClr val="000000"/>
                </a:solidFill>
              </a:rPr>
              <a:t>Staff transition and redeployment</a:t>
            </a:r>
          </a:p>
          <a:p>
            <a:pPr/>
            <a:r>
              <a:rPr>
                <a:solidFill>
                  <a:srgbClr val="000000"/>
                </a:solidFill>
              </a:rPr>
              <a:t>Full cost savings realization</a:t>
            </a:r>
          </a:p>
          <a:p>
            <a:pPr/>
            <a:r>
              <a:rPr>
                <a:solidFill>
                  <a:srgbClr val="000000"/>
                </a:solidFill>
              </a:rPr>
              <a:t>Performance monitoring and optimization</a:t>
            </a:r>
          </a:p>
          <a:p>
            <a:pPr/>
            <a:r>
              <a:rPr>
                <a:solidFill>
                  <a:srgbClr val="000000"/>
                </a:solidFill>
              </a:rPr>
              <a:t>Investment: $[Amount]</a:t>
            </a:r>
          </a:p>
          <a:p>
            <a:pPr/>
            <a:r>
              <a:rPr>
                <a:solidFill>
                  <a:srgbClr val="000000"/>
                </a:solidFill>
              </a:rPr>
              <a:t>Dedicated project team with AWS AI/ML expertise</a:t>
            </a:r>
          </a:p>
          <a:p>
            <a:pPr/>
            <a:r>
              <a:rPr>
                <a:solidFill>
                  <a:srgbClr val="000000"/>
                </a:solidFill>
              </a:rPr>
              <a:t>Executive sponsorship and stakeholder alignment</a:t>
            </a:r>
          </a:p>
          <a:p>
            <a:pPr/>
            <a:r>
              <a:rPr>
                <a:solidFill>
                  <a:srgbClr val="000000"/>
                </a:solidFill>
              </a:rPr>
              <a:t>Change management focus - staff training and communication</a:t>
            </a:r>
          </a:p>
          <a:p>
            <a:pPr/>
            <a:r>
              <a:rPr>
                <a:solidFill>
                  <a:srgbClr val="000000"/>
                </a:solidFill>
              </a:rPr>
              <a:t>Proof of concept validation before full commitment</a:t>
            </a:r>
          </a:p>
          <a:p>
            <a:pPr/>
            <a:r>
              <a:rPr>
                <a:solidFill>
                  <a:srgbClr val="000000"/>
                </a:solidFill>
              </a:rPr>
              <a:t>Parallel processing initially to minimize risk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9: Risk Mitigation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Fixed-Price Implementation: No cost overrun risk on implementation services</a:t>
            </a:r>
          </a:p>
          <a:p>
            <a:pPr/>
            <a:r>
              <a:rPr>
                <a:solidFill>
                  <a:srgbClr val="000000"/>
                </a:solidFill>
              </a:rPr>
              <a:t>Proof of Concept: Validate ROI assumptions with actual documents before full deployment</a:t>
            </a:r>
          </a:p>
          <a:p>
            <a:pPr/>
            <a:r>
              <a:rPr>
                <a:solidFill>
                  <a:srgbClr val="000000"/>
                </a:solidFill>
              </a:rPr>
              <a:t>Phased Investment: Staged funding reduces financial exposure</a:t>
            </a:r>
          </a:p>
          <a:p>
            <a:pPr/>
            <a:r>
              <a:rPr>
                <a:solidFill>
                  <a:srgbClr val="000000"/>
                </a:solidFill>
              </a:rPr>
              <a:t>Parallel Processing: Maintain manual backup initially for business continuity</a:t>
            </a:r>
          </a:p>
          <a:p>
            <a:pPr/>
            <a:r>
              <a:rPr>
                <a:solidFill>
                  <a:srgbClr val="000000"/>
                </a:solidFill>
              </a:rPr>
              <a:t>30-Day Warranty: Post-implementation support and issue resolution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10: Investment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Implementation Services: $[Amount] (AWS environment setup, ML model development, integration)</a:t>
            </a:r>
          </a:p>
          <a:p>
            <a:pPr/>
            <a:r>
              <a:rPr>
                <a:solidFill>
                  <a:srgbClr val="000000"/>
                </a:solidFill>
              </a:rPr>
              <a:t>AWS Services (Year 1): $[Amount] (Textract, Comprehend, Lambda, S3, etc.)</a:t>
            </a:r>
          </a:p>
          <a:p>
            <a:pPr/>
            <a:r>
              <a:rPr>
                <a:solidFill>
                  <a:srgbClr val="000000"/>
                </a:solidFill>
              </a:rPr>
              <a:t>Training &amp; Change Management: $[Amount]</a:t>
            </a:r>
          </a:p>
          <a:p>
            <a:pPr/>
            <a:r>
              <a:rPr>
                <a:solidFill>
                  <a:srgbClr val="000000"/>
                </a:solidFill>
              </a:rPr>
              <a:t>AWS Platform Services: $[Amount] (Textract/Comprehend usage, compute, storage)</a:t>
            </a:r>
          </a:p>
          <a:p>
            <a:pPr/>
            <a:r>
              <a:rPr>
                <a:solidFill>
                  <a:srgbClr val="000000"/>
                </a:solidFill>
              </a:rPr>
              <a:t>Support &amp; Maintenance: $[Amount]</a:t>
            </a:r>
          </a:p>
          <a:p>
            <a:pPr/>
            <a:r>
              <a:rPr>
                <a:solidFill>
                  <a:srgbClr val="000000"/>
                </a:solidFill>
              </a:rPr>
              <a:t>Reduced Labor Costs: $[Amount] (70-80% reduction in processing staff)</a:t>
            </a:r>
          </a:p>
          <a:p>
            <a:pPr/>
            <a:r>
              <a:rPr>
                <a:solidFill>
                  <a:srgbClr val="000000"/>
                </a:solidFill>
              </a:rPr>
              <a:t>ROI: [X]% over 3 years</a:t>
            </a:r>
          </a:p>
          <a:p>
            <a:pPr/>
            <a:r>
              <a:rPr>
                <a:solidFill>
                  <a:srgbClr val="000000"/>
                </a:solidFill>
              </a:rPr>
              <a:t>Payback Period: [Y] months</a:t>
            </a:r>
          </a:p>
          <a:p>
            <a:pPr/>
            <a:r>
              <a:rPr>
                <a:solidFill>
                  <a:srgbClr val="000000"/>
                </a:solidFill>
              </a:rPr>
              <a:t>NPV: $[Amount] (at [Z]% discount rate)</a:t>
            </a:r>
          </a:p>
          <a:p>
            <a:pPr/>
            <a:r>
              <a:rPr>
                <a:solidFill>
                  <a:srgbClr val="000000"/>
                </a:solidFill>
              </a:rPr>
              <a:t>Year 1 Net Benefit: $[Amount]</a:t>
            </a:r>
          </a:p>
          <a:p>
            <a:pPr/>
            <a:r>
              <a:rPr>
                <a:solidFill>
                  <a:srgbClr val="000000"/>
                </a:solidFill>
              </a:rPr>
              <a:t>Current Annual Cost: $[Amount] (labor, errors, delays)</a:t>
            </a:r>
          </a:p>
          <a:p>
            <a:pPr/>
            <a:r>
              <a:rPr>
                <a:solidFill>
                  <a:srgbClr val="000000"/>
                </a:solidFill>
              </a:rPr>
              <a:t>Future Annual Cost: $[Amount] (AWS services, reduced staff)</a:t>
            </a:r>
          </a:p>
          <a:p>
            <a:pPr/>
            <a:r>
              <a:rPr>
                <a:solidFill>
                  <a:srgbClr val="000000"/>
                </a:solidFill>
              </a:rPr>
              <a:t>Annual Savings: $[Amount]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5" name="Picture Placeholder 4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6" name="Chart Placeholder 5"/>
          <p:cNvSpPr>
            <a:spLocks noGrp="1"/>
          </p:cNvSpPr>
          <p:nvPr>
            <p:ph type="chart" idx="15" sz="quarter"/>
          </p:nvPr>
        </p:nvSpPr>
        <p:spPr/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11: 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Month 1: Pilot environment operational, initial document testing begins</a:t>
            </a:r>
          </a:p>
          <a:p>
            <a:pPr/>
            <a:r>
              <a:rPr>
                <a:solidFill>
                  <a:srgbClr val="000000"/>
                </a:solidFill>
              </a:rPr>
              <a:t>Month 2: Accuracy validation complete (&gt;95%), integration testing done</a:t>
            </a:r>
          </a:p>
          <a:p>
            <a:pPr/>
            <a:r>
              <a:rPr>
                <a:solidFill>
                  <a:srgbClr val="000000"/>
                </a:solidFill>
              </a:rPr>
              <a:t>Month 4: Production scaling achieved, additional document types deployed</a:t>
            </a:r>
          </a:p>
          <a:p>
            <a:pPr/>
            <a:r>
              <a:rPr>
                <a:solidFill>
                  <a:srgbClr val="000000"/>
                </a:solidFill>
              </a:rPr>
              <a:t>Month 6: Full ROI realization, complete automation achieved</a:t>
            </a:r>
          </a:p>
          <a:p>
            <a:pPr/>
            <a:r>
              <a:rPr>
                <a:solidFill>
                  <a:srgbClr val="000000"/>
                </a:solidFill>
              </a:rPr>
              <a:t>Month 7+: Ongoing optimization and potential expansion to new use cases</a:t>
            </a:r>
          </a:p>
          <a:p>
            <a:pPr/>
            <a:r>
              <a:rPr>
                <a:solidFill>
                  <a:srgbClr val="000000"/>
                </a:solidFill>
              </a:rPr>
              <a:t>Month 2: Pilot document type automated - early productivity gains</a:t>
            </a:r>
          </a:p>
          <a:p>
            <a:pPr/>
            <a:r>
              <a:rPr>
                <a:solidFill>
                  <a:srgbClr val="000000"/>
                </a:solidFill>
              </a:rPr>
              <a:t>Month 3: Integration complete - seamless data flow to business systems</a:t>
            </a:r>
          </a:p>
          <a:p>
            <a:pPr/>
            <a:r>
              <a:rPr>
                <a:solidFill>
                  <a:srgbClr val="000000"/>
                </a:solidFill>
              </a:rPr>
              <a:t>Month 4: 50%+ of documents automated - significant cost reduction begins</a:t>
            </a:r>
          </a:p>
          <a:p>
            <a:pPr/>
            <a:r>
              <a:rPr>
                <a:solidFill>
                  <a:srgbClr val="000000"/>
                </a:solidFill>
              </a:rPr>
              <a:t>Week 2: Requirements and document analysis complete</a:t>
            </a:r>
          </a:p>
          <a:p>
            <a:pPr/>
            <a:r>
              <a:rPr>
                <a:solidFill>
                  <a:srgbClr val="000000"/>
                </a:solidFill>
              </a:rPr>
              <a:t>Week 3: Solution architecture approved</a:t>
            </a:r>
          </a:p>
          <a:p>
            <a:pPr/>
            <a:r>
              <a:rPr>
                <a:solidFill>
                  <a:srgbClr val="000000"/>
                </a:solidFill>
              </a:rPr>
              <a:t>Week 8: Pilot deployment complete</a:t>
            </a:r>
          </a:p>
          <a:p>
            <a:pPr/>
            <a:r>
              <a:rPr>
                <a:solidFill>
                  <a:srgbClr val="000000"/>
                </a:solidFill>
              </a:rPr>
              <a:t>Week 12: Testing and validation complete</a:t>
            </a:r>
          </a:p>
          <a:p>
            <a:pPr/>
            <a:r>
              <a:rPr>
                <a:solidFill>
                  <a:srgbClr val="000000"/>
                </a:solidFill>
              </a:rPr>
              <a:t>Week 16: Production deployment and go-live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12: 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Challenge: 50,000 loan applications monthly requiring manual review</a:t>
            </a:r>
          </a:p>
          <a:p>
            <a:pPr/>
            <a:r>
              <a:rPr>
                <a:solidFill>
                  <a:srgbClr val="000000"/>
                </a:solidFill>
              </a:rPr>
              <a:t>Solution: AWS IDP with custom classification models for financial documents</a:t>
            </a:r>
          </a:p>
          <a:p>
            <a:pPr/>
            <a:r>
              <a:rPr>
                <a:solidFill>
                  <a:srgbClr val="000000"/>
                </a:solidFill>
              </a:rPr>
              <a:t>Results:</a:t>
            </a:r>
          </a:p>
          <a:p>
            <a:pPr lvl="1"/>
            <a:r>
              <a:rPr>
                <a:solidFill>
                  <a:srgbClr val="000000"/>
                </a:solidFill>
              </a:rPr>
              <a:t>90% processing time reduction (days → hours)</a:t>
            </a:r>
          </a:p>
          <a:p>
            <a:pPr lvl="1"/>
            <a:r>
              <a:rPr>
                <a:solidFill>
                  <a:srgbClr val="000000"/>
                </a:solidFill>
              </a:rPr>
              <a:t>$2M annual savings through automation</a:t>
            </a:r>
          </a:p>
          <a:p>
            <a:pPr lvl="1"/>
            <a:r>
              <a:rPr>
                <a:solidFill>
                  <a:srgbClr val="000000"/>
                </a:solidFill>
              </a:rPr>
              <a:t>99%+ accuracy in data extraction</a:t>
            </a:r>
          </a:p>
          <a:p>
            <a:pPr lvl="1"/>
            <a:r>
              <a:rPr>
                <a:solidFill>
                  <a:srgbClr val="000000"/>
                </a:solidFill>
              </a:rPr>
              <a:t>ROI: 340% over 3 years</a:t>
            </a:r>
          </a:p>
          <a:p>
            <a:pPr/>
            <a:r>
              <a:rPr>
                <a:solidFill>
                  <a:srgbClr val="000000"/>
                </a:solidFill>
              </a:rPr>
              <a:t>Challenge: Medical records digitization with HIPAA compliance requirements</a:t>
            </a:r>
          </a:p>
          <a:p>
            <a:pPr/>
            <a:r>
              <a:rPr>
                <a:solidFill>
                  <a:srgbClr val="000000"/>
                </a:solidFill>
              </a:rPr>
              <a:t>Solution: AWS IDP with secure document processing and PHI protection</a:t>
            </a:r>
          </a:p>
          <a:p>
            <a:pPr/>
            <a:r>
              <a:rPr>
                <a:solidFill>
                  <a:srgbClr val="000000"/>
                </a:solidFill>
              </a:rPr>
              <a:t>Results:</a:t>
            </a:r>
          </a:p>
          <a:p>
            <a:pPr lvl="1"/>
            <a:r>
              <a:rPr>
                <a:solidFill>
                  <a:srgbClr val="000000"/>
                </a:solidFill>
              </a:rPr>
              <a:t>95% accuracy with human review for complex cases</a:t>
            </a:r>
          </a:p>
          <a:p>
            <a:pPr lvl="1"/>
            <a:r>
              <a:rPr>
                <a:solidFill>
                  <a:srgbClr val="000000"/>
                </a:solidFill>
              </a:rPr>
              <a:t>HIPAA-compliant architecture with audit trails</a:t>
            </a:r>
          </a:p>
          <a:p>
            <a:pPr lvl="1"/>
            <a:r>
              <a:rPr>
                <a:solidFill>
                  <a:srgbClr val="000000"/>
                </a:solidFill>
              </a:rPr>
              <a:t>80% cost reduction in records processing</a:t>
            </a:r>
          </a:p>
          <a:p>
            <a:pPr lvl="1"/>
            <a:r>
              <a:rPr>
                <a:solidFill>
                  <a:srgbClr val="000000"/>
                </a:solidFill>
              </a:rPr>
              <a:t>ROI: 280% over 3 years</a:t>
            </a:r>
          </a:p>
          <a:p>
            <a:pPr/>
            <a:r>
              <a:rPr>
                <a:solidFill>
                  <a:srgbClr val="000000"/>
                </a:solidFill>
              </a:rPr>
              <a:t>Challenge: Citizen service forms processing during peak periods</a:t>
            </a:r>
          </a:p>
          <a:p>
            <a:pPr/>
            <a:r>
              <a:rPr>
                <a:solidFill>
                  <a:srgbClr val="000000"/>
                </a:solidFill>
              </a:rPr>
              <a:t>Solution: AWS IDP with scalable serverless architecture</a:t>
            </a:r>
          </a:p>
          <a:p>
            <a:pPr/>
            <a:r>
              <a:rPr>
                <a:solidFill>
                  <a:srgbClr val="000000"/>
                </a:solidFill>
              </a:rPr>
              <a:t>Results:</a:t>
            </a:r>
          </a:p>
          <a:p>
            <a:pPr lvl="1"/>
            <a:r>
              <a:rPr>
                <a:solidFill>
                  <a:srgbClr val="000000"/>
                </a:solidFill>
              </a:rPr>
              <a:t>24/7 processing capability with no manual intervention</a:t>
            </a:r>
          </a:p>
          <a:p>
            <a:pPr lvl="1"/>
            <a:r>
              <a:rPr>
                <a:solidFill>
                  <a:srgbClr val="000000"/>
                </a:solidFill>
              </a:rPr>
              <a:t>85% staff redeployment to citizen-facing roles</a:t>
            </a:r>
          </a:p>
          <a:p>
            <a:pPr lvl="1"/>
            <a:r>
              <a:rPr>
                <a:solidFill>
                  <a:srgbClr val="000000"/>
                </a:solidFill>
              </a:rPr>
              <a:t>Improved citizen satisfaction scores</a:t>
            </a:r>
          </a:p>
          <a:p>
            <a:pPr lvl="1"/>
            <a:r>
              <a:rPr>
                <a:solidFill>
                  <a:srgbClr val="000000"/>
                </a:solidFill>
              </a:rPr>
              <a:t>ROI: 250% over 3 years</a:t>
            </a:r>
          </a:p>
          <a:p>
            <a:pPr/>
            <a:r>
              <a:rPr>
                <a:solidFill>
                  <a:srgbClr val="000000"/>
                </a:solidFill>
              </a:rPr>
              <a:t>AWS Premier Consulting Partner</a:t>
            </a:r>
          </a:p>
          <a:p>
            <a:pPr/>
            <a:r>
              <a:rPr>
                <a:solidFill>
                  <a:srgbClr val="000000"/>
                </a:solidFill>
              </a:rPr>
              <a:t>AWS AI/ML Competency certified</a:t>
            </a:r>
          </a:p>
          <a:p>
            <a:pPr/>
            <a:r>
              <a:rPr>
                <a:solidFill>
                  <a:srgbClr val="000000"/>
                </a:solidFill>
              </a:rPr>
              <a:t>[X] successful IDP implementations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13: 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AWS Premier Consulting Partner with AI/ML Competency</a:t>
            </a:r>
          </a:p>
          <a:p>
            <a:pPr/>
            <a:r>
              <a:rPr>
                <a:solidFill>
                  <a:srgbClr val="000000"/>
                </a:solidFill>
              </a:rPr>
              <a:t>[X] years of experience with AWS AI services</a:t>
            </a:r>
          </a:p>
          <a:p>
            <a:pPr/>
            <a:r>
              <a:rPr>
                <a:solidFill>
                  <a:srgbClr val="000000"/>
                </a:solidFill>
              </a:rPr>
              <a:t>[Y] successful intelligent document processing implementations</a:t>
            </a:r>
          </a:p>
          <a:p>
            <a:pPr/>
            <a:r>
              <a:rPr>
                <a:solidFill>
                  <a:srgbClr val="000000"/>
                </a:solidFill>
              </a:rPr>
              <a:t>Certified AWS Solutions Architects and ML specialists</a:t>
            </a:r>
          </a:p>
          <a:p>
            <a:pPr/>
            <a:r>
              <a:rPr>
                <a:solidFill>
                  <a:srgbClr val="000000"/>
                </a:solidFill>
              </a:rPr>
              <a:t>End-to-end implementation from assessment to production</a:t>
            </a:r>
          </a:p>
          <a:p>
            <a:pPr/>
            <a:r>
              <a:rPr>
                <a:solidFill>
                  <a:srgbClr val="000000"/>
                </a:solidFill>
              </a:rPr>
              <a:t>ML model development and optimization</a:t>
            </a:r>
          </a:p>
          <a:p>
            <a:pPr/>
            <a:r>
              <a:rPr>
                <a:solidFill>
                  <a:srgbClr val="000000"/>
                </a:solidFill>
              </a:rPr>
              <a:t>Integration with existing business systems</a:t>
            </a:r>
          </a:p>
          <a:p>
            <a:pPr/>
            <a:r>
              <a:rPr>
                <a:solidFill>
                  <a:srgbClr val="000000"/>
                </a:solidFill>
              </a:rPr>
              <a:t>Post-launch hypercare and ongoing optimization</a:t>
            </a:r>
          </a:p>
          <a:p>
            <a:pPr/>
            <a:r>
              <a:rPr>
                <a:solidFill>
                  <a:srgbClr val="000000"/>
                </a:solidFill>
              </a:rPr>
              <a:t>24/7 support options available</a:t>
            </a:r>
          </a:p>
          <a:p>
            <a:pPr/>
            <a:r>
              <a:rPr>
                <a:solidFill>
                  <a:srgbClr val="000000"/>
                </a:solidFill>
              </a:rPr>
              <a:t>Deep expertise in document processing automation</a:t>
            </a:r>
          </a:p>
          <a:p>
            <a:pPr/>
            <a:r>
              <a:rPr>
                <a:solidFill>
                  <a:srgbClr val="000000"/>
                </a:solidFill>
              </a:rPr>
              <a:t>Proven methodologies for AI/ML implementation</a:t>
            </a:r>
          </a:p>
          <a:p>
            <a:pPr/>
            <a:r>
              <a:rPr>
                <a:solidFill>
                  <a:srgbClr val="000000"/>
                </a:solidFill>
              </a:rPr>
              <a:t>Strong track record of ROI delivery</a:t>
            </a:r>
          </a:p>
          <a:p>
            <a:pPr/>
            <a:r>
              <a:rPr>
                <a:solidFill>
                  <a:srgbClr val="000000"/>
                </a:solidFill>
              </a:rPr>
              <a:t>Commitment to knowledge transfer and enablement</a:t>
            </a:r>
          </a:p>
          <a:p>
            <a:pPr/>
            <a:r>
              <a:rPr>
                <a:solidFill>
                  <a:srgbClr val="000000"/>
                </a:solidFill>
              </a:rPr>
              <a:t>Access to latest AWS AI/ML innovations</a:t>
            </a:r>
          </a:p>
          <a:p>
            <a:pPr/>
            <a:r>
              <a:rPr>
                <a:solidFill>
                  <a:srgbClr val="000000"/>
                </a:solidFill>
              </a:rPr>
              <a:t>Leverage AWS managed services for reduced operational overhead</a:t>
            </a:r>
          </a:p>
          <a:p>
            <a:pPr/>
            <a:r>
              <a:rPr>
                <a:solidFill>
                  <a:srgbClr val="000000"/>
                </a:solidFill>
              </a:rPr>
              <a:t>Benefit from continuous AWS model improvements</a:t>
            </a:r>
          </a:p>
          <a:p>
            <a:pPr/>
            <a:r>
              <a:rPr>
                <a:solidFill>
                  <a:srgbClr val="000000"/>
                </a:solidFill>
              </a:rPr>
              <a:t>Pay-per-use pricing with no upfront licensing costs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Slide 14: Next Steps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Week 1: Contract finalization and AWS environment setup</a:t>
            </a:r>
          </a:p>
          <a:p>
            <a:pPr/>
            <a:r>
              <a:rPr>
                <a:solidFill>
                  <a:srgbClr val="000000"/>
                </a:solidFill>
              </a:rPr>
              <a:t>Week 2: Requirements gathering and document analysis workshop</a:t>
            </a:r>
          </a:p>
          <a:p>
            <a:pPr/>
            <a:r>
              <a:rPr>
                <a:solidFill>
                  <a:srgbClr val="000000"/>
                </a:solidFill>
              </a:rPr>
              <a:t>Week 3: Solution architecture design and review</a:t>
            </a:r>
          </a:p>
          <a:p>
            <a:pPr/>
            <a:r>
              <a:rPr>
                <a:solidFill>
                  <a:srgbClr val="000000"/>
                </a:solidFill>
              </a:rPr>
              <a:t>Week 4: Pilot environment deployment and initial testing</a:t>
            </a:r>
          </a:p>
          <a:p>
            <a:pPr/>
            <a:r>
              <a:rPr>
                <a:solidFill>
                  <a:srgbClr val="000000"/>
                </a:solidFill>
              </a:rPr>
              <a:t>Budget Authorization: $[Amount] total investment over [X] months</a:t>
            </a:r>
          </a:p>
          <a:p>
            <a:pPr/>
            <a:r>
              <a:rPr>
                <a:solidFill>
                  <a:srgbClr val="000000"/>
                </a:solidFill>
              </a:rPr>
              <a:t>Resource Commitment: Project manager and business SMEs (~20% time)</a:t>
            </a:r>
          </a:p>
          <a:p>
            <a:pPr/>
            <a:r>
              <a:rPr>
                <a:solidFill>
                  <a:srgbClr val="000000"/>
                </a:solidFill>
              </a:rPr>
              <a:t>Timeline Approval: 6-month implementation timeline acceptable</a:t>
            </a:r>
          </a:p>
          <a:p>
            <a:pPr/>
            <a:r>
              <a:rPr>
                <a:solidFill>
                  <a:srgbClr val="000000"/>
                </a:solidFill>
              </a:rPr>
              <a:t>Success Criteria Agreement: 95%+ accuracy, 90% time reduction targets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Slide 15: Contact Information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4</Words>
  <Application>Microsoft Office PowerPoint</Application>
  <PresentationFormat>On-screen Show (16:9)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52</cp:revision>
  <dcterms:created xsi:type="dcterms:W3CDTF">2025-11-01T21:16:10Z</dcterms:created>
  <dcterms:modified xsi:type="dcterms:W3CDTF">2025-11-10T11:18:09Z</dcterms:modified>
</cp:coreProperties>
</file>