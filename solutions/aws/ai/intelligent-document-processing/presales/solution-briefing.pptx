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AWS Intelligent Document Processing</a:t>
            </a:r>
          </a:p>
          <a:p>
            <a:r>
              <a:t>['Presenter Name']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1: Title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Client Logo (top center)</a:t>
            </a:r>
          </a:p>
          <a:p>
            <a:pPr/>
            <a:r>
              <a:t>Consulting Company Logo (footer left)</a:t>
            </a:r>
          </a:p>
          <a:p>
            <a:pPr/>
            <a:r>
              <a:t>EO Framework Logo (footer right)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Opportunity</a:t>
            </a:r>
          </a:p>
          <a:p>
            <a:pPr/>
            <a:r>
              <a:t>Eliminate manual data entry bottlenecks and reduce processing time from hours to minutes</a:t>
            </a:r>
          </a:p>
          <a:p>
            <a:pPr/>
            <a:r>
              <a:t>Achieve 99%+ accuracy with AI-powered extraction replacing error-prone manual processes</a:t>
            </a:r>
          </a:p>
          <a:p>
            <a:pPr/>
            <a:r>
              <a:t>Scale effortlessly to handle volume fluctuations without adding headcount</a:t>
            </a:r>
          </a:p>
          <a:p>
            <a:pPr/>
            <a:r>
              <a:t>Success Criteria</a:t>
            </a:r>
          </a:p>
          <a:p>
            <a:pPr/>
            <a:r>
              <a:t>90% reduction in document processing time with measurable productivity gains</a:t>
            </a:r>
          </a:p>
          <a:p>
            <a:pPr/>
            <a:r>
              <a:t>95%+ data extraction accuracy validated against business requirements</a:t>
            </a:r>
          </a:p>
          <a:p>
            <a:pPr/>
            <a:r>
              <a:t>ROI realization within 12-18 months through labor cost savings and efficiency gains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Engagement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AI/ML Services</a:t>
            </a:r>
          </a:p>
          <a:p>
            <a:pPr/>
            <a:r>
              <a:t>Amazon Textract for OCR and intelligent form/table extraction from documents</a:t>
            </a:r>
          </a:p>
          <a:p>
            <a:pPr/>
            <a:r>
              <a:t>Amazon Comprehend for NLP entity recognition and document classification</a:t>
            </a:r>
          </a:p>
          <a:p>
            <a:pPr/>
            <a:r>
              <a:t>Amazon A2I for human review and quality assurance on low-confidence results</a:t>
            </a:r>
          </a:p>
          <a:p>
            <a:pPr/>
            <a:r>
              <a:t>Platform Architecture</a:t>
            </a:r>
          </a:p>
          <a:p>
            <a:pPr/>
            <a:r>
              <a:t>Serverless processing with Lambda and Step Functions for scalable workflows</a:t>
            </a:r>
          </a:p>
          <a:p>
            <a:pPr/>
            <a:r>
              <a:t>S3 storage, DynamoDB metadata, and API Gateway for integration</a:t>
            </a:r>
          </a:p>
          <a:p>
            <a:pPr/>
            <a:r>
              <a:t>CloudWatch monitoring and CloudTrail for compliance and audit logging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Phase 1: Pilot (Months 1-2)</a:t>
            </a:r>
          </a:p>
          <a:p>
            <a:pPr/>
            <a:r>
              <a:t>Deploy single document type to validate AI accuracy and business value</a:t>
            </a:r>
          </a:p>
          <a:p>
            <a:pPr/>
            <a:r>
              <a:t>Configure Textract/Comprehend models with sample documents</a:t>
            </a:r>
          </a:p>
          <a:p>
            <a:pPr/>
            <a:r>
              <a:t>Establish human review workflow and quality benchmarks</a:t>
            </a:r>
          </a:p>
          <a:p>
            <a:pPr/>
            <a:r>
              <a:t>Phase 2: Expansion (Months 3-4)</a:t>
            </a:r>
          </a:p>
          <a:p>
            <a:pPr/>
            <a:r>
              <a:t>Extend to additional document types and higher volumes</a:t>
            </a:r>
          </a:p>
          <a:p>
            <a:pPr/>
            <a:r>
              <a:t>Implement API integrations with downstream business systems</a:t>
            </a:r>
          </a:p>
          <a:p>
            <a:pPr/>
            <a:r>
              <a:t>Configure automated routing and exception handling</a:t>
            </a:r>
          </a:p>
          <a:p>
            <a:pPr/>
            <a:r>
              <a:t>Phase 3: Optimization (Months 5-6)</a:t>
            </a:r>
          </a:p>
          <a:p>
            <a:pPr/>
            <a:r>
              <a:t>Fine-tune AI models based on production data and feedback</a:t>
            </a:r>
          </a:p>
          <a:p>
            <a:pPr/>
            <a:r>
              <a:t>Implement advanced features like multi-language support</a:t>
            </a:r>
          </a:p>
          <a:p>
            <a:pPr/>
            <a:r>
              <a:t>Complete training and transition to operations team</a:t>
            </a:r>
          </a:p>
          <a:p>
            <a:pPr/>
            <a:r>
              <a:t>Start with pilot to validate accuracy before full deployment</a:t>
            </a:r>
          </a:p>
          <a:p>
            <a:pPr/>
            <a:r>
              <a:t>Human review ensures quality during AI model learning period</a:t>
            </a:r>
          </a:p>
          <a:p>
            <a:pPr/>
            <a:r>
              <a:t>Agile approach allows course correction based on real results</a:t>
            </a:r>
          </a:p>
          <a:p>
            <a:pPr/>
            <a:r>
              <a:t>Document samples for AI training (representative of production)</a:t>
            </a:r>
          </a:p>
          <a:p>
            <a:pPr/>
            <a:r>
              <a:t>Business SMEs available for validation and review workflows</a:t>
            </a:r>
          </a:p>
          <a:p>
            <a:pPr/>
            <a:r>
              <a:t>Clear success metrics defined upfront (accuracy, speed, cost)</a:t>
            </a:r>
          </a:p>
          <a:p>
            <a:pPr/>
            <a:r>
              <a:t>Pilot validates business case with minimal investment</a:t>
            </a:r>
          </a:p>
          <a:p>
            <a:pPr/>
            <a:r>
              <a:t>Phased approach reduces risk and delivers incremental value</a:t>
            </a:r>
          </a:p>
          <a:p>
            <a:pPr/>
            <a:r>
              <a:t>Full automation achieved by Month 6 with proven accuracy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Timeline &amp; Milestones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First documents processed by AI within 2 weeks of start</a:t>
            </a:r>
          </a:p>
          <a:p>
            <a:pPr/>
            <a:r>
              <a:t>Accuracy validation and ROI confirmation by Month 2</a:t>
            </a:r>
          </a:p>
          <a:p>
            <a:pPr/>
            <a:r>
              <a:t>Measurable productivity gains visible in Month 3</a:t>
            </a:r>
          </a:p>
          <a:p>
            <a:pPr/>
            <a:r>
              <a:t>Pilot proves value before major investment</a:t>
            </a:r>
          </a:p>
          <a:p>
            <a:pPr/>
            <a:r>
              <a:t>Integration in Month 3-4 connects to business workflows</a:t>
            </a:r>
          </a:p>
          <a:p>
            <a:pPr/>
            <a:r>
              <a:t>Full handoff to operations by Month 6 with complete training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Client Success: Healthcare Insurance Provider</a:t>
            </a:r>
          </a:p>
          <a:p>
            <a:pPr/>
            <a:r>
              <a:t>Client: Regional health insurer processing 50,000+ claims monthly</a:t>
            </a:r>
          </a:p>
          <a:p>
            <a:pPr/>
            <a:r>
              <a:t>Challenge: Manual processing taking 24-48 hours, 8% error rate, high labor costs limiting scalability</a:t>
            </a:r>
          </a:p>
          <a:p>
            <a:pPr/>
            <a:r>
              <a:t>Solution: AWS IDP with Textract, Comprehend, and A2I for automated claims processing</a:t>
            </a:r>
          </a:p>
          <a:p>
            <a:pPr/>
            <a:r>
              <a:t>Results: 92% faster processing (24hrs → 2hrs), 99.2% accuracy, $2.1M annual savings, ROI in 11 months</a:t>
            </a:r>
          </a:p>
          <a:p>
            <a:pPr/>
            <a:r>
              <a:t>Testimonial: "The AI accuracy exceeded our expectations. We've redeployed staff to complex cases requiring human judgment, dramatically improving both efficiency and job satisfaction." — Sarah Martinez, VP Operations, HealthFirst Insurance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What We Bring</a:t>
            </a:r>
          </a:p>
          <a:p>
            <a:pPr/>
            <a:r>
              <a:t>10+ years delivering AWS AI/ML solutions with proven results</a:t>
            </a:r>
          </a:p>
          <a:p>
            <a:pPr/>
            <a:r>
              <a:t>50+ successful IDP implementations across healthcare, finance, government</a:t>
            </a:r>
          </a:p>
          <a:p>
            <a:pPr/>
            <a:r>
              <a:t>AWS Advanced Consulting Partner with Machine Learning Competency</a:t>
            </a:r>
          </a:p>
          <a:p>
            <a:pPr/>
            <a:r>
              <a:t>Certified solutions architects with Textract/Comprehend expertise</a:t>
            </a:r>
          </a:p>
          <a:p>
            <a:pPr/>
            <a:r>
              <a:t>Dedicated AI/ML practice with data scientists and ML engineers</a:t>
            </a:r>
          </a:p>
          <a:p>
            <a:pPr/>
            <a:r>
              <a:t>Value to You</a:t>
            </a:r>
          </a:p>
          <a:p>
            <a:pPr/>
            <a:r>
              <a:t>Pre-built document processing templates accelerate deployment</a:t>
            </a:r>
          </a:p>
          <a:p>
            <a:pPr/>
            <a:r>
              <a:t>Proven AI model training methodology reduces time to accuracy</a:t>
            </a:r>
          </a:p>
          <a:p>
            <a:pPr/>
            <a:r>
              <a:t>Direct AWS ML specialist support through partner network</a:t>
            </a:r>
          </a:p>
          <a:p>
            <a:pPr/>
            <a:r>
              <a:t>Best practices from 50+ implementations avoid common pitfalls</a:t>
            </a:r>
          </a:p>
          <a:p>
            <a:pPr/>
            <a:r>
              <a:t>Comprehensive training ensures team self-sufficiency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AWS Partner Services Credit: $10,000 (applied to architecture &amp; AI/ML integration)</a:t>
            </a:r>
          </a:p>
          <a:p>
            <a:pPr/>
            <a:r>
              <a:t>AWS AI Services Consumption Credit: $5,000 (Textract/Comprehend first-year usage)</a:t>
            </a:r>
          </a:p>
          <a:p>
            <a:pPr/>
            <a:r>
              <a:t>Total Credits Applied: $15,000</a:t>
            </a:r>
          </a:p>
          <a:p>
            <a:pPr/>
            <a:r>
              <a:t>Year 1: $100,951 (after $15,000 in partner credits)</a:t>
            </a:r>
          </a:p>
          <a:p>
            <a:pPr/>
            <a:r>
              <a:t>3-Year Total: $168,353 (vs. $183,353 list price)</a:t>
            </a:r>
          </a:p>
          <a:p>
            <a:pPr/>
            <a:r>
              <a:t>You Save: $15,000 (13% discount through AWS partnership)</a:t>
            </a:r>
          </a:p>
          <a:p>
            <a:pPr/>
            <a:r>
              <a:t>Document Volume: 50,000 pages/month (Textract Document Analysis + Forms/Tables)</a:t>
            </a:r>
          </a:p>
          <a:p>
            <a:pPr/>
            <a:r>
              <a:t>User Base: 50-100 department users</a:t>
            </a:r>
          </a:p>
          <a:p>
            <a:pPr/>
            <a:r>
              <a:t>Document Types: 3-5 common types (invoices, purchase orders, contracts)</a:t>
            </a:r>
          </a:p>
          <a:p>
            <a:pPr/>
            <a:r>
              <a:t>Deployment: Single AWS region (us-east-1)</a:t>
            </a:r>
          </a:p>
          <a:p>
            <a:pPr/>
            <a:r>
              <a:t>Support: Business hours coverage (not 24/7)</a:t>
            </a:r>
          </a:p>
          <a:p>
            <a:pPr/>
            <a:r>
              <a:t>Cloud Infrastructure (AWS AI/ML services): $26,830/year</a:t>
            </a:r>
          </a:p>
          <a:p>
            <a:pPr/>
            <a:r>
              <a:t>Software Licenses &amp; Monitoring: $2,784/year</a:t>
            </a:r>
          </a:p>
          <a:p>
            <a:pPr/>
            <a:r>
              <a:t>Support &amp; Maintenance: $4,087/year</a:t>
            </a:r>
          </a:p>
          <a:p>
            <a:pPr/>
            <a:r>
              <a:t>Discovery &amp; architecture (100 hours): Requirements, AWS design, documentation</a:t>
            </a:r>
          </a:p>
          <a:p>
            <a:pPr/>
            <a:r>
              <a:t>Implementation (180 hours): Infrastructure, AI/ML integration, development, testing</a:t>
            </a:r>
          </a:p>
          <a:p>
            <a:pPr/>
            <a:r>
              <a:t>Training &amp; support (30 hours): Knowledge transfer and 30-day hypercare</a:t>
            </a:r>
          </a:p>
          <a:p>
            <a:pPr/>
            <a:r>
              <a:t>Lead with credits: "You qualify for $15K in AWS partner credits"</a:t>
            </a:r>
          </a:p>
          <a:p>
            <a:pPr/>
            <a:r>
              <a:t>This is a department-level pilot with immediate cost reduction through partnerships</a:t>
            </a:r>
          </a:p>
          <a:p>
            <a:pPr/>
            <a:r>
              <a:t>Net Year 1 investment of $101K (not $116K) after partner credits</a:t>
            </a:r>
          </a:p>
          <a:p>
            <a:pPr/>
            <a:r>
              <a:t>Small scope = lower risk, faster ROI validation, PLUS partner funding</a:t>
            </a:r>
          </a:p>
          <a:p>
            <a:pPr/>
            <a:r>
              <a:t>AWS Partner Services Credit ($10K): Applied to architecture design and AI/ML integration</a:t>
            </a:r>
          </a:p>
          <a:p>
            <a:pPr/>
            <a:r>
              <a:t>AWS AI Services Credit ($5K): First-year consumption credit for Textract/Comprehend usage</a:t>
            </a:r>
          </a:p>
          <a:p>
            <a:pPr/>
            <a:r>
              <a:t>Emphasize: Real credits, not marketing—applied to actual AWS bills</a:t>
            </a:r>
          </a:p>
          <a:p>
            <a:pPr/>
            <a:r>
              <a:t>We handle all paperwork and credit application—no burden on client</a:t>
            </a:r>
          </a:p>
          <a:p>
            <a:pPr/>
            <a:r>
              <a:t>Frame as "$101K net investment" not "$116K project"</a:t>
            </a:r>
          </a:p>
          <a:p>
            <a:pPr/>
            <a:r>
              <a:t>Professional services (310 hours) focused on core AI/ML setup, partner credits reduce by $10K</a:t>
            </a:r>
          </a:p>
          <a:p>
            <a:pPr/>
            <a:r>
              <a:t>Cloud costs sized for 50K pages/month with $5K Year 1 credit</a:t>
            </a:r>
          </a:p>
          <a:p>
            <a:pPr/>
            <a:r>
              <a:t>No hardware or infrastructure CapEx required - 100% OpEx model</a:t>
            </a:r>
          </a:p>
          <a:p>
            <a:pPr/>
            <a:r>
              <a:t>"Can we do this ourselves?" - Partner credits only available through certified AWS partners</a:t>
            </a:r>
          </a:p>
          <a:p>
            <a:pPr/>
            <a:r>
              <a:t>"Are credits guaranteed?" - Yes, subject to standard AWS partner program approval (we have 95% approval rate)</a:t>
            </a:r>
          </a:p>
          <a:p>
            <a:pPr/>
            <a:r>
              <a:t>"What if we need more capacity?" - AWS serverless auto-scales; additional volume may qualify for more credits</a:t>
            </a:r>
          </a:p>
          <a:p>
            <a:pPr/>
            <a:r>
              <a:t>"When do we get credits?" - Applied throughout Year 1 as services are consumed</a:t>
            </a:r>
          </a:p>
          <a:p>
            <a:pPr/>
            <a:r>
              <a:t>Compare $101K net Year 1 to cost of 1-2 FTEs doing manual data entry ($80K-$160K/year)</a:t>
            </a:r>
          </a:p>
          <a:p>
            <a:pPr/>
            <a:r>
              <a:t>Processing 50K pages/month = ~600K pages/year automated</a:t>
            </a:r>
          </a:p>
          <a:p>
            <a:pPr/>
            <a:r>
              <a:t>If current manual cost is $2-5 per page, ROI is 10-25x in year one</a:t>
            </a:r>
          </a:p>
          <a:p>
            <a:pPr/>
            <a:r>
              <a:t>Partner credits make this a no-brainer financially</a:t>
            </a:r>
          </a:p>
          <a:p>
            <a:pPr/>
            <a:r>
              <a:t>Pilot proves accuracy with your documents before scaling to enterprise volumes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Week 1: Contract finalization and AWS account setup</a:t>
            </a:r>
          </a:p>
          <a:p>
            <a:pPr/>
            <a:r>
              <a:t>Week 2: Document sample collection and AI model configuration</a:t>
            </a:r>
          </a:p>
          <a:p>
            <a:pPr/>
            <a:r>
              <a:t>Week 3: Textract/Comprehend training and initial testing</a:t>
            </a:r>
          </a:p>
          <a:p>
            <a:pPr/>
            <a:r>
              <a:t>Week 4: First production documents processed with validation</a:t>
            </a:r>
          </a:p>
          <a:p>
            <a:pPr/>
            <a:r>
              <a:t>"Now that we've covered the investment and proven ROI, let's talk about getting started"</a:t>
            </a:r>
          </a:p>
          <a:p>
            <a:pPr/>
            <a:r>
              <a:t>Emphasize pilot approach reduces risk and validates value quickly</a:t>
            </a:r>
          </a:p>
          <a:p>
            <a:pPr/>
            <a:r>
              <a:t>Show we can start processing documents within 30 days</a:t>
            </a:r>
          </a:p>
          <a:p>
            <a:pPr/>
            <a:r>
              <a:t>Decision needed for pilot only (not full commitment)</a:t>
            </a:r>
          </a:p>
          <a:p>
            <a:pPr/>
            <a:r>
              <a:t>Pilot validates accuracy and ROI before expansion</a:t>
            </a:r>
          </a:p>
          <a:p>
            <a:pPr/>
            <a:r>
              <a:t>Collect representative document samples now to accelerate start</a:t>
            </a:r>
          </a:p>
          <a:p>
            <a:pPr/>
            <a:r>
              <a:t>Our team is ready to begin immediately upon approval</a:t>
            </a:r>
          </a:p>
          <a:p>
            <a:pPr/>
            <a:r>
              <a:t>Pilot can start within 30 days of approval</a:t>
            </a:r>
          </a:p>
          <a:p>
            <a:pPr/>
            <a:r>
              <a:t>You'll see actual AI processing results in first month</a:t>
            </a:r>
          </a:p>
          <a:p>
            <a:pPr/>
            <a:r>
              <a:t>Decision point after pilot with validated accuracy metrics</a:t>
            </a:r>
          </a:p>
          <a:p>
            <a:pPr/>
            <a:r>
              <a:t>Risk-free approach - prove value before full investment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Your Account Manager: [Name, Title] | [Email] | [Phone]</a:t>
            </a:r>
          </a:p>
          <a:p>
            <a:pPr/>
            <a:r>
              <a:t>Thank them for their time and consideration</a:t>
            </a:r>
          </a:p>
          <a:p>
            <a:pPr/>
            <a:r>
              <a:t>Reiterate excitement about transforming their document processing</a:t>
            </a:r>
          </a:p>
          <a:p>
            <a:pPr/>
            <a:r>
              <a:t>Emphasize partnership approach and commitment to their success</a:t>
            </a:r>
          </a:p>
          <a:p>
            <a:pPr/>
            <a:r>
              <a:t>Offer to provide additional technical deep-dive or proof of concept</a:t>
            </a:r>
          </a:p>
          <a:p>
            <a:pPr/>
            <a:r>
              <a:t>Confirm next steps and timeline for decision</a:t>
            </a:r>
          </a:p>
          <a:p>
            <a:pPr/>
            <a:r>
              <a:t>Schedule follow-up meeting to discuss pilot approach</a:t>
            </a:r>
          </a:p>
          <a:p>
            <a:pPr/>
            <a:r>
              <a:t>Request document samples for AI model assessment</a:t>
            </a:r>
          </a:p>
          <a:p>
            <a:pPr/>
            <a:r>
              <a:t>Identify key stakeholders for pilot kickoff planning</a:t>
            </a:r>
          </a:p>
          <a:p>
            <a:pPr/>
            <a:r>
              <a:t>Set timeline for decision and pilot start date</a:t>
            </a:r>
          </a:p>
          <a:p>
            <a:pPr/>
            <a:r>
              <a:t>Duration: 45-60 minutes including Q&amp;A</a:t>
            </a:r>
          </a:p>
          <a:p>
            <a:pPr/>
            <a:r>
              <a:t>Audience: Business executives, IT leadership, operations managers</a:t>
            </a:r>
          </a:p>
          <a:p>
            <a:pPr/>
            <a:r>
              <a:t>Focus: Business value and proven results, not technical details</a:t>
            </a:r>
          </a:p>
          <a:p>
            <a:pPr/>
            <a:r>
              <a:t>Approach: Consultative partnership, not vendor pitch</a:t>
            </a:r>
          </a:p>
          <a:p>
            <a:pPr/>
            <a:r>
              <a:t>Business Opportunity: 5 minutes</a:t>
            </a:r>
          </a:p>
          <a:p>
            <a:pPr/>
            <a:r>
              <a:t>Solution Overview: 7 minutes (focus on architecture diagram)</a:t>
            </a:r>
          </a:p>
          <a:p>
            <a:pPr/>
            <a:r>
              <a:t>Implementation Approach: 6 minutes</a:t>
            </a:r>
          </a:p>
          <a:p>
            <a:pPr/>
            <a:r>
              <a:t>Timeline &amp; Milestones: 4 minutes</a:t>
            </a:r>
          </a:p>
          <a:p>
            <a:pPr/>
            <a:r>
              <a:t>Success Stories: 6 minutes (customer proof points)</a:t>
            </a:r>
          </a:p>
          <a:p>
            <a:pPr/>
            <a:r>
              <a:t>Partnership Advantage: 4 minutes</a:t>
            </a:r>
          </a:p>
          <a:p>
            <a:pPr/>
            <a:r>
              <a:t>Investment Summary: 8 minutes (expect questions)</a:t>
            </a:r>
          </a:p>
          <a:p>
            <a:pPr/>
            <a:r>
              <a:t>Next Steps: 5 minutes</a:t>
            </a:r>
          </a:p>
          <a:p>
            <a:pPr/>
            <a:r>
              <a:t>Q&amp;A: 15-20 minutes</a:t>
            </a:r>
          </a:p>
          <a:p>
            <a:pPr/>
            <a:r>
              <a:t>Q: "How accurate is the AI extraction?"</a:t>
            </a:r>
          </a:p>
          <a:p>
            <a:pPr/>
            <a:r>
              <a:t>Q: "What happens when AI can't process a document?"</a:t>
            </a:r>
          </a:p>
          <a:p>
            <a:pPr/>
            <a:r>
              <a:t>Q: "Can it handle handwriting?"</a:t>
            </a:r>
          </a:p>
          <a:p>
            <a:pPr/>
            <a:r>
              <a:t>Q: "What about data security and compliance?"</a:t>
            </a:r>
          </a:p>
          <a:p>
            <a:pPr/>
            <a:r>
              <a:t>Q: "How long until we see ROI?"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