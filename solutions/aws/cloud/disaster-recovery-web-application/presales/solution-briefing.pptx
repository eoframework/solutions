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AWS Disaster Recovery for Web Applications</a:t>
            </a:r>
          </a:p>
          <a:p>
            <a:r>
              <a:t>['Presenter Name']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1: Title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Logo (top center)</a:t>
            </a:r>
          </a:p>
          <a:p>
            <a:pPr/>
            <a:r>
              <a:t>Consulting Company Logo (footer left)</a:t>
            </a:r>
          </a:p>
          <a:p>
            <a:pPr/>
            <a:r>
              <a:t>EO Framework Logo (footer right)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Business Opportunity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Opportunity</a:t>
            </a:r>
          </a:p>
          <a:p>
            <a:pPr/>
            <a:r>
              <a:t>Eliminate business risk from single-region failures and achieve enterprise-grade resilience</a:t>
            </a:r>
          </a:p>
          <a:p>
            <a:pPr/>
            <a:r>
              <a:t>Meet compliance requirements for RTO (15 min) and RPO (5 min) with proven architecture</a:t>
            </a:r>
          </a:p>
          <a:p>
            <a:pPr/>
            <a:r>
              <a:t>Transform DR from costly insurance to strategic competitive advantage</a:t>
            </a:r>
          </a:p>
          <a:p>
            <a:pPr/>
            <a:r>
              <a:t>Success Criteria</a:t>
            </a:r>
          </a:p>
          <a:p>
            <a:pPr/>
            <a:r>
              <a:t>Achieve 99.99% application uptime with automated failover capabilities</a:t>
            </a:r>
          </a:p>
          <a:p>
            <a:pPr/>
            <a:r>
              <a:t>Validate RTO/RPO targets through quarterly DR testing and documentation</a:t>
            </a:r>
          </a:p>
          <a:p>
            <a:pPr/>
            <a:r>
              <a:t>Demonstrate measurable ROI through risk reduction and business continuity assurance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Engagement Scope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Solution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Multi-Region Infrastructure</a:t>
            </a:r>
          </a:p>
          <a:p>
            <a:pPr/>
            <a:r>
              <a:t>Primary Region: ALB, Auto Scaling EC2, Multi-AZ RDS, S3 with versioning</a:t>
            </a:r>
          </a:p>
          <a:p>
            <a:pPr/>
            <a:r>
              <a:t>DR Region: Warm standby EC2, cross-region RDS replica, S3 replication</a:t>
            </a:r>
          </a:p>
          <a:p>
            <a:pPr/>
            <a:r>
              <a:t>Route 53 health-based failover with automated DNS switching</a:t>
            </a:r>
          </a:p>
          <a:p>
            <a:pPr/>
            <a:r>
              <a:t>Disaster Recovery Capabilities</a:t>
            </a:r>
          </a:p>
          <a:p>
            <a:pPr/>
            <a:r>
              <a:t>Continuous data replication ensures 5-minute RPO target</a:t>
            </a:r>
          </a:p>
          <a:p>
            <a:pPr/>
            <a:r>
              <a:t>Warm standby enables 15-minute RTO for rapid failover</a:t>
            </a:r>
          </a:p>
          <a:p>
            <a:pPr/>
            <a:r>
              <a:t>Automated runbooks and AWS Backup for cross-region vault redundancy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Implementation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Phase 1: Assessment &amp; Design (Months 1-2)</a:t>
            </a:r>
          </a:p>
          <a:p>
            <a:pPr/>
            <a:r>
              <a:t>Business Impact Analysis (BIA) to determine RTO/RPO requirements</a:t>
            </a:r>
          </a:p>
          <a:p>
            <a:pPr/>
            <a:r>
              <a:t>Current-state architecture assessment and dependency mapping</a:t>
            </a:r>
          </a:p>
          <a:p>
            <a:pPr/>
            <a:r>
              <a:t>DR architecture design and AWS landing zone setup</a:t>
            </a:r>
          </a:p>
          <a:p>
            <a:pPr/>
            <a:r>
              <a:t>Phase 2: Implementation (Months 3-4)</a:t>
            </a:r>
          </a:p>
          <a:p>
            <a:pPr/>
            <a:r>
              <a:t>Primary and DR region infrastructure deployment</a:t>
            </a:r>
          </a:p>
          <a:p>
            <a:pPr/>
            <a:r>
              <a:t>RDS replication, S3 sync, and backup configuration</a:t>
            </a:r>
          </a:p>
          <a:p>
            <a:pPr/>
            <a:r>
              <a:t>Route 53 failover policies and health check setup</a:t>
            </a:r>
          </a:p>
          <a:p>
            <a:pPr/>
            <a:r>
              <a:t>Phase 3: Testing &amp; Validation (Month 5-6)</a:t>
            </a:r>
          </a:p>
          <a:p>
            <a:pPr/>
            <a:r>
              <a:t>DR failover testing and RTO/RPO validation</a:t>
            </a:r>
          </a:p>
          <a:p>
            <a:pPr/>
            <a:r>
              <a:t>Runbook development and team training</a:t>
            </a:r>
          </a:p>
          <a:p>
            <a:pPr/>
            <a:r>
              <a:t>Production cutover and ongoing monitoring</a:t>
            </a:r>
          </a:p>
          <a:p>
            <a:pPr/>
            <a:r>
              <a:t>BIA ensures DR design matches actual business requirements</a:t>
            </a:r>
          </a:p>
          <a:p>
            <a:pPr/>
            <a:r>
              <a:t>Phased testing validates capabilities before production dependency</a:t>
            </a:r>
          </a:p>
          <a:p>
            <a:pPr/>
            <a:r>
              <a:t>Warm standby balances cost with rapid recovery capability</a:t>
            </a:r>
          </a:p>
          <a:p>
            <a:pPr/>
            <a:r>
              <a:t>Executive sponsorship for business continuity initiative</a:t>
            </a:r>
          </a:p>
          <a:p>
            <a:pPr/>
            <a:r>
              <a:t>Application architecture supports multi-region deployment</a:t>
            </a:r>
          </a:p>
          <a:p>
            <a:pPr/>
            <a:r>
              <a:t>Availability of maintenance windows for DR testing</a:t>
            </a:r>
          </a:p>
          <a:p>
            <a:pPr/>
            <a:r>
              <a:t>DR is not just technical - it's business risk management</a:t>
            </a:r>
          </a:p>
          <a:p>
            <a:pPr/>
            <a:r>
              <a:t>Warm standby approach optimizes cost vs recovery speed</a:t>
            </a:r>
          </a:p>
          <a:p>
            <a:pPr/>
            <a:r>
              <a:t>Automated failover eliminates human error during crisis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Timeline &amp; Milestones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DR architecture design and AWS setup complete by Month 2</a:t>
            </a:r>
          </a:p>
          <a:p>
            <a:pPr/>
            <a:r>
              <a:t>Replication operational and data sync validated by Month 4</a:t>
            </a:r>
          </a:p>
          <a:p>
            <a:pPr/>
            <a:r>
              <a:t>First successful DR test demonstrates capability by Month 5</a:t>
            </a:r>
          </a:p>
          <a:p>
            <a:pPr/>
            <a:r>
              <a:t>BIA in Phase 1 ensures we build the right solution</a:t>
            </a:r>
          </a:p>
          <a:p>
            <a:pPr/>
            <a:r>
              <a:t>Implementation in Phase 2 delivers working DR capability</a:t>
            </a:r>
          </a:p>
          <a:p>
            <a:pPr/>
            <a:r>
              <a:t>Testing in Phase 3 proves readiness before you need it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Success Stories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Client Success: Financial Services SaaS Provider</a:t>
            </a:r>
          </a:p>
          <a:p>
            <a:pPr/>
            <a:r>
              <a:t>Client: FinTech company serving 200,000+ users with strict uptime SLA requirements</a:t>
            </a:r>
          </a:p>
          <a:p>
            <a:pPr/>
            <a:r>
              <a:t>Challenge: Single-region architecture posed business risk, 99.99% SLA required, compliance mandated DR</a:t>
            </a:r>
          </a:p>
          <a:p>
            <a:pPr/>
            <a:r>
              <a:t>Solution: AWS multi-region DR with Route 53 failover, RDS replication, automated backup</a:t>
            </a:r>
          </a:p>
          <a:p>
            <a:pPr/>
            <a:r>
              <a:t>Results: 99.995% uptime achieved (exceeded SLA), 12-min RTO, zero data loss, passed compliance audit</a:t>
            </a:r>
          </a:p>
          <a:p>
            <a:pPr/>
            <a:r>
              <a:t>Testimonial: "Our DR solution has become a competitive differentiator. We've won deals specifically because we can demonstrate business continuity capabilities our competitors can't match." — David Thompson, CTO, SecureFinance Platform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Our Partnership Advantage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What We Bring</a:t>
            </a:r>
          </a:p>
          <a:p>
            <a:pPr/>
            <a:r>
              <a:t>15+ years designing and implementing AWS DR solutions</a:t>
            </a:r>
          </a:p>
          <a:p>
            <a:pPr/>
            <a:r>
              <a:t>75+ successful DR implementations across industries</a:t>
            </a:r>
          </a:p>
          <a:p>
            <a:pPr/>
            <a:r>
              <a:t>AWS Advanced Consulting Partner with Migration Competency</a:t>
            </a:r>
          </a:p>
          <a:p>
            <a:pPr/>
            <a:r>
              <a:t>Certified solutions architects with DR expertise and AWS Well-Architected reviews</a:t>
            </a:r>
          </a:p>
          <a:p>
            <a:pPr/>
            <a:r>
              <a:t>24/7 support with documented escalation procedures</a:t>
            </a:r>
          </a:p>
          <a:p>
            <a:pPr/>
            <a:r>
              <a:t>Value to You</a:t>
            </a:r>
          </a:p>
          <a:p>
            <a:pPr/>
            <a:r>
              <a:t>Proven DR design patterns reduce implementation risk</a:t>
            </a:r>
          </a:p>
          <a:p>
            <a:pPr/>
            <a:r>
              <a:t>Pre-built runbooks and automation accelerate deployment</a:t>
            </a:r>
          </a:p>
          <a:p>
            <a:pPr/>
            <a:r>
              <a:t>Quarterly DR testing included to maintain readiness</a:t>
            </a:r>
          </a:p>
          <a:p>
            <a:pPr/>
            <a:r>
              <a:t>Direct AWS TAM engagement for critical DR scenarios</a:t>
            </a:r>
          </a:p>
          <a:p>
            <a:pPr/>
            <a:r>
              <a:t>Best practices from 75+ implementations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AWS Partner DR Services Credit: $8,000 (DR architecture design + testing validation)</a:t>
            </a:r>
          </a:p>
          <a:p>
            <a:pPr/>
            <a:r>
              <a:t>AWS DR Infrastructure Credit: $4,369 (pilot light DR region costs Year 1)</a:t>
            </a:r>
          </a:p>
          <a:p>
            <a:pPr/>
            <a:r>
              <a:t>Total Credits Applied: $12,369</a:t>
            </a:r>
          </a:p>
          <a:p>
            <a:pPr/>
            <a:r>
              <a:t>Year 1: $94,374 (after $12,369 in partner credits)</a:t>
            </a:r>
          </a:p>
          <a:p>
            <a:pPr/>
            <a:r>
              <a:t>3-Year Total: $120,860 (vs. $133,229 list price)</a:t>
            </a:r>
          </a:p>
          <a:p>
            <a:pPr/>
            <a:r>
              <a:t>You Save: $12,369 (12% discount through AWS DR partnership)</a:t>
            </a:r>
          </a:p>
          <a:p>
            <a:pPr/>
            <a:r>
              <a:t>DR Strategy: Pilot light (not warm/hot standby)</a:t>
            </a:r>
          </a:p>
          <a:p>
            <a:pPr/>
            <a:r>
              <a:t>RTO Target: 4 hours (time to recover to operational state)</a:t>
            </a:r>
          </a:p>
          <a:p>
            <a:pPr/>
            <a:r>
              <a:t>RPO Target: 1 hour (acceptable data loss window)</a:t>
            </a:r>
          </a:p>
          <a:p>
            <a:pPr/>
            <a:r>
              <a:t>Applications: 5-10 critical web applications</a:t>
            </a:r>
          </a:p>
          <a:p>
            <a:pPr/>
            <a:r>
              <a:t>Infrastructure: 2x t3.large primary + minimal DR footprint</a:t>
            </a:r>
          </a:p>
          <a:p>
            <a:pPr/>
            <a:r>
              <a:t>Database: db.t3.large Multi-AZ with cross-region automated backups</a:t>
            </a:r>
          </a:p>
          <a:p>
            <a:pPr/>
            <a:r>
              <a:t>Cloud Infrastructure (primary + DR backups): $8,644/year</a:t>
            </a:r>
          </a:p>
          <a:p>
            <a:pPr/>
            <a:r>
              <a:t>Software Licenses (monitoring): $3,132/year</a:t>
            </a:r>
          </a:p>
          <a:p>
            <a:pPr/>
            <a:r>
              <a:t>Support &amp; quarterly DR testing: $1,467/year</a:t>
            </a:r>
          </a:p>
          <a:p>
            <a:pPr/>
            <a:r>
              <a:t>Discovery &amp; DR design (120 hours): BIA, RTO/RPO requirements, architecture, runbooks</a:t>
            </a:r>
          </a:p>
          <a:p>
            <a:pPr/>
            <a:r>
              <a:t>Implementation (280 hours): Infrastructure deployment, replication, DR testing, automation</a:t>
            </a:r>
          </a:p>
          <a:p>
            <a:pPr/>
            <a:r>
              <a:t>Training &amp; support (50 hours): Operations training and 30-day hypercare</a:t>
            </a:r>
          </a:p>
          <a:p>
            <a:pPr/>
            <a:r>
              <a:t>This is a department-level pilot light DR for 5-10 critical applications</a:t>
            </a:r>
          </a:p>
          <a:p>
            <a:pPr/>
            <a:r>
              <a:t>Pilot light = minimal ongoing costs, 4-hour RTO (not instant failover)</a:t>
            </a:r>
          </a:p>
          <a:p>
            <a:pPr/>
            <a:r>
              <a:t>Frame as risk mitigation: Cost of 1 hour downtime likely exceeds entire DR investment</a:t>
            </a:r>
          </a:p>
          <a:p>
            <a:pPr/>
            <a:r>
              <a:t>Insurance perspective: $107K Year 1 protects against catastrophic business impact</a:t>
            </a:r>
          </a:p>
          <a:p>
            <a:pPr/>
            <a:r>
              <a:t>Professional services (450 hours) includes BIA, design, implementation, and testing</a:t>
            </a:r>
          </a:p>
          <a:p>
            <a:pPr/>
            <a:r>
              <a:t>Ongoing costs only $13K/year - primarily automated backups and monitoring</a:t>
            </a:r>
          </a:p>
          <a:p>
            <a:pPr/>
            <a:r>
              <a:t>Pilot light means DR resources created on-demand during failover (cost-optimized)</a:t>
            </a:r>
          </a:p>
          <a:p>
            <a:pPr/>
            <a:r>
              <a:t>Can upgrade to warm standby (faster RTO) by adjusting AWS resources</a:t>
            </a:r>
          </a:p>
          <a:p>
            <a:pPr/>
            <a:r>
              <a:t>"Can we reduce costs?" - Pilot light is already minimum DR strategy; cold backup = no RTO guarantee</a:t>
            </a:r>
          </a:p>
          <a:p>
            <a:pPr/>
            <a:r>
              <a:t>"Why not just backup to S3?" - Backups alone don't provide tested recovery capability or RTO/RPO assurance</a:t>
            </a:r>
          </a:p>
          <a:p>
            <a:pPr/>
            <a:r>
              <a:t>"What if we never use it?" - Quarterly DR tests validate it works; also satisfies compliance/audit requirements</a:t>
            </a:r>
          </a:p>
          <a:p>
            <a:pPr/>
            <a:r>
              <a:t>"Can we test ourselves?" - DR testing requires expertise to avoid impacting production; included in support costs</a:t>
            </a:r>
          </a:p>
          <a:p>
            <a:pPr/>
            <a:r>
              <a:t>Compare $107K to revenue lost from 2-4 hours of downtime for critical apps</a:t>
            </a:r>
          </a:p>
          <a:p>
            <a:pPr/>
            <a:r>
              <a:t>Pilot light suitable for RTO 4 hours; if need faster, can upgrade to warm standby</a:t>
            </a:r>
          </a:p>
          <a:p>
            <a:pPr/>
            <a:r>
              <a:t>Quarterly testing included ensures DR actually works when emergency happens</a:t>
            </a:r>
          </a:p>
          <a:p>
            <a:pPr/>
            <a:r>
              <a:t>Foundation to expand DR coverage to additional applications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Next Steps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Week 1: Contract finalization and project kickoff</a:t>
            </a:r>
          </a:p>
          <a:p>
            <a:pPr/>
            <a:r>
              <a:t>Week 2: Business Impact Analysis (BIA) workshops with stakeholders</a:t>
            </a:r>
          </a:p>
          <a:p>
            <a:pPr/>
            <a:r>
              <a:t>Week 3: Current-state architecture assessment and dependency mapping</a:t>
            </a:r>
          </a:p>
          <a:p>
            <a:pPr/>
            <a:r>
              <a:t>Week 4: DR architecture design review and AWS environment setup</a:t>
            </a:r>
          </a:p>
          <a:p>
            <a:pPr/>
            <a:r>
              <a:t>"Now that we've covered the DR investment and risk mitigation value, let's get started"</a:t>
            </a:r>
          </a:p>
          <a:p>
            <a:pPr/>
            <a:r>
              <a:t>Emphasize that BIA is critical first step to right-size solution</a:t>
            </a:r>
          </a:p>
          <a:p>
            <a:pPr/>
            <a:r>
              <a:t>Show clear path from decision to DR readiness in 6 months</a:t>
            </a:r>
          </a:p>
          <a:p>
            <a:pPr/>
            <a:r>
              <a:t>BIA identifies actual RTO/RPO requirements (not assumptions)</a:t>
            </a:r>
          </a:p>
          <a:p>
            <a:pPr/>
            <a:r>
              <a:t>Architecture assessment reveals any blockers to DR readiness</a:t>
            </a:r>
          </a:p>
          <a:p>
            <a:pPr/>
            <a:r>
              <a:t>Detailed design ensures solution matches business needs</a:t>
            </a:r>
          </a:p>
          <a:p>
            <a:pPr/>
            <a:r>
              <a:t>Phased approach delivers working DR before full optimization</a:t>
            </a:r>
          </a:p>
          <a:p>
            <a:pPr/>
            <a:r>
              <a:t>BIA can start within 2 weeks of approval</a:t>
            </a:r>
          </a:p>
          <a:p>
            <a:pPr/>
            <a:r>
              <a:t>You'll have DR architecture design by Month 2</a:t>
            </a:r>
          </a:p>
          <a:p>
            <a:pPr/>
            <a:r>
              <a:t>Working DR capability operational by Month 4</a:t>
            </a:r>
          </a:p>
          <a:p>
            <a:pPr/>
            <a:r>
              <a:t>First DR test validates readiness by Month 5</a:t>
            </a:r>
          </a:p>
          <a:p>
            <a:pPr/>
            <a:r>
              <a:t>Quarterly testing maintains ongoing readiness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Your Account Manager: [Name, Title] | [Email] | [Phone]</a:t>
            </a:r>
          </a:p>
          <a:p>
            <a:pPr/>
            <a:r>
              <a:t>Thank them for prioritizing business continuity</a:t>
            </a:r>
          </a:p>
          <a:p>
            <a:pPr/>
            <a:r>
              <a:t>Reiterate commitment to delivering DR readiness</a:t>
            </a:r>
          </a:p>
          <a:p>
            <a:pPr/>
            <a:r>
              <a:t>Emphasize partnership throughout implementation and ongoing support</a:t>
            </a:r>
          </a:p>
          <a:p>
            <a:pPr/>
            <a:r>
              <a:t>Offer to provide technical deep-dive or reference customers</a:t>
            </a:r>
          </a:p>
          <a:p>
            <a:pPr/>
            <a:r>
              <a:t>Confirm next steps and decision timeline</a:t>
            </a:r>
          </a:p>
          <a:p>
            <a:pPr/>
            <a:r>
              <a:t>Schedule BIA workshop to start assessment</a:t>
            </a:r>
          </a:p>
          <a:p>
            <a:pPr/>
            <a:r>
              <a:t>Identify key stakeholders for DR planning</a:t>
            </a:r>
          </a:p>
          <a:p>
            <a:pPr/>
            <a:r>
              <a:t>Review and approve proposed timeline</a:t>
            </a:r>
          </a:p>
          <a:p>
            <a:pPr/>
            <a:r>
              <a:t>Set date for decision and project kickoff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