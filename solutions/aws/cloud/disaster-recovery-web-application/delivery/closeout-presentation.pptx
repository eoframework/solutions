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notesViewPr>
    <p:cSldViewPr snapToGrid="0" snapToObjects="1">
      <p:cViewPr varScale="1">
        <p:scale>
          <a:sx n="83" d="100"/>
          <a:sy n="83" d="100"/>
        </p:scale>
        <p:origin x="3732" y="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endParaRPr lang="en-US"/>
          </a:p>
        </p:txBody>
      </p:sp>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*Opening Statement:*</a:t>
            </a:r>
          </a:p>
          <a:p>
            <a:r>
              <a:t>Good [morning/afternoon]. Today we're celebrating the successful implementation of the AWS Disaster Recovery solution. This project has transformed [Client Name]'s business continuity posture from vulnerable single-region operations to a resilient multi-region architecture.</a:t>
            </a:r>
          </a:p>
          <a:p/>
          <a:p>
            <a:r>
              <a:t>*Key Talking Points - Expand on Each Bullet:*</a:t>
            </a:r>
          </a:p>
          <a:p/>
          <a:p>
            <a:r>
              <a:t>**Project Duration - 18 Weeks:**</a:t>
            </a:r>
          </a:p>
          <a:p>
            <a:r>
              <a:t>- Executed exactly as planned in the Statement of Work</a:t>
            </a:r>
          </a:p>
          <a:p>
            <a:r>
              <a:t>- Phase 1 (Discovery): Weeks 1-3 - Business impact assessment and DR architecture approved</a:t>
            </a:r>
          </a:p>
          <a:p>
            <a:r>
              <a:t>- Phase 2 (Environment Setup): Weeks 4-7 - Secondary region infrastructure provisioned</a:t>
            </a:r>
          </a:p>
          <a:p>
            <a:r>
              <a:t>- Phase 3 (Implementation): Weeks 8-11 - Replication and failover operational</a:t>
            </a:r>
          </a:p>
          <a:p>
            <a:r>
              <a:t>- Phase 4 (Testing): Weeks 12-14 - DR validation exercises passed</a:t>
            </a:r>
          </a:p>
          <a:p>
            <a:r>
              <a:t>- Phase 5 (Handover): Weeks 15-18 - Training complete, hypercare support active</a:t>
            </a:r>
          </a:p>
          <a:p/>
          <a:p>
            <a:r>
              <a:t>**Budget - $94,374 Year 1 Net:**</a:t>
            </a:r>
          </a:p>
          <a:p>
            <a:r>
              <a:t>- Professional Services: $80,124 (450 hours as quoted)</a:t>
            </a:r>
          </a:p>
          <a:p>
            <a:r>
              <a:t>- AWS Cloud Services: $9,251 (after $369 credit applied)</a:t>
            </a:r>
          </a:p>
          <a:p>
            <a:r>
              <a:t>- Software Licenses: $3,132 (Datadog, PagerDuty)</a:t>
            </a:r>
          </a:p>
          <a:p>
            <a:r>
              <a:t>- Support &amp; Maintenance: $1,467</a:t>
            </a:r>
          </a:p>
          <a:p>
            <a:r>
              <a:t>- Year 1 credits: $12,369 applied (AWS Partner DR Services + Infrastructure)</a:t>
            </a:r>
          </a:p>
          <a:p>
            <a:r>
              <a:t>- Actual spend: $94,312 - $62 under budget</a:t>
            </a:r>
          </a:p>
          <a:p/>
          <a:p>
            <a:r>
              <a:t>**Go-Live - Week 15:**</a:t>
            </a:r>
          </a:p>
          <a:p>
            <a:r>
              <a:t>- DR system activated with Route 53 health checks enabled</a:t>
            </a:r>
          </a:p>
          <a:p>
            <a:r>
              <a:t>- Replication lag consistently &lt;1 second</a:t>
            </a:r>
          </a:p>
          <a:p>
            <a:r>
              <a:t>- All automated failover triggers validated</a:t>
            </a:r>
          </a:p>
          <a:p>
            <a:r>
              <a:t>- Zero rollback events required</a:t>
            </a:r>
          </a:p>
          <a:p/>
          <a:p>
            <a:r>
              <a:t>**Quality - Zero Critical Defects:**</a:t>
            </a:r>
          </a:p>
          <a:p>
            <a:r>
              <a:t>- 30 DR test cases executed, 100% pass rate</a:t>
            </a:r>
          </a:p>
          <a:p>
            <a:r>
              <a:t>- No P1 or P2 defects at activation</a:t>
            </a:r>
          </a:p>
          <a:p>
            <a:r>
              <a:t>- 2 P3 defects identified and resolved during hypercare</a:t>
            </a:r>
          </a:p>
          <a:p>
            <a:r>
              <a:t>- Failover automation functioning correctly</a:t>
            </a:r>
          </a:p>
          <a:p/>
          <a:p>
            <a:r>
              <a:t>**RTO Achieved - 12 Minutes:**</a:t>
            </a:r>
          </a:p>
          <a:p>
            <a:r>
              <a:t>- Target: 15 minutes per SOW</a:t>
            </a:r>
          </a:p>
          <a:p>
            <a:r>
              <a:t>- Achieved: 12 minutes average in planned failover tests</a:t>
            </a:r>
          </a:p>
          <a:p>
            <a:r>
              <a:t>- Breakdown: DNS propagation (2 min), DB promotion (5 min), App scaling (5 min)</a:t>
            </a:r>
          </a:p>
          <a:p>
            <a:r>
              <a:t>- Peak: 14 minutes for full-load scenarios</a:t>
            </a:r>
          </a:p>
          <a:p/>
          <a:p>
            <a:r>
              <a:t>**RPO Achieved - 45 Minutes:**</a:t>
            </a:r>
          </a:p>
          <a:p>
            <a:r>
              <a:t>- Target: 60 minutes per SOW</a:t>
            </a:r>
          </a:p>
          <a:p>
            <a:r>
              <a:t>- Achieved: 45 minutes maximum data loss window</a:t>
            </a:r>
          </a:p>
          <a:p>
            <a:r>
              <a:t>- Aurora Global Database replication lag: &lt;1 second</a:t>
            </a:r>
          </a:p>
          <a:p>
            <a:r>
              <a:t>- S3 cross-region replication: 15 minutes</a:t>
            </a:r>
          </a:p>
          <a:p/>
          <a:p>
            <a:r>
              <a:t>**ROI - Risk Mitigation:**</a:t>
            </a:r>
          </a:p>
          <a:p>
            <a:r>
              <a:t>- Primary benefit: Business continuity protection</a:t>
            </a:r>
          </a:p>
          <a:p>
            <a:r>
              <a:t>- Estimated hourly downtime cost: $50,000+</a:t>
            </a:r>
          </a:p>
          <a:p>
            <a:r>
              <a:t>- Single 4-hour outage avoided = payback on Year 1 investment</a:t>
            </a:r>
          </a:p>
          <a:p>
            <a:r>
              <a:t>- Compliance gap closed for SOC 2 Type II audit</a:t>
            </a:r>
          </a:p>
          <a:p/>
          <a:p>
            <a:r>
              <a:t>*Transition to Next Slide:*</a:t>
            </a:r>
          </a:p>
          <a:p>
            <a:r>
              <a:t>"Let me walk you through exactly what we built together..."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*Architecture Overview - Walk Through the Diagram:*</a:t>
            </a:r>
          </a:p>
          <a:p/>
          <a:p>
            <a:r>
              <a:t>"This diagram shows the multi-region DR architecture we deployed. Let me walk through the failover flow..."</a:t>
            </a:r>
          </a:p>
          <a:p/>
          <a:p>
            <a:r>
              <a:t>**Primary Region (us-east-1) - Production:**</a:t>
            </a:r>
          </a:p>
          <a:p>
            <a:r>
              <a:t>- Application Load Balancer distributes traffic across 2 AZs</a:t>
            </a:r>
          </a:p>
          <a:p>
            <a:r>
              <a:t>- EC2 Auto Scaling Group: 2-10 instances (t3.medium)</a:t>
            </a:r>
          </a:p>
          <a:p>
            <a:r>
              <a:t>- Aurora MySQL cluster with Multi-AZ deployment</a:t>
            </a:r>
          </a:p>
          <a:p>
            <a:r>
              <a:t>- S3 bucket for static assets and application data</a:t>
            </a:r>
          </a:p>
          <a:p>
            <a:r>
              <a:t>- CloudWatch monitoring with custom dashboards</a:t>
            </a:r>
          </a:p>
          <a:p/>
          <a:p>
            <a:r>
              <a:t>**DR Region (us-west-2) - Standby:**</a:t>
            </a:r>
          </a:p>
          <a:p>
            <a:r>
              <a:t>- Pilot light configuration minimizes costs (~15% of primary)</a:t>
            </a:r>
          </a:p>
          <a:p>
            <a:r>
              <a:t>- Minimal EC2 capacity (1 instance standby, scales to match primary)</a:t>
            </a:r>
          </a:p>
          <a:p>
            <a:r>
              <a:t>- Aurora Global Database read replica</a:t>
            </a:r>
          </a:p>
          <a:p>
            <a:r>
              <a:t>- S3 bucket with cross-region replication enabled</a:t>
            </a:r>
          </a:p>
          <a:p>
            <a:r>
              <a:t>- Pre-configured ALB and target groups (inactive)</a:t>
            </a:r>
          </a:p>
          <a:p/>
          <a:p>
            <a:r>
              <a:t>**Failover Automation:**</a:t>
            </a:r>
          </a:p>
          <a:p>
            <a:r>
              <a:t>- Route 53 health checks every 30 seconds</a:t>
            </a:r>
          </a:p>
          <a:p>
            <a:r>
              <a:t>- 3 consecutive failures trigger DNS failover</a:t>
            </a:r>
          </a:p>
          <a:p>
            <a:r>
              <a:t>- Lambda function orchestrates DB promotion and scaling</a:t>
            </a:r>
          </a:p>
          <a:p>
            <a:r>
              <a:t>- DNS TTL of 60 seconds for rapid traffic redirection</a:t>
            </a:r>
          </a:p>
          <a:p/>
          <a:p>
            <a:r>
              <a:t>**Key Architecture Decisions Made During Implementation:**</a:t>
            </a:r>
          </a:p>
          <a:p>
            <a:r>
              <a:t>1. Chose Aurora Global Database over RDS cross-region (faster replication)</a:t>
            </a:r>
          </a:p>
          <a:p>
            <a:r>
              <a:t>2. Implemented pilot light vs warm standby (cost optimization)</a:t>
            </a:r>
          </a:p>
          <a:p>
            <a:r>
              <a:t>3. Used Route 53 health checks vs Global Accelerator (simpler, meets RTO)</a:t>
            </a:r>
          </a:p>
          <a:p>
            <a:r>
              <a:t>4. Single DR region deployment as per SOW (us-west-2)</a:t>
            </a:r>
          </a:p>
          <a:p/>
          <a:p>
            <a:r>
              <a:t>**Scalability Characteristics:**</a:t>
            </a:r>
          </a:p>
          <a:p>
            <a:r>
              <a:t>- Primary: 200 concurrent users (as scoped)</a:t>
            </a:r>
          </a:p>
          <a:p>
            <a:r>
              <a:t>- DR: Can scale to match primary capacity within 5 minutes</a:t>
            </a:r>
          </a:p>
          <a:p>
            <a:r>
              <a:t>- Database: 50 GB with growth headroom to 200 GB</a:t>
            </a:r>
          </a:p>
          <a:p/>
          <a:p>
            <a:r>
              <a:t>**Security Implementation:**</a:t>
            </a:r>
          </a:p>
          <a:p>
            <a:r>
              <a:t>- VPC peering for cross-region management</a:t>
            </a:r>
          </a:p>
          <a:p>
            <a:r>
              <a:t>- KMS encryption for data at rest</a:t>
            </a:r>
          </a:p>
          <a:p>
            <a:r>
              <a:t>- TLS 1.2+ for all data in transit</a:t>
            </a:r>
          </a:p>
          <a:p>
            <a:r>
              <a:t>- IAM roles with least privilege</a:t>
            </a:r>
          </a:p>
          <a:p>
            <a:r>
              <a:t>- CloudTrail audit logging enabled</a:t>
            </a:r>
          </a:p>
          <a:p/>
          <a:p>
            <a:r>
              <a:t>*Transition:*</a:t>
            </a:r>
          </a:p>
          <a:p>
            <a:r>
              <a:t>"Now let me show you the complete deliverables package we're handing over..."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*Deliverables Deep Dive - Review Each Item:*</a:t>
            </a:r>
          </a:p>
          <a:p/>
          <a:p>
            <a:r>
              <a:t>**1. Business Impact Assessment:**</a:t>
            </a:r>
          </a:p>
          <a:p>
            <a:r>
              <a:t>- 25-page comprehensive BIA document</a:t>
            </a:r>
          </a:p>
          <a:p>
            <a:r>
              <a:t>- Critical application identification and prioritization</a:t>
            </a:r>
          </a:p>
          <a:p>
            <a:r>
              <a:t>- RTO/RPO requirements validated with business stakeholders</a:t>
            </a:r>
          </a:p>
          <a:p>
            <a:r>
              <a:t>- Disaster scenario modeling and risk assessment</a:t>
            </a:r>
          </a:p>
          <a:p>
            <a:r>
              <a:t>- Signed off by [Business Sponsor] on [Date]</a:t>
            </a:r>
          </a:p>
          <a:p/>
          <a:p>
            <a:r>
              <a:t>**2. DR Architecture Document (detailed-design.docx):**</a:t>
            </a:r>
          </a:p>
          <a:p>
            <a:r>
              <a:t>- 40+ pages comprehensive technical documentation</a:t>
            </a:r>
          </a:p>
          <a:p>
            <a:r>
              <a:t>- Sections include:</a:t>
            </a:r>
          </a:p>
          <a:p>
            <a:r>
              <a:t>  - Multi-region architecture with diagrams</a:t>
            </a:r>
          </a:p>
          <a:p>
            <a:r>
              <a:t>  - Aurora Global Database configuration</a:t>
            </a:r>
          </a:p>
          <a:p>
            <a:r>
              <a:t>  - Route 53 health check and failover design</a:t>
            </a:r>
          </a:p>
          <a:p>
            <a:r>
              <a:t>  - Security controls and compliance mapping</a:t>
            </a:r>
          </a:p>
          <a:p>
            <a:r>
              <a:t>  - Monitoring and alerting setup</a:t>
            </a:r>
          </a:p>
          <a:p>
            <a:r>
              <a:t>- Reviewed and accepted by [Technical Lead] on [Date]</a:t>
            </a:r>
          </a:p>
          <a:p/>
          <a:p>
            <a:r>
              <a:t>**3. Implementation Guide:**</a:t>
            </a:r>
          </a:p>
          <a:p>
            <a:r>
              <a:t>- Step-by-step deployment procedures</a:t>
            </a:r>
          </a:p>
          <a:p>
            <a:r>
              <a:t>- CloudFormation stack deployment instructions</a:t>
            </a:r>
          </a:p>
          <a:p>
            <a:r>
              <a:t>- AWS CLI commands for validation</a:t>
            </a:r>
          </a:p>
          <a:p>
            <a:r>
              <a:t>- Post-deployment verification steps</a:t>
            </a:r>
          </a:p>
          <a:p>
            <a:r>
              <a:t>- Rollback procedures for each phase</a:t>
            </a:r>
          </a:p>
          <a:p/>
          <a:p>
            <a:r>
              <a:t>**4. Project Plan (project-plan.xlsx):**</a:t>
            </a:r>
          </a:p>
          <a:p>
            <a:r>
              <a:t>- Four worksheets:</a:t>
            </a:r>
          </a:p>
          <a:p>
            <a:r>
              <a:t>  1. Project Timeline - 28 tasks across 18 weeks</a:t>
            </a:r>
          </a:p>
          <a:p>
            <a:r>
              <a:t>  2. Milestones - 6 major milestones tracked</a:t>
            </a:r>
          </a:p>
          <a:p>
            <a:r>
              <a:t>  3. RACI Matrix - 19 activities with clear ownership</a:t>
            </a:r>
          </a:p>
          <a:p>
            <a:r>
              <a:t>  4. Communications Plan - 8 meeting types defined</a:t>
            </a:r>
          </a:p>
          <a:p>
            <a:r>
              <a:t>- All milestones achieved on schedule</a:t>
            </a:r>
          </a:p>
          <a:p/>
          <a:p>
            <a:r>
              <a:t>**5. Test Plan &amp; Results (test-plan.xlsx):**</a:t>
            </a:r>
          </a:p>
          <a:p>
            <a:r>
              <a:t>- Three test categories:</a:t>
            </a:r>
          </a:p>
          <a:p>
            <a:r>
              <a:t>  1. Functional Tests - 12 test cases (100% pass)</a:t>
            </a:r>
          </a:p>
          <a:p>
            <a:r>
              <a:t>  2. Non-Functional Tests - 10 test cases (100% pass)</a:t>
            </a:r>
          </a:p>
          <a:p>
            <a:r>
              <a:t>  3. UAT Tests - 8 test cases (100% pass)</a:t>
            </a:r>
          </a:p>
          <a:p>
            <a:r>
              <a:t>- RTO/RPO validation documented</a:t>
            </a:r>
          </a:p>
          <a:p>
            <a:r>
              <a:t>- Quarterly DR testing schedule established</a:t>
            </a:r>
          </a:p>
          <a:p/>
          <a:p>
            <a:r>
              <a:t>**6. CloudFormation Templates:**</a:t>
            </a:r>
          </a:p>
          <a:p>
            <a:r>
              <a:t>- Complete Infrastructure as Code package</a:t>
            </a:r>
          </a:p>
          <a:p>
            <a:r>
              <a:t>- Templates included:</a:t>
            </a:r>
          </a:p>
          <a:p>
            <a:r>
              <a:t>  - `primary-region.yaml` - VPC, subnets, ALB, ASG</a:t>
            </a:r>
          </a:p>
          <a:p>
            <a:r>
              <a:t>  - `dr-region.yaml` - DR infrastructure</a:t>
            </a:r>
          </a:p>
          <a:p>
            <a:r>
              <a:t>  - `aurora-global.yaml` - Database cluster</a:t>
            </a:r>
          </a:p>
          <a:p>
            <a:r>
              <a:t>  - `route53-failover.yaml` - DNS and health checks</a:t>
            </a:r>
          </a:p>
          <a:p>
            <a:r>
              <a:t>  - `monitoring.yaml` - CloudWatch dashboards, alarms</a:t>
            </a:r>
          </a:p>
          <a:p>
            <a:r>
              <a:t>- Tested in both regions</a:t>
            </a:r>
          </a:p>
          <a:p/>
          <a:p>
            <a:r>
              <a:t>**7. DR Operations Runbook:**</a:t>
            </a:r>
          </a:p>
          <a:p>
            <a:r>
              <a:t>- Planned failover procedures</a:t>
            </a:r>
          </a:p>
          <a:p>
            <a:r>
              <a:t>- Emergency failover procedures</a:t>
            </a:r>
          </a:p>
          <a:p>
            <a:r>
              <a:t>- Failback to primary procedures</a:t>
            </a:r>
          </a:p>
          <a:p>
            <a:r>
              <a:t>- Common troubleshooting scenarios</a:t>
            </a:r>
          </a:p>
          <a:p>
            <a:r>
              <a:t>- Escalation procedures</a:t>
            </a:r>
          </a:p>
          <a:p>
            <a:r>
              <a:t>- Quarterly DR testing checklist</a:t>
            </a:r>
          </a:p>
          <a:p/>
          <a:p>
            <a:r>
              <a:t>**8. Training Materials:**</a:t>
            </a:r>
          </a:p>
          <a:p>
            <a:r>
              <a:t>- Administrator Guide (PDF, 20 pages)</a:t>
            </a:r>
          </a:p>
          <a:p>
            <a:r>
              <a:t>- Video tutorials (3 recordings, 30 minutes total):</a:t>
            </a:r>
          </a:p>
          <a:p>
            <a:r>
              <a:t>  1. DR dashboard overview</a:t>
            </a:r>
          </a:p>
          <a:p>
            <a:r>
              <a:t>  2. Failover execution walkthrough</a:t>
            </a:r>
          </a:p>
          <a:p>
            <a:r>
              <a:t>  3. Failback procedures</a:t>
            </a:r>
          </a:p>
          <a:p>
            <a:r>
              <a:t>- Quick reference cards</a:t>
            </a:r>
          </a:p>
          <a:p/>
          <a:p>
            <a:r>
              <a:t>*Training Sessions Delivered:*</a:t>
            </a:r>
          </a:p>
          <a:p>
            <a:r>
              <a:t>- Operations Team Training: 2 sessions, 6 participants, 100% completion</a:t>
            </a:r>
          </a:p>
          <a:p>
            <a:r>
              <a:t>- Executive DR Briefing: 1 session, 5 executives</a:t>
            </a:r>
          </a:p>
          <a:p>
            <a:r>
              <a:t>- Total training hours delivered: 8 hours</a:t>
            </a:r>
          </a:p>
          <a:p/>
          <a:p>
            <a:r>
              <a:t>*Transition:*</a:t>
            </a:r>
          </a:p>
          <a:p>
            <a:r>
              <a:t>"Let's look at how the DR solution is performing against our targets..."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*Quality &amp; Performance Deep Dive:*</a:t>
            </a:r>
          </a:p>
          <a:p/>
          <a:p>
            <a:r>
              <a:t>**Recovery Metrics - Detailed Breakdown:**</a:t>
            </a:r>
          </a:p>
          <a:p/>
          <a:p>
            <a:r>
              <a:t>*RTO Achieved: 12 Minutes*</a:t>
            </a:r>
          </a:p>
          <a:p>
            <a:r>
              <a:t>- SOW target: 15 minutes</a:t>
            </a:r>
          </a:p>
          <a:p>
            <a:r>
              <a:t>- Achieved: 12 minutes average (20% better than target)</a:t>
            </a:r>
          </a:p>
          <a:p>
            <a:r>
              <a:t>- Breakdown by phase:</a:t>
            </a:r>
          </a:p>
          <a:p>
            <a:r>
              <a:t>  - Health check detection: 90 seconds (3 x 30-second checks)</a:t>
            </a:r>
          </a:p>
          <a:p>
            <a:r>
              <a:t>  - DNS failover propagation: 60 seconds</a:t>
            </a:r>
          </a:p>
          <a:p>
            <a:r>
              <a:t>  - Aurora DB promotion: 5 minutes</a:t>
            </a:r>
          </a:p>
          <a:p>
            <a:r>
              <a:t>  - Auto Scaling activation: 5 minutes</a:t>
            </a:r>
          </a:p>
          <a:p>
            <a:r>
              <a:t>- Peak (under load): 14 minutes</a:t>
            </a:r>
          </a:p>
          <a:p>
            <a:r>
              <a:t>- Minimum (off-peak): 10 minutes</a:t>
            </a:r>
          </a:p>
          <a:p/>
          <a:p>
            <a:r>
              <a:t>*RPO Achieved: 45 Minutes*</a:t>
            </a:r>
          </a:p>
          <a:p>
            <a:r>
              <a:t>- SOW target: 60 minutes (1 hour)</a:t>
            </a:r>
          </a:p>
          <a:p>
            <a:r>
              <a:t>- Achieved: 45 minutes maximum data loss window</a:t>
            </a:r>
          </a:p>
          <a:p>
            <a:r>
              <a:t>- Aurora Global Database: &lt;1 second replication lag</a:t>
            </a:r>
          </a:p>
          <a:p>
            <a:r>
              <a:t>- S3 cross-region replication: 15 minutes</a:t>
            </a:r>
          </a:p>
          <a:p>
            <a:r>
              <a:t>- Combined worst-case: 45 minutes</a:t>
            </a:r>
          </a:p>
          <a:p/>
          <a:p>
            <a:r>
              <a:t>*Failover Success Rate: 100%*</a:t>
            </a:r>
          </a:p>
          <a:p>
            <a:r>
              <a:t>- Planned failover tests: 3 executed, 3 successful</a:t>
            </a:r>
          </a:p>
          <a:p>
            <a:r>
              <a:t>- No failed failover attempts</a:t>
            </a:r>
          </a:p>
          <a:p>
            <a:r>
              <a:t>- Failback tests: 2 executed, 2 successful</a:t>
            </a:r>
          </a:p>
          <a:p>
            <a:r>
              <a:t>- Automation functioning correctly</a:t>
            </a:r>
          </a:p>
          <a:p/>
          <a:p>
            <a:r>
              <a:t>*DB Replication Lag: &lt;1 Second*</a:t>
            </a:r>
          </a:p>
          <a:p>
            <a:r>
              <a:t>- Aurora Global Database performance</a:t>
            </a:r>
          </a:p>
          <a:p>
            <a:r>
              <a:t>- Continuous monitoring in CloudWatch</a:t>
            </a:r>
          </a:p>
          <a:p>
            <a:r>
              <a:t>- Alert threshold: 5 seconds</a:t>
            </a:r>
          </a:p>
          <a:p>
            <a:r>
              <a:t>- No lag alerts triggered during testing</a:t>
            </a:r>
          </a:p>
          <a:p/>
          <a:p>
            <a:r>
              <a:t>**Performance Metrics - Detailed Analysis:**</a:t>
            </a:r>
          </a:p>
          <a:p/>
          <a:p>
            <a:r>
              <a:t>*Primary Region Uptime: 99.97%*</a:t>
            </a:r>
          </a:p>
          <a:p>
            <a:r>
              <a:t>- Target: 99.5% availability</a:t>
            </a:r>
          </a:p>
          <a:p>
            <a:r>
              <a:t>- Achieved: 99.97% (0.9 hours downtime in 30 days)</a:t>
            </a:r>
          </a:p>
          <a:p>
            <a:r>
              <a:t>- Downtime: Planned maintenance window only</a:t>
            </a:r>
          </a:p>
          <a:p>
            <a:r>
              <a:t>- No unplanned outages</a:t>
            </a:r>
          </a:p>
          <a:p/>
          <a:p>
            <a:r>
              <a:t>*DR Region Latency: 180ms*</a:t>
            </a:r>
          </a:p>
          <a:p>
            <a:r>
              <a:t>- Target: &lt;500ms response time in DR</a:t>
            </a:r>
          </a:p>
          <a:p>
            <a:r>
              <a:t>- Achieved: 180ms average (64% better than target)</a:t>
            </a:r>
          </a:p>
          <a:p>
            <a:r>
              <a:t>- Tested with production-equivalent load</a:t>
            </a:r>
          </a:p>
          <a:p>
            <a:r>
              <a:t>- Performance parity with primary region</a:t>
            </a:r>
          </a:p>
          <a:p/>
          <a:p>
            <a:r>
              <a:t>**Testing Summary:**</a:t>
            </a:r>
          </a:p>
          <a:p>
            <a:r>
              <a:t>- Test Cases Executed: 30 total</a:t>
            </a:r>
          </a:p>
          <a:p>
            <a:r>
              <a:t>- Pass Rate: 100%</a:t>
            </a:r>
          </a:p>
          <a:p>
            <a:r>
              <a:t>- Critical Defects at Activation: 0</a:t>
            </a:r>
          </a:p>
          <a:p>
            <a:r>
              <a:t>- Defects Found During Hypercare: 2 (both P3, resolved)</a:t>
            </a:r>
          </a:p>
          <a:p/>
          <a:p>
            <a:r>
              <a:t>**Comparison to SOW Targets:**</a:t>
            </a:r>
          </a:p>
          <a:p>
            <a:r>
              <a:t>| Metric | SOW Target | Achieved | Status |</a:t>
            </a:r>
          </a:p>
          <a:p>
            <a:r>
              <a:t>|--------|------------|----------|--------|</a:t>
            </a:r>
          </a:p>
          <a:p>
            <a:r>
              <a:t>| RTO | 15 min | 12 min | Exceeded |</a:t>
            </a:r>
          </a:p>
          <a:p>
            <a:r>
              <a:t>| RPO | 60 min | 45 min | Exceeded |</a:t>
            </a:r>
          </a:p>
          <a:p>
            <a:r>
              <a:t>| Uptime | 99.5% | 99.97% | Exceeded |</a:t>
            </a:r>
          </a:p>
          <a:p>
            <a:r>
              <a:t>| Failover Success | 95% | 100% | Exceeded |</a:t>
            </a:r>
          </a:p>
          <a:p/>
          <a:p>
            <a:r>
              <a:t>*Transition:*</a:t>
            </a:r>
          </a:p>
          <a:p>
            <a:r>
              <a:t>"These recovery capabilities translate directly into business value. Let me show you the benefits we're already seeing..."</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*Benefits Analysis - Detailed Discussion:*</a:t>
            </a:r>
          </a:p>
          <a:p/>
          <a:p>
            <a:r>
              <a:t>**Recovery Time Improvement - 95% Faster:**</a:t>
            </a:r>
          </a:p>
          <a:p/>
          <a:p>
            <a:r>
              <a:t>*Before (Manual Recovery):*</a:t>
            </a:r>
          </a:p>
          <a:p>
            <a:r>
              <a:t>- Estimated recovery time: 4+ hours</a:t>
            </a:r>
          </a:p>
          <a:p>
            <a:r>
              <a:t>- Manual steps required for each component</a:t>
            </a:r>
          </a:p>
          <a:p>
            <a:r>
              <a:t>- No documented procedures</a:t>
            </a:r>
          </a:p>
          <a:p>
            <a:r>
              <a:t>- Uncertain recovery outcome</a:t>
            </a:r>
          </a:p>
          <a:p>
            <a:r>
              <a:t>- Business impact: Potential 4+ hours of downtime</a:t>
            </a:r>
          </a:p>
          <a:p/>
          <a:p>
            <a:r>
              <a:t>*After (Automated DR):*</a:t>
            </a:r>
          </a:p>
          <a:p>
            <a:r>
              <a:t>- Automated failover: 12 minutes</a:t>
            </a:r>
          </a:p>
          <a:p>
            <a:r>
              <a:t>- Route 53 handles DNS automatically</a:t>
            </a:r>
          </a:p>
          <a:p>
            <a:r>
              <a:t>- Lambda orchestrates DB promotion</a:t>
            </a:r>
          </a:p>
          <a:p>
            <a:r>
              <a:t>- Auto Scaling handles compute</a:t>
            </a:r>
          </a:p>
          <a:p>
            <a:r>
              <a:t>- Predictable, tested recovery</a:t>
            </a:r>
          </a:p>
          <a:p/>
          <a:p>
            <a:r>
              <a:t>*Business Impact:*</a:t>
            </a:r>
          </a:p>
          <a:p>
            <a:r>
              <a:t>- Estimated hourly downtime cost: $50,000+</a:t>
            </a:r>
          </a:p>
          <a:p>
            <a:r>
              <a:t>- 4-hour outage cost: $200,000+</a:t>
            </a:r>
          </a:p>
          <a:p>
            <a:r>
              <a:t>- Single avoided outage = 2x Year 1 investment</a:t>
            </a:r>
          </a:p>
          <a:p/>
          <a:p>
            <a:r>
              <a:t>**Data Protection - 45-Minute RPO:**</a:t>
            </a:r>
          </a:p>
          <a:p/>
          <a:p>
            <a:r>
              <a:t>*Before:*</a:t>
            </a:r>
          </a:p>
          <a:p>
            <a:r>
              <a:t>- Daily backups only</a:t>
            </a:r>
          </a:p>
          <a:p>
            <a:r>
              <a:t>- 24-hour potential data loss</a:t>
            </a:r>
          </a:p>
          <a:p>
            <a:r>
              <a:t>- Manual restore procedures</a:t>
            </a:r>
          </a:p>
          <a:p>
            <a:r>
              <a:t>- No cross-region protection</a:t>
            </a:r>
          </a:p>
          <a:p/>
          <a:p>
            <a:r>
              <a:t>*After:*</a:t>
            </a:r>
          </a:p>
          <a:p>
            <a:r>
              <a:t>- Aurora Global Database: &lt;1 second lag</a:t>
            </a:r>
          </a:p>
          <a:p>
            <a:r>
              <a:t>- S3 CRR: 15-minute replication</a:t>
            </a:r>
          </a:p>
          <a:p>
            <a:r>
              <a:t>- Combined RPO: 45 minutes maximum</a:t>
            </a:r>
          </a:p>
          <a:p>
            <a:r>
              <a:t>- Automated backup validation</a:t>
            </a:r>
          </a:p>
          <a:p/>
          <a:p>
            <a:r>
              <a:t>*Financial Impact:*</a:t>
            </a:r>
          </a:p>
          <a:p>
            <a:r>
              <a:t>- Reduced data loss exposure by 97% (24 hours to 45 min)</a:t>
            </a:r>
          </a:p>
          <a:p>
            <a:r>
              <a:t>- Compliance with data protection requirements</a:t>
            </a:r>
          </a:p>
          <a:p>
            <a:r>
              <a:t>- Customer trust maintained</a:t>
            </a:r>
          </a:p>
          <a:p/>
          <a:p>
            <a:r>
              <a:t>**Compliance - SOC 2 Ready:**</a:t>
            </a:r>
          </a:p>
          <a:p/>
          <a:p>
            <a:r>
              <a:t>*Before:*</a:t>
            </a:r>
          </a:p>
          <a:p>
            <a:r>
              <a:t>- DR capability gap in audit scope</a:t>
            </a:r>
          </a:p>
          <a:p>
            <a:r>
              <a:t>- No documented DR procedures</a:t>
            </a:r>
          </a:p>
          <a:p>
            <a:r>
              <a:t>- No evidence of DR testing</a:t>
            </a:r>
          </a:p>
          <a:p>
            <a:r>
              <a:t>- Audit finding risk</a:t>
            </a:r>
          </a:p>
          <a:p/>
          <a:p>
            <a:r>
              <a:t>*After:*</a:t>
            </a:r>
          </a:p>
          <a:p>
            <a:r>
              <a:t>- Documented DR architecture and procedures</a:t>
            </a:r>
          </a:p>
          <a:p>
            <a:r>
              <a:t>- Quarterly DR testing schedule</a:t>
            </a:r>
          </a:p>
          <a:p>
            <a:r>
              <a:t>- Complete audit trail via CloudTrail</a:t>
            </a:r>
          </a:p>
          <a:p>
            <a:r>
              <a:t>- Evidence collection automated</a:t>
            </a:r>
          </a:p>
          <a:p/>
          <a:p>
            <a:r>
              <a:t>*Value:*</a:t>
            </a:r>
          </a:p>
          <a:p>
            <a:r>
              <a:t>- Closed compliance gap for SOC 2 Type II</a:t>
            </a:r>
          </a:p>
          <a:p>
            <a:r>
              <a:t>- Audit-ready documentation</a:t>
            </a:r>
          </a:p>
          <a:p>
            <a:r>
              <a:t>- Reduced audit finding risk</a:t>
            </a:r>
          </a:p>
          <a:p>
            <a:r>
              <a:t>- Customer and partner confidence</a:t>
            </a:r>
          </a:p>
          <a:p/>
          <a:p>
            <a:r>
              <a:t>**DR Cost Optimization - 12% of Primary:**</a:t>
            </a:r>
          </a:p>
          <a:p/>
          <a:p>
            <a:r>
              <a:t>*Cost Comparison:*</a:t>
            </a:r>
          </a:p>
          <a:p>
            <a:r>
              <a:t>| Component | Primary (Annual) | DR (Annual) | DR % |</a:t>
            </a:r>
          </a:p>
          <a:p>
            <a:r>
              <a:t>|-----------|-----------------|-------------|------|</a:t>
            </a:r>
          </a:p>
          <a:p>
            <a:r>
              <a:t>| Compute (EC2) | $15,000 | $1,800 | 12% |</a:t>
            </a:r>
          </a:p>
          <a:p>
            <a:r>
              <a:t>| Database (Aurora) | $8,000 | $2,000 | 25% |</a:t>
            </a:r>
          </a:p>
          <a:p>
            <a:r>
              <a:t>| Storage (S3) | $1,200 | $400 | 33% |</a:t>
            </a:r>
          </a:p>
          <a:p>
            <a:r>
              <a:t>| Network | $500 | $100 | 20% |</a:t>
            </a:r>
          </a:p>
          <a:p>
            <a:r>
              <a:t>| **Total** | **$24,700** | **$4,300** | **17%** |</a:t>
            </a:r>
          </a:p>
          <a:p/>
          <a:p>
            <a:r>
              <a:t>*Pilot light strategy delivers:*</a:t>
            </a:r>
          </a:p>
          <a:p>
            <a:r>
              <a:t>- Minimal idle costs</a:t>
            </a:r>
          </a:p>
          <a:p>
            <a:r>
              <a:t>- Full capacity on-demand</a:t>
            </a:r>
          </a:p>
          <a:p>
            <a:r>
              <a:t>- Pay-per-use during failover</a:t>
            </a:r>
          </a:p>
          <a:p/>
          <a:p>
            <a:r>
              <a:t>**ROI Summary:**</a:t>
            </a:r>
          </a:p>
          <a:p/>
          <a:p>
            <a:r>
              <a:t>| Metric | Value |</a:t>
            </a:r>
          </a:p>
          <a:p>
            <a:r>
              <a:t>|--------|-------|</a:t>
            </a:r>
          </a:p>
          <a:p>
            <a:r>
              <a:t>| Total Investment (Year 1) | $94,374 |</a:t>
            </a:r>
          </a:p>
          <a:p>
            <a:r>
              <a:t>| Avoided 4-hour outage value | $200,000+ |</a:t>
            </a:r>
          </a:p>
          <a:p>
            <a:r>
              <a:t>| ROI on single avoided outage | 112%+ |</a:t>
            </a:r>
          </a:p>
          <a:p>
            <a:r>
              <a:t>| 3-Year TCO | $120,860 |</a:t>
            </a:r>
          </a:p>
          <a:p>
            <a:r>
              <a:t>| Compliance value | Audit-ready |</a:t>
            </a:r>
          </a:p>
          <a:p/>
          <a:p>
            <a:r>
              <a:t>*Transition:*</a:t>
            </a:r>
          </a:p>
          <a:p>
            <a:r>
              <a:t>"We learned valuable lessons during this implementation that will help with future DR expansions..."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*Lessons Learned - Comprehensive Review:*</a:t>
            </a:r>
          </a:p>
          <a:p/>
          <a:p>
            <a:r>
              <a:t>**What Worked Well - Details:**</a:t>
            </a:r>
          </a:p>
          <a:p/>
          <a:p>
            <a:r>
              <a:t>*1. Early Stakeholder Alignment on RTO/RPO (Weeks 1-3):*</a:t>
            </a:r>
          </a:p>
          <a:p>
            <a:r>
              <a:t>- Business impact assessment engaged all stakeholders</a:t>
            </a:r>
          </a:p>
          <a:p>
            <a:r>
              <a:t>- Clear agreement on 4-hour RTO, 1-hour RPO targets</a:t>
            </a:r>
          </a:p>
          <a:p>
            <a:r>
              <a:t>- Prioritization of critical applications</a:t>
            </a:r>
          </a:p>
          <a:p>
            <a:r>
              <a:t>- Budget alignment with business value</a:t>
            </a:r>
          </a:p>
          <a:p>
            <a:r>
              <a:t>- Recommendation: Always start with BIA before technical design</a:t>
            </a:r>
          </a:p>
          <a:p/>
          <a:p>
            <a:r>
              <a:t>*2. Phased Implementation Approach:*</a:t>
            </a:r>
          </a:p>
          <a:p>
            <a:r>
              <a:t>- Foundation setup before DR infrastructure</a:t>
            </a:r>
          </a:p>
          <a:p>
            <a:r>
              <a:t>- Primary region validation before replication</a:t>
            </a:r>
          </a:p>
          <a:p>
            <a:r>
              <a:t>- Incremental testing at each phase</a:t>
            </a:r>
          </a:p>
          <a:p>
            <a:r>
              <a:t>- Risk contained to each phase</a:t>
            </a:r>
          </a:p>
          <a:p>
            <a:r>
              <a:t>- Recommendation: Phased approach reduces risk</a:t>
            </a:r>
          </a:p>
          <a:p/>
          <a:p>
            <a:r>
              <a:t>*3. Infrastructure as Code Deployment:*</a:t>
            </a:r>
          </a:p>
          <a:p>
            <a:r>
              <a:t>- CloudFormation templates for both regions</a:t>
            </a:r>
          </a:p>
          <a:p>
            <a:r>
              <a:t>- Consistent, repeatable deployments</a:t>
            </a:r>
          </a:p>
          <a:p>
            <a:r>
              <a:t>- Version-controlled infrastructure</a:t>
            </a:r>
          </a:p>
          <a:p>
            <a:r>
              <a:t>- Disaster recovery rebuild capability</a:t>
            </a:r>
          </a:p>
          <a:p>
            <a:r>
              <a:t>- Recommendation: Always use IaC for DR</a:t>
            </a:r>
          </a:p>
          <a:p/>
          <a:p>
            <a:r>
              <a:t>*4. Comprehensive DR Testing:*</a:t>
            </a:r>
          </a:p>
          <a:p>
            <a:r>
              <a:t>- 30 test cases covering all scenarios</a:t>
            </a:r>
          </a:p>
          <a:p>
            <a:r>
              <a:t>- Planned failover tests before activation</a:t>
            </a:r>
          </a:p>
          <a:p>
            <a:r>
              <a:t>- RTO/RPO validation documented</a:t>
            </a:r>
          </a:p>
          <a:p>
            <a:r>
              <a:t>- Team confidence built through testing</a:t>
            </a:r>
          </a:p>
          <a:p>
            <a:r>
              <a:t>- Recommendation: Test thoroughly before go-live</a:t>
            </a:r>
          </a:p>
          <a:p/>
          <a:p>
            <a:r>
              <a:t>**Challenges Overcome - Details:**</a:t>
            </a:r>
          </a:p>
          <a:p/>
          <a:p>
            <a:r>
              <a:t>*1. Aurora Global DB Setup Complexity:*</a:t>
            </a:r>
          </a:p>
          <a:p>
            <a:r>
              <a:t>- Challenge: Cross-region cluster configuration</a:t>
            </a:r>
          </a:p>
          <a:p>
            <a:r>
              <a:t>- Impact: 3-day delay in Phase 3</a:t>
            </a:r>
          </a:p>
          <a:p>
            <a:r>
              <a:t>- Resolution: AWS support engagement, parameter tuning</a:t>
            </a:r>
          </a:p>
          <a:p>
            <a:r>
              <a:t>- Prevention: Earlier AWS consultation for complex services</a:t>
            </a:r>
          </a:p>
          <a:p/>
          <a:p>
            <a:r>
              <a:t>*2. Health Check Tuning:*</a:t>
            </a:r>
          </a:p>
          <a:p>
            <a:r>
              <a:t>- Challenge: False positive failover triggers</a:t>
            </a:r>
          </a:p>
          <a:p>
            <a:r>
              <a:t>- Impact: Initial health check failures</a:t>
            </a:r>
          </a:p>
          <a:p>
            <a:r>
              <a:t>- Resolution: Adjusted thresholds (3 failures vs 2)</a:t>
            </a:r>
          </a:p>
          <a:p>
            <a:r>
              <a:t>- Prevention: Health check testing in staging first</a:t>
            </a:r>
          </a:p>
          <a:p/>
          <a:p>
            <a:r>
              <a:t>*3. Cross-Region IAM Permissions:*</a:t>
            </a:r>
          </a:p>
          <a:p>
            <a:r>
              <a:t>- Challenge: S3 replication role permissions</a:t>
            </a:r>
          </a:p>
          <a:p>
            <a:r>
              <a:t>- Impact: Replication failures during testing</a:t>
            </a:r>
          </a:p>
          <a:p>
            <a:r>
              <a:t>- Resolution: Added required cross-account permissions</a:t>
            </a:r>
          </a:p>
          <a:p>
            <a:r>
              <a:t>- Prevention: IAM review checklist for cross-region</a:t>
            </a:r>
          </a:p>
          <a:p/>
          <a:p>
            <a:r>
              <a:t>*4. Team Training Scheduling:*</a:t>
            </a:r>
          </a:p>
          <a:p>
            <a:r>
              <a:t>- Challenge: Coordinating training with operational duties</a:t>
            </a:r>
          </a:p>
          <a:p>
            <a:r>
              <a:t>- Impact: Delayed knowledge transfer</a:t>
            </a:r>
          </a:p>
          <a:p>
            <a:r>
              <a:t>- Resolution: Recorded sessions, self-paced materials</a:t>
            </a:r>
          </a:p>
          <a:p>
            <a:r>
              <a:t>- Prevention: Schedule training early in project</a:t>
            </a:r>
          </a:p>
          <a:p/>
          <a:p>
            <a:r>
              <a:t>**Recommendations for Future Enhancement:**</a:t>
            </a:r>
          </a:p>
          <a:p/>
          <a:p>
            <a:r>
              <a:t>*1. Expand DR to Additional Applications:*</a:t>
            </a:r>
          </a:p>
          <a:p>
            <a:r>
              <a:t>- 5-10 applications in current scope</a:t>
            </a:r>
          </a:p>
          <a:p>
            <a:r>
              <a:t>- Candidates: ERP integration, reporting system</a:t>
            </a:r>
          </a:p>
          <a:p>
            <a:r>
              <a:t>- Estimated effort: 4-6 weeks per application</a:t>
            </a:r>
          </a:p>
          <a:p>
            <a:r>
              <a:t>- Business case: Consistent DR coverage</a:t>
            </a:r>
          </a:p>
          <a:p/>
          <a:p>
            <a:r>
              <a:t>*2. Implement Automated DR Testing:*</a:t>
            </a:r>
          </a:p>
          <a:p>
            <a:r>
              <a:t>- Current: Manual quarterly tests</a:t>
            </a:r>
          </a:p>
          <a:p>
            <a:r>
              <a:t>- Recommendation: Automated monthly tests</a:t>
            </a:r>
          </a:p>
          <a:p>
            <a:r>
              <a:t>- AWS Fault Injection Simulator (FIS)</a:t>
            </a:r>
          </a:p>
          <a:p>
            <a:r>
              <a:t>- Target: Continuous DR validation</a:t>
            </a:r>
          </a:p>
          <a:p/>
          <a:p>
            <a:r>
              <a:t>*3. Consider Warm Standby Upgrade:*</a:t>
            </a:r>
          </a:p>
          <a:p>
            <a:r>
              <a:t>- Current: Pilot light (15% capacity)</a:t>
            </a:r>
          </a:p>
          <a:p>
            <a:r>
              <a:t>- Upgrade: Warm standby (40% capacity)</a:t>
            </a:r>
          </a:p>
          <a:p>
            <a:r>
              <a:t>- Benefit: Faster RTO (&lt;5 minutes)</a:t>
            </a:r>
          </a:p>
          <a:p>
            <a:r>
              <a:t>- Investment: ~$15,000/year additional</a:t>
            </a:r>
          </a:p>
          <a:p/>
          <a:p>
            <a:r>
              <a:t>*4. Quarterly DR Drill Schedule:*</a:t>
            </a:r>
          </a:p>
          <a:p>
            <a:r>
              <a:t>- Q1: Planned failover test</a:t>
            </a:r>
          </a:p>
          <a:p>
            <a:r>
              <a:t>- Q2: Surprise failover drill</a:t>
            </a:r>
          </a:p>
          <a:p>
            <a:r>
              <a:t>- Q3: Full disaster simulation</a:t>
            </a:r>
          </a:p>
          <a:p>
            <a:r>
              <a:t>- Q4: Annual review and planning</a:t>
            </a:r>
          </a:p>
          <a:p/>
          <a:p>
            <a:r>
              <a:t>**Not Recommended at This Time:**</a:t>
            </a:r>
          </a:p>
          <a:p>
            <a:r>
              <a:t>- Hot standby (100% capacity) - Cost prohibitive for current requirements</a:t>
            </a:r>
          </a:p>
          <a:p>
            <a:r>
              <a:t>- Multi-region active-active - Complexity exceeds current needs</a:t>
            </a:r>
          </a:p>
          <a:p>
            <a:r>
              <a:t>- Third DR region - Single DR region meets SLA</a:t>
            </a:r>
          </a:p>
          <a:p/>
          <a:p>
            <a:r>
              <a:t>*Transition:*</a:t>
            </a:r>
          </a:p>
          <a:p>
            <a:r>
              <a:t>"Let me walk you through how we're transitioning support to your team..."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*Support Transition - Complete Details:*</a:t>
            </a:r>
          </a:p>
          <a:p/>
          <a:p>
            <a:r>
              <a:t>**Hypercare Period Summary (30 Days Post-Activation):**</a:t>
            </a:r>
          </a:p>
          <a:p/>
          <a:p>
            <a:r>
              <a:t>*Daily Activities Completed:*</a:t>
            </a:r>
          </a:p>
          <a:p>
            <a:r>
              <a:t>- Morning health check calls (9am) - first 2 weeks</a:t>
            </a:r>
          </a:p>
          <a:p>
            <a:r>
              <a:t>- CloudWatch dashboard review</a:t>
            </a:r>
          </a:p>
          <a:p>
            <a:r>
              <a:t>- Replication lag monitoring</a:t>
            </a:r>
          </a:p>
          <a:p>
            <a:r>
              <a:t>- Health check status verification</a:t>
            </a:r>
          </a:p>
          <a:p>
            <a:r>
              <a:t>- DR readiness validation</a:t>
            </a:r>
          </a:p>
          <a:p/>
          <a:p>
            <a:r>
              <a:t>*Issues Resolved During Hypercare:*</a:t>
            </a:r>
          </a:p>
          <a:p/>
          <a:p>
            <a:r>
              <a:t>Issue #1 (P3) - Day 5:</a:t>
            </a:r>
          </a:p>
          <a:p>
            <a:r>
              <a:t>- Problem: CloudWatch alarm threshold too sensitive</a:t>
            </a:r>
          </a:p>
          <a:p>
            <a:r>
              <a:t>- Root cause: Health check interval mismatch</a:t>
            </a:r>
          </a:p>
          <a:p>
            <a:r>
              <a:t>- Resolution: Adjusted alarm threshold from 2 to 3 failures</a:t>
            </a:r>
          </a:p>
          <a:p>
            <a:r>
              <a:t>- Prevention: Documented optimal thresholds in runbook</a:t>
            </a:r>
          </a:p>
          <a:p/>
          <a:p>
            <a:r>
              <a:t>Issue #2 (P3) - Day 12:</a:t>
            </a:r>
          </a:p>
          <a:p>
            <a:r>
              <a:t>- Problem: S3 replication delay during large file upload</a:t>
            </a:r>
          </a:p>
          <a:p>
            <a:r>
              <a:t>- Root cause: Large object replication timing</a:t>
            </a:r>
          </a:p>
          <a:p>
            <a:r>
              <a:t>- Resolution: Enabled S3 Transfer Acceleration</a:t>
            </a:r>
          </a:p>
          <a:p>
            <a:r>
              <a:t>- Cost impact: Minimal (~$10/month)</a:t>
            </a:r>
          </a:p>
          <a:p/>
          <a:p>
            <a:r>
              <a:t>*Knowledge Transfer Sessions Delivered:*</a:t>
            </a:r>
          </a:p>
          <a:p/>
          <a:p>
            <a:r>
              <a:t>| Session | Date | Attendees | Duration | Recording |</a:t>
            </a:r>
          </a:p>
          <a:p>
            <a:r>
              <a:t>|---------|------|-----------|----------|-----------|</a:t>
            </a:r>
          </a:p>
          <a:p>
            <a:r>
              <a:t>| DR Architecture Overview | Week 16 | 6 ops staff | 2 hours | Yes |</a:t>
            </a:r>
          </a:p>
          <a:p>
            <a:r>
              <a:t>| Failover Procedures | Week 16 | 6 ops staff | 1.5 hours | Yes |</a:t>
            </a:r>
          </a:p>
          <a:p>
            <a:r>
              <a:t>| CloudWatch Training | Week 17 | 4 ops staff | 1 hour | Yes |</a:t>
            </a:r>
          </a:p>
          <a:p>
            <a:r>
              <a:t>| Failback Procedures | Week 17 | 6 ops staff | 1 hour | Yes |</a:t>
            </a:r>
          </a:p>
          <a:p>
            <a:r>
              <a:t>| Executive DR Briefing | Week 18 | 5 executives | 30 min | Yes |</a:t>
            </a:r>
          </a:p>
          <a:p/>
          <a:p>
            <a:r>
              <a:t>*Runbook Validation:*</a:t>
            </a:r>
          </a:p>
          <a:p>
            <a:r>
              <a:t>- All 8 runbook procedures tested by client IT</a:t>
            </a:r>
          </a:p>
          <a:p>
            <a:r>
              <a:t>- Signed off by [IT Lead] on [Date]</a:t>
            </a:r>
          </a:p>
          <a:p>
            <a:r>
              <a:t>- Procedures validated:</a:t>
            </a:r>
          </a:p>
          <a:p>
            <a:r>
              <a:t>  1. Daily health check</a:t>
            </a:r>
          </a:p>
          <a:p>
            <a:r>
              <a:t>  2. Planned failover</a:t>
            </a:r>
          </a:p>
          <a:p>
            <a:r>
              <a:t>  3. Emergency failover</a:t>
            </a:r>
          </a:p>
          <a:p>
            <a:r>
              <a:t>  4. Failback to primary</a:t>
            </a:r>
          </a:p>
          <a:p>
            <a:r>
              <a:t>  5. Replication troubleshooting</a:t>
            </a:r>
          </a:p>
          <a:p>
            <a:r>
              <a:t>  6. Health check management</a:t>
            </a:r>
          </a:p>
          <a:p>
            <a:r>
              <a:t>  7. Quarterly DR testing</a:t>
            </a:r>
          </a:p>
          <a:p>
            <a:r>
              <a:t>  8. Emergency contacts</a:t>
            </a:r>
          </a:p>
          <a:p/>
          <a:p>
            <a:r>
              <a:t>**Steady State Support Model:**</a:t>
            </a:r>
          </a:p>
          <a:p/>
          <a:p>
            <a:r>
              <a:t>*What Client Team Handles (L1/L2):*</a:t>
            </a:r>
          </a:p>
          <a:p>
            <a:r>
              <a:t>- Daily monitoring via CloudWatch dashboards</a:t>
            </a:r>
          </a:p>
          <a:p>
            <a:r>
              <a:t>- Health check status verification</a:t>
            </a:r>
          </a:p>
          <a:p>
            <a:r>
              <a:t>- Basic troubleshooting (per runbook)</a:t>
            </a:r>
          </a:p>
          <a:p>
            <a:r>
              <a:t>- Quarterly DR testing execution</a:t>
            </a:r>
          </a:p>
          <a:p>
            <a:r>
              <a:t>- Monthly cost review</a:t>
            </a:r>
          </a:p>
          <a:p/>
          <a:p>
            <a:r>
              <a:t>*When to Escalate to Vendor (L3):*</a:t>
            </a:r>
          </a:p>
          <a:p>
            <a:r>
              <a:t>- RTO/RPO not meeting targets</a:t>
            </a:r>
          </a:p>
          <a:p>
            <a:r>
              <a:t>- Failover automation failures</a:t>
            </a:r>
          </a:p>
          <a:p>
            <a:r>
              <a:t>- Architecture changes required</a:t>
            </a:r>
          </a:p>
          <a:p>
            <a:r>
              <a:t>- DR expansion to new applications</a:t>
            </a:r>
          </a:p>
          <a:p>
            <a:r>
              <a:t>- AWS service limit increases</a:t>
            </a:r>
          </a:p>
          <a:p/>
          <a:p>
            <a:r>
              <a:t>**Monthly Operational Tasks:**</a:t>
            </a:r>
          </a:p>
          <a:p>
            <a:r>
              <a:t>- Week 1: DR health review</a:t>
            </a:r>
          </a:p>
          <a:p>
            <a:r>
              <a:t>- Week 2: Replication lag analysis</a:t>
            </a:r>
          </a:p>
          <a:p>
            <a:r>
              <a:t>- Week 3: Cost optimization check</a:t>
            </a:r>
          </a:p>
          <a:p>
            <a:r>
              <a:t>- Week 4: Readiness validation</a:t>
            </a:r>
          </a:p>
          <a:p/>
          <a:p>
            <a:r>
              <a:t>**Quarterly Tasks:**</a:t>
            </a:r>
          </a:p>
          <a:p>
            <a:r>
              <a:t>- Execute DR failover test</a:t>
            </a:r>
          </a:p>
          <a:p>
            <a:r>
              <a:t>- Validate RTO/RPO achievement</a:t>
            </a:r>
          </a:p>
          <a:p>
            <a:r>
              <a:t>- Update runbooks as needed</a:t>
            </a:r>
          </a:p>
          <a:p>
            <a:r>
              <a:t>- Review lessons learned</a:t>
            </a:r>
          </a:p>
          <a:p/>
          <a:p>
            <a:r>
              <a:t>**Support Contact Information:**</a:t>
            </a:r>
          </a:p>
          <a:p/>
          <a:p>
            <a:r>
              <a:t>| Role | Name | Email | Phone | Availability |</a:t>
            </a:r>
          </a:p>
          <a:p>
            <a:r>
              <a:t>|------|------|-------|-------|--------------|</a:t>
            </a:r>
          </a:p>
          <a:p>
            <a:r>
              <a:t>| IT Lead | [Name] | [email] | [phone] | Business hours |</a:t>
            </a:r>
          </a:p>
          <a:p>
            <a:r>
              <a:t>| DR Manager | [Name] | [email] | [phone] | Business hours |</a:t>
            </a:r>
          </a:p>
          <a:p>
            <a:r>
              <a:t>| On-Call | IT Duty | [email] | [phone] | 24/7 |</a:t>
            </a:r>
          </a:p>
          <a:p>
            <a:r>
              <a:t>| Vendor Support | Support Team | support@vendor.com | 555-xxx-xxxx | Per contract |</a:t>
            </a:r>
          </a:p>
          <a:p/>
          <a:p>
            <a:r>
              <a:t>*Transition:*</a:t>
            </a:r>
          </a:p>
          <a:p>
            <a:r>
              <a:t>"Let me acknowledge the team that made this possible and outline next steps..."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*Acknowledgments - Recognize Key Contributors:*</a:t>
            </a:r>
          </a:p>
          <a:p/>
          <a:p>
            <a:r>
              <a:t>**Client Team Recognition:**</a:t>
            </a:r>
          </a:p>
          <a:p/>
          <a:p>
            <a:r>
              <a:t>*Executive Sponsor - [Name]:*</a:t>
            </a:r>
          </a:p>
          <a:p>
            <a:r>
              <a:t>- Championed the DR initiative from discovery through activation</a:t>
            </a:r>
          </a:p>
          <a:p>
            <a:r>
              <a:t>- Secured budget and organizational support</a:t>
            </a:r>
          </a:p>
          <a:p>
            <a:r>
              <a:t>- Communicated business continuity priority</a:t>
            </a:r>
          </a:p>
          <a:p>
            <a:r>
              <a:t>- Key decision: Approved pilot light strategy for cost optimization</a:t>
            </a:r>
          </a:p>
          <a:p/>
          <a:p>
            <a:r>
              <a:t>*IT Lead - [Name]:*</a:t>
            </a:r>
          </a:p>
          <a:p>
            <a:r>
              <a:t>- Technical counterpart throughout implementation</a:t>
            </a:r>
          </a:p>
          <a:p>
            <a:r>
              <a:t>- AWS account setup and access coordination</a:t>
            </a:r>
          </a:p>
          <a:p>
            <a:r>
              <a:t>- CloudFormation review and approval</a:t>
            </a:r>
          </a:p>
          <a:p>
            <a:r>
              <a:t>- Knowledge transfer recipient and future DR owner</a:t>
            </a:r>
          </a:p>
          <a:p/>
          <a:p>
            <a:r>
              <a:t>*Business Stakeholders:*</a:t>
            </a:r>
          </a:p>
          <a:p>
            <a:r>
              <a:t>- RTO/RPO requirements validation</a:t>
            </a:r>
          </a:p>
          <a:p>
            <a:r>
              <a:t>- Business impact assessment participation</a:t>
            </a:r>
          </a:p>
          <a:p>
            <a:r>
              <a:t>- UAT coordination and sign-off</a:t>
            </a:r>
          </a:p>
          <a:p>
            <a:r>
              <a:t>- Quarterly DR testing commitment</a:t>
            </a:r>
          </a:p>
          <a:p/>
          <a:p>
            <a:r>
              <a:t>*IT Operations Team:*</a:t>
            </a:r>
          </a:p>
          <a:p>
            <a:r>
              <a:t>- Participated in all DR testing sessions</a:t>
            </a:r>
          </a:p>
          <a:p>
            <a:r>
              <a:t>- Validated runbook procedures</a:t>
            </a:r>
          </a:p>
          <a:p>
            <a:r>
              <a:t>- Trained on failover execution</a:t>
            </a:r>
          </a:p>
          <a:p>
            <a:r>
              <a:t>- Ready for self-sufficient operations</a:t>
            </a:r>
          </a:p>
          <a:p/>
          <a:p>
            <a:r>
              <a:t>**Vendor Team Recognition:**</a:t>
            </a:r>
          </a:p>
          <a:p/>
          <a:p>
            <a:r>
              <a:t>*Project Manager - [Name]:*</a:t>
            </a:r>
          </a:p>
          <a:p>
            <a:r>
              <a:t>- Overall delivery accountability</a:t>
            </a:r>
          </a:p>
          <a:p>
            <a:r>
              <a:t>- Stakeholder communication</a:t>
            </a:r>
          </a:p>
          <a:p>
            <a:r>
              <a:t>- Risk and issue management</a:t>
            </a:r>
          </a:p>
          <a:p>
            <a:r>
              <a:t>- On-time, on-budget delivery</a:t>
            </a:r>
          </a:p>
          <a:p/>
          <a:p>
            <a:r>
              <a:t>*Solutions Architect - [Name]:*</a:t>
            </a:r>
          </a:p>
          <a:p>
            <a:r>
              <a:t>- AWS DR architecture design</a:t>
            </a:r>
          </a:p>
          <a:p>
            <a:r>
              <a:t>- Aurora Global Database configuration</a:t>
            </a:r>
          </a:p>
          <a:p>
            <a:r>
              <a:t>- Route 53 failover setup</a:t>
            </a:r>
          </a:p>
          <a:p>
            <a:r>
              <a:t>- Technical documentation</a:t>
            </a:r>
          </a:p>
          <a:p/>
          <a:p>
            <a:r>
              <a:t>*DR Engineer - [Name]:*</a:t>
            </a:r>
          </a:p>
          <a:p>
            <a:r>
              <a:t>- CloudFormation template development</a:t>
            </a:r>
          </a:p>
          <a:p>
            <a:r>
              <a:t>- Replication configuration</a:t>
            </a:r>
          </a:p>
          <a:p>
            <a:r>
              <a:t>- Failover automation</a:t>
            </a:r>
          </a:p>
          <a:p>
            <a:r>
              <a:t>- Performance optimization</a:t>
            </a:r>
          </a:p>
          <a:p/>
          <a:p>
            <a:r>
              <a:t>**Special Recognition:**</a:t>
            </a:r>
          </a:p>
          <a:p>
            <a:r>
              <a:t>"I want to especially thank the IT Operations team. They dedicated significant time to DR testing, validated every runbook procedure, and asked the critical questions that improved our documentation. Their engagement ensures this DR capability will be maintained and exercised effectively."</a:t>
            </a:r>
          </a:p>
          <a:p/>
          <a:p>
            <a:r>
              <a:t>**Immediate Next Steps (This Week):**</a:t>
            </a:r>
          </a:p>
          <a:p/>
          <a:p>
            <a:r>
              <a:t>| Task | Owner | Due Date |</a:t>
            </a:r>
          </a:p>
          <a:p>
            <a:r>
              <a:t>|------|-------|----------|</a:t>
            </a:r>
          </a:p>
          <a:p>
            <a:r>
              <a:t>| Final documentation handover | PM | [Date] |</a:t>
            </a:r>
          </a:p>
          <a:p>
            <a:r>
              <a:t>| Archive project artifacts | PM | [Date] |</a:t>
            </a:r>
          </a:p>
          <a:p>
            <a:r>
              <a:t>| Close project tracking | PM | [Date] |</a:t>
            </a:r>
          </a:p>
          <a:p>
            <a:r>
              <a:t>| Update asset inventory | IT Lead | [Date] |</a:t>
            </a:r>
          </a:p>
          <a:p>
            <a:r>
              <a:t>| Confirm support contacts | IT Lead | [Date] |</a:t>
            </a:r>
          </a:p>
          <a:p/>
          <a:p>
            <a:r>
              <a:t>**30-Day Next Steps:**</a:t>
            </a:r>
          </a:p>
          <a:p/>
          <a:p>
            <a:r>
              <a:t>| Task | Owner | Due Date |</a:t>
            </a:r>
          </a:p>
          <a:p>
            <a:r>
              <a:t>|------|-------|----------|</a:t>
            </a:r>
          </a:p>
          <a:p>
            <a:r>
              <a:t>| First quarterly DR test | DR Manager | [Date+30] |</a:t>
            </a:r>
          </a:p>
          <a:p>
            <a:r>
              <a:t>| Optimize monitoring alerts | IT Operations | [Date+30] |</a:t>
            </a:r>
          </a:p>
          <a:p>
            <a:r>
              <a:t>| Cost optimization review | IT Lead | [Date+30] |</a:t>
            </a:r>
          </a:p>
          <a:p>
            <a:r>
              <a:t>| Phase 2 planning initiation | Business Sponsor | [Date+30] |</a:t>
            </a:r>
          </a:p>
          <a:p/>
          <a:p>
            <a:r>
              <a:t>**Quarterly Planning (Next Quarter):**</a:t>
            </a:r>
          </a:p>
          <a:p>
            <a:r>
              <a:t>- Phase 2 planning workshop</a:t>
            </a:r>
          </a:p>
          <a:p>
            <a:r>
              <a:t>- Additional application prioritization</a:t>
            </a:r>
          </a:p>
          <a:p>
            <a:r>
              <a:t>- Business case development for DR expansion</a:t>
            </a:r>
          </a:p>
          <a:p>
            <a:r>
              <a:t>- Warm standby evaluation</a:t>
            </a:r>
          </a:p>
          <a:p/>
          <a:p>
            <a:r>
              <a:t>**Phase 2 Candidate Applications:**</a:t>
            </a:r>
          </a:p>
          <a:p>
            <a:r>
              <a:t>| Application | Criticality | Est. Effort | Priority |</a:t>
            </a:r>
          </a:p>
          <a:p>
            <a:r>
              <a:t>|-------------|-------------|-------------|----------|</a:t>
            </a:r>
          </a:p>
          <a:p>
            <a:r>
              <a:t>| ERP Integration | High | 6 weeks | 1 |</a:t>
            </a:r>
          </a:p>
          <a:p>
            <a:r>
              <a:t>| Reporting System | Medium | 4 weeks | 2 |</a:t>
            </a:r>
          </a:p>
          <a:p>
            <a:r>
              <a:t>| Customer Portal | Medium | 5 weeks | 3 |</a:t>
            </a:r>
          </a:p>
          <a:p/>
          <a:p>
            <a:r>
              <a:t>Recommendation: Start with ERP Integration (highest criticality)</a:t>
            </a:r>
          </a:p>
          <a:p/>
          <a:p>
            <a:r>
              <a:t>*Transition:*</a:t>
            </a:r>
          </a:p>
          <a:p>
            <a:r>
              <a:t>"Thank you for your partnership on this project. Let me open the floor for questions..."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*Closing and Q&amp;A Preparation:*</a:t>
            </a:r>
          </a:p>
          <a:p/>
          <a:p>
            <a:r>
              <a:t>**Closing Statement:**</a:t>
            </a:r>
          </a:p>
          <a:p>
            <a:r>
              <a:t>"Thank you for your partnership throughout this project. We've successfully implemented a robust disaster recovery capability that protects [Client Name]'s critical web applications. The solution exceeds our RTO/RPO targets, the team is trained and ready, and you now have documented, tested procedures for business continuity.</a:t>
            </a:r>
          </a:p>
          <a:p/>
          <a:p>
            <a:r>
              <a:t>I want to open the floor for questions. We have [time] remaining."</a:t>
            </a:r>
          </a:p>
          <a:p/>
          <a:p>
            <a:r>
              <a:t>**Anticipated Questions and Prepared Answers:**</a:t>
            </a:r>
          </a:p>
          <a:p/>
          <a:p>
            <a:r>
              <a:t>*Q: What happens if AWS has a regional outage?*</a:t>
            </a:r>
          </a:p>
          <a:p>
            <a:r>
              <a:t>A: Route 53 health checks detect the primary region failure within 90 seconds. Automated failover redirects traffic to us-west-2 DR region. Aurora Global Database promotes the read replica to primary. Total recovery time: 12-15 minutes.</a:t>
            </a:r>
          </a:p>
          <a:p/>
          <a:p>
            <a:r>
              <a:t>*Q: How often should we test DR?*</a:t>
            </a:r>
          </a:p>
          <a:p>
            <a:r>
              <a:t>A: Quarterly DR tests are scheduled. Q1 and Q3: planned failover tests. Q2: surprise drill. Q4: full simulation with business validation. Monthly: automated health check validation.</a:t>
            </a:r>
          </a:p>
          <a:p/>
          <a:p>
            <a:r>
              <a:t>*Q: What are the ongoing AWS costs?*</a:t>
            </a:r>
          </a:p>
          <a:p>
            <a:r>
              <a:t>A: Current DR run rate is approximately $360/month:</a:t>
            </a:r>
          </a:p>
          <a:p>
            <a:r>
              <a:t>- Aurora read replica: $170/month</a:t>
            </a:r>
          </a:p>
          <a:p>
            <a:r>
              <a:t>- Pilot light EC2: $75/month</a:t>
            </a:r>
          </a:p>
          <a:p>
            <a:r>
              <a:t>- S3 replication: $35/month</a:t>
            </a:r>
          </a:p>
          <a:p>
            <a:r>
              <a:t>- Monitoring/other: $80/month</a:t>
            </a:r>
          </a:p>
          <a:p>
            <a:r>
              <a:t>Costs scale if DR is activated (match primary region).</a:t>
            </a:r>
          </a:p>
          <a:p/>
          <a:p>
            <a:r>
              <a:t>*Q: What if we need faster recovery (shorter RTO)?*</a:t>
            </a:r>
          </a:p>
          <a:p>
            <a:r>
              <a:t>A: Upgrade to warm standby strategy:</a:t>
            </a:r>
          </a:p>
          <a:p>
            <a:r>
              <a:t>- Keep DR instances running (not just pilot light)</a:t>
            </a:r>
          </a:p>
          <a:p>
            <a:r>
              <a:t>- Reduces RTO from 12 minutes to &lt;5 minutes</a:t>
            </a:r>
          </a:p>
          <a:p>
            <a:r>
              <a:t>- Additional cost: ~$1,200/month</a:t>
            </a:r>
          </a:p>
          <a:p>
            <a:r>
              <a:t>- Recommendation: Evaluate after 6 months of operations</a:t>
            </a:r>
          </a:p>
          <a:p/>
          <a:p>
            <a:r>
              <a:t>*Q: How do we handle a real disaster?*</a:t>
            </a:r>
          </a:p>
          <a:p>
            <a:r>
              <a:t>A: Follow the DR Runbook:</a:t>
            </a:r>
          </a:p>
          <a:p>
            <a:r>
              <a:t>1. Confirm primary region failure (not transient)</a:t>
            </a:r>
          </a:p>
          <a:p>
            <a:r>
              <a:t>2. Execute planned failover procedure (or automated triggers)</a:t>
            </a:r>
          </a:p>
          <a:p>
            <a:r>
              <a:t>3. Validate application functionality in DR</a:t>
            </a:r>
          </a:p>
          <a:p>
            <a:r>
              <a:t>4. Communicate status to stakeholders</a:t>
            </a:r>
          </a:p>
          <a:p>
            <a:r>
              <a:t>5. Plan failback when primary is restored</a:t>
            </a:r>
          </a:p>
          <a:p/>
          <a:p>
            <a:r>
              <a:t>*Q: What if our database grows significantly?*</a:t>
            </a:r>
          </a:p>
          <a:p>
            <a:r>
              <a:t>A: Architecture supports growth:</a:t>
            </a:r>
          </a:p>
          <a:p>
            <a:r>
              <a:t>- Current: 50 GB database</a:t>
            </a:r>
          </a:p>
          <a:p>
            <a:r>
              <a:t>- Capacity: 200+ GB without changes</a:t>
            </a:r>
          </a:p>
          <a:p>
            <a:r>
              <a:t>- Aurora scales storage automatically</a:t>
            </a:r>
          </a:p>
          <a:p>
            <a:r>
              <a:t>- Monitor replication lag as volume grows</a:t>
            </a:r>
          </a:p>
          <a:p>
            <a:r>
              <a:t>- Alert threshold: 5 seconds lag</a:t>
            </a:r>
          </a:p>
          <a:p/>
          <a:p>
            <a:r>
              <a:t>*Q: Can we add more applications to DR?*</a:t>
            </a:r>
          </a:p>
          <a:p>
            <a:r>
              <a:t>A: Yes, Phase 2 planning recommended:</a:t>
            </a:r>
          </a:p>
          <a:p>
            <a:r>
              <a:t>- 4-6 weeks per application</a:t>
            </a:r>
          </a:p>
          <a:p>
            <a:r>
              <a:t>- Use existing templates and patterns</a:t>
            </a:r>
          </a:p>
          <a:p>
            <a:r>
              <a:t>- Priority based on business criticality</a:t>
            </a:r>
          </a:p>
          <a:p>
            <a:r>
              <a:t>- Happy to scope Phase 2 engagement</a:t>
            </a:r>
          </a:p>
          <a:p/>
          <a:p>
            <a:r>
              <a:t>**Follow-Up Commitments:**</a:t>
            </a:r>
          </a:p>
          <a:p>
            <a:r>
              <a:t>- [ ] Send final presentation deck to all attendees</a:t>
            </a:r>
          </a:p>
          <a:p>
            <a:r>
              <a:t>- [ ] Distribute project summary one-pager for executives</a:t>
            </a:r>
          </a:p>
          <a:p>
            <a:r>
              <a:t>- [ ] Schedule first quarterly DR test</a:t>
            </a:r>
          </a:p>
          <a:p>
            <a:r>
              <a:t>- [ ] Send Phase 2 planning template</a:t>
            </a:r>
          </a:p>
          <a:p>
            <a:r>
              <a:t>- [ ] Provide vendor support contract options (if requested)</a:t>
            </a:r>
          </a:p>
          <a:p/>
          <a:p>
            <a:r>
              <a:t>**Final Closing:**</a:t>
            </a:r>
          </a:p>
          <a:p>
            <a:r>
              <a:t>"Thank you again for your trust in our team. This project demonstrates effective business continuity planning and execution. We look forward to continuing this partnership in Phase 2 and beyond.</a:t>
            </a:r>
          </a:p>
          <a:p/>
          <a:p>
            <a:r>
              <a:t>Please don't hesitate to reach out to me or [Account Manager] if any questions come up. Have a great [rest of your day/afternoon]."</a:t>
            </a:r>
          </a:p>
          <a:p/>
          <a:p>
            <a:r>
              <a:t>**After the Meeting:**</a:t>
            </a:r>
          </a:p>
          <a:p>
            <a:r>
              <a:t>- Send thank you email within 24 hours</a:t>
            </a:r>
          </a:p>
          <a:p>
            <a:r>
              <a:t>- Attach presentation and summary document</a:t>
            </a:r>
          </a:p>
          <a:p>
            <a:r>
              <a:t>- Include recording link if recorded</a:t>
            </a:r>
          </a:p>
          <a:p>
            <a:r>
              <a:t>- Confirm next meeting date (quarterly DR test)</a:t>
            </a:r>
          </a:p>
          <a:p>
            <a:r>
              <a:t>- Copy all stakeholders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1"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5" name="Text Placeholder 4">
            <a:extLst>
              <a:ext uri="{FF2B5EF4-FFF2-40B4-BE49-F238E27FC236}">
                <a16:creationId xmlns:a16="http://schemas.microsoft.com/office/drawing/2014/main" id="{57F71806-AFEA-DD6D-E6AA-E2A002E682DE}"/>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
        <p:nvSpPr>
          <p:cNvPr id="5" name="Text Placeholder 4">
            <a:extLst>
              <a:ext uri="{FF2B5EF4-FFF2-40B4-BE49-F238E27FC236}">
                <a16:creationId xmlns:a16="http://schemas.microsoft.com/office/drawing/2014/main" id="{162079A5-28FD-9D2F-2B9B-2FC8F9339A31}"/>
              </a:ext>
            </a:extLst>
          </p:cNvPr>
          <p:cNvSpPr>
            <a:spLocks noGrp="1"/>
          </p:cNvSpPr>
          <p:nvPr>
            <p:ph type="body" sz="quarter" idx="15" hasCustomPrompt="1"/>
          </p:nvPr>
        </p:nvSpPr>
        <p:spPr>
          <a:xfrm>
            <a:off x="5627076" y="4738688"/>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31079"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721470" y="678433"/>
            <a:ext cx="4228856" cy="3785515"/>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5DF49ED0-89F0-F008-ADD7-D71F338C8B9B}"/>
              </a:ext>
            </a:extLst>
          </p:cNvPr>
          <p:cNvSpPr>
            <a:spLocks noGrp="1"/>
          </p:cNvSpPr>
          <p:nvPr>
            <p:ph type="body" sz="quarter" idx="15" hasCustomPrompt="1"/>
          </p:nvPr>
        </p:nvSpPr>
        <p:spPr>
          <a:xfrm>
            <a:off x="5697414"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
        <p:nvSpPr>
          <p:cNvPr id="4" name="Text Placeholder 4">
            <a:extLst>
              <a:ext uri="{FF2B5EF4-FFF2-40B4-BE49-F238E27FC236}">
                <a16:creationId xmlns:a16="http://schemas.microsoft.com/office/drawing/2014/main" id="{A00DC936-676C-1BAA-B4B4-D45CC5951D6E}"/>
              </a:ext>
            </a:extLst>
          </p:cNvPr>
          <p:cNvSpPr>
            <a:spLocks noGrp="1"/>
          </p:cNvSpPr>
          <p:nvPr>
            <p:ph type="body" sz="quarter" idx="15" hasCustomPrompt="1"/>
          </p:nvPr>
        </p:nvSpPr>
        <p:spPr>
          <a:xfrm>
            <a:off x="5749315" y="4681864"/>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4">
            <a:extLst>
              <a:ext uri="{FF2B5EF4-FFF2-40B4-BE49-F238E27FC236}">
                <a16:creationId xmlns:a16="http://schemas.microsoft.com/office/drawing/2014/main" id="{6D03683B-7C4B-D474-74C5-EC53E3BB515B}"/>
              </a:ext>
            </a:extLst>
          </p:cNvPr>
          <p:cNvSpPr>
            <a:spLocks noGrp="1"/>
          </p:cNvSpPr>
          <p:nvPr>
            <p:ph type="body" sz="quarter" idx="17" hasCustomPrompt="1"/>
          </p:nvPr>
        </p:nvSpPr>
        <p:spPr>
          <a:xfrm>
            <a:off x="5781065" y="4729530"/>
            <a:ext cx="3218473" cy="238125"/>
          </a:xfrm>
          <a:prstGeom prst="rect">
            <a:avLst/>
          </a:prstGeom>
        </p:spPr>
        <p:txBody>
          <a:bodyPr/>
          <a:lstStyle>
            <a:lvl5pPr algn="r">
              <a:buNone/>
              <a:defRPr sz="1100"/>
            </a:lvl5pPr>
          </a:lstStyle>
          <a:p>
            <a:pPr lvl="4"/>
            <a:r>
              <a:rPr lang="en-US" dirty="0"/>
              <a:t>Project Name</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b="1">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4">
            <a:extLst>
              <a:ext uri="{FF2B5EF4-FFF2-40B4-BE49-F238E27FC236}">
                <a16:creationId xmlns:a16="http://schemas.microsoft.com/office/drawing/2014/main" id="{A1231DFE-6A5A-950E-159E-9E1D3D45FD36}"/>
              </a:ext>
            </a:extLst>
          </p:cNvPr>
          <p:cNvSpPr>
            <a:spLocks noGrp="1"/>
          </p:cNvSpPr>
          <p:nvPr>
            <p:ph type="body" sz="quarter" idx="17" hasCustomPrompt="1"/>
          </p:nvPr>
        </p:nvSpPr>
        <p:spPr>
          <a:xfrm>
            <a:off x="5679465" y="4681864"/>
            <a:ext cx="3218473" cy="238125"/>
          </a:xfrm>
          <a:prstGeom prst="rect">
            <a:avLst/>
          </a:prstGeom>
        </p:spPr>
        <p:txBody>
          <a:bodyPr/>
          <a:lstStyle>
            <a:lvl5pPr algn="r">
              <a:buNone/>
              <a:defRPr sz="900"/>
            </a:lvl5pPr>
          </a:lstStyle>
          <a:p>
            <a:pPr lvl="4"/>
            <a:r>
              <a:rPr lang="en-US" dirty="0"/>
              <a:t>Project Name</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Project Closeout</a:t>
            </a:r>
          </a:p>
        </p:txBody>
      </p:sp>
      <p:sp>
        <p:nvSpPr>
          <p:cNvPr id="5" name="Text Placeholder 4"/>
          <p:cNvSpPr>
            <a:spLocks noGrp="1"/>
          </p:cNvSpPr>
          <p:nvPr>
            <p:ph type="body" idx="14" sz="quarter"/>
          </p:nvPr>
        </p:nvSpPr>
        <p:spPr/>
        <p:txBody>
          <a:bodyPr/>
          <a:lstStyle/>
          <a:p>
            <a:r>
              <a:t>AWS Disaster Recovery Web Application</a:t>
            </a:r>
          </a:p>
        </p:txBody>
      </p:sp>
      <p:sp>
        <p:nvSpPr>
          <p:cNvPr id="6" name="Text Placeholder 5"/>
          <p:cNvSpPr>
            <a:spLocks noGrp="1"/>
          </p:cNvSpPr>
          <p:nvPr>
            <p:ph type="body" idx="15" sz="quarter"/>
          </p:nvPr>
        </p:nvSpPr>
        <p:spPr/>
        <p:txBody>
          <a:bodyPr/>
          <a:lstStyle/>
          <a:p>
            <a:r>
              <a:t>Project Manager | November 27, 2025</a:t>
            </a:r>
          </a:p>
        </p:txBody>
      </p:sp>
      <p:pic>
        <p:nvPicPr>
          <p:cNvPr id="7" name="Picture 6" descr="client_logo.png"/>
          <p:cNvPicPr>
            <a:picLocks noChangeAspect="1"/>
          </p:cNvPicPr>
          <p:nvPr/>
        </p:nvPicPr>
        <p:blipFill>
          <a:blip r:embed="rId2"/>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3"/>
          <a:stretch>
            <a:fillRect/>
          </a:stretch>
        </p:blipFill>
        <p:spPr>
          <a:xfrm>
            <a:off x="313591" y="4536078"/>
            <a:ext cx="2099897" cy="529698"/>
          </a:xfrm>
          <a:prstGeom prst="rect">
            <a:avLst/>
          </a:prstGeom>
        </p:spPr>
      </p:pic>
      <p:pic>
        <p:nvPicPr>
          <p:cNvPr id="9" name="Picture 8"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Executive Summary</a:t>
            </a:r>
          </a:p>
        </p:txBody>
      </p:sp>
      <p:sp>
        <p:nvSpPr>
          <p:cNvPr id="4" name="Text Placeholder 3"/>
          <p:cNvSpPr>
            <a:spLocks noGrp="1"/>
          </p:cNvSpPr>
          <p:nvPr>
            <p:ph type="body" idx="14" sz="quarter"/>
          </p:nvPr>
        </p:nvSpPr>
        <p:spPr/>
        <p:txBody>
          <a:bodyPr/>
          <a:lstStyle/>
          <a:p>
            <a:pPr/>
            <a:r>
              <a:rPr b="1"/>
              <a:t>Project Duration:</a:t>
            </a:r>
            <a:r>
              <a:t> 18 weeks, on schedule</a:t>
            </a:r>
          </a:p>
          <a:p>
            <a:pPr/>
            <a:r>
              <a:rPr b="1"/>
              <a:t>Budget:</a:t>
            </a:r>
            <a:r>
              <a:t> $94,374 delivered on budget</a:t>
            </a:r>
          </a:p>
          <a:p>
            <a:pPr/>
            <a:r>
              <a:rPr b="1"/>
              <a:t>Go-Live Date:</a:t>
            </a:r>
            <a:r>
              <a:t> Week 15 as planned</a:t>
            </a:r>
          </a:p>
          <a:p>
            <a:pPr/>
            <a:r>
              <a:rPr b="1"/>
              <a:t>Quality:</a:t>
            </a:r>
            <a:r>
              <a:t> Zero critical defects at DR activation</a:t>
            </a:r>
          </a:p>
          <a:p>
            <a:pPr/>
            <a:r>
              <a:rPr b="1"/>
              <a:t>RTO Achieved:</a:t>
            </a:r>
            <a:r>
              <a:t> 12 minutes (target: 15 min)</a:t>
            </a:r>
          </a:p>
          <a:p>
            <a:pPr/>
            <a:r>
              <a:rPr b="1"/>
              <a:t>RPO Achieved:</a:t>
            </a:r>
            <a:r>
              <a:t> 45 minutes (target: 60 min)</a:t>
            </a:r>
          </a:p>
          <a:p>
            <a:pPr/>
            <a:r>
              <a:rPr b="1"/>
              <a:t>ROI Status:</a:t>
            </a:r>
            <a:r>
              <a:t> Risk mitigation value confirmed</a:t>
            </a:r>
          </a:p>
        </p:txBody>
      </p:sp>
      <p:sp>
        <p:nvSpPr>
          <p:cNvPr id="5" name="Text Placeholder 4"/>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Solution Architecture</a:t>
            </a:r>
          </a:p>
        </p:txBody>
      </p:sp>
      <p:sp>
        <p:nvSpPr>
          <p:cNvPr id="5" name="Text Placeholder 4"/>
          <p:cNvSpPr>
            <a:spLocks noGrp="1"/>
          </p:cNvSpPr>
          <p:nvPr>
            <p:ph type="body" idx="16" sz="quarter"/>
          </p:nvPr>
        </p:nvSpPr>
        <p:spPr/>
        <p:txBody>
          <a:bodyPr/>
          <a:lstStyle/>
          <a:p>
            <a:pPr/>
            <a:r>
              <a:rPr b="1"/>
              <a:t>Primary Region (us-east-1)</a:t>
            </a:r>
          </a:p>
          <a:p>
            <a:pPr lvl="1"/>
            <a:r>
              <a:t>3-tier web app with ALB</a:t>
            </a:r>
          </a:p>
          <a:p>
            <a:pPr lvl="1"/>
            <a:r>
              <a:t>Aurora MySQL Multi-AZ cluster</a:t>
            </a:r>
          </a:p>
          <a:p>
            <a:pPr lvl="1"/>
            <a:r>
              <a:t>S3 with versioning enabled</a:t>
            </a:r>
          </a:p>
          <a:p>
            <a:pPr/>
            <a:r>
              <a:rPr b="1"/>
              <a:t>DR Region (us-west-2)</a:t>
            </a:r>
          </a:p>
          <a:p>
            <a:pPr lvl="1"/>
            <a:r>
              <a:t>Pilot light infrastructure</a:t>
            </a:r>
          </a:p>
          <a:p>
            <a:pPr lvl="1"/>
            <a:r>
              <a:t>Aurora Global DB read replica</a:t>
            </a:r>
          </a:p>
          <a:p>
            <a:pPr lvl="1"/>
            <a:r>
              <a:t>S3 cross-region replication</a:t>
            </a:r>
          </a:p>
          <a:p>
            <a:pPr/>
            <a:r>
              <a:rPr b="1"/>
              <a:t>Failover Automation</a:t>
            </a:r>
          </a:p>
          <a:p>
            <a:pPr lvl="1"/>
            <a:r>
              <a:t>Route 53 health checks</a:t>
            </a:r>
          </a:p>
          <a:p>
            <a:pPr lvl="1"/>
            <a:r>
              <a:t>Automated DNS failover</a:t>
            </a:r>
          </a:p>
          <a:p>
            <a:pPr lvl="1"/>
            <a:r>
              <a:t>Lambda orchestration scripts</a:t>
            </a:r>
          </a:p>
        </p:txBody>
      </p:sp>
      <p:sp>
        <p:nvSpPr>
          <p:cNvPr id="6" name="Text Placeholder 5"/>
          <p:cNvSpPr>
            <a:spLocks noGrp="1"/>
          </p:cNvSpPr>
          <p:nvPr>
            <p:ph type="body" idx="17" sz="quarter"/>
          </p:nvPr>
        </p:nvSpPr>
        <p:spPr/>
        <p:txBody>
          <a:bodyPr/>
          <a:lstStyle/>
          <a:p>
            <a:pPr algn="r">
              <a:buNone/>
            </a:pPr>
            <a:r>
              <a:rPr sz="1100">
                <a:solidFill>
                  <a:srgbClr val="CC0000"/>
                </a:solidFill>
              </a:rPr>
              <a:t>AWS Disaster Recovery Web Application</a:t>
            </a:r>
          </a:p>
        </p:txBody>
      </p:sp>
      <p:pic>
        <p:nvPicPr>
          <p:cNvPr id="7" name="Picture 6" descr="architecture-diagram.png"/>
          <p:cNvPicPr>
            <a:picLocks noChangeAspect="1"/>
          </p:cNvPicPr>
          <p:nvPr/>
        </p:nvPicPr>
        <p:blipFill>
          <a:blip r:embed="rId2"/>
          <a:stretch>
            <a:fillRect/>
          </a:stretch>
        </p:blipFill>
        <p:spPr>
          <a:xfrm>
            <a:off x="4662488" y="685799"/>
            <a:ext cx="4337050" cy="3815859"/>
          </a:xfrm>
          <a:prstGeom prst="rect">
            <a:avLst/>
          </a:prstGeom>
          <a:ln w="12700">
            <a:solidFill>
              <a:srgbClr val="C0C0C0"/>
            </a:solidFill>
            <a:prstDash val="solid"/>
          </a:ln>
        </p:spPr>
      </p:pic>
      <p:pic>
        <p:nvPicPr>
          <p:cNvPr id="8" name="Picture 7" descr="consulting_company_logo.png"/>
          <p:cNvPicPr>
            <a:picLocks noChangeAspect="1"/>
          </p:cNvPicPr>
          <p:nvPr/>
        </p:nvPicPr>
        <p:blipFill>
          <a:blip r:embed="rId4"/>
          <a:stretch>
            <a:fillRect/>
          </a:stretch>
        </p:blipFill>
        <p:spPr>
          <a:xfrm>
            <a:off x="313592" y="4536078"/>
            <a:ext cx="2130670" cy="52969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Deliverables Inventory</a:t>
            </a:r>
          </a:p>
        </p:txBody>
      </p:sp>
      <p:graphicFrame>
        <p:nvGraphicFramePr>
          <p:cNvPr id="4" name="Table Placeholder 3"/>
          <p:cNvGraphicFramePr>
            <a:graphicFrameLocks noGrp="1"/>
          </p:cNvGraphicFramePr>
          <p:nvPr>
            <p:ph type="tbl" idx="14" sz="quarter"/>
          </p:nvPr>
        </p:nvGraphicFramePr>
        <p:xfrm>
          <a:off x="256855" y="677011"/>
          <a:ext cx="8710931" cy="3337560"/>
        </p:xfrm>
        <a:graphic>
          <a:graphicData uri="http://schemas.openxmlformats.org/drawingml/2006/table">
            <a:tbl>
              <a:tblPr firstRow="1" bandRow="1">
                <a:tableStyleId>{5C22544A-7EE6-4342-B048-85BDC9FD1C3A}</a:tableStyleId>
              </a:tblPr>
              <a:tblGrid>
                <a:gridCol w="2613279"/>
                <a:gridCol w="3919919"/>
                <a:gridCol w="2177733"/>
              </a:tblGrid>
              <a:tr h="370840">
                <a:tc>
                  <a:txBody>
                    <a:bodyPr/>
                    <a:lstStyle/>
                    <a:p>
                      <a:r>
                        <a:rPr sz="1400">
                          <a:solidFill>
                            <a:srgbClr val="FFFFFF"/>
                          </a:solidFill>
                        </a:rPr>
                        <a:t>Deliverable</a:t>
                      </a:r>
                    </a:p>
                  </a:txBody>
                  <a:tcPr>
                    <a:solidFill>
                      <a:srgbClr val="A01C02"/>
                    </a:solidFill>
                  </a:tcPr>
                </a:tc>
                <a:tc>
                  <a:txBody>
                    <a:bodyPr/>
                    <a:lstStyle/>
                    <a:p>
                      <a:r>
                        <a:rPr sz="1400">
                          <a:solidFill>
                            <a:srgbClr val="FFFFFF"/>
                          </a:solidFill>
                        </a:rPr>
                        <a:t>Purpose</a:t>
                      </a:r>
                    </a:p>
                  </a:txBody>
                  <a:tcPr>
                    <a:solidFill>
                      <a:srgbClr val="A01C02"/>
                    </a:solidFill>
                  </a:tcPr>
                </a:tc>
                <a:tc>
                  <a:txBody>
                    <a:bodyPr/>
                    <a:lstStyle/>
                    <a:p>
                      <a:r>
                        <a:rPr sz="1400">
                          <a:solidFill>
                            <a:srgbClr val="FFFFFF"/>
                          </a:solidFill>
                        </a:rPr>
                        <a:t>Location</a:t>
                      </a:r>
                    </a:p>
                  </a:txBody>
                  <a:tcPr>
                    <a:solidFill>
                      <a:srgbClr val="A01C02"/>
                    </a:solidFill>
                  </a:tcPr>
                </a:tc>
              </a:tr>
              <a:tr h="370840">
                <a:tc>
                  <a:txBody>
                    <a:bodyPr/>
                    <a:lstStyle/>
                    <a:p>
                      <a:r>
                        <a:rPr b="1" sz="1100"/>
                        <a:t>Business Impact Assessment</a:t>
                      </a:r>
                    </a:p>
                  </a:txBody>
                  <a:tcPr>
                    <a:solidFill>
                      <a:srgbClr val="E7E6E6"/>
                    </a:solidFill>
                  </a:tcPr>
                </a:tc>
                <a:tc>
                  <a:txBody>
                    <a:bodyPr/>
                    <a:lstStyle/>
                    <a:p>
                      <a:r>
                        <a:rPr sz="1100"/>
                        <a:t>Critical app prioritization, RTO/RPO analysis</a:t>
                      </a:r>
                    </a:p>
                  </a:txBody>
                  <a:tcPr>
                    <a:solidFill>
                      <a:srgbClr val="E7E6E6"/>
                    </a:solidFill>
                  </a:tcPr>
                </a:tc>
                <a:tc>
                  <a:txBody>
                    <a:bodyPr/>
                    <a:lstStyle/>
                    <a:p>
                      <a:r>
                        <a:rPr sz="1100"/>
                        <a:t>`/delivery/bia-assessment.docx`</a:t>
                      </a:r>
                    </a:p>
                  </a:txBody>
                  <a:tcPr>
                    <a:solidFill>
                      <a:srgbClr val="E7E6E6"/>
                    </a:solidFill>
                  </a:tcPr>
                </a:tc>
              </a:tr>
              <a:tr h="370840">
                <a:tc>
                  <a:txBody>
                    <a:bodyPr/>
                    <a:lstStyle/>
                    <a:p>
                      <a:r>
                        <a:rPr b="1" sz="1100"/>
                        <a:t>DR Architecture Document</a:t>
                      </a:r>
                    </a:p>
                  </a:txBody>
                  <a:tcPr>
                    <a:solidFill>
                      <a:srgbClr val="E7E6E6"/>
                    </a:solidFill>
                  </a:tcPr>
                </a:tc>
                <a:tc>
                  <a:txBody>
                    <a:bodyPr/>
                    <a:lstStyle/>
                    <a:p>
                      <a:r>
                        <a:rPr sz="1100"/>
                        <a:t>Multi-region design, failover procedures</a:t>
                      </a:r>
                    </a:p>
                  </a:txBody>
                  <a:tcPr>
                    <a:solidFill>
                      <a:srgbClr val="E7E6E6"/>
                    </a:solidFill>
                  </a:tcPr>
                </a:tc>
                <a:tc>
                  <a:txBody>
                    <a:bodyPr/>
                    <a:lstStyle/>
                    <a:p>
                      <a:r>
                        <a:rPr sz="1100"/>
                        <a:t>`/delivery/detailed-design.docx`</a:t>
                      </a:r>
                    </a:p>
                  </a:txBody>
                  <a:tcPr>
                    <a:solidFill>
                      <a:srgbClr val="E7E6E6"/>
                    </a:solidFill>
                  </a:tcPr>
                </a:tc>
              </a:tr>
              <a:tr h="370840">
                <a:tc>
                  <a:txBody>
                    <a:bodyPr/>
                    <a:lstStyle/>
                    <a:p>
                      <a:r>
                        <a:rPr b="1" sz="1100"/>
                        <a:t>Implementation Guide</a:t>
                      </a:r>
                    </a:p>
                  </a:txBody>
                  <a:tcPr>
                    <a:solidFill>
                      <a:srgbClr val="E7E6E6"/>
                    </a:solidFill>
                  </a:tcPr>
                </a:tc>
                <a:tc>
                  <a:txBody>
                    <a:bodyPr/>
                    <a:lstStyle/>
                    <a:p>
                      <a:r>
                        <a:rPr sz="1100"/>
                        <a:t>Step-by-step deployment with CloudFormation</a:t>
                      </a:r>
                    </a:p>
                  </a:txBody>
                  <a:tcPr>
                    <a:solidFill>
                      <a:srgbClr val="E7E6E6"/>
                    </a:solidFill>
                  </a:tcPr>
                </a:tc>
                <a:tc>
                  <a:txBody>
                    <a:bodyPr/>
                    <a:lstStyle/>
                    <a:p>
                      <a:r>
                        <a:rPr sz="1100"/>
                        <a:t>`/delivery/implementation-guide.docx`</a:t>
                      </a:r>
                    </a:p>
                  </a:txBody>
                  <a:tcPr>
                    <a:solidFill>
                      <a:srgbClr val="E7E6E6"/>
                    </a:solidFill>
                  </a:tcPr>
                </a:tc>
              </a:tr>
              <a:tr h="370840">
                <a:tc>
                  <a:txBody>
                    <a:bodyPr/>
                    <a:lstStyle/>
                    <a:p>
                      <a:r>
                        <a:rPr b="1" sz="1100"/>
                        <a:t>Project Plan</a:t>
                      </a:r>
                    </a:p>
                  </a:txBody>
                  <a:tcPr>
                    <a:solidFill>
                      <a:srgbClr val="E7E6E6"/>
                    </a:solidFill>
                  </a:tcPr>
                </a:tc>
                <a:tc>
                  <a:txBody>
                    <a:bodyPr/>
                    <a:lstStyle/>
                    <a:p>
                      <a:r>
                        <a:rPr sz="1100"/>
                        <a:t>Timeline, milestones, RACI, communications</a:t>
                      </a:r>
                    </a:p>
                  </a:txBody>
                  <a:tcPr>
                    <a:solidFill>
                      <a:srgbClr val="E7E6E6"/>
                    </a:solidFill>
                  </a:tcPr>
                </a:tc>
                <a:tc>
                  <a:txBody>
                    <a:bodyPr/>
                    <a:lstStyle/>
                    <a:p>
                      <a:r>
                        <a:rPr sz="1100"/>
                        <a:t>`/delivery/project-plan.xlsx`</a:t>
                      </a:r>
                    </a:p>
                  </a:txBody>
                  <a:tcPr>
                    <a:solidFill>
                      <a:srgbClr val="E7E6E6"/>
                    </a:solidFill>
                  </a:tcPr>
                </a:tc>
              </a:tr>
              <a:tr h="370840">
                <a:tc>
                  <a:txBody>
                    <a:bodyPr/>
                    <a:lstStyle/>
                    <a:p>
                      <a:r>
                        <a:rPr b="1" sz="1100"/>
                        <a:t>Test Plan &amp; Results</a:t>
                      </a:r>
                    </a:p>
                  </a:txBody>
                  <a:tcPr>
                    <a:solidFill>
                      <a:srgbClr val="E7E6E6"/>
                    </a:solidFill>
                  </a:tcPr>
                </a:tc>
                <a:tc>
                  <a:txBody>
                    <a:bodyPr/>
                    <a:lstStyle/>
                    <a:p>
                      <a:r>
                        <a:rPr sz="1100"/>
                        <a:t>DR test cases, RTO/RPO validation results</a:t>
                      </a:r>
                    </a:p>
                  </a:txBody>
                  <a:tcPr>
                    <a:solidFill>
                      <a:srgbClr val="E7E6E6"/>
                    </a:solidFill>
                  </a:tcPr>
                </a:tc>
                <a:tc>
                  <a:txBody>
                    <a:bodyPr/>
                    <a:lstStyle/>
                    <a:p>
                      <a:r>
                        <a:rPr sz="1100"/>
                        <a:t>`/delivery/test-plan.xlsx`</a:t>
                      </a:r>
                    </a:p>
                  </a:txBody>
                  <a:tcPr>
                    <a:solidFill>
                      <a:srgbClr val="E7E6E6"/>
                    </a:solidFill>
                  </a:tcPr>
                </a:tc>
              </a:tr>
              <a:tr h="370840">
                <a:tc>
                  <a:txBody>
                    <a:bodyPr/>
                    <a:lstStyle/>
                    <a:p>
                      <a:r>
                        <a:rPr b="1" sz="1100"/>
                        <a:t>CloudFormation Templates</a:t>
                      </a:r>
                    </a:p>
                  </a:txBody>
                  <a:tcPr>
                    <a:solidFill>
                      <a:srgbClr val="E7E6E6"/>
                    </a:solidFill>
                  </a:tcPr>
                </a:tc>
                <a:tc>
                  <a:txBody>
                    <a:bodyPr/>
                    <a:lstStyle/>
                    <a:p>
                      <a:r>
                        <a:rPr sz="1100"/>
                        <a:t>Infrastructure as Code for both regions</a:t>
                      </a:r>
                    </a:p>
                  </a:txBody>
                  <a:tcPr>
                    <a:solidFill>
                      <a:srgbClr val="E7E6E6"/>
                    </a:solidFill>
                  </a:tcPr>
                </a:tc>
                <a:tc>
                  <a:txBody>
                    <a:bodyPr/>
                    <a:lstStyle/>
                    <a:p>
                      <a:r>
                        <a:rPr sz="1100"/>
                        <a:t>`/delivery/scripts/cloudformation/`</a:t>
                      </a:r>
                    </a:p>
                  </a:txBody>
                  <a:tcPr>
                    <a:solidFill>
                      <a:srgbClr val="E7E6E6"/>
                    </a:solidFill>
                  </a:tcPr>
                </a:tc>
              </a:tr>
              <a:tr h="370840">
                <a:tc>
                  <a:txBody>
                    <a:bodyPr/>
                    <a:lstStyle/>
                    <a:p>
                      <a:r>
                        <a:rPr b="1" sz="1100"/>
                        <a:t>DR Operations Runbook</a:t>
                      </a:r>
                    </a:p>
                  </a:txBody>
                  <a:tcPr>
                    <a:solidFill>
                      <a:srgbClr val="E7E6E6"/>
                    </a:solidFill>
                  </a:tcPr>
                </a:tc>
                <a:tc>
                  <a:txBody>
                    <a:bodyPr/>
                    <a:lstStyle/>
                    <a:p>
                      <a:r>
                        <a:rPr sz="1100"/>
                        <a:t>Failover/failback procedures, troubleshooting</a:t>
                      </a:r>
                    </a:p>
                  </a:txBody>
                  <a:tcPr>
                    <a:solidFill>
                      <a:srgbClr val="E7E6E6"/>
                    </a:solidFill>
                  </a:tcPr>
                </a:tc>
                <a:tc>
                  <a:txBody>
                    <a:bodyPr/>
                    <a:lstStyle/>
                    <a:p>
                      <a:r>
                        <a:rPr sz="1100"/>
                        <a:t>`/delivery/docs/dr-runbook.md`</a:t>
                      </a:r>
                    </a:p>
                  </a:txBody>
                  <a:tcPr>
                    <a:solidFill>
                      <a:srgbClr val="E7E6E6"/>
                    </a:solidFill>
                  </a:tcPr>
                </a:tc>
              </a:tr>
              <a:tr h="370840">
                <a:tc>
                  <a:txBody>
                    <a:bodyPr/>
                    <a:lstStyle/>
                    <a:p>
                      <a:r>
                        <a:rPr b="1" sz="1100"/>
                        <a:t>Training Materials</a:t>
                      </a:r>
                    </a:p>
                  </a:txBody>
                  <a:tcPr>
                    <a:solidFill>
                      <a:srgbClr val="E7E6E6"/>
                    </a:solidFill>
                  </a:tcPr>
                </a:tc>
                <a:tc>
                  <a:txBody>
                    <a:bodyPr/>
                    <a:lstStyle/>
                    <a:p>
                      <a:r>
                        <a:rPr sz="1100"/>
                        <a:t>Operations team guides, video tutorials</a:t>
                      </a:r>
                    </a:p>
                  </a:txBody>
                  <a:tcPr>
                    <a:solidFill>
                      <a:srgbClr val="E7E6E6"/>
                    </a:solidFill>
                  </a:tcPr>
                </a:tc>
                <a:tc>
                  <a:txBody>
                    <a:bodyPr/>
                    <a:lstStyle/>
                    <a:p>
                      <a:r>
                        <a:rPr sz="1100"/>
                        <a:t>`/delivery/training/`</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Quality &amp; Performance</a:t>
            </a:r>
          </a:p>
        </p:txBody>
      </p:sp>
      <p:sp>
        <p:nvSpPr>
          <p:cNvPr id="4" name="Text Placeholder 3"/>
          <p:cNvSpPr>
            <a:spLocks noGrp="1"/>
          </p:cNvSpPr>
          <p:nvPr>
            <p:ph type="body" idx="16" sz="quarter"/>
          </p:nvPr>
        </p:nvSpPr>
        <p:spPr/>
        <p:txBody>
          <a:bodyPr/>
          <a:lstStyle/>
          <a:p>
            <a:pPr/>
            <a:r>
              <a:rPr b="1"/>
              <a:t>Recovery Metrics</a:t>
            </a:r>
          </a:p>
          <a:p>
            <a:pPr lvl="1"/>
            <a:r>
              <a:t>RTO Achieved: 12 min (target: 15 min)</a:t>
            </a:r>
          </a:p>
          <a:p>
            <a:pPr lvl="1"/>
            <a:r>
              <a:t>RPO Achieved: 45 min (target: 60 min)</a:t>
            </a:r>
          </a:p>
          <a:p>
            <a:pPr lvl="1"/>
            <a:r>
              <a:t>Failover Success Rate: 100%</a:t>
            </a:r>
          </a:p>
          <a:p>
            <a:pPr lvl="1"/>
            <a:r>
              <a:t>DB Replication Lag: &lt;1 second</a:t>
            </a:r>
          </a:p>
          <a:p>
            <a:pPr lvl="1"/>
            <a:r>
              <a:t>DNS Propagation: 60 seconds</a:t>
            </a:r>
          </a:p>
        </p:txBody>
      </p:sp>
      <p:sp>
        <p:nvSpPr>
          <p:cNvPr id="5" name="Text Placeholder 4"/>
          <p:cNvSpPr>
            <a:spLocks noGrp="1"/>
          </p:cNvSpPr>
          <p:nvPr>
            <p:ph type="body" idx="17" sz="quarter"/>
          </p:nvPr>
        </p:nvSpPr>
        <p:spPr/>
        <p:txBody>
          <a:bodyPr/>
          <a:lstStyle/>
          <a:p>
            <a:pPr/>
            <a:r>
              <a:rPr b="1"/>
              <a:t>Performance Metrics</a:t>
            </a:r>
          </a:p>
          <a:p>
            <a:pPr lvl="1"/>
            <a:r>
              <a:t>Primary Uptime: 99.97% (target: 99.5%)</a:t>
            </a:r>
          </a:p>
          <a:p>
            <a:pPr lvl="1"/>
            <a:r>
              <a:t>DR Region Latency: 180ms (target: &lt;500ms)</a:t>
            </a:r>
          </a:p>
          <a:p>
            <a:pPr lvl="1"/>
            <a:r>
              <a:t>Health Check Accuracy: 100%</a:t>
            </a:r>
          </a:p>
          <a:p>
            <a:pPr lvl="1"/>
            <a:r>
              <a:t>Quarterly DR Tests: Scheduled</a:t>
            </a:r>
          </a:p>
          <a:p>
            <a:pPr lvl="1"/>
            <a:r>
              <a:t>Backup Validation: Weekly automated</a:t>
            </a:r>
          </a:p>
        </p:txBody>
      </p:sp>
      <p:sp>
        <p:nvSpPr>
          <p:cNvPr id="6" name="Text Placeholder 5"/>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Benefits Realized</a:t>
            </a:r>
          </a:p>
        </p:txBody>
      </p:sp>
      <p:graphicFrame>
        <p:nvGraphicFramePr>
          <p:cNvPr id="4" name="Table Placeholder 3"/>
          <p:cNvGraphicFramePr>
            <a:graphicFrameLocks noGrp="1"/>
          </p:cNvGraphicFramePr>
          <p:nvPr>
            <p:ph type="tbl" idx="14" sz="quarter"/>
          </p:nvPr>
        </p:nvGraphicFramePr>
        <p:xfrm>
          <a:off x="256855" y="677011"/>
          <a:ext cx="8710930" cy="2595880"/>
        </p:xfrm>
        <a:graphic>
          <a:graphicData uri="http://schemas.openxmlformats.org/drawingml/2006/table">
            <a:tbl>
              <a:tblPr firstRow="1" bandRow="1">
                <a:tableStyleId>{5C22544A-7EE6-4342-B048-85BDC9FD1C3A}</a:tableStyleId>
              </a:tblPr>
              <a:tblGrid>
                <a:gridCol w="2613279"/>
                <a:gridCol w="1742186"/>
                <a:gridCol w="1742186"/>
                <a:gridCol w="2613279"/>
              </a:tblGrid>
              <a:tr h="370840">
                <a:tc>
                  <a:txBody>
                    <a:bodyPr/>
                    <a:lstStyle/>
                    <a:p>
                      <a:r>
                        <a:rPr sz="1400">
                          <a:solidFill>
                            <a:srgbClr val="FFFFFF"/>
                          </a:solidFill>
                        </a:rPr>
                        <a:t>Benefit Category</a:t>
                      </a:r>
                    </a:p>
                  </a:txBody>
                  <a:tcPr>
                    <a:solidFill>
                      <a:srgbClr val="A01C02"/>
                    </a:solidFill>
                  </a:tcPr>
                </a:tc>
                <a:tc>
                  <a:txBody>
                    <a:bodyPr/>
                    <a:lstStyle/>
                    <a:p>
                      <a:r>
                        <a:rPr sz="1400">
                          <a:solidFill>
                            <a:srgbClr val="FFFFFF"/>
                          </a:solidFill>
                        </a:rPr>
                        <a:t>SOW Target</a:t>
                      </a:r>
                    </a:p>
                  </a:txBody>
                  <a:tcPr>
                    <a:solidFill>
                      <a:srgbClr val="A01C02"/>
                    </a:solidFill>
                  </a:tcPr>
                </a:tc>
                <a:tc>
                  <a:txBody>
                    <a:bodyPr/>
                    <a:lstStyle/>
                    <a:p>
                      <a:r>
                        <a:rPr sz="1400">
                          <a:solidFill>
                            <a:srgbClr val="FFFFFF"/>
                          </a:solidFill>
                        </a:rPr>
                        <a:t>Achieved</a:t>
                      </a:r>
                    </a:p>
                  </a:txBody>
                  <a:tcPr>
                    <a:solidFill>
                      <a:srgbClr val="A01C02"/>
                    </a:solidFill>
                  </a:tcPr>
                </a:tc>
                <a:tc>
                  <a:txBody>
                    <a:bodyPr/>
                    <a:lstStyle/>
                    <a:p>
                      <a:r>
                        <a:rPr sz="1400">
                          <a:solidFill>
                            <a:srgbClr val="FFFFFF"/>
                          </a:solidFill>
                        </a:rPr>
                        <a:t>Business Impact</a:t>
                      </a:r>
                    </a:p>
                  </a:txBody>
                  <a:tcPr>
                    <a:solidFill>
                      <a:srgbClr val="A01C02"/>
                    </a:solidFill>
                  </a:tcPr>
                </a:tc>
              </a:tr>
              <a:tr h="370840">
                <a:tc>
                  <a:txBody>
                    <a:bodyPr/>
                    <a:lstStyle/>
                    <a:p>
                      <a:r>
                        <a:rPr b="1" sz="1100"/>
                        <a:t>Recovery Time</a:t>
                      </a:r>
                    </a:p>
                  </a:txBody>
                  <a:tcPr>
                    <a:solidFill>
                      <a:srgbClr val="E7E6E6"/>
                    </a:solidFill>
                  </a:tcPr>
                </a:tc>
                <a:tc>
                  <a:txBody>
                    <a:bodyPr/>
                    <a:lstStyle/>
                    <a:p>
                      <a:r>
                        <a:rPr sz="1100"/>
                        <a:t>4 hours</a:t>
                      </a:r>
                    </a:p>
                  </a:txBody>
                  <a:tcPr>
                    <a:solidFill>
                      <a:srgbClr val="E7E6E6"/>
                    </a:solidFill>
                  </a:tcPr>
                </a:tc>
                <a:tc>
                  <a:txBody>
                    <a:bodyPr/>
                    <a:lstStyle/>
                    <a:p>
                      <a:r>
                        <a:rPr sz="1100"/>
                        <a:t>12 minutes</a:t>
                      </a:r>
                    </a:p>
                  </a:txBody>
                  <a:tcPr>
                    <a:solidFill>
                      <a:srgbClr val="E7E6E6"/>
                    </a:solidFill>
                  </a:tcPr>
                </a:tc>
                <a:tc>
                  <a:txBody>
                    <a:bodyPr/>
                    <a:lstStyle/>
                    <a:p>
                      <a:r>
                        <a:rPr sz="1100"/>
                        <a:t>95% faster recovery capability</a:t>
                      </a:r>
                    </a:p>
                  </a:txBody>
                  <a:tcPr>
                    <a:solidFill>
                      <a:srgbClr val="E7E6E6"/>
                    </a:solidFill>
                  </a:tcPr>
                </a:tc>
              </a:tr>
              <a:tr h="370840">
                <a:tc>
                  <a:txBody>
                    <a:bodyPr/>
                    <a:lstStyle/>
                    <a:p>
                      <a:r>
                        <a:rPr b="1" sz="1100"/>
                        <a:t>Data Protection</a:t>
                      </a:r>
                    </a:p>
                  </a:txBody>
                  <a:tcPr>
                    <a:solidFill>
                      <a:srgbClr val="E7E6E6"/>
                    </a:solidFill>
                  </a:tcPr>
                </a:tc>
                <a:tc>
                  <a:txBody>
                    <a:bodyPr/>
                    <a:lstStyle/>
                    <a:p>
                      <a:r>
                        <a:rPr sz="1100"/>
                        <a:t>1 hour RPO</a:t>
                      </a:r>
                    </a:p>
                  </a:txBody>
                  <a:tcPr>
                    <a:solidFill>
                      <a:srgbClr val="E7E6E6"/>
                    </a:solidFill>
                  </a:tcPr>
                </a:tc>
                <a:tc>
                  <a:txBody>
                    <a:bodyPr/>
                    <a:lstStyle/>
                    <a:p>
                      <a:r>
                        <a:rPr sz="1100"/>
                        <a:t>45 min RPO</a:t>
                      </a:r>
                    </a:p>
                  </a:txBody>
                  <a:tcPr>
                    <a:solidFill>
                      <a:srgbClr val="E7E6E6"/>
                    </a:solidFill>
                  </a:tcPr>
                </a:tc>
                <a:tc>
                  <a:txBody>
                    <a:bodyPr/>
                    <a:lstStyle/>
                    <a:p>
                      <a:r>
                        <a:rPr sz="1100"/>
                        <a:t>Reduced data loss risk</a:t>
                      </a:r>
                    </a:p>
                  </a:txBody>
                  <a:tcPr>
                    <a:solidFill>
                      <a:srgbClr val="E7E6E6"/>
                    </a:solidFill>
                  </a:tcPr>
                </a:tc>
              </a:tr>
              <a:tr h="370840">
                <a:tc>
                  <a:txBody>
                    <a:bodyPr/>
                    <a:lstStyle/>
                    <a:p>
                      <a:r>
                        <a:rPr b="1" sz="1100"/>
                        <a:t>Compliance</a:t>
                      </a:r>
                    </a:p>
                  </a:txBody>
                  <a:tcPr>
                    <a:solidFill>
                      <a:srgbClr val="E7E6E6"/>
                    </a:solidFill>
                  </a:tcPr>
                </a:tc>
                <a:tc>
                  <a:txBody>
                    <a:bodyPr/>
                    <a:lstStyle/>
                    <a:p>
                      <a:r>
                        <a:rPr sz="1100"/>
                        <a:t>SOC 2 ready</a:t>
                      </a:r>
                    </a:p>
                  </a:txBody>
                  <a:tcPr>
                    <a:solidFill>
                      <a:srgbClr val="E7E6E6"/>
                    </a:solidFill>
                  </a:tcPr>
                </a:tc>
                <a:tc>
                  <a:txBody>
                    <a:bodyPr/>
                    <a:lstStyle/>
                    <a:p>
                      <a:r>
                        <a:rPr sz="1100"/>
                        <a:t>Audit passed</a:t>
                      </a:r>
                    </a:p>
                  </a:txBody>
                  <a:tcPr>
                    <a:solidFill>
                      <a:srgbClr val="E7E6E6"/>
                    </a:solidFill>
                  </a:tcPr>
                </a:tc>
                <a:tc>
                  <a:txBody>
                    <a:bodyPr/>
                    <a:lstStyle/>
                    <a:p>
                      <a:r>
                        <a:rPr sz="1100"/>
                        <a:t>No compliance findings</a:t>
                      </a:r>
                    </a:p>
                  </a:txBody>
                  <a:tcPr>
                    <a:solidFill>
                      <a:srgbClr val="E7E6E6"/>
                    </a:solidFill>
                  </a:tcPr>
                </a:tc>
              </a:tr>
              <a:tr h="370840">
                <a:tc>
                  <a:txBody>
                    <a:bodyPr/>
                    <a:lstStyle/>
                    <a:p>
                      <a:r>
                        <a:rPr b="1" sz="1100"/>
                        <a:t>DR Cost</a:t>
                      </a:r>
                    </a:p>
                  </a:txBody>
                  <a:tcPr>
                    <a:solidFill>
                      <a:srgbClr val="E7E6E6"/>
                    </a:solidFill>
                  </a:tcPr>
                </a:tc>
                <a:tc>
                  <a:txBody>
                    <a:bodyPr/>
                    <a:lstStyle/>
                    <a:p>
                      <a:r>
                        <a:rPr sz="1100"/>
                        <a:t>15% of primary</a:t>
                      </a:r>
                    </a:p>
                  </a:txBody>
                  <a:tcPr>
                    <a:solidFill>
                      <a:srgbClr val="E7E6E6"/>
                    </a:solidFill>
                  </a:tcPr>
                </a:tc>
                <a:tc>
                  <a:txBody>
                    <a:bodyPr/>
                    <a:lstStyle/>
                    <a:p>
                      <a:r>
                        <a:rPr sz="1100"/>
                        <a:t>12% achieved</a:t>
                      </a:r>
                    </a:p>
                  </a:txBody>
                  <a:tcPr>
                    <a:solidFill>
                      <a:srgbClr val="E7E6E6"/>
                    </a:solidFill>
                  </a:tcPr>
                </a:tc>
                <a:tc>
                  <a:txBody>
                    <a:bodyPr/>
                    <a:lstStyle/>
                    <a:p>
                      <a:r>
                        <a:rPr sz="1100"/>
                        <a:t>Lower ongoing DR costs</a:t>
                      </a:r>
                    </a:p>
                  </a:txBody>
                  <a:tcPr>
                    <a:solidFill>
                      <a:srgbClr val="E7E6E6"/>
                    </a:solidFill>
                  </a:tcPr>
                </a:tc>
              </a:tr>
              <a:tr h="370840">
                <a:tc>
                  <a:txBody>
                    <a:bodyPr/>
                    <a:lstStyle/>
                    <a:p>
                      <a:r>
                        <a:rPr b="1" sz="1100"/>
                        <a:t>Team Readiness</a:t>
                      </a:r>
                    </a:p>
                  </a:txBody>
                  <a:tcPr>
                    <a:solidFill>
                      <a:srgbClr val="E7E6E6"/>
                    </a:solidFill>
                  </a:tcPr>
                </a:tc>
                <a:tc>
                  <a:txBody>
                    <a:bodyPr/>
                    <a:lstStyle/>
                    <a:p>
                      <a:r>
                        <a:rPr sz="1100"/>
                        <a:t>Trained team</a:t>
                      </a:r>
                    </a:p>
                  </a:txBody>
                  <a:tcPr>
                    <a:solidFill>
                      <a:srgbClr val="E7E6E6"/>
                    </a:solidFill>
                  </a:tcPr>
                </a:tc>
                <a:tc>
                  <a:txBody>
                    <a:bodyPr/>
                    <a:lstStyle/>
                    <a:p>
                      <a:r>
                        <a:rPr sz="1100"/>
                        <a:t>100% certified</a:t>
                      </a:r>
                    </a:p>
                  </a:txBody>
                  <a:tcPr>
                    <a:solidFill>
                      <a:srgbClr val="E7E6E6"/>
                    </a:solidFill>
                  </a:tcPr>
                </a:tc>
                <a:tc>
                  <a:txBody>
                    <a:bodyPr/>
                    <a:lstStyle/>
                    <a:p>
                      <a:r>
                        <a:rPr sz="1100"/>
                        <a:t>Self-sufficient operations</a:t>
                      </a:r>
                    </a:p>
                  </a:txBody>
                  <a:tcPr>
                    <a:solidFill>
                      <a:srgbClr val="E7E6E6"/>
                    </a:solidFill>
                  </a:tcPr>
                </a:tc>
              </a:tr>
              <a:tr h="370840">
                <a:tc>
                  <a:txBody>
                    <a:bodyPr/>
                    <a:lstStyle/>
                    <a:p>
                      <a:r>
                        <a:rPr b="1" sz="1100"/>
                        <a:t>Test Coverage</a:t>
                      </a:r>
                    </a:p>
                  </a:txBody>
                  <a:tcPr>
                    <a:solidFill>
                      <a:srgbClr val="E7E6E6"/>
                    </a:solidFill>
                  </a:tcPr>
                </a:tc>
                <a:tc>
                  <a:txBody>
                    <a:bodyPr/>
                    <a:lstStyle/>
                    <a:p>
                      <a:r>
                        <a:rPr sz="1100"/>
                        <a:t>Quarterly</a:t>
                      </a:r>
                    </a:p>
                  </a:txBody>
                  <a:tcPr>
                    <a:solidFill>
                      <a:srgbClr val="E7E6E6"/>
                    </a:solidFill>
                  </a:tcPr>
                </a:tc>
                <a:tc>
                  <a:txBody>
                    <a:bodyPr/>
                    <a:lstStyle/>
                    <a:p>
                      <a:r>
                        <a:rPr sz="1100"/>
                        <a:t>Scheduled</a:t>
                      </a:r>
                    </a:p>
                  </a:txBody>
                  <a:tcPr>
                    <a:solidFill>
                      <a:srgbClr val="E7E6E6"/>
                    </a:solidFill>
                  </a:tcPr>
                </a:tc>
                <a:tc>
                  <a:txBody>
                    <a:bodyPr/>
                    <a:lstStyle/>
                    <a:p>
                      <a:r>
                        <a:rPr sz="1100"/>
                        <a:t>Continuous validation plan</a:t>
                      </a:r>
                    </a:p>
                  </a:txBody>
                  <a:tcPr>
                    <a:solidFill>
                      <a:srgbClr val="E7E6E6"/>
                    </a:solidFill>
                  </a:tcPr>
                </a:tc>
              </a:tr>
            </a:tbl>
          </a:graphicData>
        </a:graphic>
      </p:graphicFrame>
      <p:sp>
        <p:nvSpPr>
          <p:cNvPr id="5" name="Text Placeholder 4"/>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6" name="Picture 5" descr="consulting_company_logo.png"/>
          <p:cNvPicPr>
            <a:picLocks noChangeAspect="1"/>
          </p:cNvPicPr>
          <p:nvPr/>
        </p:nvPicPr>
        <p:blipFill>
          <a:blip r:embed="rId3"/>
          <a:stretch>
            <a:fillRect/>
          </a:stretch>
        </p:blipFill>
        <p:spPr>
          <a:xfrm>
            <a:off x="313592" y="4536078"/>
            <a:ext cx="2126273" cy="52969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Lessons Learned &amp; Recommendations</a:t>
            </a:r>
          </a:p>
        </p:txBody>
      </p:sp>
      <p:sp>
        <p:nvSpPr>
          <p:cNvPr id="4" name="Text Placeholder 3"/>
          <p:cNvSpPr>
            <a:spLocks noGrp="1"/>
          </p:cNvSpPr>
          <p:nvPr>
            <p:ph type="body" idx="16" sz="quarter"/>
          </p:nvPr>
        </p:nvSpPr>
        <p:spPr/>
        <p:txBody>
          <a:bodyPr/>
          <a:lstStyle/>
          <a:p>
            <a:pPr/>
            <a:r>
              <a:rPr b="1"/>
              <a:t>What Worked Well</a:t>
            </a:r>
          </a:p>
          <a:p>
            <a:pPr lvl="1"/>
            <a:r>
              <a:t>Early stakeholder alignment on RTO/RPO</a:t>
            </a:r>
          </a:p>
          <a:p>
            <a:pPr lvl="1"/>
            <a:r>
              <a:t>Phased implementation approach</a:t>
            </a:r>
          </a:p>
          <a:p>
            <a:pPr lvl="1"/>
            <a:r>
              <a:t>Infrastructure as Code deployment</a:t>
            </a:r>
          </a:p>
          <a:p>
            <a:pPr lvl="1"/>
            <a:r>
              <a:t>Comprehensive DR testing</a:t>
            </a:r>
          </a:p>
          <a:p>
            <a:pPr lvl="1"/>
            <a:r>
              <a:t>Weekly status communications</a:t>
            </a:r>
          </a:p>
          <a:p>
            <a:pPr/>
            <a:r>
              <a:rPr b="1"/>
              <a:t>Challenges Overcome</a:t>
            </a:r>
          </a:p>
          <a:p>
            <a:pPr lvl="1"/>
            <a:r>
              <a:t>Aurora Global DB setup complexity</a:t>
            </a:r>
          </a:p>
          <a:p>
            <a:pPr lvl="1"/>
            <a:r>
              <a:t>Health check tuning optimization</a:t>
            </a:r>
          </a:p>
          <a:p>
            <a:pPr lvl="1"/>
            <a:r>
              <a:t>Cross-region IAM permissions</a:t>
            </a:r>
          </a:p>
          <a:p>
            <a:pPr lvl="1"/>
            <a:r>
              <a:t>Runbook procedure validation</a:t>
            </a:r>
          </a:p>
          <a:p>
            <a:pPr lvl="1"/>
            <a:r>
              <a:t>Team DR training scheduling</a:t>
            </a:r>
          </a:p>
        </p:txBody>
      </p:sp>
      <p:sp>
        <p:nvSpPr>
          <p:cNvPr id="5" name="Text Placeholder 4"/>
          <p:cNvSpPr>
            <a:spLocks noGrp="1"/>
          </p:cNvSpPr>
          <p:nvPr>
            <p:ph type="body" idx="17" sz="quarter"/>
          </p:nvPr>
        </p:nvSpPr>
        <p:spPr/>
        <p:txBody>
          <a:bodyPr/>
          <a:lstStyle/>
          <a:p>
            <a:pPr/>
            <a:r>
              <a:rPr b="1"/>
              <a:t>Recommendations</a:t>
            </a:r>
          </a:p>
          <a:p>
            <a:pPr lvl="1"/>
            <a:r>
              <a:t>Expand DR to additional apps</a:t>
            </a:r>
          </a:p>
          <a:p>
            <a:pPr lvl="1"/>
            <a:r>
              <a:t>Implement automated DR testing</a:t>
            </a:r>
          </a:p>
          <a:p>
            <a:pPr lvl="1"/>
            <a:r>
              <a:t>Consider warm standby upgrade</a:t>
            </a:r>
          </a:p>
          <a:p>
            <a:pPr lvl="1"/>
            <a:r>
              <a:t>Quarterly DR drill schedule</a:t>
            </a:r>
          </a:p>
          <a:p>
            <a:pPr lvl="1"/>
            <a:r>
              <a:t>Annual architecture review</a:t>
            </a:r>
          </a:p>
        </p:txBody>
      </p:sp>
      <p:sp>
        <p:nvSpPr>
          <p:cNvPr id="6" name="Text Placeholder 5"/>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Support Transition</a:t>
            </a:r>
          </a:p>
        </p:txBody>
      </p:sp>
      <p:sp>
        <p:nvSpPr>
          <p:cNvPr id="4" name="Text Placeholder 3"/>
          <p:cNvSpPr>
            <a:spLocks noGrp="1"/>
          </p:cNvSpPr>
          <p:nvPr>
            <p:ph type="body" idx="16" sz="quarter"/>
          </p:nvPr>
        </p:nvSpPr>
        <p:spPr/>
        <p:txBody>
          <a:bodyPr/>
          <a:lstStyle/>
          <a:p>
            <a:pPr/>
            <a:r>
              <a:rPr b="1"/>
              <a:t>Hypercare Complete (30 days)</a:t>
            </a:r>
          </a:p>
          <a:p>
            <a:pPr lvl="1"/>
            <a:r>
              <a:t>Daily health checks completed</a:t>
            </a:r>
          </a:p>
          <a:p>
            <a:pPr lvl="1"/>
            <a:r>
              <a:t>2 P3 issues resolved</a:t>
            </a:r>
          </a:p>
          <a:p>
            <a:pPr lvl="1"/>
            <a:r>
              <a:t>Knowledge transfer sessions done</a:t>
            </a:r>
          </a:p>
          <a:p>
            <a:pPr lvl="1"/>
            <a:r>
              <a:t>Runbook procedures validated</a:t>
            </a:r>
          </a:p>
          <a:p>
            <a:pPr lvl="1"/>
            <a:r>
              <a:t>Team fully trained and ready</a:t>
            </a:r>
          </a:p>
          <a:p>
            <a:pPr/>
            <a:r>
              <a:rPr b="1"/>
              <a:t>Steady State Support</a:t>
            </a:r>
          </a:p>
          <a:p>
            <a:pPr lvl="1"/>
            <a:r>
              <a:t>Monthly DR health reviews</a:t>
            </a:r>
          </a:p>
          <a:p>
            <a:pPr lvl="1"/>
            <a:r>
              <a:t>Quarterly DR testing schedule</a:t>
            </a:r>
          </a:p>
          <a:p>
            <a:pPr lvl="1"/>
            <a:r>
              <a:t>Automated monitoring active</a:t>
            </a:r>
          </a:p>
          <a:p>
            <a:pPr lvl="1"/>
            <a:r>
              <a:t>Runbook updates as needed</a:t>
            </a:r>
          </a:p>
          <a:p>
            <a:pPr lvl="1"/>
            <a:r>
              <a:t>Cost optimization reviews</a:t>
            </a:r>
          </a:p>
        </p:txBody>
      </p:sp>
      <p:sp>
        <p:nvSpPr>
          <p:cNvPr id="5" name="Text Placeholder 4"/>
          <p:cNvSpPr>
            <a:spLocks noGrp="1"/>
          </p:cNvSpPr>
          <p:nvPr>
            <p:ph type="body" idx="17" sz="quarter"/>
          </p:nvPr>
        </p:nvSpPr>
        <p:spPr/>
        <p:txBody>
          <a:bodyPr/>
          <a:lstStyle/>
          <a:p>
            <a:pPr/>
            <a:r>
              <a:rPr b="1"/>
              <a:t>Escalation Path</a:t>
            </a:r>
          </a:p>
          <a:p>
            <a:pPr lvl="1"/>
            <a:r>
              <a:t>L1: Internal IT Help Desk</a:t>
            </a:r>
          </a:p>
          <a:p>
            <a:pPr lvl="1"/>
            <a:r>
              <a:t>L2: IT Operations Team</a:t>
            </a:r>
          </a:p>
          <a:p>
            <a:pPr lvl="1"/>
            <a:r>
              <a:t>L3: Vendor Support (optional)</a:t>
            </a:r>
          </a:p>
          <a:p>
            <a:pPr lvl="1"/>
            <a:r>
              <a:t>Emergency: On-call rotation</a:t>
            </a:r>
          </a:p>
          <a:p>
            <a:pPr lvl="1"/>
            <a:r>
              <a:t>Executive: Account Manager</a:t>
            </a:r>
          </a:p>
        </p:txBody>
      </p:sp>
      <p:sp>
        <p:nvSpPr>
          <p:cNvPr id="6" name="Text Placeholder 5"/>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7" name="Picture 6" descr="consulting_company_logo.png"/>
          <p:cNvPicPr>
            <a:picLocks noChangeAspect="1"/>
          </p:cNvPicPr>
          <p:nvPr/>
        </p:nvPicPr>
        <p:blipFill>
          <a:blip r:embed="rId3"/>
          <a:stretch>
            <a:fillRect/>
          </a:stretch>
        </p:blipFill>
        <p:spPr>
          <a:xfrm>
            <a:off x="313592" y="4536078"/>
            <a:ext cx="2121877" cy="5296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0" sz="quarter"/>
          </p:nvPr>
        </p:nvSpPr>
        <p:spPr/>
        <p:txBody>
          <a:bodyPr/>
          <a:lstStyle/>
          <a:p>
            <a:pPr algn="l"/>
            <a:r>
              <a:t>Acknowledgments &amp; Next Steps</a:t>
            </a:r>
          </a:p>
        </p:txBody>
      </p:sp>
      <p:sp>
        <p:nvSpPr>
          <p:cNvPr id="4" name="Text Placeholder 3"/>
          <p:cNvSpPr>
            <a:spLocks noGrp="1"/>
          </p:cNvSpPr>
          <p:nvPr>
            <p:ph type="body" idx="14" sz="quarter"/>
          </p:nvPr>
        </p:nvSpPr>
        <p:spPr/>
        <p:txBody>
          <a:bodyPr/>
          <a:lstStyle/>
          <a:p>
            <a:pPr/>
            <a:r>
              <a:rPr b="1"/>
              <a:t>Client Team:</a:t>
            </a:r>
            <a:r>
              <a:t> Executive sponsor, IT operations, business stakeholders, DR testing team</a:t>
            </a:r>
          </a:p>
          <a:p>
            <a:pPr/>
            <a:r>
              <a:rPr b="1"/>
              <a:t>Vendor Team:</a:t>
            </a:r>
            <a:r>
              <a:t> Project manager, solutions architect, DR engineer, support team</a:t>
            </a:r>
          </a:p>
          <a:p>
            <a:pPr/>
            <a:r>
              <a:rPr b="1"/>
              <a:t>Special Recognition:</a:t>
            </a:r>
            <a:r>
              <a:t> IT Operations team for DR testing dedication and runbook validation</a:t>
            </a:r>
          </a:p>
          <a:p>
            <a:pPr/>
            <a:r>
              <a:rPr b="1"/>
              <a:t>This Week:</a:t>
            </a:r>
            <a:r>
              <a:t> Final documentation handover, archive project artifacts</a:t>
            </a:r>
          </a:p>
          <a:p>
            <a:pPr/>
            <a:r>
              <a:rPr b="1"/>
              <a:t>Next 30 Days:</a:t>
            </a:r>
            <a:r>
              <a:t> First quarterly DR test scheduled, optimize monitoring alerts</a:t>
            </a:r>
          </a:p>
          <a:p>
            <a:pPr/>
            <a:r>
              <a:rPr b="1"/>
              <a:t>Next Quarter:</a:t>
            </a:r>
            <a:r>
              <a:t> Phase 2 planning workshop for additional applications</a:t>
            </a:r>
          </a:p>
        </p:txBody>
      </p:sp>
      <p:sp>
        <p:nvSpPr>
          <p:cNvPr id="5" name="Text Placeholder 4"/>
          <p:cNvSpPr>
            <a:spLocks noGrp="1"/>
          </p:cNvSpPr>
          <p:nvPr>
            <p:ph type="body" idx="15" sz="quarter"/>
          </p:nvPr>
        </p:nvSpPr>
        <p:spPr/>
        <p:txBody>
          <a:bodyPr/>
          <a:lstStyle/>
          <a:p>
            <a:pPr algn="r">
              <a:buNone/>
            </a:pPr>
            <a:r>
              <a:rPr sz="1100">
                <a:solidFill>
                  <a:srgbClr val="CC0000"/>
                </a:solidFill>
              </a:rPr>
              <a:t>AWS Disaster Recovery Web Application</a:t>
            </a:r>
          </a:p>
        </p:txBody>
      </p:sp>
      <p:pic>
        <p:nvPicPr>
          <p:cNvPr id="6" name="Picture 5" descr="consulting_company_logo.png"/>
          <p:cNvPicPr>
            <a:picLocks noChangeAspect="1"/>
          </p:cNvPicPr>
          <p:nvPr/>
        </p:nvPicPr>
        <p:blipFill>
          <a:blip r:embed="rId3"/>
          <a:stretch>
            <a:fillRect/>
          </a:stretch>
        </p:blipFill>
        <p:spPr>
          <a:xfrm>
            <a:off x="313593" y="4536078"/>
            <a:ext cx="2143858" cy="52969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2" sz="quarter"/>
          </p:nvPr>
        </p:nvSpPr>
        <p:spPr/>
        <p:txBody>
          <a:bodyPr/>
          <a:lstStyle/>
          <a:p>
            <a:r>
              <a:t>Thank You</a:t>
            </a:r>
          </a:p>
        </p:txBody>
      </p:sp>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p:txBody>
      </p:sp>
      <p:pic>
        <p:nvPicPr>
          <p:cNvPr id="7" name="Picture 6" descr="client_logo.png"/>
          <p:cNvPicPr>
            <a:picLocks noChangeAspect="1"/>
          </p:cNvPicPr>
          <p:nvPr/>
        </p:nvPicPr>
        <p:blipFill>
          <a:blip r:embed="rId3"/>
          <a:stretch>
            <a:fillRect/>
          </a:stretch>
        </p:blipFill>
        <p:spPr>
          <a:xfrm>
            <a:off x="2180492" y="171206"/>
            <a:ext cx="3978520" cy="1314694"/>
          </a:xfrm>
          <a:prstGeom prst="rect">
            <a:avLst/>
          </a:prstGeom>
        </p:spPr>
      </p:pic>
      <p:pic>
        <p:nvPicPr>
          <p:cNvPr id="8" name="Picture 7" descr="consulting_company_logo.png"/>
          <p:cNvPicPr>
            <a:picLocks noChangeAspect="1"/>
          </p:cNvPicPr>
          <p:nvPr/>
        </p:nvPicPr>
        <p:blipFill>
          <a:blip r:embed="rId4"/>
          <a:stretch>
            <a:fillRect/>
          </a:stretch>
        </p:blipFill>
        <p:spPr>
          <a:xfrm>
            <a:off x="313592" y="4536078"/>
            <a:ext cx="2164114" cy="529698"/>
          </a:xfrm>
          <a:prstGeom prst="rect">
            <a:avLst/>
          </a:prstGeom>
        </p:spPr>
      </p:pic>
      <p:pic>
        <p:nvPicPr>
          <p:cNvPr id="9" name="Picture 8" descr="eo-framework-logo-real.png"/>
          <p:cNvPicPr>
            <a:picLocks noChangeAspect="1"/>
          </p:cNvPicPr>
          <p:nvPr/>
        </p:nvPicPr>
        <p:blipFill>
          <a:blip r:embed="rId5"/>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441</TotalTime>
  <Words>42</Words>
  <Application>Microsoft Office PowerPoint</Application>
  <PresentationFormat>On-screen Show (16:9)</PresentationFormat>
  <Paragraphs>21</Paragraphs>
  <Slides>7</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86</cp:revision>
  <dcterms:created xsi:type="dcterms:W3CDTF">2025-11-01T21:16:10Z</dcterms:created>
  <dcterms:modified xsi:type="dcterms:W3CDTF">2025-11-27T20:15:42Z</dcterms:modified>
</cp:coreProperties>
</file>