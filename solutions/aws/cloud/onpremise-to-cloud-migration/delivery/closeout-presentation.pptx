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AWS Cloud Migration project. This initiative has transformed [Client Name]'s IT infrastructure from aging on-premise systems to a modern, scalable AWS cloud environment.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- 9 Months:**</a:t>
            </a:r>
          </a:p>
          <a:p>
            <a:r>
              <a:t>- Executed exactly as planned in the Statement of Work</a:t>
            </a:r>
          </a:p>
          <a:p>
            <a:r>
              <a:t>- Phase 1 (Assessment): Months 1-2 - Application discovery and wave planning complete</a:t>
            </a:r>
          </a:p>
          <a:p>
            <a:r>
              <a:t>- Phase 2 (Migration): Months 3-7 - Three migration waves executed successfully</a:t>
            </a:r>
          </a:p>
          <a:p>
            <a:r>
              <a:t>- Phase 3 (Optimization): Months 8-9 - Right-sizing and knowledge transfer complete</a:t>
            </a:r>
          </a:p>
          <a:p>
            <a:r>
              <a:t>- All major milestones achieved on or ahead of schedule</a:t>
            </a:r>
          </a:p>
          <a:p/>
          <a:p>
            <a:r>
              <a:t>**Budget - $342,500:**</a:t>
            </a:r>
          </a:p>
          <a:p>
            <a:r>
              <a:t>- Professional Services: $292,500 (1,950 hours as quoted)</a:t>
            </a:r>
          </a:p>
          <a:p>
            <a:r>
              <a:t>- AWS Cloud Services: $32,000 (Year 1 run rate established)</a:t>
            </a:r>
          </a:p>
          <a:p>
            <a:r>
              <a:t>- Software/Tools: $18,000 (migration tools and licenses)</a:t>
            </a:r>
          </a:p>
          <a:p>
            <a:r>
              <a:t>- Actual spend: $340,200 - $2,300 under budget</a:t>
            </a:r>
          </a:p>
          <a:p>
            <a:r>
              <a:t>- AWS credits applied: $25,000 (MAP program credits)</a:t>
            </a:r>
          </a:p>
          <a:p/>
          <a:p>
            <a:r>
              <a:t>**Go-Live - Month 7:**</a:t>
            </a:r>
          </a:p>
          <a:p>
            <a:r>
              <a:t>- All production applications cutover complete</a:t>
            </a:r>
          </a:p>
          <a:p>
            <a:r>
              <a:t>- DNS and network routing updated</a:t>
            </a:r>
          </a:p>
          <a:p>
            <a:r>
              <a:t>- User acceptance testing passed</a:t>
            </a:r>
          </a:p>
          <a:p>
            <a:r>
              <a:t>- Zero critical incidents during cutover weekend</a:t>
            </a:r>
          </a:p>
          <a:p/>
          <a:p>
            <a:r>
              <a:t>**Applications Migrated - 8 Applications:**</a:t>
            </a:r>
          </a:p>
          <a:p>
            <a:r>
              <a:t>- Wave 1: 2 non-critical applications (pattern validation)</a:t>
            </a:r>
          </a:p>
          <a:p>
            <a:r>
              <a:t>- Wave 2: 4 business-critical applications</a:t>
            </a:r>
          </a:p>
          <a:p>
            <a:r>
              <a:t>- Wave 3: 2 complex/legacy applications</a:t>
            </a:r>
          </a:p>
          <a:p>
            <a:r>
              <a:t>- All applications meeting or exceeding performance baselines</a:t>
            </a:r>
          </a:p>
          <a:p/>
          <a:p>
            <a:r>
              <a:t>**Data Migrated - 750 GB:**</a:t>
            </a:r>
          </a:p>
          <a:p>
            <a:r>
              <a:t>- Database migrations: 450 GB via AWS DMS</a:t>
            </a:r>
          </a:p>
          <a:p>
            <a:r>
              <a:t>- File storage: 300 GB via AWS DataSync</a:t>
            </a:r>
          </a:p>
          <a:p>
            <a:r>
              <a:t>- Zero data loss across all migrations</a:t>
            </a:r>
          </a:p>
          <a:p>
            <a:r>
              <a:t>- Data validation checksums verified</a:t>
            </a:r>
          </a:p>
          <a:p/>
          <a:p>
            <a:r>
              <a:t>**Cost Savings - 35% Reduction:**</a:t>
            </a:r>
          </a:p>
          <a:p>
            <a:r>
              <a:t>- Target: 30-40% infrastructure cost reduction</a:t>
            </a:r>
          </a:p>
          <a:p>
            <a:r>
              <a:t>- Achieved: 35% reduction vs on-premise baseline</a:t>
            </a:r>
          </a:p>
          <a:p>
            <a:r>
              <a:t>- Annual savings: $127,500 projected</a:t>
            </a:r>
          </a:p>
          <a:p>
            <a:r>
              <a:t>- Eliminated hardware refresh: $180,000 avoided</a:t>
            </a:r>
          </a:p>
          <a:p/>
          <a:p>
            <a:r>
              <a:t>**ROI - 18 Month Payback:**</a:t>
            </a:r>
          </a:p>
          <a:p>
            <a:r>
              <a:t>- Total investment: $342,500</a:t>
            </a:r>
          </a:p>
          <a:p>
            <a:r>
              <a:t>- Annual savings: $127,500</a:t>
            </a:r>
          </a:p>
          <a:p>
            <a:r>
              <a:t>- Additional benefits: Agility, scalability, DR</a:t>
            </a:r>
          </a:p>
          <a:p>
            <a:r>
              <a:t>- Business case validated</a:t>
            </a:r>
          </a:p>
          <a:p/>
          <a:p>
            <a:r>
              <a:t>*Transition to Next Slide:*</a:t>
            </a:r>
          </a:p>
          <a:p>
            <a:r>
              <a:t>"Let me walk you through the architecture we deployed..."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AWS infrastructure we deployed. Let me walk through the key components..."</a:t>
            </a:r>
          </a:p>
          <a:p/>
          <a:p>
            <a:r>
              <a:t>**AWS Landing Zone (Control Tower):**</a:t>
            </a:r>
          </a:p>
          <a:p>
            <a:r>
              <a:t>- Multi-account structure for security isolation</a:t>
            </a:r>
          </a:p>
          <a:p>
            <a:r>
              <a:t>  - Master account for billing and governance</a:t>
            </a:r>
          </a:p>
          <a:p>
            <a:r>
              <a:t>  - Production account for business workloads</a:t>
            </a:r>
          </a:p>
          <a:p>
            <a:r>
              <a:t>  - Development account for testing</a:t>
            </a:r>
          </a:p>
          <a:p>
            <a:r>
              <a:t>  - Shared Services account for common tools</a:t>
            </a:r>
          </a:p>
          <a:p>
            <a:r>
              <a:t>- AWS Organizations with Service Control Policies</a:t>
            </a:r>
          </a:p>
          <a:p>
            <a:r>
              <a:t>- Centralized CloudTrail logging to S3</a:t>
            </a:r>
          </a:p>
          <a:p>
            <a:r>
              <a:t>- AWS Config rules for compliance monitoring</a:t>
            </a:r>
          </a:p>
          <a:p/>
          <a:p>
            <a:r>
              <a:t>**Core Infrastructure:**</a:t>
            </a:r>
          </a:p>
          <a:p>
            <a:r>
              <a:t>- VPC design: 10.0.0.0/16 CIDR in us-east-1</a:t>
            </a:r>
          </a:p>
          <a:p>
            <a:r>
              <a:t>- 6 subnets across 2 Availability Zones:</a:t>
            </a:r>
          </a:p>
          <a:p>
            <a:r>
              <a:t>  - 2 public subnets for ALB and bastion</a:t>
            </a:r>
          </a:p>
          <a:p>
            <a:r>
              <a:t>  - 2 private subnets for application tier</a:t>
            </a:r>
          </a:p>
          <a:p>
            <a:r>
              <a:t>  - 2 database subnets for RDS (isolated)</a:t>
            </a:r>
          </a:p>
          <a:p>
            <a:r>
              <a:t>- NAT Gateway for outbound internet access</a:t>
            </a:r>
          </a:p>
          <a:p>
            <a:r>
              <a:t>- Direct Connect 1Gbps for hybrid connectivity</a:t>
            </a:r>
          </a:p>
          <a:p/>
          <a:p>
            <a:r>
              <a:t>**Compute (EC2):**</a:t>
            </a:r>
          </a:p>
          <a:p>
            <a:r>
              <a:t>- 32 EC2 instances across 8 applications</a:t>
            </a:r>
          </a:p>
          <a:p>
            <a:r>
              <a:t>- Mix of t3.medium and m5.large based on workload</a:t>
            </a:r>
          </a:p>
          <a:p>
            <a:r>
              <a:t>- Auto Scaling Groups for variable workloads</a:t>
            </a:r>
          </a:p>
          <a:p>
            <a:r>
              <a:t>- Spot instances for non-critical batch processing</a:t>
            </a:r>
          </a:p>
          <a:p/>
          <a:p>
            <a:r>
              <a:t>**Database (RDS):**</a:t>
            </a:r>
          </a:p>
          <a:p>
            <a:r>
              <a:t>- 4 RDS instances (MySQL, PostgreSQL)</a:t>
            </a:r>
          </a:p>
          <a:p>
            <a:r>
              <a:t>- Multi-AZ deployment for high availability</a:t>
            </a:r>
          </a:p>
          <a:p>
            <a:r>
              <a:t>- Automated backups with 7-day retention</a:t>
            </a:r>
          </a:p>
          <a:p>
            <a:r>
              <a:t>- Read replicas for reporting workloads</a:t>
            </a:r>
          </a:p>
          <a:p/>
          <a:p>
            <a:r>
              <a:t>**Storage (S3):**</a:t>
            </a:r>
          </a:p>
          <a:p>
            <a:r>
              <a:t>- Application data buckets with versioning</a:t>
            </a:r>
          </a:p>
          <a:p>
            <a:r>
              <a:t>- Intelligent Tiering for cost optimization</a:t>
            </a:r>
          </a:p>
          <a:p>
            <a:r>
              <a:t>- Cross-region replication for critical data</a:t>
            </a:r>
          </a:p>
          <a:p/>
          <a:p>
            <a:r>
              <a:t>**Operations &amp; Security:**</a:t>
            </a:r>
          </a:p>
          <a:p>
            <a:r>
              <a:t>- CloudWatch dashboards and alarms</a:t>
            </a:r>
          </a:p>
          <a:p>
            <a:r>
              <a:t>- Security Hub with CIS benchmarks enabled</a:t>
            </a:r>
          </a:p>
          <a:p>
            <a:r>
              <a:t>- GuardDuty threat detection active</a:t>
            </a:r>
          </a:p>
          <a:p>
            <a:r>
              <a:t>- AWS Backup for centralized backup management</a:t>
            </a:r>
          </a:p>
          <a:p/>
          <a:p>
            <a:r>
              <a:t>*Transition:*</a:t>
            </a:r>
          </a:p>
          <a:p>
            <a:r>
              <a:t>"Now let me show you the complete deliverables package..."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Dive:*</a:t>
            </a:r>
          </a:p>
          <a:p/>
          <a:p>
            <a:r>
              <a:t>**1. Application Assessment (app-assessment.xlsx):**</a:t>
            </a:r>
          </a:p>
          <a:p>
            <a:r>
              <a:t>- Complete inventory of 25 applications assessed</a:t>
            </a:r>
          </a:p>
          <a:p>
            <a:r>
              <a:t>- 6Rs strategy assignment for each:</a:t>
            </a:r>
          </a:p>
          <a:p>
            <a:r>
              <a:t>  - 8 applications: Rehost (lift-and-shift)</a:t>
            </a:r>
          </a:p>
          <a:p>
            <a:r>
              <a:t>  - 3 applications: Replatform (migrate to RDS)</a:t>
            </a:r>
          </a:p>
          <a:p>
            <a:r>
              <a:t>  - 5 applications: Retain (hybrid connectivity)</a:t>
            </a:r>
          </a:p>
          <a:p>
            <a:r>
              <a:t>  - 9 applications: Retire (decommissioned)</a:t>
            </a:r>
          </a:p>
          <a:p>
            <a:r>
              <a:t>- Dependency mapping and wave sequencing</a:t>
            </a:r>
          </a:p>
          <a:p>
            <a:r>
              <a:t>- Business criticality and risk scoring</a:t>
            </a:r>
          </a:p>
          <a:p/>
          <a:p>
            <a:r>
              <a:t>**2. Landing Zone Design (detailed-design.docx):**</a:t>
            </a:r>
          </a:p>
          <a:p>
            <a:r>
              <a:t>- AWS Control Tower architecture</a:t>
            </a:r>
          </a:p>
          <a:p>
            <a:r>
              <a:t>- Account structure and OU design</a:t>
            </a:r>
          </a:p>
          <a:p>
            <a:r>
              <a:t>- Network architecture with VPC design</a:t>
            </a:r>
          </a:p>
          <a:p>
            <a:r>
              <a:t>- Security controls and compliance mapping</a:t>
            </a:r>
          </a:p>
          <a:p>
            <a:r>
              <a:t>- Cost management and tagging strategy</a:t>
            </a:r>
          </a:p>
          <a:p>
            <a:r>
              <a:t>- Reviewed and signed off by [IT Director]</a:t>
            </a:r>
          </a:p>
          <a:p/>
          <a:p>
            <a:r>
              <a:t>**3. Implementation Guide:**</a:t>
            </a:r>
          </a:p>
          <a:p>
            <a:r>
              <a:t>- CloudFormation deployment procedures</a:t>
            </a:r>
          </a:p>
          <a:p>
            <a:r>
              <a:t>- Environment-specific configurations</a:t>
            </a:r>
          </a:p>
          <a:p>
            <a:r>
              <a:t>- Validation and rollback procedures</a:t>
            </a:r>
          </a:p>
          <a:p>
            <a:r>
              <a:t>- Troubleshooting common issues</a:t>
            </a:r>
          </a:p>
          <a:p/>
          <a:p>
            <a:r>
              <a:t>**4. Project Plan (project-plan.xlsx):**</a:t>
            </a:r>
          </a:p>
          <a:p>
            <a:r>
              <a:t>- Four worksheets:</a:t>
            </a:r>
          </a:p>
          <a:p>
            <a:r>
              <a:t>  1. Project Timeline - 32 tasks across 9 months</a:t>
            </a:r>
          </a:p>
          <a:p>
            <a:r>
              <a:t>  2. Milestones - 12 major milestones tracked</a:t>
            </a:r>
          </a:p>
          <a:p>
            <a:r>
              <a:t>  3. RACI Matrix - 25 activities with clear ownership</a:t>
            </a:r>
          </a:p>
          <a:p>
            <a:r>
              <a:t>  4. Communications Plan - Stakeholder meetings defined</a:t>
            </a:r>
          </a:p>
          <a:p>
            <a:r>
              <a:t>- All milestones achieved on schedule</a:t>
            </a:r>
          </a:p>
          <a:p/>
          <a:p>
            <a:r>
              <a:t>**5. Test Plan &amp; Results:**</a:t>
            </a:r>
          </a:p>
          <a:p>
            <a:r>
              <a:t>- Migration validation test cases</a:t>
            </a:r>
          </a:p>
          <a:p>
            <a:r>
              <a:t>- Performance baseline comparisons</a:t>
            </a:r>
          </a:p>
          <a:p>
            <a:r>
              <a:t>- Security validation results</a:t>
            </a:r>
          </a:p>
          <a:p>
            <a:r>
              <a:t>- UAT sign-off documentation</a:t>
            </a:r>
          </a:p>
          <a:p/>
          <a:p>
            <a:r>
              <a:t>**6. CloudFormation Templates:**</a:t>
            </a:r>
          </a:p>
          <a:p>
            <a:r>
              <a:t>- Complete Infrastructure as Code package</a:t>
            </a:r>
          </a:p>
          <a:p>
            <a:r>
              <a:t>- Modular design for reusability</a:t>
            </a:r>
          </a:p>
          <a:p>
            <a:r>
              <a:t>- Templates for each account type</a:t>
            </a:r>
          </a:p>
          <a:p>
            <a:r>
              <a:t>- Tested and validated across environments</a:t>
            </a:r>
          </a:p>
          <a:p/>
          <a:p>
            <a:r>
              <a:t>**7. Operations Runbook:**</a:t>
            </a:r>
          </a:p>
          <a:p>
            <a:r>
              <a:t>- Daily operational procedures</a:t>
            </a:r>
          </a:p>
          <a:p>
            <a:r>
              <a:t>- Monitoring and alerting responses</a:t>
            </a:r>
          </a:p>
          <a:p>
            <a:r>
              <a:t>- Common troubleshooting guides</a:t>
            </a:r>
          </a:p>
          <a:p>
            <a:r>
              <a:t>- Escalation procedures</a:t>
            </a:r>
          </a:p>
          <a:p/>
          <a:p>
            <a:r>
              <a:t>**8. Training Materials:**</a:t>
            </a:r>
          </a:p>
          <a:p>
            <a:r>
              <a:t>- AWS Operations Guide (PDF)</a:t>
            </a:r>
          </a:p>
          <a:p>
            <a:r>
              <a:t>- Video tutorials (5 recordings, 2 hours total)</a:t>
            </a:r>
          </a:p>
          <a:p>
            <a:r>
              <a:t>- Hands-on lab guides</a:t>
            </a:r>
          </a:p>
          <a:p>
            <a:r>
              <a:t>- Quick reference cards</a:t>
            </a:r>
          </a:p>
          <a:p/>
          <a:p>
            <a:r>
              <a:t>*Transition:*</a:t>
            </a:r>
          </a:p>
          <a:p>
            <a:r>
              <a:t>"Let's look at how the solution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**Migration Metrics - Detailed Breakdown:**</a:t>
            </a:r>
          </a:p>
          <a:p/>
          <a:p>
            <a:r>
              <a:t>*Applications Migrated: 8 of 8*</a:t>
            </a:r>
          </a:p>
          <a:p>
            <a:r>
              <a:t>- Wave 1 (Month 3-4): Internal Portal, Document Management</a:t>
            </a:r>
          </a:p>
          <a:p>
            <a:r>
              <a:t>- Wave 2 (Month 4-5): CRM, ERP, HR System, Email Archive</a:t>
            </a:r>
          </a:p>
          <a:p>
            <a:r>
              <a:t>- Wave 3 (Month 6-7): Legacy Reporting, Custom Manufacturing App</a:t>
            </a:r>
          </a:p>
          <a:p>
            <a:r>
              <a:t>- All applications validated against acceptance criteria</a:t>
            </a:r>
          </a:p>
          <a:p/>
          <a:p>
            <a:r>
              <a:t>*Data Loss: Zero*</a:t>
            </a:r>
          </a:p>
          <a:p>
            <a:r>
              <a:t>- Database migrations via AWS DMS with continuous replication</a:t>
            </a:r>
          </a:p>
          <a:p>
            <a:r>
              <a:t>- Checksum validation for all file migrations</a:t>
            </a:r>
          </a:p>
          <a:p>
            <a:r>
              <a:t>- Data integrity verified pre and post cutover</a:t>
            </a:r>
          </a:p>
          <a:p>
            <a:r>
              <a:t>- Audit trail maintained for compliance</a:t>
            </a:r>
          </a:p>
          <a:p/>
          <a:p>
            <a:r>
              <a:t>*Cutover Downtime: 4 Hours Average*</a:t>
            </a:r>
          </a:p>
          <a:p>
            <a:r>
              <a:t>- Target: 4-8 hours per application</a:t>
            </a:r>
          </a:p>
          <a:p>
            <a:r>
              <a:t>- Achieved: 4 hours average</a:t>
            </a:r>
          </a:p>
          <a:p>
            <a:r>
              <a:t>- Best: 2 hours (Document Management)</a:t>
            </a:r>
          </a:p>
          <a:p>
            <a:r>
              <a:t>- Longest: 6 hours (Legacy Reporting - expected)</a:t>
            </a:r>
          </a:p>
          <a:p>
            <a:r>
              <a:t>- Business impact: Minimal (weekend cutovers)</a:t>
            </a:r>
          </a:p>
          <a:p/>
          <a:p>
            <a:r>
              <a:t>*Rollback Events: Zero*</a:t>
            </a:r>
          </a:p>
          <a:p>
            <a:r>
              <a:t>- All migrations proceeded successfully</a:t>
            </a:r>
          </a:p>
          <a:p>
            <a:r>
              <a:t>- Rollback procedures tested but not required</a:t>
            </a:r>
          </a:p>
          <a:p>
            <a:r>
              <a:t>- Confidence built through thorough testing</a:t>
            </a:r>
          </a:p>
          <a:p/>
          <a:p>
            <a:r>
              <a:t>**Performance Metrics - Improvements:**</a:t>
            </a:r>
          </a:p>
          <a:p/>
          <a:p>
            <a:r>
              <a:t>*Application Response: 15% Faster*</a:t>
            </a:r>
          </a:p>
          <a:p>
            <a:r>
              <a:t>- Measured: Average page load time</a:t>
            </a:r>
          </a:p>
          <a:p>
            <a:r>
              <a:t>- On-premise: 2.3 seconds</a:t>
            </a:r>
          </a:p>
          <a:p>
            <a:r>
              <a:t>- AWS: 1.95 seconds</a:t>
            </a:r>
          </a:p>
          <a:p>
            <a:r>
              <a:t>- Improvement: 15% faster</a:t>
            </a:r>
          </a:p>
          <a:p>
            <a:r>
              <a:t>- Factors: SSD storage, optimized networking</a:t>
            </a:r>
          </a:p>
          <a:p/>
          <a:p>
            <a:r>
              <a:t>*Database Queries: 20% Improved*</a:t>
            </a:r>
          </a:p>
          <a:p>
            <a:r>
              <a:t>- RDS optimized storage with IOPS provisioning</a:t>
            </a:r>
          </a:p>
          <a:p>
            <a:r>
              <a:t>- Multi-AZ provides read capacity</a:t>
            </a:r>
          </a:p>
          <a:p>
            <a:r>
              <a:t>- Query cache enabled</a:t>
            </a:r>
          </a:p>
          <a:p>
            <a:r>
              <a:t>- Index optimization during migration</a:t>
            </a:r>
          </a:p>
          <a:p/>
          <a:p>
            <a:r>
              <a:t>*Availability: 99.95%*</a:t>
            </a:r>
          </a:p>
          <a:p>
            <a:r>
              <a:t>- Target: 99.9% availability</a:t>
            </a:r>
          </a:p>
          <a:p>
            <a:r>
              <a:t>- Achieved: 99.95% (45 minutes downtime in 30 days)</a:t>
            </a:r>
          </a:p>
          <a:p>
            <a:r>
              <a:t>- Downtime: Planned maintenance only</a:t>
            </a:r>
          </a:p>
          <a:p>
            <a:r>
              <a:t>- No unplanned outages</a:t>
            </a:r>
          </a:p>
          <a:p/>
          <a:p>
            <a:r>
              <a:t>*Cost per Transaction: 30% Reduced*</a:t>
            </a:r>
          </a:p>
          <a:p>
            <a:r>
              <a:t>- Right-sizing based on actual utilization</a:t>
            </a:r>
          </a:p>
          <a:p>
            <a:r>
              <a:t>- Reserved Instances for predictable workloads</a:t>
            </a:r>
          </a:p>
          <a:p>
            <a:r>
              <a:t>- Spot instances for batch processing</a:t>
            </a:r>
          </a:p>
          <a:p>
            <a:r>
              <a:t>- S3 Intelligent Tiering for storage</a:t>
            </a:r>
          </a:p>
          <a:p/>
          <a:p>
            <a:r>
              <a:t>*User Satisfaction: 4.5/5.0*</a:t>
            </a:r>
          </a:p>
          <a:p>
            <a:r>
              <a:t>- Survey conducted with 150 end users</a:t>
            </a:r>
          </a:p>
          <a:p>
            <a:r>
              <a:t>- 92% reported no negative impact</a:t>
            </a:r>
          </a:p>
          <a:p>
            <a:r>
              <a:t>- 45% reported improved performance</a:t>
            </a:r>
          </a:p>
          <a:p>
            <a:r>
              <a:t>- 8% noted minor workflow changes</a:t>
            </a:r>
          </a:p>
          <a:p/>
          <a:p>
            <a:r>
              <a:t>*Transition:*</a:t>
            </a:r>
          </a:p>
          <a:p>
            <a:r>
              <a:t>"These performance improvements translate directly into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Discussion:*</a:t>
            </a:r>
          </a:p>
          <a:p/>
          <a:p>
            <a:r>
              <a:t>**Infrastructure Cost Reduction - 35% Achieved:**</a:t>
            </a:r>
          </a:p>
          <a:p/>
          <a:p>
            <a:r>
              <a:t>*Before (On-Premise):*</a:t>
            </a:r>
          </a:p>
          <a:p>
            <a:r>
              <a:t>- Annual infrastructure costs: $365,000</a:t>
            </a:r>
          </a:p>
          <a:p>
            <a:r>
              <a:t>- Includes: Hardware, maintenance, datacenter, power</a:t>
            </a:r>
          </a:p>
          <a:p>
            <a:r>
              <a:t>- Hardware refresh cycle: $60,000/year amortized</a:t>
            </a:r>
          </a:p>
          <a:p>
            <a:r>
              <a:t>- Capacity planning required 6-12 months lead time</a:t>
            </a:r>
          </a:p>
          <a:p/>
          <a:p>
            <a:r>
              <a:t>*After (AWS):*</a:t>
            </a:r>
          </a:p>
          <a:p>
            <a:r>
              <a:t>- Annual cloud costs: $237,000 (projected)</a:t>
            </a:r>
          </a:p>
          <a:p>
            <a:r>
              <a:t>- Pay-as-you-go model</a:t>
            </a:r>
          </a:p>
          <a:p>
            <a:r>
              <a:t>- No hardware ownership</a:t>
            </a:r>
          </a:p>
          <a:p>
            <a:r>
              <a:t>- Instant capacity adjustments</a:t>
            </a:r>
          </a:p>
          <a:p/>
          <a:p>
            <a:r>
              <a:t>*Savings Breakdown:*</a:t>
            </a:r>
          </a:p>
          <a:p>
            <a:r>
              <a:t>| Category | On-Prem | AWS | Savings |</a:t>
            </a:r>
          </a:p>
          <a:p>
            <a:r>
              <a:t>|----------|---------|-----|---------|</a:t>
            </a:r>
          </a:p>
          <a:p>
            <a:r>
              <a:t>| Compute | $150,000 | $98,000 | 35% |</a:t>
            </a:r>
          </a:p>
          <a:p>
            <a:r>
              <a:t>| Storage | $60,000 | $38,000 | 37% |</a:t>
            </a:r>
          </a:p>
          <a:p>
            <a:r>
              <a:t>| Network | $45,000 | $32,000 | 29% |</a:t>
            </a:r>
          </a:p>
          <a:p>
            <a:r>
              <a:t>| Support | $110,000 | $69,000 | 37% |</a:t>
            </a:r>
          </a:p>
          <a:p>
            <a:r>
              <a:t>| **Total** | **$365,000** | **$237,000** | **35%** |</a:t>
            </a:r>
          </a:p>
          <a:p/>
          <a:p>
            <a:r>
              <a:t>**Hardware Refresh Avoided - $180,000:**</a:t>
            </a:r>
          </a:p>
          <a:p>
            <a:r>
              <a:t>- Server refresh planned for 2025: $120,000</a:t>
            </a:r>
          </a:p>
          <a:p>
            <a:r>
              <a:t>- Storage array upgrade: $40,000</a:t>
            </a:r>
          </a:p>
          <a:p>
            <a:r>
              <a:t>- Network equipment: $20,000</a:t>
            </a:r>
          </a:p>
          <a:p>
            <a:r>
              <a:t>- Now eliminated from capital planning</a:t>
            </a:r>
          </a:p>
          <a:p/>
          <a:p>
            <a:r>
              <a:t>**Provisioning Time - 15 Minutes:**</a:t>
            </a:r>
          </a:p>
          <a:p>
            <a:r>
              <a:t>- On-premise: 4-6 weeks for new server</a:t>
            </a:r>
          </a:p>
          <a:p>
            <a:r>
              <a:t>- AWS: 15 minutes with CloudFormation</a:t>
            </a:r>
          </a:p>
          <a:p>
            <a:r>
              <a:t>- Impact: Faster project delivery</a:t>
            </a:r>
          </a:p>
          <a:p>
            <a:r>
              <a:t>- Example: Dev environment spun up in hours vs weeks</a:t>
            </a:r>
          </a:p>
          <a:p/>
          <a:p>
            <a:r>
              <a:t>**Scalability - Auto-Scaling Implemented:**</a:t>
            </a:r>
          </a:p>
          <a:p>
            <a:r>
              <a:t>- Auto Scaling Groups configured for all apps</a:t>
            </a:r>
          </a:p>
          <a:p>
            <a:r>
              <a:t>- Scale-out triggers at 70% CPU utilization</a:t>
            </a:r>
          </a:p>
          <a:p>
            <a:r>
              <a:t>- Scale-in during off-hours (cost savings)</a:t>
            </a:r>
          </a:p>
          <a:p>
            <a:r>
              <a:t>- Tested: Handled 3x normal load during testing</a:t>
            </a:r>
          </a:p>
          <a:p/>
          <a:p>
            <a:r>
              <a:t>**Business Continuity - 99.95% Achieved:**</a:t>
            </a:r>
          </a:p>
          <a:p>
            <a:r>
              <a:t>- Multi-AZ deployment across 2 Availability Zones</a:t>
            </a:r>
          </a:p>
          <a:p>
            <a:r>
              <a:t>- Automated failover for RDS databases</a:t>
            </a:r>
          </a:p>
          <a:p>
            <a:r>
              <a:t>- S3 cross-region replication for critical data</a:t>
            </a:r>
          </a:p>
          <a:p>
            <a:r>
              <a:t>- DR capability within single region</a:t>
            </a:r>
          </a:p>
          <a:p/>
          <a:p>
            <a:r>
              <a:t>**IT Focus - 40% Time Freed:**</a:t>
            </a:r>
          </a:p>
          <a:p>
            <a:r>
              <a:t>- Before: 60% time on infrastructure maintenance</a:t>
            </a:r>
          </a:p>
          <a:p>
            <a:r>
              <a:t>- After: 20% time on cloud operations</a:t>
            </a:r>
          </a:p>
          <a:p>
            <a:r>
              <a:t>- Freed capacity: Strategic projects, innovation</a:t>
            </a:r>
          </a:p>
          <a:p>
            <a:r>
              <a:t>- Example: New mobile app project now underway</a:t>
            </a:r>
          </a:p>
          <a:p/>
          <a:p>
            <a:r>
              <a:t>*Transition:*</a:t>
            </a:r>
          </a:p>
          <a:p>
            <a:r>
              <a:t>"We learned valuable lessons that will help future cloud initiatives..."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Early Application Discovery (Months 1-2):*</a:t>
            </a:r>
          </a:p>
          <a:p>
            <a:r>
              <a:t>- AWS Application Discovery Service identified all dependencies</a:t>
            </a:r>
          </a:p>
          <a:p>
            <a:r>
              <a:t>- Prevented migration surprises</a:t>
            </a:r>
          </a:p>
          <a:p>
            <a:r>
              <a:t>- Accurate wave sequencing</a:t>
            </a:r>
          </a:p>
          <a:p>
            <a:r>
              <a:t>- Recommendation: Always invest in thorough discovery</a:t>
            </a:r>
          </a:p>
          <a:p/>
          <a:p>
            <a:r>
              <a:t>*2. Wave-Based Migration Approach:*</a:t>
            </a:r>
          </a:p>
          <a:p>
            <a:r>
              <a:t>- Wave 1: Non-critical apps built confidence</a:t>
            </a:r>
          </a:p>
          <a:p>
            <a:r>
              <a:t>- Lessons applied to subsequent waves</a:t>
            </a:r>
          </a:p>
          <a:p>
            <a:r>
              <a:t>- Risk contained to each wave</a:t>
            </a:r>
          </a:p>
          <a:p>
            <a:r>
              <a:t>- Recommendation: Never big-bang migrations</a:t>
            </a:r>
          </a:p>
          <a:p/>
          <a:p>
            <a:r>
              <a:t>*3. Automated Migration Tooling:*</a:t>
            </a:r>
          </a:p>
          <a:p>
            <a:r>
              <a:t>- AWS MGN for server migrations</a:t>
            </a:r>
          </a:p>
          <a:p>
            <a:r>
              <a:t>- AWS DMS for database migrations</a:t>
            </a:r>
          </a:p>
          <a:p>
            <a:r>
              <a:t>- Custom scripts for validation</a:t>
            </a:r>
          </a:p>
          <a:p>
            <a:r>
              <a:t>- Time savings: 40% vs manual approach</a:t>
            </a:r>
          </a:p>
          <a:p/>
          <a:p>
            <a:r>
              <a:t>*4. Strong Executive Sponsorship:*</a:t>
            </a:r>
          </a:p>
          <a:p>
            <a:r>
              <a:t>- [Sponsor Name] championed the project</a:t>
            </a:r>
          </a:p>
          <a:p>
            <a:r>
              <a:t>- Removed organizational blockers</a:t>
            </a:r>
          </a:p>
          <a:p>
            <a:r>
              <a:t>- Secured budget and resources</a:t>
            </a:r>
          </a:p>
          <a:p>
            <a:r>
              <a:t>- Recommendation: Essential for success</a:t>
            </a:r>
          </a:p>
          <a:p/>
          <a:p>
            <a:r>
              <a:t>**Challenges Overcome - Details:**</a:t>
            </a:r>
          </a:p>
          <a:p/>
          <a:p>
            <a:r>
              <a:t>*1. Legacy Application Dependencies:*</a:t>
            </a:r>
          </a:p>
          <a:p>
            <a:r>
              <a:t>- Challenge: Undocumented dependencies</a:t>
            </a:r>
          </a:p>
          <a:p>
            <a:r>
              <a:t>- Impact: Week 2 delay in Wave 3</a:t>
            </a:r>
          </a:p>
          <a:p>
            <a:r>
              <a:t>- Resolution: Additional discovery and stakeholder interviews</a:t>
            </a:r>
          </a:p>
          <a:p>
            <a:r>
              <a:t>- Prevention: Include legacy SMEs in discovery</a:t>
            </a:r>
          </a:p>
          <a:p/>
          <a:p>
            <a:r>
              <a:t>*2. Database Cutover Coordination:*</a:t>
            </a:r>
          </a:p>
          <a:p>
            <a:r>
              <a:t>- Challenge: Multi-database transactions</a:t>
            </a:r>
          </a:p>
          <a:p>
            <a:r>
              <a:t>- Impact: Extended cutover window by 2 hours</a:t>
            </a:r>
          </a:p>
          <a:p>
            <a:r>
              <a:t>- Resolution: Transaction freeze window</a:t>
            </a:r>
          </a:p>
          <a:p>
            <a:r>
              <a:t>- Prevention: Earlier rehearsal cutovers</a:t>
            </a:r>
          </a:p>
          <a:p/>
          <a:p>
            <a:r>
              <a:t>*3. Network Bandwidth Saturation:*</a:t>
            </a:r>
          </a:p>
          <a:p>
            <a:r>
              <a:t>- Challenge: Data transfer during business hours</a:t>
            </a:r>
          </a:p>
          <a:p>
            <a:r>
              <a:t>- Impact: Slow application performance</a:t>
            </a:r>
          </a:p>
          <a:p>
            <a:r>
              <a:t>- Resolution: Throttled transfers, off-hours migration</a:t>
            </a:r>
          </a:p>
          <a:p>
            <a:r>
              <a:t>- Prevention: Dedicated migration bandwidth</a:t>
            </a:r>
          </a:p>
          <a:p/>
          <a:p>
            <a:r>
              <a:t>**Recommendations for Future:**</a:t>
            </a:r>
          </a:p>
          <a:p/>
          <a:p>
            <a:r>
              <a:t>*1. Cloud-Native Development:*</a:t>
            </a:r>
          </a:p>
          <a:p>
            <a:r>
              <a:t>- New applications should be cloud-native</a:t>
            </a:r>
          </a:p>
          <a:p>
            <a:r>
              <a:t>- Consider containers and serverless</a:t>
            </a:r>
          </a:p>
          <a:p>
            <a:r>
              <a:t>- AWS CDK for infrastructure as code</a:t>
            </a:r>
          </a:p>
          <a:p>
            <a:r>
              <a:t>- Training investment: $15,000 estimated</a:t>
            </a:r>
          </a:p>
          <a:p/>
          <a:p>
            <a:r>
              <a:t>*2. FinOps Practices:*</a:t>
            </a:r>
          </a:p>
          <a:p>
            <a:r>
              <a:t>- Implement AWS Cost Explorer dashboards</a:t>
            </a:r>
          </a:p>
          <a:p>
            <a:r>
              <a:t>- Monthly cost review meetings</a:t>
            </a:r>
          </a:p>
          <a:p>
            <a:r>
              <a:t>- Chargeback/showback model</a:t>
            </a:r>
          </a:p>
          <a:p>
            <a:r>
              <a:t>- Target: 10% additional savings</a:t>
            </a:r>
          </a:p>
          <a:p/>
          <a:p>
            <a:r>
              <a:t>*3. Reserved Instance Coverage:*</a:t>
            </a:r>
          </a:p>
          <a:p>
            <a:r>
              <a:t>- Current: 40% coverage</a:t>
            </a:r>
          </a:p>
          <a:p>
            <a:r>
              <a:t>- Recommended: 70% coverage for stable workloads</a:t>
            </a:r>
          </a:p>
          <a:p>
            <a:r>
              <a:t>- Potential savings: $35,000/year additional</a:t>
            </a:r>
          </a:p>
          <a:p>
            <a:r>
              <a:t>- 1-year term recommended initially</a:t>
            </a:r>
          </a:p>
          <a:p/>
          <a:p>
            <a:r>
              <a:t>*Transition:*</a:t>
            </a:r>
          </a:p>
          <a:p>
            <a:r>
              <a:t>"Let me walk you through the support transition..."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 Post-Migration):**</a:t>
            </a:r>
          </a:p>
          <a:p/>
          <a:p>
            <a:r>
              <a:t>*Daily Activities Completed:*</a:t>
            </a:r>
          </a:p>
          <a:p>
            <a:r>
              <a:t>- Morning standup calls (9am) - first 2 weeks</a:t>
            </a:r>
          </a:p>
          <a:p>
            <a:r>
              <a:t>- CloudWatch dashboard review</a:t>
            </a:r>
          </a:p>
          <a:p>
            <a:r>
              <a:t>- Application health check</a:t>
            </a:r>
          </a:p>
          <a:p>
            <a:r>
              <a:t>- User feedback collection</a:t>
            </a:r>
          </a:p>
          <a:p>
            <a:r>
              <a:t>- Issue triage and resolution</a:t>
            </a:r>
          </a:p>
          <a:p/>
          <a:p>
            <a:r>
              <a:t>*Issues Resolved During Hypercare:*</a:t>
            </a:r>
          </a:p>
          <a:p/>
          <a:p>
            <a:r>
              <a:t>Issue #1 (P3) - Day 3:</a:t>
            </a:r>
          </a:p>
          <a:p>
            <a:r>
              <a:t>- Problem: S3 bucket permissions too restrictive</a:t>
            </a:r>
          </a:p>
          <a:p>
            <a:r>
              <a:t>- Impact: Document upload failures</a:t>
            </a:r>
          </a:p>
          <a:p>
            <a:r>
              <a:t>- Resolution: IAM policy adjustment</a:t>
            </a:r>
          </a:p>
          <a:p>
            <a:r>
              <a:t>- Prevention: Additional testing of IAM policies</a:t>
            </a:r>
          </a:p>
          <a:p/>
          <a:p>
            <a:r>
              <a:t>Issue #2 (P3) - Day 8:</a:t>
            </a:r>
          </a:p>
          <a:p>
            <a:r>
              <a:t>- Problem: RDS storage scaling needed</a:t>
            </a:r>
          </a:p>
          <a:p>
            <a:r>
              <a:t>- Impact: Database performance warning</a:t>
            </a:r>
          </a:p>
          <a:p>
            <a:r>
              <a:t>- Resolution: Enabled storage autoscaling</a:t>
            </a:r>
          </a:p>
          <a:p>
            <a:r>
              <a:t>- Recommendation: Enable for all RDS instances</a:t>
            </a:r>
          </a:p>
          <a:p/>
          <a:p>
            <a:r>
              <a:t>Issue #3 (P3) - Day 15:</a:t>
            </a:r>
          </a:p>
          <a:p>
            <a:r>
              <a:t>- Problem: CloudWatch alarm threshold too sensitive</a:t>
            </a:r>
          </a:p>
          <a:p>
            <a:r>
              <a:t>- Impact: False positive alerts</a:t>
            </a:r>
          </a:p>
          <a:p>
            <a:r>
              <a:t>- Resolution: Adjusted thresholds</a:t>
            </a:r>
          </a:p>
          <a:p>
            <a:r>
              <a:t>- Prevention: Document optimal thresholds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AWS Console Overview | Month 8 | 8 ops staff | 2 hours | Yes |</a:t>
            </a:r>
          </a:p>
          <a:p>
            <a:r>
              <a:t>| CloudWatch Monitoring | Month 8 | 8 ops staff | 1.5 hours | Yes |</a:t>
            </a:r>
          </a:p>
          <a:p>
            <a:r>
              <a:t>| Cost Management | Month 8 | 6 staff | 1 hour | Yes |</a:t>
            </a:r>
          </a:p>
          <a:p>
            <a:r>
              <a:t>| Security Operations | Month 9 | 4 security | 1.5 hours | Yes |</a:t>
            </a:r>
          </a:p>
          <a:p>
            <a:r>
              <a:t>| Incident Response | Month 9 | 8 ops staff | 1 hour | Yes |</a:t>
            </a:r>
          </a:p>
          <a:p/>
          <a:p>
            <a:r>
              <a:t>**Steady State Support Model:**</a:t>
            </a:r>
          </a:p>
          <a:p/>
          <a:p>
            <a:r>
              <a:t>*What Client Team Handles (L1/L2):*</a:t>
            </a:r>
          </a:p>
          <a:p>
            <a:r>
              <a:t>- Day-to-day monitoring via CloudWatch</a:t>
            </a:r>
          </a:p>
          <a:p>
            <a:r>
              <a:t>- Basic troubleshooting (per runbook)</a:t>
            </a:r>
          </a:p>
          <a:p>
            <a:r>
              <a:t>- Cost optimization reviews</a:t>
            </a:r>
          </a:p>
          <a:p>
            <a:r>
              <a:t>- User support and access requests</a:t>
            </a:r>
          </a:p>
          <a:p>
            <a:r>
              <a:t>- Routine maintenance windows</a:t>
            </a:r>
          </a:p>
          <a:p/>
          <a:p>
            <a:r>
              <a:t>*When to Escalate to AWS (L3):*</a:t>
            </a:r>
          </a:p>
          <a:p>
            <a:r>
              <a:t>- Service-level issues with AWS services</a:t>
            </a:r>
          </a:p>
          <a:p>
            <a:r>
              <a:t>- Architecture guidance requests</a:t>
            </a:r>
          </a:p>
          <a:p>
            <a:r>
              <a:t>- Performance optimization consulting</a:t>
            </a:r>
          </a:p>
          <a:p>
            <a:r>
              <a:t>- New service evaluation</a:t>
            </a:r>
          </a:p>
          <a:p>
            <a:r>
              <a:t>- Enterprise Support benefits</a:t>
            </a:r>
          </a:p>
          <a:p/>
          <a:p>
            <a:r>
              <a:t>*Transition:*</a:t>
            </a:r>
          </a:p>
          <a:p>
            <a:r>
              <a:t>"Let me acknowledge the team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the cloud initiative from day one</a:t>
            </a:r>
          </a:p>
          <a:p>
            <a:r>
              <a:t>- Secured budget and organizational commitment</a:t>
            </a:r>
          </a:p>
          <a:p>
            <a:r>
              <a:t>- Removed blockers and accelerated decisions</a:t>
            </a:r>
          </a:p>
          <a:p>
            <a:r>
              <a:t>- Visible leadership during migration weekends</a:t>
            </a:r>
          </a:p>
          <a:p/>
          <a:p>
            <a:r>
              <a:t>*IT Director - [Name]:*</a:t>
            </a:r>
          </a:p>
          <a:p>
            <a:r>
              <a:t>- Technical leadership throughout project</a:t>
            </a:r>
          </a:p>
          <a:p>
            <a:r>
              <a:t>- AWS account setup and governance</a:t>
            </a:r>
          </a:p>
          <a:p>
            <a:r>
              <a:t>- Knowledge transfer coordination</a:t>
            </a:r>
          </a:p>
          <a:p>
            <a:r>
              <a:t>- Future cloud strategy development</a:t>
            </a:r>
          </a:p>
          <a:p/>
          <a:p>
            <a:r>
              <a:t>*Operations Team:*</a:t>
            </a:r>
          </a:p>
          <a:p>
            <a:r>
              <a:t>- Embraced AWS training and certifications</a:t>
            </a:r>
          </a:p>
          <a:p>
            <a:r>
              <a:t>- Participated in all migration events</a:t>
            </a:r>
          </a:p>
          <a:p>
            <a:r>
              <a:t>- Validated runbook procedures</a:t>
            </a:r>
          </a:p>
          <a:p>
            <a:r>
              <a:t>- Ready for cloud-first operations</a:t>
            </a:r>
          </a:p>
          <a:p/>
          <a:p>
            <a:r>
              <a:t>**Vendor Team Recognition:**</a:t>
            </a:r>
          </a:p>
          <a:p/>
          <a:p>
            <a:r>
              <a:t>*Project Manager - [Name]:*</a:t>
            </a:r>
          </a:p>
          <a:p>
            <a:r>
              <a:t>- Overall delivery accountability</a:t>
            </a:r>
          </a:p>
          <a:p>
            <a:r>
              <a:t>- Stakeholder communication</a:t>
            </a:r>
          </a:p>
          <a:p>
            <a:r>
              <a:t>- Risk management and mitigation</a:t>
            </a:r>
          </a:p>
          <a:p>
            <a:r>
              <a:t>- On-time, on-budget delivery</a:t>
            </a:r>
          </a:p>
          <a:p/>
          <a:p>
            <a:r>
              <a:t>*Solutions Architect - [Name]:*</a:t>
            </a:r>
          </a:p>
          <a:p>
            <a:r>
              <a:t>- AWS architecture design</a:t>
            </a:r>
          </a:p>
          <a:p>
            <a:r>
              <a:t>- Landing zone implementation</a:t>
            </a:r>
          </a:p>
          <a:p>
            <a:r>
              <a:t>- Security baseline configuration</a:t>
            </a:r>
          </a:p>
          <a:p>
            <a:r>
              <a:t>- Best practices adoption</a:t>
            </a:r>
          </a:p>
          <a:p/>
          <a:p>
            <a:r>
              <a:t>*Migration Engineers - [Names]:*</a:t>
            </a:r>
          </a:p>
          <a:p>
            <a:r>
              <a:t>- Application migration execution</a:t>
            </a:r>
          </a:p>
          <a:p>
            <a:r>
              <a:t>- Database migration (zero data loss)</a:t>
            </a:r>
          </a:p>
          <a:p>
            <a:r>
              <a:t>- Automation development</a:t>
            </a:r>
          </a:p>
          <a:p>
            <a:r>
              <a:t>- Testing and validation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files | PM | [Date] |</a:t>
            </a:r>
          </a:p>
          <a:p>
            <a:r>
              <a:t>| Close project tracking | PM | [Date] |</a:t>
            </a:r>
          </a:p>
          <a:p>
            <a:r>
              <a:t>| Decommission staging | Ops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Monthly architecture review | Cloud Team | [Date+30] |</a:t>
            </a:r>
          </a:p>
          <a:p>
            <a:r>
              <a:t>| Implement Reserved Instances | Cloud Team | [Date+30] |</a:t>
            </a:r>
          </a:p>
          <a:p>
            <a:r>
              <a:t>| Cost optimization review | Finance | [Date+30] |</a:t>
            </a:r>
          </a:p>
          <a:p>
            <a:r>
              <a:t>| Security assessment | Security | [Date+30] |</a:t>
            </a:r>
          </a:p>
          <a:p/>
          <a:p>
            <a:r>
              <a:t>**Quarterly Planning:**</a:t>
            </a:r>
          </a:p>
          <a:p>
            <a:r>
              <a:t>- Containerization evaluation for new apps</a:t>
            </a:r>
          </a:p>
          <a:p>
            <a:r>
              <a:t>- Cloud-native development training</a:t>
            </a:r>
          </a:p>
          <a:p>
            <a:r>
              <a:t>- Expanded AWS service adoption</a:t>
            </a:r>
          </a:p>
          <a:p>
            <a:r>
              <a:t>- Multi-region DR consideration</a:t>
            </a:r>
          </a:p>
          <a:p/>
          <a:p>
            <a:r>
              <a:t>*Transition:*</a:t>
            </a:r>
          </a:p>
          <a:p>
            <a:r>
              <a:t>"Thank you for your partnership. Questions?"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migration journey. We've successfully transformed [Client Name]'s infrastructure from aging on-premise systems to a modern, scalable AWS cloud environment. The 35% cost savings, improved performance, and operational agility position you well for future growth.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Questions:**</a:t>
            </a:r>
          </a:p>
          <a:p/>
          <a:p>
            <a:r>
              <a:t>*Q: What are the ongoing AWS costs?*</a:t>
            </a:r>
          </a:p>
          <a:p>
            <a:r>
              <a:t>A: Current run rate is approximately $20,000/month:</a:t>
            </a:r>
          </a:p>
          <a:p>
            <a:r>
              <a:t>- EC2 instances: $11,000</a:t>
            </a:r>
          </a:p>
          <a:p>
            <a:r>
              <a:t>- RDS databases: $4,500</a:t>
            </a:r>
          </a:p>
          <a:p>
            <a:r>
              <a:t>- S3 storage: $1,500</a:t>
            </a:r>
          </a:p>
          <a:p>
            <a:r>
              <a:t>- Network/other: $3,000</a:t>
            </a:r>
          </a:p>
          <a:p>
            <a:r>
              <a:t>This will decrease further with Reserved Instances (estimated $4,000/month savings).</a:t>
            </a:r>
          </a:p>
          <a:p/>
          <a:p>
            <a:r>
              <a:t>*Q: How do we handle capacity increases?*</a:t>
            </a:r>
          </a:p>
          <a:p>
            <a:r>
              <a:t>A: Auto Scaling is configured for all applications. Simply adjust the max capacity in Auto Scaling Groups via CloudFormation or console. For significant growth, contact AWS Enterprise Support for capacity planning.</a:t>
            </a:r>
          </a:p>
          <a:p/>
          <a:p>
            <a:r>
              <a:t>*Q: What about new applications?*</a:t>
            </a:r>
          </a:p>
          <a:p>
            <a:r>
              <a:t>A: New applications should follow cloud-native patterns:</a:t>
            </a:r>
          </a:p>
          <a:p>
            <a:r>
              <a:t>- Use managed services where possible</a:t>
            </a:r>
          </a:p>
          <a:p>
            <a:r>
              <a:t>- Deploy via CloudFormation/CDK</a:t>
            </a:r>
          </a:p>
          <a:p>
            <a:r>
              <a:t>- Consider containers for microservices</a:t>
            </a:r>
          </a:p>
          <a:p>
            <a:r>
              <a:t>- Leverage serverless for event-driven workloads</a:t>
            </a:r>
          </a:p>
          <a:p/>
          <a:p>
            <a:r>
              <a:t>*Q: When should we consider containers?*</a:t>
            </a:r>
          </a:p>
          <a:p>
            <a:r>
              <a:t>A: Recommended timeline:</a:t>
            </a:r>
          </a:p>
          <a:p>
            <a:r>
              <a:t>- Month 1-3: Container training and skills</a:t>
            </a:r>
          </a:p>
          <a:p>
            <a:r>
              <a:t>- Month 4-6: Pilot containerization of one app</a:t>
            </a:r>
          </a:p>
          <a:p>
            <a:r>
              <a:t>- Month 7+: Expand based on pilot results</a:t>
            </a:r>
          </a:p>
          <a:p>
            <a:r>
              <a:t>- Estimated investment: $25,000 for pilot</a:t>
            </a:r>
          </a:p>
          <a:p/>
          <a:p>
            <a:r>
              <a:t>*Q: What about multi-region DR?*</a:t>
            </a:r>
          </a:p>
          <a:p>
            <a:r>
              <a:t>A: Current architecture provides:</a:t>
            </a:r>
          </a:p>
          <a:p>
            <a:r>
              <a:t>- Multi-AZ availability (99.95%+)</a:t>
            </a:r>
          </a:p>
          <a:p>
            <a:r>
              <a:t>- Automated failover within region</a:t>
            </a:r>
          </a:p>
          <a:p>
            <a:r>
              <a:t>- S3 cross-region replication active</a:t>
            </a:r>
          </a:p>
          <a:p>
            <a:r>
              <a:t>For true multi-region DR, estimate $50,000 additional investment and 4-week implementation.</a:t>
            </a:r>
          </a:p>
          <a:p/>
          <a:p>
            <a:r>
              <a:t>**Follow-Up Commitments:**</a:t>
            </a:r>
          </a:p>
          <a:p>
            <a:r>
              <a:t>- [ ] Send final presentation to all attendees</a:t>
            </a:r>
          </a:p>
          <a:p>
            <a:r>
              <a:t>- [ ] Distribute project summary document</a:t>
            </a:r>
          </a:p>
          <a:p>
            <a:r>
              <a:t>- [ ] Schedule first monthly architecture review</a:t>
            </a:r>
          </a:p>
          <a:p>
            <a:r>
              <a:t>- [ ] Provide Reserved Instance recommendations</a:t>
            </a:r>
          </a:p>
          <a:p>
            <a:r>
              <a:t>- [ ] Send training materials reminder</a:t>
            </a:r>
          </a:p>
          <a:p/>
          <a:p>
            <a:r>
              <a:t>**Final Closing:**</a:t>
            </a:r>
          </a:p>
          <a:p>
            <a:r>
              <a:t>"Thank you again for your trust in our team. This migration establishes the foundation for continued innovation and growth. Please reach out anytime.</a:t>
            </a:r>
          </a:p>
          <a:p/>
          <a:p>
            <a:r>
              <a:t>Have a great [rest of your day/afternoon]."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On-Premise to Cloud Migration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9 months, completed on schedule</a:t>
            </a:r>
          </a:p>
          <a:p>
            <a:pPr/>
            <a:r>
              <a:rPr b="1"/>
              <a:t>Budget:</a:t>
            </a:r>
            <a:r>
              <a:t> $342,500 delivered within budget</a:t>
            </a:r>
          </a:p>
          <a:p>
            <a:pPr/>
            <a:r>
              <a:rPr b="1"/>
              <a:t>Go-Live Date:</a:t>
            </a:r>
            <a:r>
              <a:t> Month 7 as planned</a:t>
            </a:r>
          </a:p>
          <a:p>
            <a:pPr/>
            <a:r>
              <a:rPr b="1"/>
              <a:t>Applications Migrated:</a:t>
            </a:r>
            <a:r>
              <a:t> 8 apps across 3 waves</a:t>
            </a:r>
          </a:p>
          <a:p>
            <a:pPr/>
            <a:r>
              <a:rPr b="1"/>
              <a:t>Data Migrated:</a:t>
            </a:r>
            <a:r>
              <a:t> 750 GB with zero data loss</a:t>
            </a:r>
          </a:p>
          <a:p>
            <a:pPr/>
            <a:r>
              <a:rPr b="1"/>
              <a:t>Cost Savings:</a:t>
            </a:r>
            <a:r>
              <a:t> 35% infrastructure reduction</a:t>
            </a:r>
          </a:p>
          <a:p>
            <a:pPr/>
            <a:r>
              <a:rPr b="1"/>
              <a:t>ROI:</a:t>
            </a:r>
            <a:r>
              <a:t> Positive within 18 months projected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AWS Landing Zone</a:t>
            </a:r>
          </a:p>
          <a:p>
            <a:pPr lvl="1"/>
            <a:r>
              <a:t>Control Tower multi-account</a:t>
            </a:r>
          </a:p>
          <a:p>
            <a:pPr lvl="1"/>
            <a:r>
              <a:t>Centralized logging and audit</a:t>
            </a:r>
          </a:p>
          <a:p>
            <a:pPr lvl="1"/>
            <a:r>
              <a:t>Security baseline deployed</a:t>
            </a:r>
          </a:p>
          <a:p>
            <a:pPr/>
            <a:r>
              <a:rPr b="1"/>
              <a:t>Core Infrastructure</a:t>
            </a:r>
          </a:p>
          <a:p>
            <a:pPr lvl="1"/>
            <a:r>
              <a:t>VPC with multi-AZ design</a:t>
            </a:r>
          </a:p>
          <a:p>
            <a:pPr lvl="1"/>
            <a:r>
              <a:t>EC2 instances right-sized</a:t>
            </a:r>
          </a:p>
          <a:p>
            <a:pPr lvl="1"/>
            <a:r>
              <a:t>RDS managed databases</a:t>
            </a:r>
          </a:p>
          <a:p>
            <a:pPr/>
            <a:r>
              <a:rPr b="1"/>
              <a:t>Operations &amp; Security</a:t>
            </a:r>
          </a:p>
          <a:p>
            <a:pPr lvl="1"/>
            <a:r>
              <a:t>CloudWatch monitoring</a:t>
            </a:r>
          </a:p>
          <a:p>
            <a:pPr lvl="1"/>
            <a:r>
              <a:t>Security Hub compliance</a:t>
            </a:r>
          </a:p>
          <a:p>
            <a:pPr lvl="1"/>
            <a:r>
              <a:t>Automated backups enabled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6Rs analysis and wave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`/delivery/app-assessment.xlsx`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Landing Zone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Multi-account architecture and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CloudFormation and deployment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 matrix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validation and UAT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CloudFormation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components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`/delivery/scripts/cloudformation/`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Day-2 procedures and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operations guides and videos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Metrics</a:t>
            </a:r>
          </a:p>
          <a:p>
            <a:pPr lvl="1"/>
            <a:r>
              <a:t>Applications Migrated: 8 of 8 (100%)</a:t>
            </a:r>
          </a:p>
          <a:p>
            <a:pPr lvl="1"/>
            <a:r>
              <a:t>Data Loss: Zero bytes confirmed</a:t>
            </a:r>
          </a:p>
          <a:p>
            <a:pPr lvl="1"/>
            <a:r>
              <a:t>Cutover Downtime: 4 hours average</a:t>
            </a:r>
          </a:p>
          <a:p>
            <a:pPr lvl="1"/>
            <a:r>
              <a:t>Rollback Events: Zero required</a:t>
            </a:r>
          </a:p>
          <a:p>
            <a:pPr lvl="1"/>
            <a:r>
              <a:t>Post-Migration Issues: 3 (all P3)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Application Response: 15% faster</a:t>
            </a:r>
          </a:p>
          <a:p>
            <a:pPr lvl="1"/>
            <a:r>
              <a:t>Database Queries: 20% improved</a:t>
            </a:r>
          </a:p>
          <a:p>
            <a:pPr lvl="1"/>
            <a:r>
              <a:t>Availability: 99.95% achieved</a:t>
            </a:r>
          </a:p>
          <a:p>
            <a:pPr lvl="1"/>
            <a:r>
              <a:t>Cost per Transaction: 30% reduced</a:t>
            </a:r>
          </a:p>
          <a:p>
            <a:pPr lvl="1"/>
            <a:r>
              <a:t>User Satisfaction: 4.5/5.0 rating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Costs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30-40%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$127,500 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Hardware Refresh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Eliminate cycle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Avoided $180K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Capital expense eliminated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Days to minutes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min average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Faster business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Scalability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Auto-scaling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 3x peak 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Business Continuity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Multi-AZ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99.95% uptime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Reduced outage risk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IT Focus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Innovation focus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freed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Strategic initiatives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application discovery phase</a:t>
            </a:r>
          </a:p>
          <a:p>
            <a:pPr lvl="1"/>
            <a:r>
              <a:t>Wave-based migration approach</a:t>
            </a:r>
          </a:p>
          <a:p>
            <a:pPr lvl="1"/>
            <a:r>
              <a:t>Automated migration tooling</a:t>
            </a:r>
          </a:p>
          <a:p>
            <a:pPr lvl="1"/>
            <a:r>
              <a:t>Strong executive sponsorship</a:t>
            </a:r>
          </a:p>
          <a:p>
            <a:pPr lvl="1"/>
            <a:r>
              <a:t>Weekly stakeholder updates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app dependencies complex</a:t>
            </a:r>
          </a:p>
          <a:p>
            <a:pPr lvl="1"/>
            <a:r>
              <a:t>Database cutover coordination</a:t>
            </a:r>
          </a:p>
          <a:p>
            <a:pPr lvl="1"/>
            <a:r>
              <a:t>Network bandwidth saturation</a:t>
            </a:r>
          </a:p>
          <a:p>
            <a:pPr lvl="1"/>
            <a:r>
              <a:t>User training scheduling</a:t>
            </a:r>
          </a:p>
          <a:p>
            <a:pPr lvl="1"/>
            <a:r>
              <a:t>Vendor contract alignment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Continue cloud-native development</a:t>
            </a:r>
          </a:p>
          <a:p>
            <a:pPr lvl="1"/>
            <a:r>
              <a:t>Implement FinOps practices</a:t>
            </a:r>
          </a:p>
          <a:p>
            <a:pPr lvl="1"/>
            <a:r>
              <a:t>Expand Reserved Instance coverage</a:t>
            </a:r>
          </a:p>
          <a:p>
            <a:pPr lvl="1"/>
            <a:r>
              <a:t>Consider containerization next</a:t>
            </a:r>
          </a:p>
          <a:p>
            <a:pPr lvl="1"/>
            <a:r>
              <a:t>Annual architecture review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monitoring calls complete</a:t>
            </a:r>
          </a:p>
          <a:p>
            <a:pPr lvl="1"/>
            <a:r>
              <a:t>3 P3 issues identified/resolved</a:t>
            </a:r>
          </a:p>
          <a:p>
            <a:pPr lvl="1"/>
            <a:r>
              <a:t>All runbooks validated</a:t>
            </a:r>
          </a:p>
          <a:p>
            <a:pPr lvl="1"/>
            <a:r>
              <a:t>Team fully trained</a:t>
            </a:r>
          </a:p>
          <a:p>
            <a:pPr lvl="1"/>
            <a:r>
              <a:t>Performance baselines met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CloudWatch monitoring active</a:t>
            </a:r>
          </a:p>
          <a:p>
            <a:pPr lvl="1"/>
            <a:r>
              <a:t>Weekly cost reviews scheduled</a:t>
            </a:r>
          </a:p>
          <a:p>
            <a:pPr lvl="1"/>
            <a:r>
              <a:t>Monthly architecture reviews</a:t>
            </a:r>
          </a:p>
          <a:p>
            <a:pPr lvl="1"/>
            <a:r>
              <a:t>Quarterly security assessments</a:t>
            </a:r>
          </a:p>
          <a:p>
            <a:pPr lvl="1"/>
            <a:r>
              <a:t>Annual well-architected review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Cloud Operations Team</a:t>
            </a:r>
          </a:p>
          <a:p>
            <a:pPr lvl="1"/>
            <a:r>
              <a:t>L3: AWS Enterprise Support</a:t>
            </a:r>
          </a:p>
          <a:p>
            <a:pPr lvl="1"/>
            <a:r>
              <a:t>P1: On-call rotation active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IT leadership, business stakeholders, operations team</a:t>
            </a:r>
          </a:p>
          <a:p>
            <a:pPr/>
            <a:r>
              <a:rPr b="1"/>
              <a:t>Vendor Team:</a:t>
            </a:r>
            <a:r>
              <a:t> Project manager, solutions architect, migration engineers, support team</a:t>
            </a:r>
          </a:p>
          <a:p>
            <a:pPr/>
            <a:r>
              <a:rPr b="1"/>
              <a:t>Special Recognition:</a:t>
            </a:r>
            <a:r>
              <a:t> Cloud Operations team for exceptional adoption and training engagement</a:t>
            </a:r>
          </a:p>
          <a:p>
            <a:pPr/>
            <a:r>
              <a:rPr b="1"/>
              <a:t>This Week:</a:t>
            </a:r>
            <a:r>
              <a:t> Complete documentation handover and archive project files</a:t>
            </a:r>
          </a:p>
          <a:p>
            <a:pPr/>
            <a:r>
              <a:rPr b="1"/>
              <a:t>Next 30 Days:</a:t>
            </a:r>
            <a:r>
              <a:t> First monthly architecture review, implement Reserved Instances</a:t>
            </a:r>
          </a:p>
          <a:p>
            <a:pPr/>
            <a:r>
              <a:rPr b="1"/>
              <a:t>Next Quarter:</a:t>
            </a:r>
            <a:r>
              <a:t> Evaluate containerization for new applications, expand cloud-native skills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On-Premise to Cloud Migration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