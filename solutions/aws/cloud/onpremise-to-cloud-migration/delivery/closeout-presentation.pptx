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2: Agenda**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Migration Overview and Objectives</a:t>
            </a:r>
          </a:p>
          <a:p>
            <a:pPr/>
            <a:r>
              <a:t>Migration Execution Summary and Achievements</a:t>
            </a:r>
          </a:p>
          <a:p>
            <a:pPr/>
            <a:r>
              <a:t>Cloud Benefits Realization and Value Delivered</a:t>
            </a:r>
          </a:p>
          <a:p>
            <a:pPr/>
            <a:r>
              <a:t>Lessons Learned and Best Practices</a:t>
            </a:r>
          </a:p>
          <a:p>
            <a:pPr/>
            <a:r>
              <a:t>Cloud Operations Recommendations and Next Steps</a:t>
            </a:r>
          </a:p>
          <a:p>
            <a:pPr/>
            <a:r>
              <a:t>Team Recognition and Appreciation</a:t>
            </a:r>
          </a:p>
          <a:p>
            <a:pPr/>
            <a:r>
              <a:t>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3: Migration Charter Recap**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Original Business Problem:</a:t>
            </a:r>
            <a:r>
              <a:t> [Legacy infrastructure limitations and costs]</a:t>
            </a:r>
          </a:p>
          <a:p>
            <a:pPr/>
            <a:r>
              <a:rPr b="1"/>
              <a:t>Migration Objectives:</a:t>
            </a:r>
            <a:r>
              <a:t> [Cloud modernization, cost optimization, scalability]</a:t>
            </a:r>
          </a:p>
          <a:p>
            <a:pPr/>
            <a:r>
              <a:rPr b="1"/>
              <a:t>Success Criteria:</a:t>
            </a:r>
            <a:r>
              <a:t> [Zero data loss, minimal downtime, cost reduction targets]</a:t>
            </a:r>
          </a:p>
          <a:p>
            <a:pPr/>
            <a:r>
              <a:rPr b="1"/>
              <a:t>Migration Scope:</a:t>
            </a:r>
            <a:r>
              <a:t> [Applications, databases, and infrastructure migrated]</a:t>
            </a:r>
          </a:p>
          <a:p>
            <a:pPr/>
            <a:r>
              <a:rPr b="1"/>
              <a:t>Initial Timeline:</a:t>
            </a:r>
            <a:r>
              <a:t> [Original vs. actual migration timeline]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4: Migration Scope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Element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Applications Migrated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[Number planned]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[Number delivered]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[Any variances]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Databases Migrated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[Number planned]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[Number delivered]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[Migration method used]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Data Volume Transferred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[TB planned]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[TB transferred]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[Zero data loss achieved]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AWS Services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[Services planned]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[Services deployed]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[Architecture optimized]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5: Migration Wave Timeline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6: Budget and Resource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Total Migration Budget:</a:t>
            </a:r>
            <a:r>
              <a:t> [Approved budget]</a:t>
            </a:r>
          </a:p>
          <a:p>
            <a:pPr/>
            <a:r>
              <a:rPr b="1"/>
              <a:t>Actual Migration Cost:</a:t>
            </a:r>
            <a:r>
              <a:t> [Final cost including AWS services]</a:t>
            </a:r>
          </a:p>
          <a:p>
            <a:pPr/>
            <a:r>
              <a:rPr b="1"/>
              <a:t>Budget Variance:</a:t>
            </a:r>
            <a:r>
              <a:t> [Over/under budget with explanation]</a:t>
            </a:r>
          </a:p>
          <a:p>
            <a:pPr/>
            <a:r>
              <a:rPr b="1"/>
              <a:t>AWS Cost Optimization:</a:t>
            </a:r>
            <a:r>
              <a:t> [Achieved cost reductions]</a:t>
            </a:r>
          </a:p>
          <a:p>
            <a:pPr/>
            <a:r>
              <a:rPr b="1"/>
              <a:t>Resource Utilization:</a:t>
            </a:r>
            <a:r>
              <a:t> [Team size and migration effort]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7: Migration Assessment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Inventory:</a:t>
            </a:r>
            <a:r>
              <a:t> [Servers, applications, databases assessed]</a:t>
            </a:r>
          </a:p>
          <a:p>
            <a:pPr/>
            <a:r>
              <a:rPr b="1"/>
              <a:t>Application Categorization:</a:t>
            </a:r>
            <a:r>
              <a:t> [6 Rs strategy breakdown]</a:t>
            </a:r>
          </a:p>
          <a:p>
            <a:pPr/>
            <a:r>
              <a:rPr b="1"/>
              <a:t>Dependency Mapping:</a:t>
            </a:r>
            <a:r>
              <a:t> [Critical dependencies identified]</a:t>
            </a:r>
          </a:p>
          <a:p>
            <a:pPr/>
            <a:r>
              <a:rPr b="1"/>
              <a:t>Cloud Readiness Score:</a:t>
            </a:r>
            <a:r>
              <a:t> [Assessment results]</a:t>
            </a:r>
          </a:p>
          <a:p>
            <a:pPr/>
            <a:r>
              <a:rPr b="1"/>
              <a:t>Security and Compliance:</a:t>
            </a:r>
            <a:r>
              <a:t> [Requirements validated]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8: AWS Cloud Architecture Overview**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Target AWS architecture diagram</a:t>
            </a:r>
          </a:p>
          <a:p>
            <a:pPr/>
            <a:r>
              <a:t>Multi-account structure and landing zones</a:t>
            </a:r>
          </a:p>
          <a:p>
            <a:pPr/>
            <a:r>
              <a:t>Network connectivity (VPC, subnets, gateways)</a:t>
            </a:r>
          </a:p>
          <a:p>
            <a:pPr/>
            <a:r>
              <a:t>Security controls and compliance framework</a:t>
            </a:r>
          </a:p>
          <a:p>
            <a:pPr/>
            <a:r>
              <a:t>Monitoring and management services</a:t>
            </a:r>
          </a:p>
          <a:p>
            <a:pPr/>
            <a:r>
              <a:t>Disaster recovery and backup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9: Migration Waves Executed**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822"/>
                <a:gridCol w="1451822"/>
                <a:gridCol w="1451822"/>
                <a:gridCol w="1451822"/>
                <a:gridCol w="1451822"/>
                <a:gridCol w="1451822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Wave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Applications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Migration Method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Wave 1 (Pilot)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[App list]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[Lift-and-shift/Re-platform]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[Duration]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[Minimal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Wave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[App list]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[Migration method]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[Duration]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[Business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Wave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[App list]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[Migration method]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[Duration]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[Business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10: Migration Factory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Automation Level:</a:t>
            </a:r>
            <a:r>
              <a:t> [Percentage of automated migration tasks]</a:t>
            </a:r>
          </a:p>
          <a:p>
            <a:pPr/>
            <a:r>
              <a:rPr b="1"/>
              <a:t>Migration Tools Used:</a:t>
            </a:r>
            <a:r>
              <a:t> [AWS DMS, CloudEndure, custom scripts]</a:t>
            </a:r>
          </a:p>
          <a:p>
            <a:pPr/>
            <a:r>
              <a:rPr b="1"/>
              <a:t>Data Migration Success:</a:t>
            </a:r>
            <a:r>
              <a:t> [Zero data loss achieved]</a:t>
            </a:r>
          </a:p>
          <a:p>
            <a:pPr/>
            <a:r>
              <a:rPr b="1"/>
              <a:t>Cutover Efficiency:</a:t>
            </a:r>
            <a:r>
              <a:t> [Average cutover time per application]</a:t>
            </a:r>
          </a:p>
          <a:p>
            <a:pPr/>
            <a:r>
              <a:rPr b="1"/>
              <a:t>Rollback Preparedness:</a:t>
            </a:r>
            <a:r>
              <a:t> [Rollback procedures tested]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11: AWS Services Deployed**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Service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AWS Services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Compute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EC2, Lambda, ECS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Application hosting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[Instance types, auto-scaling]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Database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RDS, DynamoDB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[Multi-AZ, encryption]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S3, EBS, EFS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[Storage classes, lifecycle]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VPC, CloudFront, Route 53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and CDN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[Security groups, NACLs]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IAM, KMS, WAF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 controls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[Least privilege, encryption]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Monitoring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CloudWatch, X-Ray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Observability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[Dashboards, alerts]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12: Quality and Security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13: Performance and Availability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Application Performance:</a:t>
            </a:r>
          </a:p>
          <a:p>
            <a:pPr lvl="1"/>
            <a:r>
              <a:t>Response time improvement: [Percentage better]</a:t>
            </a:r>
          </a:p>
          <a:p>
            <a:pPr lvl="1"/>
            <a:r>
              <a:t>Throughput increase: [Performance gains]</a:t>
            </a:r>
          </a:p>
          <a:p>
            <a:pPr lvl="1"/>
            <a:r>
              <a:t>Latency reduction: [Network improvements]</a:t>
            </a:r>
          </a:p>
          <a:p>
            <a:pPr/>
            <a:r>
              <a:rPr b="1"/>
              <a:t>System Availability:</a:t>
            </a:r>
          </a:p>
          <a:p>
            <a:pPr lvl="1"/>
            <a:r>
              <a:t>Target availability: [99.9%]</a:t>
            </a:r>
          </a:p>
          <a:p>
            <a:pPr lvl="1"/>
            <a:r>
              <a:t>Achieved availability: [Actual uptime]</a:t>
            </a:r>
          </a:p>
          <a:p>
            <a:pPr lvl="1"/>
            <a:r>
              <a:t>MTTR improvement: [Recovery time reduction]</a:t>
            </a:r>
          </a:p>
          <a:p>
            <a:pPr/>
            <a:r>
              <a:rPr b="1"/>
              <a:t>Scalability Validation:</a:t>
            </a:r>
          </a:p>
          <a:p>
            <a:pPr lvl="1"/>
            <a:r>
              <a:t>Auto-scaling tested: [Load test results]</a:t>
            </a:r>
          </a:p>
          <a:p>
            <a:pPr lvl="1"/>
            <a:r>
              <a:t>Burst capacity: [Peak load handled]</a:t>
            </a:r>
          </a:p>
          <a:p>
            <a:pPr lvl="1"/>
            <a:r>
              <a:t>Resource optimization: [Cost-performance balance]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14: Network Connectivity and Hybrid Integration**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Architecture:</a:t>
            </a:r>
            <a:r>
              <a:t> [VPN, Direct Connect, Transit Gateway]</a:t>
            </a:r>
          </a:p>
          <a:p>
            <a:pPr/>
            <a:r>
              <a:rPr b="1"/>
              <a:t>Connectivity Performance:</a:t>
            </a:r>
            <a:r>
              <a:t> [Bandwidth, latency metrics]</a:t>
            </a:r>
          </a:p>
          <a:p>
            <a:pPr/>
            <a:r>
              <a:rPr b="1"/>
              <a:t>Hybrid Integration:</a:t>
            </a:r>
            <a:r>
              <a:t> [Remaining on-premise connections]</a:t>
            </a:r>
          </a:p>
          <a:p>
            <a:pPr/>
            <a:r>
              <a:rPr b="1"/>
              <a:t>DNS and Routing:</a:t>
            </a:r>
            <a:r>
              <a:t> [Route 53, traffic management]</a:t>
            </a:r>
          </a:p>
          <a:p>
            <a:pPr/>
            <a:r>
              <a:rPr b="1"/>
              <a:t>Security Connectivity:</a:t>
            </a:r>
            <a:r>
              <a:t> [Security groups, NACLs, WAF]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15: Financial Benefits Achieved**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Annual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Measurement Method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Realization 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Infrastructure Cost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[On-premise vs. cloud costs]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[Immediate]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Operational Cost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[Staff and maintenance savings]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[6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Licensing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[Software license consolidation]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[Immediate]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Productivity Gains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[Target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[Actual $]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[Efficiency improvements]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[3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16: Cloud ROI Analysis**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17: Operational Improvements**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Management:</a:t>
            </a:r>
          </a:p>
          <a:p>
            <a:pPr lvl="1"/>
            <a:r>
              <a:t>Provisioning time: [Hours to minutes]</a:t>
            </a:r>
          </a:p>
          <a:p>
            <a:pPr lvl="1"/>
            <a:r>
              <a:t>Deployment frequency: [Manual to automated]</a:t>
            </a:r>
          </a:p>
          <a:p>
            <a:pPr lvl="1"/>
            <a:r>
              <a:t>Monitoring coverage: [Real-time visibility]</a:t>
            </a:r>
          </a:p>
          <a:p>
            <a:pPr/>
            <a:r>
              <a:rPr b="1"/>
              <a:t>Scalability and Flexibility:</a:t>
            </a:r>
          </a:p>
          <a:p>
            <a:pPr lvl="1"/>
            <a:r>
              <a:t>Auto-scaling enabled: [Dynamic resource allocation]</a:t>
            </a:r>
          </a:p>
          <a:p>
            <a:pPr lvl="1"/>
            <a:r>
              <a:t>Global reach: [Multi-region deployment]</a:t>
            </a:r>
          </a:p>
          <a:p>
            <a:pPr lvl="1"/>
            <a:r>
              <a:t>Innovation velocity: [Faster feature delivery]</a:t>
            </a:r>
          </a:p>
          <a:p>
            <a:pPr/>
            <a:r>
              <a:rPr b="1"/>
              <a:t>Security Enhancement:</a:t>
            </a:r>
          </a:p>
          <a:p>
            <a:pPr lvl="1"/>
            <a:r>
              <a:t>Security posture: [Improved compliance]</a:t>
            </a:r>
          </a:p>
          <a:p>
            <a:pPr lvl="1"/>
            <a:r>
              <a:t>Threat detection: [Advanced monitoring]</a:t>
            </a:r>
          </a:p>
          <a:p>
            <a:pPr lvl="1"/>
            <a:r>
              <a:t>Data protection: [Enhanced encryption]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18: Business Value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Agility and Speed:</a:t>
            </a:r>
          </a:p>
          <a:p>
            <a:pPr lvl="1"/>
            <a:r>
              <a:t>Time to market: [Faster deployments]</a:t>
            </a:r>
          </a:p>
          <a:p>
            <a:pPr lvl="1"/>
            <a:r>
              <a:t>Development velocity: [CI/CD improvements]</a:t>
            </a:r>
          </a:p>
          <a:p>
            <a:pPr lvl="1"/>
            <a:r>
              <a:t>Resource provisioning: [Self-service capabilities]</a:t>
            </a:r>
          </a:p>
          <a:p>
            <a:pPr/>
            <a:r>
              <a:rPr b="1"/>
              <a:t>Innovation Enablement:</a:t>
            </a:r>
          </a:p>
          <a:p>
            <a:pPr lvl="1"/>
            <a:r>
              <a:t>New service adoption: [AI/ML, analytics services]</a:t>
            </a:r>
          </a:p>
          <a:p>
            <a:pPr lvl="1"/>
            <a:r>
              <a:t>Experimentation: [Dev/test environments]</a:t>
            </a:r>
          </a:p>
          <a:p>
            <a:pPr lvl="1"/>
            <a:r>
              <a:t>Digital transformation: [Cloud-native capabilities]</a:t>
            </a:r>
          </a:p>
          <a:p>
            <a:pPr/>
            <a:r>
              <a:rPr b="1"/>
              <a:t>Risk Reduction:</a:t>
            </a:r>
          </a:p>
          <a:p>
            <a:pPr lvl="1"/>
            <a:r>
              <a:t>Disaster recovery: [Improved RTO/RPO]</a:t>
            </a:r>
          </a:p>
          <a:p>
            <a:pPr lvl="1"/>
            <a:r>
              <a:t>Business continuity: [Multi-AZ resilience]</a:t>
            </a:r>
          </a:p>
          <a:p>
            <a:pPr lvl="1"/>
            <a:r>
              <a:t>Compliance: [Automated compliance]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19: User Experience and Adoption**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Application Performance:</a:t>
            </a:r>
            <a:r>
              <a:t> [User-reported improvements]</a:t>
            </a:r>
          </a:p>
          <a:p>
            <a:pPr/>
            <a:r>
              <a:rPr b="1"/>
              <a:t>System Reliability:</a:t>
            </a:r>
            <a:r>
              <a:t> [Reduced outages and issues]</a:t>
            </a:r>
          </a:p>
          <a:p>
            <a:pPr/>
            <a:r>
              <a:rPr b="1"/>
              <a:t>User Training:</a:t>
            </a:r>
            <a:r>
              <a:t> [Cloud operations training completion]</a:t>
            </a:r>
          </a:p>
          <a:p>
            <a:pPr/>
            <a:r>
              <a:rPr b="1"/>
              <a:t>Self-Service Capabilities:</a:t>
            </a:r>
            <a:r>
              <a:t> [Infrastructure provisioning]</a:t>
            </a:r>
          </a:p>
          <a:p>
            <a:pPr/>
            <a:r>
              <a:rPr b="1"/>
              <a:t>Support Model:</a:t>
            </a:r>
            <a:r>
              <a:t> [Cloud-native support processes]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20: Migration Successes**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Assessment and Planning:</a:t>
            </a:r>
          </a:p>
          <a:p>
            <a:pPr lvl="1"/>
            <a:r>
              <a:t>Comprehensive discovery process</a:t>
            </a:r>
          </a:p>
          <a:p>
            <a:pPr lvl="1"/>
            <a:r>
              <a:t>Accurate dependency mapping</a:t>
            </a:r>
          </a:p>
          <a:p>
            <a:pPr lvl="1"/>
            <a:r>
              <a:t>Effective wave planning strategy</a:t>
            </a:r>
          </a:p>
          <a:p>
            <a:pPr/>
            <a:r>
              <a:rPr b="1"/>
              <a:t>Technical Execution:</a:t>
            </a:r>
          </a:p>
          <a:p>
            <a:pPr lvl="1"/>
            <a:r>
              <a:t>Migration factory approach</a:t>
            </a:r>
          </a:p>
          <a:p>
            <a:pPr lvl="1"/>
            <a:r>
              <a:t>Automated migration tools</a:t>
            </a:r>
          </a:p>
          <a:p>
            <a:pPr lvl="1"/>
            <a:r>
              <a:t>Zero data loss achievement</a:t>
            </a:r>
          </a:p>
          <a:p>
            <a:pPr/>
            <a:r>
              <a:rPr b="1"/>
              <a:t>Team Collaboration:</a:t>
            </a:r>
          </a:p>
          <a:p>
            <a:pPr lvl="1"/>
            <a:r>
              <a:t>Cross-functional coordination</a:t>
            </a:r>
          </a:p>
          <a:p>
            <a:pPr lvl="1"/>
            <a:r>
              <a:t>Vendor partnership effectiveness</a:t>
            </a:r>
          </a:p>
          <a:p>
            <a:pPr lvl="1"/>
            <a:r>
              <a:t>Stakeholder engagement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21: Challenges Overcome**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Prevention for Future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Latency Issues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[Performance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[Direct Connect implementation]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[Early connectivity planning]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Legacy Application Dependencies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[Migration complexity]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[Phased approach with bridges]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[Deeper dependency analysis]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Data Migration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[Enhanced validation procedures]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[Improved tooling and testing]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Change Management Resistance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[User adoption]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[Enhanced training and communication]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[Early engagement strategy]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22: Cloud Migration Best Practices Established**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Best Practices:</a:t>
            </a:r>
          </a:p>
          <a:p>
            <a:pPr lvl="1"/>
            <a:r>
              <a:t>Infrastructure as Code (IaC) adoption</a:t>
            </a:r>
          </a:p>
          <a:p>
            <a:pPr lvl="1"/>
            <a:r>
              <a:t>Multi-AZ deployment standards</a:t>
            </a:r>
          </a:p>
          <a:p>
            <a:pPr lvl="1"/>
            <a:r>
              <a:t>Security-first architecture design</a:t>
            </a:r>
          </a:p>
          <a:p>
            <a:pPr lvl="1"/>
            <a:r>
              <a:t>Automated testing and validation</a:t>
            </a:r>
          </a:p>
          <a:p>
            <a:pPr/>
            <a:r>
              <a:rPr b="1"/>
              <a:t>Process Best Practices:</a:t>
            </a:r>
          </a:p>
          <a:p>
            <a:pPr lvl="1"/>
            <a:r>
              <a:t>Migration factory methodology</a:t>
            </a:r>
          </a:p>
          <a:p>
            <a:pPr lvl="1"/>
            <a:r>
              <a:t>Continuous monitoring and optimization</a:t>
            </a:r>
          </a:p>
          <a:p>
            <a:pPr lvl="1"/>
            <a:r>
              <a:t>Phased migration approach</a:t>
            </a:r>
          </a:p>
          <a:p>
            <a:pPr lvl="1"/>
            <a:r>
              <a:t>Comprehensive rollback procedures</a:t>
            </a:r>
          </a:p>
          <a:p>
            <a:pPr/>
            <a:r>
              <a:rPr b="1"/>
              <a:t>Organizational Best Practices:</a:t>
            </a:r>
          </a:p>
          <a:p>
            <a:pPr lvl="1"/>
            <a:r>
              <a:t>Cloud Center of Excellence</a:t>
            </a:r>
          </a:p>
          <a:p>
            <a:pPr lvl="1"/>
            <a:r>
              <a:t>Skills development program</a:t>
            </a:r>
          </a:p>
          <a:p>
            <a:pPr lvl="1"/>
            <a:r>
              <a:t>Cost optimization governance</a:t>
            </a:r>
          </a:p>
          <a:p>
            <a:pPr lvl="1"/>
            <a:r>
              <a:t>Security and compliance framework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23: Key Technical Learnings**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AWS Service Selection:</a:t>
            </a:r>
          </a:p>
          <a:p>
            <a:pPr lvl="1"/>
            <a:r>
              <a:t>Right-sizing methodology</a:t>
            </a:r>
          </a:p>
          <a:p>
            <a:pPr lvl="1"/>
            <a:r>
              <a:t>Reserved instance optimization</a:t>
            </a:r>
          </a:p>
          <a:p>
            <a:pPr lvl="1"/>
            <a:r>
              <a:t>Service-specific migration patterns</a:t>
            </a:r>
          </a:p>
          <a:p>
            <a:pPr/>
            <a:r>
              <a:rPr b="1"/>
              <a:t>Network Architecture:</a:t>
            </a:r>
          </a:p>
          <a:p>
            <a:pPr lvl="1"/>
            <a:r>
              <a:t>Hybrid connectivity best practices</a:t>
            </a:r>
          </a:p>
          <a:p>
            <a:pPr lvl="1"/>
            <a:r>
              <a:t>Security group optimization</a:t>
            </a:r>
          </a:p>
          <a:p>
            <a:pPr lvl="1"/>
            <a:r>
              <a:t>DNS migration strategies</a:t>
            </a:r>
          </a:p>
          <a:p>
            <a:pPr/>
            <a:r>
              <a:rPr b="1"/>
              <a:t>Data Migration:</a:t>
            </a:r>
          </a:p>
          <a:p>
            <a:pPr lvl="1"/>
            <a:r>
              <a:t>Database migration service optimization</a:t>
            </a:r>
          </a:p>
          <a:p>
            <a:pPr lvl="1"/>
            <a:r>
              <a:t>Large dataset transfer techniques</a:t>
            </a:r>
          </a:p>
          <a:p>
            <a:pPr lvl="1"/>
            <a:r>
              <a:t>Real-time synchronization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24: Immediate Optimization Opportunities**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Cost Optimization:</a:t>
            </a:r>
          </a:p>
          <a:p>
            <a:pPr lvl="1"/>
            <a:r>
              <a:t>Reserved instance recommendations</a:t>
            </a:r>
          </a:p>
          <a:p>
            <a:pPr lvl="1"/>
            <a:r>
              <a:t>Right-sizing opportunities</a:t>
            </a:r>
          </a:p>
          <a:p>
            <a:pPr lvl="1"/>
            <a:r>
              <a:t>Unused resource cleanup</a:t>
            </a:r>
          </a:p>
          <a:p>
            <a:pPr lvl="1"/>
            <a:r>
              <a:t>Storage lifecycle optimization</a:t>
            </a:r>
          </a:p>
          <a:p>
            <a:pPr/>
            <a:r>
              <a:rPr b="1"/>
              <a:t>Performance Tuning:</a:t>
            </a:r>
          </a:p>
          <a:p>
            <a:pPr lvl="1"/>
            <a:r>
              <a:t>Application optimization recommendations</a:t>
            </a:r>
          </a:p>
          <a:p>
            <a:pPr lvl="1"/>
            <a:r>
              <a:t>Database performance tuning</a:t>
            </a:r>
          </a:p>
          <a:p>
            <a:pPr lvl="1"/>
            <a:r>
              <a:t>Network optimization opportunities</a:t>
            </a:r>
          </a:p>
          <a:p>
            <a:pPr lvl="1"/>
            <a:r>
              <a:t>Caching strategy implementation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25: Cloud Governance Framework**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Cost Management:</a:t>
            </a:r>
          </a:p>
          <a:p>
            <a:pPr lvl="1"/>
            <a:r>
              <a:t>AWS Cost Explorer setup</a:t>
            </a:r>
          </a:p>
          <a:p>
            <a:pPr lvl="1"/>
            <a:r>
              <a:t>Budget alerts and controls</a:t>
            </a:r>
          </a:p>
          <a:p>
            <a:pPr lvl="1"/>
            <a:r>
              <a:t>Resource tagging strategy</a:t>
            </a:r>
          </a:p>
          <a:p>
            <a:pPr lvl="1"/>
            <a:r>
              <a:t>Cost allocation methodology</a:t>
            </a:r>
          </a:p>
          <a:p>
            <a:pPr/>
            <a:r>
              <a:rPr b="1"/>
              <a:t>Security Operations:</a:t>
            </a:r>
          </a:p>
          <a:p>
            <a:pPr lvl="1"/>
            <a:r>
              <a:t>AWS Security Hub implementation</a:t>
            </a:r>
          </a:p>
          <a:p>
            <a:pPr lvl="1"/>
            <a:r>
              <a:t>CloudTrail log management</a:t>
            </a:r>
          </a:p>
          <a:p>
            <a:pPr lvl="1"/>
            <a:r>
              <a:t>GuardDuty threat detection</a:t>
            </a:r>
          </a:p>
          <a:p>
            <a:pPr lvl="1"/>
            <a:r>
              <a:t>Regular security assessments</a:t>
            </a:r>
          </a:p>
          <a:p>
            <a:pPr/>
            <a:r>
              <a:rPr b="1"/>
              <a:t>Operational Excellence:</a:t>
            </a:r>
          </a:p>
          <a:p>
            <a:pPr lvl="1"/>
            <a:r>
              <a:t>CloudWatch monitoring enhancement</a:t>
            </a:r>
          </a:p>
          <a:p>
            <a:pPr lvl="1"/>
            <a:r>
              <a:t>Automated remediation</a:t>
            </a:r>
          </a:p>
          <a:p>
            <a:pPr lvl="1"/>
            <a:r>
              <a:t>Change management processes</a:t>
            </a:r>
          </a:p>
          <a:p>
            <a:pPr lvl="1"/>
            <a:r>
              <a:t>Incident response procedures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26: Future Cloud Evolution**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Initiative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Multi-Region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[Global resilience]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[Medium]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[6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Container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[Modernization]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[12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[Medium]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Serverless Adoption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[Cost optimization]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[Low]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[3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AI/ML Service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[Innovation]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[Medium]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[9 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[Medium]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27: Continuous Improvement Plan**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Monthly Reviews:</a:t>
            </a:r>
          </a:p>
          <a:p>
            <a:pPr lvl="1"/>
            <a:r>
              <a:t>Cost optimization assessment</a:t>
            </a:r>
          </a:p>
          <a:p>
            <a:pPr lvl="1"/>
            <a:r>
              <a:t>Performance monitoring review</a:t>
            </a:r>
          </a:p>
          <a:p>
            <a:pPr lvl="1"/>
            <a:r>
              <a:t>Security posture evaluation</a:t>
            </a:r>
          </a:p>
          <a:p>
            <a:pPr lvl="1"/>
            <a:r>
              <a:t>User feedback incorporation</a:t>
            </a:r>
          </a:p>
          <a:p>
            <a:pPr/>
            <a:r>
              <a:rPr b="1"/>
              <a:t>Quarterly Initiatives:</a:t>
            </a:r>
          </a:p>
          <a:p>
            <a:pPr lvl="1"/>
            <a:r>
              <a:t>Service optimization projects</a:t>
            </a:r>
          </a:p>
          <a:p>
            <a:pPr lvl="1"/>
            <a:r>
              <a:t>New AWS service evaluation</a:t>
            </a:r>
          </a:p>
          <a:p>
            <a:pPr lvl="1"/>
            <a:r>
              <a:t>Skills development programs</a:t>
            </a:r>
          </a:p>
          <a:p>
            <a:pPr lvl="1"/>
            <a:r>
              <a:t>Architecture evolution planning</a:t>
            </a:r>
          </a:p>
          <a:p>
            <a:pPr/>
            <a:r>
              <a:rPr b="1"/>
              <a:t>Annual Planning:</a:t>
            </a:r>
          </a:p>
          <a:p>
            <a:pPr lvl="1"/>
            <a:r>
              <a:t>Cloud strategy alignment</a:t>
            </a:r>
          </a:p>
          <a:p>
            <a:pPr lvl="1"/>
            <a:r>
              <a:t>Technology roadmap updates</a:t>
            </a:r>
          </a:p>
          <a:p>
            <a:pPr lvl="1"/>
            <a:r>
              <a:t>Budget planning and optimization</a:t>
            </a:r>
          </a:p>
          <a:p>
            <a:pPr lvl="1"/>
            <a:r>
              <a:t>Compliance and audit preparation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28: Migration Core Team**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Migration Project Manager:</a:t>
            </a:r>
            <a:r>
              <a:t> [Name and leadership contributions]</a:t>
            </a:r>
          </a:p>
          <a:p>
            <a:pPr/>
            <a:r>
              <a:rPr b="1"/>
              <a:t>Cloud Architect:</a:t>
            </a:r>
            <a:r>
              <a:t> [Name and architecture expertise]</a:t>
            </a:r>
          </a:p>
          <a:p>
            <a:pPr/>
            <a:r>
              <a:rPr b="1"/>
              <a:t>Migration Engineers:</a:t>
            </a:r>
            <a:r>
              <a:t> [Names and technical execution]</a:t>
            </a:r>
          </a:p>
          <a:p>
            <a:pPr/>
            <a:r>
              <a:rPr b="1"/>
              <a:t>Security Specialist:</a:t>
            </a:r>
            <a:r>
              <a:t> [Name and security implementation]</a:t>
            </a:r>
          </a:p>
          <a:p>
            <a:pPr/>
            <a:r>
              <a:rPr b="1"/>
              <a:t>Network Engineer:</a:t>
            </a:r>
            <a:r>
              <a:t> [Name and connectivity setup]</a:t>
            </a:r>
          </a:p>
          <a:p>
            <a:pPr/>
            <a:r>
              <a:rPr b="1"/>
              <a:t>Data Engineer:</a:t>
            </a:r>
            <a:r>
              <a:t> [Name and data migration expertise]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29: Extended Team and Stakeholders**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Business Stakeholders:</a:t>
            </a:r>
            <a:r>
              <a:t> [Key sponsors and decision makers]</a:t>
            </a:r>
          </a:p>
          <a:p>
            <a:pPr/>
            <a:r>
              <a:rPr b="1"/>
              <a:t>Application Owners:</a:t>
            </a:r>
            <a:r>
              <a:t> [Business application expertise]</a:t>
            </a:r>
          </a:p>
          <a:p>
            <a:pPr/>
            <a:r>
              <a:rPr b="1"/>
              <a:t>Infrastructure Team:</a:t>
            </a:r>
            <a:r>
              <a:t> [On-premise system knowledge]</a:t>
            </a:r>
          </a:p>
          <a:p>
            <a:pPr/>
            <a:r>
              <a:rPr b="1"/>
              <a:t>AWS Support Team:</a:t>
            </a:r>
            <a:r>
              <a:t> [Technical assistance and guidance]</a:t>
            </a:r>
          </a:p>
          <a:p>
            <a:pPr/>
            <a:r>
              <a:rPr b="1"/>
              <a:t>Vendor Partners:</a:t>
            </a:r>
            <a:r>
              <a:t> [Third-party tool and service providers]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30: Migration Success Factors**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Excellence:</a:t>
            </a:r>
            <a:r>
              <a:t> [Deep AWS expertise and best practices]</a:t>
            </a:r>
          </a:p>
          <a:p>
            <a:pPr/>
            <a:r>
              <a:rPr b="1"/>
              <a:t>Project Management:</a:t>
            </a:r>
            <a:r>
              <a:t> [Effective coordination and execution]</a:t>
            </a:r>
          </a:p>
          <a:p>
            <a:pPr/>
            <a:r>
              <a:rPr b="1"/>
              <a:t>Collaboration:</a:t>
            </a:r>
            <a:r>
              <a:t> [Cross-functional teamwork and communication]</a:t>
            </a:r>
          </a:p>
          <a:p>
            <a:pPr/>
            <a:r>
              <a:rPr b="1"/>
              <a:t>Innovation:</a:t>
            </a:r>
            <a:r>
              <a:t> [Creative problem solving and optimization]</a:t>
            </a:r>
          </a:p>
          <a:p>
            <a:pPr/>
            <a:r>
              <a:rPr b="1"/>
              <a:t>Customer Focus:</a:t>
            </a:r>
            <a:r>
              <a:t> [Business value and user experience priority]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31: Migration Success Declaration**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Objectives Achieved:</a:t>
            </a:r>
            <a:r>
              <a:t> [100% application migration success]</a:t>
            </a:r>
          </a:p>
          <a:p>
            <a:pPr/>
            <a:r>
              <a:rPr b="1"/>
              <a:t>Value Delivered:</a:t>
            </a:r>
            <a:r>
              <a:t> [Quantified cost savings and benefits]</a:t>
            </a:r>
          </a:p>
          <a:p>
            <a:pPr/>
            <a:r>
              <a:rPr b="1"/>
              <a:t>Quality Standards:</a:t>
            </a:r>
            <a:r>
              <a:t> [Zero data loss, security compliance]</a:t>
            </a:r>
          </a:p>
          <a:p>
            <a:pPr/>
            <a:r>
              <a:rPr b="1"/>
              <a:t>Stakeholder Satisfaction:</a:t>
            </a:r>
            <a:r>
              <a:t> [User feedback and adoption scores]</a:t>
            </a:r>
          </a:p>
          <a:p>
            <a:pPr/>
            <a:r>
              <a:rPr b="1"/>
              <a:t>Timeline Performance:</a:t>
            </a:r>
            <a:r>
              <a:t> [On-time delivery achievement]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32: Cloud Operations Transition**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Knowledge Transfer Complete:</a:t>
            </a:r>
            <a:r>
              <a:t> [Operations team enablement]</a:t>
            </a:r>
          </a:p>
          <a:p>
            <a:pPr/>
            <a:r>
              <a:rPr b="1"/>
              <a:t>Documentation Delivered:</a:t>
            </a:r>
            <a:r>
              <a:t> [Comprehensive runbooks and procedures]</a:t>
            </a:r>
          </a:p>
          <a:p>
            <a:pPr/>
            <a:r>
              <a:rPr b="1"/>
              <a:t>Support Model Established:</a:t>
            </a:r>
            <a:r>
              <a:t> [24/7 cloud operations support]</a:t>
            </a:r>
          </a:p>
          <a:p>
            <a:pPr/>
            <a:r>
              <a:rPr b="1"/>
              <a:t>Monitoring Operational:</a:t>
            </a:r>
            <a:r>
              <a:t> [Proactive monitoring and alerting]</a:t>
            </a:r>
          </a:p>
          <a:p>
            <a:pPr/>
            <a:r>
              <a:rPr b="1"/>
              <a:t>Change Process Active:</a:t>
            </a:r>
            <a:r>
              <a:t> [Cloud change management procedures]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**Slide 33: Thank You and Q&amp;A**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Executive Appreciation:</a:t>
            </a:r>
            <a:r>
              <a:t> [Thank leadership and stakeholders]</a:t>
            </a:r>
          </a:p>
          <a:p>
            <a:pPr/>
            <a:r>
              <a:rPr b="1"/>
              <a:t>Team Recognition:</a:t>
            </a:r>
            <a:r>
              <a:t> [Acknowledge all contributors]</a:t>
            </a:r>
          </a:p>
          <a:p>
            <a:pPr/>
            <a:r>
              <a:rPr b="1"/>
              <a:t>AWS Partnership:</a:t>
            </a:r>
            <a:r>
              <a:t> [Acknowledge AWS support and guidance]</a:t>
            </a:r>
          </a:p>
          <a:p>
            <a:pPr/>
            <a:r>
              <a:rPr b="1"/>
              <a:t>Contact Information:</a:t>
            </a:r>
            <a:r>
              <a:t> [Future cloud operations contacts]</a:t>
            </a:r>
          </a:p>
          <a:p>
            <a:pPr/>
            <a:r>
              <a:rPr b="1"/>
              <a:t>Q&amp;A Session:</a:t>
            </a:r>
            <a:r>
              <a:t> [Questions and technical discussions]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**Preparation Checklist**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Gather all migration metrics and performance data</a:t>
            </a:r>
          </a:p>
          <a:p>
            <a:pPr/>
            <a:r>
              <a:t>[ ] Collect AWS cost optimization recommendations</a:t>
            </a:r>
          </a:p>
          <a:p>
            <a:pPr/>
            <a:r>
              <a:t>[ ] Prepare cloud architecture diagrams and visuals</a:t>
            </a:r>
          </a:p>
          <a:p>
            <a:pPr/>
            <a:r>
              <a:t>[ ] Calculate financial benefits and ROI analysis</a:t>
            </a:r>
          </a:p>
          <a:p>
            <a:pPr/>
            <a:r>
              <a:t>[ ] Document lessons learned and best practices</a:t>
            </a:r>
          </a:p>
          <a:p>
            <a:pPr/>
            <a:r>
              <a:t>[ ] Prepare for technical questions and discussions</a:t>
            </a:r>
          </a:p>
          <a:p>
            <a:pPr/>
            <a:r>
              <a:t>[ ] Coordinate with AWS support for reference materials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**Migration-Specific Best Practices**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Focus:</a:t>
            </a:r>
            <a:r>
              <a:t> Lead with business value and cost benefits</a:t>
            </a:r>
          </a:p>
          <a:p>
            <a:pPr/>
            <a:r>
              <a:rPr b="1"/>
              <a:t>Technical Depth:</a:t>
            </a:r>
            <a:r>
              <a:t> Include architecture decisions and optimizations</a:t>
            </a:r>
          </a:p>
          <a:p>
            <a:pPr/>
            <a:r>
              <a:rPr b="1"/>
              <a:t>Visual Evidence:</a:t>
            </a:r>
            <a:r>
              <a:t> Show before/after comparisons and metrics</a:t>
            </a:r>
          </a:p>
          <a:p>
            <a:pPr/>
            <a:r>
              <a:rPr b="1"/>
              <a:t>Risk Management:</a:t>
            </a:r>
            <a:r>
              <a:t> Address security and compliance achievements</a:t>
            </a:r>
          </a:p>
          <a:p>
            <a:pPr/>
            <a:r>
              <a:rPr b="1"/>
              <a:t>Future Roadmap:</a:t>
            </a:r>
            <a:r>
              <a:t> Present cloud evolution opportunities</a:t>
            </a:r>
          </a:p>
          <a:p>
            <a:pPr/>
            <a:r>
              <a:rPr b="1"/>
              <a:t>Operations Focus:</a:t>
            </a:r>
            <a:r>
              <a:t> Emphasize ongoing cloud management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**Audience Engagement**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Live Demonstrations:</a:t>
            </a:r>
            <a:r>
              <a:t> Show AWS console and monitoring dashboards</a:t>
            </a:r>
          </a:p>
          <a:p>
            <a:pPr/>
            <a:r>
              <a:rPr b="1"/>
              <a:t>Success Metrics:</a:t>
            </a:r>
            <a:r>
              <a:t> Present real performance and cost data</a:t>
            </a:r>
          </a:p>
          <a:p>
            <a:pPr/>
            <a:r>
              <a:rPr b="1"/>
              <a:t>Interactive Elements:</a:t>
            </a:r>
            <a:r>
              <a:t> Include Q&amp;A and technical discussions</a:t>
            </a:r>
          </a:p>
          <a:p>
            <a:pPr/>
            <a:r>
              <a:rPr b="1"/>
              <a:t>Recognition:</a:t>
            </a:r>
            <a:r>
              <a:t> Acknowledge all migration team contributions</a:t>
            </a:r>
          </a:p>
          <a:p>
            <a:pPr/>
            <a:r>
              <a:rPr b="1"/>
              <a:t>Next Steps:</a:t>
            </a:r>
            <a:r>
              <a:t> Define clear cloud operations responsibilities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**A. Detailed Migration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**B. Cloud Operations Runbooks**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Daily operational procedures</a:t>
            </a:r>
          </a:p>
          <a:p>
            <a:pPr/>
            <a:r>
              <a:t>Incident response processes</a:t>
            </a:r>
          </a:p>
          <a:p>
            <a:pPr/>
            <a:r>
              <a:t>Cost optimization procedures</a:t>
            </a:r>
          </a:p>
          <a:p>
            <a:pPr/>
            <a:r>
              <a:t>Security monitoring and response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**C. AWS Cost Analysis**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**D. Cloud Evolution Roadmap**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