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273A1B3-664A-DD19-7B35-B4E3982A4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863" y="685597"/>
            <a:ext cx="8509304" cy="37711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This is a single-column content slide. Use this layout for focused content with paragraphs or key messages.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48F3C-3BC8-996A-36FB-230929A17A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042" y="685597"/>
            <a:ext cx="4049196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Left Column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C844534-A763-9158-4BA6-CAC056383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69866" y="685597"/>
            <a:ext cx="4049062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Right Column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2B78D-7F18-9BA1-5A5B-CE499AD0C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4" y="1076366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Left Column Text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3BE8D56-FD01-D4AD-8CBA-DDE513CC6B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9865" y="1076365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Right Column Text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Key Points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AEFB5-8B48-8F55-D6C9-5B1A508AD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7175" y="698500"/>
            <a:ext cx="8710613" cy="376555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48F3C-3BC8-996A-36FB-230929A17A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042" y="685597"/>
            <a:ext cx="4049196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Image Description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2B78D-7F18-9BA1-5A5B-CE499AD0C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4" y="1076366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Image Description Context Text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800"/>
            <a:ext cx="4337050" cy="37417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48F3C-3BC8-996A-36FB-230929A17A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042" y="685597"/>
            <a:ext cx="4049196" cy="311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Key Insights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2B78D-7F18-9BA1-5A5B-CE499AD0C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4" y="1076366"/>
            <a:ext cx="4049063" cy="3351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85725" marR="0" lvl="0" indent="-8572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First data insight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5725" marR="0" lvl="0" indent="-8572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Second key finding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5725" marR="0" lvl="0" indent="-8572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Third important trend</a:t>
            </a:r>
            <a:endParaRPr lang="en-US" dirty="0"/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419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Executive Presentation Template - AWS Cloud Migration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5856" b="585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**AWS Cloud Migration Strategy**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EO Framework Team | November 06,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Prepared for: [Client Name]</a:t>
            </a:r>
          </a:p>
          <a:p>
            <a:pPr/>
            <a:r>
              <a:t>Presented by: [Your Name, Title]</a:t>
            </a:r>
          </a:p>
          <a:p>
            <a:pPr/>
            <a:r>
              <a:t>Date: [Presentation Date]</a:t>
            </a:r>
          </a:p>
          <a:p>
            <a:pPr/>
            <a:r>
              <a:t>AWS Partner Logo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2: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Infrastructure Challenge &amp; Digital Transformation</a:t>
            </a:r>
          </a:p>
          <a:p>
            <a:pPr/>
            <a:r>
              <a:t>AWS Cloud Migration Solution</a:t>
            </a:r>
          </a:p>
          <a:p>
            <a:pPr/>
            <a:r>
              <a:t>Business Value &amp; TCO Analysis</a:t>
            </a:r>
          </a:p>
          <a:p>
            <a:pPr/>
            <a:r>
              <a:t>Migration Approach &amp; Timeline</a:t>
            </a:r>
          </a:p>
          <a:p>
            <a:pPr/>
            <a:r>
              <a:t>Investment &amp; Next Steps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3: 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Legacy infrastructure constraining growth and innovation</a:t>
            </a:r>
          </a:p>
          <a:p>
            <a:pPr/>
            <a:r>
              <a:t>Comprehensive AWS cloud migration with modern architecture</a:t>
            </a:r>
          </a:p>
          <a:p>
            <a:pPr/>
            <a:r>
              <a:t>TCO reduction: [X]% over 5 years</a:t>
            </a:r>
          </a:p>
          <a:p>
            <a:pPr/>
            <a:r>
              <a:t>Operational efficiency: [X]% improvement</a:t>
            </a:r>
          </a:p>
          <a:p>
            <a:pPr/>
            <a:r>
              <a:t>Migration ROI: [X]% with [Y] month payback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4: Current State - Infrastructure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Capital Investment: $[Amount] required for hardware refresh</a:t>
            </a:r>
          </a:p>
          <a:p>
            <a:pPr/>
            <a:r>
              <a:t>Operational Overhead: [X] FTE managing infrastructure vs innovation</a:t>
            </a:r>
          </a:p>
          <a:p>
            <a:pPr/>
            <a:r>
              <a:t>Scalability Limits: Unable to handle [X]% traffic growth</a:t>
            </a:r>
          </a:p>
          <a:p>
            <a:pPr/>
            <a:r>
              <a:t>Innovation Bottleneck: [X] week deployment cycles vs [Y] day industry standard</a:t>
            </a:r>
          </a:p>
          <a:p>
            <a:pPr/>
            <a:r>
              <a:t>Competitive disadvantage in time-to-market</a:t>
            </a:r>
          </a:p>
          <a:p>
            <a:pPr/>
            <a:r>
              <a:t>Increasing infrastructure costs as % of revenue</a:t>
            </a:r>
          </a:p>
          <a:p>
            <a:pPr/>
            <a:r>
              <a:t>Risk of system failures and capacity constraints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5: Vision - Cloud-Native Future State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Infinite Scalability: Auto-scaling to handle any demand</a:t>
            </a:r>
          </a:p>
          <a:p>
            <a:pPr/>
            <a:r>
              <a:t>Operational Efficiency: 80% reduction in infrastructure management</a:t>
            </a:r>
          </a:p>
          <a:p>
            <a:pPr/>
            <a:r>
              <a:t>Innovation Velocity: Deploy new features in minutes, not weeks</a:t>
            </a:r>
          </a:p>
          <a:p>
            <a:pPr/>
            <a:r>
              <a:t>Global reach with 200+ AWS services</a:t>
            </a:r>
          </a:p>
          <a:p>
            <a:pPr/>
            <a:r>
              <a:t>Advanced analytics and AI/ML capabilities</a:t>
            </a:r>
          </a:p>
          <a:p>
            <a:pPr/>
            <a:r>
              <a:t>Industry-leading security and compliance</a:t>
            </a:r>
          </a:p>
          <a:p>
            <a:pPr/>
            <a:r>
              <a:t>Platform for continuous innovation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6: Solution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Multi-account structure with security controls</a:t>
            </a:r>
          </a:p>
          <a:p>
            <a:pPr/>
            <a:r>
              <a:t>Auto Scaling Groups and Load Balancers</a:t>
            </a:r>
          </a:p>
          <a:p>
            <a:pPr/>
            <a:r>
              <a:t>Managed databases (RDS/Aurora)</a:t>
            </a:r>
          </a:p>
          <a:p>
            <a:pPr/>
            <a:r>
              <a:t>S3 storage and CloudFront CDN</a:t>
            </a:r>
          </a:p>
          <a:p>
            <a:pPr/>
            <a:r>
              <a:t>Compute: EC2 instances with auto-scaling</a:t>
            </a:r>
          </a:p>
          <a:p>
            <a:pPr/>
            <a:r>
              <a:t>Database: Managed RDS with automated backups</a:t>
            </a:r>
          </a:p>
          <a:p>
            <a:pPr/>
            <a:r>
              <a:t>Storage: S3 with intelligent tiering</a:t>
            </a:r>
          </a:p>
          <a:p>
            <a:pPr/>
            <a:r>
              <a:t>Network: VPC with hybrid connectivity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7: Why AWS for Cloud Migration?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30% average cost reduction for similar migrations</a:t>
            </a:r>
          </a:p>
          <a:p>
            <a:pPr/>
            <a:r>
              <a:t>90% faster deployment cycles post-migration</a:t>
            </a:r>
          </a:p>
          <a:p>
            <a:pPr/>
            <a:r>
              <a:t>99.99% AWS infrastructure availability SLA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8: Business Value - TCO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9: Business Value - Strategic Benefits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80% reduction in infrastructure management effort</a:t>
            </a:r>
          </a:p>
          <a:p>
            <a:pPr/>
            <a:r>
              <a:t>95% reduction in deployment time (weeks → minutes)</a:t>
            </a:r>
          </a:p>
          <a:p>
            <a:pPr/>
            <a:r>
              <a:t>Automated scaling eliminates capacity planning</a:t>
            </a:r>
          </a:p>
          <a:p>
            <a:pPr/>
            <a:r>
              <a:t>Faster time-to-market for new products/features</a:t>
            </a:r>
          </a:p>
          <a:p>
            <a:pPr/>
            <a:r>
              <a:t>Global reach with AWS's 32 regions worldwide</a:t>
            </a:r>
          </a:p>
          <a:p>
            <a:pPr/>
            <a:r>
              <a:t>Access to cutting-edge AI/ML and analytics services</a:t>
            </a:r>
          </a:p>
          <a:p>
            <a:pPr/>
            <a:r>
              <a:t>Enhanced security with AWS Shield and GuardDuty</a:t>
            </a:r>
          </a:p>
          <a:p>
            <a:pPr/>
            <a:r>
              <a:t>Automated backup and disaster recovery</a:t>
            </a:r>
          </a:p>
          <a:p>
            <a:pPr/>
            <a:r>
              <a:t>Compliance frameworks (SOC, ISO, PCI) built-in</a:t>
            </a:r>
          </a:p>
          <a:p>
            <a:pPr/>
            <a:r>
              <a:t>DevOps culture and automation</a:t>
            </a:r>
          </a:p>
          <a:p>
            <a:pPr/>
            <a:r>
              <a:t>Container and serverless architectures</a:t>
            </a:r>
          </a:p>
          <a:p>
            <a:pPr/>
            <a:r>
              <a:t>Data analytics and machine learning platforms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10: Migration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Application portfolio analysis and wave planning</a:t>
            </a:r>
          </a:p>
          <a:p>
            <a:pPr/>
            <a:r>
              <a:t>AWS Landing Zone setup with security controls</a:t>
            </a:r>
          </a:p>
          <a:p>
            <a:pPr/>
            <a:r>
              <a:t>Wave 1: Foundation services (DNS, AD, monitoring)</a:t>
            </a:r>
          </a:p>
          <a:p>
            <a:pPr/>
            <a:r>
              <a:t>Wave 2: Supporting applications (databases, file servers)</a:t>
            </a:r>
          </a:p>
          <a:p>
            <a:pPr/>
            <a:r>
              <a:t>Wave 3: Business applications (web apps, APIs)</a:t>
            </a:r>
          </a:p>
          <a:p>
            <a:pPr/>
            <a:r>
              <a:t>Right-sizing and cost optimization</a:t>
            </a:r>
          </a:p>
          <a:p>
            <a:pPr/>
            <a:r>
              <a:t>Performance tuning and modernization</a:t>
            </a:r>
          </a:p>
          <a:p>
            <a:pPr/>
            <a:r>
              <a:t>Advanced AWS services adoption</a:t>
            </a:r>
          </a:p>
          <a:p>
            <a:pPr/>
            <a:r>
              <a:t>DevOps and automation implementation</a:t>
            </a:r>
          </a:p>
          <a:p>
            <a:pPr/>
            <a:r>
              <a:t>Phased approach minimizes risk</a:t>
            </a:r>
          </a:p>
          <a:p>
            <a:pPr/>
            <a:r>
              <a:t>Dedicated migration team with AWS expertise</a:t>
            </a:r>
          </a:p>
          <a:p>
            <a:pPr/>
            <a:r>
              <a:t>Comprehensive testing and validation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11: Risk Mitigation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Zero data loss guarantee during migration</a:t>
            </a:r>
          </a:p>
          <a:p>
            <a:pPr/>
            <a:r>
              <a:t>Performance equal or better than current state</a:t>
            </a:r>
          </a:p>
          <a:p>
            <a:pPr/>
            <a:r>
              <a:t>24/7 support during migration and post-go-live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12: Investment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AWS professional services: $[Amount]</a:t>
            </a:r>
          </a:p>
          <a:p>
            <a:pPr/>
            <a:r>
              <a:t>Migration tools and automation: $[Amount]</a:t>
            </a:r>
          </a:p>
          <a:p>
            <a:pPr/>
            <a:r>
              <a:t>Training and certification: $[Amount]</a:t>
            </a:r>
          </a:p>
          <a:p>
            <a:pPr/>
            <a:r>
              <a:t>Compute and storage: $[Amount]</a:t>
            </a:r>
          </a:p>
          <a:p>
            <a:pPr/>
            <a:r>
              <a:t>Network and security: $[Amount]</a:t>
            </a:r>
          </a:p>
          <a:p>
            <a:pPr/>
            <a:r>
              <a:t>Management and monitoring: $[Amount]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13: Timeline &amp; Milestones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Month 2: AWS foundation and network connectivity</a:t>
            </a:r>
          </a:p>
          <a:p>
            <a:pPr/>
            <a:r>
              <a:t>Month 4: First application wave migrated</a:t>
            </a:r>
          </a:p>
          <a:p>
            <a:pPr/>
            <a:r>
              <a:t>Month 6: Critical business applications live</a:t>
            </a:r>
          </a:p>
          <a:p>
            <a:pPr/>
            <a:r>
              <a:t>Month 8: Migration complete, optimization begins</a:t>
            </a:r>
          </a:p>
          <a:p>
            <a:pPr/>
            <a:r>
              <a:t>Month 12: Full cloud-native operations</a:t>
            </a:r>
          </a:p>
          <a:p>
            <a:pPr/>
            <a:r>
              <a:t>Enhanced backup and DR - Month 2</a:t>
            </a:r>
          </a:p>
          <a:p>
            <a:pPr/>
            <a:r>
              <a:t>Improved monitoring and alerting - Month 3</a:t>
            </a:r>
          </a:p>
          <a:p>
            <a:pPr/>
            <a:r>
              <a:t>Cost savings from infrastructure consolidation - Month 4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14: Success Stories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Challenge: $2M annual infrastructure costs, 6-week deployments</a:t>
            </a:r>
          </a:p>
          <a:p>
            <a:pPr/>
            <a:r>
              <a:t>Solution: AWS migration with containerization</a:t>
            </a:r>
          </a:p>
          <a:p>
            <a:pPr/>
            <a:r>
              <a:t>Results: 35% cost reduction, 90% faster deployments, 99.9% uptime</a:t>
            </a:r>
          </a:p>
          <a:p>
            <a:pPr/>
            <a:r>
              <a:t>AWS Advanced Consulting Partner</a:t>
            </a:r>
          </a:p>
          <a:p>
            <a:pPr/>
            <a:r>
              <a:t>200+ successful enterprise migrations</a:t>
            </a:r>
          </a:p>
          <a:p>
            <a:pPr/>
            <a:r>
              <a:t>Average 25% TCO reduction achieved</a:t>
            </a:r>
          </a:p>
          <a:p>
            <a:pPr/>
            <a:r>
              <a:t>CTO, Fortune 1000 Retailer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15: Our AWS Partnership Advantage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AWS Premier Consulting Partner</a:t>
            </a:r>
          </a:p>
          <a:p>
            <a:pPr/>
            <a:r>
              <a:t>100+ AWS-certified professionals</a:t>
            </a:r>
          </a:p>
          <a:p>
            <a:pPr/>
            <a:r>
              <a:t>Migration Competency validation</a:t>
            </a:r>
          </a:p>
          <a:p>
            <a:pPr/>
            <a:r>
              <a:t>End-to-end migration services</a:t>
            </a:r>
          </a:p>
          <a:p>
            <a:pPr/>
            <a:r>
              <a:t>24/7 monitoring and support</a:t>
            </a:r>
          </a:p>
          <a:p>
            <a:pPr/>
            <a:r>
              <a:t>Ongoing optimization and cost management</a:t>
            </a:r>
          </a:p>
          <a:p>
            <a:pPr/>
            <a:r>
              <a:t>1,000+ successful cloud migrations</a:t>
            </a:r>
          </a:p>
          <a:p>
            <a:pPr/>
            <a:r>
              <a:t>$100M+ in client TCO savings delivered</a:t>
            </a:r>
          </a:p>
          <a:p>
            <a:pPr/>
            <a:r>
              <a:t>98% customer satisfaction rating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16: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Decision: Approve migration program budget</a:t>
            </a:r>
          </a:p>
          <a:p>
            <a:pPr/>
            <a:r>
              <a:t>Discovery: Detailed application assessment (2 weeks)</a:t>
            </a:r>
          </a:p>
          <a:p>
            <a:pPr/>
            <a:r>
              <a:t>Planning: Migration wave planning and timeline</a:t>
            </a:r>
          </a:p>
          <a:p>
            <a:pPr/>
            <a:r>
              <a:t>Kickoff: Target migration start: [Date]</a:t>
            </a:r>
          </a:p>
          <a:p>
            <a:pPr/>
            <a:r>
              <a:t>Week 1: Contract execution and team formation</a:t>
            </a:r>
          </a:p>
          <a:p>
            <a:pPr/>
            <a:r>
              <a:t>Week 2: Application discovery and assessment</a:t>
            </a:r>
          </a:p>
          <a:p>
            <a:pPr/>
            <a:r>
              <a:t>Week 3: AWS account setup and foundation design</a:t>
            </a:r>
          </a:p>
          <a:p>
            <a:pPr/>
            <a:r>
              <a:t>Week 4: Migration wave 1 planning and preparation</a:t>
            </a:r>
          </a:p>
          <a:p>
            <a:pPr/>
            <a:r>
              <a:t>Migration timeline and business priorities</a:t>
            </a:r>
          </a:p>
          <a:p>
            <a:pPr/>
            <a:r>
              <a:t>AWS region selection and architecture design</a:t>
            </a:r>
          </a:p>
          <a:p>
            <a:pPr/>
            <a:r>
              <a:t>Training program scope and timeline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17: Investment Authorization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Migration program budget: $[Amount]</a:t>
            </a:r>
          </a:p>
          <a:p>
            <a:pPr/>
            <a:r>
              <a:t>Resource allocation for dedicated migration team</a:t>
            </a:r>
          </a:p>
          <a:p>
            <a:pPr/>
            <a:r>
              <a:t>AWS partner engagement and professional services</a:t>
            </a:r>
          </a:p>
          <a:p>
            <a:pPr/>
            <a:r>
              <a:t>Target migration completion: [Date]</a:t>
            </a:r>
          </a:p>
          <a:p>
            <a:pPr/>
            <a:r>
              <a:t>Total Migration Investment: $[Amount]</a:t>
            </a:r>
          </a:p>
          <a:p>
            <a:pPr/>
            <a:r>
              <a:t>5-Year TCO Savings: $[Amount]</a:t>
            </a:r>
          </a:p>
          <a:p>
            <a:pPr/>
            <a:r>
              <a:t>Net ROI: [Percentage]% over 5 years</a:t>
            </a:r>
          </a:p>
          <a:p>
            <a:pPr/>
            <a:r>
              <a:t>Payback Period: [Months] months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18: Contact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Speaking Points for Each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Use client-specific data about infrastructure age and refresh requirements</a:t>
            </a:r>
          </a:p>
          <a:p>
            <a:pPr/>
            <a:r>
              <a:t>Emphasize the competitive disadvantage of slow deployment cycles</a:t>
            </a:r>
          </a:p>
          <a:p>
            <a:pPr/>
            <a:r>
              <a:t>Create urgency around the cost of maintaining status quo</a:t>
            </a:r>
          </a:p>
          <a:p>
            <a:pPr/>
            <a:r>
              <a:t>Walk through each cost category and how AWS reduces it</a:t>
            </a:r>
          </a:p>
          <a:p>
            <a:pPr/>
            <a:r>
              <a:t>Explain the methodology behind savings calculations</a:t>
            </a:r>
          </a:p>
          <a:p>
            <a:pPr/>
            <a:r>
              <a:t>Address concerns about cloud cost management</a:t>
            </a:r>
          </a:p>
          <a:p>
            <a:pPr/>
            <a:r>
              <a:t>Frame migration cost against required hardware refresh investment</a:t>
            </a:r>
          </a:p>
          <a:p>
            <a:pPr/>
            <a:r>
              <a:t>Explain that migration accelerates inevitable infrastructure modernization</a:t>
            </a:r>
          </a:p>
          <a:p>
            <a:pPr/>
            <a:r>
              <a:t>Highlight immediate operational benefits beyond cost savings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Q&amp;A Preparation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Appendix Slides (If Needed)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AWS brand colors: Orange (#FF9900), Dark Blue (#232F3E)</a:t>
            </a:r>
          </a:p>
          <a:p>
            <a:pPr/>
            <a:r>
              <a:t>Modern, technology-focused graphics</a:t>
            </a:r>
          </a:p>
          <a:p>
            <a:pPr/>
            <a:r>
              <a:t>Clear data visualization for TCO and ROI</a:t>
            </a:r>
          </a:p>
          <a:p>
            <a:pPr/>
            <a:r>
              <a:t>Client logo alongside AWS partner logo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28</cp:revision>
  <dcterms:created xsi:type="dcterms:W3CDTF">2025-11-01T21:16:10Z</dcterms:created>
  <dcterms:modified xsi:type="dcterms:W3CDTF">2025-11-03T05:12:47Z</dcterms:modified>
</cp:coreProperties>
</file>