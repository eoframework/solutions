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5856" b="585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Cloud Migration - On-Premise to Cloud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November 15, 2025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Opportunity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data center costs and redirect capital to business innovation and growth</a:t>
            </a:r>
          </a:p>
          <a:p>
            <a:pPr lvl="1"/>
            <a:r>
              <a:t>Achieve operational agility with cloud-native scalability and global infrastructure</a:t>
            </a:r>
          </a:p>
          <a:p>
            <a:pPr lvl="1"/>
            <a:r>
              <a:t>Modernize legacy applications while reducing technical debt and maintenance burden</a:t>
            </a:r>
          </a:p>
          <a:p>
            <a:pPr/>
            <a:r>
              <a:rPr b="1"/>
              <a:t>Success Criteria</a:t>
            </a:r>
          </a:p>
          <a:p>
            <a:pPr lvl="1"/>
            <a:r>
              <a:t>Complete migration of production workloads within 6-9 months with zero data loss</a:t>
            </a:r>
          </a:p>
          <a:p>
            <a:pPr lvl="1"/>
            <a:r>
              <a:t>Achieve 30-40% infrastructure cost reduction through right-sizing and optimization</a:t>
            </a:r>
          </a:p>
          <a:p>
            <a:pPr lvl="1"/>
            <a:r>
              <a:t>Establish AWS landing zone foundation for future cloud-native development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494" b="6494"/>
          <a:stretch>
            <a:fillRect/>
          </a:stretch>
        </p:blipFill>
        <p:spPr/>
      </p:pic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Migration Approach</a:t>
            </a:r>
          </a:p>
          <a:p>
            <a:pPr lvl="1"/>
            <a:r>
              <a:t>Discovery with Application Discovery Service maps dependencies and complexity</a:t>
            </a:r>
          </a:p>
          <a:p>
            <a:pPr lvl="1"/>
            <a:r>
              <a:t>Migration tools: DMS for databases, SMS for servers, DataSync for data transfer</a:t>
            </a:r>
          </a:p>
          <a:p>
            <a:pPr lvl="1"/>
            <a:r>
              <a:t>Migration Hub provides centralized tracking across all migration waves</a:t>
            </a:r>
          </a:p>
          <a:p>
            <a:pPr/>
            <a:r>
              <a:rPr b="1"/>
              <a:t>AWS Landing Zone</a:t>
            </a:r>
          </a:p>
          <a:p>
            <a:pPr lvl="1"/>
            <a:r>
              <a:t>Multi-account structure with Control Tower and Organizations for governance</a:t>
            </a:r>
          </a:p>
          <a:p>
            <a:pPr lvl="1"/>
            <a:r>
              <a:t>Production infrastructure: Auto Scaling EC2, RDS, S3, CloudFront, VPC networking</a:t>
            </a:r>
          </a:p>
          <a:p>
            <a:pPr lvl="1"/>
            <a:r>
              <a:t>Site-to-Site VPN enables secure hybrid connectivity during phased migration</a:t>
            </a:r>
          </a:p>
        </p:txBody>
      </p:sp>
      <p:pic>
        <p:nvPicPr>
          <p:cNvPr id="6" name="Picture 5" descr="architecture-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244" y="685799"/>
            <a:ext cx="1613537" cy="3815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Approach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Discovery &amp; Assessment (Months 1-2)</a:t>
            </a:r>
          </a:p>
          <a:p>
            <a:pPr lvl="1"/>
            <a:r>
              <a:t>Application discovery and dependency mapping with AWS tools</a:t>
            </a:r>
          </a:p>
          <a:p>
            <a:pPr lvl="1"/>
            <a:r>
              <a:t>Migration readiness assessment and wave planning (lift-shift vs replatform)</a:t>
            </a:r>
          </a:p>
          <a:p>
            <a:pPr lvl="1"/>
            <a:r>
              <a:t>AWS landing zone design and account structure setup</a:t>
            </a:r>
          </a:p>
          <a:p>
            <a:pPr/>
            <a:r>
              <a:rPr b="1"/>
              <a:t>Phase 2: Migration Execution (Months 3-6)</a:t>
            </a:r>
          </a:p>
          <a:p>
            <a:pPr lvl="1"/>
            <a:r>
              <a:t>Wave 1: Non-critical applications for validation and learning</a:t>
            </a:r>
          </a:p>
          <a:p>
            <a:pPr lvl="1"/>
            <a:r>
              <a:t>Wave 2: Business-critical applications with tested migration patterns</a:t>
            </a:r>
          </a:p>
          <a:p>
            <a:pPr lvl="1"/>
            <a:r>
              <a:t>Wave 3: Complex/legacy applications requiring refactoring</a:t>
            </a:r>
          </a:p>
          <a:p>
            <a:pPr/>
            <a:r>
              <a:rPr b="1"/>
              <a:t>Phase 3: Optimization (Months 7-9)</a:t>
            </a:r>
          </a:p>
          <a:p>
            <a:pPr lvl="1"/>
            <a:r>
              <a:t>Right-sizing based on CloudWatch metrics and usage patterns</a:t>
            </a:r>
          </a:p>
          <a:p>
            <a:pPr lvl="1"/>
            <a:r>
              <a:t>Cost optimization through Reserved Instances and Savings Plans</a:t>
            </a:r>
          </a:p>
          <a:p>
            <a:pPr lvl="1"/>
            <a:r>
              <a:t>Security hardening and compliance validation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Timeline &amp; Milestones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404" b="6404"/>
          <a:stretch>
            <a:fillRect/>
          </a:stretch>
        </p:blipFill>
        <p:spPr/>
      </p:pic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311"/>
                <a:gridCol w="2177733"/>
                <a:gridCol w="1045311"/>
                <a:gridCol w="4442575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Discovery &amp; Assessment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Application inventory completed, Migration waves defined, AWS landing zone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Migration Execution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Wave 1-3 migrated to AWS, Applications validated in cloud, Hybrid connectivity established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Closure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7-9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right-sized, Costs optimized, On-premises decommissioned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Success Stories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Global Manufacturing Company</a:t>
            </a:r>
          </a:p>
          <a:p>
            <a:pPr lvl="1"/>
            <a:r>
              <a:rPr b="1"/>
              <a:t>Client:</a:t>
            </a:r>
            <a:r>
              <a:t> Mid-market manufacturer with 5,000 employees across 12 global facilities</a:t>
            </a:r>
          </a:p>
          <a:p>
            <a:pPr lvl="1"/>
            <a:r>
              <a:rPr b="1"/>
              <a:t>Challenge:</a:t>
            </a:r>
            <a:r>
              <a:t> Aging data centers requiring $3M upgrade, 72-hour lead time for new environments</a:t>
            </a:r>
          </a:p>
          <a:p>
            <a:pPr lvl="1"/>
            <a:r>
              <a:rPr b="1"/>
              <a:t>Solution:</a:t>
            </a:r>
            <a:r>
              <a:t> AWS migration of 150 servers, 20 databases, and 50TB data using DMS/SMS/DataSync</a:t>
            </a:r>
          </a:p>
          <a:p>
            <a:pPr lvl="1"/>
            <a:r>
              <a:rPr b="1"/>
              <a:t>Results:</a:t>
            </a:r>
            <a:r>
              <a:t> 42% cost reduction ($1.8M annual savings), 95% faster provisioning, zero downtime, DC terminated</a:t>
            </a:r>
          </a:p>
          <a:p>
            <a:pPr lvl="1"/>
            <a:r>
              <a:rPr b="1"/>
              <a:t>Testimonial:</a:t>
            </a:r>
            <a:r>
              <a:t> "The migration delivered beyond cost savings - we've fundamentally changed how we operate. New capabilities that took months now take hours, enabling business agility we never had before." — </a:t>
            </a:r>
            <a:r>
              <a:rPr b="1"/>
              <a:t>Jennifer Wu, CIO</a:t>
            </a:r>
            <a:r>
              <a:t>, GlobalManufacture Corp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Our Partnership Advantage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314" b="631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12+ years delivering AWS migrations with 100% success rate</a:t>
            </a:r>
          </a:p>
          <a:p>
            <a:pPr lvl="1"/>
            <a:r>
              <a:t>150+ successful migrations totaling 10,000+ servers to AWS</a:t>
            </a:r>
          </a:p>
          <a:p>
            <a:pPr lvl="1"/>
            <a:r>
              <a:t>AWS Migration Competency and Premier Consulting Partner status</a:t>
            </a:r>
          </a:p>
          <a:p>
            <a:pPr lvl="1"/>
            <a:r>
              <a:t>Certified migration specialists and AWS-authorized instructors</a:t>
            </a:r>
          </a:p>
          <a:p>
            <a:pPr lvl="1"/>
            <a:r>
              <a:t>Pre-built migration accelerators and automation tools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Proven migration methodology reduces risk and accelerates timeline</a:t>
            </a:r>
          </a:p>
          <a:p>
            <a:pPr lvl="1"/>
            <a:r>
              <a:t>AWS Migration credits (10-25% of spend) offset migration costs</a:t>
            </a:r>
          </a:p>
          <a:p>
            <a:pPr lvl="1"/>
            <a:r>
              <a:t>Direct AWS TAM and migration specialist support</a:t>
            </a:r>
          </a:p>
          <a:p>
            <a:pPr lvl="1"/>
            <a:r>
              <a:t>Best practices from 150+ migrations avoid common pitfalls</a:t>
            </a:r>
          </a:p>
          <a:p>
            <a:pPr lvl="1"/>
            <a:r>
              <a:t>Comprehensive training for cloud operations team</a:t>
            </a:r>
          </a:p>
        </p:txBody>
      </p:sp>
      <p:pic>
        <p:nvPicPr>
          <p:cNvPr id="6" name="Picture 5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Investment Summary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404" b="6404"/>
          <a:stretch>
            <a:fillRect/>
          </a:stretch>
        </p:blipFill>
        <p:spPr/>
      </p:pic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$514,000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$514,000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$200,532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$25,282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$25,282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$251,096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 &amp; Subscriptions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TOTAL SOLUTION INVESTMENT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$739,532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$25,282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$25,282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$790,096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Decision: Executive approval for discovery and migration planning by [specific date]</a:t>
            </a:r>
          </a:p>
          <a:p>
            <a:pPr/>
            <a:r>
              <a:t>Kickoff: Discovery phase start date [30 days from approval]</a:t>
            </a:r>
          </a:p>
          <a:p>
            <a:pPr/>
            <a:r>
              <a:t>Team Formation: Application owners, infrastructure team, migration project manager</a:t>
            </a:r>
          </a:p>
          <a:p>
            <a:pPr/>
            <a:r>
              <a:t>Week 1: Contract finalization and AWS account setup</a:t>
            </a:r>
          </a:p>
          <a:p>
            <a:pPr/>
            <a:r>
              <a:t>Week 2: Application Discovery Service deployment and data collection</a:t>
            </a:r>
          </a:p>
          <a:p>
            <a:pPr/>
            <a:r>
              <a:t>Week 3: Dependency mapping and migration complexity assessment</a:t>
            </a:r>
          </a:p>
          <a:p>
            <a:pPr/>
            <a:r>
              <a:t>Week 4: Migration wave planning and AWS landing zone design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7166" b="716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/>
              <a:t>Your Account Manager:</a:t>
            </a:r>
            <a:r>
              <a:t> [Name, Title] | [Email] | [Phone]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