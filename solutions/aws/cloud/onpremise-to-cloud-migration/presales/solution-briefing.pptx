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AWS Cloud Migration - On-Premise to Cloud</a:t>
            </a:r>
          </a:p>
          <a:p>
            <a:r>
              <a:t>['Presenter Name']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1: Title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Client Logo (top center)</a:t>
            </a:r>
          </a:p>
          <a:p>
            <a:pPr/>
            <a:r>
              <a:t>Consulting Company Logo (footer left)</a:t>
            </a:r>
          </a:p>
          <a:p>
            <a:pPr/>
            <a:r>
              <a:t>EO Framework Logo (footer right)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Opportunity</a:t>
            </a:r>
          </a:p>
          <a:p>
            <a:pPr/>
            <a:r>
              <a:t>Eliminate data center costs and redirect capital to business innovation and growth</a:t>
            </a:r>
          </a:p>
          <a:p>
            <a:pPr/>
            <a:r>
              <a:t>Achieve operational agility with cloud-native scalability and global infrastructure</a:t>
            </a:r>
          </a:p>
          <a:p>
            <a:pPr/>
            <a:r>
              <a:t>Modernize legacy applications while reducing technical debt and maintenance burden</a:t>
            </a:r>
          </a:p>
          <a:p>
            <a:pPr/>
            <a:r>
              <a:t>Success Criteria</a:t>
            </a:r>
          </a:p>
          <a:p>
            <a:pPr/>
            <a:r>
              <a:t>Complete migration of production workloads within 6-9 months with zero data loss</a:t>
            </a:r>
          </a:p>
          <a:p>
            <a:pPr/>
            <a:r>
              <a:t>Achieve 30-40% infrastructure cost reduction through right-sizing and optimization</a:t>
            </a:r>
          </a:p>
          <a:p>
            <a:pPr/>
            <a:r>
              <a:t>Establish AWS landing zone foundation for future cloud-native development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Engagement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Migration Approach</a:t>
            </a:r>
          </a:p>
          <a:p>
            <a:pPr/>
            <a:r>
              <a:t>Discovery with Application Discovery Service maps dependencies and complexity</a:t>
            </a:r>
          </a:p>
          <a:p>
            <a:pPr/>
            <a:r>
              <a:t>Migration tools: DMS for databases, SMS for servers, DataSync for data transfer</a:t>
            </a:r>
          </a:p>
          <a:p>
            <a:pPr/>
            <a:r>
              <a:t>Migration Hub provides centralized tracking across all migration waves</a:t>
            </a:r>
          </a:p>
          <a:p>
            <a:pPr/>
            <a:r>
              <a:t>AWS Landing Zone</a:t>
            </a:r>
          </a:p>
          <a:p>
            <a:pPr/>
            <a:r>
              <a:t>Multi-account structure with Control Tower and Organizations for governance</a:t>
            </a:r>
          </a:p>
          <a:p>
            <a:pPr/>
            <a:r>
              <a:t>Production infrastructure: Auto Scaling EC2, RDS, S3, CloudFront, VPC networking</a:t>
            </a:r>
          </a:p>
          <a:p>
            <a:pPr/>
            <a:r>
              <a:t>Site-to-Site VPN enables secure hybrid connectivity during phased migration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Phase 1: Discovery &amp; Assessment (Months 1-2)</a:t>
            </a:r>
          </a:p>
          <a:p>
            <a:pPr/>
            <a:r>
              <a:t>Application discovery and dependency mapping with AWS tools</a:t>
            </a:r>
          </a:p>
          <a:p>
            <a:pPr/>
            <a:r>
              <a:t>Migration readiness assessment and wave planning (lift-shift vs replatform)</a:t>
            </a:r>
          </a:p>
          <a:p>
            <a:pPr/>
            <a:r>
              <a:t>AWS landing zone design and account structure setup</a:t>
            </a:r>
          </a:p>
          <a:p>
            <a:pPr/>
            <a:r>
              <a:t>Phase 2: Migration Execution (Months 3-6)</a:t>
            </a:r>
          </a:p>
          <a:p>
            <a:pPr/>
            <a:r>
              <a:t>Wave 1: Non-critical applications for validation and learning</a:t>
            </a:r>
          </a:p>
          <a:p>
            <a:pPr/>
            <a:r>
              <a:t>Wave 2: Business-critical applications with tested migration patterns</a:t>
            </a:r>
          </a:p>
          <a:p>
            <a:pPr/>
            <a:r>
              <a:t>Wave 3: Complex/legacy applications requiring refactoring</a:t>
            </a:r>
          </a:p>
          <a:p>
            <a:pPr/>
            <a:r>
              <a:t>Phase 3: Optimization (Months 7-9)</a:t>
            </a:r>
          </a:p>
          <a:p>
            <a:pPr/>
            <a:r>
              <a:t>Right-sizing based on CloudWatch metrics and usage patterns</a:t>
            </a:r>
          </a:p>
          <a:p>
            <a:pPr/>
            <a:r>
              <a:t>Cost optimization through Reserved Instances and Savings Plans</a:t>
            </a:r>
          </a:p>
          <a:p>
            <a:pPr/>
            <a:r>
              <a:t>Security hardening and compliance validation</a:t>
            </a:r>
          </a:p>
          <a:p>
            <a:pPr/>
            <a:r>
              <a:t>Discovery phase identifies dependencies before migration starts</a:t>
            </a:r>
          </a:p>
          <a:p>
            <a:pPr/>
            <a:r>
              <a:t>Wave approach allows validation and learning with lower-risk apps first</a:t>
            </a:r>
          </a:p>
          <a:p>
            <a:pPr/>
            <a:r>
              <a:t>Hybrid connectivity maintains business continuity during migration</a:t>
            </a:r>
          </a:p>
          <a:p>
            <a:pPr/>
            <a:r>
              <a:t>Application owners engaged for validation and cutover approval</a:t>
            </a:r>
          </a:p>
          <a:p>
            <a:pPr/>
            <a:r>
              <a:t>Maintenance windows available for migration activities</a:t>
            </a:r>
          </a:p>
          <a:p>
            <a:pPr/>
            <a:r>
              <a:t>Executive sponsorship for organizational change management</a:t>
            </a:r>
          </a:p>
          <a:p>
            <a:pPr/>
            <a:r>
              <a:t>Start with discovery - you can't migrate what you don't understand</a:t>
            </a:r>
          </a:p>
          <a:p>
            <a:pPr/>
            <a:r>
              <a:t>Wave approach de-risks migration with incremental validation</a:t>
            </a:r>
          </a:p>
          <a:p>
            <a:pPr/>
            <a:r>
              <a:t>Optimization in Phase 3 delivers cost savings post-migration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 &amp; Milestones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AWS landing zone operational by Month 2</a:t>
            </a:r>
          </a:p>
          <a:p>
            <a:pPr/>
            <a:r>
              <a:t>First applications running in cloud by Month 3</a:t>
            </a:r>
          </a:p>
          <a:p>
            <a:pPr/>
            <a:r>
              <a:t>Cost savings visible from decommissioned hardware by Month 7</a:t>
            </a:r>
          </a:p>
          <a:p>
            <a:pPr/>
            <a:r>
              <a:t>Discovery in Months 1-2 ensures accurate migration planning</a:t>
            </a:r>
          </a:p>
          <a:p>
            <a:pPr/>
            <a:r>
              <a:t>Migration Waves 1-3 deliver incremental progress with validation</a:t>
            </a:r>
          </a:p>
          <a:p>
            <a:pPr/>
            <a:r>
              <a:t>Optimization post-migration maximizes cloud economics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Client Success: Global Manufacturing Company</a:t>
            </a:r>
          </a:p>
          <a:p>
            <a:pPr/>
            <a:r>
              <a:t>Client: Mid-market manufacturer with 5,000 employees across 12 global facilities</a:t>
            </a:r>
          </a:p>
          <a:p>
            <a:pPr/>
            <a:r>
              <a:t>Challenge: Aging data centers requiring $3M upgrade, 72-hour lead time for new environments</a:t>
            </a:r>
          </a:p>
          <a:p>
            <a:pPr/>
            <a:r>
              <a:t>Solution: AWS migration of 150 servers, 20 databases, and 50TB data using DMS/SMS/DataSync</a:t>
            </a:r>
          </a:p>
          <a:p>
            <a:pPr/>
            <a:r>
              <a:t>Results: 42% cost reduction ($1.8M annual savings), 95% faster provisioning, zero downtime, DC terminated</a:t>
            </a:r>
          </a:p>
          <a:p>
            <a:pPr/>
            <a:r>
              <a:t>Testimonial: "The migration delivered beyond cost savings - we've fundamentally changed how we operate. New capabilities that took months now take hours, enabling business agility we never had before." — Jennifer Wu, CIO, GlobalManufacture Corp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What We Bring</a:t>
            </a:r>
          </a:p>
          <a:p>
            <a:pPr/>
            <a:r>
              <a:t>12+ years delivering AWS migrations with 100% success rate</a:t>
            </a:r>
          </a:p>
          <a:p>
            <a:pPr/>
            <a:r>
              <a:t>150+ successful migrations totaling 10,000+ servers to AWS</a:t>
            </a:r>
          </a:p>
          <a:p>
            <a:pPr/>
            <a:r>
              <a:t>AWS Migration Competency and Premier Consulting Partner status</a:t>
            </a:r>
          </a:p>
          <a:p>
            <a:pPr/>
            <a:r>
              <a:t>Certified migration specialists and AWS-authorized instructors</a:t>
            </a:r>
          </a:p>
          <a:p>
            <a:pPr/>
            <a:r>
              <a:t>Pre-built migration accelerators and automation tools</a:t>
            </a:r>
          </a:p>
          <a:p>
            <a:pPr/>
            <a:r>
              <a:t>Value to You</a:t>
            </a:r>
          </a:p>
          <a:p>
            <a:pPr/>
            <a:r>
              <a:t>Proven migration methodology reduces risk and accelerates timeline</a:t>
            </a:r>
          </a:p>
          <a:p>
            <a:pPr/>
            <a:r>
              <a:t>AWS Migration credits (10-25% of spend) offset migration costs</a:t>
            </a:r>
          </a:p>
          <a:p>
            <a:pPr/>
            <a:r>
              <a:t>Direct AWS TAM and migration specialist support</a:t>
            </a:r>
          </a:p>
          <a:p>
            <a:pPr/>
            <a:r>
              <a:t>Best practices from 150+ migrations avoid common pitfalls</a:t>
            </a:r>
          </a:p>
          <a:p>
            <a:pPr/>
            <a:r>
              <a:t>Comprehensive training for cloud operations team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AWS MAP Assessment Credit: $12,000 (100% funding for migration discovery and planning)</a:t>
            </a:r>
          </a:p>
          <a:p>
            <a:pPr/>
            <a:r>
              <a:t>AWS MAP Mobilize/Migrate Credit: $10,000 (partial funding for migration execution)</a:t>
            </a:r>
          </a:p>
          <a:p>
            <a:pPr/>
            <a:r>
              <a:t>AWS MAP Consumption Credit: $8,117 (35% of Year 1 cloud infrastructure ARR)</a:t>
            </a:r>
          </a:p>
          <a:p>
            <a:pPr/>
            <a:r>
              <a:t>Total Credits Applied: $30,117</a:t>
            </a:r>
          </a:p>
          <a:p>
            <a:pPr/>
            <a:r>
              <a:t>Year 1: $109,199 (after $30,117 in MAP program credits)</a:t>
            </a:r>
          </a:p>
          <a:p>
            <a:pPr/>
            <a:r>
              <a:t>3-Year Total: $137,331 (vs. $167,448 list price)</a:t>
            </a:r>
          </a:p>
          <a:p>
            <a:pPr/>
            <a:r>
              <a:t>You Save: $30,117 (22% discount through AWS MAP program)</a:t>
            </a:r>
          </a:p>
          <a:p>
            <a:pPr/>
            <a:r>
              <a:t>Workloads: 15-25 VMs/applications migrated to AWS</a:t>
            </a:r>
          </a:p>
          <a:p>
            <a:pPr/>
            <a:r>
              <a:t>Migration Strategy: Lift-and-shift (rehost) - not refactoring</a:t>
            </a:r>
          </a:p>
          <a:p>
            <a:pPr/>
            <a:r>
              <a:t>Infrastructure: 3x t3.large EC2, db.t3.large RDS Multi-AZ, 1TB storage, single region</a:t>
            </a:r>
          </a:p>
          <a:p>
            <a:pPr/>
            <a:r>
              <a:t>Timeline: 4-6 months from assessment to cutover</a:t>
            </a:r>
          </a:p>
          <a:p>
            <a:pPr/>
            <a:r>
              <a:t>Cloud Infrastructure: $9,472/year (EC2, RDS, storage, networking)</a:t>
            </a:r>
          </a:p>
          <a:p>
            <a:pPr/>
            <a:r>
              <a:t>Software Licenses: $3,132/year (Datadog, PagerDuty)</a:t>
            </a:r>
          </a:p>
          <a:p>
            <a:pPr/>
            <a:r>
              <a:t>Support &amp; Maintenance: $1,462/year (ongoing optimization)</a:t>
            </a:r>
          </a:p>
          <a:p>
            <a:pPr/>
            <a:r>
              <a:t>On-Premises 3-Year Cost: $420K (25 VMs × $5.6K/year + maintenance)</a:t>
            </a:r>
          </a:p>
          <a:p>
            <a:pPr/>
            <a:r>
              <a:t>AWS 3-Year TCO: $137K (after MAP credits)</a:t>
            </a:r>
          </a:p>
          <a:p>
            <a:pPr/>
            <a:r>
              <a:t>Net Savings: $283K over 3 years (67% reduction in infrastructure costs)</a:t>
            </a:r>
          </a:p>
          <a:p>
            <a:pPr/>
            <a:r>
              <a:t>Assessment &amp; Planning (140 hours): Discovery, migration strategy, AWS landing zone</a:t>
            </a:r>
          </a:p>
          <a:p>
            <a:pPr/>
            <a:r>
              <a:t>Migration Execution (330 hours): App migration, DB migration, security, testing, cutover</a:t>
            </a:r>
          </a:p>
          <a:p>
            <a:pPr/>
            <a:r>
              <a:t>Training &amp; Support (78 hours): Knowledge transfer, documentation, 60-day hypercare</a:t>
            </a:r>
          </a:p>
          <a:p>
            <a:pPr/>
            <a:r>
              <a:t>This is a department-level migration of 15-25 workloads using lift-and-shift strategy</a:t>
            </a:r>
          </a:p>
          <a:p>
            <a:pPr/>
            <a:r>
              <a:t>Small scope = proven approach before scaling to enterprise migration</a:t>
            </a:r>
          </a:p>
          <a:p>
            <a:pPr/>
            <a:r>
              <a:t>Year 1 net investment of $109K (after $30K MAP credits) eliminates ongoing data center costs</a:t>
            </a:r>
          </a:p>
          <a:p>
            <a:pPr/>
            <a:r>
              <a:t>67% cost reduction vs. keeping workloads on-premises</a:t>
            </a:r>
          </a:p>
          <a:p>
            <a:pPr/>
            <a:r>
              <a:t>Highlight Year 1 includes full migration (one-time)</a:t>
            </a:r>
          </a:p>
          <a:p>
            <a:pPr/>
            <a:r>
              <a:t>Ongoing costs (Years 2-3) significantly lower than data center operations</a:t>
            </a:r>
          </a:p>
          <a:p>
            <a:pPr/>
            <a:r>
              <a:t>Net savings of $283K over 3 years demonstrates clear ROI</a:t>
            </a:r>
          </a:p>
          <a:p>
            <a:pPr/>
            <a:r>
              <a:t>Assessment Credit: $12K covers 100% of migration discovery and planning</a:t>
            </a:r>
          </a:p>
          <a:p>
            <a:pPr/>
            <a:r>
              <a:t>Mobilize/Migrate Credit: $10K partial funding for migration execution</a:t>
            </a:r>
          </a:p>
          <a:p>
            <a:pPr/>
            <a:r>
              <a:t>Consumption Credit: $8.1K (35% of Year 1 cloud spend)</a:t>
            </a:r>
          </a:p>
          <a:p>
            <a:pPr/>
            <a:r>
              <a:t>Total $30K in credits reduces Year 1 by 22%</a:t>
            </a:r>
          </a:p>
          <a:p>
            <a:pPr/>
            <a:r>
              <a:t>Frame as AWS partnership investment in client's cloud journey</a:t>
            </a:r>
          </a:p>
          <a:p>
            <a:pPr/>
            <a:r>
              <a:t>MAP credits are non-dilutive - don't impact AWS pricing post-Year 1</a:t>
            </a:r>
          </a:p>
          <a:p>
            <a:pPr/>
            <a:r>
              <a:t>Professional services net cost $103K after MAP credits (from $125K list)</a:t>
            </a:r>
          </a:p>
          <a:p>
            <a:pPr/>
            <a:r>
              <a:t>Cloud costs Year 1 net $1.4K after consumption credit (from $9.6K list)</a:t>
            </a:r>
          </a:p>
          <a:p>
            <a:pPr/>
            <a:r>
              <a:t>AWS MAP program makes migration investment significantly more affordable</a:t>
            </a:r>
          </a:p>
          <a:p>
            <a:pPr/>
            <a:r>
              <a:t>No hidden costs - transparent pricing model</a:t>
            </a:r>
          </a:p>
          <a:p>
            <a:pPr/>
            <a:r>
              <a:t>"Can we migrate ourselves?" - Highlight MAP credits require partner engagement</a:t>
            </a:r>
          </a:p>
          <a:p>
            <a:pPr/>
            <a:r>
              <a:t>"Why professional services?" - Show proven methodology + $22K MAP funding</a:t>
            </a:r>
          </a:p>
          <a:p>
            <a:pPr/>
            <a:r>
              <a:t>"What if migration fails?" - Point to wave approach and AWS TAM support</a:t>
            </a:r>
          </a:p>
          <a:p>
            <a:pPr/>
            <a:r>
              <a:t>"How do we control cloud costs?" - Explain optimization in Phase 3 and FinOps</a:t>
            </a:r>
          </a:p>
          <a:p>
            <a:pPr/>
            <a:r>
              <a:t>"Do credits expire?" - MAP credits are one-time Year 1, must be utilized during migration</a:t>
            </a:r>
          </a:p>
          <a:p>
            <a:pPr/>
            <a:r>
              <a:t>MAP program reduces Year 1 net investment to $109K (from $139K list)</a:t>
            </a:r>
          </a:p>
          <a:p>
            <a:pPr/>
            <a:r>
              <a:t>Compare $137K 3-year TCO to $420K on-prem equivalent</a:t>
            </a:r>
          </a:p>
          <a:p>
            <a:pPr/>
            <a:r>
              <a:t>Migration pays for itself through hardware/facility cost elimination</a:t>
            </a:r>
          </a:p>
          <a:p>
            <a:pPr/>
            <a:r>
              <a:t>AWS MAP partnership de-risks migration and accelerates timeline</a:t>
            </a:r>
          </a:p>
          <a:p>
            <a:pPr/>
            <a:r>
              <a:t>$30K in credits demonstrates AWS commitment to successful migration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Week 1: Contract finalization and AWS account setup</a:t>
            </a:r>
          </a:p>
          <a:p>
            <a:pPr/>
            <a:r>
              <a:t>Week 2: Application Discovery Service deployment and data collection</a:t>
            </a:r>
          </a:p>
          <a:p>
            <a:pPr/>
            <a:r>
              <a:t>Week 3: Dependency mapping and migration complexity assessment</a:t>
            </a:r>
          </a:p>
          <a:p>
            <a:pPr/>
            <a:r>
              <a:t>Week 4: Migration wave planning and AWS landing zone design</a:t>
            </a:r>
          </a:p>
          <a:p>
            <a:pPr/>
            <a:r>
              <a:t>"Now that we've covered the investment and demonstrated cost savings, let's discuss getting started"</a:t>
            </a:r>
          </a:p>
          <a:p>
            <a:pPr/>
            <a:r>
              <a:t>Emphasize discovery validates business case before full migration commitment</a:t>
            </a:r>
          </a:p>
          <a:p>
            <a:pPr/>
            <a:r>
              <a:t>Show clear path from decision to first workloads in cloud</a:t>
            </a:r>
          </a:p>
          <a:p>
            <a:pPr/>
            <a:r>
              <a:t>Discovery phase identifies all applications and dependencies</a:t>
            </a:r>
          </a:p>
          <a:p>
            <a:pPr/>
            <a:r>
              <a:t>Assessment reveals actual migration effort (not estimates)</a:t>
            </a:r>
          </a:p>
          <a:p>
            <a:pPr/>
            <a:r>
              <a:t>Wave planning allows phased approach with validation points</a:t>
            </a:r>
          </a:p>
          <a:p>
            <a:pPr/>
            <a:r>
              <a:t>AWS landing zone provides secure foundation from day one</a:t>
            </a:r>
          </a:p>
          <a:p>
            <a:pPr/>
            <a:r>
              <a:t>Discovery can start within 2 weeks of approval</a:t>
            </a:r>
          </a:p>
          <a:p>
            <a:pPr/>
            <a:r>
              <a:t>You'll have complete application inventory by Month 2</a:t>
            </a:r>
          </a:p>
          <a:p>
            <a:pPr/>
            <a:r>
              <a:t>First applications migrated to AWS by Month 3</a:t>
            </a:r>
          </a:p>
          <a:p>
            <a:pPr/>
            <a:r>
              <a:t>Validate approach with Wave 1 before committing to Wave 2-3</a:t>
            </a:r>
          </a:p>
          <a:p>
            <a:pPr/>
            <a:r>
              <a:t>Data center decommissioning delivers cost savings by Month 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Your Account Manager: [Name, Title] | [Email] | [Phone]</a:t>
            </a:r>
          </a:p>
          <a:p>
            <a:pPr/>
            <a:r>
              <a:t>Thank them for considering cloud transformation</a:t>
            </a:r>
          </a:p>
          <a:p>
            <a:pPr/>
            <a:r>
              <a:t>Reiterate commitment to successful migration with zero business disruption</a:t>
            </a:r>
          </a:p>
          <a:p>
            <a:pPr/>
            <a:r>
              <a:t>Emphasize partnership throughout journey and post-migration optimization</a:t>
            </a:r>
          </a:p>
          <a:p>
            <a:pPr/>
            <a:r>
              <a:t>Offer to provide AWS reference architectures or customer site visits</a:t>
            </a:r>
          </a:p>
          <a:p>
            <a:pPr/>
            <a:r>
              <a:t>Confirm next steps and decision timeline</a:t>
            </a:r>
          </a:p>
          <a:p>
            <a:pPr/>
            <a:r>
              <a:t>Schedule discovery kickoff workshop</a:t>
            </a:r>
          </a:p>
          <a:p>
            <a:pPr/>
            <a:r>
              <a:t>Identify application stakeholders for interviews</a:t>
            </a:r>
          </a:p>
          <a:p>
            <a:pPr/>
            <a:r>
              <a:t>Review and approve migration timeline</a:t>
            </a:r>
          </a:p>
          <a:p>
            <a:pPr/>
            <a:r>
              <a:t>Set date for executive decision and project start</a:t>
            </a:r>
          </a:p>
          <a:p>
            <a:pPr/>
            <a:r>
              <a:t>Request preliminary application inventory if available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