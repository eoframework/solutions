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Presentation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Name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Presenter Name | November 15,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Key Achievements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100% CMMC Level 3 compliance</a:t>
            </a:r>
            <a:r>
              <a:t> achieved across all assessment domains</a:t>
            </a:r>
          </a:p>
          <a:p>
            <a:pPr/>
            <a:r>
              <a:rPr b="1"/>
              <a:t>99.9% security incident prevention</a:t>
            </a:r>
            <a:r>
              <a:t> rate maintained</a:t>
            </a:r>
          </a:p>
          <a:p>
            <a:pPr/>
            <a:r>
              <a:rPr b="1"/>
              <a:t>$4.2M annual cost avoidance</a:t>
            </a:r>
            <a:r>
              <a:t> through automated compliance monitoring</a:t>
            </a:r>
          </a:p>
          <a:p>
            <a:pPr/>
            <a:r>
              <a:rPr b="1"/>
              <a:t>750+ users</a:t>
            </a:r>
            <a:r>
              <a:t> successfully onboarded across 12 business units</a:t>
            </a:r>
          </a:p>
          <a:p>
            <a:pPr/>
            <a:r>
              <a:rPr b="1"/>
              <a:t>Zero data breaches</a:t>
            </a:r>
            <a:r>
              <a:t> or security incidents recorded</a:t>
            </a:r>
          </a:p>
          <a:p>
            <a:pPr/>
            <a:r>
              <a:rPr b="1"/>
              <a:t>DoD contract eligibility</a:t>
            </a:r>
            <a:r>
              <a:t> maintained for all CUI-handling operations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Impact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Secured DoD contract eligibility worth $25M+ annually</a:t>
            </a:r>
          </a:p>
          <a:p>
            <a:pPr/>
            <a:r>
              <a:t>Enhanced organizational cybersecurity posture and resilience</a:t>
            </a:r>
          </a:p>
          <a:p>
            <a:pPr/>
            <a:r>
              <a:t>Streamlined compliance reporting and audit processes</a:t>
            </a:r>
          </a:p>
          <a:p>
            <a:pPr/>
            <a:r>
              <a:t>Reduced cybersecurity risk exposure by 85%</a:t>
            </a:r>
          </a:p>
          <a:p>
            <a:pPr/>
            <a:r>
              <a:t>Improved competitive positioning for federal contracting opportunities</a:t>
            </a:r>
          </a:p>
          <a:p>
            <a:pPr/>
            <a:r>
              <a:t>Established foundation for future CMMC Level 4/5 progression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Primary Objectives Achieved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Secondary Objectives Achieved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Infrastructure Deployment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Secure Enclave</a:t>
            </a:r>
            <a:r>
              <a:t>: Isolated network segment with dedicated security controls</a:t>
            </a:r>
          </a:p>
          <a:p>
            <a:pPr/>
            <a:r>
              <a:rPr b="1"/>
              <a:t>Identity Management</a:t>
            </a:r>
            <a:r>
              <a:t>: Azure AD Premium P2 with Conditional Access policies</a:t>
            </a:r>
          </a:p>
          <a:p>
            <a:pPr/>
            <a:r>
              <a:rPr b="1"/>
              <a:t>Endpoint Protection</a:t>
            </a:r>
            <a:r>
              <a:t>: Microsoft Defender for Endpoint across all devices</a:t>
            </a:r>
          </a:p>
          <a:p>
            <a:pPr/>
            <a:r>
              <a:rPr b="1"/>
              <a:t>Data Classification</a:t>
            </a:r>
            <a:r>
              <a:t>: Microsoft Purview Information Protection implementation</a:t>
            </a:r>
          </a:p>
          <a:p>
            <a:pPr/>
            <a:r>
              <a:rPr b="1"/>
              <a:t>Cloud Security</a:t>
            </a:r>
            <a:r>
              <a:t>: Azure Security Center with CMMC compliance dashboard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Security Controls Implemented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Multi-Factor Authentication</a:t>
            </a:r>
            <a:r>
              <a:t>: 100% coverage for all user accounts</a:t>
            </a:r>
          </a:p>
          <a:p>
            <a:pPr/>
            <a:r>
              <a:rPr b="1"/>
              <a:t>Privileged Access Management</a:t>
            </a:r>
            <a:r>
              <a:t>: Azure AD PIM for administrative access</a:t>
            </a:r>
          </a:p>
          <a:p>
            <a:pPr/>
            <a:r>
              <a:rPr b="1"/>
              <a:t>Network Segmentation</a:t>
            </a:r>
            <a:r>
              <a:t>: Zero-trust architecture with micro-segmentation</a:t>
            </a:r>
          </a:p>
          <a:p>
            <a:pPr/>
            <a:r>
              <a:rPr b="1"/>
              <a:t>Encryption</a:t>
            </a:r>
            <a:r>
              <a:t>: AES-256 encryption for data at rest and in transit</a:t>
            </a:r>
          </a:p>
          <a:p>
            <a:pPr/>
            <a:r>
              <a:rPr b="1"/>
              <a:t>Monitoring</a:t>
            </a:r>
            <a:r>
              <a:t>: 24/7 security operations center (SOC) integration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Compliance Framework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Policy Management</a:t>
            </a:r>
            <a:r>
              <a:t>: 127 security policies aligned with CMMC requirements</a:t>
            </a:r>
          </a:p>
          <a:p>
            <a:pPr/>
            <a:r>
              <a:rPr b="1"/>
              <a:t>Risk Assessment</a:t>
            </a:r>
            <a:r>
              <a:t>: Quarterly risk assessments with remediation tracking</a:t>
            </a:r>
          </a:p>
          <a:p>
            <a:pPr/>
            <a:r>
              <a:rPr b="1"/>
              <a:t>Vulnerability Management</a:t>
            </a:r>
            <a:r>
              <a:t>: Automated scanning and patch management</a:t>
            </a:r>
          </a:p>
          <a:p>
            <a:pPr/>
            <a:r>
              <a:rPr b="1"/>
              <a:t>Incident Response</a:t>
            </a:r>
            <a:r>
              <a:t>: IR playbooks for all threat scenarios</a:t>
            </a:r>
          </a:p>
          <a:p>
            <a:pPr/>
            <a:r>
              <a:rPr b="1"/>
              <a:t>Business Continuity</a:t>
            </a:r>
            <a:r>
              <a:t>: Disaster recovery and business continuity plans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CMMC Assessment Results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667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Capability Domain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Level Required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Score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Access Control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Level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Compliant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98%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Audit and Accountability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Level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Compliant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97%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Awareness and 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Level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Compliant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Configuration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Level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Compliant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99%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Identification and Authentication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Level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Compliant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98%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Incident Response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Level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Compliant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96%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Level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Compliant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97%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Media Protection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Level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Compliant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Personnel Security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Level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Compliant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99%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Physical Protection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Level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Compliant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98%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Recovery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Level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Compliant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97%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Risk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Level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Compliant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98%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Security Assessment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Level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Compliant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96%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Situational Awareness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Level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Compliant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98%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System and Communications Protection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Level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Compliant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99%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System and Information Integrity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Level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Compliant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97%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System and Services Acquisition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Level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✅ Compliant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95%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Security Metrics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Financial Benefits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Contract Eligibility</a:t>
            </a:r>
            <a:r>
              <a:t>: Maintained access to $25M+ annual DoD contracts</a:t>
            </a:r>
          </a:p>
          <a:p>
            <a:pPr/>
            <a:r>
              <a:rPr b="1"/>
              <a:t>Risk Reduction</a:t>
            </a:r>
            <a:r>
              <a:t>: $4.2M annual savings from prevented security incidents</a:t>
            </a:r>
          </a:p>
          <a:p>
            <a:pPr/>
            <a:r>
              <a:rPr b="1"/>
              <a:t>Operational Efficiency</a:t>
            </a:r>
            <a:r>
              <a:t>: $800K annual savings from automated compliance</a:t>
            </a:r>
          </a:p>
          <a:p>
            <a:pPr/>
            <a:r>
              <a:rPr b="1"/>
              <a:t>Insurance Premium Reduction</a:t>
            </a:r>
            <a:r>
              <a:t>: $150K annual cybersecurity insurance savings</a:t>
            </a:r>
          </a:p>
          <a:p>
            <a:pPr/>
            <a:r>
              <a:rPr b="1"/>
              <a:t>Audit Cost Reduction</a:t>
            </a:r>
            <a:r>
              <a:t>: $200K savings from streamlined audit processes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Total Cost of Ownership (TCO)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Operational Benefits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Automated Compliance Monitoring</a:t>
            </a:r>
            <a:r>
              <a:t>: 85% reduction in manual compliance activities</a:t>
            </a:r>
          </a:p>
          <a:p>
            <a:pPr/>
            <a:r>
              <a:rPr b="1"/>
              <a:t>Enhanced Security Posture</a:t>
            </a:r>
            <a:r>
              <a:t>: 90% improvement in cybersecurity maturity score</a:t>
            </a:r>
          </a:p>
          <a:p>
            <a:pPr/>
            <a:r>
              <a:rPr b="1"/>
              <a:t>Improved Audit Efficiency</a:t>
            </a:r>
            <a:r>
              <a:t>: 70% reduction in audit preparation time</a:t>
            </a:r>
          </a:p>
          <a:p>
            <a:pPr/>
            <a:r>
              <a:rPr b="1"/>
              <a:t>Streamlined Operations</a:t>
            </a:r>
            <a:r>
              <a:t>: 60% faster incident response and resolution</a:t>
            </a:r>
          </a:p>
          <a:p>
            <a:pPr/>
            <a:r>
              <a:rPr b="1"/>
              <a:t>Competitive Advantage</a:t>
            </a:r>
            <a:r>
              <a:t>: Secured position for future DoD opportunities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Key Challenges Overcome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Legacy System Integration</a:t>
            </a:r>
          </a:p>
          <a:p>
            <a:pPr lvl="1"/>
            <a:r>
              <a:t>Challenge: Integrating CMMC controls with existing legacy systems</a:t>
            </a:r>
          </a:p>
          <a:p>
            <a:pPr lvl="1"/>
            <a:r>
              <a:t>Solution: Phased migration approach with security overlay implementation</a:t>
            </a:r>
          </a:p>
          <a:p>
            <a:pPr lvl="1"/>
            <a:r>
              <a:t>Outcome: Successful integration with zero business disruption</a:t>
            </a:r>
          </a:p>
          <a:p>
            <a:pPr/>
            <a:r>
              <a:t>Staff Training and Adoption</a:t>
            </a:r>
          </a:p>
          <a:p>
            <a:pPr lvl="1"/>
            <a:r>
              <a:t>Challenge: Ensuring comprehensive cybersecurity awareness across organization</a:t>
            </a:r>
          </a:p>
          <a:p>
            <a:pPr lvl="1"/>
            <a:r>
              <a:t>Solution: Role-based training program with hands-on workshops</a:t>
            </a:r>
          </a:p>
          <a:p>
            <a:pPr lvl="1"/>
            <a:r>
              <a:t>Outcome: 100% training completion with high engagement scores</a:t>
            </a:r>
          </a:p>
          <a:p>
            <a:pPr/>
            <a:r>
              <a:t>Compliance Documentation</a:t>
            </a:r>
          </a:p>
          <a:p>
            <a:pPr lvl="1"/>
            <a:r>
              <a:t>Challenge: Creating audit-ready documentation for all CMMC requirements</a:t>
            </a:r>
          </a:p>
          <a:p>
            <a:pPr lvl="1"/>
            <a:r>
              <a:t>Solution: Automated documentation generation and evidence collection</a:t>
            </a:r>
          </a:p>
          <a:p>
            <a:pPr lvl="1"/>
            <a:r>
              <a:t>Outcome: Streamlined audit process with comprehensive evidence portfolio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Lessons Learned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Early Stakeholder Engagement</a:t>
            </a:r>
            <a:r>
              <a:t>: Critical for securing organizational buy-in</a:t>
            </a:r>
          </a:p>
          <a:p>
            <a:pPr/>
            <a:r>
              <a:rPr b="1"/>
              <a:t>Incremental Implementation</a:t>
            </a:r>
            <a:r>
              <a:t>: Phased approach reduces risk and improves adoption</a:t>
            </a:r>
          </a:p>
          <a:p>
            <a:pPr/>
            <a:r>
              <a:rPr b="1"/>
              <a:t>Continuous Monitoring</a:t>
            </a:r>
            <a:r>
              <a:t>: Real-time compliance monitoring essential for maintenance</a:t>
            </a:r>
          </a:p>
          <a:p>
            <a:pPr/>
            <a:r>
              <a:rPr b="1"/>
              <a:t>Training Investment</a:t>
            </a:r>
            <a:r>
              <a:t>: Comprehensive training programs drive successful adoption</a:t>
            </a:r>
          </a:p>
          <a:p>
            <a:pPr/>
            <a:r>
              <a:rPr b="1"/>
              <a:t>Automation Priority</a:t>
            </a:r>
            <a:r>
              <a:t>: Automated controls reduce operational burden significantly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Short-term Priorities (3-6 months)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CMMC Level 4 Assessment: Initiate evaluation for enhanced security requirements</a:t>
            </a:r>
          </a:p>
          <a:p>
            <a:pPr/>
            <a:r>
              <a:t>Advanced Threat Protection: Deploy additional AI-powered security tools</a:t>
            </a:r>
          </a:p>
          <a:p>
            <a:pPr/>
            <a:r>
              <a:t>Supply Chain Security: Extend CMMC requirements to key vendors</a:t>
            </a:r>
          </a:p>
          <a:p>
            <a:pPr/>
            <a:r>
              <a:t>Security Automation: Implement additional SOAR capabilities</a:t>
            </a:r>
          </a:p>
          <a:p>
            <a:pPr/>
            <a:r>
              <a:t>Performance Optimization: Fine-tune security controls for operational efficiency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Medium-term Initiatives (6-12 months)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Zero Trust Extension: Expand zero-trust architecture to all business systems</a:t>
            </a:r>
          </a:p>
          <a:p>
            <a:pPr/>
            <a:r>
              <a:t>Cloud Security Enhancement: Implement advanced cloud security posture management</a:t>
            </a:r>
          </a:p>
          <a:p>
            <a:pPr/>
            <a:r>
              <a:t>Threat Intelligence: Deploy advanced threat intelligence and hunting capabilities</a:t>
            </a:r>
          </a:p>
          <a:p>
            <a:pPr/>
            <a:r>
              <a:t>Compliance Expansion: Prepare for additional regulatory requirements (FedRAMP, etc.)</a:t>
            </a:r>
          </a:p>
          <a:p>
            <a:pPr/>
            <a:r>
              <a:t>Security Culture: Advanced security awareness and culture development programs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Long-term Strategy (12+ months)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CMMC Level 5 Preparation: Advanced cybersecurity capabilities development</a:t>
            </a:r>
          </a:p>
          <a:p>
            <a:pPr/>
            <a:r>
              <a:t>Security Innovation: Emerging technology integration (AI, ML, quantum-safe)</a:t>
            </a:r>
          </a:p>
          <a:p>
            <a:pPr/>
            <a:r>
              <a:t>Global Expansion: Extend secure enclave model to international operations</a:t>
            </a:r>
          </a:p>
          <a:p>
            <a:pPr/>
            <a:r>
              <a:t>Industry Leadership: Establish thought leadership in defense cybersecurity</a:t>
            </a:r>
          </a:p>
          <a:p>
            <a:pPr/>
            <a:r>
              <a:t>Ecosystem Security: Comprehensive supply chain and partner security program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Security Performance Indicators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CMMC Compliance Score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≥95%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97.8%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Exceeded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Security Incidents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&lt;5/year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Exceeded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Mean Time to Detection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&lt;15 min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12 min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Met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Mean Time to Response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&lt;60 min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45 min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Exceeded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Training Completion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Met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Vulnerability Remediation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≥95%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98%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✅ Exceeded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Business Performance Indicators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Contract Retention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Met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User Adoption Rate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≥90%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94%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Exceeded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Operational Uptime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≥99.5%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99.9%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Exceeded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Cost Variance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±5%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-2%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Under Budget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Timeline Adherence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98%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Met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Stakeholder Satisfaction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≥4.5/5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4.7/5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✅ Exceeded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Project Leadership Team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Executive Sponsor</a:t>
            </a:r>
            <a:r>
              <a:t>: Chief Information Security Officer</a:t>
            </a:r>
          </a:p>
          <a:p>
            <a:pPr/>
            <a:r>
              <a:rPr b="1"/>
              <a:t>Project Manager</a:t>
            </a:r>
            <a:r>
              <a:t>: Senior Security Program Manager</a:t>
            </a:r>
          </a:p>
          <a:p>
            <a:pPr/>
            <a:r>
              <a:rPr b="1"/>
              <a:t>Technical Lead</a:t>
            </a:r>
            <a:r>
              <a:t>: Principal Security Architect</a:t>
            </a:r>
          </a:p>
          <a:p>
            <a:pPr/>
            <a:r>
              <a:rPr b="1"/>
              <a:t>Business Lead</a:t>
            </a:r>
            <a:r>
              <a:t>: Director of Government Contracts</a:t>
            </a:r>
          </a:p>
          <a:p>
            <a:pPr/>
            <a:r>
              <a:rPr b="1"/>
              <a:t>Compliance Lead</a:t>
            </a:r>
            <a:r>
              <a:t>: Senior Compliance Manager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Key Contributors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Microsoft Solutions Team</a:t>
            </a:r>
            <a:r>
              <a:t>: Architecture design and implementation</a:t>
            </a:r>
          </a:p>
          <a:p>
            <a:pPr/>
            <a:r>
              <a:rPr b="1"/>
              <a:t>Internal Security Team</a:t>
            </a:r>
            <a:r>
              <a:t>: Daily operations and monitoring</a:t>
            </a:r>
          </a:p>
          <a:p>
            <a:pPr/>
            <a:r>
              <a:rPr b="1"/>
              <a:t>Compliance Team</a:t>
            </a:r>
            <a:r>
              <a:t>: Policy development and audit preparation</a:t>
            </a:r>
          </a:p>
          <a:p>
            <a:pPr/>
            <a:r>
              <a:rPr b="1"/>
              <a:t>Training Team</a:t>
            </a:r>
            <a:r>
              <a:t>: Staff education and awareness programs</a:t>
            </a:r>
          </a:p>
          <a:p>
            <a:pPr/>
            <a:r>
              <a:rPr b="1"/>
              <a:t>Legal Team</a:t>
            </a:r>
            <a:r>
              <a:t>: Contract and regulatory compliance support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Special Recognition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Executive leadership commitment and support</a:t>
            </a:r>
          </a:p>
          <a:p>
            <a:pPr/>
            <a:r>
              <a:t>Comprehensive technical implementation approach</a:t>
            </a:r>
          </a:p>
          <a:p>
            <a:pPr/>
            <a:r>
              <a:t>Focus on user training and organizational change management</a:t>
            </a:r>
          </a:p>
          <a:p>
            <a:pPr/>
            <a:r>
              <a:t>Continuous monitoring and improvement mindset</a:t>
            </a:r>
          </a:p>
          <a:p>
            <a:pPr/>
            <a:r>
              <a:t>Strong partnership with Microsoft and security vendors</a:t>
            </a:r>
          </a:p>
          <a:p>
            <a:pPr/>
            <a:r>
              <a:t>Maintained critical DoD contract eligibility</a:t>
            </a:r>
          </a:p>
          <a:p>
            <a:pPr/>
            <a:r>
              <a:t>Enhanced organizational cybersecurity resilience</a:t>
            </a:r>
          </a:p>
          <a:p>
            <a:pPr/>
            <a:r>
              <a:t>Established scalable compliance framework</a:t>
            </a:r>
          </a:p>
          <a:p>
            <a:pPr/>
            <a:r>
              <a:t>Positioned organization for future opportunities</a:t>
            </a:r>
          </a:p>
          <a:p>
            <a:pPr/>
            <a:r>
              <a:t>Created competitive advantage in defense marketplace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