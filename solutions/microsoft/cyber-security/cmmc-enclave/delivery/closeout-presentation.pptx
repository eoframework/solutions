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*Opening Statement:*</a:t>
            </a:r>
          </a:p>
          <a:p>
            <a:r>
              <a:t>Good [morning/afternoon]. Today we celebrate the successful completion of the Microsoft CMMC GCC High Enclave implementation. This project has transformed [Client Name]'s compliance posture, enabling pursuit of DoD contracts requiring CMMC Level 2 certification.</a:t>
            </a:r>
          </a:p>
          <a:p/>
          <a:p>
            <a:r>
              <a:t>*Key Talking Points - Expand on Each Bullet:*</a:t>
            </a:r>
          </a:p>
          <a:p/>
          <a:p>
            <a:r>
              <a:t>**Project Duration - 6 Months:**</a:t>
            </a:r>
          </a:p>
          <a:p>
            <a:r>
              <a:t>- Executed exactly as planned in Statement of Work</a:t>
            </a:r>
          </a:p>
          <a:p>
            <a:r>
              <a:t>- Phase 1 (Gap Assessment &amp; Design): Months 1-2 - NIST 800-171 gap assessment completed</a:t>
            </a:r>
          </a:p>
          <a:p>
            <a:r>
              <a:t>- Phase 2 (GCC High Deployment): Months 3-4 - M365 GCC High tenant and Azure Government deployed</a:t>
            </a:r>
          </a:p>
          <a:p>
            <a:r>
              <a:t>- Phase 3 (CMMC Preparation): Months 5-6 - C3PAO assessment completed, certification achieved</a:t>
            </a:r>
          </a:p>
          <a:p>
            <a:r>
              <a:t>- No schedule slippage despite complexity of CAC/PIV integration</a:t>
            </a:r>
          </a:p>
          <a:p/>
          <a:p>
            <a:r>
              <a:t>**Budget - $153,240 Year 1:**</a:t>
            </a:r>
          </a:p>
          <a:p>
            <a:r>
              <a:t>- Cloud Services: $47,640 (Azure Government, ExpressRoute)</a:t>
            </a:r>
          </a:p>
          <a:p>
            <a:r>
              <a:t>- Software Licenses: $87,600 (M365 GCC High E5 for 50 users)</a:t>
            </a:r>
          </a:p>
          <a:p>
            <a:r>
              <a:t>- Support &amp; Maintenance: $18,000 (30-day hypercare + monitoring)</a:t>
            </a:r>
          </a:p>
          <a:p>
            <a:r>
              <a:t>- Actual spend: $152,890 - $350 under budget</a:t>
            </a:r>
          </a:p>
          <a:p/>
          <a:p>
            <a:r>
              <a:t>**Go-Live - Week 15:**</a:t>
            </a:r>
          </a:p>
          <a:p>
            <a:r>
              <a:t>- Pilot-then-production migration strategy executed flawlessly</a:t>
            </a:r>
          </a:p>
          <a:p>
            <a:r>
              <a:t>- Week 1: 10 pilot users migrated to GCC High</a:t>
            </a:r>
          </a:p>
          <a:p>
            <a:r>
              <a:t>- Week 2: Validation period with CAC/PIV authentication testing</a:t>
            </a:r>
          </a:p>
          <a:p>
            <a:r>
              <a:t>- Weeks 3-4: Remaining 40 users migrated in departmental waves</a:t>
            </a:r>
          </a:p>
          <a:p>
            <a:r>
              <a:t>- Zero data loss during migration</a:t>
            </a:r>
          </a:p>
          <a:p/>
          <a:p>
            <a:r>
              <a:t>**CMMC Level 2 Certification - Week 26:**</a:t>
            </a:r>
          </a:p>
          <a:p>
            <a:r>
              <a:t>- C3PAO assessment completed with zero open findings</a:t>
            </a:r>
          </a:p>
          <a:p>
            <a:r>
              <a:t>- All 110 NIST 800-171 controls validated</a:t>
            </a:r>
          </a:p>
          <a:p>
            <a:r>
              <a:t>- DoD CMMC Marketplace registration complete</a:t>
            </a:r>
          </a:p>
          <a:p>
            <a:r>
              <a:t>- Organization now eligible for CUI-handling DoD contracts</a:t>
            </a:r>
          </a:p>
          <a:p/>
          <a:p>
            <a:r>
              <a:t>*Transition to Next Slide:*</a:t>
            </a:r>
          </a:p>
          <a:p>
            <a:r>
              <a:t>"Let me walk you through exactly what we built together..."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*Architecture Overview - Walk Through the Diagram:*</a:t>
            </a:r>
          </a:p>
          <a:p/>
          <a:p>
            <a:r>
              <a:t>"This diagram shows the FedRAMP High authorized architecture we deployed. Let me walk through each component..."</a:t>
            </a:r>
          </a:p>
          <a:p/>
          <a:p>
            <a:r>
              <a:t>**Microsoft 365 GCC High Layer:**</a:t>
            </a:r>
          </a:p>
          <a:p>
            <a:r>
              <a:t>- Deployed FedRAMP High authorized M365 tenant</a:t>
            </a:r>
          </a:p>
          <a:p>
            <a:r>
              <a:t>- Exchange Online: 50 mailboxes with 100GB total data migrated</a:t>
            </a:r>
          </a:p>
          <a:p>
            <a:r>
              <a:t>- SharePoint Online: 500GB CUI document storage with DLP</a:t>
            </a:r>
          </a:p>
          <a:p>
            <a:r>
              <a:t>- Teams: Secure collaboration with external sharing disabled</a:t>
            </a:r>
          </a:p>
          <a:p>
            <a:r>
              <a:t>- OneDrive: Known Folder Move configured for file sync</a:t>
            </a:r>
          </a:p>
          <a:p>
            <a:r>
              <a:t>- Microsoft Purview: Sensitivity labels for CUI classification</a:t>
            </a:r>
          </a:p>
          <a:p/>
          <a:p>
            <a:r>
              <a:t>**Azure Government Cloud Layer:**</a:t>
            </a:r>
          </a:p>
          <a:p>
            <a:r>
              <a:t>- Subscription provisioned in us-gov-virginia region</a:t>
            </a:r>
          </a:p>
          <a:p>
            <a:r>
              <a:t>- Virtual Network with network segmentation:</a:t>
            </a:r>
          </a:p>
          <a:p>
            <a:r>
              <a:t>  - Management subnet for administrative access</a:t>
            </a:r>
          </a:p>
          <a:p>
            <a:r>
              <a:t>  - CUI workload subnet for protected resources</a:t>
            </a:r>
          </a:p>
          <a:p>
            <a:r>
              <a:t>- 5 Standard_D4s_v3 VMs for CUI workload hosting</a:t>
            </a:r>
          </a:p>
          <a:p>
            <a:r>
              <a:t>- 2TB premium SSD storage with FIPS 140-2 encryption</a:t>
            </a:r>
          </a:p>
          <a:p>
            <a:r>
              <a:t>- ExpressRoute for private, dedicated connectivity</a:t>
            </a:r>
          </a:p>
          <a:p/>
          <a:p>
            <a:r>
              <a:t>**Identity &amp; Access Management:**</a:t>
            </a:r>
          </a:p>
          <a:p>
            <a:r>
              <a:t>- Azure AD GCC High tenant with DoD integration</a:t>
            </a:r>
          </a:p>
          <a:p>
            <a:r>
              <a:t>- CAC/PIV smart card authentication for all 50 users</a:t>
            </a:r>
          </a:p>
          <a:p>
            <a:r>
              <a:t>- Conditional Access policies enforcing:</a:t>
            </a:r>
          </a:p>
          <a:p>
            <a:r>
              <a:t>  - MFA on all access</a:t>
            </a:r>
          </a:p>
          <a:p>
            <a:r>
              <a:t>  - Device compliance checks</a:t>
            </a:r>
          </a:p>
          <a:p>
            <a:r>
              <a:t>  - Location-based restrictions</a:t>
            </a:r>
          </a:p>
          <a:p>
            <a:r>
              <a:t>- 3 roles configured: CUI processor, admin, reviewer</a:t>
            </a:r>
          </a:p>
          <a:p/>
          <a:p>
            <a:r>
              <a:t>**Security Monitoring:**</a:t>
            </a:r>
          </a:p>
          <a:p>
            <a:r>
              <a:t>- Sentinel SIEM: 100GB/month log ingestion</a:t>
            </a:r>
          </a:p>
          <a:p>
            <a:r>
              <a:t>  - All M365 and Azure logs centralized</a:t>
            </a:r>
          </a:p>
          <a:p>
            <a:r>
              <a:t>  - 5 incident response playbooks configured</a:t>
            </a:r>
          </a:p>
          <a:p>
            <a:r>
              <a:t>  - 90-day log retention for NIST 800-171 compliance</a:t>
            </a:r>
          </a:p>
          <a:p>
            <a:r>
              <a:t>- Defender for Cloud:</a:t>
            </a:r>
          </a:p>
          <a:p>
            <a:r>
              <a:t>  - CMMC compliance dashboard operational</a:t>
            </a:r>
          </a:p>
          <a:p>
            <a:r>
              <a:t>  - Vulnerability assessment enabled</a:t>
            </a:r>
          </a:p>
          <a:p>
            <a:r>
              <a:t>  - Real-time security alerts (&lt;15 min response)</a:t>
            </a:r>
          </a:p>
          <a:p/>
          <a:p>
            <a:r>
              <a:t>**Key Architecture Decisions:**</a:t>
            </a:r>
          </a:p>
          <a:p>
            <a:r>
              <a:t>1. Single region deployment (us-gov-virginia) per SOW scope</a:t>
            </a:r>
          </a:p>
          <a:p>
            <a:r>
              <a:t>2. GCC High selected for FedRAMP High compliance</a:t>
            </a:r>
          </a:p>
          <a:p>
            <a:r>
              <a:t>3. Sentinel SIEM for centralized security monitoring</a:t>
            </a:r>
          </a:p>
          <a:p>
            <a:r>
              <a:t>4. CAC/PIV integration via Azure AD GCC High</a:t>
            </a:r>
          </a:p>
          <a:p/>
          <a:p>
            <a:r>
              <a:t>*Transition:*</a:t>
            </a:r>
          </a:p>
          <a:p>
            <a:r>
              <a:t>"Now let me show you the complete deliverables package we're handing over..."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*Deliverables Deep Dive - Review Each Item:*</a:t>
            </a:r>
          </a:p>
          <a:p/>
          <a:p>
            <a:r>
              <a:t>**1. NIST 800-171 Gap Assessment Report:**</a:t>
            </a:r>
          </a:p>
          <a:p>
            <a:r>
              <a:t>- 45-page comprehensive assessment</a:t>
            </a:r>
          </a:p>
          <a:p>
            <a:r>
              <a:t>- Evaluated all 14 control families</a:t>
            </a:r>
          </a:p>
          <a:p>
            <a:r>
              <a:t>- Initial SPRS score documented</a:t>
            </a:r>
          </a:p>
          <a:p>
            <a:r>
              <a:t>- Remediation roadmap with prioritized actions</a:t>
            </a:r>
          </a:p>
          <a:p>
            <a:r>
              <a:t>- Approved by ISSO/ISSM</a:t>
            </a:r>
          </a:p>
          <a:p/>
          <a:p>
            <a:r>
              <a:t>**2. GCC High Architecture Document (detailed-design.docx):**</a:t>
            </a:r>
          </a:p>
          <a:p>
            <a:r>
              <a:t>- Complete technical architecture</a:t>
            </a:r>
          </a:p>
          <a:p>
            <a:r>
              <a:t>- M365 GCC High tenant configuration</a:t>
            </a:r>
          </a:p>
          <a:p>
            <a:r>
              <a:t>- Azure Government infrastructure design</a:t>
            </a:r>
          </a:p>
          <a:p>
            <a:r>
              <a:t>- CAC/PIV authentication flow diagrams</a:t>
            </a:r>
          </a:p>
          <a:p>
            <a:r>
              <a:t>- Network architecture with security controls</a:t>
            </a:r>
          </a:p>
          <a:p>
            <a:r>
              <a:t>- Data flow and encryption specifications</a:t>
            </a:r>
          </a:p>
          <a:p/>
          <a:p>
            <a:r>
              <a:t>**3. System Security Plan (SSP):**</a:t>
            </a:r>
          </a:p>
          <a:p>
            <a:r>
              <a:t>- 110 NIST 800-171 control narratives</a:t>
            </a:r>
          </a:p>
          <a:p>
            <a:r>
              <a:t>- Evidence artifacts for each control</a:t>
            </a:r>
          </a:p>
          <a:p>
            <a:r>
              <a:t>- Control implementation descriptions</a:t>
            </a:r>
          </a:p>
          <a:p>
            <a:r>
              <a:t>- Continuous monitoring procedures</a:t>
            </a:r>
          </a:p>
          <a:p>
            <a:r>
              <a:t>- Used successfully for C3PAO assessment</a:t>
            </a:r>
          </a:p>
          <a:p/>
          <a:p>
            <a:r>
              <a:t>**4. Implementation Guide:**</a:t>
            </a:r>
          </a:p>
          <a:p>
            <a:r>
              <a:t>- Step-by-step deployment procedures</a:t>
            </a:r>
          </a:p>
          <a:p>
            <a:r>
              <a:t>- GCC High tenant provisioning</a:t>
            </a:r>
          </a:p>
          <a:p>
            <a:r>
              <a:t>- Azure Government resource deployment</a:t>
            </a:r>
          </a:p>
          <a:p>
            <a:r>
              <a:t>- CAC/PIV integration configuration</a:t>
            </a:r>
          </a:p>
          <a:p>
            <a:r>
              <a:t>- Sentinel SIEM setup and tuning</a:t>
            </a:r>
          </a:p>
          <a:p>
            <a:r>
              <a:t>- Migration procedures for email and files</a:t>
            </a:r>
          </a:p>
          <a:p/>
          <a:p>
            <a:r>
              <a:t>**5. Project Plan:**</a:t>
            </a:r>
          </a:p>
          <a:p>
            <a:r>
              <a:t>- Four worksheets:</a:t>
            </a:r>
          </a:p>
          <a:p>
            <a:r>
              <a:t>  1. Project Timeline - 26-week implementation</a:t>
            </a:r>
          </a:p>
          <a:p>
            <a:r>
              <a:t>  2. Milestones - 7 key milestones tracked</a:t>
            </a:r>
          </a:p>
          <a:p>
            <a:r>
              <a:t>  3. RACI Matrix - Clear accountability</a:t>
            </a:r>
          </a:p>
          <a:p>
            <a:r>
              <a:t>  4. Communications Plan - Stakeholder engagement</a:t>
            </a:r>
          </a:p>
          <a:p>
            <a:r>
              <a:t>- All milestones achieved on schedule</a:t>
            </a:r>
          </a:p>
          <a:p/>
          <a:p>
            <a:r>
              <a:t>**6. Infrastructure as Code:**</a:t>
            </a:r>
          </a:p>
          <a:p>
            <a:r>
              <a:t>- ARM templates for Azure Government resources</a:t>
            </a:r>
          </a:p>
          <a:p>
            <a:r>
              <a:t>- Terraform modules for repeatable deployment</a:t>
            </a:r>
          </a:p>
          <a:p>
            <a:r>
              <a:t>- Sentinel workbook configurations</a:t>
            </a:r>
          </a:p>
          <a:p>
            <a:r>
              <a:t>- Compliance policy definitions</a:t>
            </a:r>
          </a:p>
          <a:p/>
          <a:p>
            <a:r>
              <a:t>**7. Operations Runbook:**</a:t>
            </a:r>
          </a:p>
          <a:p>
            <a:r>
              <a:t>- Daily security monitoring procedures</a:t>
            </a:r>
          </a:p>
          <a:p>
            <a:r>
              <a:t>- Sentinel alert response playbooks</a:t>
            </a:r>
          </a:p>
          <a:p>
            <a:r>
              <a:t>- Vulnerability management process</a:t>
            </a:r>
          </a:p>
          <a:p>
            <a:r>
              <a:t>- C3PAO assessment preparation checklist</a:t>
            </a:r>
          </a:p>
          <a:p>
            <a:r>
              <a:t>- NIST 800-171 continuous monitoring</a:t>
            </a:r>
          </a:p>
          <a:p/>
          <a:p>
            <a:r>
              <a:t>**8. Training Materials:**</a:t>
            </a:r>
          </a:p>
          <a:p>
            <a:r>
              <a:t>- ISSO/ISSM compliance management guide</a:t>
            </a:r>
          </a:p>
          <a:p>
            <a:r>
              <a:t>- Security operations procedures</a:t>
            </a:r>
          </a:p>
          <a:p>
            <a:r>
              <a:t>- CAC/PIV user troubleshooting</a:t>
            </a:r>
          </a:p>
          <a:p>
            <a:r>
              <a:t>- Video recordings (4 sessions, 6 hours total)</a:t>
            </a:r>
          </a:p>
          <a:p/>
          <a:p>
            <a:r>
              <a:t>*Transition:*</a:t>
            </a:r>
          </a:p>
          <a:p>
            <a:r>
              <a:t>"Let's look at how we're performing against our targets..."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*Quality &amp; Performance Deep Dive:*</a:t>
            </a:r>
          </a:p>
          <a:p/>
          <a:p>
            <a:r>
              <a:t>**Compliance Metrics - Detailed Breakdown:**</a:t>
            </a:r>
          </a:p>
          <a:p/>
          <a:p>
            <a:r>
              <a:t>*NIST 800-171 Controls: 110/110 Implemented*</a:t>
            </a:r>
          </a:p>
          <a:p>
            <a:r>
              <a:t>- All 14 control families addressed:</a:t>
            </a:r>
          </a:p>
          <a:p>
            <a:r>
              <a:t>  - Access Control (AC): 22 controls</a:t>
            </a:r>
          </a:p>
          <a:p>
            <a:r>
              <a:t>  - Awareness and Training (AT): 3 controls</a:t>
            </a:r>
          </a:p>
          <a:p>
            <a:r>
              <a:t>  - Audit and Accountability (AU): 9 controls</a:t>
            </a:r>
          </a:p>
          <a:p>
            <a:r>
              <a:t>  - Configuration Management (CM): 9 controls</a:t>
            </a:r>
          </a:p>
          <a:p>
            <a:r>
              <a:t>  - Identification and Authentication (IA): 11 controls</a:t>
            </a:r>
          </a:p>
          <a:p>
            <a:r>
              <a:t>  - Incident Response (IR): 3 controls</a:t>
            </a:r>
          </a:p>
          <a:p>
            <a:r>
              <a:t>  - Maintenance (MA): 6 controls</a:t>
            </a:r>
          </a:p>
          <a:p>
            <a:r>
              <a:t>  - Media Protection (MP): 9 controls</a:t>
            </a:r>
          </a:p>
          <a:p>
            <a:r>
              <a:t>  - Personnel Security (PS): 2 controls</a:t>
            </a:r>
          </a:p>
          <a:p>
            <a:r>
              <a:t>  - Physical Protection (PE): 6 controls</a:t>
            </a:r>
          </a:p>
          <a:p>
            <a:r>
              <a:t>  - Risk Assessment (RA): 3 controls</a:t>
            </a:r>
          </a:p>
          <a:p>
            <a:r>
              <a:t>  - Security Assessment (CA): 4 controls</a:t>
            </a:r>
          </a:p>
          <a:p>
            <a:r>
              <a:t>  - System and Communications Protection (SC): 16 controls</a:t>
            </a:r>
          </a:p>
          <a:p>
            <a:r>
              <a:t>  - System and Information Integrity (SI): 7 controls</a:t>
            </a:r>
          </a:p>
          <a:p/>
          <a:p>
            <a:r>
              <a:t>*CMMC Level 2 Certification:*</a:t>
            </a:r>
          </a:p>
          <a:p>
            <a:r>
              <a:t>- C3PAO: [Assessment Organization Name]</a:t>
            </a:r>
          </a:p>
          <a:p>
            <a:r>
              <a:t>- Assessment dates: Weeks 24-25</a:t>
            </a:r>
          </a:p>
          <a:p>
            <a:r>
              <a:t>- Final certification: Week 26</a:t>
            </a:r>
          </a:p>
          <a:p>
            <a:r>
              <a:t>- Zero open POA&amp;Ms</a:t>
            </a:r>
          </a:p>
          <a:p>
            <a:r>
              <a:t>- DoD CMMC Marketplace registration complete</a:t>
            </a:r>
          </a:p>
          <a:p/>
          <a:p>
            <a:r>
              <a:t>*SPRS Score: +110*</a:t>
            </a:r>
          </a:p>
          <a:p>
            <a:r>
              <a:t>- Maximum achievable score</a:t>
            </a:r>
          </a:p>
          <a:p>
            <a:r>
              <a:t>- All controls implemented and validated</a:t>
            </a:r>
          </a:p>
          <a:p>
            <a:r>
              <a:t>- Documented evidence for each control</a:t>
            </a:r>
          </a:p>
          <a:p>
            <a:r>
              <a:t>- Ready for DoD contract submissions</a:t>
            </a:r>
          </a:p>
          <a:p/>
          <a:p>
            <a:r>
              <a:t>**Security Metrics - Detailed Analysis:**</a:t>
            </a:r>
          </a:p>
          <a:p/>
          <a:p>
            <a:r>
              <a:t>*Sentinel Alert Response: &lt;12 Minutes Average*</a:t>
            </a:r>
          </a:p>
          <a:p>
            <a:r>
              <a:t>- SOW target: &lt;15 minutes</a:t>
            </a:r>
          </a:p>
          <a:p>
            <a:r>
              <a:t>- Achieved: 12 minutes average response</a:t>
            </a:r>
          </a:p>
          <a:p>
            <a:r>
              <a:t>- 5 automated playbooks reduce MTTR</a:t>
            </a:r>
          </a:p>
          <a:p>
            <a:r>
              <a:t>- Critical alerts: 8 minutes average</a:t>
            </a:r>
          </a:p>
          <a:p>
            <a:r>
              <a:t>- High alerts: 15 minutes average</a:t>
            </a:r>
          </a:p>
          <a:p/>
          <a:p>
            <a:r>
              <a:t>*Vulnerability Remediation: 100% SLA Compliance*</a:t>
            </a:r>
          </a:p>
          <a:p>
            <a:r>
              <a:t>- Critical vulnerabilities: 24-hour SLA</a:t>
            </a:r>
          </a:p>
          <a:p>
            <a:r>
              <a:t>- High vulnerabilities: 7-day SLA</a:t>
            </a:r>
          </a:p>
          <a:p>
            <a:r>
              <a:t>- Monthly vulnerability scans operational</a:t>
            </a:r>
          </a:p>
          <a:p>
            <a:r>
              <a:t>- Zero outstanding critical/high findings</a:t>
            </a:r>
          </a:p>
          <a:p/>
          <a:p>
            <a:r>
              <a:t>*MFA Enforcement: 100%*</a:t>
            </a:r>
          </a:p>
          <a:p>
            <a:r>
              <a:t>- All 50 CUI users require CAC/PIV</a:t>
            </a:r>
          </a:p>
          <a:p>
            <a:r>
              <a:t>- Conditional Access policies enforced</a:t>
            </a:r>
          </a:p>
          <a:p>
            <a:r>
              <a:t>- No password-only access permitted</a:t>
            </a:r>
          </a:p>
          <a:p>
            <a:r>
              <a:t>- Emergency access procedures documented</a:t>
            </a:r>
          </a:p>
          <a:p/>
          <a:p>
            <a:r>
              <a:t>*Data Encryption: FIPS 140-2 Validated*</a:t>
            </a:r>
          </a:p>
          <a:p>
            <a:r>
              <a:t>- All data at rest: AES-256 encryption</a:t>
            </a:r>
          </a:p>
          <a:p>
            <a:r>
              <a:t>- All data in transit: TLS 1.2+</a:t>
            </a:r>
          </a:p>
          <a:p>
            <a:r>
              <a:t>- Azure Key Vault for key management</a:t>
            </a:r>
          </a:p>
          <a:p>
            <a:r>
              <a:t>- Email encryption with S/MIME</a:t>
            </a:r>
          </a:p>
          <a:p/>
          <a:p>
            <a:r>
              <a:t>*Transition:*</a:t>
            </a:r>
          </a:p>
          <a:p>
            <a:r>
              <a:t>"These capabilities translate directly into business value. Let me show you the benefits we're already seeing..."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*Benefits Analysis - Detailed ROI Discussion:*</a:t>
            </a:r>
          </a:p>
          <a:p/>
          <a:p>
            <a:r>
              <a:t>**CMMC Level 2 Certification - Contract Eligibility:**</a:t>
            </a:r>
          </a:p>
          <a:p/>
          <a:p>
            <a:r>
              <a:t>*Before Implementation:*</a:t>
            </a:r>
          </a:p>
          <a:p>
            <a:r>
              <a:t>- Could not pursue DoD contracts requiring CMMC Level 2</a:t>
            </a:r>
          </a:p>
          <a:p>
            <a:r>
              <a:t>- Estimated $8M+ annual contract opportunity at risk</a:t>
            </a:r>
          </a:p>
          <a:p>
            <a:r>
              <a:t>- Self-assessment only - not sufficient for contract awards</a:t>
            </a:r>
          </a:p>
          <a:p/>
          <a:p>
            <a:r>
              <a:t>*After Implementation:*</a:t>
            </a:r>
          </a:p>
          <a:p>
            <a:r>
              <a:t>- CMMC Level 2 certified by C3PAO</a:t>
            </a:r>
          </a:p>
          <a:p>
            <a:r>
              <a:t>- Eligible for all CUI-handling DoD contracts</a:t>
            </a:r>
          </a:p>
          <a:p>
            <a:r>
              <a:t>- Competitive advantage over non-certified competitors</a:t>
            </a:r>
          </a:p>
          <a:p>
            <a:r>
              <a:t>- Foundation for CMMC Level 3 if needed</a:t>
            </a:r>
          </a:p>
          <a:p/>
          <a:p>
            <a:r>
              <a:t>**Time to Certification - 6 Months:**</a:t>
            </a:r>
          </a:p>
          <a:p/>
          <a:p>
            <a:r>
              <a:t>*Traditional On-Premises Approach:*</a:t>
            </a:r>
          </a:p>
          <a:p>
            <a:r>
              <a:t>- Typical timeline: 18+ months</a:t>
            </a:r>
          </a:p>
          <a:p>
            <a:r>
              <a:t>- Capital expenditure: $500K+ for CMMC enclave</a:t>
            </a:r>
          </a:p>
          <a:p>
            <a:r>
              <a:t>- Physical datacenter buildout required</a:t>
            </a:r>
          </a:p>
          <a:p>
            <a:r>
              <a:t>- On-premises PKI infrastructure needed</a:t>
            </a:r>
          </a:p>
          <a:p/>
          <a:p>
            <a:r>
              <a:t>*GCC High Cloud Approach:*</a:t>
            </a:r>
          </a:p>
          <a:p>
            <a:r>
              <a:t>- Timeline: 6 months (66% faster)</a:t>
            </a:r>
          </a:p>
          <a:p>
            <a:r>
              <a:t>- No capital expenditure - operational expense model</a:t>
            </a:r>
          </a:p>
          <a:p>
            <a:r>
              <a:t>- FedRAMP High controls inherited</a:t>
            </a:r>
          </a:p>
          <a:p>
            <a:r>
              <a:t>- Microsoft manages underlying infrastructure</a:t>
            </a:r>
          </a:p>
          <a:p/>
          <a:p>
            <a:r>
              <a:t>**Compliance Automation - 95% Automated:**</a:t>
            </a:r>
          </a:p>
          <a:p/>
          <a:p>
            <a:r>
              <a:t>*Manual Compliance (Before):*</a:t>
            </a:r>
          </a:p>
          <a:p>
            <a:r>
              <a:t>- Quarterly manual control assessments</a:t>
            </a:r>
          </a:p>
          <a:p>
            <a:r>
              <a:t>- Manual evidence collection for audits</a:t>
            </a:r>
          </a:p>
          <a:p>
            <a:r>
              <a:t>- Spreadsheet-based compliance tracking</a:t>
            </a:r>
          </a:p>
          <a:p>
            <a:r>
              <a:t>- 40+ hours per month compliance effort</a:t>
            </a:r>
          </a:p>
          <a:p/>
          <a:p>
            <a:r>
              <a:t>*Automated Compliance (After):*</a:t>
            </a:r>
          </a:p>
          <a:p>
            <a:r>
              <a:t>- Defender for Cloud continuous monitoring</a:t>
            </a:r>
          </a:p>
          <a:p>
            <a:r>
              <a:t>- Sentinel automated compliance dashboards</a:t>
            </a:r>
          </a:p>
          <a:p>
            <a:r>
              <a:t>- Real-time NIST 800-171 control validation</a:t>
            </a:r>
          </a:p>
          <a:p>
            <a:r>
              <a:t>- &lt;5 hours per month compliance effort</a:t>
            </a:r>
          </a:p>
          <a:p>
            <a:r>
              <a:t>- 95% reduction in manual compliance work</a:t>
            </a:r>
          </a:p>
          <a:p/>
          <a:p>
            <a:r>
              <a:t>**Cost Comparison:**</a:t>
            </a:r>
          </a:p>
          <a:p/>
          <a:p>
            <a:r>
              <a:t>| Category | On-Premises | GCC High | Savings |</a:t>
            </a:r>
          </a:p>
          <a:p>
            <a:r>
              <a:t>|----------|-------------|----------|---------|</a:t>
            </a:r>
          </a:p>
          <a:p>
            <a:r>
              <a:t>| Infrastructure Capex | $500K+ | $0 | $500K |</a:t>
            </a:r>
          </a:p>
          <a:p>
            <a:r>
              <a:t>| Year 1 Total | $680K | $153K | $527K |</a:t>
            </a:r>
          </a:p>
          <a:p>
            <a:r>
              <a:t>| 3-Year TCO | $1.2M | $460K | $740K |</a:t>
            </a:r>
          </a:p>
          <a:p>
            <a:r>
              <a:t>| Time to Certification | 18 months | 6 months | 12 months |</a:t>
            </a:r>
          </a:p>
          <a:p/>
          <a:p>
            <a:r>
              <a:t>**ROI Summary:**</a:t>
            </a:r>
          </a:p>
          <a:p>
            <a:r>
              <a:t>- Year 1 investment: $153,240</a:t>
            </a:r>
          </a:p>
          <a:p>
            <a:r>
              <a:t>- DoD contract opportunity: $8M+ annually</a:t>
            </a:r>
          </a:p>
          <a:p>
            <a:r>
              <a:t>- Payback period: &lt;3 months (if contract awarded)</a:t>
            </a:r>
          </a:p>
          <a:p>
            <a:r>
              <a:t>- 3-year ROI: 1,600%+ based on contract enablement</a:t>
            </a:r>
          </a:p>
          <a:p/>
          <a:p>
            <a:r>
              <a:t>*Transition:*</a:t>
            </a:r>
          </a:p>
          <a:p>
            <a:r>
              <a:t>"We learned valuable lessons during this implementation that will help with future initiatives..."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*Lessons Learned - Comprehensive Review:*</a:t>
            </a:r>
          </a:p>
          <a:p/>
          <a:p>
            <a:r>
              <a:t>**What Worked Well - Details:**</a:t>
            </a:r>
          </a:p>
          <a:p/>
          <a:p>
            <a:r>
              <a:t>*1. Phased Migration Strategy:*</a:t>
            </a:r>
          </a:p>
          <a:p>
            <a:r>
              <a:t>- Pilot group (10 users) validated CAC/PIV workflow</a:t>
            </a:r>
          </a:p>
          <a:p>
            <a:r>
              <a:t>- Issues identified before full migration</a:t>
            </a:r>
          </a:p>
          <a:p>
            <a:r>
              <a:t>- User feedback incorporated into training</a:t>
            </a:r>
          </a:p>
          <a:p>
            <a:r>
              <a:t>- Zero data loss across all migration waves</a:t>
            </a:r>
          </a:p>
          <a:p/>
          <a:p>
            <a:r>
              <a:t>*2. Early C3PAO Engagement (Month 4):*</a:t>
            </a:r>
          </a:p>
          <a:p>
            <a:r>
              <a:t>- Selected C3PAO during Phase 2</a:t>
            </a:r>
          </a:p>
          <a:p>
            <a:r>
              <a:t>- Pre-assessment readiness review in Month 5</a:t>
            </a:r>
          </a:p>
          <a:p>
            <a:r>
              <a:t>- Assessment timeline confirmed</a:t>
            </a:r>
          </a:p>
          <a:p>
            <a:r>
              <a:t>- No delays due to C3PAO availability</a:t>
            </a:r>
          </a:p>
          <a:p/>
          <a:p>
            <a:r>
              <a:t>*3. CAC/PIV Pilot Validation:*</a:t>
            </a:r>
          </a:p>
          <a:p>
            <a:r>
              <a:t>- Tested with 5 users before full rollout</a:t>
            </a:r>
          </a:p>
          <a:p>
            <a:r>
              <a:t>- Identified certificate synchronization issues</a:t>
            </a:r>
          </a:p>
          <a:p>
            <a:r>
              <a:t>- Conditional Access policies refined</a:t>
            </a:r>
          </a:p>
          <a:p>
            <a:r>
              <a:t>- User experience optimized</a:t>
            </a:r>
          </a:p>
          <a:p/>
          <a:p>
            <a:r>
              <a:t>*4. Sentinel Playbooks:*</a:t>
            </a:r>
          </a:p>
          <a:p>
            <a:r>
              <a:t>- 5 automated response playbooks deployed</a:t>
            </a:r>
          </a:p>
          <a:p>
            <a:r>
              <a:t>- Reduced mean time to response by 60%</a:t>
            </a:r>
          </a:p>
          <a:p>
            <a:r>
              <a:t>- Consistent incident handling</a:t>
            </a:r>
          </a:p>
          <a:p>
            <a:r>
              <a:t>- Reduced analyst workload</a:t>
            </a:r>
          </a:p>
          <a:p/>
          <a:p>
            <a:r>
              <a:t>**Challenges Overcome - Details:**</a:t>
            </a:r>
          </a:p>
          <a:p/>
          <a:p>
            <a:r>
              <a:t>*1. ExpressRoute Provisioning:*</a:t>
            </a:r>
          </a:p>
          <a:p>
            <a:r>
              <a:t>- Challenge: 4-week lead time not anticipated</a:t>
            </a:r>
          </a:p>
          <a:p>
            <a:r>
              <a:t>- Impact: Azure Government connectivity delayed</a:t>
            </a:r>
          </a:p>
          <a:p>
            <a:r>
              <a:t>- Resolution: Started provisioning in Week 1</a:t>
            </a:r>
          </a:p>
          <a:p>
            <a:r>
              <a:t>- Lesson: Plan ExpressRoute 6 weeks ahead</a:t>
            </a:r>
          </a:p>
          <a:p/>
          <a:p>
            <a:r>
              <a:t>*2. CAC Certificate Expiration:*</a:t>
            </a:r>
          </a:p>
          <a:p>
            <a:r>
              <a:t>- Challenge: 5 users had expired certificates</a:t>
            </a:r>
          </a:p>
          <a:p>
            <a:r>
              <a:t>- Impact: Could not authenticate to GCC High</a:t>
            </a:r>
          </a:p>
          <a:p>
            <a:r>
              <a:t>- Resolution: Coordinated with DoD PKI team</a:t>
            </a:r>
          </a:p>
          <a:p>
            <a:r>
              <a:t>- Lesson: Verify all CAC certificates before migration</a:t>
            </a:r>
          </a:p>
          <a:p/>
          <a:p>
            <a:r>
              <a:t>*3. DLP Policy False Positives:*</a:t>
            </a:r>
          </a:p>
          <a:p>
            <a:r>
              <a:t>- Challenge: Initial DLP rules too aggressive</a:t>
            </a:r>
          </a:p>
          <a:p>
            <a:r>
              <a:t>- Impact: Legitimate documents blocked</a:t>
            </a:r>
          </a:p>
          <a:p>
            <a:r>
              <a:t>- Resolution: Tuned sensitivity labels and policies</a:t>
            </a:r>
          </a:p>
          <a:p>
            <a:r>
              <a:t>- Lesson: Start with monitoring mode, then enforce</a:t>
            </a:r>
          </a:p>
          <a:p/>
          <a:p>
            <a:r>
              <a:t>**Recommendations for Future Enhancement:**</a:t>
            </a:r>
          </a:p>
          <a:p/>
          <a:p>
            <a:r>
              <a:t>*1. Expand Document Types:*</a:t>
            </a:r>
          </a:p>
          <a:p>
            <a:r>
              <a:t>- Current: Invoices, POs, contracts</a:t>
            </a:r>
          </a:p>
          <a:p>
            <a:r>
              <a:t>- Recommended: Add technical drawings, CAD files</a:t>
            </a:r>
          </a:p>
          <a:p>
            <a:r>
              <a:t>- Estimated effort: 2-3 weeks per document type</a:t>
            </a:r>
          </a:p>
          <a:p/>
          <a:p>
            <a:r>
              <a:t>*2. Advanced Threat Hunting:*</a:t>
            </a:r>
          </a:p>
          <a:p>
            <a:r>
              <a:t>- Implement Sentinel hunting queries</a:t>
            </a:r>
          </a:p>
          <a:p>
            <a:r>
              <a:t>- Schedule weekly threat hunting sessions</a:t>
            </a:r>
          </a:p>
          <a:p>
            <a:r>
              <a:t>- Integrate threat intelligence feeds</a:t>
            </a:r>
          </a:p>
          <a:p/>
          <a:p>
            <a:r>
              <a:t>*3. CMMC Level 3 Preparation:*</a:t>
            </a:r>
          </a:p>
          <a:p>
            <a:r>
              <a:t>- If pursuing IL5/IL6 contracts</a:t>
            </a:r>
          </a:p>
          <a:p>
            <a:r>
              <a:t>- Requires additional 58 controls</a:t>
            </a:r>
          </a:p>
          <a:p>
            <a:r>
              <a:t>- Estimated 6-month effort</a:t>
            </a:r>
          </a:p>
          <a:p/>
          <a:p>
            <a:r>
              <a:t>*Transition:*</a:t>
            </a:r>
          </a:p>
          <a:p>
            <a:r>
              <a:t>"Let me walk you through how we're transitioning support to your team..."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*Support Transition - Complete Details:*</a:t>
            </a:r>
          </a:p>
          <a:p/>
          <a:p>
            <a:r>
              <a:t>**Hypercare Period Summary (30 Days Post-Certification):**</a:t>
            </a:r>
          </a:p>
          <a:p/>
          <a:p>
            <a:r>
              <a:t>*Daily Activities Completed:*</a:t>
            </a:r>
          </a:p>
          <a:p>
            <a:r>
              <a:t>- Morning health check (9am) - Sentinel dashboard review</a:t>
            </a:r>
          </a:p>
          <a:p>
            <a:r>
              <a:t>- Compliance posture monitoring</a:t>
            </a:r>
          </a:p>
          <a:p>
            <a:r>
              <a:t>- CAC/PIV authentication verification</a:t>
            </a:r>
          </a:p>
          <a:p>
            <a:r>
              <a:t>- Azure Government resource status</a:t>
            </a:r>
          </a:p>
          <a:p>
            <a:r>
              <a:t>- M365 GCC High service health</a:t>
            </a:r>
          </a:p>
          <a:p/>
          <a:p>
            <a:r>
              <a:t>*Issues Resolved During Hypercare:*</a:t>
            </a:r>
          </a:p>
          <a:p/>
          <a:p>
            <a:r>
              <a:t>Issue #1 (Minor) - Day 5:</a:t>
            </a:r>
          </a:p>
          <a:p>
            <a:r>
              <a:t>- Problem: Sentinel alert noise from scheduled tasks</a:t>
            </a:r>
          </a:p>
          <a:p>
            <a:r>
              <a:t>- Root cause: Windows Update triggering false positives</a:t>
            </a:r>
          </a:p>
          <a:p>
            <a:r>
              <a:t>- Resolution: Added exclusion rules to detection</a:t>
            </a:r>
          </a:p>
          <a:p>
            <a:r>
              <a:t>- Prevention: Documented in runbook</a:t>
            </a:r>
          </a:p>
          <a:p/>
          <a:p>
            <a:r>
              <a:t>Issue #2 (Minor) - Day 12:</a:t>
            </a:r>
          </a:p>
          <a:p>
            <a:r>
              <a:t>- Problem: OneDrive sync paused for 3 users</a:t>
            </a:r>
          </a:p>
          <a:p>
            <a:r>
              <a:t>- Root cause: Known Folder Move conflict</a:t>
            </a:r>
          </a:p>
          <a:p>
            <a:r>
              <a:t>- Resolution: Reset sync relationship</a:t>
            </a:r>
          </a:p>
          <a:p>
            <a:r>
              <a:t>- Prevention: Added to troubleshooting guide</a:t>
            </a:r>
          </a:p>
          <a:p/>
          <a:p>
            <a:r>
              <a:t>*Knowledge Transfer Sessions Delivered:*</a:t>
            </a:r>
          </a:p>
          <a:p/>
          <a:p>
            <a:r>
              <a:t>| Session | Date | Attendees | Duration |</a:t>
            </a:r>
          </a:p>
          <a:p>
            <a:r>
              <a:t>|---------|------|-----------|----------|</a:t>
            </a:r>
          </a:p>
          <a:p>
            <a:r>
              <a:t>| Sentinel SIEM Operations | Week 1 | 4 SOC staff | 3 hours |</a:t>
            </a:r>
          </a:p>
          <a:p>
            <a:r>
              <a:t>| CMMC Compliance Monitoring | Week 2 | ISSO/ISSM | 2 hours |</a:t>
            </a:r>
          </a:p>
          <a:p>
            <a:r>
              <a:t>| CAC/PIV Troubleshooting | Week 2 | IT Support | 1.5 hours |</a:t>
            </a:r>
          </a:p>
          <a:p>
            <a:r>
              <a:t>| Defender for Cloud | Week 3 | Security team | 2 hours |</a:t>
            </a:r>
          </a:p>
          <a:p>
            <a:r>
              <a:t>| C3PAO Reassessment Prep | Week 4 | ISSO/ISSM | 2 hours |</a:t>
            </a:r>
          </a:p>
          <a:p/>
          <a:p>
            <a:r>
              <a:t>**Steady State Support Model:**</a:t>
            </a:r>
          </a:p>
          <a:p/>
          <a:p>
            <a:r>
              <a:t>*What Client Team Handles (L1/L2):*</a:t>
            </a:r>
          </a:p>
          <a:p>
            <a:r>
              <a:t>- Daily Sentinel monitoring via dashboards</a:t>
            </a:r>
          </a:p>
          <a:p>
            <a:r>
              <a:t>- User CAC/PIV authentication support</a:t>
            </a:r>
          </a:p>
          <a:p>
            <a:r>
              <a:t>- Basic DLP policy exceptions</a:t>
            </a:r>
          </a:p>
          <a:p>
            <a:r>
              <a:t>- Monthly compliance reporting</a:t>
            </a:r>
          </a:p>
          <a:p>
            <a:r>
              <a:t>- Vulnerability remediation coordination</a:t>
            </a:r>
          </a:p>
          <a:p/>
          <a:p>
            <a:r>
              <a:t>*When to Escalate (L3):*</a:t>
            </a:r>
          </a:p>
          <a:p>
            <a:r>
              <a:t>- Sentinel detection rule changes</a:t>
            </a:r>
          </a:p>
          <a:p>
            <a:r>
              <a:t>- Conditional Access policy modifications</a:t>
            </a:r>
          </a:p>
          <a:p>
            <a:r>
              <a:t>- Azure Government infrastructure changes</a:t>
            </a:r>
          </a:p>
          <a:p>
            <a:r>
              <a:t>- C3PAO assessment preparation</a:t>
            </a:r>
          </a:p>
          <a:p>
            <a:r>
              <a:t>- Security incidents requiring forensics</a:t>
            </a:r>
          </a:p>
          <a:p/>
          <a:p>
            <a:r>
              <a:t>**Monthly Operational Tasks:**</a:t>
            </a:r>
          </a:p>
          <a:p>
            <a:r>
              <a:t>- Week 1: NIST 800-171 compliance review</a:t>
            </a:r>
          </a:p>
          <a:p>
            <a:r>
              <a:t>- Week 2: Vulnerability scan analysis</a:t>
            </a:r>
          </a:p>
          <a:p>
            <a:r>
              <a:t>- Week 3: Security metrics reporting</a:t>
            </a:r>
          </a:p>
          <a:p>
            <a:r>
              <a:t>- Week 4: Continuous monitoring validation</a:t>
            </a:r>
          </a:p>
          <a:p/>
          <a:p>
            <a:r>
              <a:t>**Quarterly Tasks:**</a:t>
            </a:r>
          </a:p>
          <a:p>
            <a:r>
              <a:t>- Security posture assessment</a:t>
            </a:r>
          </a:p>
          <a:p>
            <a:r>
              <a:t>- Compliance evidence collection</a:t>
            </a:r>
          </a:p>
          <a:p>
            <a:r>
              <a:t>- SSP updates if controls changed</a:t>
            </a:r>
          </a:p>
          <a:p>
            <a:r>
              <a:t>- Tabletop incident response exercise</a:t>
            </a:r>
          </a:p>
          <a:p/>
          <a:p>
            <a:r>
              <a:t>**Annual Tasks:**</a:t>
            </a:r>
          </a:p>
          <a:p>
            <a:r>
              <a:t>- C3PAO reassessment preparation</a:t>
            </a:r>
          </a:p>
          <a:p>
            <a:r>
              <a:t>- CMMC certification renewal</a:t>
            </a:r>
          </a:p>
          <a:p>
            <a:r>
              <a:t>- Security architecture review</a:t>
            </a:r>
          </a:p>
          <a:p>
            <a:r>
              <a:t>- Training refresh for all users</a:t>
            </a:r>
          </a:p>
          <a:p/>
          <a:p>
            <a:r>
              <a:t>*Transition:*</a:t>
            </a:r>
          </a:p>
          <a:p>
            <a:r>
              <a:t>"Let me acknowledge the team that made this possible and outline next steps..."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*Acknowledgments - Recognize Key Contributors:*</a:t>
            </a:r>
          </a:p>
          <a:p/>
          <a:p>
            <a:r>
              <a:t>**Client Team Recognition:**</a:t>
            </a:r>
          </a:p>
          <a:p/>
          <a:p>
            <a:r>
              <a:t>*Executive Sponsor - [Name]:*</a:t>
            </a:r>
          </a:p>
          <a:p>
            <a:r>
              <a:t>- Championed CMMC compliance program</a:t>
            </a:r>
          </a:p>
          <a:p>
            <a:r>
              <a:t>- Secured budget approval for GCC High migration</a:t>
            </a:r>
          </a:p>
          <a:p>
            <a:r>
              <a:t>- Cleared organizational blockers</a:t>
            </a:r>
          </a:p>
          <a:p>
            <a:r>
              <a:t>- Demonstrated commitment to DoD contract pursuit</a:t>
            </a:r>
          </a:p>
          <a:p/>
          <a:p>
            <a:r>
              <a:t>*ISSO/ISSM - [Name]:*</a:t>
            </a:r>
          </a:p>
          <a:p>
            <a:r>
              <a:t>- Led System Security Plan development</a:t>
            </a:r>
          </a:p>
          <a:p>
            <a:r>
              <a:t>- Coordinated C3PAO assessment activities</a:t>
            </a:r>
          </a:p>
          <a:p>
            <a:r>
              <a:t>- Provided control implementation evidence</a:t>
            </a:r>
          </a:p>
          <a:p>
            <a:r>
              <a:t>- Will own ongoing compliance operations</a:t>
            </a:r>
          </a:p>
          <a:p/>
          <a:p>
            <a:r>
              <a:t>*IT Lead - [Name]:*</a:t>
            </a:r>
          </a:p>
          <a:p>
            <a:r>
              <a:t>- Managed GCC High tenant provisioning</a:t>
            </a:r>
          </a:p>
          <a:p>
            <a:r>
              <a:t>- Coordinated CAC/PIV integration</a:t>
            </a:r>
          </a:p>
          <a:p>
            <a:r>
              <a:t>- Supported user migration waves</a:t>
            </a:r>
          </a:p>
          <a:p>
            <a:r>
              <a:t>- Knowledge transfer recipient</a:t>
            </a:r>
          </a:p>
          <a:p/>
          <a:p>
            <a:r>
              <a:t>*Security Team:*</a:t>
            </a:r>
          </a:p>
          <a:p>
            <a:r>
              <a:t>- Configured Sentinel SIEM playbooks</a:t>
            </a:r>
          </a:p>
          <a:p>
            <a:r>
              <a:t>- Established security monitoring procedures</a:t>
            </a:r>
          </a:p>
          <a:p>
            <a:r>
              <a:t>- Conducted incident response training</a:t>
            </a:r>
          </a:p>
          <a:p>
            <a:r>
              <a:t>- Ongoing security operations owners</a:t>
            </a:r>
          </a:p>
          <a:p/>
          <a:p>
            <a:r>
              <a:t>**Immediate Next Steps (This Week):**</a:t>
            </a:r>
          </a:p>
          <a:p/>
          <a:p>
            <a:r>
              <a:t>| Task | Owner | Due Date |</a:t>
            </a:r>
          </a:p>
          <a:p>
            <a:r>
              <a:t>|------|-------|----------|</a:t>
            </a:r>
          </a:p>
          <a:p>
            <a:r>
              <a:t>| Final documentation handover | PM | [Date] |</a:t>
            </a:r>
          </a:p>
          <a:p>
            <a:r>
              <a:t>| Archive project SharePoint | PM | [Date] |</a:t>
            </a:r>
          </a:p>
          <a:p>
            <a:r>
              <a:t>| SPRS score submission | ISSO | [Date] |</a:t>
            </a:r>
          </a:p>
          <a:p>
            <a:r>
              <a:t>| DoD contract pursuit | Business Dev | Ongoing |</a:t>
            </a:r>
          </a:p>
          <a:p/>
          <a:p>
            <a:r>
              <a:t>**30-Day Next Steps:**</a:t>
            </a:r>
          </a:p>
          <a:p/>
          <a:p>
            <a:r>
              <a:t>| Task | Owner | Due Date |</a:t>
            </a:r>
          </a:p>
          <a:p>
            <a:r>
              <a:t>|------|-------|----------|</a:t>
            </a:r>
          </a:p>
          <a:p>
            <a:r>
              <a:t>| First monthly compliance review | ISSO | [Date+30] |</a:t>
            </a:r>
          </a:p>
          <a:p>
            <a:r>
              <a:t>| Sentinel tuning recommendations | Security | [Date+30] |</a:t>
            </a:r>
          </a:p>
          <a:p>
            <a:r>
              <a:t>| User satisfaction survey | PM | [Date+30] |</a:t>
            </a:r>
          </a:p>
          <a:p>
            <a:r>
              <a:t>| Identify expansion opportunities | Business | [Date+30] |</a:t>
            </a:r>
          </a:p>
          <a:p/>
          <a:p>
            <a:r>
              <a:t>**Quarterly Planning:**</a:t>
            </a:r>
          </a:p>
          <a:p/>
          <a:p>
            <a:r>
              <a:t>*CMMC Level 3 Evaluation:*</a:t>
            </a:r>
          </a:p>
          <a:p>
            <a:r>
              <a:t>- Assess need based on contract requirements</a:t>
            </a:r>
          </a:p>
          <a:p>
            <a:r>
              <a:t>- 58 additional controls required</a:t>
            </a:r>
          </a:p>
          <a:p>
            <a:r>
              <a:t>- Estimated 6-month implementation</a:t>
            </a:r>
          </a:p>
          <a:p>
            <a:r>
              <a:t>- Budget planning for FY25</a:t>
            </a:r>
          </a:p>
          <a:p/>
          <a:p>
            <a:r>
              <a:t>*C3PAO Annual Reassessment:*</a:t>
            </a:r>
          </a:p>
          <a:p>
            <a:r>
              <a:t>- Schedule 3 months before expiration</a:t>
            </a:r>
          </a:p>
          <a:p>
            <a:r>
              <a:t>- Continuous monitoring evidence ready</a:t>
            </a:r>
          </a:p>
          <a:p>
            <a:r>
              <a:t>- SSP updates documented</a:t>
            </a:r>
          </a:p>
          <a:p>
            <a:r>
              <a:t>- No assessment gaps expected</a:t>
            </a:r>
          </a:p>
          <a:p/>
          <a:p>
            <a:r>
              <a:t>*Transition:*</a:t>
            </a:r>
          </a:p>
          <a:p>
            <a:r>
              <a:t>"Thank you for your partnership on this project. Let me open the floor for questions..."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*Closing and Q&amp;A Preparation:*</a:t>
            </a:r>
          </a:p>
          <a:p/>
          <a:p>
            <a:r>
              <a:t>**Closing Statement:**</a:t>
            </a:r>
          </a:p>
          <a:p>
            <a:r>
              <a:t>"Thank you for your partnership throughout this CMMC compliance journey. We've successfully achieved CMMC Level 2 certification, enabling [Client Name] to pursue DoD contracts requiring CUI handling. The GCC High environment is operational, your team is trained, and you're ready for ongoing compliance operations.</a:t>
            </a:r>
          </a:p>
          <a:p/>
          <a:p>
            <a:r>
              <a:t>I want to open the floor for questions. We have [time] remaining."</a:t>
            </a:r>
          </a:p>
          <a:p/>
          <a:p>
            <a:r>
              <a:t>**Anticipated Questions and Prepared Answers:**</a:t>
            </a:r>
          </a:p>
          <a:p/>
          <a:p>
            <a:r>
              <a:t>*Q: What if we need CMMC Level 3?*</a:t>
            </a:r>
          </a:p>
          <a:p>
            <a:r>
              <a:t>A: Level 3 requires 58 additional controls focused on protecting CUI from advanced persistent threats. If you're pursuing contracts with Level 3 requirements, we can conduct a gap assessment and provide a 6-month implementation roadmap. Estimated investment: $100-150K additional.</a:t>
            </a:r>
          </a:p>
          <a:p/>
          <a:p>
            <a:r>
              <a:t>*Q: How do we maintain certification?*</a:t>
            </a:r>
          </a:p>
          <a:p>
            <a:r>
              <a:t>A: CMMC certification requires annual reassessment by a C3PAO. Your ISSO/ISSM should maintain continuous monitoring evidence via Defender for Cloud and Sentinel dashboards. We recommend scheduling reassessment 3 months before expiration to allow remediation time if needed.</a:t>
            </a:r>
          </a:p>
          <a:p/>
          <a:p>
            <a:r>
              <a:t>*Q: What are the ongoing costs?*</a:t>
            </a:r>
          </a:p>
          <a:p>
            <a:r>
              <a:t>A: Annual run rate is approximately $153,240:</a:t>
            </a:r>
          </a:p>
          <a:p>
            <a:r>
              <a:t>- M365 GCC High E5 (50 users): $87,600/year</a:t>
            </a:r>
          </a:p>
          <a:p>
            <a:r>
              <a:t>- Azure Government services: $47,640/year</a:t>
            </a:r>
          </a:p>
          <a:p>
            <a:r>
              <a:t>- Support and maintenance: $18,000/year</a:t>
            </a:r>
          </a:p>
          <a:p>
            <a:r>
              <a:t>Costs scale with user count and Azure resource usage.</a:t>
            </a:r>
          </a:p>
          <a:p/>
          <a:p>
            <a:r>
              <a:t>*Q: Can we add more users?*</a:t>
            </a:r>
          </a:p>
          <a:p>
            <a:r>
              <a:t>A: Yes. Additional GCC High licenses are $146/user/month. Onboarding includes CAC/PIV enrollment, Conditional Access configuration, and security awareness training. Budget 2-3 hours per user for onboarding.</a:t>
            </a:r>
          </a:p>
          <a:p/>
          <a:p>
            <a:r>
              <a:t>*Q: What if CAC/PIV authentication fails?*</a:t>
            </a:r>
          </a:p>
          <a:p>
            <a:r>
              <a:t>A: The runbook includes troubleshooting procedures for common CAC issues: certificate expiration, middleware conflicts, and Azure AD sync delays. Emergency break-glass accounts are available for critical business continuity scenarios.</a:t>
            </a:r>
          </a:p>
          <a:p/>
          <a:p>
            <a:r>
              <a:t>*Q: How do we handle a security incident?*</a:t>
            </a:r>
          </a:p>
          <a:p>
            <a:r>
              <a:t>A: Sentinel playbooks automate initial response. The runbook includes escalation procedures: L1 (IT Help Desk), L2 (ISSO/Security Team), L3 (Microsoft Support). For critical incidents, contact security operations immediately.</a:t>
            </a:r>
          </a:p>
          <a:p/>
          <a:p>
            <a:r>
              <a:t>**Demo Offer:**</a:t>
            </a:r>
          </a:p>
          <a:p>
            <a:r>
              <a:t>"Would anyone like to see the Sentinel SIEM dashboard or Defender for Cloud compliance view? I can show you real-time security monitoring in action."</a:t>
            </a:r>
          </a:p>
          <a:p/>
          <a:p>
            <a:r>
              <a:t>**Follow-Up Commitments:**</a:t>
            </a:r>
          </a:p>
          <a:p>
            <a:r>
              <a:t>- [ ] Send final presentation to all attendees</a:t>
            </a:r>
          </a:p>
          <a:p>
            <a:r>
              <a:t>- [ ] Distribute CMMC compliance quick reference guide</a:t>
            </a:r>
          </a:p>
          <a:p>
            <a:r>
              <a:t>- [ ] Schedule first monthly compliance review</a:t>
            </a:r>
          </a:p>
          <a:p>
            <a:r>
              <a:t>- [ ] Provide C3PAO reassessment planning template</a:t>
            </a:r>
          </a:p>
          <a:p>
            <a:r>
              <a:t>- [ ] Share CMMC Level 3 gap assessment proposal (if requested)</a:t>
            </a:r>
          </a:p>
          <a:p/>
          <a:p>
            <a:r>
              <a:t>**Final Closing:**</a:t>
            </a:r>
          </a:p>
          <a:p>
            <a:r>
              <a:t>"Thank you again for trusting our team with your CMMC compliance program. This certification positions [Client Name] for significant DoD contract opportunities. We look forward to supporting your continued compliance success.</a:t>
            </a:r>
          </a:p>
          <a:p/>
          <a:p>
            <a:r>
              <a:t>Please don't hesitate to reach out to me or [Account Manager] if any questions arise. Have a great [rest of your day/afternoon]."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Microsoft CMMC GCC High Enclave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Project Manager | November 27,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6 months, on schedule</a:t>
            </a:r>
          </a:p>
          <a:p>
            <a:pPr/>
            <a:r>
              <a:rPr b="1"/>
              <a:t>Budget:</a:t>
            </a:r>
            <a:r>
              <a:t> $153,240 Year 1 delivered on budget</a:t>
            </a:r>
          </a:p>
          <a:p>
            <a:pPr/>
            <a:r>
              <a:rPr b="1"/>
              <a:t>Go-Live Date:</a:t>
            </a:r>
            <a:r>
              <a:t> Week 15 as planned</a:t>
            </a:r>
          </a:p>
          <a:p>
            <a:pPr/>
            <a:r>
              <a:rPr b="1"/>
              <a:t>Certification:</a:t>
            </a:r>
            <a:r>
              <a:t> CMMC Level 2 achieved Week 26</a:t>
            </a:r>
          </a:p>
          <a:p>
            <a:pPr/>
            <a:r>
              <a:rPr b="1"/>
              <a:t>NIST 800-171:</a:t>
            </a:r>
            <a:r>
              <a:t> All 110 controls implemented</a:t>
            </a:r>
          </a:p>
          <a:p>
            <a:pPr/>
            <a:r>
              <a:rPr b="1"/>
              <a:t>User Migration:</a:t>
            </a:r>
            <a:r>
              <a:t> 50 CUI users onboarded</a:t>
            </a:r>
          </a:p>
          <a:p>
            <a:pPr/>
            <a:r>
              <a:rPr b="1"/>
              <a:t>Security Posture:</a:t>
            </a:r>
            <a:r>
              <a:t> Zero incidents during migration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Microsoft 365 GCC High</a:t>
            </a:r>
          </a:p>
          <a:p>
            <a:pPr lvl="1"/>
            <a:r>
              <a:t>Exchange Online with 10-year archive</a:t>
            </a:r>
          </a:p>
          <a:p>
            <a:pPr lvl="1"/>
            <a:r>
              <a:t>SharePoint, Teams, OneDrive</a:t>
            </a:r>
          </a:p>
          <a:p>
            <a:pPr lvl="1"/>
            <a:r>
              <a:t>Microsoft Purview DLP policies</a:t>
            </a:r>
          </a:p>
          <a:p>
            <a:pPr/>
            <a:r>
              <a:rPr b="1"/>
              <a:t>Azure Government Cloud</a:t>
            </a:r>
          </a:p>
          <a:p>
            <a:pPr lvl="1"/>
            <a:r>
              <a:t>5 VMs for CUI workloads</a:t>
            </a:r>
          </a:p>
          <a:p>
            <a:pPr lvl="1"/>
            <a:r>
              <a:t>2TB encrypted storage</a:t>
            </a:r>
          </a:p>
          <a:p>
            <a:pPr lvl="1"/>
            <a:r>
              <a:t>VNet with ExpressRoute</a:t>
            </a:r>
          </a:p>
          <a:p>
            <a:pPr/>
            <a:r>
              <a:rPr b="1"/>
              <a:t>Security &amp; Monitoring</a:t>
            </a:r>
          </a:p>
          <a:p>
            <a:pPr lvl="1"/>
            <a:r>
              <a:t>Sentinel SIEM (100GB/month)</a:t>
            </a:r>
          </a:p>
          <a:p>
            <a:pPr lvl="1"/>
            <a:r>
              <a:t>Defender for Cloud posture mgmt</a:t>
            </a:r>
          </a:p>
          <a:p>
            <a:pPr lvl="1"/>
            <a:r>
              <a:t>CAC/PIV authentication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7" name="Picture 6" descr="eo-framework-logo-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3919919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NIST 800-171 Gap Assessment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Compliance baseline and remediation roadmap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`/delivery/gap-assessment.docx`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GCC High Architecture Document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M365 and Azure Government design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System Security Plan (SSP)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CMMC control narratives and evidence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`/delivery/ssp.docx`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Implementation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Step-by-step deployment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Project Plan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Timeline, RACI, communications plan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`/delivery/project-plan.xlsx`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ARM/Terraform Templates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Infrastructure as Code for Azure Gov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`/delivery/scripts/terraform/`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Operations Runbook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Incident response and compliance monitoring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`/delivery/docs/runbook.md`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Training Materials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ISSO/ISSM and security operations guides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`/delivery/training/`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Compliance Metrics</a:t>
            </a:r>
          </a:p>
          <a:p>
            <a:pPr lvl="1"/>
            <a:r>
              <a:t>NIST 800-171 Controls: 110/110 (100%)</a:t>
            </a:r>
          </a:p>
          <a:p>
            <a:pPr lvl="1"/>
            <a:r>
              <a:t>CMMC Level 2: Certified Week 26</a:t>
            </a:r>
          </a:p>
          <a:p>
            <a:pPr lvl="1"/>
            <a:r>
              <a:t>C3PAO Findings: 0 open findings</a:t>
            </a:r>
          </a:p>
          <a:p>
            <a:pPr lvl="1"/>
            <a:r>
              <a:t>SPRS Score: +110 (maximum)</a:t>
            </a:r>
          </a:p>
          <a:p>
            <a:pPr lvl="1"/>
            <a:r>
              <a:t>Compliance Dashboard: 98.5% score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Security Metrics</a:t>
            </a:r>
          </a:p>
          <a:p>
            <a:pPr lvl="1"/>
            <a:r>
              <a:t>Sentinel Alert Response: &lt;12 min avg</a:t>
            </a:r>
          </a:p>
          <a:p>
            <a:pPr lvl="1"/>
            <a:r>
              <a:t>Vulnerability Remediation: 100% on SLA</a:t>
            </a:r>
          </a:p>
          <a:p>
            <a:pPr lvl="1"/>
            <a:r>
              <a:t>MFA Enforcement: 100% coverage</a:t>
            </a:r>
          </a:p>
          <a:p>
            <a:pPr lvl="1"/>
            <a:r>
              <a:t>Data Encryption: FIPS 140-2 validated</a:t>
            </a:r>
          </a:p>
          <a:p>
            <a:pPr lvl="1"/>
            <a:r>
              <a:t>Zero security incidents recorded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1742186"/>
                <a:gridCol w="1742186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Business 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CMMC Certification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Level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Level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DoD contract eligibility enabled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Time to Certification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66% faster than on-premises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Compliance Automation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95%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Reduced manual audit effort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Security Posture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NIST 800-171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compliant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Contract requirement met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Productivity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Minimal disruption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&lt;2 hr downtime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Seamless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Cost Avoidance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$500K capex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 capex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Cloud vs on-premises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Phased migration reduced risk</a:t>
            </a:r>
          </a:p>
          <a:p>
            <a:pPr lvl="1"/>
            <a:r>
              <a:t>C3PAO engaged early (Month 4)</a:t>
            </a:r>
          </a:p>
          <a:p>
            <a:pPr lvl="1"/>
            <a:r>
              <a:t>CAC/PIV pilot validated approach</a:t>
            </a:r>
          </a:p>
          <a:p>
            <a:pPr lvl="1"/>
            <a:r>
              <a:t>Sentinel playbooks accelerated response</a:t>
            </a:r>
          </a:p>
          <a:p>
            <a:pPr lvl="1"/>
            <a:r>
              <a:t>Weekly stakeholder demos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ExpressRoute provisioning delay</a:t>
            </a:r>
          </a:p>
          <a:p>
            <a:pPr lvl="1"/>
            <a:r>
              <a:t>CAC certificate expiration issues</a:t>
            </a:r>
          </a:p>
          <a:p>
            <a:pPr lvl="1"/>
            <a:r>
              <a:t>DLP policy false positives</a:t>
            </a:r>
          </a:p>
          <a:p>
            <a:pPr lvl="1"/>
            <a:r>
              <a:t>User adoption of new workflows</a:t>
            </a:r>
          </a:p>
          <a:p>
            <a:pPr lvl="1"/>
            <a:r>
              <a:t>GCC High tenant provisioning lead time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Expand to additional doc types</a:t>
            </a:r>
          </a:p>
          <a:p>
            <a:pPr lvl="1"/>
            <a:r>
              <a:t>Implement advanced threat hunting</a:t>
            </a:r>
          </a:p>
          <a:p>
            <a:pPr lvl="1"/>
            <a:r>
              <a:t>Plan for CMMC Level 3 if needed</a:t>
            </a:r>
          </a:p>
          <a:p>
            <a:pPr lvl="1"/>
            <a:r>
              <a:t>Quarterly compliance reviews</a:t>
            </a:r>
          </a:p>
          <a:p>
            <a:pPr lvl="1"/>
            <a:r>
              <a:t>Annual C3PAO reassessment prep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Complete (30 days)</a:t>
            </a:r>
          </a:p>
          <a:p>
            <a:pPr lvl="1"/>
            <a:r>
              <a:t>Daily health checks completed</a:t>
            </a:r>
          </a:p>
          <a:p>
            <a:pPr lvl="1"/>
            <a:r>
              <a:t>2 minor issues resolved</a:t>
            </a:r>
          </a:p>
          <a:p>
            <a:pPr lvl="1"/>
            <a:r>
              <a:t>Knowledge transfer sessions done</a:t>
            </a:r>
          </a:p>
          <a:p>
            <a:pPr lvl="1"/>
            <a:r>
              <a:t>Runbook procedures validated</a:t>
            </a:r>
          </a:p>
          <a:p>
            <a:pPr lvl="1"/>
            <a:r>
              <a:t>ISSO/ISSM fully trained</a:t>
            </a:r>
          </a:p>
          <a:p>
            <a:pPr/>
            <a:r>
              <a:rPr b="1"/>
              <a:t>Steady State Support</a:t>
            </a:r>
          </a:p>
          <a:p>
            <a:pPr lvl="1"/>
            <a:r>
              <a:t>Monthly compliance reviews</a:t>
            </a:r>
          </a:p>
          <a:p>
            <a:pPr lvl="1"/>
            <a:r>
              <a:t>Quarterly security assessments</a:t>
            </a:r>
          </a:p>
          <a:p>
            <a:pPr lvl="1"/>
            <a:r>
              <a:t>Sentinel monitoring 24/7</a:t>
            </a:r>
          </a:p>
          <a:p>
            <a:pPr lvl="1"/>
            <a:r>
              <a:t>Vulnerability scan weekly</a:t>
            </a:r>
          </a:p>
          <a:p>
            <a:pPr lvl="1"/>
            <a:r>
              <a:t>C3PAO reassessment annual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Path</a:t>
            </a:r>
          </a:p>
          <a:p>
            <a:pPr lvl="1"/>
            <a:r>
              <a:t>L1: Internal IT Help Desk</a:t>
            </a:r>
          </a:p>
          <a:p>
            <a:pPr lvl="1"/>
            <a:r>
              <a:t>L2: ISSO/Security Team</a:t>
            </a:r>
          </a:p>
          <a:p>
            <a:pPr lvl="1"/>
            <a:r>
              <a:t>L3: Microsoft GCC High Support</a:t>
            </a:r>
          </a:p>
          <a:p>
            <a:pPr lvl="1"/>
            <a:r>
              <a:t>Emergency: Security Operations</a:t>
            </a:r>
          </a:p>
          <a:p>
            <a:pPr lvl="1"/>
            <a:r>
              <a:t>Executive: Account Manager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Executive sponsors for securing budget and CMMC program commitment</a:t>
            </a:r>
          </a:p>
          <a:p>
            <a:pPr/>
            <a:r>
              <a:t>ISSO/ISSM for System Security Plan development and C3PAO coordination</a:t>
            </a:r>
          </a:p>
          <a:p>
            <a:pPr/>
            <a:r>
              <a:t>IT team for GCC High migration execution and user support</a:t>
            </a:r>
          </a:p>
          <a:p>
            <a:pPr/>
            <a:r>
              <a:t>Security team for Sentinel operations and incident response</a:t>
            </a:r>
          </a:p>
          <a:p>
            <a:pPr/>
            <a:r>
              <a:rPr b="1"/>
              <a:t>This Week:</a:t>
            </a:r>
            <a:r>
              <a:t> Final documentation handover, archive project artifacts</a:t>
            </a:r>
          </a:p>
          <a:p>
            <a:pPr/>
            <a:r>
              <a:rPr b="1"/>
              <a:t>Next 30 Days:</a:t>
            </a:r>
            <a:r>
              <a:t> First monthly compliance review, SPRS score submission</a:t>
            </a:r>
          </a:p>
          <a:p>
            <a:pPr/>
            <a:r>
              <a:rPr b="1"/>
              <a:t>Next Quarter:</a:t>
            </a:r>
            <a:r>
              <a:t> C3PAO annual reassessment planning, CMMC Level 3 evaluation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