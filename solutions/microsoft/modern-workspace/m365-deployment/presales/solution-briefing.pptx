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bin" ContentType="image/unknown"/>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7"/>
    <p:sldId id="257" r:id="rId8"/>
    <p:sldId id="258" r:id="rId6"/>
    <p:sldId id="259" r:id="rId5"/>
    <p:sldId id="260" r:id="rId4"/>
    <p:sldId id="261" r:id="rId3"/>
    <p:sldId id="262" r:id="rId2"/>
    <p:sldId id="263" r:id="rId14"/>
    <p:sldId id="264" r:id="rId15"/>
    <p:sldId id="265" r:id="rId16"/>
    <p:sldId id="266" r:id="rId1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01C0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5" d="100"/>
          <a:sy n="135" d="100"/>
        </p:scale>
        <p:origin x="380" y="308"/>
      </p:cViewPr>
      <p:guideLst/>
    </p:cSldViewPr>
  </p:slideViewPr>
  <p:notesTextViewPr>
    <p:cViewPr>
      <p:scale>
        <a:sx n="1" d="1"/>
        <a:sy n="1" d="1"/>
      </p:scale>
      <p:origin x="0" y="0"/>
    </p:cViewPr>
  </p:notesTextViewPr>
  <p:notesViewPr>
    <p:cSldViewPr snapToGrid="0" snapToObjects="1">
      <p:cViewPr varScale="1">
        <p:scale>
          <a:sx n="83" d="100"/>
          <a:sy n="83" d="100"/>
        </p:scale>
        <p:origin x="3732" y="76"/>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7.xml"/><Relationship Id="rId3" Type="http://schemas.openxmlformats.org/officeDocument/2006/relationships/slide" Target="slides/slide6.xml"/><Relationship Id="rId4" Type="http://schemas.openxmlformats.org/officeDocument/2006/relationships/slide" Target="slides/slide5.xml"/><Relationship Id="rId5" Type="http://schemas.openxmlformats.org/officeDocument/2006/relationships/slide" Target="slides/slide4.xml"/><Relationship Id="rId6" Type="http://schemas.openxmlformats.org/officeDocument/2006/relationships/slide" Target="slides/slide3.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endParaRPr lang="en-US"/>
          </a:p>
        </p:txBody>
      </p:sp>
    </p:spTree>
    <p:extLst>
      <p:ext uri="{BB962C8B-B14F-4D97-AF65-F5344CB8AC3E}">
        <p14:creationId xmlns:p14="http://schemas.microsoft.com/office/powerpoint/2010/main" val="2901673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Additional Scope Parameters (not displayed on slide):</a:t>
            </a:r>
          </a:p>
          <a:p/>
          <a:p>
            <a:r>
              <a:t>• External Sharing: Controlled external collaboration</a:t>
            </a:r>
          </a:p>
          <a:p>
            <a:r>
              <a:t>• Deployment Environments: 2 environments (pilot production)</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bin"/></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bin"/></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EO Title Slide">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8D36A0E4-7374-4A92-CEC2-AC1CC29B855F}"/>
              </a:ext>
            </a:extLst>
          </p:cNvPr>
          <p:cNvSpPr>
            <a:spLocks noGrp="1"/>
          </p:cNvSpPr>
          <p:nvPr>
            <p:ph type="pic" sz="quarter" idx="10"/>
          </p:nvPr>
        </p:nvSpPr>
        <p:spPr>
          <a:xfrm>
            <a:off x="2180492" y="171206"/>
            <a:ext cx="3978520" cy="1314694"/>
          </a:xfrm>
          <a:prstGeom prst="rect">
            <a:avLst/>
          </a:prstGeom>
        </p:spPr>
        <p:txBody>
          <a:bodyPr/>
          <a:lstStyle/>
          <a:p>
            <a:endParaRPr lang="en-US" dirty="0"/>
          </a:p>
        </p:txBody>
      </p:sp>
      <p:pic>
        <p:nvPicPr>
          <p:cNvPr id="5" name="Image 0" descr="/home/claude/eo-framework-logo.png">
            <a:extLst>
              <a:ext uri="{FF2B5EF4-FFF2-40B4-BE49-F238E27FC236}">
                <a16:creationId xmlns:a16="http://schemas.microsoft.com/office/drawing/2014/main" id="{028AFAE3-D949-BFF8-132D-C3956962B6BC}"/>
              </a:ext>
            </a:extLst>
          </p:cNvPr>
          <p:cNvPicPr>
            <a:picLocks noChangeAspect="1"/>
          </p:cNvPicPr>
          <p:nvPr userDrawn="1"/>
        </p:nvPicPr>
        <p:blipFill>
          <a:blip r:embed="rId2"/>
          <a:stretch>
            <a:fillRect/>
          </a:stretch>
        </p:blipFill>
        <p:spPr>
          <a:xfrm>
            <a:off x="6945879" y="4648200"/>
            <a:ext cx="1952244" cy="417576"/>
          </a:xfrm>
          <a:prstGeom prst="rect">
            <a:avLst/>
          </a:prstGeom>
        </p:spPr>
      </p:pic>
      <p:sp>
        <p:nvSpPr>
          <p:cNvPr id="6" name="Text Placeholder 8">
            <a:extLst>
              <a:ext uri="{FF2B5EF4-FFF2-40B4-BE49-F238E27FC236}">
                <a16:creationId xmlns:a16="http://schemas.microsoft.com/office/drawing/2014/main" id="{ABC2FEB1-3552-40B4-D5D2-8C9A2DF4EF3E}"/>
              </a:ext>
            </a:extLst>
          </p:cNvPr>
          <p:cNvSpPr>
            <a:spLocks noGrp="1"/>
          </p:cNvSpPr>
          <p:nvPr>
            <p:ph type="body" sz="quarter" idx="12" hasCustomPrompt="1"/>
          </p:nvPr>
        </p:nvSpPr>
        <p:spPr>
          <a:xfrm>
            <a:off x="538528" y="1886679"/>
            <a:ext cx="7671288" cy="527050"/>
          </a:xfrm>
          <a:prstGeom prst="rect">
            <a:avLst/>
          </a:prstGeom>
        </p:spPr>
        <p:txBody>
          <a:bodyPr/>
          <a:lstStyle>
            <a:lvl1pPr marL="0" indent="0" algn="ctr">
              <a:lnSpc>
                <a:spcPts val="3600"/>
              </a:lnSpc>
              <a:buNone/>
              <a:defRPr sz="3600" b="1" i="0" baseline="0">
                <a:latin typeface="Arial" panose="020B0604020202020204" pitchFamily="34" charset="0"/>
              </a:defRPr>
            </a:lvl1pPr>
          </a:lstStyle>
          <a:p>
            <a:pPr marL="0" indent="0" algn="ctr">
              <a:lnSpc>
                <a:spcPts val="3600"/>
              </a:lnSpc>
              <a:buNone/>
            </a:pPr>
            <a:r>
              <a:rPr lang="en-US" sz="3600" b="1" dirty="0">
                <a:solidFill>
                  <a:srgbClr val="2C3E50"/>
                </a:solidFill>
                <a:latin typeface="Arial" pitchFamily="34" charset="0"/>
                <a:ea typeface="Arial" pitchFamily="34" charset="-122"/>
                <a:cs typeface="Arial" pitchFamily="34" charset="-120"/>
              </a:rPr>
              <a:t>Presentation Title</a:t>
            </a:r>
            <a:endParaRPr lang="en-US" sz="3600" dirty="0"/>
          </a:p>
        </p:txBody>
      </p:sp>
      <p:sp>
        <p:nvSpPr>
          <p:cNvPr id="7" name="Picture Placeholder 13">
            <a:extLst>
              <a:ext uri="{FF2B5EF4-FFF2-40B4-BE49-F238E27FC236}">
                <a16:creationId xmlns:a16="http://schemas.microsoft.com/office/drawing/2014/main" id="{86145EB1-48C8-058E-F657-82D57B579544}"/>
              </a:ext>
            </a:extLst>
          </p:cNvPr>
          <p:cNvSpPr>
            <a:spLocks noGrp="1"/>
          </p:cNvSpPr>
          <p:nvPr>
            <p:ph type="pic" sz="quarter" idx="13"/>
          </p:nvPr>
        </p:nvSpPr>
        <p:spPr>
          <a:xfrm>
            <a:off x="313591" y="4536078"/>
            <a:ext cx="2099897" cy="529698"/>
          </a:xfrm>
          <a:prstGeom prst="rect">
            <a:avLst/>
          </a:prstGeom>
        </p:spPr>
        <p:txBody>
          <a:bodyPr/>
          <a:lstStyle/>
          <a:p>
            <a:endParaRPr lang="en-US" dirty="0"/>
          </a:p>
        </p:txBody>
      </p:sp>
      <p:sp>
        <p:nvSpPr>
          <p:cNvPr id="8" name="Text 0">
            <a:extLst>
              <a:ext uri="{FF2B5EF4-FFF2-40B4-BE49-F238E27FC236}">
                <a16:creationId xmlns:a16="http://schemas.microsoft.com/office/drawing/2014/main" id="{D51056DC-8081-0916-0351-65D88D1682B8}"/>
              </a:ext>
            </a:extLst>
          </p:cNvPr>
          <p:cNvSpPr/>
          <p:nvPr userDrawn="1"/>
        </p:nvSpPr>
        <p:spPr>
          <a:xfrm>
            <a:off x="2224455" y="1676475"/>
            <a:ext cx="3886322" cy="45719"/>
          </a:xfrm>
          <a:prstGeom prst="roundRect">
            <a:avLst>
              <a:gd name="adj" fmla="val 50000"/>
            </a:avLst>
          </a:prstGeom>
          <a:solidFill>
            <a:srgbClr val="CC0000"/>
          </a:solidFill>
          <a:ln/>
        </p:spPr>
        <p:txBody>
          <a:bodyPr wrap="square" rtlCol="0" anchor="ctr"/>
          <a:lstStyle/>
          <a:p>
            <a:pPr marL="0" indent="0">
              <a:buNone/>
            </a:pPr>
            <a:endParaRPr lang="en-US" dirty="0"/>
          </a:p>
        </p:txBody>
      </p:sp>
      <p:sp>
        <p:nvSpPr>
          <p:cNvPr id="10" name="Text Placeholder 9">
            <a:extLst>
              <a:ext uri="{FF2B5EF4-FFF2-40B4-BE49-F238E27FC236}">
                <a16:creationId xmlns:a16="http://schemas.microsoft.com/office/drawing/2014/main" id="{DC531180-94E5-3403-56E5-895E003A9D72}"/>
              </a:ext>
            </a:extLst>
          </p:cNvPr>
          <p:cNvSpPr>
            <a:spLocks noGrp="1"/>
          </p:cNvSpPr>
          <p:nvPr>
            <p:ph type="body" sz="quarter" idx="14" hasCustomPrompt="1"/>
          </p:nvPr>
        </p:nvSpPr>
        <p:spPr>
          <a:xfrm>
            <a:off x="1059473" y="2437679"/>
            <a:ext cx="6629399" cy="334598"/>
          </a:xfrm>
          <a:prstGeom prst="rect">
            <a:avLst/>
          </a:prstGeom>
        </p:spPr>
        <p:txBody>
          <a:bodyPr/>
          <a:lstStyle>
            <a:lvl1pPr marL="0" marR="0" indent="0" algn="ctr" defTabSz="914400" rtl="0" eaLnBrk="1" fontAlgn="auto" latinLnBrk="0" hangingPunct="1">
              <a:lnSpc>
                <a:spcPct val="100000"/>
              </a:lnSpc>
              <a:spcBef>
                <a:spcPct val="20000"/>
              </a:spcBef>
              <a:spcAft>
                <a:spcPts val="0"/>
              </a:spcAft>
              <a:buClrTx/>
              <a:buSzTx/>
              <a:buFont typeface="Arial" pitchFamily="34" charset="0"/>
              <a:buNone/>
              <a:tabLst/>
              <a:defRPr sz="1800">
                <a:latin typeface="Arial" panose="020B0604020202020204" pitchFamily="34" charset="0"/>
                <a:cs typeface="Arial" panose="020B0604020202020204" pitchFamily="34" charset="0"/>
              </a:defRPr>
            </a:lvl1p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lang="en-US" sz="1800" dirty="0">
                <a:solidFill>
                  <a:srgbClr val="6C757D"/>
                </a:solidFill>
                <a:latin typeface="Arial" pitchFamily="34" charset="0"/>
                <a:ea typeface="Arial" pitchFamily="34" charset="-122"/>
                <a:cs typeface="Arial" pitchFamily="34" charset="-120"/>
              </a:rPr>
              <a:t>Subtitle Text</a:t>
            </a:r>
            <a:endParaRPr lang="en-US" sz="1800" dirty="0"/>
          </a:p>
        </p:txBody>
      </p:sp>
      <p:sp>
        <p:nvSpPr>
          <p:cNvPr id="12" name="Text Placeholder 11">
            <a:extLst>
              <a:ext uri="{FF2B5EF4-FFF2-40B4-BE49-F238E27FC236}">
                <a16:creationId xmlns:a16="http://schemas.microsoft.com/office/drawing/2014/main" id="{39F5D3C5-0033-51A7-77BC-7E3DBBF84F2E}"/>
              </a:ext>
            </a:extLst>
          </p:cNvPr>
          <p:cNvSpPr>
            <a:spLocks noGrp="1"/>
          </p:cNvSpPr>
          <p:nvPr>
            <p:ph type="body" sz="quarter" idx="15" hasCustomPrompt="1"/>
          </p:nvPr>
        </p:nvSpPr>
        <p:spPr>
          <a:xfrm>
            <a:off x="2734286" y="3631467"/>
            <a:ext cx="3605212" cy="334963"/>
          </a:xfrm>
          <a:prstGeom prst="rect">
            <a:avLst/>
          </a:prstGeom>
        </p:spPr>
        <p:txBody>
          <a:bodyPr/>
          <a:lstStyle>
            <a:lvl1pPr marL="0" marR="0" indent="0" algn="ctr" defTabSz="914400" rtl="0" eaLnBrk="1" fontAlgn="auto" latinLnBrk="0" hangingPunct="1">
              <a:lnSpc>
                <a:spcPct val="100000"/>
              </a:lnSpc>
              <a:spcBef>
                <a:spcPct val="20000"/>
              </a:spcBef>
              <a:spcAft>
                <a:spcPts val="0"/>
              </a:spcAft>
              <a:buClrTx/>
              <a:buSzTx/>
              <a:buFont typeface="Arial" pitchFamily="34" charset="0"/>
              <a:buNone/>
              <a:tabLst/>
              <a:defRPr sz="1400">
                <a:latin typeface="Arial" panose="020B0604020202020204" pitchFamily="34" charset="0"/>
                <a:cs typeface="Arial" panose="020B0604020202020204" pitchFamily="34" charset="0"/>
              </a:defRPr>
            </a:lvl1pPr>
          </a:lstStyle>
          <a:p>
            <a:pPr lvl="0"/>
            <a:r>
              <a:rPr lang="en-US" sz="1400" dirty="0">
                <a:solidFill>
                  <a:srgbClr val="6C757D"/>
                </a:solidFill>
                <a:latin typeface="Arial" pitchFamily="34" charset="0"/>
                <a:cs typeface="Arial" pitchFamily="34" charset="-120"/>
              </a:rPr>
              <a:t>Presenter Name | Date</a:t>
            </a:r>
            <a:endParaRPr lang="en-US" dirty="0"/>
          </a:p>
        </p:txBody>
      </p:sp>
    </p:spTree>
    <p:extLst>
      <p:ext uri="{BB962C8B-B14F-4D97-AF65-F5344CB8AC3E}">
        <p14:creationId xmlns:p14="http://schemas.microsoft.com/office/powerpoint/2010/main" val="14114350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EO Single Column">
    <p:spTree>
      <p:nvGrpSpPr>
        <p:cNvPr id="1" name=""/>
        <p:cNvGrpSpPr/>
        <p:nvPr/>
      </p:nvGrpSpPr>
      <p:grpSpPr>
        <a:xfrm>
          <a:off x="0" y="0"/>
          <a:ext cx="0" cy="0"/>
          <a:chOff x="0" y="0"/>
          <a:chExt cx="0" cy="0"/>
        </a:xfrm>
      </p:grpSpPr>
      <p:sp>
        <p:nvSpPr>
          <p:cNvPr id="12" name="Picture Placeholder 13">
            <a:extLst>
              <a:ext uri="{FF2B5EF4-FFF2-40B4-BE49-F238E27FC236}">
                <a16:creationId xmlns:a16="http://schemas.microsoft.com/office/drawing/2014/main" id="{2DB97592-C4D5-B315-7F11-AA14F6EE8A62}"/>
              </a:ext>
            </a:extLst>
          </p:cNvPr>
          <p:cNvSpPr>
            <a:spLocks noGrp="1"/>
          </p:cNvSpPr>
          <p:nvPr>
            <p:ph type="pic" sz="quarter" idx="13"/>
          </p:nvPr>
        </p:nvSpPr>
        <p:spPr>
          <a:xfrm>
            <a:off x="313593" y="4536078"/>
            <a:ext cx="2143858" cy="529698"/>
          </a:xfrm>
          <a:prstGeom prst="rect">
            <a:avLst/>
          </a:prstGeom>
        </p:spPr>
        <p:txBody>
          <a:bodyPr/>
          <a:lstStyle/>
          <a:p>
            <a:endParaRPr lang="en-US" dirty="0"/>
          </a:p>
        </p:txBody>
      </p:sp>
      <p:sp>
        <p:nvSpPr>
          <p:cNvPr id="3" name="Shape 1">
            <a:extLst>
              <a:ext uri="{FF2B5EF4-FFF2-40B4-BE49-F238E27FC236}">
                <a16:creationId xmlns:a16="http://schemas.microsoft.com/office/drawing/2014/main" id="{4EA828A1-D5D6-9ADA-1918-E5FE226673A0}"/>
              </a:ext>
            </a:extLst>
          </p:cNvPr>
          <p:cNvSpPr/>
          <p:nvPr userDrawn="1"/>
        </p:nvSpPr>
        <p:spPr>
          <a:xfrm>
            <a:off x="0" y="606304"/>
            <a:ext cx="9144000" cy="0"/>
          </a:xfrm>
          <a:prstGeom prst="line">
            <a:avLst/>
          </a:prstGeom>
          <a:noFill/>
          <a:ln w="28575">
            <a:solidFill>
              <a:srgbClr val="CC0000"/>
            </a:solidFill>
            <a:prstDash val="solid"/>
          </a:ln>
        </p:spPr>
        <p:txBody>
          <a:bodyPr/>
          <a:lstStyle/>
          <a:p>
            <a:endParaRPr lang="en-US"/>
          </a:p>
        </p:txBody>
      </p:sp>
      <p:sp>
        <p:nvSpPr>
          <p:cNvPr id="9" name="Text Placeholder 8">
            <a:extLst>
              <a:ext uri="{FF2B5EF4-FFF2-40B4-BE49-F238E27FC236}">
                <a16:creationId xmlns:a16="http://schemas.microsoft.com/office/drawing/2014/main" id="{980A86D4-478F-6846-9F0A-B815F2A3AB2D}"/>
              </a:ext>
            </a:extLst>
          </p:cNvPr>
          <p:cNvSpPr>
            <a:spLocks noGrp="1"/>
          </p:cNvSpPr>
          <p:nvPr>
            <p:ph type="body" sz="quarter" idx="10" hasCustomPrompt="1"/>
          </p:nvPr>
        </p:nvSpPr>
        <p:spPr>
          <a:xfrm>
            <a:off x="296863" y="0"/>
            <a:ext cx="8509304" cy="527008"/>
          </a:xfrm>
          <a:prstGeom prst="rect">
            <a:avLst/>
          </a:prstGeom>
        </p:spPr>
        <p:txBody>
          <a:bodyPr/>
          <a:lstStyle>
            <a:lvl1pPr marL="0" marR="0" indent="0" algn="l" defTabSz="914400" rtl="0" eaLnBrk="1" fontAlgn="auto" latinLnBrk="0" hangingPunct="1">
              <a:lnSpc>
                <a:spcPct val="100000"/>
              </a:lnSpc>
              <a:spcBef>
                <a:spcPct val="20000"/>
              </a:spcBef>
              <a:spcAft>
                <a:spcPts val="0"/>
              </a:spcAft>
              <a:buClrTx/>
              <a:buSzTx/>
              <a:buFont typeface="Arial" pitchFamily="34" charset="0"/>
              <a:buNone/>
              <a:tabLst/>
              <a:defRPr sz="2700" b="1">
                <a:latin typeface="Arial" panose="020B0604020202020204" pitchFamily="34" charset="0"/>
                <a:cs typeface="Arial" panose="020B0604020202020204" pitchFamily="34" charset="0"/>
              </a:defRPr>
            </a:lvl1pPr>
          </a:lstStyle>
          <a:p>
            <a:pPr lvl="0"/>
            <a:r>
              <a:rPr lang="en-US" dirty="0"/>
              <a:t>Slide Title</a:t>
            </a:r>
          </a:p>
        </p:txBody>
      </p:sp>
      <p:sp>
        <p:nvSpPr>
          <p:cNvPr id="4" name="Text Placeholder 3">
            <a:extLst>
              <a:ext uri="{FF2B5EF4-FFF2-40B4-BE49-F238E27FC236}">
                <a16:creationId xmlns:a16="http://schemas.microsoft.com/office/drawing/2014/main" id="{54BEE1A0-720D-187D-95F8-429F3DF3D64E}"/>
              </a:ext>
            </a:extLst>
          </p:cNvPr>
          <p:cNvSpPr>
            <a:spLocks noGrp="1"/>
          </p:cNvSpPr>
          <p:nvPr>
            <p:ph type="body" sz="quarter" idx="14"/>
          </p:nvPr>
        </p:nvSpPr>
        <p:spPr>
          <a:xfrm>
            <a:off x="296863" y="685601"/>
            <a:ext cx="8548687" cy="3811657"/>
          </a:xfrm>
          <a:prstGeom prst="rect">
            <a:avLst/>
          </a:prstGeom>
        </p:spPr>
        <p:txBody>
          <a:bodyPr/>
          <a:lstStyle>
            <a:lvl1pPr>
              <a:defRPr sz="2000" b="1" baseline="0">
                <a:solidFill>
                  <a:srgbClr val="C00000"/>
                </a:solidFill>
              </a:defRPr>
            </a:lvl1pPr>
            <a:lvl2pPr>
              <a:buFont typeface="Arial" panose="020B0604020202020204" pitchFamily="34" charset="0"/>
              <a:buChar char="•"/>
              <a:defRPr sz="1600"/>
            </a:lvl2pPr>
            <a:lvl3pPr>
              <a:defRPr sz="1400"/>
            </a:lvl3pPr>
            <a:lvl4pPr>
              <a:buFont typeface="Arial" panose="020B0604020202020204" pitchFamily="34" charset="0"/>
              <a:buChar char="•"/>
              <a:defRPr sz="1200"/>
            </a:lvl4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5" name="Text Placeholder 4">
            <a:extLst>
              <a:ext uri="{FF2B5EF4-FFF2-40B4-BE49-F238E27FC236}">
                <a16:creationId xmlns:a16="http://schemas.microsoft.com/office/drawing/2014/main" id="{57F71806-AFEA-DD6D-E6AA-E2A002E682DE}"/>
              </a:ext>
            </a:extLst>
          </p:cNvPr>
          <p:cNvSpPr>
            <a:spLocks noGrp="1"/>
          </p:cNvSpPr>
          <p:nvPr>
            <p:ph type="body" sz="quarter" idx="15" hasCustomPrompt="1"/>
          </p:nvPr>
        </p:nvSpPr>
        <p:spPr>
          <a:xfrm>
            <a:off x="5627076" y="4738688"/>
            <a:ext cx="3218473" cy="238125"/>
          </a:xfrm>
          <a:prstGeom prst="rect">
            <a:avLst/>
          </a:prstGeom>
        </p:spPr>
        <p:txBody>
          <a:bodyPr/>
          <a:lstStyle>
            <a:lvl5pPr algn="r">
              <a:buNone/>
              <a:defRPr sz="1100"/>
            </a:lvl5pPr>
          </a:lstStyle>
          <a:p>
            <a:pPr lvl="4"/>
            <a:r>
              <a:rPr lang="en-US" dirty="0"/>
              <a:t>Project Name</a:t>
            </a:r>
          </a:p>
        </p:txBody>
      </p:sp>
    </p:spTree>
    <p:extLst>
      <p:ext uri="{BB962C8B-B14F-4D97-AF65-F5344CB8AC3E}">
        <p14:creationId xmlns:p14="http://schemas.microsoft.com/office/powerpoint/2010/main" val="10462396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EO Bullet Points">
    <p:spTree>
      <p:nvGrpSpPr>
        <p:cNvPr id="1" name=""/>
        <p:cNvGrpSpPr/>
        <p:nvPr/>
      </p:nvGrpSpPr>
      <p:grpSpPr>
        <a:xfrm>
          <a:off x="0" y="0"/>
          <a:ext cx="0" cy="0"/>
          <a:chOff x="0" y="0"/>
          <a:chExt cx="0" cy="0"/>
        </a:xfrm>
      </p:grpSpPr>
      <p:sp>
        <p:nvSpPr>
          <p:cNvPr id="12" name="Picture Placeholder 13">
            <a:extLst>
              <a:ext uri="{FF2B5EF4-FFF2-40B4-BE49-F238E27FC236}">
                <a16:creationId xmlns:a16="http://schemas.microsoft.com/office/drawing/2014/main" id="{2DB97592-C4D5-B315-7F11-AA14F6EE8A62}"/>
              </a:ext>
            </a:extLst>
          </p:cNvPr>
          <p:cNvSpPr>
            <a:spLocks noGrp="1"/>
          </p:cNvSpPr>
          <p:nvPr>
            <p:ph type="pic" sz="quarter" idx="13"/>
          </p:nvPr>
        </p:nvSpPr>
        <p:spPr>
          <a:xfrm>
            <a:off x="313593" y="4536078"/>
            <a:ext cx="2143858" cy="529698"/>
          </a:xfrm>
          <a:prstGeom prst="rect">
            <a:avLst/>
          </a:prstGeom>
        </p:spPr>
        <p:txBody>
          <a:bodyPr/>
          <a:lstStyle/>
          <a:p>
            <a:endParaRPr lang="en-US" dirty="0"/>
          </a:p>
        </p:txBody>
      </p:sp>
      <p:sp>
        <p:nvSpPr>
          <p:cNvPr id="3" name="Shape 1">
            <a:extLst>
              <a:ext uri="{FF2B5EF4-FFF2-40B4-BE49-F238E27FC236}">
                <a16:creationId xmlns:a16="http://schemas.microsoft.com/office/drawing/2014/main" id="{4EA828A1-D5D6-9ADA-1918-E5FE226673A0}"/>
              </a:ext>
            </a:extLst>
          </p:cNvPr>
          <p:cNvSpPr/>
          <p:nvPr userDrawn="1"/>
        </p:nvSpPr>
        <p:spPr>
          <a:xfrm>
            <a:off x="0" y="606304"/>
            <a:ext cx="9144000" cy="0"/>
          </a:xfrm>
          <a:prstGeom prst="line">
            <a:avLst/>
          </a:prstGeom>
          <a:noFill/>
          <a:ln w="28575">
            <a:solidFill>
              <a:srgbClr val="CC0000"/>
            </a:solidFill>
            <a:prstDash val="solid"/>
          </a:ln>
        </p:spPr>
        <p:txBody>
          <a:bodyPr/>
          <a:lstStyle/>
          <a:p>
            <a:endParaRPr lang="en-US"/>
          </a:p>
        </p:txBody>
      </p:sp>
      <p:sp>
        <p:nvSpPr>
          <p:cNvPr id="9" name="Text Placeholder 8">
            <a:extLst>
              <a:ext uri="{FF2B5EF4-FFF2-40B4-BE49-F238E27FC236}">
                <a16:creationId xmlns:a16="http://schemas.microsoft.com/office/drawing/2014/main" id="{980A86D4-478F-6846-9F0A-B815F2A3AB2D}"/>
              </a:ext>
            </a:extLst>
          </p:cNvPr>
          <p:cNvSpPr>
            <a:spLocks noGrp="1"/>
          </p:cNvSpPr>
          <p:nvPr>
            <p:ph type="body" sz="quarter" idx="10" hasCustomPrompt="1"/>
          </p:nvPr>
        </p:nvSpPr>
        <p:spPr>
          <a:xfrm>
            <a:off x="296863" y="0"/>
            <a:ext cx="8509304" cy="527008"/>
          </a:xfrm>
          <a:prstGeom prst="rect">
            <a:avLst/>
          </a:prstGeom>
        </p:spPr>
        <p:txBody>
          <a:bodyPr/>
          <a:lstStyle>
            <a:lvl1pPr marL="0" marR="0" indent="0" algn="l" defTabSz="914400" rtl="0" eaLnBrk="1" fontAlgn="auto" latinLnBrk="0" hangingPunct="1">
              <a:lnSpc>
                <a:spcPct val="100000"/>
              </a:lnSpc>
              <a:spcBef>
                <a:spcPct val="20000"/>
              </a:spcBef>
              <a:spcAft>
                <a:spcPts val="0"/>
              </a:spcAft>
              <a:buClrTx/>
              <a:buSzTx/>
              <a:buFont typeface="Arial" pitchFamily="34" charset="0"/>
              <a:buNone/>
              <a:tabLst/>
              <a:defRPr sz="2700" b="1">
                <a:latin typeface="Arial" panose="020B0604020202020204" pitchFamily="34" charset="0"/>
                <a:cs typeface="Arial" panose="020B0604020202020204" pitchFamily="34" charset="0"/>
              </a:defRPr>
            </a:lvl1pPr>
          </a:lstStyle>
          <a:p>
            <a:pPr lvl="0"/>
            <a:r>
              <a:rPr lang="en-US" dirty="0"/>
              <a:t>Bullet Points</a:t>
            </a:r>
          </a:p>
        </p:txBody>
      </p:sp>
      <p:sp>
        <p:nvSpPr>
          <p:cNvPr id="4" name="Text Placeholder 3">
            <a:extLst>
              <a:ext uri="{FF2B5EF4-FFF2-40B4-BE49-F238E27FC236}">
                <a16:creationId xmlns:a16="http://schemas.microsoft.com/office/drawing/2014/main" id="{54BEE1A0-720D-187D-95F8-429F3DF3D64E}"/>
              </a:ext>
            </a:extLst>
          </p:cNvPr>
          <p:cNvSpPr>
            <a:spLocks noGrp="1"/>
          </p:cNvSpPr>
          <p:nvPr>
            <p:ph type="body" sz="quarter" idx="14" hasCustomPrompt="1"/>
          </p:nvPr>
        </p:nvSpPr>
        <p:spPr>
          <a:xfrm>
            <a:off x="296863" y="685601"/>
            <a:ext cx="8548687" cy="3811657"/>
          </a:xfrm>
          <a:prstGeom prst="rect">
            <a:avLst/>
          </a:prstGeom>
        </p:spPr>
        <p:txBody>
          <a:bodyPr/>
          <a:lstStyle>
            <a:lvl1pPr>
              <a:defRPr sz="2000" baseline="0">
                <a:solidFill>
                  <a:schemeClr val="tx1"/>
                </a:solidFill>
              </a:defRPr>
            </a:lvl1pPr>
            <a:lvl2pPr>
              <a:buFont typeface="Arial" panose="020B0604020202020204" pitchFamily="34" charset="0"/>
              <a:buChar char="•"/>
              <a:defRPr sz="1600"/>
            </a:lvl2pPr>
            <a:lvl3pPr>
              <a:defRPr sz="1400"/>
            </a:lvl3pPr>
            <a:lvl4pPr>
              <a:buFont typeface="Arial" panose="020B0604020202020204" pitchFamily="34" charset="0"/>
              <a:buChar char="•"/>
              <a:defRPr sz="1200"/>
            </a:lvl4pPr>
          </a:lstStyle>
          <a:p>
            <a:pPr lvl="0"/>
            <a:r>
              <a:rPr lang="en-US" dirty="0"/>
              <a:t>Bullet Point 1</a:t>
            </a:r>
          </a:p>
          <a:p>
            <a:pPr lvl="0"/>
            <a:r>
              <a:rPr lang="en-US" dirty="0"/>
              <a:t>Bullet Point 2</a:t>
            </a:r>
          </a:p>
        </p:txBody>
      </p:sp>
      <p:sp>
        <p:nvSpPr>
          <p:cNvPr id="5" name="Text Placeholder 4">
            <a:extLst>
              <a:ext uri="{FF2B5EF4-FFF2-40B4-BE49-F238E27FC236}">
                <a16:creationId xmlns:a16="http://schemas.microsoft.com/office/drawing/2014/main" id="{162079A5-28FD-9D2F-2B9B-2FC8F9339A31}"/>
              </a:ext>
            </a:extLst>
          </p:cNvPr>
          <p:cNvSpPr>
            <a:spLocks noGrp="1"/>
          </p:cNvSpPr>
          <p:nvPr>
            <p:ph type="body" sz="quarter" idx="15" hasCustomPrompt="1"/>
          </p:nvPr>
        </p:nvSpPr>
        <p:spPr>
          <a:xfrm>
            <a:off x="5627076" y="4738688"/>
            <a:ext cx="3218473" cy="238125"/>
          </a:xfrm>
          <a:prstGeom prst="rect">
            <a:avLst/>
          </a:prstGeom>
        </p:spPr>
        <p:txBody>
          <a:bodyPr/>
          <a:lstStyle>
            <a:lvl5pPr algn="r">
              <a:buNone/>
              <a:defRPr sz="1100"/>
            </a:lvl5pPr>
          </a:lstStyle>
          <a:p>
            <a:pPr lvl="4"/>
            <a:r>
              <a:rPr lang="en-US" dirty="0"/>
              <a:t>Project Name</a:t>
            </a:r>
          </a:p>
        </p:txBody>
      </p:sp>
    </p:spTree>
    <p:extLst>
      <p:ext uri="{BB962C8B-B14F-4D97-AF65-F5344CB8AC3E}">
        <p14:creationId xmlns:p14="http://schemas.microsoft.com/office/powerpoint/2010/main" val="10907377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EO Two Column">
    <p:spTree>
      <p:nvGrpSpPr>
        <p:cNvPr id="1" name=""/>
        <p:cNvGrpSpPr/>
        <p:nvPr/>
      </p:nvGrpSpPr>
      <p:grpSpPr>
        <a:xfrm>
          <a:off x="0" y="0"/>
          <a:ext cx="0" cy="0"/>
          <a:chOff x="0" y="0"/>
          <a:chExt cx="0" cy="0"/>
        </a:xfrm>
      </p:grpSpPr>
      <p:sp>
        <p:nvSpPr>
          <p:cNvPr id="10" name="Picture Placeholder 13">
            <a:extLst>
              <a:ext uri="{FF2B5EF4-FFF2-40B4-BE49-F238E27FC236}">
                <a16:creationId xmlns:a16="http://schemas.microsoft.com/office/drawing/2014/main" id="{6A0FA445-7602-F06E-EC73-5504EBF827CC}"/>
              </a:ext>
            </a:extLst>
          </p:cNvPr>
          <p:cNvSpPr>
            <a:spLocks noGrp="1"/>
          </p:cNvSpPr>
          <p:nvPr>
            <p:ph type="pic" sz="quarter" idx="14"/>
          </p:nvPr>
        </p:nvSpPr>
        <p:spPr>
          <a:xfrm>
            <a:off x="313592" y="4536078"/>
            <a:ext cx="2121877" cy="529698"/>
          </a:xfrm>
          <a:prstGeom prst="rect">
            <a:avLst/>
          </a:prstGeom>
        </p:spPr>
        <p:txBody>
          <a:bodyPr/>
          <a:lstStyle/>
          <a:p>
            <a:endParaRPr lang="en-US" dirty="0"/>
          </a:p>
        </p:txBody>
      </p:sp>
      <p:sp>
        <p:nvSpPr>
          <p:cNvPr id="3" name="Shape 1">
            <a:extLst>
              <a:ext uri="{FF2B5EF4-FFF2-40B4-BE49-F238E27FC236}">
                <a16:creationId xmlns:a16="http://schemas.microsoft.com/office/drawing/2014/main" id="{4EA828A1-D5D6-9ADA-1918-E5FE226673A0}"/>
              </a:ext>
            </a:extLst>
          </p:cNvPr>
          <p:cNvSpPr/>
          <p:nvPr userDrawn="1"/>
        </p:nvSpPr>
        <p:spPr>
          <a:xfrm>
            <a:off x="0" y="606304"/>
            <a:ext cx="9144000" cy="0"/>
          </a:xfrm>
          <a:prstGeom prst="line">
            <a:avLst/>
          </a:prstGeom>
          <a:noFill/>
          <a:ln w="28575">
            <a:solidFill>
              <a:srgbClr val="CC0000"/>
            </a:solidFill>
            <a:prstDash val="solid"/>
          </a:ln>
        </p:spPr>
        <p:txBody>
          <a:bodyPr/>
          <a:lstStyle/>
          <a:p>
            <a:endParaRPr lang="en-US"/>
          </a:p>
        </p:txBody>
      </p:sp>
      <p:sp>
        <p:nvSpPr>
          <p:cNvPr id="9" name="Text Placeholder 8">
            <a:extLst>
              <a:ext uri="{FF2B5EF4-FFF2-40B4-BE49-F238E27FC236}">
                <a16:creationId xmlns:a16="http://schemas.microsoft.com/office/drawing/2014/main" id="{980A86D4-478F-6846-9F0A-B815F2A3AB2D}"/>
              </a:ext>
            </a:extLst>
          </p:cNvPr>
          <p:cNvSpPr>
            <a:spLocks noGrp="1"/>
          </p:cNvSpPr>
          <p:nvPr>
            <p:ph type="body" sz="quarter" idx="10" hasCustomPrompt="1"/>
          </p:nvPr>
        </p:nvSpPr>
        <p:spPr>
          <a:xfrm>
            <a:off x="257174" y="7163"/>
            <a:ext cx="8530738" cy="527013"/>
          </a:xfrm>
          <a:prstGeom prst="rect">
            <a:avLst/>
          </a:prstGeom>
        </p:spPr>
        <p:txBody>
          <a:bodyPr/>
          <a:lstStyle>
            <a:lvl1pPr marL="0" marR="0" indent="0" algn="l" defTabSz="914400" rtl="0" eaLnBrk="1" fontAlgn="auto" latinLnBrk="0" hangingPunct="1">
              <a:lnSpc>
                <a:spcPct val="100000"/>
              </a:lnSpc>
              <a:spcBef>
                <a:spcPct val="20000"/>
              </a:spcBef>
              <a:spcAft>
                <a:spcPts val="0"/>
              </a:spcAft>
              <a:buClrTx/>
              <a:buSzTx/>
              <a:buFont typeface="Arial" pitchFamily="34" charset="0"/>
              <a:buNone/>
              <a:tabLst/>
              <a:defRPr sz="2700" b="1">
                <a:latin typeface="Arial" panose="020B0604020202020204" pitchFamily="34" charset="0"/>
                <a:cs typeface="Arial" panose="020B0604020202020204" pitchFamily="34" charset="0"/>
              </a:defRPr>
            </a:lvl1pPr>
          </a:lstStyle>
          <a:p>
            <a:pPr lvl="0"/>
            <a:r>
              <a:rPr lang="en-US" dirty="0"/>
              <a:t>Two Column Layout</a:t>
            </a:r>
          </a:p>
        </p:txBody>
      </p:sp>
      <p:sp>
        <p:nvSpPr>
          <p:cNvPr id="6" name="Text Placeholder 5">
            <a:extLst>
              <a:ext uri="{FF2B5EF4-FFF2-40B4-BE49-F238E27FC236}">
                <a16:creationId xmlns:a16="http://schemas.microsoft.com/office/drawing/2014/main" id="{229E4A97-A874-D6CA-E54C-5584536CAA7C}"/>
              </a:ext>
            </a:extLst>
          </p:cNvPr>
          <p:cNvSpPr>
            <a:spLocks noGrp="1"/>
          </p:cNvSpPr>
          <p:nvPr>
            <p:ph type="body" sz="quarter" idx="16" hasCustomPrompt="1"/>
          </p:nvPr>
        </p:nvSpPr>
        <p:spPr>
          <a:xfrm>
            <a:off x="193675" y="678433"/>
            <a:ext cx="4462463" cy="3785515"/>
          </a:xfrm>
          <a:prstGeom prst="rect">
            <a:avLst/>
          </a:prstGeom>
        </p:spPr>
        <p:txBody>
          <a:bodyPr/>
          <a:lstStyle>
            <a:lvl1pPr>
              <a:defRPr sz="1800" b="1">
                <a:solidFill>
                  <a:srgbClr val="C00000"/>
                </a:solidFill>
              </a:defRPr>
            </a:lvl1pPr>
            <a:lvl2pPr>
              <a:defRPr sz="1400"/>
            </a:lvl2pPr>
            <a:lvl3pPr>
              <a:defRPr sz="1200"/>
            </a:lvl3pPr>
            <a:lvl4pPr>
              <a:defRPr sz="1200"/>
            </a:lvl4pPr>
            <a:lvl5pPr>
              <a:defRPr sz="1200"/>
            </a:lvl5pPr>
          </a:lstStyle>
          <a:p>
            <a:pPr lvl="0"/>
            <a:r>
              <a:rPr lang="en-US" dirty="0"/>
              <a:t>Left Column Sub Title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Text Placeholder 12">
            <a:extLst>
              <a:ext uri="{FF2B5EF4-FFF2-40B4-BE49-F238E27FC236}">
                <a16:creationId xmlns:a16="http://schemas.microsoft.com/office/drawing/2014/main" id="{EF61ADBD-DA9D-A8A7-8FC3-64E82242B983}"/>
              </a:ext>
            </a:extLst>
          </p:cNvPr>
          <p:cNvSpPr>
            <a:spLocks noGrp="1"/>
          </p:cNvSpPr>
          <p:nvPr>
            <p:ph type="body" sz="quarter" idx="17" hasCustomPrompt="1"/>
          </p:nvPr>
        </p:nvSpPr>
        <p:spPr>
          <a:xfrm>
            <a:off x="4840288" y="678433"/>
            <a:ext cx="4110037" cy="3785515"/>
          </a:xfrm>
          <a:prstGeom prst="rect">
            <a:avLst/>
          </a:prstGeom>
        </p:spPr>
        <p:txBody>
          <a:bodyPr/>
          <a:lstStyle>
            <a:lvl1pPr>
              <a:defRPr sz="1800" b="1">
                <a:solidFill>
                  <a:srgbClr val="C00000"/>
                </a:solidFill>
              </a:defRPr>
            </a:lvl1pPr>
            <a:lvl2pPr>
              <a:defRPr sz="1400"/>
            </a:lvl2pPr>
            <a:lvl3pPr>
              <a:defRPr sz="1200"/>
            </a:lvl3pPr>
            <a:lvl4pPr>
              <a:defRPr sz="1200"/>
            </a:lvl4pPr>
            <a:lvl5pPr>
              <a:defRPr sz="1200"/>
            </a:lvl5pPr>
          </a:lstStyle>
          <a:p>
            <a:pPr lvl="0"/>
            <a:r>
              <a:rPr lang="en-US" dirty="0"/>
              <a:t>Right Column Sub title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4">
            <a:extLst>
              <a:ext uri="{FF2B5EF4-FFF2-40B4-BE49-F238E27FC236}">
                <a16:creationId xmlns:a16="http://schemas.microsoft.com/office/drawing/2014/main" id="{5DF49ED0-89F0-F008-ADD7-D71F338C8B9B}"/>
              </a:ext>
            </a:extLst>
          </p:cNvPr>
          <p:cNvSpPr>
            <a:spLocks noGrp="1"/>
          </p:cNvSpPr>
          <p:nvPr>
            <p:ph type="body" sz="quarter" idx="15" hasCustomPrompt="1"/>
          </p:nvPr>
        </p:nvSpPr>
        <p:spPr>
          <a:xfrm>
            <a:off x="5697414" y="4681864"/>
            <a:ext cx="3218473" cy="238125"/>
          </a:xfrm>
          <a:prstGeom prst="rect">
            <a:avLst/>
          </a:prstGeom>
        </p:spPr>
        <p:txBody>
          <a:bodyPr/>
          <a:lstStyle>
            <a:lvl5pPr algn="r">
              <a:buNone/>
              <a:defRPr sz="1100"/>
            </a:lvl5pPr>
          </a:lstStyle>
          <a:p>
            <a:pPr lvl="4"/>
            <a:r>
              <a:rPr lang="en-US" dirty="0"/>
              <a:t>Project Name</a:t>
            </a:r>
          </a:p>
        </p:txBody>
      </p:sp>
    </p:spTree>
    <p:extLst>
      <p:ext uri="{BB962C8B-B14F-4D97-AF65-F5344CB8AC3E}">
        <p14:creationId xmlns:p14="http://schemas.microsoft.com/office/powerpoint/2010/main" val="12437309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EO Table">
    <p:spTree>
      <p:nvGrpSpPr>
        <p:cNvPr id="1" name=""/>
        <p:cNvGrpSpPr/>
        <p:nvPr/>
      </p:nvGrpSpPr>
      <p:grpSpPr>
        <a:xfrm>
          <a:off x="0" y="0"/>
          <a:ext cx="0" cy="0"/>
          <a:chOff x="0" y="0"/>
          <a:chExt cx="0" cy="0"/>
        </a:xfrm>
      </p:grpSpPr>
      <p:sp>
        <p:nvSpPr>
          <p:cNvPr id="12" name="Picture Placeholder 13">
            <a:extLst>
              <a:ext uri="{FF2B5EF4-FFF2-40B4-BE49-F238E27FC236}">
                <a16:creationId xmlns:a16="http://schemas.microsoft.com/office/drawing/2014/main" id="{2DB97592-C4D5-B315-7F11-AA14F6EE8A62}"/>
              </a:ext>
            </a:extLst>
          </p:cNvPr>
          <p:cNvSpPr>
            <a:spLocks noGrp="1"/>
          </p:cNvSpPr>
          <p:nvPr>
            <p:ph type="pic" sz="quarter" idx="13"/>
          </p:nvPr>
        </p:nvSpPr>
        <p:spPr>
          <a:xfrm>
            <a:off x="313592" y="4536078"/>
            <a:ext cx="2126273" cy="529698"/>
          </a:xfrm>
          <a:prstGeom prst="rect">
            <a:avLst/>
          </a:prstGeom>
        </p:spPr>
        <p:txBody>
          <a:bodyPr/>
          <a:lstStyle/>
          <a:p>
            <a:endParaRPr lang="en-US" dirty="0"/>
          </a:p>
        </p:txBody>
      </p:sp>
      <p:sp>
        <p:nvSpPr>
          <p:cNvPr id="3" name="Shape 1">
            <a:extLst>
              <a:ext uri="{FF2B5EF4-FFF2-40B4-BE49-F238E27FC236}">
                <a16:creationId xmlns:a16="http://schemas.microsoft.com/office/drawing/2014/main" id="{4EA828A1-D5D6-9ADA-1918-E5FE226673A0}"/>
              </a:ext>
            </a:extLst>
          </p:cNvPr>
          <p:cNvSpPr/>
          <p:nvPr userDrawn="1"/>
        </p:nvSpPr>
        <p:spPr>
          <a:xfrm>
            <a:off x="0" y="606304"/>
            <a:ext cx="9144000" cy="0"/>
          </a:xfrm>
          <a:prstGeom prst="line">
            <a:avLst/>
          </a:prstGeom>
          <a:noFill/>
          <a:ln w="28575">
            <a:solidFill>
              <a:srgbClr val="CC0000"/>
            </a:solidFill>
            <a:prstDash val="solid"/>
          </a:ln>
        </p:spPr>
        <p:txBody>
          <a:bodyPr/>
          <a:lstStyle/>
          <a:p>
            <a:endParaRPr lang="en-US"/>
          </a:p>
        </p:txBody>
      </p:sp>
      <p:sp>
        <p:nvSpPr>
          <p:cNvPr id="9" name="Text Placeholder 8">
            <a:extLst>
              <a:ext uri="{FF2B5EF4-FFF2-40B4-BE49-F238E27FC236}">
                <a16:creationId xmlns:a16="http://schemas.microsoft.com/office/drawing/2014/main" id="{980A86D4-478F-6846-9F0A-B815F2A3AB2D}"/>
              </a:ext>
            </a:extLst>
          </p:cNvPr>
          <p:cNvSpPr>
            <a:spLocks noGrp="1"/>
          </p:cNvSpPr>
          <p:nvPr>
            <p:ph type="body" sz="quarter" idx="10" hasCustomPrompt="1"/>
          </p:nvPr>
        </p:nvSpPr>
        <p:spPr>
          <a:xfrm>
            <a:off x="256855" y="39642"/>
            <a:ext cx="8710933" cy="527013"/>
          </a:xfrm>
          <a:prstGeom prst="rect">
            <a:avLst/>
          </a:prstGeom>
        </p:spPr>
        <p:txBody>
          <a:bodyPr/>
          <a:lstStyle>
            <a:lvl1pPr marL="0" marR="0" indent="0" algn="ctr" defTabSz="914400" rtl="0" eaLnBrk="1" fontAlgn="auto" latinLnBrk="0" hangingPunct="1">
              <a:lnSpc>
                <a:spcPct val="100000"/>
              </a:lnSpc>
              <a:spcBef>
                <a:spcPct val="20000"/>
              </a:spcBef>
              <a:spcAft>
                <a:spcPts val="0"/>
              </a:spcAft>
              <a:buClrTx/>
              <a:buSzTx/>
              <a:buFont typeface="Arial" pitchFamily="34" charset="0"/>
              <a:buNone/>
              <a:tabLst/>
              <a:defRPr sz="2700">
                <a:latin typeface="Arial" panose="020B0604020202020204" pitchFamily="34" charset="0"/>
                <a:cs typeface="Arial" panose="020B0604020202020204" pitchFamily="34" charset="0"/>
              </a:defRPr>
            </a:lvl1pP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lang="en-US" sz="2700" b="1" dirty="0">
                <a:solidFill>
                  <a:srgbClr val="2C3E50"/>
                </a:solidFill>
                <a:latin typeface="Arial" pitchFamily="34" charset="0"/>
                <a:cs typeface="Arial" pitchFamily="34" charset="-120"/>
              </a:rPr>
              <a:t>Table</a:t>
            </a:r>
            <a:endParaRPr lang="en-US" sz="3200" dirty="0"/>
          </a:p>
          <a:p>
            <a:pPr lvl="0"/>
            <a:endParaRPr lang="en-US" dirty="0"/>
          </a:p>
        </p:txBody>
      </p:sp>
      <p:sp>
        <p:nvSpPr>
          <p:cNvPr id="5" name="Table Placeholder 4">
            <a:extLst>
              <a:ext uri="{FF2B5EF4-FFF2-40B4-BE49-F238E27FC236}">
                <a16:creationId xmlns:a16="http://schemas.microsoft.com/office/drawing/2014/main" id="{D3D9E4F7-6B7D-2205-75B9-EE8C54E89A5F}"/>
              </a:ext>
            </a:extLst>
          </p:cNvPr>
          <p:cNvSpPr>
            <a:spLocks noGrp="1"/>
          </p:cNvSpPr>
          <p:nvPr>
            <p:ph type="tbl" sz="quarter" idx="14"/>
          </p:nvPr>
        </p:nvSpPr>
        <p:spPr>
          <a:xfrm>
            <a:off x="256855" y="677011"/>
            <a:ext cx="8710933" cy="3785084"/>
          </a:xfrm>
          <a:prstGeom prst="rect">
            <a:avLst/>
          </a:prstGeom>
        </p:spPr>
        <p:txBody>
          <a:bodyPr/>
          <a:lstStyle/>
          <a:p>
            <a:endParaRPr lang="en-US"/>
          </a:p>
        </p:txBody>
      </p:sp>
      <p:sp>
        <p:nvSpPr>
          <p:cNvPr id="4" name="Text Placeholder 4">
            <a:extLst>
              <a:ext uri="{FF2B5EF4-FFF2-40B4-BE49-F238E27FC236}">
                <a16:creationId xmlns:a16="http://schemas.microsoft.com/office/drawing/2014/main" id="{A00DC936-676C-1BAA-B4B4-D45CC5951D6E}"/>
              </a:ext>
            </a:extLst>
          </p:cNvPr>
          <p:cNvSpPr>
            <a:spLocks noGrp="1"/>
          </p:cNvSpPr>
          <p:nvPr>
            <p:ph type="body" sz="quarter" idx="15" hasCustomPrompt="1"/>
          </p:nvPr>
        </p:nvSpPr>
        <p:spPr>
          <a:xfrm>
            <a:off x="5749315" y="4681864"/>
            <a:ext cx="3218473" cy="238125"/>
          </a:xfrm>
          <a:prstGeom prst="rect">
            <a:avLst/>
          </a:prstGeom>
        </p:spPr>
        <p:txBody>
          <a:bodyPr/>
          <a:lstStyle>
            <a:lvl5pPr algn="r">
              <a:buNone/>
              <a:defRPr sz="1100"/>
            </a:lvl5pPr>
          </a:lstStyle>
          <a:p>
            <a:pPr lvl="4"/>
            <a:r>
              <a:rPr lang="en-US" dirty="0"/>
              <a:t>Project Name</a:t>
            </a:r>
          </a:p>
        </p:txBody>
      </p:sp>
    </p:spTree>
    <p:extLst>
      <p:ext uri="{BB962C8B-B14F-4D97-AF65-F5344CB8AC3E}">
        <p14:creationId xmlns:p14="http://schemas.microsoft.com/office/powerpoint/2010/main" val="28148346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EO Visual Content">
    <p:spTree>
      <p:nvGrpSpPr>
        <p:cNvPr id="1" name=""/>
        <p:cNvGrpSpPr/>
        <p:nvPr/>
      </p:nvGrpSpPr>
      <p:grpSpPr>
        <a:xfrm>
          <a:off x="0" y="0"/>
          <a:ext cx="0" cy="0"/>
          <a:chOff x="0" y="0"/>
          <a:chExt cx="0" cy="0"/>
        </a:xfrm>
      </p:grpSpPr>
      <p:sp>
        <p:nvSpPr>
          <p:cNvPr id="10" name="Picture Placeholder 13">
            <a:extLst>
              <a:ext uri="{FF2B5EF4-FFF2-40B4-BE49-F238E27FC236}">
                <a16:creationId xmlns:a16="http://schemas.microsoft.com/office/drawing/2014/main" id="{6A0FA445-7602-F06E-EC73-5504EBF827CC}"/>
              </a:ext>
            </a:extLst>
          </p:cNvPr>
          <p:cNvSpPr>
            <a:spLocks noGrp="1"/>
          </p:cNvSpPr>
          <p:nvPr>
            <p:ph type="pic" sz="quarter" idx="14"/>
          </p:nvPr>
        </p:nvSpPr>
        <p:spPr>
          <a:xfrm>
            <a:off x="313592" y="4536078"/>
            <a:ext cx="2130670" cy="529698"/>
          </a:xfrm>
          <a:prstGeom prst="rect">
            <a:avLst/>
          </a:prstGeom>
        </p:spPr>
        <p:txBody>
          <a:bodyPr/>
          <a:lstStyle/>
          <a:p>
            <a:endParaRPr lang="en-US" dirty="0"/>
          </a:p>
        </p:txBody>
      </p:sp>
      <p:sp>
        <p:nvSpPr>
          <p:cNvPr id="3" name="Shape 1">
            <a:extLst>
              <a:ext uri="{FF2B5EF4-FFF2-40B4-BE49-F238E27FC236}">
                <a16:creationId xmlns:a16="http://schemas.microsoft.com/office/drawing/2014/main" id="{4EA828A1-D5D6-9ADA-1918-E5FE226673A0}"/>
              </a:ext>
            </a:extLst>
          </p:cNvPr>
          <p:cNvSpPr/>
          <p:nvPr userDrawn="1"/>
        </p:nvSpPr>
        <p:spPr>
          <a:xfrm>
            <a:off x="0" y="606304"/>
            <a:ext cx="9144000" cy="0"/>
          </a:xfrm>
          <a:prstGeom prst="line">
            <a:avLst/>
          </a:prstGeom>
          <a:noFill/>
          <a:ln w="28575">
            <a:solidFill>
              <a:srgbClr val="CC0000"/>
            </a:solidFill>
            <a:prstDash val="solid"/>
          </a:ln>
        </p:spPr>
        <p:txBody>
          <a:bodyPr/>
          <a:lstStyle/>
          <a:p>
            <a:endParaRPr lang="en-US"/>
          </a:p>
        </p:txBody>
      </p:sp>
      <p:sp>
        <p:nvSpPr>
          <p:cNvPr id="9" name="Text Placeholder 8">
            <a:extLst>
              <a:ext uri="{FF2B5EF4-FFF2-40B4-BE49-F238E27FC236}">
                <a16:creationId xmlns:a16="http://schemas.microsoft.com/office/drawing/2014/main" id="{980A86D4-478F-6846-9F0A-B815F2A3AB2D}"/>
              </a:ext>
            </a:extLst>
          </p:cNvPr>
          <p:cNvSpPr>
            <a:spLocks noGrp="1"/>
          </p:cNvSpPr>
          <p:nvPr>
            <p:ph type="body" sz="quarter" idx="10" hasCustomPrompt="1"/>
          </p:nvPr>
        </p:nvSpPr>
        <p:spPr>
          <a:xfrm>
            <a:off x="257174" y="7163"/>
            <a:ext cx="8742364" cy="527013"/>
          </a:xfrm>
          <a:prstGeom prst="rect">
            <a:avLst/>
          </a:prstGeom>
        </p:spPr>
        <p:txBody>
          <a:bodyPr/>
          <a:lstStyle>
            <a:lvl1pPr marL="0" marR="0" indent="0" algn="l" defTabSz="914400" rtl="0" eaLnBrk="1" fontAlgn="auto" latinLnBrk="0" hangingPunct="1">
              <a:lnSpc>
                <a:spcPct val="100000"/>
              </a:lnSpc>
              <a:spcBef>
                <a:spcPct val="20000"/>
              </a:spcBef>
              <a:spcAft>
                <a:spcPts val="0"/>
              </a:spcAft>
              <a:buClrTx/>
              <a:buSzTx/>
              <a:buFont typeface="Arial" pitchFamily="34" charset="0"/>
              <a:buNone/>
              <a:tabLst/>
              <a:defRPr sz="2700" b="1">
                <a:latin typeface="Arial" panose="020B0604020202020204" pitchFamily="34" charset="0"/>
                <a:cs typeface="Arial" panose="020B0604020202020204" pitchFamily="34" charset="0"/>
              </a:defRPr>
            </a:lvl1pPr>
          </a:lstStyle>
          <a:p>
            <a:pPr lvl="0"/>
            <a:r>
              <a:rPr lang="en-US" dirty="0"/>
              <a:t>Visual Content</a:t>
            </a:r>
          </a:p>
        </p:txBody>
      </p:sp>
      <p:sp>
        <p:nvSpPr>
          <p:cNvPr id="6" name="Picture Placeholder 5">
            <a:extLst>
              <a:ext uri="{FF2B5EF4-FFF2-40B4-BE49-F238E27FC236}">
                <a16:creationId xmlns:a16="http://schemas.microsoft.com/office/drawing/2014/main" id="{D4B682B8-2171-423F-A77B-10BADD07BC6C}"/>
              </a:ext>
            </a:extLst>
          </p:cNvPr>
          <p:cNvSpPr>
            <a:spLocks noGrp="1"/>
          </p:cNvSpPr>
          <p:nvPr>
            <p:ph type="pic" sz="quarter" idx="15"/>
          </p:nvPr>
        </p:nvSpPr>
        <p:spPr>
          <a:xfrm>
            <a:off x="4662488" y="685799"/>
            <a:ext cx="4337050" cy="3815859"/>
          </a:xfrm>
          <a:prstGeom prst="rect">
            <a:avLst/>
          </a:prstGeom>
        </p:spPr>
        <p:txBody>
          <a:bodyPr/>
          <a:lstStyle/>
          <a:p>
            <a:endParaRPr lang="en-US"/>
          </a:p>
        </p:txBody>
      </p:sp>
      <p:sp>
        <p:nvSpPr>
          <p:cNvPr id="5" name="Text Placeholder 4">
            <a:extLst>
              <a:ext uri="{FF2B5EF4-FFF2-40B4-BE49-F238E27FC236}">
                <a16:creationId xmlns:a16="http://schemas.microsoft.com/office/drawing/2014/main" id="{F1EE9992-B6F6-08BF-BFB5-6AF6BEDE367A}"/>
              </a:ext>
            </a:extLst>
          </p:cNvPr>
          <p:cNvSpPr>
            <a:spLocks noGrp="1"/>
          </p:cNvSpPr>
          <p:nvPr>
            <p:ph type="body" sz="quarter" idx="16"/>
          </p:nvPr>
        </p:nvSpPr>
        <p:spPr>
          <a:xfrm>
            <a:off x="92075" y="685800"/>
            <a:ext cx="4449763" cy="3815859"/>
          </a:xfrm>
          <a:prstGeom prst="rect">
            <a:avLst/>
          </a:prstGeom>
        </p:spPr>
        <p:txBody>
          <a:bodyPr/>
          <a:lstStyle>
            <a:lvl1pPr>
              <a:defRPr sz="1800" b="1">
                <a:solidFill>
                  <a:srgbClr val="C00000"/>
                </a:solidFill>
              </a:defRPr>
            </a:lvl1pPr>
            <a:lvl2pPr>
              <a:defRPr sz="1400"/>
            </a:lvl2pPr>
            <a:lvl3pPr>
              <a:defRPr sz="1200"/>
            </a:lvl3pPr>
            <a:lvl4pPr>
              <a:defRPr sz="1200"/>
            </a:lvl4pPr>
            <a:lvl5pP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ext Placeholder 4">
            <a:extLst>
              <a:ext uri="{FF2B5EF4-FFF2-40B4-BE49-F238E27FC236}">
                <a16:creationId xmlns:a16="http://schemas.microsoft.com/office/drawing/2014/main" id="{6D03683B-7C4B-D474-74C5-EC53E3BB515B}"/>
              </a:ext>
            </a:extLst>
          </p:cNvPr>
          <p:cNvSpPr>
            <a:spLocks noGrp="1"/>
          </p:cNvSpPr>
          <p:nvPr>
            <p:ph type="body" sz="quarter" idx="17" hasCustomPrompt="1"/>
          </p:nvPr>
        </p:nvSpPr>
        <p:spPr>
          <a:xfrm>
            <a:off x="5781065" y="4729530"/>
            <a:ext cx="3218473" cy="238125"/>
          </a:xfrm>
          <a:prstGeom prst="rect">
            <a:avLst/>
          </a:prstGeom>
        </p:spPr>
        <p:txBody>
          <a:bodyPr/>
          <a:lstStyle>
            <a:lvl5pPr algn="r">
              <a:buNone/>
              <a:defRPr sz="1100"/>
            </a:lvl5pPr>
          </a:lstStyle>
          <a:p>
            <a:pPr lvl="4"/>
            <a:r>
              <a:rPr lang="en-US" dirty="0"/>
              <a:t>Project Name</a:t>
            </a:r>
          </a:p>
        </p:txBody>
      </p:sp>
    </p:spTree>
    <p:extLst>
      <p:ext uri="{BB962C8B-B14F-4D97-AF65-F5344CB8AC3E}">
        <p14:creationId xmlns:p14="http://schemas.microsoft.com/office/powerpoint/2010/main" val="9440596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EO Data Visualization">
    <p:spTree>
      <p:nvGrpSpPr>
        <p:cNvPr id="1" name=""/>
        <p:cNvGrpSpPr/>
        <p:nvPr/>
      </p:nvGrpSpPr>
      <p:grpSpPr>
        <a:xfrm>
          <a:off x="0" y="0"/>
          <a:ext cx="0" cy="0"/>
          <a:chOff x="0" y="0"/>
          <a:chExt cx="0" cy="0"/>
        </a:xfrm>
      </p:grpSpPr>
      <p:sp>
        <p:nvSpPr>
          <p:cNvPr id="10" name="Picture Placeholder 13">
            <a:extLst>
              <a:ext uri="{FF2B5EF4-FFF2-40B4-BE49-F238E27FC236}">
                <a16:creationId xmlns:a16="http://schemas.microsoft.com/office/drawing/2014/main" id="{6A0FA445-7602-F06E-EC73-5504EBF827CC}"/>
              </a:ext>
            </a:extLst>
          </p:cNvPr>
          <p:cNvSpPr>
            <a:spLocks noGrp="1"/>
          </p:cNvSpPr>
          <p:nvPr>
            <p:ph type="pic" sz="quarter" idx="14"/>
          </p:nvPr>
        </p:nvSpPr>
        <p:spPr>
          <a:xfrm>
            <a:off x="313592" y="4536078"/>
            <a:ext cx="2104294" cy="529698"/>
          </a:xfrm>
          <a:prstGeom prst="rect">
            <a:avLst/>
          </a:prstGeom>
        </p:spPr>
        <p:txBody>
          <a:bodyPr/>
          <a:lstStyle/>
          <a:p>
            <a:endParaRPr lang="en-US" dirty="0"/>
          </a:p>
        </p:txBody>
      </p:sp>
      <p:sp>
        <p:nvSpPr>
          <p:cNvPr id="3" name="Shape 1">
            <a:extLst>
              <a:ext uri="{FF2B5EF4-FFF2-40B4-BE49-F238E27FC236}">
                <a16:creationId xmlns:a16="http://schemas.microsoft.com/office/drawing/2014/main" id="{4EA828A1-D5D6-9ADA-1918-E5FE226673A0}"/>
              </a:ext>
            </a:extLst>
          </p:cNvPr>
          <p:cNvSpPr/>
          <p:nvPr userDrawn="1"/>
        </p:nvSpPr>
        <p:spPr>
          <a:xfrm>
            <a:off x="0" y="606304"/>
            <a:ext cx="9144000" cy="0"/>
          </a:xfrm>
          <a:prstGeom prst="line">
            <a:avLst/>
          </a:prstGeom>
          <a:noFill/>
          <a:ln w="28575">
            <a:solidFill>
              <a:srgbClr val="CC0000"/>
            </a:solidFill>
            <a:prstDash val="solid"/>
          </a:ln>
        </p:spPr>
        <p:txBody>
          <a:bodyPr/>
          <a:lstStyle/>
          <a:p>
            <a:endParaRPr lang="en-US"/>
          </a:p>
        </p:txBody>
      </p:sp>
      <p:sp>
        <p:nvSpPr>
          <p:cNvPr id="9" name="Text Placeholder 8">
            <a:extLst>
              <a:ext uri="{FF2B5EF4-FFF2-40B4-BE49-F238E27FC236}">
                <a16:creationId xmlns:a16="http://schemas.microsoft.com/office/drawing/2014/main" id="{980A86D4-478F-6846-9F0A-B815F2A3AB2D}"/>
              </a:ext>
            </a:extLst>
          </p:cNvPr>
          <p:cNvSpPr>
            <a:spLocks noGrp="1"/>
          </p:cNvSpPr>
          <p:nvPr>
            <p:ph type="body" sz="quarter" idx="10" hasCustomPrompt="1"/>
          </p:nvPr>
        </p:nvSpPr>
        <p:spPr>
          <a:xfrm>
            <a:off x="257174" y="7163"/>
            <a:ext cx="8640764" cy="527013"/>
          </a:xfrm>
          <a:prstGeom prst="rect">
            <a:avLst/>
          </a:prstGeom>
        </p:spPr>
        <p:txBody>
          <a:bodyPr/>
          <a:lstStyle>
            <a:lvl1pPr marL="0" marR="0" indent="0" algn="l" defTabSz="914400" rtl="0" eaLnBrk="1" fontAlgn="auto" latinLnBrk="0" hangingPunct="1">
              <a:lnSpc>
                <a:spcPct val="100000"/>
              </a:lnSpc>
              <a:spcBef>
                <a:spcPct val="20000"/>
              </a:spcBef>
              <a:spcAft>
                <a:spcPts val="0"/>
              </a:spcAft>
              <a:buClrTx/>
              <a:buSzTx/>
              <a:buFont typeface="Arial" pitchFamily="34" charset="0"/>
              <a:buNone/>
              <a:tabLst/>
              <a:defRPr sz="2700" b="1">
                <a:latin typeface="Arial" panose="020B0604020202020204" pitchFamily="34" charset="0"/>
                <a:cs typeface="Arial" panose="020B0604020202020204" pitchFamily="34" charset="0"/>
              </a:defRPr>
            </a:lvl1pPr>
          </a:lstStyle>
          <a:p>
            <a:pPr lvl="0"/>
            <a:r>
              <a:rPr lang="en-US" dirty="0"/>
              <a:t>Data Visualization</a:t>
            </a:r>
          </a:p>
        </p:txBody>
      </p:sp>
      <p:sp>
        <p:nvSpPr>
          <p:cNvPr id="5" name="Chart Placeholder 4">
            <a:extLst>
              <a:ext uri="{FF2B5EF4-FFF2-40B4-BE49-F238E27FC236}">
                <a16:creationId xmlns:a16="http://schemas.microsoft.com/office/drawing/2014/main" id="{A686C49F-4337-BBE6-FF21-682B01E38601}"/>
              </a:ext>
            </a:extLst>
          </p:cNvPr>
          <p:cNvSpPr>
            <a:spLocks noGrp="1"/>
          </p:cNvSpPr>
          <p:nvPr>
            <p:ph type="chart" sz="quarter" idx="15"/>
          </p:nvPr>
        </p:nvSpPr>
        <p:spPr>
          <a:xfrm>
            <a:off x="4572000" y="685597"/>
            <a:ext cx="4325938" cy="3778347"/>
          </a:xfrm>
          <a:prstGeom prst="rect">
            <a:avLst/>
          </a:prstGeom>
        </p:spPr>
        <p:txBody>
          <a:bodyPr/>
          <a:lstStyle/>
          <a:p>
            <a:endParaRPr lang="en-US"/>
          </a:p>
        </p:txBody>
      </p:sp>
      <p:sp>
        <p:nvSpPr>
          <p:cNvPr id="6" name="Content Placeholder 5">
            <a:extLst>
              <a:ext uri="{FF2B5EF4-FFF2-40B4-BE49-F238E27FC236}">
                <a16:creationId xmlns:a16="http://schemas.microsoft.com/office/drawing/2014/main" id="{D0B730E7-C68E-A3E8-1745-8AF89C786D5F}"/>
              </a:ext>
            </a:extLst>
          </p:cNvPr>
          <p:cNvSpPr>
            <a:spLocks noGrp="1"/>
          </p:cNvSpPr>
          <p:nvPr>
            <p:ph sz="quarter" idx="16"/>
          </p:nvPr>
        </p:nvSpPr>
        <p:spPr>
          <a:xfrm>
            <a:off x="136525" y="678433"/>
            <a:ext cx="4237038" cy="3785513"/>
          </a:xfrm>
          <a:prstGeom prst="rect">
            <a:avLst/>
          </a:prstGeom>
        </p:spPr>
        <p:txBody>
          <a:bodyPr/>
          <a:lstStyle>
            <a:lvl1pPr>
              <a:defRPr sz="1800" b="1">
                <a:solidFill>
                  <a:srgbClr val="C00000"/>
                </a:solidFill>
              </a:defRPr>
            </a:lvl1pPr>
            <a:lvl2pPr>
              <a:defRPr sz="1400"/>
            </a:lvl2pPr>
            <a:lvl3pPr>
              <a:defRPr sz="1200"/>
            </a:lvl3pPr>
            <a:lvl4pPr>
              <a:defRPr sz="1200"/>
            </a:lvl4pPr>
            <a:lvl5pP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4">
            <a:extLst>
              <a:ext uri="{FF2B5EF4-FFF2-40B4-BE49-F238E27FC236}">
                <a16:creationId xmlns:a16="http://schemas.microsoft.com/office/drawing/2014/main" id="{A1231DFE-6A5A-950E-159E-9E1D3D45FD36}"/>
              </a:ext>
            </a:extLst>
          </p:cNvPr>
          <p:cNvSpPr>
            <a:spLocks noGrp="1"/>
          </p:cNvSpPr>
          <p:nvPr>
            <p:ph type="body" sz="quarter" idx="17" hasCustomPrompt="1"/>
          </p:nvPr>
        </p:nvSpPr>
        <p:spPr>
          <a:xfrm>
            <a:off x="5679465" y="4681864"/>
            <a:ext cx="3218473" cy="238125"/>
          </a:xfrm>
          <a:prstGeom prst="rect">
            <a:avLst/>
          </a:prstGeom>
        </p:spPr>
        <p:txBody>
          <a:bodyPr/>
          <a:lstStyle>
            <a:lvl5pPr algn="r">
              <a:buNone/>
              <a:defRPr sz="900"/>
            </a:lvl5pPr>
          </a:lstStyle>
          <a:p>
            <a:pPr lvl="4"/>
            <a:r>
              <a:rPr lang="en-US" dirty="0"/>
              <a:t>Project Name</a:t>
            </a:r>
          </a:p>
        </p:txBody>
      </p:sp>
    </p:spTree>
    <p:extLst>
      <p:ext uri="{BB962C8B-B14F-4D97-AF65-F5344CB8AC3E}">
        <p14:creationId xmlns:p14="http://schemas.microsoft.com/office/powerpoint/2010/main" val="4735494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EO Thank You">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8D36A0E4-7374-4A92-CEC2-AC1CC29B855F}"/>
              </a:ext>
            </a:extLst>
          </p:cNvPr>
          <p:cNvSpPr>
            <a:spLocks noGrp="1"/>
          </p:cNvSpPr>
          <p:nvPr>
            <p:ph type="pic" sz="quarter" idx="10"/>
          </p:nvPr>
        </p:nvSpPr>
        <p:spPr>
          <a:xfrm>
            <a:off x="2180492" y="171206"/>
            <a:ext cx="3978520" cy="1314694"/>
          </a:xfrm>
          <a:prstGeom prst="rect">
            <a:avLst/>
          </a:prstGeom>
        </p:spPr>
        <p:txBody>
          <a:bodyPr/>
          <a:lstStyle/>
          <a:p>
            <a:endParaRPr lang="en-US" dirty="0"/>
          </a:p>
        </p:txBody>
      </p:sp>
      <p:pic>
        <p:nvPicPr>
          <p:cNvPr id="5" name="Image 0" descr="/home/claude/eo-framework-logo.png">
            <a:extLst>
              <a:ext uri="{FF2B5EF4-FFF2-40B4-BE49-F238E27FC236}">
                <a16:creationId xmlns:a16="http://schemas.microsoft.com/office/drawing/2014/main" id="{028AFAE3-D949-BFF8-132D-C3956962B6BC}"/>
              </a:ext>
            </a:extLst>
          </p:cNvPr>
          <p:cNvPicPr>
            <a:picLocks noChangeAspect="1"/>
          </p:cNvPicPr>
          <p:nvPr userDrawn="1"/>
        </p:nvPicPr>
        <p:blipFill>
          <a:blip r:embed="rId2"/>
          <a:stretch>
            <a:fillRect/>
          </a:stretch>
        </p:blipFill>
        <p:spPr>
          <a:xfrm>
            <a:off x="6945879" y="4648200"/>
            <a:ext cx="1952244" cy="417576"/>
          </a:xfrm>
          <a:prstGeom prst="rect">
            <a:avLst/>
          </a:prstGeom>
        </p:spPr>
      </p:pic>
      <p:sp>
        <p:nvSpPr>
          <p:cNvPr id="6" name="Text Placeholder 8">
            <a:extLst>
              <a:ext uri="{FF2B5EF4-FFF2-40B4-BE49-F238E27FC236}">
                <a16:creationId xmlns:a16="http://schemas.microsoft.com/office/drawing/2014/main" id="{ABC2FEB1-3552-40B4-D5D2-8C9A2DF4EF3E}"/>
              </a:ext>
            </a:extLst>
          </p:cNvPr>
          <p:cNvSpPr>
            <a:spLocks noGrp="1"/>
          </p:cNvSpPr>
          <p:nvPr>
            <p:ph type="body" sz="quarter" idx="12" hasCustomPrompt="1"/>
          </p:nvPr>
        </p:nvSpPr>
        <p:spPr>
          <a:xfrm>
            <a:off x="736356" y="2247927"/>
            <a:ext cx="7671288" cy="527050"/>
          </a:xfrm>
          <a:prstGeom prst="rect">
            <a:avLst/>
          </a:prstGeom>
        </p:spPr>
        <p:txBody>
          <a:bodyPr/>
          <a:lstStyle>
            <a:lvl1pPr marL="0" indent="0" algn="ctr">
              <a:lnSpc>
                <a:spcPts val="3600"/>
              </a:lnSpc>
              <a:buNone/>
              <a:defRPr sz="3600" b="1" i="0" baseline="0">
                <a:latin typeface="Arial" panose="020B0604020202020204" pitchFamily="34" charset="0"/>
              </a:defRPr>
            </a:lvl1pPr>
          </a:lstStyle>
          <a:p>
            <a:pPr marL="0" indent="0" algn="ctr">
              <a:lnSpc>
                <a:spcPts val="3600"/>
              </a:lnSpc>
              <a:buNone/>
            </a:pPr>
            <a:r>
              <a:rPr lang="en-US" sz="3600" b="1" dirty="0">
                <a:solidFill>
                  <a:srgbClr val="2C3E50"/>
                </a:solidFill>
                <a:latin typeface="Arial" pitchFamily="34" charset="0"/>
                <a:ea typeface="Arial" pitchFamily="34" charset="-122"/>
                <a:cs typeface="Arial" pitchFamily="34" charset="-120"/>
              </a:rPr>
              <a:t>Thank You</a:t>
            </a:r>
          </a:p>
          <a:p>
            <a:pPr marL="0" indent="0" algn="ctr">
              <a:lnSpc>
                <a:spcPts val="3600"/>
              </a:lnSpc>
              <a:buNone/>
            </a:pPr>
            <a:endParaRPr lang="en-US" sz="3600" dirty="0"/>
          </a:p>
        </p:txBody>
      </p:sp>
      <p:sp>
        <p:nvSpPr>
          <p:cNvPr id="7" name="Picture Placeholder 13">
            <a:extLst>
              <a:ext uri="{FF2B5EF4-FFF2-40B4-BE49-F238E27FC236}">
                <a16:creationId xmlns:a16="http://schemas.microsoft.com/office/drawing/2014/main" id="{86145EB1-48C8-058E-F657-82D57B579544}"/>
              </a:ext>
            </a:extLst>
          </p:cNvPr>
          <p:cNvSpPr>
            <a:spLocks noGrp="1"/>
          </p:cNvSpPr>
          <p:nvPr>
            <p:ph type="pic" sz="quarter" idx="13"/>
          </p:nvPr>
        </p:nvSpPr>
        <p:spPr>
          <a:xfrm>
            <a:off x="313592" y="4536078"/>
            <a:ext cx="2164114" cy="529698"/>
          </a:xfrm>
          <a:prstGeom prst="rect">
            <a:avLst/>
          </a:prstGeom>
        </p:spPr>
        <p:txBody>
          <a:bodyPr/>
          <a:lstStyle/>
          <a:p>
            <a:endParaRPr lang="en-US" dirty="0"/>
          </a:p>
        </p:txBody>
      </p:sp>
      <p:sp>
        <p:nvSpPr>
          <p:cNvPr id="8" name="Text 0">
            <a:extLst>
              <a:ext uri="{FF2B5EF4-FFF2-40B4-BE49-F238E27FC236}">
                <a16:creationId xmlns:a16="http://schemas.microsoft.com/office/drawing/2014/main" id="{D51056DC-8081-0916-0351-65D88D1682B8}"/>
              </a:ext>
            </a:extLst>
          </p:cNvPr>
          <p:cNvSpPr/>
          <p:nvPr userDrawn="1"/>
        </p:nvSpPr>
        <p:spPr>
          <a:xfrm>
            <a:off x="2224455" y="1676475"/>
            <a:ext cx="3886322" cy="45719"/>
          </a:xfrm>
          <a:prstGeom prst="roundRect">
            <a:avLst>
              <a:gd name="adj" fmla="val 50000"/>
            </a:avLst>
          </a:prstGeom>
          <a:solidFill>
            <a:srgbClr val="CC0000"/>
          </a:solidFill>
          <a:ln/>
        </p:spPr>
        <p:txBody>
          <a:bodyPr wrap="square" rtlCol="0" anchor="ctr"/>
          <a:lstStyle/>
          <a:p>
            <a:pPr marL="0" indent="0">
              <a:buNone/>
            </a:pPr>
            <a:endParaRPr lang="en-US" dirty="0"/>
          </a:p>
        </p:txBody>
      </p:sp>
      <p:sp>
        <p:nvSpPr>
          <p:cNvPr id="10" name="Text Placeholder 9">
            <a:extLst>
              <a:ext uri="{FF2B5EF4-FFF2-40B4-BE49-F238E27FC236}">
                <a16:creationId xmlns:a16="http://schemas.microsoft.com/office/drawing/2014/main" id="{DC531180-94E5-3403-56E5-895E003A9D72}"/>
              </a:ext>
            </a:extLst>
          </p:cNvPr>
          <p:cNvSpPr>
            <a:spLocks noGrp="1"/>
          </p:cNvSpPr>
          <p:nvPr>
            <p:ph type="body" sz="quarter" idx="14" hasCustomPrompt="1"/>
          </p:nvPr>
        </p:nvSpPr>
        <p:spPr>
          <a:xfrm>
            <a:off x="1024304" y="1874962"/>
            <a:ext cx="6629399" cy="334598"/>
          </a:xfrm>
          <a:prstGeom prst="rect">
            <a:avLst/>
          </a:prstGeom>
        </p:spPr>
        <p:txBody>
          <a:bodyPr/>
          <a:lstStyle>
            <a:lvl1pPr marL="0" marR="0" indent="0" algn="ctr" defTabSz="914400" rtl="0" eaLnBrk="1" fontAlgn="auto" latinLnBrk="0" hangingPunct="1">
              <a:lnSpc>
                <a:spcPct val="100000"/>
              </a:lnSpc>
              <a:spcBef>
                <a:spcPct val="20000"/>
              </a:spcBef>
              <a:spcAft>
                <a:spcPts val="0"/>
              </a:spcAft>
              <a:buClrTx/>
              <a:buSzTx/>
              <a:buFont typeface="Arial" pitchFamily="34" charset="0"/>
              <a:buNone/>
              <a:tabLst/>
              <a:defRPr sz="1800">
                <a:latin typeface="Arial" panose="020B0604020202020204" pitchFamily="34" charset="0"/>
                <a:cs typeface="Arial" panose="020B0604020202020204" pitchFamily="34" charset="0"/>
              </a:defRPr>
            </a:lvl1p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lang="en-US" sz="1800" dirty="0">
                <a:solidFill>
                  <a:srgbClr val="6C757D"/>
                </a:solidFill>
                <a:latin typeface="Arial" pitchFamily="34" charset="0"/>
                <a:ea typeface="Arial" pitchFamily="34" charset="-122"/>
                <a:cs typeface="Arial" pitchFamily="34" charset="-120"/>
              </a:rPr>
              <a:t>Questions?</a:t>
            </a:r>
            <a:endParaRPr lang="en-US" sz="1800" dirty="0"/>
          </a:p>
        </p:txBody>
      </p:sp>
      <p:sp>
        <p:nvSpPr>
          <p:cNvPr id="2" name="Text 3">
            <a:extLst>
              <a:ext uri="{FF2B5EF4-FFF2-40B4-BE49-F238E27FC236}">
                <a16:creationId xmlns:a16="http://schemas.microsoft.com/office/drawing/2014/main" id="{5727805F-2A15-11D3-243F-1AE09D6E973E}"/>
              </a:ext>
            </a:extLst>
          </p:cNvPr>
          <p:cNvSpPr/>
          <p:nvPr userDrawn="1"/>
        </p:nvSpPr>
        <p:spPr>
          <a:xfrm>
            <a:off x="3312808" y="4536078"/>
            <a:ext cx="2797969" cy="529698"/>
          </a:xfrm>
          <a:prstGeom prst="roundRect">
            <a:avLst>
              <a:gd name="adj" fmla="val 14286"/>
            </a:avLst>
          </a:prstGeom>
          <a:solidFill>
            <a:srgbClr val="F5F5F5"/>
          </a:solidFill>
          <a:ln/>
        </p:spPr>
        <p:txBody>
          <a:bodyPr wrap="square" rtlCol="0" anchor="ctr"/>
          <a:lstStyle/>
          <a:p>
            <a:pPr marL="0" indent="0">
              <a:buNone/>
            </a:pPr>
            <a:endParaRPr lang="en-US" dirty="0"/>
          </a:p>
        </p:txBody>
      </p:sp>
      <p:sp>
        <p:nvSpPr>
          <p:cNvPr id="3" name="Text 4">
            <a:extLst>
              <a:ext uri="{FF2B5EF4-FFF2-40B4-BE49-F238E27FC236}">
                <a16:creationId xmlns:a16="http://schemas.microsoft.com/office/drawing/2014/main" id="{1034B79E-463D-8396-409E-62C28A2DEB04}"/>
              </a:ext>
            </a:extLst>
          </p:cNvPr>
          <p:cNvSpPr/>
          <p:nvPr userDrawn="1"/>
        </p:nvSpPr>
        <p:spPr>
          <a:xfrm>
            <a:off x="3614735" y="4667577"/>
            <a:ext cx="2076688" cy="266700"/>
          </a:xfrm>
          <a:prstGeom prst="rect">
            <a:avLst/>
          </a:prstGeom>
          <a:noFill/>
          <a:ln/>
        </p:spPr>
        <p:txBody>
          <a:bodyPr wrap="square" lIns="0" tIns="0" rIns="0" bIns="0" rtlCol="0" anchor="t"/>
          <a:lstStyle/>
          <a:p>
            <a:pPr marL="0" indent="0" algn="ctr">
              <a:lnSpc>
                <a:spcPts val="2100"/>
              </a:lnSpc>
              <a:spcBef>
                <a:spcPts val="300"/>
              </a:spcBef>
              <a:spcAft>
                <a:spcPts val="300"/>
              </a:spcAft>
              <a:buNone/>
            </a:pPr>
            <a:r>
              <a:rPr lang="en-US" sz="1500" b="1" dirty="0">
                <a:solidFill>
                  <a:schemeClr val="bg2">
                    <a:lumMod val="75000"/>
                  </a:schemeClr>
                </a:solidFill>
                <a:latin typeface="Arial" pitchFamily="34" charset="0"/>
                <a:ea typeface="Arial" pitchFamily="34" charset="-122"/>
                <a:cs typeface="Arial" pitchFamily="34" charset="-120"/>
              </a:rPr>
              <a:t>www.eoframework.org</a:t>
            </a:r>
            <a:endParaRPr lang="en-US" sz="1500" dirty="0">
              <a:solidFill>
                <a:schemeClr val="bg2">
                  <a:lumMod val="75000"/>
                </a:schemeClr>
              </a:solidFill>
            </a:endParaRPr>
          </a:p>
        </p:txBody>
      </p:sp>
      <p:sp>
        <p:nvSpPr>
          <p:cNvPr id="16" name="Text Placeholder 9">
            <a:extLst>
              <a:ext uri="{FF2B5EF4-FFF2-40B4-BE49-F238E27FC236}">
                <a16:creationId xmlns:a16="http://schemas.microsoft.com/office/drawing/2014/main" id="{2DED039B-C555-DCF4-1CA7-CA1E44823784}"/>
              </a:ext>
            </a:extLst>
          </p:cNvPr>
          <p:cNvSpPr>
            <a:spLocks noGrp="1"/>
          </p:cNvSpPr>
          <p:nvPr>
            <p:ph type="body" sz="quarter" idx="15" hasCustomPrompt="1"/>
          </p:nvPr>
        </p:nvSpPr>
        <p:spPr>
          <a:xfrm>
            <a:off x="268165" y="3131272"/>
            <a:ext cx="8480181" cy="334598"/>
          </a:xfrm>
          <a:prstGeom prst="rect">
            <a:avLst/>
          </a:prstGeom>
        </p:spPr>
        <p:txBody>
          <a:bodyPr/>
          <a:lstStyle>
            <a:lvl1pPr marL="0" marR="0" indent="0" algn="ctr" defTabSz="914400" rtl="0" eaLnBrk="1" fontAlgn="auto" latinLnBrk="0" hangingPunct="1">
              <a:lnSpc>
                <a:spcPct val="100000"/>
              </a:lnSpc>
              <a:spcBef>
                <a:spcPct val="20000"/>
              </a:spcBef>
              <a:spcAft>
                <a:spcPts val="0"/>
              </a:spcAft>
              <a:buClrTx/>
              <a:buSzTx/>
              <a:buFont typeface="Arial" pitchFamily="34" charset="0"/>
              <a:buNone/>
              <a:tabLst/>
              <a:defRPr sz="1800" b="0">
                <a:solidFill>
                  <a:schemeClr val="tx1"/>
                </a:solidFill>
                <a:latin typeface="Arial" panose="020B0604020202020204" pitchFamily="34" charset="0"/>
                <a:cs typeface="Arial" panose="020B0604020202020204" pitchFamily="34" charset="0"/>
              </a:defRPr>
            </a:lvl1pPr>
          </a:lstStyle>
          <a:p>
            <a:pPr>
              <a:spcAft>
                <a:spcPts val="1200"/>
              </a:spcAft>
            </a:pPr>
            <a:r>
              <a:rPr lang="en-US" sz="1800" b="1" dirty="0">
                <a:solidFill>
                  <a:srgbClr val="000000"/>
                </a:solidFill>
              </a:rPr>
              <a:t>Account Manager:</a:t>
            </a:r>
            <a:r>
              <a:rPr lang="en-US" sz="1800" dirty="0">
                <a:solidFill>
                  <a:srgbClr val="000000"/>
                </a:solidFill>
              </a:rPr>
              <a:t> [Name, Title] | [Email] | [Phone]</a:t>
            </a:r>
          </a:p>
        </p:txBody>
      </p:sp>
    </p:spTree>
    <p:extLst>
      <p:ext uri="{BB962C8B-B14F-4D97-AF65-F5344CB8AC3E}">
        <p14:creationId xmlns:p14="http://schemas.microsoft.com/office/powerpoint/2010/main" val="3821020057"/>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1" r:id="rId1"/>
    <p:sldLayoutId id="2147483653" r:id="rId2"/>
    <p:sldLayoutId id="2147483659" r:id="rId3"/>
    <p:sldLayoutId id="2147483654" r:id="rId4"/>
    <p:sldLayoutId id="2147483655" r:id="rId5"/>
    <p:sldLayoutId id="2147483656" r:id="rId6"/>
    <p:sldLayoutId id="2147483657" r:id="rId7"/>
    <p:sldLayoutId id="2147483658" r:id="rId8"/>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png"/><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2" sz="quarter"/>
          </p:nvPr>
        </p:nvSpPr>
        <p:spPr/>
        <p:txBody>
          <a:bodyPr/>
          <a:lstStyle/>
          <a:p>
            <a:r>
              <a:t>Solution Briefing</a:t>
            </a:r>
          </a:p>
        </p:txBody>
      </p:sp>
      <p:sp>
        <p:nvSpPr>
          <p:cNvPr id="5" name="Text Placeholder 4"/>
          <p:cNvSpPr>
            <a:spLocks noGrp="1"/>
          </p:cNvSpPr>
          <p:nvPr>
            <p:ph type="body" idx="14" sz="quarter"/>
          </p:nvPr>
        </p:nvSpPr>
        <p:spPr/>
        <p:txBody>
          <a:bodyPr/>
          <a:lstStyle/>
          <a:p>
            <a:r>
              <a:t>Microsoft 365 Enterprise Deployment</a:t>
            </a:r>
          </a:p>
        </p:txBody>
      </p:sp>
      <p:sp>
        <p:nvSpPr>
          <p:cNvPr id="6" name="Text Placeholder 5"/>
          <p:cNvSpPr>
            <a:spLocks noGrp="1"/>
          </p:cNvSpPr>
          <p:nvPr>
            <p:ph type="body" idx="15" sz="quarter"/>
          </p:nvPr>
        </p:nvSpPr>
        <p:spPr/>
        <p:txBody>
          <a:bodyPr/>
          <a:lstStyle/>
          <a:p>
            <a:r>
              <a:t>['Presenter Name'] | November 22, 2025</a:t>
            </a:r>
          </a:p>
        </p:txBody>
      </p:sp>
      <p:pic>
        <p:nvPicPr>
          <p:cNvPr id="7" name="Picture 6" descr="client_logo.png"/>
          <p:cNvPicPr>
            <a:picLocks noChangeAspect="1"/>
          </p:cNvPicPr>
          <p:nvPr/>
        </p:nvPicPr>
        <p:blipFill>
          <a:blip r:embed="rId2"/>
          <a:stretch>
            <a:fillRect/>
          </a:stretch>
        </p:blipFill>
        <p:spPr>
          <a:xfrm>
            <a:off x="2180492" y="171206"/>
            <a:ext cx="3978520" cy="1314694"/>
          </a:xfrm>
          <a:prstGeom prst="rect">
            <a:avLst/>
          </a:prstGeom>
        </p:spPr>
      </p:pic>
      <p:pic>
        <p:nvPicPr>
          <p:cNvPr id="8" name="Picture 7" descr="consulting_company_logo.png"/>
          <p:cNvPicPr>
            <a:picLocks noChangeAspect="1"/>
          </p:cNvPicPr>
          <p:nvPr/>
        </p:nvPicPr>
        <p:blipFill>
          <a:blip r:embed="rId3"/>
          <a:stretch>
            <a:fillRect/>
          </a:stretch>
        </p:blipFill>
        <p:spPr>
          <a:xfrm>
            <a:off x="313591" y="4536078"/>
            <a:ext cx="2099897" cy="529698"/>
          </a:xfrm>
          <a:prstGeom prst="rect">
            <a:avLst/>
          </a:prstGeom>
        </p:spPr>
      </p:pic>
      <p:pic>
        <p:nvPicPr>
          <p:cNvPr id="9" name="Picture 8" descr="eo-framework-logo-real.png"/>
          <p:cNvPicPr>
            <a:picLocks noChangeAspect="1"/>
          </p:cNvPicPr>
          <p:nvPr/>
        </p:nvPicPr>
        <p:blipFill>
          <a:blip r:embed="rId4"/>
          <a:stretch>
            <a:fillRect/>
          </a:stretch>
        </p:blipFill>
        <p:spPr>
          <a:xfrm>
            <a:off x="6684264" y="4535424"/>
            <a:ext cx="2139696" cy="530352"/>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0" sz="quarter"/>
          </p:nvPr>
        </p:nvSpPr>
        <p:spPr/>
        <p:txBody>
          <a:bodyPr/>
          <a:lstStyle/>
          <a:p>
            <a:pPr algn="l"/>
            <a:r>
              <a:t>Business Opportunity</a:t>
            </a:r>
          </a:p>
        </p:txBody>
      </p:sp>
      <p:sp>
        <p:nvSpPr>
          <p:cNvPr id="4" name="Text Placeholder 3"/>
          <p:cNvSpPr>
            <a:spLocks noGrp="1"/>
          </p:cNvSpPr>
          <p:nvPr>
            <p:ph type="body" idx="16" sz="quarter"/>
          </p:nvPr>
        </p:nvSpPr>
        <p:spPr/>
        <p:txBody>
          <a:bodyPr/>
          <a:lstStyle/>
          <a:p>
            <a:pPr/>
            <a:r>
              <a:rPr b="1"/>
              <a:t>Opportunity</a:t>
            </a:r>
          </a:p>
          <a:p>
            <a:pPr lvl="1"/>
            <a:r>
              <a:t>Eliminate aging on-premises Exchange and file servers saving $180K in infrastructure costs over 3 years</a:t>
            </a:r>
          </a:p>
          <a:p>
            <a:pPr lvl="1"/>
            <a:r>
              <a:t>Enable secure remote work for 500 employees with zero-trust security policies and multi-factor authentication</a:t>
            </a:r>
          </a:p>
          <a:p>
            <a:pPr lvl="1"/>
            <a:r>
              <a:t>Meet compliance requirements (SOC 2 GDPR HIPAA) with built-in data loss prevention and retention policies</a:t>
            </a:r>
          </a:p>
        </p:txBody>
      </p:sp>
      <p:sp>
        <p:nvSpPr>
          <p:cNvPr id="5" name="Text Placeholder 4"/>
          <p:cNvSpPr>
            <a:spLocks noGrp="1"/>
          </p:cNvSpPr>
          <p:nvPr>
            <p:ph type="body" idx="17" sz="quarter"/>
          </p:nvPr>
        </p:nvSpPr>
        <p:spPr/>
        <p:txBody>
          <a:bodyPr/>
          <a:lstStyle/>
          <a:p>
            <a:pPr/>
            <a:r>
              <a:rPr b="1"/>
              <a:t>Success Criteria</a:t>
            </a:r>
          </a:p>
          <a:p>
            <a:pPr lvl="1"/>
            <a:r>
              <a:t>100% email and file migration completed within 4 months with zero data loss</a:t>
            </a:r>
          </a:p>
          <a:p>
            <a:pPr lvl="1"/>
            <a:r>
              <a:t>75% reduction in security incidents within 6 months through integrated Microsoft Defender protection</a:t>
            </a:r>
          </a:p>
          <a:p>
            <a:pPr lvl="1"/>
            <a:r>
              <a:t>90%+ user adoption of Teams and SharePoint collaboration within 3 months replacing email attachments</a:t>
            </a:r>
          </a:p>
        </p:txBody>
      </p:sp>
      <p:sp>
        <p:nvSpPr>
          <p:cNvPr id="6" name="Text Placeholder 5"/>
          <p:cNvSpPr>
            <a:spLocks noGrp="1"/>
          </p:cNvSpPr>
          <p:nvPr>
            <p:ph type="body" idx="15" sz="quarter"/>
          </p:nvPr>
        </p:nvSpPr>
        <p:spPr/>
        <p:txBody>
          <a:bodyPr/>
          <a:lstStyle/>
          <a:p>
            <a:pPr algn="r">
              <a:buNone/>
            </a:pPr>
            <a:r>
              <a:rPr sz="1100">
                <a:solidFill>
                  <a:srgbClr val="CC0000"/>
                </a:solidFill>
              </a:rPr>
              <a:t>Microsoft 365 Enterprise Deployment</a:t>
            </a:r>
          </a:p>
        </p:txBody>
      </p:sp>
      <p:pic>
        <p:nvPicPr>
          <p:cNvPr id="7" name="Picture 6" descr="consulting_company_logo.png"/>
          <p:cNvPicPr>
            <a:picLocks noChangeAspect="1"/>
          </p:cNvPicPr>
          <p:nvPr/>
        </p:nvPicPr>
        <p:blipFill>
          <a:blip r:embed="rId2"/>
          <a:stretch>
            <a:fillRect/>
          </a:stretch>
        </p:blipFill>
        <p:spPr>
          <a:xfrm>
            <a:off x="313592" y="4536078"/>
            <a:ext cx="2121877" cy="529698"/>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0" sz="quarter"/>
          </p:nvPr>
        </p:nvSpPr>
        <p:spPr/>
        <p:txBody>
          <a:bodyPr/>
          <a:lstStyle/>
          <a:p>
            <a:pPr algn="l"/>
            <a:r>
              <a:t>Engagement Scope</a:t>
            </a:r>
          </a:p>
        </p:txBody>
      </p:sp>
      <p:graphicFrame>
        <p:nvGraphicFramePr>
          <p:cNvPr id="4" name="Table Placeholder 3"/>
          <p:cNvGraphicFramePr>
            <a:graphicFrameLocks noGrp="1"/>
          </p:cNvGraphicFramePr>
          <p:nvPr>
            <p:ph type="tbl" idx="14" sz="quarter"/>
          </p:nvPr>
        </p:nvGraphicFramePr>
        <p:xfrm>
          <a:off x="256855" y="677011"/>
          <a:ext cx="8710929" cy="3337560"/>
        </p:xfrm>
        <a:graphic>
          <a:graphicData uri="http://schemas.openxmlformats.org/drawingml/2006/table">
            <a:tbl>
              <a:tblPr firstRow="1" bandRow="1">
                <a:tableStyleId>{5C22544A-7EE6-4342-B048-85BDC9FD1C3A}</a:tableStyleId>
              </a:tblPr>
              <a:tblGrid>
                <a:gridCol w="1567967"/>
                <a:gridCol w="2526170"/>
                <a:gridCol w="435546"/>
                <a:gridCol w="1567967"/>
                <a:gridCol w="2613279"/>
              </a:tblGrid>
              <a:tr h="370840">
                <a:tc>
                  <a:txBody>
                    <a:bodyPr/>
                    <a:lstStyle/>
                    <a:p>
                      <a:r>
                        <a:rPr sz="1400">
                          <a:solidFill>
                            <a:srgbClr val="FFFFFF"/>
                          </a:solidFill>
                        </a:rPr>
                        <a:t>Parameter</a:t>
                      </a:r>
                    </a:p>
                  </a:txBody>
                  <a:tcPr>
                    <a:solidFill>
                      <a:srgbClr val="A01C02"/>
                    </a:solidFill>
                  </a:tcPr>
                </a:tc>
                <a:tc>
                  <a:txBody>
                    <a:bodyPr/>
                    <a:lstStyle/>
                    <a:p>
                      <a:r>
                        <a:rPr sz="1400">
                          <a:solidFill>
                            <a:srgbClr val="FFFFFF"/>
                          </a:solidFill>
                        </a:rPr>
                        <a:t>Scope</a:t>
                      </a:r>
                    </a:p>
                  </a:txBody>
                  <a:tcPr>
                    <a:solidFill>
                      <a:srgbClr val="A01C02"/>
                    </a:solidFill>
                  </a:tcPr>
                </a:tc>
                <a:tc>
                  <a:txBody>
                    <a:bodyPr/>
                    <a:lstStyle/>
                    <a:p/>
                  </a:txBody>
                  <a:tcPr>
                    <a:solidFill>
                      <a:srgbClr val="FFFFFF"/>
                    </a:solidFill>
                  </a:tcPr>
                </a:tc>
                <a:tc>
                  <a:txBody>
                    <a:bodyPr/>
                    <a:lstStyle/>
                    <a:p>
                      <a:r>
                        <a:rPr sz="1400">
                          <a:solidFill>
                            <a:srgbClr val="FFFFFF"/>
                          </a:solidFill>
                        </a:rPr>
                        <a:t>Parameter</a:t>
                      </a:r>
                    </a:p>
                  </a:txBody>
                  <a:tcPr>
                    <a:solidFill>
                      <a:srgbClr val="A01C02"/>
                    </a:solidFill>
                  </a:tcPr>
                </a:tc>
                <a:tc>
                  <a:txBody>
                    <a:bodyPr/>
                    <a:lstStyle/>
                    <a:p>
                      <a:r>
                        <a:rPr sz="1400">
                          <a:solidFill>
                            <a:srgbClr val="FFFFFF"/>
                          </a:solidFill>
                        </a:rPr>
                        <a:t>Scope</a:t>
                      </a:r>
                    </a:p>
                  </a:txBody>
                  <a:tcPr>
                    <a:solidFill>
                      <a:srgbClr val="A01C02"/>
                    </a:solidFill>
                  </a:tcPr>
                </a:tc>
              </a:tr>
              <a:tr h="370840">
                <a:tc>
                  <a:txBody>
                    <a:bodyPr/>
                    <a:lstStyle/>
                    <a:p>
                      <a:r>
                        <a:rPr b="1" sz="1100"/>
                        <a:t>Total Users</a:t>
                      </a:r>
                    </a:p>
                  </a:txBody>
                  <a:tcPr>
                    <a:solidFill>
                      <a:srgbClr val="E7E6E6"/>
                    </a:solidFill>
                  </a:tcPr>
                </a:tc>
                <a:tc>
                  <a:txBody>
                    <a:bodyPr/>
                    <a:lstStyle/>
                    <a:p>
                      <a:r>
                        <a:rPr sz="1100"/>
                        <a:t>500 M365 E5 users</a:t>
                      </a:r>
                    </a:p>
                  </a:txBody>
                  <a:tcPr>
                    <a:solidFill>
                      <a:srgbClr val="E7E6E6"/>
                    </a:solidFill>
                  </a:tcPr>
                </a:tc>
                <a:tc>
                  <a:txBody>
                    <a:bodyPr/>
                    <a:lstStyle/>
                    <a:p/>
                  </a:txBody>
                  <a:tcPr>
                    <a:solidFill>
                      <a:srgbClr val="FFFFFF"/>
                    </a:solidFill>
                  </a:tcPr>
                </a:tc>
                <a:tc>
                  <a:txBody>
                    <a:bodyPr/>
                    <a:lstStyle/>
                    <a:p>
                      <a:r>
                        <a:rPr b="1" sz="1100"/>
                        <a:t>Support Coverage</a:t>
                      </a:r>
                    </a:p>
                  </a:txBody>
                  <a:tcPr>
                    <a:solidFill>
                      <a:srgbClr val="E7E6E6"/>
                    </a:solidFill>
                  </a:tcPr>
                </a:tc>
                <a:tc>
                  <a:txBody>
                    <a:bodyPr/>
                    <a:lstStyle/>
                    <a:p>
                      <a:r>
                        <a:rPr sz="1100"/>
                        <a:t>24x7 user helpdesk support</a:t>
                      </a:r>
                    </a:p>
                  </a:txBody>
                  <a:tcPr>
                    <a:solidFill>
                      <a:srgbClr val="E7E6E6"/>
                    </a:solidFill>
                  </a:tcPr>
                </a:tc>
              </a:tr>
              <a:tr h="370840">
                <a:tc>
                  <a:txBody>
                    <a:bodyPr/>
                    <a:lstStyle/>
                    <a:p>
                      <a:r>
                        <a:rPr b="1" sz="1100"/>
                        <a:t>User Roles</a:t>
                      </a:r>
                    </a:p>
                  </a:txBody>
                  <a:tcPr>
                    <a:solidFill>
                      <a:srgbClr val="E7E6E6"/>
                    </a:solidFill>
                  </a:tcPr>
                </a:tc>
                <a:tc>
                  <a:txBody>
                    <a:bodyPr/>
                    <a:lstStyle/>
                    <a:p>
                      <a:r>
                        <a:rPr sz="1100"/>
                        <a:t>5 roles (employee manager admin executive guest)</a:t>
                      </a:r>
                    </a:p>
                  </a:txBody>
                  <a:tcPr>
                    <a:solidFill>
                      <a:srgbClr val="E7E6E6"/>
                    </a:solidFill>
                  </a:tcPr>
                </a:tc>
                <a:tc>
                  <a:txBody>
                    <a:bodyPr/>
                    <a:lstStyle/>
                    <a:p/>
                  </a:txBody>
                  <a:tcPr>
                    <a:solidFill>
                      <a:srgbClr val="FFFFFF"/>
                    </a:solidFill>
                  </a:tcPr>
                </a:tc>
                <a:tc>
                  <a:txBody>
                    <a:bodyPr/>
                    <a:lstStyle/>
                    <a:p>
                      <a:r>
                        <a:rPr b="1" sz="1100"/>
                        <a:t>Security Requirements</a:t>
                      </a:r>
                    </a:p>
                  </a:txBody>
                  <a:tcPr>
                    <a:solidFill>
                      <a:srgbClr val="E7E6E6"/>
                    </a:solidFill>
                  </a:tcPr>
                </a:tc>
                <a:tc>
                  <a:txBody>
                    <a:bodyPr/>
                    <a:lstStyle/>
                    <a:p>
                      <a:r>
                        <a:rPr sz="1100"/>
                        <a:t>Zero-trust Conditional Access MFA</a:t>
                      </a:r>
                    </a:p>
                  </a:txBody>
                  <a:tcPr>
                    <a:solidFill>
                      <a:srgbClr val="E7E6E6"/>
                    </a:solidFill>
                  </a:tcPr>
                </a:tc>
              </a:tr>
              <a:tr h="370840">
                <a:tc>
                  <a:txBody>
                    <a:bodyPr/>
                    <a:lstStyle/>
                    <a:p>
                      <a:r>
                        <a:rPr b="1" sz="1100"/>
                        <a:t>M365 Services</a:t>
                      </a:r>
                    </a:p>
                  </a:txBody>
                  <a:tcPr>
                    <a:solidFill>
                      <a:srgbClr val="E7E6E6"/>
                    </a:solidFill>
                  </a:tcPr>
                </a:tc>
                <a:tc>
                  <a:txBody>
                    <a:bodyPr/>
                    <a:lstStyle/>
                    <a:p>
                      <a:r>
                        <a:rPr sz="1100"/>
                        <a:t>Exchange SharePoint Teams OneDrive</a:t>
                      </a:r>
                    </a:p>
                  </a:txBody>
                  <a:tcPr>
                    <a:solidFill>
                      <a:srgbClr val="E7E6E6"/>
                    </a:solidFill>
                  </a:tcPr>
                </a:tc>
                <a:tc>
                  <a:txBody>
                    <a:bodyPr/>
                    <a:lstStyle/>
                    <a:p/>
                  </a:txBody>
                  <a:tcPr>
                    <a:solidFill>
                      <a:srgbClr val="FFFFFF"/>
                    </a:solidFill>
                  </a:tcPr>
                </a:tc>
                <a:tc>
                  <a:txBody>
                    <a:bodyPr/>
                    <a:lstStyle/>
                    <a:p>
                      <a:r>
                        <a:rPr b="1" sz="1100"/>
                        <a:t>Compliance Frameworks</a:t>
                      </a:r>
                    </a:p>
                  </a:txBody>
                  <a:tcPr>
                    <a:solidFill>
                      <a:srgbClr val="E7E6E6"/>
                    </a:solidFill>
                  </a:tcPr>
                </a:tc>
                <a:tc>
                  <a:txBody>
                    <a:bodyPr/>
                    <a:lstStyle/>
                    <a:p>
                      <a:r>
                        <a:rPr sz="1100"/>
                        <a:t>SOC 2 GDPR HIPAA</a:t>
                      </a:r>
                    </a:p>
                  </a:txBody>
                  <a:tcPr>
                    <a:solidFill>
                      <a:srgbClr val="E7E6E6"/>
                    </a:solidFill>
                  </a:tcPr>
                </a:tc>
              </a:tr>
              <a:tr h="370840">
                <a:tc>
                  <a:txBody>
                    <a:bodyPr/>
                    <a:lstStyle/>
                    <a:p>
                      <a:r>
                        <a:rPr b="1" sz="1100"/>
                        <a:t>M365 License</a:t>
                      </a:r>
                    </a:p>
                  </a:txBody>
                  <a:tcPr>
                    <a:solidFill>
                      <a:srgbClr val="E7E6E6"/>
                    </a:solidFill>
                  </a:tcPr>
                </a:tc>
                <a:tc>
                  <a:txBody>
                    <a:bodyPr/>
                    <a:lstStyle/>
                    <a:p>
                      <a:r>
                        <a:rPr sz="1100"/>
                        <a:t>E5 (security compliance productivity)</a:t>
                      </a:r>
                    </a:p>
                  </a:txBody>
                  <a:tcPr>
                    <a:solidFill>
                      <a:srgbClr val="E7E6E6"/>
                    </a:solidFill>
                  </a:tcPr>
                </a:tc>
                <a:tc>
                  <a:txBody>
                    <a:bodyPr/>
                    <a:lstStyle/>
                    <a:p/>
                  </a:txBody>
                  <a:tcPr>
                    <a:solidFill>
                      <a:srgbClr val="FFFFFF"/>
                    </a:solidFill>
                  </a:tcPr>
                </a:tc>
                <a:tc>
                  <a:txBody>
                    <a:bodyPr/>
                    <a:lstStyle/>
                    <a:p>
                      <a:r>
                        <a:rPr b="1" sz="1100"/>
                        <a:t>Authentication</a:t>
                      </a:r>
                    </a:p>
                  </a:txBody>
                  <a:tcPr>
                    <a:solidFill>
                      <a:srgbClr val="E7E6E6"/>
                    </a:solidFill>
                  </a:tcPr>
                </a:tc>
                <a:tc>
                  <a:txBody>
                    <a:bodyPr/>
                    <a:lstStyle/>
                    <a:p>
                      <a:r>
                        <a:rPr sz="1100"/>
                        <a:t>Azure AD Connect SSO with MFA</a:t>
                      </a:r>
                    </a:p>
                  </a:txBody>
                  <a:tcPr>
                    <a:solidFill>
                      <a:srgbClr val="E7E6E6"/>
                    </a:solidFill>
                  </a:tcPr>
                </a:tc>
              </a:tr>
              <a:tr h="370840">
                <a:tc>
                  <a:txBody>
                    <a:bodyPr/>
                    <a:lstStyle/>
                    <a:p>
                      <a:r>
                        <a:rPr b="1" sz="1100"/>
                        <a:t>Email Migration Volume</a:t>
                      </a:r>
                    </a:p>
                  </a:txBody>
                  <a:tcPr>
                    <a:solidFill>
                      <a:srgbClr val="E7E6E6"/>
                    </a:solidFill>
                  </a:tcPr>
                </a:tc>
                <a:tc>
                  <a:txBody>
                    <a:bodyPr/>
                    <a:lstStyle/>
                    <a:p>
                      <a:r>
                        <a:rPr sz="1100"/>
                        <a:t>250 GB total mailbox data</a:t>
                      </a:r>
                    </a:p>
                  </a:txBody>
                  <a:tcPr>
                    <a:solidFill>
                      <a:srgbClr val="E7E6E6"/>
                    </a:solidFill>
                  </a:tcPr>
                </a:tc>
                <a:tc>
                  <a:txBody>
                    <a:bodyPr/>
                    <a:lstStyle/>
                    <a:p/>
                  </a:txBody>
                  <a:tcPr>
                    <a:solidFill>
                      <a:srgbClr val="FFFFFF"/>
                    </a:solidFill>
                  </a:tcPr>
                </a:tc>
                <a:tc>
                  <a:txBody>
                    <a:bodyPr/>
                    <a:lstStyle/>
                    <a:p>
                      <a:r>
                        <a:rPr b="1" sz="1100"/>
                        <a:t>Device Management</a:t>
                      </a:r>
                    </a:p>
                  </a:txBody>
                  <a:tcPr>
                    <a:solidFill>
                      <a:srgbClr val="E7E6E6"/>
                    </a:solidFill>
                  </a:tcPr>
                </a:tc>
                <a:tc>
                  <a:txBody>
                    <a:bodyPr/>
                    <a:lstStyle/>
                    <a:p>
                      <a:r>
                        <a:rPr sz="1100"/>
                        <a:t>Intune MDM for 500 endpoints</a:t>
                      </a:r>
                    </a:p>
                  </a:txBody>
                  <a:tcPr>
                    <a:solidFill>
                      <a:srgbClr val="E7E6E6"/>
                    </a:solidFill>
                  </a:tcPr>
                </a:tc>
              </a:tr>
              <a:tr h="370840">
                <a:tc>
                  <a:txBody>
                    <a:bodyPr/>
                    <a:lstStyle/>
                    <a:p>
                      <a:r>
                        <a:rPr b="1" sz="1100"/>
                        <a:t>File Migration Volume</a:t>
                      </a:r>
                    </a:p>
                  </a:txBody>
                  <a:tcPr>
                    <a:solidFill>
                      <a:srgbClr val="E7E6E6"/>
                    </a:solidFill>
                  </a:tcPr>
                </a:tc>
                <a:tc>
                  <a:txBody>
                    <a:bodyPr/>
                    <a:lstStyle/>
                    <a:p>
                      <a:r>
                        <a:rPr sz="1100"/>
                        <a:t>5 TB SharePoint and OneDrive</a:t>
                      </a:r>
                    </a:p>
                  </a:txBody>
                  <a:tcPr>
                    <a:solidFill>
                      <a:srgbClr val="E7E6E6"/>
                    </a:solidFill>
                  </a:tcPr>
                </a:tc>
                <a:tc>
                  <a:txBody>
                    <a:bodyPr/>
                    <a:lstStyle/>
                    <a:p/>
                  </a:txBody>
                  <a:tcPr>
                    <a:solidFill>
                      <a:srgbClr val="FFFFFF"/>
                    </a:solidFill>
                  </a:tcPr>
                </a:tc>
                <a:tc>
                  <a:txBody>
                    <a:bodyPr/>
                    <a:lstStyle/>
                    <a:p>
                      <a:r>
                        <a:rPr b="1" sz="1100"/>
                        <a:t>Availability Requirements</a:t>
                      </a:r>
                    </a:p>
                  </a:txBody>
                  <a:tcPr>
                    <a:solidFill>
                      <a:srgbClr val="E7E6E6"/>
                    </a:solidFill>
                  </a:tcPr>
                </a:tc>
                <a:tc>
                  <a:txBody>
                    <a:bodyPr/>
                    <a:lstStyle/>
                    <a:p>
                      <a:r>
                        <a:rPr sz="1100"/>
                        <a:t>99.9% (M365 SLA)</a:t>
                      </a:r>
                    </a:p>
                  </a:txBody>
                  <a:tcPr>
                    <a:solidFill>
                      <a:srgbClr val="E7E6E6"/>
                    </a:solidFill>
                  </a:tcPr>
                </a:tc>
              </a:tr>
              <a:tr h="370840">
                <a:tc>
                  <a:txBody>
                    <a:bodyPr/>
                    <a:lstStyle/>
                    <a:p>
                      <a:r>
                        <a:rPr b="1" sz="1100"/>
                        <a:t>Teams Phone Users</a:t>
                      </a:r>
                    </a:p>
                  </a:txBody>
                  <a:tcPr>
                    <a:solidFill>
                      <a:srgbClr val="E7E6E6"/>
                    </a:solidFill>
                  </a:tcPr>
                </a:tc>
                <a:tc>
                  <a:txBody>
                    <a:bodyPr/>
                    <a:lstStyle/>
                    <a:p>
                      <a:r>
                        <a:rPr sz="1100"/>
                        <a:t>150 users with PSTN calling</a:t>
                      </a:r>
                    </a:p>
                  </a:txBody>
                  <a:tcPr>
                    <a:solidFill>
                      <a:srgbClr val="E7E6E6"/>
                    </a:solidFill>
                  </a:tcPr>
                </a:tc>
                <a:tc>
                  <a:txBody>
                    <a:bodyPr/>
                    <a:lstStyle/>
                    <a:p/>
                  </a:txBody>
                  <a:tcPr>
                    <a:solidFill>
                      <a:srgbClr val="FFFFFF"/>
                    </a:solidFill>
                  </a:tcPr>
                </a:tc>
                <a:tc>
                  <a:txBody>
                    <a:bodyPr/>
                    <a:lstStyle/>
                    <a:p>
                      <a:r>
                        <a:rPr b="1" sz="1100"/>
                        <a:t>Infrastructure Complexity</a:t>
                      </a:r>
                    </a:p>
                  </a:txBody>
                  <a:tcPr>
                    <a:solidFill>
                      <a:srgbClr val="E7E6E6"/>
                    </a:solidFill>
                  </a:tcPr>
                </a:tc>
                <a:tc>
                  <a:txBody>
                    <a:bodyPr/>
                    <a:lstStyle/>
                    <a:p>
                      <a:r>
                        <a:rPr sz="1100"/>
                        <a:t>Hybrid Exchange during migration</a:t>
                      </a:r>
                    </a:p>
                  </a:txBody>
                  <a:tcPr>
                    <a:solidFill>
                      <a:srgbClr val="E7E6E6"/>
                    </a:solidFill>
                  </a:tcPr>
                </a:tc>
              </a:tr>
              <a:tr h="370840">
                <a:tc>
                  <a:txBody>
                    <a:bodyPr/>
                    <a:lstStyle/>
                    <a:p>
                      <a:r>
                        <a:rPr b="1" sz="1100"/>
                        <a:t>Audio Conferencing</a:t>
                      </a:r>
                    </a:p>
                  </a:txBody>
                  <a:tcPr>
                    <a:solidFill>
                      <a:srgbClr val="E7E6E6"/>
                    </a:solidFill>
                  </a:tcPr>
                </a:tc>
                <a:tc>
                  <a:txBody>
                    <a:bodyPr/>
                    <a:lstStyle/>
                    <a:p>
                      <a:r>
                        <a:rPr sz="1100"/>
                        <a:t>200 users dial-in access</a:t>
                      </a:r>
                    </a:p>
                  </a:txBody>
                  <a:tcPr>
                    <a:solidFill>
                      <a:srgbClr val="E7E6E6"/>
                    </a:solidFill>
                  </a:tcPr>
                </a:tc>
                <a:tc>
                  <a:txBody>
                    <a:bodyPr/>
                    <a:lstStyle/>
                    <a:p/>
                  </a:txBody>
                  <a:tcPr>
                    <a:solidFill>
                      <a:srgbClr val="FFFFFF"/>
                    </a:solidFill>
                  </a:tcPr>
                </a:tc>
                <a:tc>
                  <a:txBody>
                    <a:bodyPr/>
                    <a:lstStyle/>
                    <a:p>
                      <a:r>
                        <a:rPr b="1" sz="1100"/>
                        <a:t>Deployment Timeline</a:t>
                      </a:r>
                    </a:p>
                  </a:txBody>
                  <a:tcPr>
                    <a:solidFill>
                      <a:srgbClr val="E7E6E6"/>
                    </a:solidFill>
                  </a:tcPr>
                </a:tc>
                <a:tc>
                  <a:txBody>
                    <a:bodyPr/>
                    <a:lstStyle/>
                    <a:p>
                      <a:r>
                        <a:rPr sz="1100"/>
                        <a:t>4 months pilot to production</a:t>
                      </a:r>
                    </a:p>
                  </a:txBody>
                  <a:tcPr>
                    <a:solidFill>
                      <a:srgbClr val="E7E6E6"/>
                    </a:solidFill>
                  </a:tcPr>
                </a:tc>
              </a:tr>
            </a:tbl>
          </a:graphicData>
        </a:graphic>
      </p:graphicFrame>
      <p:sp>
        <p:nvSpPr>
          <p:cNvPr id="5" name="Text Placeholder 4"/>
          <p:cNvSpPr>
            <a:spLocks noGrp="1"/>
          </p:cNvSpPr>
          <p:nvPr>
            <p:ph type="body" idx="15" sz="quarter"/>
          </p:nvPr>
        </p:nvSpPr>
        <p:spPr/>
        <p:txBody>
          <a:bodyPr/>
          <a:lstStyle/>
          <a:p>
            <a:pPr algn="r">
              <a:buNone/>
            </a:pPr>
            <a:r>
              <a:rPr sz="1100">
                <a:solidFill>
                  <a:srgbClr val="CC0000"/>
                </a:solidFill>
              </a:rPr>
              <a:t>Microsoft 365 Enterprise Deployment</a:t>
            </a:r>
          </a:p>
        </p:txBody>
      </p:sp>
      <p:pic>
        <p:nvPicPr>
          <p:cNvPr id="6" name="Picture 5" descr="consulting_company_logo.png"/>
          <p:cNvPicPr>
            <a:picLocks noChangeAspect="1"/>
          </p:cNvPicPr>
          <p:nvPr/>
        </p:nvPicPr>
        <p:blipFill>
          <a:blip r:embed="rId3"/>
          <a:stretch>
            <a:fillRect/>
          </a:stretch>
        </p:blipFill>
        <p:spPr>
          <a:xfrm>
            <a:off x="313592" y="4536078"/>
            <a:ext cx="2126273" cy="529698"/>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0" sz="quarter"/>
          </p:nvPr>
        </p:nvSpPr>
        <p:spPr/>
        <p:txBody>
          <a:bodyPr/>
          <a:lstStyle/>
          <a:p>
            <a:pPr algn="l"/>
            <a:r>
              <a:t>Solution Overview</a:t>
            </a:r>
          </a:p>
        </p:txBody>
      </p:sp>
      <p:sp>
        <p:nvSpPr>
          <p:cNvPr id="5" name="Text Placeholder 4"/>
          <p:cNvSpPr>
            <a:spLocks noGrp="1"/>
          </p:cNvSpPr>
          <p:nvPr>
            <p:ph type="body" idx="16" sz="quarter"/>
          </p:nvPr>
        </p:nvSpPr>
        <p:spPr/>
        <p:txBody>
          <a:bodyPr/>
          <a:lstStyle/>
          <a:p>
            <a:pPr/>
            <a:r>
              <a:rPr b="1"/>
              <a:t>Microsoft 365 Applications</a:t>
            </a:r>
          </a:p>
          <a:p>
            <a:pPr lvl="1"/>
            <a:r>
              <a:t>Exchange Online for email calendaring and contacts with 100GB mailboxes and mobile access</a:t>
            </a:r>
          </a:p>
          <a:p>
            <a:pPr lvl="1"/>
            <a:r>
              <a:t>SharePoint Online and OneDrive for Business for file storage collaboration and version control</a:t>
            </a:r>
          </a:p>
          <a:p>
            <a:pPr lvl="1"/>
            <a:r>
              <a:t>Microsoft Teams for chat video meetings channels and integrated calling replacing legacy systems</a:t>
            </a:r>
          </a:p>
          <a:p>
            <a:pPr/>
            <a:r>
              <a:rPr b="1"/>
              <a:t>Security and Compliance</a:t>
            </a:r>
          </a:p>
          <a:p>
            <a:pPr lvl="1"/>
            <a:r>
              <a:t>Conditional Access policies enforcing zero-trust security with MFA device compliance and location restrictions</a:t>
            </a:r>
          </a:p>
          <a:p>
            <a:pPr lvl="1"/>
            <a:r>
              <a:t>Microsoft Defender for Office 365 protecting against phishing malware and ransomware with automated response</a:t>
            </a:r>
          </a:p>
          <a:p>
            <a:pPr lvl="1"/>
            <a:r>
              <a:t>Microsoft Purview for data loss prevention information protection retention policies and eDiscovery</a:t>
            </a:r>
          </a:p>
        </p:txBody>
      </p:sp>
      <p:sp>
        <p:nvSpPr>
          <p:cNvPr id="6" name="Text Placeholder 5"/>
          <p:cNvSpPr>
            <a:spLocks noGrp="1"/>
          </p:cNvSpPr>
          <p:nvPr>
            <p:ph type="body" idx="17" sz="quarter"/>
          </p:nvPr>
        </p:nvSpPr>
        <p:spPr/>
        <p:txBody>
          <a:bodyPr/>
          <a:lstStyle/>
          <a:p>
            <a:pPr algn="r">
              <a:buNone/>
            </a:pPr>
            <a:r>
              <a:rPr sz="1100">
                <a:solidFill>
                  <a:srgbClr val="CC0000"/>
                </a:solidFill>
              </a:rPr>
              <a:t>Microsoft 365 Enterprise Deployment</a:t>
            </a:r>
          </a:p>
        </p:txBody>
      </p:sp>
      <p:pic>
        <p:nvPicPr>
          <p:cNvPr id="7" name="Picture 6" descr="eo-framework-logo-real.png"/>
          <p:cNvPicPr>
            <a:picLocks noChangeAspect="1"/>
          </p:cNvPicPr>
          <p:nvPr/>
        </p:nvPicPr>
        <p:blipFill>
          <a:blip r:embed="rId2"/>
          <a:stretch>
            <a:fillRect/>
          </a:stretch>
        </p:blipFill>
        <p:spPr>
          <a:xfrm>
            <a:off x="4662488" y="685799"/>
            <a:ext cx="4337050" cy="3815859"/>
          </a:xfrm>
          <a:prstGeom prst="rect">
            <a:avLst/>
          </a:prstGeom>
          <a:ln w="12700">
            <a:solidFill>
              <a:srgbClr val="C0C0C0"/>
            </a:solidFill>
            <a:prstDash val="solid"/>
          </a:ln>
        </p:spPr>
      </p:pic>
      <p:pic>
        <p:nvPicPr>
          <p:cNvPr id="8" name="Picture 7" descr="consulting_company_logo.png"/>
          <p:cNvPicPr>
            <a:picLocks noChangeAspect="1"/>
          </p:cNvPicPr>
          <p:nvPr/>
        </p:nvPicPr>
        <p:blipFill>
          <a:blip r:embed="rId3"/>
          <a:stretch>
            <a:fillRect/>
          </a:stretch>
        </p:blipFill>
        <p:spPr>
          <a:xfrm>
            <a:off x="313592" y="4536078"/>
            <a:ext cx="2130670" cy="529698"/>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0" sz="quarter"/>
          </p:nvPr>
        </p:nvSpPr>
        <p:spPr/>
        <p:txBody>
          <a:bodyPr/>
          <a:lstStyle/>
          <a:p>
            <a:pPr algn="l"/>
            <a:r>
              <a:t>Implementation Approach</a:t>
            </a:r>
          </a:p>
        </p:txBody>
      </p:sp>
      <p:sp>
        <p:nvSpPr>
          <p:cNvPr id="4" name="Text Placeholder 3"/>
          <p:cNvSpPr>
            <a:spLocks noGrp="1"/>
          </p:cNvSpPr>
          <p:nvPr>
            <p:ph type="body" idx="14" sz="quarter"/>
          </p:nvPr>
        </p:nvSpPr>
        <p:spPr/>
        <p:txBody>
          <a:bodyPr/>
          <a:lstStyle/>
          <a:p>
            <a:pPr/>
            <a:r>
              <a:rPr b="1"/>
              <a:t>Phase 1: Foundation &amp; Pilot (Months 1-2)</a:t>
            </a:r>
          </a:p>
          <a:p>
            <a:pPr lvl="1"/>
            <a:r>
              <a:t>Deploy Azure AD Connect for identity synchronization and configure SSO with MFA policies</a:t>
            </a:r>
          </a:p>
          <a:p>
            <a:pPr lvl="1"/>
            <a:r>
              <a:t>Establish hybrid Exchange configuration enabling coexistence during migration period</a:t>
            </a:r>
          </a:p>
          <a:p>
            <a:pPr lvl="1"/>
            <a:r>
              <a:t>Execute pilot migration with 50 users validating email SharePoint and Teams functionality</a:t>
            </a:r>
          </a:p>
          <a:p>
            <a:pPr/>
            <a:r>
              <a:rPr b="1"/>
              <a:t>Phase 2: Production Migration (Months 2-3)</a:t>
            </a:r>
          </a:p>
          <a:p>
            <a:pPr lvl="1"/>
            <a:r>
              <a:t>Migrate remaining 450 users in departmental waves minimizing business disruption</a:t>
            </a:r>
          </a:p>
          <a:p>
            <a:pPr lvl="1"/>
            <a:r>
              <a:t>Deploy Teams Phone System for 150 users with PSTN calling and audio conferencing</a:t>
            </a:r>
          </a:p>
          <a:p>
            <a:pPr lvl="1"/>
            <a:r>
              <a:t>Configure SharePoint Online sites and migrate 5TB file data from on-premises file servers</a:t>
            </a:r>
          </a:p>
          <a:p>
            <a:pPr/>
            <a:r>
              <a:rPr b="1"/>
              <a:t>Phase 3: Security &amp; Optimization (Month 4)</a:t>
            </a:r>
          </a:p>
          <a:p>
            <a:pPr lvl="1"/>
            <a:r>
              <a:t>Implement Conditional Access policies with device compliance and location-based restrictions</a:t>
            </a:r>
          </a:p>
          <a:p>
            <a:pPr lvl="1"/>
            <a:r>
              <a:t>Configure DLP policies preventing sensitive data leakage and enable retention policies for compliance</a:t>
            </a:r>
          </a:p>
          <a:p>
            <a:pPr lvl="1"/>
            <a:r>
              <a:t>Complete user training and establish Champions program driving adoption and best practices</a:t>
            </a:r>
          </a:p>
        </p:txBody>
      </p:sp>
      <p:sp>
        <p:nvSpPr>
          <p:cNvPr id="5" name="Text Placeholder 4"/>
          <p:cNvSpPr>
            <a:spLocks noGrp="1"/>
          </p:cNvSpPr>
          <p:nvPr>
            <p:ph type="body" idx="15" sz="quarter"/>
          </p:nvPr>
        </p:nvSpPr>
        <p:spPr/>
        <p:txBody>
          <a:bodyPr/>
          <a:lstStyle/>
          <a:p>
            <a:pPr algn="r">
              <a:buNone/>
            </a:pPr>
            <a:r>
              <a:rPr sz="1100">
                <a:solidFill>
                  <a:srgbClr val="CC0000"/>
                </a:solidFill>
              </a:rPr>
              <a:t>Microsoft 365 Enterprise Deployment</a:t>
            </a:r>
          </a:p>
        </p:txBody>
      </p:sp>
      <p:pic>
        <p:nvPicPr>
          <p:cNvPr id="6" name="Picture 5" descr="consulting_company_logo.png"/>
          <p:cNvPicPr>
            <a:picLocks noChangeAspect="1"/>
          </p:cNvPicPr>
          <p:nvPr/>
        </p:nvPicPr>
        <p:blipFill>
          <a:blip r:embed="rId2"/>
          <a:stretch>
            <a:fillRect/>
          </a:stretch>
        </p:blipFill>
        <p:spPr>
          <a:xfrm>
            <a:off x="313593" y="4536078"/>
            <a:ext cx="2143858" cy="529698"/>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0" sz="quarter"/>
          </p:nvPr>
        </p:nvSpPr>
        <p:spPr/>
        <p:txBody>
          <a:bodyPr/>
          <a:lstStyle/>
          <a:p>
            <a:pPr algn="l"/>
            <a:r>
              <a:t>Timeline &amp; Milestones</a:t>
            </a:r>
          </a:p>
        </p:txBody>
      </p:sp>
      <p:graphicFrame>
        <p:nvGraphicFramePr>
          <p:cNvPr id="4" name="Table Placeholder 3"/>
          <p:cNvGraphicFramePr>
            <a:graphicFrameLocks noGrp="1"/>
          </p:cNvGraphicFramePr>
          <p:nvPr>
            <p:ph type="tbl" idx="14" sz="quarter"/>
          </p:nvPr>
        </p:nvGraphicFramePr>
        <p:xfrm>
          <a:off x="256855" y="677011"/>
          <a:ext cx="8710931" cy="1483360"/>
        </p:xfrm>
        <a:graphic>
          <a:graphicData uri="http://schemas.openxmlformats.org/drawingml/2006/table">
            <a:tbl>
              <a:tblPr firstRow="1" bandRow="1">
                <a:tableStyleId>{5C22544A-7EE6-4342-B048-85BDC9FD1C3A}</a:tableStyleId>
              </a:tblPr>
              <a:tblGrid>
                <a:gridCol w="871093"/>
                <a:gridCol w="2177733"/>
                <a:gridCol w="1306639"/>
                <a:gridCol w="4355466"/>
              </a:tblGrid>
              <a:tr h="370840">
                <a:tc>
                  <a:txBody>
                    <a:bodyPr/>
                    <a:lstStyle/>
                    <a:p>
                      <a:r>
                        <a:rPr sz="1400">
                          <a:solidFill>
                            <a:srgbClr val="FFFFFF"/>
                          </a:solidFill>
                        </a:rPr>
                        <a:t>Phase No</a:t>
                      </a:r>
                    </a:p>
                  </a:txBody>
                  <a:tcPr>
                    <a:solidFill>
                      <a:srgbClr val="A01C02"/>
                    </a:solidFill>
                  </a:tcPr>
                </a:tc>
                <a:tc>
                  <a:txBody>
                    <a:bodyPr/>
                    <a:lstStyle/>
                    <a:p>
                      <a:r>
                        <a:rPr sz="1400">
                          <a:solidFill>
                            <a:srgbClr val="FFFFFF"/>
                          </a:solidFill>
                        </a:rPr>
                        <a:t>Phase Description</a:t>
                      </a:r>
                    </a:p>
                  </a:txBody>
                  <a:tcPr>
                    <a:solidFill>
                      <a:srgbClr val="A01C02"/>
                    </a:solidFill>
                  </a:tcPr>
                </a:tc>
                <a:tc>
                  <a:txBody>
                    <a:bodyPr/>
                    <a:lstStyle/>
                    <a:p>
                      <a:r>
                        <a:rPr sz="1400">
                          <a:solidFill>
                            <a:srgbClr val="FFFFFF"/>
                          </a:solidFill>
                        </a:rPr>
                        <a:t>Timeline</a:t>
                      </a:r>
                    </a:p>
                  </a:txBody>
                  <a:tcPr>
                    <a:solidFill>
                      <a:srgbClr val="A01C02"/>
                    </a:solidFill>
                  </a:tcPr>
                </a:tc>
                <a:tc>
                  <a:txBody>
                    <a:bodyPr/>
                    <a:lstStyle/>
                    <a:p>
                      <a:r>
                        <a:rPr sz="1400">
                          <a:solidFill>
                            <a:srgbClr val="FFFFFF"/>
                          </a:solidFill>
                        </a:rPr>
                        <a:t>Key Deliverables</a:t>
                      </a:r>
                    </a:p>
                  </a:txBody>
                  <a:tcPr>
                    <a:solidFill>
                      <a:srgbClr val="A01C02"/>
                    </a:solidFill>
                  </a:tcPr>
                </a:tc>
              </a:tr>
              <a:tr h="370840">
                <a:tc>
                  <a:txBody>
                    <a:bodyPr/>
                    <a:lstStyle/>
                    <a:p>
                      <a:r>
                        <a:rPr sz="1100"/>
                        <a:t>Phase 1</a:t>
                      </a:r>
                    </a:p>
                  </a:txBody>
                  <a:tcPr>
                    <a:solidFill>
                      <a:srgbClr val="E7E6E6"/>
                    </a:solidFill>
                  </a:tcPr>
                </a:tc>
                <a:tc>
                  <a:txBody>
                    <a:bodyPr/>
                    <a:lstStyle/>
                    <a:p>
                      <a:r>
                        <a:rPr sz="1100"/>
                        <a:t>Foundation &amp; Pilot</a:t>
                      </a:r>
                    </a:p>
                  </a:txBody>
                  <a:tcPr>
                    <a:solidFill>
                      <a:srgbClr val="E7E6E6"/>
                    </a:solidFill>
                  </a:tcPr>
                </a:tc>
                <a:tc>
                  <a:txBody>
                    <a:bodyPr/>
                    <a:lstStyle/>
                    <a:p>
                      <a:r>
                        <a:rPr sz="1100"/>
                        <a:t>Months 1-2</a:t>
                      </a:r>
                    </a:p>
                  </a:txBody>
                  <a:tcPr>
                    <a:solidFill>
                      <a:srgbClr val="E7E6E6"/>
                    </a:solidFill>
                  </a:tcPr>
                </a:tc>
                <a:tc>
                  <a:txBody>
                    <a:bodyPr/>
                    <a:lstStyle/>
                    <a:p>
                      <a:r>
                        <a:rPr sz="1100"/>
                        <a:t>Azure AD Connect deployed with SSO and MFA, Hybrid Exchange configured, 50 pilot users migrated successfully</a:t>
                      </a:r>
                    </a:p>
                  </a:txBody>
                  <a:tcPr>
                    <a:solidFill>
                      <a:srgbClr val="E7E6E6"/>
                    </a:solidFill>
                  </a:tcPr>
                </a:tc>
              </a:tr>
              <a:tr h="370840">
                <a:tc>
                  <a:txBody>
                    <a:bodyPr/>
                    <a:lstStyle/>
                    <a:p>
                      <a:r>
                        <a:rPr sz="1100"/>
                        <a:t>Phase 2</a:t>
                      </a:r>
                    </a:p>
                  </a:txBody>
                  <a:tcPr>
                    <a:solidFill>
                      <a:srgbClr val="E7E6E6"/>
                    </a:solidFill>
                  </a:tcPr>
                </a:tc>
                <a:tc>
                  <a:txBody>
                    <a:bodyPr/>
                    <a:lstStyle/>
                    <a:p>
                      <a:r>
                        <a:rPr sz="1100"/>
                        <a:t>Production Migration</a:t>
                      </a:r>
                    </a:p>
                  </a:txBody>
                  <a:tcPr>
                    <a:solidFill>
                      <a:srgbClr val="E7E6E6"/>
                    </a:solidFill>
                  </a:tcPr>
                </a:tc>
                <a:tc>
                  <a:txBody>
                    <a:bodyPr/>
                    <a:lstStyle/>
                    <a:p>
                      <a:r>
                        <a:rPr sz="1100"/>
                        <a:t>Months 2-3</a:t>
                      </a:r>
                    </a:p>
                  </a:txBody>
                  <a:tcPr>
                    <a:solidFill>
                      <a:srgbClr val="E7E6E6"/>
                    </a:solidFill>
                  </a:tcPr>
                </a:tc>
                <a:tc>
                  <a:txBody>
                    <a:bodyPr/>
                    <a:lstStyle/>
                    <a:p>
                      <a:r>
                        <a:rPr sz="1100"/>
                        <a:t>All 500 users migrated to Exchange Online, 5TB files migrated to SharePoint and OneDrive, Teams Phone deployed for 150 users</a:t>
                      </a:r>
                    </a:p>
                  </a:txBody>
                  <a:tcPr>
                    <a:solidFill>
                      <a:srgbClr val="E7E6E6"/>
                    </a:solidFill>
                  </a:tcPr>
                </a:tc>
              </a:tr>
              <a:tr h="370840">
                <a:tc>
                  <a:txBody>
                    <a:bodyPr/>
                    <a:lstStyle/>
                    <a:p>
                      <a:r>
                        <a:rPr sz="1100"/>
                        <a:t>Phase 3</a:t>
                      </a:r>
                    </a:p>
                  </a:txBody>
                  <a:tcPr>
                    <a:solidFill>
                      <a:srgbClr val="E7E6E6"/>
                    </a:solidFill>
                  </a:tcPr>
                </a:tc>
                <a:tc>
                  <a:txBody>
                    <a:bodyPr/>
                    <a:lstStyle/>
                    <a:p>
                      <a:r>
                        <a:rPr sz="1100"/>
                        <a:t>Security &amp; Optimization</a:t>
                      </a:r>
                    </a:p>
                  </a:txBody>
                  <a:tcPr>
                    <a:solidFill>
                      <a:srgbClr val="E7E6E6"/>
                    </a:solidFill>
                  </a:tcPr>
                </a:tc>
                <a:tc>
                  <a:txBody>
                    <a:bodyPr/>
                    <a:lstStyle/>
                    <a:p>
                      <a:r>
                        <a:rPr sz="1100"/>
                        <a:t>Month 4</a:t>
                      </a:r>
                    </a:p>
                  </a:txBody>
                  <a:tcPr>
                    <a:solidFill>
                      <a:srgbClr val="E7E6E6"/>
                    </a:solidFill>
                  </a:tcPr>
                </a:tc>
                <a:tc>
                  <a:txBody>
                    <a:bodyPr/>
                    <a:lstStyle/>
                    <a:p>
                      <a:r>
                        <a:rPr sz="1100"/>
                        <a:t>Conditional Access and DLP policies enforced, User training completed, Champions program launched, Defender baseline configured</a:t>
                      </a:r>
                    </a:p>
                  </a:txBody>
                  <a:tcPr>
                    <a:solidFill>
                      <a:srgbClr val="E7E6E6"/>
                    </a:solidFill>
                  </a:tcPr>
                </a:tc>
              </a:tr>
            </a:tbl>
          </a:graphicData>
        </a:graphic>
      </p:graphicFrame>
      <p:sp>
        <p:nvSpPr>
          <p:cNvPr id="5" name="Text Placeholder 4"/>
          <p:cNvSpPr>
            <a:spLocks noGrp="1"/>
          </p:cNvSpPr>
          <p:nvPr>
            <p:ph type="body" idx="15" sz="quarter"/>
          </p:nvPr>
        </p:nvSpPr>
        <p:spPr/>
        <p:txBody>
          <a:bodyPr/>
          <a:lstStyle/>
          <a:p>
            <a:pPr algn="r">
              <a:buNone/>
            </a:pPr>
            <a:r>
              <a:rPr sz="1100">
                <a:solidFill>
                  <a:srgbClr val="CC0000"/>
                </a:solidFill>
              </a:rPr>
              <a:t>Microsoft 365 Enterprise Deployment</a:t>
            </a:r>
          </a:p>
        </p:txBody>
      </p:sp>
      <p:pic>
        <p:nvPicPr>
          <p:cNvPr id="6" name="Picture 5" descr="consulting_company_logo.png"/>
          <p:cNvPicPr>
            <a:picLocks noChangeAspect="1"/>
          </p:cNvPicPr>
          <p:nvPr/>
        </p:nvPicPr>
        <p:blipFill>
          <a:blip r:embed="rId2"/>
          <a:stretch>
            <a:fillRect/>
          </a:stretch>
        </p:blipFill>
        <p:spPr>
          <a:xfrm>
            <a:off x="313592" y="4536078"/>
            <a:ext cx="2126273" cy="529698"/>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0" sz="quarter"/>
          </p:nvPr>
        </p:nvSpPr>
        <p:spPr/>
        <p:txBody>
          <a:bodyPr/>
          <a:lstStyle/>
          <a:p>
            <a:pPr algn="l"/>
            <a:r>
              <a:t>Success Stories</a:t>
            </a:r>
          </a:p>
        </p:txBody>
      </p:sp>
      <p:sp>
        <p:nvSpPr>
          <p:cNvPr id="4" name="Text Placeholder 3"/>
          <p:cNvSpPr>
            <a:spLocks noGrp="1"/>
          </p:cNvSpPr>
          <p:nvPr>
            <p:ph type="body" idx="14" sz="quarter"/>
          </p:nvPr>
        </p:nvSpPr>
        <p:spPr/>
        <p:txBody>
          <a:bodyPr/>
          <a:lstStyle/>
          <a:p>
            <a:pPr/>
            <a:r>
              <a:rPr b="1"/>
              <a:t>Client Success: Professional Services Firm</a:t>
            </a:r>
          </a:p>
          <a:p>
            <a:pPr lvl="1"/>
            <a:r>
              <a:rPr b="1"/>
              <a:t>Client:</a:t>
            </a:r>
            <a:r>
              <a:t> 600-person consulting firm with aging Exchange 2010 servers and on-premises file shares across 8 office locations requiring modern collaboration for remote teams</a:t>
            </a:r>
          </a:p>
          <a:p>
            <a:pPr lvl="1"/>
            <a:r>
              <a:rPr b="1"/>
              <a:t>Challenge:</a:t>
            </a:r>
            <a:r>
              <a:t> Exchange server hardware end-of-life in 6 months with $220K replacement cost estimate. Poor remote collaboration limiting productivity and client responsiveness. Compliance risk from lack of email retention and eDiscovery capabilities.</a:t>
            </a:r>
          </a:p>
          <a:p>
            <a:pPr lvl="1"/>
            <a:r>
              <a:rPr b="1"/>
              <a:t>Solution:</a:t>
            </a:r>
            <a:r>
              <a:t> Deployed Microsoft 365 E5 with phased migration from Exchange 2010 and file servers. Implemented Conditional Access MFA and DLP policies. Configured Teams with channels for client projects and SharePoint for document management.</a:t>
            </a:r>
          </a:p>
          <a:p>
            <a:pPr lvl="1"/>
            <a:r>
              <a:rPr b="1"/>
              <a:t>Results:</a:t>
            </a:r>
            <a:r>
              <a:t> 100% migration completed in 4.5 months eliminating $220K server replacement capex. 85% reduction in email attachments through Teams file sharing improving collaboration. Zero security incidents in 12 months post-deployment with Defender protection. SOC 2 compliance achieved through Purview retention and eDiscovery. 92% user adoption of Teams within 3 months.</a:t>
            </a:r>
          </a:p>
          <a:p>
            <a:pPr lvl="1"/>
            <a:r>
              <a:rPr b="1"/>
              <a:t>Testimonial:</a:t>
            </a:r>
            <a:r>
              <a:t> "Microsoft 365 transformed how our consultants collaborate with clients and each other. The migration was seamless and the security features gave us SOC 2 compliance we couldn't achieve with on-premises systems." — </a:t>
            </a:r>
            <a:r>
              <a:rPr b="1"/>
              <a:t>Lisa Chen</a:t>
            </a:r>
            <a:r>
              <a:t>, CIO</a:t>
            </a:r>
          </a:p>
        </p:txBody>
      </p:sp>
      <p:sp>
        <p:nvSpPr>
          <p:cNvPr id="5" name="Text Placeholder 4"/>
          <p:cNvSpPr>
            <a:spLocks noGrp="1"/>
          </p:cNvSpPr>
          <p:nvPr>
            <p:ph type="body" idx="15" sz="quarter"/>
          </p:nvPr>
        </p:nvSpPr>
        <p:spPr/>
        <p:txBody>
          <a:bodyPr/>
          <a:lstStyle/>
          <a:p>
            <a:pPr algn="r">
              <a:buNone/>
            </a:pPr>
            <a:r>
              <a:rPr sz="1100">
                <a:solidFill>
                  <a:srgbClr val="CC0000"/>
                </a:solidFill>
              </a:rPr>
              <a:t>Microsoft 365 Enterprise Deployment</a:t>
            </a:r>
          </a:p>
        </p:txBody>
      </p:sp>
      <p:pic>
        <p:nvPicPr>
          <p:cNvPr id="6" name="Picture 5" descr="consulting_company_logo.png"/>
          <p:cNvPicPr>
            <a:picLocks noChangeAspect="1"/>
          </p:cNvPicPr>
          <p:nvPr/>
        </p:nvPicPr>
        <p:blipFill>
          <a:blip r:embed="rId2"/>
          <a:stretch>
            <a:fillRect/>
          </a:stretch>
        </p:blipFill>
        <p:spPr>
          <a:xfrm>
            <a:off x="313593" y="4536078"/>
            <a:ext cx="2143858" cy="529698"/>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0" sz="quarter"/>
          </p:nvPr>
        </p:nvSpPr>
        <p:spPr/>
        <p:txBody>
          <a:bodyPr/>
          <a:lstStyle/>
          <a:p>
            <a:pPr algn="l"/>
            <a:r>
              <a:t>Our Partnership Advantage</a:t>
            </a:r>
          </a:p>
        </p:txBody>
      </p:sp>
      <p:sp>
        <p:nvSpPr>
          <p:cNvPr id="4" name="Text Placeholder 3"/>
          <p:cNvSpPr>
            <a:spLocks noGrp="1"/>
          </p:cNvSpPr>
          <p:nvPr>
            <p:ph type="body" idx="16" sz="quarter"/>
          </p:nvPr>
        </p:nvSpPr>
        <p:spPr/>
        <p:txBody>
          <a:bodyPr/>
          <a:lstStyle/>
          <a:p>
            <a:pPr/>
            <a:r>
              <a:rPr b="1"/>
              <a:t>What We Bring</a:t>
            </a:r>
          </a:p>
          <a:p>
            <a:pPr lvl="1"/>
            <a:r>
              <a:t>12+ years delivering Microsoft 365 migrations with 98% success rate and zero data loss</a:t>
            </a:r>
          </a:p>
          <a:p>
            <a:pPr lvl="1"/>
            <a:r>
              <a:t>200+ successful M365 deployments across professional services healthcare finance manufacturing</a:t>
            </a:r>
          </a:p>
          <a:p>
            <a:pPr lvl="1"/>
            <a:r>
              <a:t>Microsoft Gold Partner with Solutions Partner designation in Modern Work and Security</a:t>
            </a:r>
          </a:p>
          <a:p>
            <a:pPr lvl="1"/>
            <a:r>
              <a:t>Certified FastTrack engineers and Microsoft 365 Enterprise Administrators on staff</a:t>
            </a:r>
          </a:p>
        </p:txBody>
      </p:sp>
      <p:sp>
        <p:nvSpPr>
          <p:cNvPr id="5" name="Text Placeholder 4"/>
          <p:cNvSpPr>
            <a:spLocks noGrp="1"/>
          </p:cNvSpPr>
          <p:nvPr>
            <p:ph type="body" idx="17" sz="quarter"/>
          </p:nvPr>
        </p:nvSpPr>
        <p:spPr/>
        <p:txBody>
          <a:bodyPr/>
          <a:lstStyle/>
          <a:p>
            <a:pPr/>
            <a:r>
              <a:rPr b="1"/>
              <a:t>Value to You</a:t>
            </a:r>
          </a:p>
          <a:p>
            <a:pPr lvl="1"/>
            <a:r>
              <a:t>Pre-built migration templates and automation tools accelerating email and file migration by 40%</a:t>
            </a:r>
          </a:p>
          <a:p>
            <a:pPr lvl="1"/>
            <a:r>
              <a:t>Proven change management methodology driving 90%+ user adoption within 3 months</a:t>
            </a:r>
          </a:p>
          <a:p>
            <a:pPr lvl="1"/>
            <a:r>
              <a:t>24x7 migration support during cutover weekends minimizing business disruption</a:t>
            </a:r>
          </a:p>
          <a:p>
            <a:pPr lvl="1"/>
            <a:r>
              <a:t>Best practices from 200+ deployments avoiding common pitfalls and configuration errors</a:t>
            </a:r>
          </a:p>
        </p:txBody>
      </p:sp>
      <p:sp>
        <p:nvSpPr>
          <p:cNvPr id="6" name="Text Placeholder 5"/>
          <p:cNvSpPr>
            <a:spLocks noGrp="1"/>
          </p:cNvSpPr>
          <p:nvPr>
            <p:ph type="body" idx="15" sz="quarter"/>
          </p:nvPr>
        </p:nvSpPr>
        <p:spPr/>
        <p:txBody>
          <a:bodyPr/>
          <a:lstStyle/>
          <a:p>
            <a:pPr algn="r">
              <a:buNone/>
            </a:pPr>
            <a:r>
              <a:rPr sz="1100">
                <a:solidFill>
                  <a:srgbClr val="CC0000"/>
                </a:solidFill>
              </a:rPr>
              <a:t>Microsoft 365 Enterprise Deployment</a:t>
            </a:r>
          </a:p>
        </p:txBody>
      </p:sp>
      <p:pic>
        <p:nvPicPr>
          <p:cNvPr id="7" name="Picture 6" descr="consulting_company_logo.png"/>
          <p:cNvPicPr>
            <a:picLocks noChangeAspect="1"/>
          </p:cNvPicPr>
          <p:nvPr/>
        </p:nvPicPr>
        <p:blipFill>
          <a:blip r:embed="rId2"/>
          <a:stretch>
            <a:fillRect/>
          </a:stretch>
        </p:blipFill>
        <p:spPr>
          <a:xfrm>
            <a:off x="313592" y="4536078"/>
            <a:ext cx="2121877" cy="529698"/>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0" sz="quarter"/>
          </p:nvPr>
        </p:nvSpPr>
        <p:spPr/>
        <p:txBody>
          <a:bodyPr/>
          <a:lstStyle/>
          <a:p>
            <a:pPr algn="l"/>
            <a:r>
              <a:t>Investment Summary</a:t>
            </a:r>
          </a:p>
        </p:txBody>
      </p:sp>
      <p:graphicFrame>
        <p:nvGraphicFramePr>
          <p:cNvPr id="4" name="Table Placeholder 3"/>
          <p:cNvGraphicFramePr>
            <a:graphicFrameLocks noGrp="1"/>
          </p:cNvGraphicFramePr>
          <p:nvPr>
            <p:ph type="tbl" idx="14" sz="quarter"/>
          </p:nvPr>
        </p:nvGraphicFramePr>
        <p:xfrm>
          <a:off x="256855" y="677011"/>
          <a:ext cx="8710930" cy="2225040"/>
        </p:xfrm>
        <a:graphic>
          <a:graphicData uri="http://schemas.openxmlformats.org/drawingml/2006/table">
            <a:tbl>
              <a:tblPr firstRow="1" bandRow="1">
                <a:tableStyleId>{5C22544A-7EE6-4342-B048-85BDC9FD1C3A}</a:tableStyleId>
              </a:tblPr>
              <a:tblGrid>
                <a:gridCol w="1997920"/>
                <a:gridCol w="1198752"/>
                <a:gridCol w="1198752"/>
                <a:gridCol w="1198752"/>
                <a:gridCol w="959001"/>
                <a:gridCol w="959001"/>
                <a:gridCol w="1198752"/>
              </a:tblGrid>
              <a:tr h="370840">
                <a:tc>
                  <a:txBody>
                    <a:bodyPr/>
                    <a:lstStyle/>
                    <a:p>
                      <a:r>
                        <a:rPr sz="1400">
                          <a:solidFill>
                            <a:srgbClr val="FFFFFF"/>
                          </a:solidFill>
                        </a:rPr>
                        <a:t>Cost Category</a:t>
                      </a:r>
                    </a:p>
                  </a:txBody>
                  <a:tcPr>
                    <a:solidFill>
                      <a:srgbClr val="A01C02"/>
                    </a:solidFill>
                  </a:tcPr>
                </a:tc>
                <a:tc>
                  <a:txBody>
                    <a:bodyPr/>
                    <a:lstStyle/>
                    <a:p>
                      <a:r>
                        <a:rPr sz="1400">
                          <a:solidFill>
                            <a:srgbClr val="FFFFFF"/>
                          </a:solidFill>
                        </a:rPr>
                        <a:t>Year 1 List</a:t>
                      </a:r>
                    </a:p>
                  </a:txBody>
                  <a:tcPr>
                    <a:solidFill>
                      <a:srgbClr val="A01C02"/>
                    </a:solidFill>
                  </a:tcPr>
                </a:tc>
                <a:tc>
                  <a:txBody>
                    <a:bodyPr/>
                    <a:lstStyle/>
                    <a:p>
                      <a:r>
                        <a:rPr sz="1400">
                          <a:solidFill>
                            <a:srgbClr val="FFFFFF"/>
                          </a:solidFill>
                        </a:rPr>
                        <a:t>Year 1 Credits</a:t>
                      </a:r>
                    </a:p>
                  </a:txBody>
                  <a:tcPr>
                    <a:solidFill>
                      <a:srgbClr val="A01C02"/>
                    </a:solidFill>
                  </a:tcPr>
                </a:tc>
                <a:tc>
                  <a:txBody>
                    <a:bodyPr/>
                    <a:lstStyle/>
                    <a:p>
                      <a:r>
                        <a:rPr sz="1400">
                          <a:solidFill>
                            <a:srgbClr val="FFFFFF"/>
                          </a:solidFill>
                        </a:rPr>
                        <a:t>Year 1 Net</a:t>
                      </a:r>
                    </a:p>
                  </a:txBody>
                  <a:tcPr>
                    <a:solidFill>
                      <a:srgbClr val="A01C02"/>
                    </a:solidFill>
                  </a:tcPr>
                </a:tc>
                <a:tc>
                  <a:txBody>
                    <a:bodyPr/>
                    <a:lstStyle/>
                    <a:p>
                      <a:r>
                        <a:rPr sz="1400">
                          <a:solidFill>
                            <a:srgbClr val="FFFFFF"/>
                          </a:solidFill>
                        </a:rPr>
                        <a:t>Year 2</a:t>
                      </a:r>
                    </a:p>
                  </a:txBody>
                  <a:tcPr>
                    <a:solidFill>
                      <a:srgbClr val="A01C02"/>
                    </a:solidFill>
                  </a:tcPr>
                </a:tc>
                <a:tc>
                  <a:txBody>
                    <a:bodyPr/>
                    <a:lstStyle/>
                    <a:p>
                      <a:r>
                        <a:rPr sz="1400">
                          <a:solidFill>
                            <a:srgbClr val="FFFFFF"/>
                          </a:solidFill>
                        </a:rPr>
                        <a:t>Year 3</a:t>
                      </a:r>
                    </a:p>
                  </a:txBody>
                  <a:tcPr>
                    <a:solidFill>
                      <a:srgbClr val="A01C02"/>
                    </a:solidFill>
                  </a:tcPr>
                </a:tc>
                <a:tc>
                  <a:txBody>
                    <a:bodyPr/>
                    <a:lstStyle/>
                    <a:p>
                      <a:r>
                        <a:rPr sz="1400">
                          <a:solidFill>
                            <a:srgbClr val="FFFFFF"/>
                          </a:solidFill>
                        </a:rPr>
                        <a:t>3-Year Total</a:t>
                      </a:r>
                    </a:p>
                  </a:txBody>
                  <a:tcPr>
                    <a:solidFill>
                      <a:srgbClr val="A01C02"/>
                    </a:solidFill>
                  </a:tcPr>
                </a:tc>
              </a:tr>
              <a:tr h="370840">
                <a:tc>
                  <a:txBody>
                    <a:bodyPr/>
                    <a:lstStyle/>
                    <a:p>
                      <a:r>
                        <a:rPr sz="1100"/>
                        <a:t>Professional Services</a:t>
                      </a:r>
                    </a:p>
                  </a:txBody>
                  <a:tcPr>
                    <a:solidFill>
                      <a:srgbClr val="E7E6E6"/>
                    </a:solidFill>
                  </a:tcPr>
                </a:tc>
                <a:tc>
                  <a:txBody>
                    <a:bodyPr/>
                    <a:lstStyle/>
                    <a:p>
                      <a:r>
                        <a:rPr sz="1100"/>
                        <a:t>$79,000</a:t>
                      </a:r>
                    </a:p>
                  </a:txBody>
                  <a:tcPr>
                    <a:solidFill>
                      <a:srgbClr val="E7E6E6"/>
                    </a:solidFill>
                  </a:tcPr>
                </a:tc>
                <a:tc>
                  <a:txBody>
                    <a:bodyPr/>
                    <a:lstStyle/>
                    <a:p>
                      <a:r>
                        <a:rPr sz="1100"/>
                        <a:t>$0</a:t>
                      </a:r>
                    </a:p>
                  </a:txBody>
                  <a:tcPr>
                    <a:solidFill>
                      <a:srgbClr val="E7E6E6"/>
                    </a:solidFill>
                  </a:tcPr>
                </a:tc>
                <a:tc>
                  <a:txBody>
                    <a:bodyPr/>
                    <a:lstStyle/>
                    <a:p>
                      <a:r>
                        <a:rPr sz="1100"/>
                        <a:t>$79,000</a:t>
                      </a:r>
                    </a:p>
                  </a:txBody>
                  <a:tcPr>
                    <a:solidFill>
                      <a:srgbClr val="E7E6E6"/>
                    </a:solidFill>
                  </a:tcPr>
                </a:tc>
                <a:tc>
                  <a:txBody>
                    <a:bodyPr/>
                    <a:lstStyle/>
                    <a:p>
                      <a:r>
                        <a:rPr sz="1100"/>
                        <a:t>$0</a:t>
                      </a:r>
                    </a:p>
                  </a:txBody>
                  <a:tcPr>
                    <a:solidFill>
                      <a:srgbClr val="E7E6E6"/>
                    </a:solidFill>
                  </a:tcPr>
                </a:tc>
                <a:tc>
                  <a:txBody>
                    <a:bodyPr/>
                    <a:lstStyle/>
                    <a:p>
                      <a:r>
                        <a:rPr sz="1100"/>
                        <a:t>$0</a:t>
                      </a:r>
                    </a:p>
                  </a:txBody>
                  <a:tcPr>
                    <a:solidFill>
                      <a:srgbClr val="E7E6E6"/>
                    </a:solidFill>
                  </a:tcPr>
                </a:tc>
                <a:tc>
                  <a:txBody>
                    <a:bodyPr/>
                    <a:lstStyle/>
                    <a:p>
                      <a:r>
                        <a:rPr sz="1100"/>
                        <a:t>$79,000</a:t>
                      </a:r>
                    </a:p>
                  </a:txBody>
                  <a:tcPr>
                    <a:solidFill>
                      <a:srgbClr val="E7E6E6"/>
                    </a:solidFill>
                  </a:tcPr>
                </a:tc>
              </a:tr>
              <a:tr h="370840">
                <a:tc>
                  <a:txBody>
                    <a:bodyPr/>
                    <a:lstStyle/>
                    <a:p>
                      <a:r>
                        <a:rPr sz="1100"/>
                        <a:t>Cloud Infrastructure</a:t>
                      </a:r>
                    </a:p>
                  </a:txBody>
                  <a:tcPr>
                    <a:solidFill>
                      <a:srgbClr val="E7E6E6"/>
                    </a:solidFill>
                  </a:tcPr>
                </a:tc>
                <a:tc>
                  <a:txBody>
                    <a:bodyPr/>
                    <a:lstStyle/>
                    <a:p>
                      <a:r>
                        <a:rPr sz="1100"/>
                        <a:t>$24,000</a:t>
                      </a:r>
                    </a:p>
                  </a:txBody>
                  <a:tcPr>
                    <a:solidFill>
                      <a:srgbClr val="E7E6E6"/>
                    </a:solidFill>
                  </a:tcPr>
                </a:tc>
                <a:tc>
                  <a:txBody>
                    <a:bodyPr/>
                    <a:lstStyle/>
                    <a:p>
                      <a:r>
                        <a:rPr sz="1100"/>
                        <a:t>$0</a:t>
                      </a:r>
                    </a:p>
                  </a:txBody>
                  <a:tcPr>
                    <a:solidFill>
                      <a:srgbClr val="E7E6E6"/>
                    </a:solidFill>
                  </a:tcPr>
                </a:tc>
                <a:tc>
                  <a:txBody>
                    <a:bodyPr/>
                    <a:lstStyle/>
                    <a:p>
                      <a:r>
                        <a:rPr sz="1100"/>
                        <a:t>$24,000</a:t>
                      </a:r>
                    </a:p>
                  </a:txBody>
                  <a:tcPr>
                    <a:solidFill>
                      <a:srgbClr val="E7E6E6"/>
                    </a:solidFill>
                  </a:tcPr>
                </a:tc>
                <a:tc>
                  <a:txBody>
                    <a:bodyPr/>
                    <a:lstStyle/>
                    <a:p>
                      <a:r>
                        <a:rPr sz="1100"/>
                        <a:t>$24,000</a:t>
                      </a:r>
                    </a:p>
                  </a:txBody>
                  <a:tcPr>
                    <a:solidFill>
                      <a:srgbClr val="E7E6E6"/>
                    </a:solidFill>
                  </a:tcPr>
                </a:tc>
                <a:tc>
                  <a:txBody>
                    <a:bodyPr/>
                    <a:lstStyle/>
                    <a:p>
                      <a:r>
                        <a:rPr sz="1100"/>
                        <a:t>$24,000</a:t>
                      </a:r>
                    </a:p>
                  </a:txBody>
                  <a:tcPr>
                    <a:solidFill>
                      <a:srgbClr val="E7E6E6"/>
                    </a:solidFill>
                  </a:tcPr>
                </a:tc>
                <a:tc>
                  <a:txBody>
                    <a:bodyPr/>
                    <a:lstStyle/>
                    <a:p>
                      <a:r>
                        <a:rPr sz="1100"/>
                        <a:t>$72,000</a:t>
                      </a:r>
                    </a:p>
                  </a:txBody>
                  <a:tcPr>
                    <a:solidFill>
                      <a:srgbClr val="E7E6E6"/>
                    </a:solidFill>
                  </a:tcPr>
                </a:tc>
              </a:tr>
              <a:tr h="370840">
                <a:tc>
                  <a:txBody>
                    <a:bodyPr/>
                    <a:lstStyle/>
                    <a:p>
                      <a:r>
                        <a:rPr sz="1100"/>
                        <a:t>Software Licenses</a:t>
                      </a:r>
                    </a:p>
                  </a:txBody>
                  <a:tcPr>
                    <a:solidFill>
                      <a:srgbClr val="E7E6E6"/>
                    </a:solidFill>
                  </a:tcPr>
                </a:tc>
                <a:tc>
                  <a:txBody>
                    <a:bodyPr/>
                    <a:lstStyle/>
                    <a:p>
                      <a:r>
                        <a:rPr sz="1100"/>
                        <a:t>$399,000</a:t>
                      </a:r>
                    </a:p>
                  </a:txBody>
                  <a:tcPr>
                    <a:solidFill>
                      <a:srgbClr val="E7E6E6"/>
                    </a:solidFill>
                  </a:tcPr>
                </a:tc>
                <a:tc>
                  <a:txBody>
                    <a:bodyPr/>
                    <a:lstStyle/>
                    <a:p>
                      <a:r>
                        <a:rPr sz="1100"/>
                        <a:t>$0</a:t>
                      </a:r>
                    </a:p>
                  </a:txBody>
                  <a:tcPr>
                    <a:solidFill>
                      <a:srgbClr val="E7E6E6"/>
                    </a:solidFill>
                  </a:tcPr>
                </a:tc>
                <a:tc>
                  <a:txBody>
                    <a:bodyPr/>
                    <a:lstStyle/>
                    <a:p>
                      <a:r>
                        <a:rPr sz="1100"/>
                        <a:t>$399,000</a:t>
                      </a:r>
                    </a:p>
                  </a:txBody>
                  <a:tcPr>
                    <a:solidFill>
                      <a:srgbClr val="E7E6E6"/>
                    </a:solidFill>
                  </a:tcPr>
                </a:tc>
                <a:tc>
                  <a:txBody>
                    <a:bodyPr/>
                    <a:lstStyle/>
                    <a:p>
                      <a:r>
                        <a:rPr sz="1100"/>
                        <a:t>$399,000</a:t>
                      </a:r>
                    </a:p>
                  </a:txBody>
                  <a:tcPr>
                    <a:solidFill>
                      <a:srgbClr val="E7E6E6"/>
                    </a:solidFill>
                  </a:tcPr>
                </a:tc>
                <a:tc>
                  <a:txBody>
                    <a:bodyPr/>
                    <a:lstStyle/>
                    <a:p>
                      <a:r>
                        <a:rPr sz="1100"/>
                        <a:t>$399,000</a:t>
                      </a:r>
                    </a:p>
                  </a:txBody>
                  <a:tcPr>
                    <a:solidFill>
                      <a:srgbClr val="E7E6E6"/>
                    </a:solidFill>
                  </a:tcPr>
                </a:tc>
                <a:tc>
                  <a:txBody>
                    <a:bodyPr/>
                    <a:lstStyle/>
                    <a:p>
                      <a:r>
                        <a:rPr sz="1100"/>
                        <a:t>$1,197,000</a:t>
                      </a:r>
                    </a:p>
                  </a:txBody>
                  <a:tcPr>
                    <a:solidFill>
                      <a:srgbClr val="E7E6E6"/>
                    </a:solidFill>
                  </a:tcPr>
                </a:tc>
              </a:tr>
              <a:tr h="370840">
                <a:tc>
                  <a:txBody>
                    <a:bodyPr/>
                    <a:lstStyle/>
                    <a:p>
                      <a:r>
                        <a:rPr sz="1100"/>
                        <a:t>Support &amp; Maintenance</a:t>
                      </a:r>
                    </a:p>
                  </a:txBody>
                  <a:tcPr>
                    <a:solidFill>
                      <a:srgbClr val="E7E6E6"/>
                    </a:solidFill>
                  </a:tcPr>
                </a:tc>
                <a:tc>
                  <a:txBody>
                    <a:bodyPr/>
                    <a:lstStyle/>
                    <a:p>
                      <a:r>
                        <a:rPr sz="1100"/>
                        <a:t>$42,744</a:t>
                      </a:r>
                    </a:p>
                  </a:txBody>
                  <a:tcPr>
                    <a:solidFill>
                      <a:srgbClr val="E7E6E6"/>
                    </a:solidFill>
                  </a:tcPr>
                </a:tc>
                <a:tc>
                  <a:txBody>
                    <a:bodyPr/>
                    <a:lstStyle/>
                    <a:p>
                      <a:r>
                        <a:rPr sz="1100"/>
                        <a:t>$0</a:t>
                      </a:r>
                    </a:p>
                  </a:txBody>
                  <a:tcPr>
                    <a:solidFill>
                      <a:srgbClr val="E7E6E6"/>
                    </a:solidFill>
                  </a:tcPr>
                </a:tc>
                <a:tc>
                  <a:txBody>
                    <a:bodyPr/>
                    <a:lstStyle/>
                    <a:p>
                      <a:r>
                        <a:rPr sz="1100"/>
                        <a:t>$42,744</a:t>
                      </a:r>
                    </a:p>
                  </a:txBody>
                  <a:tcPr>
                    <a:solidFill>
                      <a:srgbClr val="E7E6E6"/>
                    </a:solidFill>
                  </a:tcPr>
                </a:tc>
                <a:tc>
                  <a:txBody>
                    <a:bodyPr/>
                    <a:lstStyle/>
                    <a:p>
                      <a:r>
                        <a:rPr sz="1100"/>
                        <a:t>$42,744</a:t>
                      </a:r>
                    </a:p>
                  </a:txBody>
                  <a:tcPr>
                    <a:solidFill>
                      <a:srgbClr val="E7E6E6"/>
                    </a:solidFill>
                  </a:tcPr>
                </a:tc>
                <a:tc>
                  <a:txBody>
                    <a:bodyPr/>
                    <a:lstStyle/>
                    <a:p>
                      <a:r>
                        <a:rPr sz="1100"/>
                        <a:t>$42,744</a:t>
                      </a:r>
                    </a:p>
                  </a:txBody>
                  <a:tcPr>
                    <a:solidFill>
                      <a:srgbClr val="E7E6E6"/>
                    </a:solidFill>
                  </a:tcPr>
                </a:tc>
                <a:tc>
                  <a:txBody>
                    <a:bodyPr/>
                    <a:lstStyle/>
                    <a:p>
                      <a:r>
                        <a:rPr sz="1100"/>
                        <a:t>$128,232</a:t>
                      </a:r>
                    </a:p>
                  </a:txBody>
                  <a:tcPr>
                    <a:solidFill>
                      <a:srgbClr val="E7E6E6"/>
                    </a:solidFill>
                  </a:tcPr>
                </a:tc>
              </a:tr>
              <a:tr h="370840">
                <a:tc>
                  <a:txBody>
                    <a:bodyPr/>
                    <a:lstStyle/>
                    <a:p>
                      <a:r>
                        <a:rPr b="1" sz="1100"/>
                        <a:t>TOTAL</a:t>
                      </a:r>
                    </a:p>
                  </a:txBody>
                  <a:tcPr>
                    <a:solidFill>
                      <a:srgbClr val="E7E6E6"/>
                    </a:solidFill>
                  </a:tcPr>
                </a:tc>
                <a:tc>
                  <a:txBody>
                    <a:bodyPr/>
                    <a:lstStyle/>
                    <a:p>
                      <a:r>
                        <a:rPr b="1" sz="1100"/>
                        <a:t>$544,744</a:t>
                      </a:r>
                    </a:p>
                  </a:txBody>
                  <a:tcPr>
                    <a:solidFill>
                      <a:srgbClr val="E7E6E6"/>
                    </a:solidFill>
                  </a:tcPr>
                </a:tc>
                <a:tc>
                  <a:txBody>
                    <a:bodyPr/>
                    <a:lstStyle/>
                    <a:p>
                      <a:r>
                        <a:rPr b="1" sz="1100"/>
                        <a:t>$0</a:t>
                      </a:r>
                    </a:p>
                  </a:txBody>
                  <a:tcPr>
                    <a:solidFill>
                      <a:srgbClr val="E7E6E6"/>
                    </a:solidFill>
                  </a:tcPr>
                </a:tc>
                <a:tc>
                  <a:txBody>
                    <a:bodyPr/>
                    <a:lstStyle/>
                    <a:p>
                      <a:r>
                        <a:rPr b="1" sz="1100"/>
                        <a:t>$544,744</a:t>
                      </a:r>
                    </a:p>
                  </a:txBody>
                  <a:tcPr>
                    <a:solidFill>
                      <a:srgbClr val="E7E6E6"/>
                    </a:solidFill>
                  </a:tcPr>
                </a:tc>
                <a:tc>
                  <a:txBody>
                    <a:bodyPr/>
                    <a:lstStyle/>
                    <a:p>
                      <a:r>
                        <a:rPr b="1" sz="1100"/>
                        <a:t>$465,744</a:t>
                      </a:r>
                    </a:p>
                  </a:txBody>
                  <a:tcPr>
                    <a:solidFill>
                      <a:srgbClr val="E7E6E6"/>
                    </a:solidFill>
                  </a:tcPr>
                </a:tc>
                <a:tc>
                  <a:txBody>
                    <a:bodyPr/>
                    <a:lstStyle/>
                    <a:p>
                      <a:r>
                        <a:rPr b="1" sz="1100"/>
                        <a:t>$465,744</a:t>
                      </a:r>
                    </a:p>
                  </a:txBody>
                  <a:tcPr>
                    <a:solidFill>
                      <a:srgbClr val="E7E6E6"/>
                    </a:solidFill>
                  </a:tcPr>
                </a:tc>
                <a:tc>
                  <a:txBody>
                    <a:bodyPr/>
                    <a:lstStyle/>
                    <a:p>
                      <a:r>
                        <a:rPr b="1" sz="1100"/>
                        <a:t>$1,476,232</a:t>
                      </a:r>
                    </a:p>
                  </a:txBody>
                  <a:tcPr>
                    <a:solidFill>
                      <a:srgbClr val="E7E6E6"/>
                    </a:solidFill>
                  </a:tcPr>
                </a:tc>
              </a:tr>
            </a:tbl>
          </a:graphicData>
        </a:graphic>
      </p:graphicFrame>
      <p:sp>
        <p:nvSpPr>
          <p:cNvPr id="5" name="Text Placeholder 4"/>
          <p:cNvSpPr>
            <a:spLocks noGrp="1"/>
          </p:cNvSpPr>
          <p:nvPr>
            <p:ph type="body" idx="15" sz="quarter"/>
          </p:nvPr>
        </p:nvSpPr>
        <p:spPr/>
        <p:txBody>
          <a:bodyPr/>
          <a:lstStyle/>
          <a:p>
            <a:pPr algn="r">
              <a:buNone/>
            </a:pPr>
            <a:r>
              <a:rPr sz="1100">
                <a:solidFill>
                  <a:srgbClr val="CC0000"/>
                </a:solidFill>
              </a:rPr>
              <a:t>Microsoft 365 Enterprise Deployment</a:t>
            </a:r>
          </a:p>
        </p:txBody>
      </p:sp>
      <p:pic>
        <p:nvPicPr>
          <p:cNvPr id="6" name="Picture 5" descr="consulting_company_logo.png"/>
          <p:cNvPicPr>
            <a:picLocks noChangeAspect="1"/>
          </p:cNvPicPr>
          <p:nvPr/>
        </p:nvPicPr>
        <p:blipFill>
          <a:blip r:embed="rId2"/>
          <a:stretch>
            <a:fillRect/>
          </a:stretch>
        </p:blipFill>
        <p:spPr>
          <a:xfrm>
            <a:off x="313592" y="4536078"/>
            <a:ext cx="2126273" cy="529698"/>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0" sz="quarter"/>
          </p:nvPr>
        </p:nvSpPr>
        <p:spPr/>
        <p:txBody>
          <a:bodyPr/>
          <a:lstStyle/>
          <a:p>
            <a:pPr algn="l"/>
            <a:r>
              <a:t>Next Steps</a:t>
            </a:r>
          </a:p>
        </p:txBody>
      </p:sp>
      <p:sp>
        <p:nvSpPr>
          <p:cNvPr id="4" name="Text Placeholder 3"/>
          <p:cNvSpPr>
            <a:spLocks noGrp="1"/>
          </p:cNvSpPr>
          <p:nvPr>
            <p:ph type="body" idx="14" sz="quarter"/>
          </p:nvPr>
        </p:nvSpPr>
        <p:spPr/>
        <p:txBody>
          <a:bodyPr/>
          <a:lstStyle/>
          <a:p>
            <a:pPr/>
            <a:r>
              <a:rPr b="1"/>
              <a:t>Decision:</a:t>
            </a:r>
            <a:r>
              <a:t> Executive approval for Microsoft 365 migration program by [specific date]</a:t>
            </a:r>
          </a:p>
          <a:p>
            <a:pPr/>
            <a:r>
              <a:rPr b="1"/>
              <a:t>Kickoff:</a:t>
            </a:r>
            <a:r>
              <a:t> Target Azure AD Connect deployment and pilot planning within 2 weeks of approval</a:t>
            </a:r>
          </a:p>
          <a:p>
            <a:pPr/>
            <a:r>
              <a:rPr b="1"/>
              <a:t>Team Formation:</a:t>
            </a:r>
            <a:r>
              <a:t> Identify IT lead Champions from each department and executive sponsor for change management</a:t>
            </a:r>
          </a:p>
          <a:p>
            <a:pPr/>
            <a:r>
              <a:rPr b="1"/>
              <a:t>Week 1-2:</a:t>
            </a:r>
            <a:r>
              <a:t> Contract finalization and M365 tenant provisioning with domain verification and DNS configuration</a:t>
            </a:r>
          </a:p>
          <a:p>
            <a:pPr/>
            <a:r>
              <a:rPr b="1"/>
              <a:t>Week 3-4:</a:t>
            </a:r>
            <a:r>
              <a:t> Pilot user selection and migration schedule planning with department managers and stakeholders</a:t>
            </a:r>
          </a:p>
        </p:txBody>
      </p:sp>
      <p:sp>
        <p:nvSpPr>
          <p:cNvPr id="5" name="Text Placeholder 4"/>
          <p:cNvSpPr>
            <a:spLocks noGrp="1"/>
          </p:cNvSpPr>
          <p:nvPr>
            <p:ph type="body" idx="15" sz="quarter"/>
          </p:nvPr>
        </p:nvSpPr>
        <p:spPr/>
        <p:txBody>
          <a:bodyPr/>
          <a:lstStyle/>
          <a:p>
            <a:pPr algn="r">
              <a:buNone/>
            </a:pPr>
            <a:r>
              <a:rPr sz="1100">
                <a:solidFill>
                  <a:srgbClr val="CC0000"/>
                </a:solidFill>
              </a:rPr>
              <a:t>Microsoft 365 Enterprise Deployment</a:t>
            </a:r>
          </a:p>
        </p:txBody>
      </p:sp>
      <p:pic>
        <p:nvPicPr>
          <p:cNvPr id="6" name="Picture 5" descr="consulting_company_logo.png"/>
          <p:cNvPicPr>
            <a:picLocks noChangeAspect="1"/>
          </p:cNvPicPr>
          <p:nvPr/>
        </p:nvPicPr>
        <p:blipFill>
          <a:blip r:embed="rId2"/>
          <a:stretch>
            <a:fillRect/>
          </a:stretch>
        </p:blipFill>
        <p:spPr>
          <a:xfrm>
            <a:off x="313593" y="4536078"/>
            <a:ext cx="2143858" cy="529698"/>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2" sz="quarter"/>
          </p:nvPr>
        </p:nvSpPr>
        <p:spPr/>
        <p:txBody>
          <a:bodyPr/>
          <a:lstStyle/>
          <a:p>
            <a:r>
              <a:t>Thank You</a:t>
            </a:r>
          </a:p>
        </p:txBody>
      </p:sp>
      <p:sp>
        <p:nvSpPr>
          <p:cNvPr id="5" name="Text Placeholder 4"/>
          <p:cNvSpPr>
            <a:spLocks noGrp="1"/>
          </p:cNvSpPr>
          <p:nvPr>
            <p:ph type="body" idx="14" sz="quarter"/>
          </p:nvPr>
        </p:nvSpPr>
        <p:spPr/>
        <p:txBody>
          <a:bodyPr/>
          <a:lstStyle/>
          <a:p/>
        </p:txBody>
      </p:sp>
      <p:sp>
        <p:nvSpPr>
          <p:cNvPr id="6" name="Text Placeholder 5"/>
          <p:cNvSpPr>
            <a:spLocks noGrp="1"/>
          </p:cNvSpPr>
          <p:nvPr>
            <p:ph type="body" idx="15" sz="quarter"/>
          </p:nvPr>
        </p:nvSpPr>
        <p:spPr/>
        <p:txBody>
          <a:bodyPr/>
          <a:lstStyle/>
          <a:p/>
        </p:txBody>
      </p:sp>
      <p:pic>
        <p:nvPicPr>
          <p:cNvPr id="7" name="Picture 6" descr="client_logo.png"/>
          <p:cNvPicPr>
            <a:picLocks noChangeAspect="1"/>
          </p:cNvPicPr>
          <p:nvPr/>
        </p:nvPicPr>
        <p:blipFill>
          <a:blip r:embed="rId2"/>
          <a:stretch>
            <a:fillRect/>
          </a:stretch>
        </p:blipFill>
        <p:spPr>
          <a:xfrm>
            <a:off x="2180492" y="171206"/>
            <a:ext cx="3978520" cy="1314694"/>
          </a:xfrm>
          <a:prstGeom prst="rect">
            <a:avLst/>
          </a:prstGeom>
        </p:spPr>
      </p:pic>
      <p:pic>
        <p:nvPicPr>
          <p:cNvPr id="8" name="Picture 7" descr="consulting_company_logo.png"/>
          <p:cNvPicPr>
            <a:picLocks noChangeAspect="1"/>
          </p:cNvPicPr>
          <p:nvPr/>
        </p:nvPicPr>
        <p:blipFill>
          <a:blip r:embed="rId3"/>
          <a:stretch>
            <a:fillRect/>
          </a:stretch>
        </p:blipFill>
        <p:spPr>
          <a:xfrm>
            <a:off x="313592" y="4536078"/>
            <a:ext cx="2164114" cy="529698"/>
          </a:xfrm>
          <a:prstGeom prst="rect">
            <a:avLst/>
          </a:prstGeom>
        </p:spPr>
      </p:pic>
      <p:pic>
        <p:nvPicPr>
          <p:cNvPr id="9" name="Picture 8" descr="eo-framework-logo-real.png"/>
          <p:cNvPicPr>
            <a:picLocks noChangeAspect="1"/>
          </p:cNvPicPr>
          <p:nvPr/>
        </p:nvPicPr>
        <p:blipFill>
          <a:blip r:embed="rId4"/>
          <a:stretch>
            <a:fillRect/>
          </a:stretch>
        </p:blipFill>
        <p:spPr>
          <a:xfrm>
            <a:off x="6684264" y="4535424"/>
            <a:ext cx="2139696" cy="530352"/>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440</TotalTime>
  <Words>42</Words>
  <Application>Microsoft Office PowerPoint</Application>
  <PresentationFormat>On-screen Show (16:9)</PresentationFormat>
  <Paragraphs>21</Paragraphs>
  <Slides>7</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Aptos</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EOFramework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EOFramework Template</dc:title>
  <dc:subject>PptxGenJS Presentation</dc:subject>
  <dc:creator>EOFramework</dc:creator>
  <cp:lastModifiedBy>Kishan Siram</cp:lastModifiedBy>
  <cp:revision>85</cp:revision>
  <dcterms:created xsi:type="dcterms:W3CDTF">2025-11-01T21:16:10Z</dcterms:created>
  <dcterms:modified xsi:type="dcterms:W3CDTF">2025-11-22T23:24:48Z</dcterms:modified>
</cp:coreProperties>
</file>