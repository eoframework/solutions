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Solution Briefing</a:t>
            </a:r>
          </a:p>
        </p:txBody>
      </p:sp>
      <p:sp>
        <p:nvSpPr>
          <p:cNvPr id="5" name="Text Placeholder 4"/>
          <p:cNvSpPr>
            <a:spLocks noGrp="1"/>
          </p:cNvSpPr>
          <p:nvPr>
            <p:ph type="body" idx="14" sz="quarter"/>
          </p:nvPr>
        </p:nvSpPr>
        <p:spPr/>
        <p:txBody>
          <a:bodyPr/>
          <a:lstStyle/>
          <a:p>
            <a:r>
              <a:t>Cisco HyperFlex Hybrid Infrastructure</a:t>
            </a:r>
          </a:p>
        </p:txBody>
      </p:sp>
      <p:sp>
        <p:nvSpPr>
          <p:cNvPr id="6" name="Text Placeholder 5"/>
          <p:cNvSpPr>
            <a:spLocks noGrp="1"/>
          </p:cNvSpPr>
          <p:nvPr>
            <p:ph type="body" idx="15" sz="quarter"/>
          </p:nvPr>
        </p:nvSpPr>
        <p:spPr/>
        <p:txBody>
          <a:bodyPr/>
          <a:lstStyle/>
          <a:p>
            <a:r>
              <a:t>['Presenter Name'] | November 22,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Business Opportunity</a:t>
            </a:r>
          </a:p>
        </p:txBody>
      </p:sp>
      <p:sp>
        <p:nvSpPr>
          <p:cNvPr id="4" name="Text Placeholder 3"/>
          <p:cNvSpPr>
            <a:spLocks noGrp="1"/>
          </p:cNvSpPr>
          <p:nvPr>
            <p:ph type="body" idx="16" sz="quarter"/>
          </p:nvPr>
        </p:nvSpPr>
        <p:spPr/>
        <p:txBody>
          <a:bodyPr/>
          <a:lstStyle/>
          <a:p>
            <a:pPr/>
            <a:r>
              <a:rPr b="1"/>
              <a:t>Opportunity</a:t>
            </a:r>
          </a:p>
          <a:p>
            <a:pPr lvl="1"/>
            <a:r>
              <a:t>Consolidate 40+ servers and SAN into 4-node HyperFlex cluster reducing data center footprint by 70%</a:t>
            </a:r>
          </a:p>
          <a:p>
            <a:pPr lvl="1"/>
            <a:r>
              <a:t>Achieve 10x bandwidth increase and 50% CapEx savings vs traditional 3-tier infrastructure</a:t>
            </a:r>
          </a:p>
          <a:p>
            <a:pPr lvl="1"/>
            <a:r>
              <a:t>Deploy new VMs in 10 minutes vs 4-8 hours with integrated compute and storage</a:t>
            </a:r>
          </a:p>
        </p:txBody>
      </p:sp>
      <p:sp>
        <p:nvSpPr>
          <p:cNvPr id="5" name="Text Placeholder 4"/>
          <p:cNvSpPr>
            <a:spLocks noGrp="1"/>
          </p:cNvSpPr>
          <p:nvPr>
            <p:ph type="body" idx="17" sz="quarter"/>
          </p:nvPr>
        </p:nvSpPr>
        <p:spPr/>
        <p:txBody>
          <a:bodyPr/>
          <a:lstStyle/>
          <a:p>
            <a:pPr/>
            <a:r>
              <a:rPr b="1"/>
              <a:t>Success Criteria</a:t>
            </a:r>
          </a:p>
          <a:p>
            <a:pPr lvl="1"/>
            <a:r>
              <a:t>70% data center space reduction from 42U to 8U rack footprint</a:t>
            </a:r>
          </a:p>
          <a:p>
            <a:pPr lvl="1"/>
            <a:r>
              <a:t>90% faster VM provisioning with automated deployment</a:t>
            </a:r>
          </a:p>
          <a:p>
            <a:pPr lvl="1"/>
            <a:r>
              <a:t>ROI realization within 30 months through consolidation and efficiency</a:t>
            </a:r>
          </a:p>
        </p:txBody>
      </p:sp>
      <p:sp>
        <p:nvSpPr>
          <p:cNvPr id="6" name="Text Placeholder 5"/>
          <p:cNvSpPr>
            <a:spLocks noGrp="1"/>
          </p:cNvSpPr>
          <p:nvPr>
            <p:ph type="body" idx="15" sz="quarter"/>
          </p:nvPr>
        </p:nvSpPr>
        <p:spPr/>
        <p:txBody>
          <a:bodyPr/>
          <a:lstStyle/>
          <a:p>
            <a:pPr algn="r">
              <a:buNone/>
            </a:pPr>
            <a:r>
              <a:rPr sz="1100">
                <a:solidFill>
                  <a:srgbClr val="CC0000"/>
                </a:solidFill>
              </a:rPr>
              <a:t>Cisco HyperFlex Hybrid Infrastructure</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Engagement Scope</a:t>
            </a:r>
          </a:p>
        </p:txBody>
      </p:sp>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Primary Features/Capabilities</a:t>
                      </a:r>
                    </a:p>
                  </a:txBody>
                  <a:tcPr>
                    <a:solidFill>
                      <a:srgbClr val="E7E6E6"/>
                    </a:solidFill>
                  </a:tcPr>
                </a:tc>
                <a:tc>
                  <a:txBody>
                    <a:bodyPr/>
                    <a:lstStyle/>
                    <a:p>
                      <a:r>
                        <a:rPr sz="1100"/>
                        <a:t>HyperFlex 4-node for 200-300 VMs</a:t>
                      </a:r>
                    </a:p>
                  </a:txBody>
                  <a:tcPr>
                    <a:solidFill>
                      <a:srgbClr val="E7E6E6"/>
                    </a:solidFill>
                  </a:tcPr>
                </a:tc>
                <a:tc>
                  <a:txBody>
                    <a:bodyPr/>
                    <a:lstStyle/>
                    <a:p/>
                  </a:txBody>
                  <a:tcPr>
                    <a:solidFill>
                      <a:srgbClr val="FFFFFF"/>
                    </a:solidFill>
                  </a:tcPr>
                </a:tc>
                <a:tc>
                  <a:txBody>
                    <a:bodyPr/>
                    <a:lstStyle/>
                    <a:p>
                      <a:r>
                        <a:rPr b="1" sz="1100"/>
                        <a:t>Availability Requirements</a:t>
                      </a:r>
                    </a:p>
                  </a:txBody>
                  <a:tcPr>
                    <a:solidFill>
                      <a:srgbClr val="E7E6E6"/>
                    </a:solidFill>
                  </a:tcPr>
                </a:tc>
                <a:tc>
                  <a:txBody>
                    <a:bodyPr/>
                    <a:lstStyle/>
                    <a:p>
                      <a:r>
                        <a:rPr sz="1100"/>
                        <a:t>Standard (99.5%)</a:t>
                      </a:r>
                    </a:p>
                  </a:txBody>
                  <a:tcPr>
                    <a:solidFill>
                      <a:srgbClr val="E7E6E6"/>
                    </a:solidFill>
                  </a:tcPr>
                </a:tc>
              </a:tr>
              <a:tr h="370840">
                <a:tc>
                  <a:txBody>
                    <a:bodyPr/>
                    <a:lstStyle/>
                    <a:p>
                      <a:r>
                        <a:rPr b="1" sz="1100"/>
                        <a:t>Customization Level</a:t>
                      </a:r>
                    </a:p>
                  </a:txBody>
                  <a:tcPr>
                    <a:solidFill>
                      <a:srgbClr val="E7E6E6"/>
                    </a:solidFill>
                  </a:tcPr>
                </a:tc>
                <a:tc>
                  <a:txBody>
                    <a:bodyPr/>
                    <a:lstStyle/>
                    <a:p>
                      <a:r>
                        <a:rPr sz="1100"/>
                        <a:t>Standard HyperFlex deployment</a:t>
                      </a:r>
                    </a:p>
                  </a:txBody>
                  <a:tcPr>
                    <a:solidFill>
                      <a:srgbClr val="E7E6E6"/>
                    </a:solidFill>
                  </a:tcPr>
                </a:tc>
                <a:tc>
                  <a:txBody>
                    <a:bodyPr/>
                    <a:lstStyle/>
                    <a:p/>
                  </a:txBody>
                  <a:tcPr>
                    <a:solidFill>
                      <a:srgbClr val="FFFFFF"/>
                    </a:solidFill>
                  </a:tcPr>
                </a:tc>
                <a:tc>
                  <a:txBody>
                    <a:bodyPr/>
                    <a:lstStyle/>
                    <a:p>
                      <a:r>
                        <a:rPr b="1" sz="1100"/>
                        <a:t>Infrastructure Complexity</a:t>
                      </a:r>
                    </a:p>
                  </a:txBody>
                  <a:tcPr>
                    <a:solidFill>
                      <a:srgbClr val="E7E6E6"/>
                    </a:solidFill>
                  </a:tcPr>
                </a:tc>
                <a:tc>
                  <a:txBody>
                    <a:bodyPr/>
                    <a:lstStyle/>
                    <a:p>
                      <a:r>
                        <a:rPr sz="1100"/>
                        <a:t>Basic 3-tier compute storage network</a:t>
                      </a:r>
                    </a:p>
                  </a:txBody>
                  <a:tcPr>
                    <a:solidFill>
                      <a:srgbClr val="E7E6E6"/>
                    </a:solidFill>
                  </a:tcPr>
                </a:tc>
              </a:tr>
              <a:tr h="370840">
                <a:tc>
                  <a:txBody>
                    <a:bodyPr/>
                    <a:lstStyle/>
                    <a:p>
                      <a:r>
                        <a:rPr b="1" sz="1100"/>
                        <a:t>External System Integrations</a:t>
                      </a:r>
                    </a:p>
                  </a:txBody>
                  <a:tcPr>
                    <a:solidFill>
                      <a:srgbClr val="E7E6E6"/>
                    </a:solidFill>
                  </a:tcPr>
                </a:tc>
                <a:tc>
                  <a:txBody>
                    <a:bodyPr/>
                    <a:lstStyle/>
                    <a:p>
                      <a:r>
                        <a:rPr sz="1100"/>
                        <a:t>2 systems (vCenter + backup)</a:t>
                      </a:r>
                    </a:p>
                  </a:txBody>
                  <a:tcPr>
                    <a:solidFill>
                      <a:srgbClr val="E7E6E6"/>
                    </a:solidFill>
                  </a:tcPr>
                </a:tc>
                <a:tc>
                  <a:txBody>
                    <a:bodyPr/>
                    <a:lstStyle/>
                    <a:p/>
                  </a:txBody>
                  <a:tcPr>
                    <a:solidFill>
                      <a:srgbClr val="FFFFFF"/>
                    </a:solidFill>
                  </a:tcPr>
                </a:tc>
                <a:tc>
                  <a:txBody>
                    <a:bodyPr/>
                    <a:lstStyle/>
                    <a:p>
                      <a:r>
                        <a:rPr b="1" sz="1100"/>
                        <a:t>Security Requirements</a:t>
                      </a:r>
                    </a:p>
                  </a:txBody>
                  <a:tcPr>
                    <a:solidFill>
                      <a:srgbClr val="E7E6E6"/>
                    </a:solidFill>
                  </a:tcPr>
                </a:tc>
                <a:tc>
                  <a:txBody>
                    <a:bodyPr/>
                    <a:lstStyle/>
                    <a:p>
                      <a:r>
                        <a:rPr sz="1100"/>
                        <a:t>Basic encryption and RBAC</a:t>
                      </a:r>
                    </a:p>
                  </a:txBody>
                  <a:tcPr>
                    <a:solidFill>
                      <a:srgbClr val="E7E6E6"/>
                    </a:solidFill>
                  </a:tcPr>
                </a:tc>
              </a:tr>
              <a:tr h="370840">
                <a:tc>
                  <a:txBody>
                    <a:bodyPr/>
                    <a:lstStyle/>
                    <a:p>
                      <a:r>
                        <a:rPr b="1" sz="1100"/>
                        <a:t>Data Sources</a:t>
                      </a:r>
                    </a:p>
                  </a:txBody>
                  <a:tcPr>
                    <a:solidFill>
                      <a:srgbClr val="E7E6E6"/>
                    </a:solidFill>
                  </a:tcPr>
                </a:tc>
                <a:tc>
                  <a:txBody>
                    <a:bodyPr/>
                    <a:lstStyle/>
                    <a:p>
                      <a:r>
                        <a:rPr sz="1100"/>
                        <a:t>VM inventory only</a:t>
                      </a:r>
                    </a:p>
                  </a:txBody>
                  <a:tcPr>
                    <a:solidFill>
                      <a:srgbClr val="E7E6E6"/>
                    </a:solidFill>
                  </a:tcPr>
                </a:tc>
                <a:tc>
                  <a:txBody>
                    <a:bodyPr/>
                    <a:lstStyle/>
                    <a:p/>
                  </a:txBody>
                  <a:tcPr>
                    <a:solidFill>
                      <a:srgbClr val="FFFFFF"/>
                    </a:solidFill>
                  </a:tcPr>
                </a:tc>
                <a:tc>
                  <a:txBody>
                    <a:bodyPr/>
                    <a:lstStyle/>
                    <a:p>
                      <a:r>
                        <a:rPr b="1" sz="1100"/>
                        <a:t>Compliance Frameworks</a:t>
                      </a:r>
                    </a:p>
                  </a:txBody>
                  <a:tcPr>
                    <a:solidFill>
                      <a:srgbClr val="E7E6E6"/>
                    </a:solidFill>
                  </a:tcPr>
                </a:tc>
                <a:tc>
                  <a:txBody>
                    <a:bodyPr/>
                    <a:lstStyle/>
                    <a:p>
                      <a:r>
                        <a:rPr sz="1100"/>
                        <a:t>Basic logging</a:t>
                      </a:r>
                    </a:p>
                  </a:txBody>
                  <a:tcPr>
                    <a:solidFill>
                      <a:srgbClr val="E7E6E6"/>
                    </a:solidFill>
                  </a:tcPr>
                </a:tc>
              </a:tr>
              <a:tr h="370840">
                <a:tc>
                  <a:txBody>
                    <a:bodyPr/>
                    <a:lstStyle/>
                    <a:p>
                      <a:r>
                        <a:rPr b="1" sz="1100"/>
                        <a:t>Total Users</a:t>
                      </a:r>
                    </a:p>
                  </a:txBody>
                  <a:tcPr>
                    <a:solidFill>
                      <a:srgbClr val="E7E6E6"/>
                    </a:solidFill>
                  </a:tcPr>
                </a:tc>
                <a:tc>
                  <a:txBody>
                    <a:bodyPr/>
                    <a:lstStyle/>
                    <a:p>
                      <a:r>
                        <a:rPr sz="1100"/>
                        <a:t>10 infrastructure admins</a:t>
                      </a:r>
                    </a:p>
                  </a:txBody>
                  <a:tcPr>
                    <a:solidFill>
                      <a:srgbClr val="E7E6E6"/>
                    </a:solidFill>
                  </a:tcPr>
                </a:tc>
                <a:tc>
                  <a:txBody>
                    <a:bodyPr/>
                    <a:lstStyle/>
                    <a:p/>
                  </a:txBody>
                  <a:tcPr>
                    <a:solidFill>
                      <a:srgbClr val="FFFFFF"/>
                    </a:solidFill>
                  </a:tcPr>
                </a:tc>
                <a:tc>
                  <a:txBody>
                    <a:bodyPr/>
                    <a:lstStyle/>
                    <a:p>
                      <a:r>
                        <a:rPr b="1" sz="1100"/>
                        <a:t>Performance Requirements</a:t>
                      </a:r>
                    </a:p>
                  </a:txBody>
                  <a:tcPr>
                    <a:solidFill>
                      <a:srgbClr val="E7E6E6"/>
                    </a:solidFill>
                  </a:tcPr>
                </a:tc>
                <a:tc>
                  <a:txBody>
                    <a:bodyPr/>
                    <a:lstStyle/>
                    <a:p>
                      <a:r>
                        <a:rPr sz="1100"/>
                        <a:t>Standard IOPS and latency</a:t>
                      </a:r>
                    </a:p>
                  </a:txBody>
                  <a:tcPr>
                    <a:solidFill>
                      <a:srgbClr val="E7E6E6"/>
                    </a:solidFill>
                  </a:tcPr>
                </a:tc>
              </a:tr>
              <a:tr h="370840">
                <a:tc>
                  <a:txBody>
                    <a:bodyPr/>
                    <a:lstStyle/>
                    <a:p>
                      <a:r>
                        <a:rPr b="1" sz="1100"/>
                        <a:t>User Roles</a:t>
                      </a:r>
                    </a:p>
                  </a:txBody>
                  <a:tcPr>
                    <a:solidFill>
                      <a:srgbClr val="E7E6E6"/>
                    </a:solidFill>
                  </a:tcPr>
                </a:tc>
                <a:tc>
                  <a:txBody>
                    <a:bodyPr/>
                    <a:lstStyle/>
                    <a:p>
                      <a:r>
                        <a:rPr sz="1100"/>
                        <a:t>2 roles (admin + operator)</a:t>
                      </a:r>
                    </a:p>
                  </a:txBody>
                  <a:tcPr>
                    <a:solidFill>
                      <a:srgbClr val="E7E6E6"/>
                    </a:solidFill>
                  </a:tcPr>
                </a:tc>
                <a:tc>
                  <a:txBody>
                    <a:bodyPr/>
                    <a:lstStyle/>
                    <a:p/>
                  </a:txBody>
                  <a:tcPr>
                    <a:solidFill>
                      <a:srgbClr val="FFFFFF"/>
                    </a:solidFill>
                  </a:tcPr>
                </a:tc>
                <a:tc>
                  <a:txBody>
                    <a:bodyPr/>
                    <a:lstStyle/>
                    <a:p>
                      <a:r>
                        <a:rPr b="1" sz="1100"/>
                        <a:t>Deployment Environments</a:t>
                      </a:r>
                    </a:p>
                  </a:txBody>
                  <a:tcPr>
                    <a:solidFill>
                      <a:srgbClr val="E7E6E6"/>
                    </a:solidFill>
                  </a:tcPr>
                </a:tc>
                <a:tc>
                  <a:txBody>
                    <a:bodyPr/>
                    <a:lstStyle/>
                    <a:p>
                      <a:r>
                        <a:rPr sz="1100"/>
                        <a:t>Production only</a:t>
                      </a:r>
                    </a:p>
                  </a:txBody>
                  <a:tcPr>
                    <a:solidFill>
                      <a:srgbClr val="E7E6E6"/>
                    </a:solidFill>
                  </a:tcPr>
                </a:tc>
              </a:tr>
              <a:tr h="370840">
                <a:tc>
                  <a:txBody>
                    <a:bodyPr/>
                    <a:lstStyle/>
                    <a:p>
                      <a:r>
                        <a:rPr b="1" sz="1100"/>
                        <a:t>Data Processing Volume</a:t>
                      </a:r>
                    </a:p>
                  </a:txBody>
                  <a:tcPr>
                    <a:solidFill>
                      <a:srgbClr val="E7E6E6"/>
                    </a:solidFill>
                  </a:tcPr>
                </a:tc>
                <a:tc>
                  <a:txBody>
                    <a:bodyPr/>
                    <a:lstStyle/>
                    <a:p>
                      <a:r>
                        <a:rPr sz="1100"/>
                        <a:t>200-300 VMs workload</a:t>
                      </a:r>
                    </a:p>
                  </a:txBody>
                  <a:tcPr>
                    <a:solidFill>
                      <a:srgbClr val="E7E6E6"/>
                    </a:solidFill>
                  </a:tcPr>
                </a:tc>
                <a:tc>
                  <a:txBody>
                    <a:bodyPr/>
                    <a:lstStyle/>
                    <a:p/>
                  </a:txBody>
                  <a:tcPr>
                    <a:solidFill>
                      <a:srgbClr val="FFFFFF"/>
                    </a:solidFill>
                  </a:tcPr>
                </a:tc>
                <a:tc>
                  <a:txBody>
                    <a:bodyPr/>
                    <a:lstStyle/>
                    <a:p>
                      <a:r>
                        <a:rPr b="1" sz="1100"/>
                        <a:t>Data Storage Requirements</a:t>
                      </a:r>
                    </a:p>
                  </a:txBody>
                  <a:tcPr>
                    <a:solidFill>
                      <a:srgbClr val="E7E6E6"/>
                    </a:solidFill>
                  </a:tcPr>
                </a:tc>
                <a:tc>
                  <a:txBody>
                    <a:bodyPr/>
                    <a:lstStyle/>
                    <a:p>
                      <a:r>
                        <a:rPr sz="1100"/>
                        <a:t>20 TB usable storage</a:t>
                      </a:r>
                    </a:p>
                  </a:txBody>
                  <a:tcPr>
                    <a:solidFill>
                      <a:srgbClr val="E7E6E6"/>
                    </a:solidFill>
                  </a:tcPr>
                </a:tc>
              </a:tr>
              <a:tr h="370840">
                <a:tc>
                  <a:txBody>
                    <a:bodyPr/>
                    <a:lstStyle/>
                    <a:p>
                      <a:r>
                        <a:rPr b="1" sz="1100"/>
                        <a:t>Deployment Regions</a:t>
                      </a:r>
                    </a:p>
                  </a:txBody>
                  <a:tcPr>
                    <a:solidFill>
                      <a:srgbClr val="E7E6E6"/>
                    </a:solidFill>
                  </a:tcPr>
                </a:tc>
                <a:tc>
                  <a:txBody>
                    <a:bodyPr/>
                    <a:lstStyle/>
                    <a:p>
                      <a:r>
                        <a:rPr sz="1100"/>
                        <a:t>Single data center</a:t>
                      </a:r>
                    </a:p>
                  </a:txBody>
                  <a:tcPr>
                    <a:solidFill>
                      <a:srgbClr val="E7E6E6"/>
                    </a:solidFill>
                  </a:tcPr>
                </a:tc>
                <a:tc>
                  <a:txBody>
                    <a:bodyPr/>
                    <a:lstStyle/>
                    <a:p/>
                  </a:txBody>
                  <a:tcPr>
                    <a:solidFill>
                      <a:srgbClr val="FFFFFF"/>
                    </a:solidFill>
                  </a:tcPr>
                </a:tc>
                <a:tc>
                  <a:txBody>
                    <a:bodyPr/>
                    <a:lstStyle/>
                    <a:p/>
                  </a:txBody>
                  <a:tcPr>
                    <a:solidFill>
                      <a:srgbClr val="E7E6E6"/>
                    </a:solidFill>
                  </a:tcPr>
                </a:tc>
                <a:tc>
                  <a:txBody>
                    <a:bodyPr/>
                    <a:lstStyle/>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Cisco HyperFlex Hybrid Infrastructure</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Solution Overview</a:t>
            </a:r>
          </a:p>
        </p:txBody>
      </p:sp>
      <p:sp>
        <p:nvSpPr>
          <p:cNvPr id="5" name="Text Placeholder 4"/>
          <p:cNvSpPr>
            <a:spLocks noGrp="1"/>
          </p:cNvSpPr>
          <p:nvPr>
            <p:ph type="body" idx="16" sz="quarter"/>
          </p:nvPr>
        </p:nvSpPr>
        <p:spPr/>
        <p:txBody>
          <a:bodyPr/>
          <a:lstStyle/>
          <a:p>
            <a:pPr/>
            <a:r>
              <a:rPr b="1"/>
              <a:t>Key Components</a:t>
            </a:r>
          </a:p>
          <a:p>
            <a:pPr lvl="1"/>
            <a:r>
              <a:t>4x HyperFlex HX240c M5 nodes with dual Xeon Gold, 768 GB RAM, 7.68 TB NVMe per node</a:t>
            </a:r>
          </a:p>
          <a:p>
            <a:pPr lvl="1"/>
            <a:r>
              <a:t>Cisco UCS 6454 Fabric Interconnects providing unified 25GbE network and SAN fabric</a:t>
            </a:r>
          </a:p>
          <a:p>
            <a:pPr lvl="1"/>
            <a:r>
              <a:t>VMware vSphere 8 with integrated HyperFlex distributed storage and data services</a:t>
            </a:r>
          </a:p>
          <a:p>
            <a:pPr/>
            <a:r>
              <a:rPr b="1"/>
              <a:t>Technology Stack</a:t>
            </a:r>
          </a:p>
          <a:p>
            <a:pPr lvl="1"/>
            <a:r>
              <a:t>Hypervisor: VMware vSphere 8 Enterprise Plus</a:t>
            </a:r>
          </a:p>
          <a:p>
            <a:pPr lvl="1"/>
            <a:r>
              <a:t>Storage: HyperFlex Data Platform with dedup, compression, snapshots</a:t>
            </a:r>
          </a:p>
          <a:p>
            <a:pPr lvl="1"/>
            <a:r>
              <a:t>Management: Cisco Intersight cloud-based unified management</a:t>
            </a:r>
          </a:p>
          <a:p>
            <a:pPr lvl="1"/>
            <a:r>
              <a:t>Backup: Veeam integration with snapshot-based backups</a:t>
            </a:r>
          </a:p>
        </p:txBody>
      </p:sp>
      <p:sp>
        <p:nvSpPr>
          <p:cNvPr id="6" name="Text Placeholder 5"/>
          <p:cNvSpPr>
            <a:spLocks noGrp="1"/>
          </p:cNvSpPr>
          <p:nvPr>
            <p:ph type="body" idx="17" sz="quarter"/>
          </p:nvPr>
        </p:nvSpPr>
        <p:spPr/>
        <p:txBody>
          <a:bodyPr/>
          <a:lstStyle/>
          <a:p>
            <a:pPr algn="r">
              <a:buNone/>
            </a:pPr>
            <a:r>
              <a:rPr sz="1100">
                <a:solidFill>
                  <a:srgbClr val="CC0000"/>
                </a:solidFill>
              </a:rPr>
              <a:t>Cisco HyperFlex Hybrid Infrastructure</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3"/>
          <a:stretch>
            <a:fillRect/>
          </a:stretch>
        </p:blipFill>
        <p:spPr>
          <a:xfrm>
            <a:off x="313592" y="4536078"/>
            <a:ext cx="2130670"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Implementation Approach</a:t>
            </a:r>
          </a:p>
        </p:txBody>
      </p:sp>
      <p:sp>
        <p:nvSpPr>
          <p:cNvPr id="4" name="Text Placeholder 3"/>
          <p:cNvSpPr>
            <a:spLocks noGrp="1"/>
          </p:cNvSpPr>
          <p:nvPr>
            <p:ph type="body" idx="14" sz="quarter"/>
          </p:nvPr>
        </p:nvSpPr>
        <p:spPr/>
        <p:txBody>
          <a:bodyPr/>
          <a:lstStyle/>
          <a:p>
            <a:pPr/>
            <a:r>
              <a:rPr b="1"/>
              <a:t>Phase 1: Design &amp; Deployment (Weeks 1-4)</a:t>
            </a:r>
          </a:p>
          <a:p>
            <a:pPr lvl="1"/>
            <a:r>
              <a:t>Infrastructure assessment, HyperFlex sizing, and architecture design</a:t>
            </a:r>
          </a:p>
          <a:p>
            <a:pPr lvl="1"/>
            <a:r>
              <a:t>HyperFlex 4-node cluster deployment with vSphere and HA configuration</a:t>
            </a:r>
          </a:p>
          <a:p>
            <a:pPr lvl="1"/>
            <a:r>
              <a:t>Intersight integration and network fabric setup</a:t>
            </a:r>
          </a:p>
          <a:p>
            <a:pPr/>
            <a:r>
              <a:rPr b="1"/>
              <a:t>Phase 2: VM Migration (Weeks 5-9)</a:t>
            </a:r>
          </a:p>
          <a:p>
            <a:pPr lvl="1"/>
            <a:r>
              <a:t>Pilot migration with 20 non-critical VMs for validation</a:t>
            </a:r>
          </a:p>
          <a:p>
            <a:pPr lvl="1"/>
            <a:r>
              <a:t>Production migration in 3 waves: 150 VMs via vMotion with zero downtime</a:t>
            </a:r>
          </a:p>
          <a:p>
            <a:pPr lvl="1"/>
            <a:r>
              <a:t>Critical workload migration including databases and business applications</a:t>
            </a:r>
          </a:p>
          <a:p>
            <a:pPr/>
            <a:r>
              <a:rPr b="1"/>
              <a:t>Phase 3: Optimization &amp; Training (Weeks 10-12)</a:t>
            </a:r>
          </a:p>
          <a:p>
            <a:pPr lvl="1"/>
            <a:r>
              <a:t>Performance tuning and backup integration with Veeam</a:t>
            </a:r>
          </a:p>
          <a:p>
            <a:pPr lvl="1"/>
            <a:r>
              <a:t>Team training (24 hours) and knowledge transfer</a:t>
            </a:r>
          </a:p>
          <a:p>
            <a:pPr lvl="1"/>
            <a:r>
              <a:t>Hypercare support and legacy infrastructure decommission</a:t>
            </a:r>
          </a:p>
        </p:txBody>
      </p:sp>
      <p:sp>
        <p:nvSpPr>
          <p:cNvPr id="5" name="Text Placeholder 4"/>
          <p:cNvSpPr>
            <a:spLocks noGrp="1"/>
          </p:cNvSpPr>
          <p:nvPr>
            <p:ph type="body" idx="15" sz="quarter"/>
          </p:nvPr>
        </p:nvSpPr>
        <p:spPr/>
        <p:txBody>
          <a:bodyPr/>
          <a:lstStyle/>
          <a:p>
            <a:pPr algn="r">
              <a:buNone/>
            </a:pPr>
            <a:r>
              <a:rPr sz="1100">
                <a:solidFill>
                  <a:srgbClr val="CC0000"/>
                </a:solidFill>
              </a:rPr>
              <a:t>Cisco HyperFlex Hybrid Infrastructure</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Timeline &amp; Milestones</a:t>
            </a:r>
          </a:p>
        </p:txBody>
      </p:sp>
      <p:graphicFrame>
        <p:nvGraphicFramePr>
          <p:cNvPr id="4" name="Table Placeholder 3"/>
          <p:cNvGraphicFramePr>
            <a:graphicFrameLocks noGrp="1"/>
          </p:cNvGraphicFramePr>
          <p:nvPr>
            <p:ph type="tbl" idx="14" sz="quarter"/>
          </p:nvPr>
        </p:nvGraphicFramePr>
        <p:xfrm>
          <a:off x="256855" y="677011"/>
          <a:ext cx="8710931" cy="185420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Design &amp; Planning</a:t>
                      </a:r>
                    </a:p>
                  </a:txBody>
                  <a:tcPr>
                    <a:solidFill>
                      <a:srgbClr val="E7E6E6"/>
                    </a:solidFill>
                  </a:tcPr>
                </a:tc>
                <a:tc>
                  <a:txBody>
                    <a:bodyPr/>
                    <a:lstStyle/>
                    <a:p>
                      <a:r>
                        <a:rPr sz="1100"/>
                        <a:t>Weeks 1-2</a:t>
                      </a:r>
                    </a:p>
                  </a:txBody>
                  <a:tcPr>
                    <a:solidFill>
                      <a:srgbClr val="E7E6E6"/>
                    </a:solidFill>
                  </a:tcPr>
                </a:tc>
                <a:tc>
                  <a:txBody>
                    <a:bodyPr/>
                    <a:lstStyle/>
                    <a:p>
                      <a:r>
                        <a:rPr sz="1100"/>
                        <a:t>Workload assessment complete (72 hrs), Architecture designed, Migration strategy defined</a:t>
                      </a:r>
                    </a:p>
                  </a:txBody>
                  <a:tcPr>
                    <a:solidFill>
                      <a:srgbClr val="E7E6E6"/>
                    </a:solidFill>
                  </a:tcPr>
                </a:tc>
              </a:tr>
              <a:tr h="370840">
                <a:tc>
                  <a:txBody>
                    <a:bodyPr/>
                    <a:lstStyle/>
                    <a:p>
                      <a:r>
                        <a:rPr sz="1100"/>
                        <a:t>Phase 2</a:t>
                      </a:r>
                    </a:p>
                  </a:txBody>
                  <a:tcPr>
                    <a:solidFill>
                      <a:srgbClr val="E7E6E6"/>
                    </a:solidFill>
                  </a:tcPr>
                </a:tc>
                <a:tc>
                  <a:txBody>
                    <a:bodyPr/>
                    <a:lstStyle/>
                    <a:p>
                      <a:r>
                        <a:rPr sz="1100"/>
                        <a:t>Infrastructure Deployment</a:t>
                      </a:r>
                    </a:p>
                  </a:txBody>
                  <a:tcPr>
                    <a:solidFill>
                      <a:srgbClr val="E7E6E6"/>
                    </a:solidFill>
                  </a:tcPr>
                </a:tc>
                <a:tc>
                  <a:txBody>
                    <a:bodyPr/>
                    <a:lstStyle/>
                    <a:p>
                      <a:r>
                        <a:rPr sz="1100"/>
                        <a:t>Weeks 3-4</a:t>
                      </a:r>
                    </a:p>
                  </a:txBody>
                  <a:tcPr>
                    <a:solidFill>
                      <a:srgbClr val="E7E6E6"/>
                    </a:solidFill>
                  </a:tcPr>
                </a:tc>
                <a:tc>
                  <a:txBody>
                    <a:bodyPr/>
                    <a:lstStyle/>
                    <a:p>
                      <a:r>
                        <a:rPr sz="1100"/>
                        <a:t>HyperFlex cluster operational (80 hrs), vSphere configured (72 hrs), Intersight integrated (20 hrs)</a:t>
                      </a:r>
                    </a:p>
                  </a:txBody>
                  <a:tcPr>
                    <a:solidFill>
                      <a:srgbClr val="E7E6E6"/>
                    </a:solidFill>
                  </a:tcPr>
                </a:tc>
              </a:tr>
              <a:tr h="370840">
                <a:tc>
                  <a:txBody>
                    <a:bodyPr/>
                    <a:lstStyle/>
                    <a:p>
                      <a:r>
                        <a:rPr sz="1100"/>
                        <a:t>Phase 3</a:t>
                      </a:r>
                    </a:p>
                  </a:txBody>
                  <a:tcPr>
                    <a:solidFill>
                      <a:srgbClr val="E7E6E6"/>
                    </a:solidFill>
                  </a:tcPr>
                </a:tc>
                <a:tc>
                  <a:txBody>
                    <a:bodyPr/>
                    <a:lstStyle/>
                    <a:p>
                      <a:r>
                        <a:rPr sz="1100"/>
                        <a:t>VM Migration</a:t>
                      </a:r>
                    </a:p>
                  </a:txBody>
                  <a:tcPr>
                    <a:solidFill>
                      <a:srgbClr val="E7E6E6"/>
                    </a:solidFill>
                  </a:tcPr>
                </a:tc>
                <a:tc>
                  <a:txBody>
                    <a:bodyPr/>
                    <a:lstStyle/>
                    <a:p>
                      <a:r>
                        <a:rPr sz="1100"/>
                        <a:t>Weeks 5-8</a:t>
                      </a:r>
                    </a:p>
                  </a:txBody>
                  <a:tcPr>
                    <a:solidFill>
                      <a:srgbClr val="E7E6E6"/>
                    </a:solidFill>
                  </a:tcPr>
                </a:tc>
                <a:tc>
                  <a:txBody>
                    <a:bodyPr/>
                    <a:lstStyle/>
                    <a:p>
                      <a:r>
                        <a:rPr sz="1100"/>
                        <a:t>Pilot validated (20 VMs), Wave migrations complete (150 VMs), Critical workloads migrated</a:t>
                      </a:r>
                    </a:p>
                  </a:txBody>
                  <a:tcPr>
                    <a:solidFill>
                      <a:srgbClr val="E7E6E6"/>
                    </a:solidFill>
                  </a:tcPr>
                </a:tc>
              </a:tr>
              <a:tr h="370840">
                <a:tc>
                  <a:txBody>
                    <a:bodyPr/>
                    <a:lstStyle/>
                    <a:p>
                      <a:r>
                        <a:rPr sz="1100"/>
                        <a:t>Phase 4</a:t>
                      </a:r>
                    </a:p>
                  </a:txBody>
                  <a:tcPr>
                    <a:solidFill>
                      <a:srgbClr val="E7E6E6"/>
                    </a:solidFill>
                  </a:tcPr>
                </a:tc>
                <a:tc>
                  <a:txBody>
                    <a:bodyPr/>
                    <a:lstStyle/>
                    <a:p>
                      <a:r>
                        <a:rPr sz="1100"/>
                        <a:t>Optimization</a:t>
                      </a:r>
                    </a:p>
                  </a:txBody>
                  <a:tcPr>
                    <a:solidFill>
                      <a:srgbClr val="E7E6E6"/>
                    </a:solidFill>
                  </a:tcPr>
                </a:tc>
                <a:tc>
                  <a:txBody>
                    <a:bodyPr/>
                    <a:lstStyle/>
                    <a:p>
                      <a:r>
                        <a:rPr sz="1100"/>
                        <a:t>Weeks 9-12</a:t>
                      </a:r>
                    </a:p>
                  </a:txBody>
                  <a:tcPr>
                    <a:solidFill>
                      <a:srgbClr val="E7E6E6"/>
                    </a:solidFill>
                  </a:tcPr>
                </a:tc>
                <a:tc>
                  <a:txBody>
                    <a:bodyPr/>
                    <a:lstStyle/>
                    <a:p>
                      <a:r>
                        <a:rPr sz="1100"/>
                        <a:t>Performance tuned (45 hrs), Team trained (24 hrs), Hypercare support (60 hrs)</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Cisco HyperFlex Hybrid Infrastructure</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Success Stories</a:t>
            </a:r>
          </a:p>
        </p:txBody>
      </p:sp>
      <p:sp>
        <p:nvSpPr>
          <p:cNvPr id="4" name="Text Placeholder 3"/>
          <p:cNvSpPr>
            <a:spLocks noGrp="1"/>
          </p:cNvSpPr>
          <p:nvPr>
            <p:ph type="body" idx="14" sz="quarter"/>
          </p:nvPr>
        </p:nvSpPr>
        <p:spPr/>
        <p:txBody>
          <a:bodyPr/>
          <a:lstStyle/>
          <a:p>
            <a:pPr/>
            <a:r>
              <a:rPr b="1"/>
              <a:t>Client Success: Regional Manufacturing Company</a:t>
            </a:r>
          </a:p>
          <a:p>
            <a:pPr lvl="1"/>
            <a:r>
              <a:rPr b="1"/>
              <a:t>Client:</a:t>
            </a:r>
            <a:r>
              <a:t> Manufacturing company with 250 VMs supporting ERP, MES, and engineering applications across 3 production facilities requiring 24/7 uptime</a:t>
            </a:r>
          </a:p>
          <a:p>
            <a:pPr lvl="1"/>
            <a:r>
              <a:rPr b="1"/>
              <a:t>Challenge:</a:t>
            </a:r>
            <a:r>
              <a:t> Aging 3-tier infrastructure with 45 servers and dedicated SAN consuming 42U rack space. VM provisioning taking 4-8 hours delaying project deployments. $180K annual power and cooling costs with frequent hardware failures causing unplanned downtime.</a:t>
            </a:r>
          </a:p>
          <a:p>
            <a:pPr lvl="1"/>
            <a:r>
              <a:rPr b="1"/>
              <a:t>Solution:</a:t>
            </a:r>
            <a:r>
              <a:t> Deployed 4-node Cisco HyperFlex HX240c cluster with 20 TB usable storage. Migrated 250 VMs using vMotion with zero downtime for critical ERP systems. Integrated Cisco Intersight for unified cloud management and Veeam for backup workflows.</a:t>
            </a:r>
          </a:p>
          <a:p>
            <a:pPr lvl="1"/>
            <a:r>
              <a:rPr b="1"/>
              <a:t>Results:</a:t>
            </a:r>
            <a:r>
              <a:t> 72% data center footprint reduction (42U to 8U) freeing rack space for expansion. 92% faster VM provisioning (4 hours to 10 minutes) accelerating project delivery. $95K annual operational savings from reduced power/cooling and simplified management. 28-month ROI with ongoing efficiency improvements.</a:t>
            </a:r>
          </a:p>
          <a:p>
            <a:pPr lvl="1"/>
            <a:r>
              <a:rPr b="1"/>
              <a:t>Testimonial:</a:t>
            </a:r>
            <a:r>
              <a:t> "HyperFlex transformed our infrastructure from aging and inefficient to modern and streamlined. We freed up 34U of rack space, cut our power bill significantly, and can now deploy VMs in minutes instead of hours. The Intersight management is incredibly intuitive." — </a:t>
            </a:r>
            <a:r>
              <a:rPr b="1"/>
              <a:t>Robert Thompson</a:t>
            </a:r>
            <a:r>
              <a:t>, Director of IT Infrastructure</a:t>
            </a:r>
          </a:p>
        </p:txBody>
      </p:sp>
      <p:sp>
        <p:nvSpPr>
          <p:cNvPr id="5" name="Text Placeholder 4"/>
          <p:cNvSpPr>
            <a:spLocks noGrp="1"/>
          </p:cNvSpPr>
          <p:nvPr>
            <p:ph type="body" idx="15" sz="quarter"/>
          </p:nvPr>
        </p:nvSpPr>
        <p:spPr/>
        <p:txBody>
          <a:bodyPr/>
          <a:lstStyle/>
          <a:p>
            <a:pPr algn="r">
              <a:buNone/>
            </a:pPr>
            <a:r>
              <a:rPr sz="1100">
                <a:solidFill>
                  <a:srgbClr val="CC0000"/>
                </a:solidFill>
              </a:rPr>
              <a:t>Cisco HyperFlex Hybrid Infrastructure</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Our Partnership Advantage</a:t>
            </a:r>
          </a:p>
        </p:txBody>
      </p:sp>
      <p:sp>
        <p:nvSpPr>
          <p:cNvPr id="4" name="Text Placeholder 3"/>
          <p:cNvSpPr>
            <a:spLocks noGrp="1"/>
          </p:cNvSpPr>
          <p:nvPr>
            <p:ph type="body" idx="16" sz="quarter"/>
          </p:nvPr>
        </p:nvSpPr>
        <p:spPr/>
        <p:txBody>
          <a:bodyPr/>
          <a:lstStyle/>
          <a:p>
            <a:pPr/>
            <a:r>
              <a:rPr b="1"/>
              <a:t>What We Bring</a:t>
            </a:r>
          </a:p>
          <a:p>
            <a:pPr lvl="1"/>
            <a:r>
              <a:t>10+ years delivering Cisco UCS and hyperconverged infrastructure solutions</a:t>
            </a:r>
          </a:p>
          <a:p>
            <a:pPr lvl="1"/>
            <a:r>
              <a:t>30+ successful HyperFlex deployments across manufacturing, healthcare, finance sectors</a:t>
            </a:r>
          </a:p>
          <a:p>
            <a:pPr lvl="1"/>
            <a:r>
              <a:t>Cisco Gold Partner with Data Center Architecture Specialization and Master status</a:t>
            </a:r>
          </a:p>
          <a:p>
            <a:pPr lvl="1"/>
            <a:r>
              <a:t>VMware Enterprise Partner with vSphere design and migration expertise</a:t>
            </a:r>
          </a:p>
        </p:txBody>
      </p:sp>
      <p:sp>
        <p:nvSpPr>
          <p:cNvPr id="5" name="Text Placeholder 4"/>
          <p:cNvSpPr>
            <a:spLocks noGrp="1"/>
          </p:cNvSpPr>
          <p:nvPr>
            <p:ph type="body" idx="17" sz="quarter"/>
          </p:nvPr>
        </p:nvSpPr>
        <p:spPr/>
        <p:txBody>
          <a:bodyPr/>
          <a:lstStyle/>
          <a:p>
            <a:pPr/>
            <a:r>
              <a:rPr b="1"/>
              <a:t>Value to You</a:t>
            </a:r>
          </a:p>
          <a:p>
            <a:pPr lvl="1"/>
            <a:r>
              <a:t>Pre-validated HyperFlex reference architectures accelerate design by 40%</a:t>
            </a:r>
          </a:p>
          <a:p>
            <a:pPr lvl="1"/>
            <a:r>
              <a:t>Proven VM migration methodology minimizes risk with zero-downtime vMotion experience</a:t>
            </a:r>
          </a:p>
          <a:p>
            <a:pPr lvl="1"/>
            <a:r>
              <a:t>Direct Cisco TAC and engineering escalation through our partner network</a:t>
            </a:r>
          </a:p>
          <a:p>
            <a:pPr lvl="1"/>
            <a:r>
              <a:t>Best practices from 30+ HCI deployments avoiding common sizing and migration pitfalls</a:t>
            </a:r>
          </a:p>
        </p:txBody>
      </p:sp>
      <p:sp>
        <p:nvSpPr>
          <p:cNvPr id="6" name="Text Placeholder 5"/>
          <p:cNvSpPr>
            <a:spLocks noGrp="1"/>
          </p:cNvSpPr>
          <p:nvPr>
            <p:ph type="body" idx="15" sz="quarter"/>
          </p:nvPr>
        </p:nvSpPr>
        <p:spPr/>
        <p:txBody>
          <a:bodyPr/>
          <a:lstStyle/>
          <a:p>
            <a:pPr algn="r">
              <a:buNone/>
            </a:pPr>
            <a:r>
              <a:rPr sz="1100">
                <a:solidFill>
                  <a:srgbClr val="CC0000"/>
                </a:solidFill>
              </a:rPr>
              <a:t>Cisco HyperFlex Hybrid Infrastructure</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Investment Summary</a:t>
            </a:r>
          </a:p>
        </p:txBody>
      </p:sp>
      <p:graphicFrame>
        <p:nvGraphicFramePr>
          <p:cNvPr id="4" name="Table Placeholder 3"/>
          <p:cNvGraphicFramePr>
            <a:graphicFrameLocks noGrp="1"/>
          </p:cNvGraphicFramePr>
          <p:nvPr>
            <p:ph type="tbl" idx="14" sz="quarter"/>
          </p:nvPr>
        </p:nvGraphicFramePr>
        <p:xfrm>
          <a:off x="256855" y="677011"/>
          <a:ext cx="8710930" cy="2225040"/>
        </p:xfrm>
        <a:graphic>
          <a:graphicData uri="http://schemas.openxmlformats.org/drawingml/2006/table">
            <a:tbl>
              <a:tblPr firstRow="1" bandRow="1">
                <a:tableStyleId>{5C22544A-7EE6-4342-B048-85BDC9FD1C3A}</a:tableStyleId>
              </a:tblPr>
              <a:tblGrid>
                <a:gridCol w="1997920"/>
                <a:gridCol w="1198752"/>
                <a:gridCol w="1198752"/>
                <a:gridCol w="1198752"/>
                <a:gridCol w="959001"/>
                <a:gridCol w="959001"/>
                <a:gridCol w="1198752"/>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Year 1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sz="1100"/>
                        <a:t>Professional Services</a:t>
                      </a:r>
                    </a:p>
                  </a:txBody>
                  <a:tcPr>
                    <a:solidFill>
                      <a:srgbClr val="E7E6E6"/>
                    </a:solidFill>
                  </a:tcPr>
                </a:tc>
                <a:tc>
                  <a:txBody>
                    <a:bodyPr/>
                    <a:lstStyle/>
                    <a:p>
                      <a:r>
                        <a:rPr sz="1100"/>
                        <a:t>$63,900</a:t>
                      </a:r>
                    </a:p>
                  </a:txBody>
                  <a:tcPr>
                    <a:solidFill>
                      <a:srgbClr val="E7E6E6"/>
                    </a:solidFill>
                  </a:tcPr>
                </a:tc>
                <a:tc>
                  <a:txBody>
                    <a:bodyPr/>
                    <a:lstStyle/>
                    <a:p>
                      <a:r>
                        <a:rPr sz="1100"/>
                        <a:t>$0</a:t>
                      </a:r>
                    </a:p>
                  </a:txBody>
                  <a:tcPr>
                    <a:solidFill>
                      <a:srgbClr val="E7E6E6"/>
                    </a:solidFill>
                  </a:tcPr>
                </a:tc>
                <a:tc>
                  <a:txBody>
                    <a:bodyPr/>
                    <a:lstStyle/>
                    <a:p>
                      <a:r>
                        <a:rPr sz="1100"/>
                        <a:t>$63,900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$63,900</a:t>
                      </a:r>
                    </a:p>
                  </a:txBody>
                  <a:tcPr>
                    <a:solidFill>
                      <a:srgbClr val="E7E6E6"/>
                    </a:solidFill>
                  </a:tcPr>
                </a:tc>
              </a:tr>
              <a:tr h="370840">
                <a:tc>
                  <a:txBody>
                    <a:bodyPr/>
                    <a:lstStyle/>
                    <a:p>
                      <a:r>
                        <a:rPr sz="1100"/>
                        <a:t>Hardware</a:t>
                      </a:r>
                    </a:p>
                  </a:txBody>
                  <a:tcPr>
                    <a:solidFill>
                      <a:srgbClr val="E7E6E6"/>
                    </a:solidFill>
                  </a:tcPr>
                </a:tc>
                <a:tc>
                  <a:txBody>
                    <a:bodyPr/>
                    <a:lstStyle/>
                    <a:p>
                      <a:r>
                        <a:rPr sz="1100"/>
                        <a:t>$294,000</a:t>
                      </a:r>
                    </a:p>
                  </a:txBody>
                  <a:tcPr>
                    <a:solidFill>
                      <a:srgbClr val="E7E6E6"/>
                    </a:solidFill>
                  </a:tcPr>
                </a:tc>
                <a:tc>
                  <a:txBody>
                    <a:bodyPr/>
                    <a:lstStyle/>
                    <a:p>
                      <a:r>
                        <a:rPr sz="1100"/>
                        <a:t>($15,000)</a:t>
                      </a:r>
                    </a:p>
                  </a:txBody>
                  <a:tcPr>
                    <a:solidFill>
                      <a:srgbClr val="E7E6E6"/>
                    </a:solidFill>
                  </a:tcPr>
                </a:tc>
                <a:tc>
                  <a:txBody>
                    <a:bodyPr/>
                    <a:lstStyle/>
                    <a:p>
                      <a:r>
                        <a:rPr sz="1100"/>
                        <a:t>$279,000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$279,000</a:t>
                      </a:r>
                    </a:p>
                  </a:txBody>
                  <a:tcPr>
                    <a:solidFill>
                      <a:srgbClr val="E7E6E6"/>
                    </a:solidFill>
                  </a:tcPr>
                </a:tc>
              </a:tr>
              <a:tr h="370840">
                <a:tc>
                  <a:txBody>
                    <a:bodyPr/>
                    <a:lstStyle/>
                    <a:p>
                      <a:r>
                        <a:rPr sz="1100"/>
                        <a:t>Software</a:t>
                      </a:r>
                    </a:p>
                  </a:txBody>
                  <a:tcPr>
                    <a:solidFill>
                      <a:srgbClr val="E7E6E6"/>
                    </a:solidFill>
                  </a:tcPr>
                </a:tc>
                <a:tc>
                  <a:txBody>
                    <a:bodyPr/>
                    <a:lstStyle/>
                    <a:p>
                      <a:r>
                        <a:rPr sz="1100"/>
                        <a:t>$106,000</a:t>
                      </a:r>
                    </a:p>
                  </a:txBody>
                  <a:tcPr>
                    <a:solidFill>
                      <a:srgbClr val="E7E6E6"/>
                    </a:solidFill>
                  </a:tcPr>
                </a:tc>
                <a:tc>
                  <a:txBody>
                    <a:bodyPr/>
                    <a:lstStyle/>
                    <a:p>
                      <a:r>
                        <a:rPr sz="1100"/>
                        <a:t>($20,000)</a:t>
                      </a:r>
                    </a:p>
                  </a:txBody>
                  <a:tcPr>
                    <a:solidFill>
                      <a:srgbClr val="E7E6E6"/>
                    </a:solidFill>
                  </a:tcPr>
                </a:tc>
                <a:tc>
                  <a:txBody>
                    <a:bodyPr/>
                    <a:lstStyle/>
                    <a:p>
                      <a:r>
                        <a:rPr sz="1100"/>
                        <a:t>$86,000</a:t>
                      </a:r>
                    </a:p>
                  </a:txBody>
                  <a:tcPr>
                    <a:solidFill>
                      <a:srgbClr val="E7E6E6"/>
                    </a:solidFill>
                  </a:tcPr>
                </a:tc>
                <a:tc>
                  <a:txBody>
                    <a:bodyPr/>
                    <a:lstStyle/>
                    <a:p>
                      <a:r>
                        <a:rPr sz="1100"/>
                        <a:t>$106,000</a:t>
                      </a:r>
                    </a:p>
                  </a:txBody>
                  <a:tcPr>
                    <a:solidFill>
                      <a:srgbClr val="E7E6E6"/>
                    </a:solidFill>
                  </a:tcPr>
                </a:tc>
                <a:tc>
                  <a:txBody>
                    <a:bodyPr/>
                    <a:lstStyle/>
                    <a:p>
                      <a:r>
                        <a:rPr sz="1100"/>
                        <a:t>$106,000</a:t>
                      </a:r>
                    </a:p>
                  </a:txBody>
                  <a:tcPr>
                    <a:solidFill>
                      <a:srgbClr val="E7E6E6"/>
                    </a:solidFill>
                  </a:tcPr>
                </a:tc>
                <a:tc>
                  <a:txBody>
                    <a:bodyPr/>
                    <a:lstStyle/>
                    <a:p>
                      <a:r>
                        <a:rPr sz="1100"/>
                        <a:t>$298,000</a:t>
                      </a:r>
                    </a:p>
                  </a:txBody>
                  <a:tcPr>
                    <a:solidFill>
                      <a:srgbClr val="E7E6E6"/>
                    </a:solidFill>
                  </a:tcPr>
                </a:tc>
              </a:tr>
              <a:tr h="370840">
                <a:tc>
                  <a:txBody>
                    <a:bodyPr/>
                    <a:lstStyle/>
                    <a:p>
                      <a:r>
                        <a:rPr sz="1100"/>
                        <a:t>Support</a:t>
                      </a:r>
                    </a:p>
                  </a:txBody>
                  <a:tcPr>
                    <a:solidFill>
                      <a:srgbClr val="E7E6E6"/>
                    </a:solidFill>
                  </a:tcPr>
                </a:tc>
                <a:tc>
                  <a:txBody>
                    <a:bodyPr/>
                    <a:lstStyle/>
                    <a:p>
                      <a:r>
                        <a:rPr sz="1100"/>
                        <a:t>$52,000</a:t>
                      </a:r>
                    </a:p>
                  </a:txBody>
                  <a:tcPr>
                    <a:solidFill>
                      <a:srgbClr val="E7E6E6"/>
                    </a:solidFill>
                  </a:tcPr>
                </a:tc>
                <a:tc>
                  <a:txBody>
                    <a:bodyPr/>
                    <a:lstStyle/>
                    <a:p>
                      <a:r>
                        <a:rPr sz="1100"/>
                        <a:t>$0</a:t>
                      </a:r>
                    </a:p>
                  </a:txBody>
                  <a:tcPr>
                    <a:solidFill>
                      <a:srgbClr val="E7E6E6"/>
                    </a:solidFill>
                  </a:tcPr>
                </a:tc>
                <a:tc>
                  <a:txBody>
                    <a:bodyPr/>
                    <a:lstStyle/>
                    <a:p>
                      <a:r>
                        <a:rPr sz="1100"/>
                        <a:t>$52,000</a:t>
                      </a:r>
                    </a:p>
                  </a:txBody>
                  <a:tcPr>
                    <a:solidFill>
                      <a:srgbClr val="E7E6E6"/>
                    </a:solidFill>
                  </a:tcPr>
                </a:tc>
                <a:tc>
                  <a:txBody>
                    <a:bodyPr/>
                    <a:lstStyle/>
                    <a:p>
                      <a:r>
                        <a:rPr sz="1100"/>
                        <a:t>$52,000</a:t>
                      </a:r>
                    </a:p>
                  </a:txBody>
                  <a:tcPr>
                    <a:solidFill>
                      <a:srgbClr val="E7E6E6"/>
                    </a:solidFill>
                  </a:tcPr>
                </a:tc>
                <a:tc>
                  <a:txBody>
                    <a:bodyPr/>
                    <a:lstStyle/>
                    <a:p>
                      <a:r>
                        <a:rPr sz="1100"/>
                        <a:t>$52,000</a:t>
                      </a:r>
                    </a:p>
                  </a:txBody>
                  <a:tcPr>
                    <a:solidFill>
                      <a:srgbClr val="E7E6E6"/>
                    </a:solidFill>
                  </a:tcPr>
                </a:tc>
                <a:tc>
                  <a:txBody>
                    <a:bodyPr/>
                    <a:lstStyle/>
                    <a:p>
                      <a:r>
                        <a:rPr sz="1100"/>
                        <a:t>$156,000</a:t>
                      </a:r>
                    </a:p>
                  </a:txBody>
                  <a:tcPr>
                    <a:solidFill>
                      <a:srgbClr val="E7E6E6"/>
                    </a:solidFill>
                  </a:tcPr>
                </a:tc>
              </a:tr>
              <a:tr h="370840">
                <a:tc>
                  <a:txBody>
                    <a:bodyPr/>
                    <a:lstStyle/>
                    <a:p>
                      <a:r>
                        <a:rPr b="1" sz="1100"/>
                        <a:t>TOTAL</a:t>
                      </a:r>
                    </a:p>
                  </a:txBody>
                  <a:tcPr>
                    <a:solidFill>
                      <a:srgbClr val="E7E6E6"/>
                    </a:solidFill>
                  </a:tcPr>
                </a:tc>
                <a:tc>
                  <a:txBody>
                    <a:bodyPr/>
                    <a:lstStyle/>
                    <a:p>
                      <a:r>
                        <a:rPr b="1" sz="1100"/>
                        <a:t>$515,900</a:t>
                      </a:r>
                    </a:p>
                  </a:txBody>
                  <a:tcPr>
                    <a:solidFill>
                      <a:srgbClr val="E7E6E6"/>
                    </a:solidFill>
                  </a:tcPr>
                </a:tc>
                <a:tc>
                  <a:txBody>
                    <a:bodyPr/>
                    <a:lstStyle/>
                    <a:p>
                      <a:r>
                        <a:rPr b="1" sz="1100"/>
                        <a:t>($35,000)</a:t>
                      </a:r>
                    </a:p>
                  </a:txBody>
                  <a:tcPr>
                    <a:solidFill>
                      <a:srgbClr val="E7E6E6"/>
                    </a:solidFill>
                  </a:tcPr>
                </a:tc>
                <a:tc>
                  <a:txBody>
                    <a:bodyPr/>
                    <a:lstStyle/>
                    <a:p>
                      <a:r>
                        <a:rPr b="1" sz="1100"/>
                        <a:t>$480,900</a:t>
                      </a:r>
                    </a:p>
                  </a:txBody>
                  <a:tcPr>
                    <a:solidFill>
                      <a:srgbClr val="E7E6E6"/>
                    </a:solidFill>
                  </a:tcPr>
                </a:tc>
                <a:tc>
                  <a:txBody>
                    <a:bodyPr/>
                    <a:lstStyle/>
                    <a:p>
                      <a:r>
                        <a:rPr b="1" sz="1100"/>
                        <a:t>$158,000</a:t>
                      </a:r>
                    </a:p>
                  </a:txBody>
                  <a:tcPr>
                    <a:solidFill>
                      <a:srgbClr val="E7E6E6"/>
                    </a:solidFill>
                  </a:tcPr>
                </a:tc>
                <a:tc>
                  <a:txBody>
                    <a:bodyPr/>
                    <a:lstStyle/>
                    <a:p>
                      <a:r>
                        <a:rPr b="1" sz="1100"/>
                        <a:t>$158,000</a:t>
                      </a:r>
                    </a:p>
                  </a:txBody>
                  <a:tcPr>
                    <a:solidFill>
                      <a:srgbClr val="E7E6E6"/>
                    </a:solidFill>
                  </a:tcPr>
                </a:tc>
                <a:tc>
                  <a:txBody>
                    <a:bodyPr/>
                    <a:lstStyle/>
                    <a:p>
                      <a:r>
                        <a:rPr b="1" sz="1100"/>
                        <a:t>$796,900</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Cisco HyperFlex Hybrid Infrastructure</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Next Steps</a:t>
            </a:r>
          </a:p>
        </p:txBody>
      </p:sp>
      <p:sp>
        <p:nvSpPr>
          <p:cNvPr id="4" name="Text Placeholder 3"/>
          <p:cNvSpPr>
            <a:spLocks noGrp="1"/>
          </p:cNvSpPr>
          <p:nvPr>
            <p:ph type="body" idx="14" sz="quarter"/>
          </p:nvPr>
        </p:nvSpPr>
        <p:spPr/>
        <p:txBody>
          <a:bodyPr/>
          <a:lstStyle/>
          <a:p>
            <a:pPr/>
            <a:r>
              <a:rPr b="1"/>
              <a:t>Decision:</a:t>
            </a:r>
            <a:r>
              <a:t> Executive approval for $480.9K Year 1 investment by [specific date]</a:t>
            </a:r>
          </a:p>
          <a:p>
            <a:pPr/>
            <a:r>
              <a:rPr b="1"/>
              <a:t>Hardware Procurement:</a:t>
            </a:r>
            <a:r>
              <a:t> Order HyperFlex nodes and Fabric Interconnects (6-8 week lead time) with data center prep</a:t>
            </a:r>
          </a:p>
          <a:p>
            <a:pPr/>
            <a:r>
              <a:rPr b="1"/>
              <a:t>Team Formation:</a:t>
            </a:r>
            <a:r>
              <a:t> Assign technical lead, infrastructure team, and coordinate with application owners</a:t>
            </a:r>
          </a:p>
          <a:p>
            <a:pPr/>
            <a:r>
              <a:rPr b="1"/>
              <a:t>Week 1-2:</a:t>
            </a:r>
            <a:r>
              <a:t> Design phase with workload assessment (72 hrs), architecture sizing, and migration planning</a:t>
            </a:r>
          </a:p>
          <a:p>
            <a:pPr/>
            <a:r>
              <a:rPr b="1"/>
              <a:t>Week 3-12:</a:t>
            </a:r>
            <a:r>
              <a:t> Deployment and migration with cluster build, phased VM migration, training, and hypercare</a:t>
            </a:r>
          </a:p>
        </p:txBody>
      </p:sp>
      <p:sp>
        <p:nvSpPr>
          <p:cNvPr id="5" name="Text Placeholder 4"/>
          <p:cNvSpPr>
            <a:spLocks noGrp="1"/>
          </p:cNvSpPr>
          <p:nvPr>
            <p:ph type="body" idx="15" sz="quarter"/>
          </p:nvPr>
        </p:nvSpPr>
        <p:spPr/>
        <p:txBody>
          <a:bodyPr/>
          <a:lstStyle/>
          <a:p>
            <a:pPr algn="r">
              <a:buNone/>
            </a:pPr>
            <a:r>
              <a:rPr sz="1100">
                <a:solidFill>
                  <a:srgbClr val="CC0000"/>
                </a:solidFill>
              </a:rPr>
              <a:t>Cisco HyperFlex Hybrid Infrastructure</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439</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84</cp:revision>
  <dcterms:created xsi:type="dcterms:W3CDTF">2025-11-01T21:16:10Z</dcterms:created>
  <dcterms:modified xsi:type="dcterms:W3CDTF">2025-11-22T19:37:42Z</dcterms:modified>
</cp:coreProperties>
</file>