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bin" ContentType="image/unknown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1C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80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3732" y="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67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528" y="1886679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1" y="4536078"/>
            <a:ext cx="209989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9473" y="2437679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Subtitle Text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9F5D3C5-0033-51A7-77BC-7E3DBBF84F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34286" y="3631467"/>
            <a:ext cx="3605212" cy="33496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sz="1400" dirty="0">
                <a:solidFill>
                  <a:srgbClr val="6C757D"/>
                </a:solidFill>
                <a:latin typeface="Arial" pitchFamily="34" charset="0"/>
                <a:cs typeface="Arial" pitchFamily="34" charset="-120"/>
              </a:rPr>
              <a:t>Presenter Name | Date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43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="1" baseline="0">
                <a:solidFill>
                  <a:srgbClr val="C00000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71806-AFEA-DD6D-E6AA-E2A002E682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46239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63" y="0"/>
            <a:ext cx="8509304" cy="52700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Bullet Points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3" y="4536078"/>
            <a:ext cx="2143858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EE1A0-720D-187D-95F8-429F3DF3D6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6863" y="685601"/>
            <a:ext cx="8548687" cy="3811657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chemeClr val="tx1"/>
                </a:solidFill>
              </a:defRPr>
            </a:lvl1pPr>
            <a:lvl2pPr>
              <a:buFont typeface="Arial" panose="020B0604020202020204" pitchFamily="34" charset="0"/>
              <a:buChar char="•"/>
              <a:defRPr sz="1600"/>
            </a:lvl2pPr>
            <a:lvl3pPr>
              <a:defRPr sz="1400"/>
            </a:lvl3pPr>
            <a:lvl4pPr>
              <a:buFont typeface="Arial" panose="020B0604020202020204" pitchFamily="34" charset="0"/>
              <a:buChar char="•"/>
              <a:defRPr sz="1200"/>
            </a:lvl4pPr>
          </a:lstStyle>
          <a:p>
            <a:pPr lvl="0"/>
            <a:r>
              <a:rPr lang="en-US" dirty="0"/>
              <a:t>Bullet Point 1</a:t>
            </a:r>
          </a:p>
          <a:p>
            <a:pPr lvl="0"/>
            <a:r>
              <a:rPr lang="en-US" dirty="0"/>
              <a:t>Bullet Point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2079A5-28FD-9D2F-2B9B-2FC8F9339A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27076" y="4738688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09073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530738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Two Column Layout</a:t>
            </a: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21877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9E4A97-A874-D6CA-E54C-5584536CAA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3675" y="678433"/>
            <a:ext cx="4462463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Left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61ADBD-DA9D-A8A7-8FC3-64E82242B9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40288" y="678433"/>
            <a:ext cx="4110037" cy="3785515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Right Column Sub title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F49ED0-89F0-F008-ADD7-D71F338C8B9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97414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243730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6855" y="39642"/>
            <a:ext cx="8710933" cy="527013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cs typeface="Arial" pitchFamily="34" charset="-120"/>
              </a:rPr>
              <a:t>Table</a:t>
            </a:r>
            <a:endParaRPr lang="en-US" sz="3200" dirty="0"/>
          </a:p>
          <a:p>
            <a:pPr lvl="0"/>
            <a:endParaRPr lang="en-US" dirty="0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2DB97592-C4D5-B315-7F11-AA14F6EE8A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26273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D3D9E4F7-6B7D-2205-75B9-EE8C54E89A5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256855" y="677011"/>
            <a:ext cx="8710933" cy="378508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00DC936-676C-1BAA-B4B4-D45CC5951D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4931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81483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Vis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7423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Visual Content</a:t>
            </a: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30670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B682B8-2171-423F-A77B-10BADD07BC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62488" y="685799"/>
            <a:ext cx="4337050" cy="38158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EE9992-B6F6-08BF-BFB5-6AF6BEDE36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75" y="685800"/>
            <a:ext cx="4449763" cy="3815859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6D03683B-7C4B-D474-74C5-EC53E3BB51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1065" y="4729530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11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94405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Data Visualiz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4EA828A1-D5D6-9ADA-1918-E5FE226673A0}"/>
              </a:ext>
            </a:extLst>
          </p:cNvPr>
          <p:cNvSpPr/>
          <p:nvPr userDrawn="1"/>
        </p:nvSpPr>
        <p:spPr>
          <a:xfrm>
            <a:off x="0" y="606304"/>
            <a:ext cx="9144000" cy="0"/>
          </a:xfrm>
          <a:prstGeom prst="line">
            <a:avLst/>
          </a:prstGeom>
          <a:noFill/>
          <a:ln w="28575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80A86D4-478F-6846-9F0A-B815F2A3AB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174" y="7163"/>
            <a:ext cx="8640764" cy="527013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2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Data Visualization</a:t>
            </a: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6A0FA445-7602-F06E-EC73-5504EBF827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3592" y="4536078"/>
            <a:ext cx="210429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A686C49F-4337-BBE6-FF21-682B01E38601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4572000" y="685597"/>
            <a:ext cx="4325938" cy="377834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730E7-C68E-A3E8-1745-8AF89C786D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36525" y="678433"/>
            <a:ext cx="4237038" cy="3785513"/>
          </a:xfrm>
          <a:prstGeom prst="rect">
            <a:avLst/>
          </a:prstGeom>
        </p:spPr>
        <p:txBody>
          <a:bodyPr/>
          <a:lstStyle>
            <a:lvl1pPr>
              <a:defRPr sz="1800" b="1">
                <a:solidFill>
                  <a:srgbClr val="C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1231DFE-6A5A-950E-159E-9E1D3D45FD3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79465" y="4681864"/>
            <a:ext cx="3218473" cy="238125"/>
          </a:xfrm>
          <a:prstGeom prst="rect">
            <a:avLst/>
          </a:prstGeom>
        </p:spPr>
        <p:txBody>
          <a:bodyPr/>
          <a:lstStyle>
            <a:lvl5pPr algn="r">
              <a:buNone/>
              <a:defRPr sz="900"/>
            </a:lvl5pPr>
          </a:lstStyle>
          <a:p>
            <a:pPr lvl="4"/>
            <a:r>
              <a:rPr lang="en-US" dirty="0"/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7354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O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D36A0E4-7374-4A92-CEC2-AC1CC29B85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80492" y="171206"/>
            <a:ext cx="3978520" cy="1314694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/home/claude/eo-framework-logo.png">
            <a:extLst>
              <a:ext uri="{FF2B5EF4-FFF2-40B4-BE49-F238E27FC236}">
                <a16:creationId xmlns:a16="http://schemas.microsoft.com/office/drawing/2014/main" id="{028AFAE3-D949-BFF8-132D-C3956962B6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45879" y="4648200"/>
            <a:ext cx="1952244" cy="417576"/>
          </a:xfrm>
          <a:prstGeom prst="rect">
            <a:avLst/>
          </a:prstGeom>
        </p:spPr>
      </p:pic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C2FEB1-3552-40B4-D5D2-8C9A2DF4E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6356" y="2247927"/>
            <a:ext cx="7671288" cy="52705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3600"/>
              </a:lnSpc>
              <a:buNone/>
              <a:defRPr sz="3600" b="1" i="0" baseline="0">
                <a:latin typeface="Arial" panose="020B0604020202020204" pitchFamily="34" charset="0"/>
              </a:defRPr>
            </a:lvl1pPr>
          </a:lstStyle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</a:p>
          <a:p>
            <a:pPr marL="0" indent="0" algn="ctr">
              <a:lnSpc>
                <a:spcPts val="3600"/>
              </a:lnSpc>
              <a:buNone/>
            </a:pPr>
            <a:endParaRPr lang="en-US" sz="3600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86145EB1-48C8-058E-F657-82D57B5795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3592" y="4536078"/>
            <a:ext cx="2164114" cy="52969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D51056DC-8081-0916-0351-65D88D1682B8}"/>
              </a:ext>
            </a:extLst>
          </p:cNvPr>
          <p:cNvSpPr/>
          <p:nvPr userDrawn="1"/>
        </p:nvSpPr>
        <p:spPr>
          <a:xfrm>
            <a:off x="2224455" y="1676475"/>
            <a:ext cx="3886322" cy="45719"/>
          </a:xfrm>
          <a:prstGeom prst="roundRect">
            <a:avLst>
              <a:gd name="adj" fmla="val 50000"/>
            </a:avLst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C531180-94E5-3403-56E5-895E003A9D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4304" y="1874962"/>
            <a:ext cx="6629399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800" dirty="0">
                <a:solidFill>
                  <a:srgbClr val="6C75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727805F-2A15-11D3-243F-1AE09D6E973E}"/>
              </a:ext>
            </a:extLst>
          </p:cNvPr>
          <p:cNvSpPr/>
          <p:nvPr userDrawn="1"/>
        </p:nvSpPr>
        <p:spPr>
          <a:xfrm>
            <a:off x="3312808" y="4536078"/>
            <a:ext cx="2797969" cy="52969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1034B79E-463D-8396-409E-62C28A2DEB04}"/>
              </a:ext>
            </a:extLst>
          </p:cNvPr>
          <p:cNvSpPr/>
          <p:nvPr userDrawn="1"/>
        </p:nvSpPr>
        <p:spPr>
          <a:xfrm>
            <a:off x="3614735" y="4667577"/>
            <a:ext cx="207668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www.eoframework.org</a:t>
            </a:r>
            <a:endParaRPr lang="en-US" sz="15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2DED039B-C555-DCF4-1CA7-CA1E448237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165" y="3131272"/>
            <a:ext cx="8480181" cy="334598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1800" b="1" dirty="0">
                <a:solidFill>
                  <a:srgbClr val="000000"/>
                </a:solidFill>
              </a:rPr>
              <a:t>Account Manager:</a:t>
            </a:r>
            <a:r>
              <a:rPr lang="en-US" sz="1800" dirty="0">
                <a:solidFill>
                  <a:srgbClr val="000000"/>
                </a:solidFill>
              </a:rPr>
              <a:t> [Name, Title] | [Email] | [Phone]</a:t>
            </a:r>
          </a:p>
        </p:txBody>
      </p:sp>
    </p:spTree>
    <p:extLst>
      <p:ext uri="{BB962C8B-B14F-4D97-AF65-F5344CB8AC3E}">
        <p14:creationId xmlns:p14="http://schemas.microsoft.com/office/powerpoint/2010/main" val="3821020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9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Solution Briefing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Cisco HyperFlex Hybrid Infrastructure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['Presenter Name'] | November 22, 2025</a:t>
            </a:r>
          </a:p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1" y="4536078"/>
            <a:ext cx="2099897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Business Opportunity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Opportunity</a:t>
            </a:r>
          </a:p>
          <a:p>
            <a:pPr lvl="1"/>
            <a:r>
              <a:t>Consolidate 40+ servers and SAN into 4-node HyperFlex cluster reducing data center footprint by 70%</a:t>
            </a:r>
          </a:p>
          <a:p>
            <a:pPr lvl="1"/>
            <a:r>
              <a:t>Achieve 10x bandwidth increase and 50% CapEx savings vs traditional 3-tier infrastructure</a:t>
            </a:r>
          </a:p>
          <a:p>
            <a:pPr lvl="1"/>
            <a:r>
              <a:t>Deploy new VMs in 10 minutes vs 4-8 hours with integrated compute and storage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Success Criteria</a:t>
            </a:r>
          </a:p>
          <a:p>
            <a:pPr lvl="1"/>
            <a:r>
              <a:t>70% data center space reduction from 42U to 8U rack footprint</a:t>
            </a:r>
          </a:p>
          <a:p>
            <a:pPr lvl="1"/>
            <a:r>
              <a:t>90% faster VM provisioning with automated deployment</a:t>
            </a:r>
          </a:p>
          <a:p>
            <a:pPr lvl="1"/>
            <a:r>
              <a:t>ROI realization within 30 months through consolidation and efficiency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Cisco HyperFlex Hybrid Infrastructure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Engagement Scope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29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967"/>
                <a:gridCol w="2526170"/>
                <a:gridCol w="435546"/>
                <a:gridCol w="1567967"/>
                <a:gridCol w="2613279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Primary Features/Capabilities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HyperFlex 4-node for 200-300 VMs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Availability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Standard (99.5%)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Customization Level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Standard HyperFlex deployment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Infrastructure Complexity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Basic 3-tier compute storage network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External System Integrations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 systems (vCenter + backup)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Security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Basic encryption and RBAC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Data Sources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VM inventory only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Compliance Frameworks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Basic logging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Total Users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10 infrastructure admins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Performance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Standard IOPS and latency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User Roles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 roles (admin + operator)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Deployment Environments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Production only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Data Processing Volume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200-300 VMs workload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Data Storage Requirements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20 TB usable storage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Deployment Regions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Single data center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Cisco HyperFlex Hybrid Infrastructure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Solution Overview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Key Components</a:t>
            </a:r>
          </a:p>
          <a:p>
            <a:pPr lvl="1"/>
            <a:r>
              <a:t>4x HyperFlex HX240c M5 nodes with dual Xeon Gold and 768 GB RAM</a:t>
            </a:r>
          </a:p>
          <a:p>
            <a:pPr lvl="1"/>
            <a:r>
              <a:t>Cisco UCS 6454 Fabric Interconnects with unified 25GbE fabric</a:t>
            </a:r>
          </a:p>
          <a:p>
            <a:pPr lvl="1"/>
            <a:r>
              <a:t>VMware vSphere 8 with HyperFlex distributed storage and data services</a:t>
            </a:r>
          </a:p>
          <a:p>
            <a:pPr/>
            <a:r>
              <a:rPr b="1"/>
              <a:t>Technology Stack</a:t>
            </a:r>
          </a:p>
          <a:p>
            <a:pPr lvl="1"/>
            <a:r>
              <a:t>Platform: VMware vSphere 8 Enterprise Plus with HyperFlex Data Platform</a:t>
            </a:r>
          </a:p>
          <a:p>
            <a:pPr lvl="1"/>
            <a:r>
              <a:t>Management: Cisco Intersight cloud-based management and Veeam backup</a:t>
            </a:r>
          </a:p>
          <a:p>
            <a:pPr lvl="1"/>
            <a:r>
              <a:t>Data Services: Deduplication, compression, snapshots, and self-healing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Cisco HyperFlex Hybrid Infrastructure</a:t>
            </a:r>
          </a:p>
        </p:txBody>
      </p:sp>
      <p:pic>
        <p:nvPicPr>
          <p:cNvPr id="7" name="Picture 6" descr="architectur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488" y="685799"/>
            <a:ext cx="4337050" cy="3815859"/>
          </a:xfrm>
          <a:prstGeom prst="rect">
            <a:avLst/>
          </a:prstGeom>
          <a:ln w="12700">
            <a:solidFill>
              <a:srgbClr val="C0C0C0"/>
            </a:solidFill>
            <a:prstDash val="solid"/>
          </a:ln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30670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Implementation Approach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Phase 1: Design &amp; Deployment (Weeks 1-4)</a:t>
            </a:r>
          </a:p>
          <a:p>
            <a:pPr lvl="1"/>
            <a:r>
              <a:t>Infrastructure assessment, HyperFlex sizing, and architecture design</a:t>
            </a:r>
          </a:p>
          <a:p>
            <a:pPr lvl="1"/>
            <a:r>
              <a:t>HyperFlex 4-node cluster deployment with vSphere and HA configuration</a:t>
            </a:r>
          </a:p>
          <a:p>
            <a:pPr lvl="1"/>
            <a:r>
              <a:t>Intersight integration and network fabric setup</a:t>
            </a:r>
          </a:p>
          <a:p>
            <a:pPr/>
            <a:r>
              <a:rPr b="1"/>
              <a:t>Phase 2: VM Migration (Weeks 5-9)</a:t>
            </a:r>
          </a:p>
          <a:p>
            <a:pPr lvl="1"/>
            <a:r>
              <a:t>Pilot migration with 20 non-critical VMs for validation</a:t>
            </a:r>
          </a:p>
          <a:p>
            <a:pPr lvl="1"/>
            <a:r>
              <a:t>Production migration in 3 waves: 150 VMs via vMotion with zero downtime</a:t>
            </a:r>
          </a:p>
          <a:p>
            <a:pPr lvl="1"/>
            <a:r>
              <a:t>Critical workload migration including databases and business applications</a:t>
            </a:r>
          </a:p>
          <a:p>
            <a:pPr/>
            <a:r>
              <a:rPr b="1"/>
              <a:t>Phase 3: Optimization &amp; Training (Weeks 10-12)</a:t>
            </a:r>
          </a:p>
          <a:p>
            <a:pPr lvl="1"/>
            <a:r>
              <a:t>Performance tuning and backup integration with Veeam</a:t>
            </a:r>
          </a:p>
          <a:p>
            <a:pPr lvl="1"/>
            <a:r>
              <a:t>Team training (24 hours) and knowledge transfer</a:t>
            </a:r>
          </a:p>
          <a:p>
            <a:pPr lvl="1"/>
            <a:r>
              <a:t>Hypercare support and legacy infrastructure decommission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Cisco HyperFlex Hybrid Infrastructure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Timeline &amp; Milestones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093"/>
                <a:gridCol w="2177733"/>
                <a:gridCol w="1306639"/>
                <a:gridCol w="4355466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No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Phase Description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Key Deliverables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1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Design &amp; Planning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1-2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Workload assessment complete (72 hrs), Architecture designed, Migration strategy defined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Infrastructure Deployment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3-4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HyperFlex cluster operational (80 hrs), vSphere configured (72 hrs), Intersight integrated (20 hrs)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3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VM Migration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5-8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Pilot validated (20 VMs), Wave migrations complete (150 VMs), Critical workloads migrated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Phase 4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Optimization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Weeks 9-12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Performance tuned (45 hrs), Team trained (24 hrs), Hypercare support (60 hrs)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Cisco HyperFlex Hybrid Infrastructure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Success Stories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Client Success: Regional Manufacturing Company</a:t>
            </a:r>
          </a:p>
          <a:p>
            <a:pPr lvl="1"/>
            <a:r>
              <a:rPr b="1"/>
              <a:t>Client:</a:t>
            </a:r>
            <a:r>
              <a:t> Manufacturing company with 250 VMs across 3 production facilities</a:t>
            </a:r>
          </a:p>
          <a:p>
            <a:pPr lvl="1"/>
            <a:r>
              <a:rPr b="1"/>
              <a:t>Challenge:</a:t>
            </a:r>
            <a:r>
              <a:t> 42U rack space consumption. 4-8 hour VM provisioning delays. $180K annual power costs with frequent hardware failures.</a:t>
            </a:r>
          </a:p>
          <a:p>
            <a:pPr lvl="1"/>
            <a:r>
              <a:rPr b="1"/>
              <a:t>Solution:</a:t>
            </a:r>
            <a:r>
              <a:t> 4-node HyperFlex cluster, vMotion migration, Intersight management, Veeam backup.</a:t>
            </a:r>
          </a:p>
          <a:p>
            <a:pPr lvl="1"/>
            <a:r>
              <a:rPr b="1"/>
              <a:t>Results:</a:t>
            </a:r>
            <a:r>
              <a:t> 72% footprint reduction (42U to 8U). 92% faster provisioning. $95K annual savings. 28-month ROI.</a:t>
            </a:r>
          </a:p>
          <a:p>
            <a:pPr lvl="1"/>
            <a:r>
              <a:rPr b="1"/>
              <a:t>Testimonial:</a:t>
            </a:r>
            <a:r>
              <a:t> "HyperFlex transformed our infrastructure to modern and streamlined. We freed up 34U rack space and deploy VMs in minutes instead of hours." — </a:t>
            </a:r>
            <a:r>
              <a:rPr b="1"/>
              <a:t>Robert Thompson</a:t>
            </a:r>
            <a:r>
              <a:t>, Director of IT Infrastructure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Cisco HyperFlex Hybrid Infrastructure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Our Partnership Advantage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/>
            <a:r>
              <a:rPr b="1"/>
              <a:t>What We Bring</a:t>
            </a:r>
          </a:p>
          <a:p>
            <a:pPr lvl="1"/>
            <a:r>
              <a:t>10+ years delivering Cisco UCS and hyperconverged infrastructure solutions</a:t>
            </a:r>
          </a:p>
          <a:p>
            <a:pPr lvl="1"/>
            <a:r>
              <a:t>30+ successful HyperFlex deployments across manufacturing, healthcare, finance sectors</a:t>
            </a:r>
          </a:p>
          <a:p>
            <a:pPr lvl="1"/>
            <a:r>
              <a:t>Cisco Gold Partner with Data Center Architecture Specialization and Master status</a:t>
            </a:r>
          </a:p>
          <a:p>
            <a:pPr lvl="1"/>
            <a:r>
              <a:t>VMware Enterprise Partner with vSphere design and migration expertise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pPr/>
            <a:r>
              <a:rPr b="1"/>
              <a:t>Value to You</a:t>
            </a:r>
          </a:p>
          <a:p>
            <a:pPr lvl="1"/>
            <a:r>
              <a:t>Pre-validated HyperFlex reference architectures accelerate design by 40%</a:t>
            </a:r>
          </a:p>
          <a:p>
            <a:pPr lvl="1"/>
            <a:r>
              <a:t>Proven VM migration methodology minimizes risk with zero-downtime vMotion experience</a:t>
            </a:r>
          </a:p>
          <a:p>
            <a:pPr lvl="1"/>
            <a:r>
              <a:t>Direct Cisco TAC and engineering escalation through our partner network</a:t>
            </a:r>
          </a:p>
          <a:p>
            <a:pPr lvl="1"/>
            <a:r>
              <a:t>Best practices from 30+ HCI deployments avoiding common sizing and migration pitfalls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Cisco HyperFlex Hybrid Infrastructure</a:t>
            </a:r>
          </a:p>
        </p:txBody>
      </p:sp>
      <p:pic>
        <p:nvPicPr>
          <p:cNvPr id="7" name="Picture 6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1877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Investment Summary</a:t>
            </a:r>
          </a:p>
        </p:txBody>
      </p:sp>
      <p:graphicFrame>
        <p:nvGraphicFramePr>
          <p:cNvPr id="4" name="Table Placeholder 3"/>
          <p:cNvGraphicFramePr>
            <a:graphicFrameLocks noGrp="1"/>
          </p:cNvGraphicFramePr>
          <p:nvPr>
            <p:ph type="tbl" idx="14" sz="quarter"/>
          </p:nvPr>
        </p:nvGraphicFramePr>
        <p:xfrm>
          <a:off x="256855" y="677011"/>
          <a:ext cx="871093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7920"/>
                <a:gridCol w="1198752"/>
                <a:gridCol w="1198752"/>
                <a:gridCol w="1198752"/>
                <a:gridCol w="959001"/>
                <a:gridCol w="959001"/>
                <a:gridCol w="1198752"/>
              </a:tblGrid>
              <a:tr h="3708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Cost Category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List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Credits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1 Net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2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Year 3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FFFFF"/>
                          </a:solidFill>
                        </a:rPr>
                        <a:t>3-Year Total</a:t>
                      </a:r>
                    </a:p>
                  </a:txBody>
                  <a:tcPr>
                    <a:solidFill>
                      <a:srgbClr val="A01C0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Professional Services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$63,900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$63,900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$63,900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Hardware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$294,000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($15,000)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$279,000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$279,000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Software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$106,000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($20,000)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$86,000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$106,000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$106,000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$298,000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/>
                        <a:t>Support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$52,000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$52,000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$52,000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$52,000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$156,000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b="1" sz="1100"/>
                        <a:t>TOTAL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$515,900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($35,000)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$480,900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$158,000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$158,000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/>
                        <a:t>$796,900</a:t>
                      </a: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Cisco HyperFlex Hybrid Infrastructure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2" y="4536078"/>
            <a:ext cx="2126273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t>Next Steps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rPr b="1"/>
              <a:t>Decision:</a:t>
            </a:r>
            <a:r>
              <a:t> Executive approval for $480.9K Year 1 investment by [specific date]</a:t>
            </a:r>
          </a:p>
          <a:p>
            <a:pPr/>
            <a:r>
              <a:rPr b="1"/>
              <a:t>Hardware Procurement:</a:t>
            </a:r>
            <a:r>
              <a:t> Order HyperFlex nodes and Fabric Interconnects (6-8 week lead time) with data center prep</a:t>
            </a:r>
          </a:p>
          <a:p>
            <a:pPr/>
            <a:r>
              <a:rPr b="1"/>
              <a:t>Team Formation:</a:t>
            </a:r>
            <a:r>
              <a:t> Assign technical lead, infrastructure team, and coordinate with application owners</a:t>
            </a:r>
          </a:p>
          <a:p>
            <a:pPr/>
            <a:r>
              <a:rPr b="1"/>
              <a:t>Week 1-2:</a:t>
            </a:r>
            <a:r>
              <a:t> Design phase with workload assessment (72 hrs), architecture sizing, and migration planning</a:t>
            </a:r>
          </a:p>
          <a:p>
            <a:pPr/>
            <a:r>
              <a:rPr b="1"/>
              <a:t>Week 3-12:</a:t>
            </a:r>
            <a:r>
              <a:t> Deployment and migration with cluster build, phased VM migration, training, and hypercare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algn="r">
              <a:buNone/>
            </a:pPr>
            <a:r>
              <a:rPr sz="1100">
                <a:solidFill>
                  <a:srgbClr val="CC0000"/>
                </a:solidFill>
              </a:rPr>
              <a:t>Cisco HyperFlex Hybrid Infrastructure</a:t>
            </a:r>
          </a:p>
        </p:txBody>
      </p:sp>
      <p:pic>
        <p:nvPicPr>
          <p:cNvPr id="6" name="Picture 5" descr="consulting_company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93" y="4536078"/>
            <a:ext cx="2143858" cy="5296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7" name="Picture 6" descr="clien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171206"/>
            <a:ext cx="3978520" cy="1314694"/>
          </a:xfrm>
          <a:prstGeom prst="rect">
            <a:avLst/>
          </a:prstGeom>
        </p:spPr>
      </p:pic>
      <p:pic>
        <p:nvPicPr>
          <p:cNvPr id="8" name="Picture 7" descr="consulting_compan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92" y="4536078"/>
            <a:ext cx="2164114" cy="529698"/>
          </a:xfrm>
          <a:prstGeom prst="rect">
            <a:avLst/>
          </a:prstGeom>
        </p:spPr>
      </p:pic>
      <p:pic>
        <p:nvPicPr>
          <p:cNvPr id="9" name="Picture 8" descr="eo-framework-logo-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4535424"/>
            <a:ext cx="2139696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</TotalTime>
  <Words>42</Words>
  <Application>Microsoft Office PowerPoint</Application>
  <PresentationFormat>On-screen Show (16:9)</PresentationFormat>
  <Paragraphs>21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EOFramework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EOFramework Template</dc:title>
  <dc:subject>PptxGenJS Presentation</dc:subject>
  <dc:creator>EOFramework</dc:creator>
  <cp:lastModifiedBy>Kishan Siram</cp:lastModifiedBy>
  <cp:revision>84</cp:revision>
  <dcterms:created xsi:type="dcterms:W3CDTF">2025-11-01T21:16:10Z</dcterms:created>
  <dcterms:modified xsi:type="dcterms:W3CDTF">2025-11-22T19:37:42Z</dcterms:modified>
</cp:coreProperties>
</file>