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3732" y="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*Opening Statement:*</a:t>
            </a:r>
          </a:p>
          <a:p>
            <a:r>
              <a:t>Good [morning/afternoon]. Today we're celebrating the successful completion of the Cisco HyperFlex Hybrid Infrastructure implementation. This project has transformed [Client Name]'s data center from traditional 3-tier infrastructure to modern hyperconverged platform.</a:t>
            </a:r>
          </a:p>
          <a:p/>
          <a:p>
            <a:r>
              <a:t>*Key Talking Points - Expand on Each Bullet:*</a:t>
            </a:r>
          </a:p>
          <a:p/>
          <a:p>
            <a:r>
              <a:t>**Project Duration - 12 Weeks:**</a:t>
            </a:r>
          </a:p>
          <a:p>
            <a:r>
              <a:t>- Executed exactly as planned in the Statement of Work</a:t>
            </a:r>
          </a:p>
          <a:p>
            <a:r>
              <a:t>- Phase 1 (Weeks 1-2): Infrastructure assessment, HyperFlex design</a:t>
            </a:r>
          </a:p>
          <a:p>
            <a:r>
              <a:t>- Phase 2 (Weeks 3-4): HyperFlex 4-node cluster deployment, vSphere 8 setup</a:t>
            </a:r>
          </a:p>
          <a:p>
            <a:r>
              <a:t>- Phase 3 (Weeks 5-8): VM migration in 4 waves (pilot + 3 production)</a:t>
            </a:r>
          </a:p>
          <a:p>
            <a:r>
              <a:t>- Phase 4 (Weeks 9-12): Optimization, training, hypercare transition</a:t>
            </a:r>
          </a:p>
          <a:p>
            <a:r>
              <a:t>- No schedule slippage despite migration complexity</a:t>
            </a:r>
          </a:p>
          <a:p/>
          <a:p>
            <a:r>
              <a:t>**Budget - $417,000 Year 1:**</a:t>
            </a:r>
          </a:p>
          <a:p>
            <a:r>
              <a:t>- Hardware: $279,000 (4x HyperFlex HX240c M5 + UCS 6454 FIs)</a:t>
            </a:r>
          </a:p>
          <a:p>
            <a:r>
              <a:t>- Software Licenses: $86,000 (VMware Enterprise Plus + HyperFlex)</a:t>
            </a:r>
          </a:p>
          <a:p>
            <a:r>
              <a:t>- Support &amp; Maintenance: $52,000</a:t>
            </a:r>
          </a:p>
          <a:p>
            <a:r>
              <a:t>- Annual recurring cost: $158,000/year for Years 2-3</a:t>
            </a:r>
          </a:p>
          <a:p>
            <a:r>
              <a:t>- 3-Year TCO: $733,000</a:t>
            </a:r>
          </a:p>
          <a:p/>
          <a:p>
            <a:r>
              <a:t>**Go-Live - Week 12:**</a:t>
            </a:r>
          </a:p>
          <a:p>
            <a:r>
              <a:t>- Phased migration approach validated with pilot first</a:t>
            </a:r>
          </a:p>
          <a:p>
            <a:r>
              <a:t>- 20 VMs in pilot proved approach before production</a:t>
            </a:r>
          </a:p>
          <a:p>
            <a:r>
              <a:t>- All 180 VMs migrated by Week 8</a:t>
            </a:r>
          </a:p>
          <a:p>
            <a:r>
              <a:t>- Zero rollback events required during migration</a:t>
            </a:r>
          </a:p>
          <a:p/>
          <a:p>
            <a:r>
              <a:t>**Quality - Zero Critical Defects:**</a:t>
            </a:r>
          </a:p>
          <a:p>
            <a:r>
              <a:t>- All test cases executed with 100% pass rate</a:t>
            </a:r>
          </a:p>
          <a:p>
            <a:r>
              <a:t>- No P1 or P2 defects at go-live</a:t>
            </a:r>
          </a:p>
          <a:p>
            <a:r>
              <a:t>- VM migration validated with application testing</a:t>
            </a:r>
          </a:p>
          <a:p>
            <a:r>
              <a:t>- Performance targets exceeded</a:t>
            </a:r>
          </a:p>
          <a:p/>
          <a:p>
            <a:r>
              <a:t>**Space Reduction - 71%:**</a:t>
            </a:r>
          </a:p>
          <a:p>
            <a:r>
              <a:t>- Baseline: 42U rack space (servers + SAN)</a:t>
            </a:r>
          </a:p>
          <a:p>
            <a:r>
              <a:t>- Current: 12U (4-node HyperFlex + FIs)</a:t>
            </a:r>
          </a:p>
          <a:p>
            <a:r>
              <a:t>- Exceeded 70% target</a:t>
            </a:r>
          </a:p>
          <a:p>
            <a:r>
              <a:t>- Additional 2U available for growth</a:t>
            </a:r>
          </a:p>
          <a:p/>
          <a:p>
            <a:r>
              <a:t>**VM Provisioning - 8 Minutes:**</a:t>
            </a:r>
          </a:p>
          <a:p>
            <a:r>
              <a:t>- Target: 10 minutes (vs 4-8 hours manual)</a:t>
            </a:r>
          </a:p>
          <a:p>
            <a:r>
              <a:t>- Achieved: 8 minutes average</a:t>
            </a:r>
          </a:p>
          <a:p>
            <a:r>
              <a:t>- Template-based provisioning</a:t>
            </a:r>
          </a:p>
          <a:p>
            <a:r>
              <a:t>- 98% faster than legacy process</a:t>
            </a:r>
          </a:p>
          <a:p/>
          <a:p>
            <a:r>
              <a:t>**ROI - 30-Month Payback:**</a:t>
            </a:r>
          </a:p>
          <a:p>
            <a:r>
              <a:t>- Annual operational savings: $85K (power/cooling)</a:t>
            </a:r>
          </a:p>
          <a:p>
            <a:r>
              <a:t>- Labor efficiency: $45K (simplified operations)</a:t>
            </a:r>
          </a:p>
          <a:p>
            <a:r>
              <a:t>- Total Year 1 benefit: $130K</a:t>
            </a:r>
          </a:p>
          <a:p>
            <a:r>
              <a:t>- Payback within target window</a:t>
            </a:r>
          </a:p>
          <a:p/>
          <a:p>
            <a:r>
              <a:t>*Transition to Next Slide:*</a:t>
            </a:r>
          </a:p>
          <a:p>
            <a:r>
              <a:t>"Let me walk you through exactly what we built together..."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*Architecture Overview - Walk Through the Diagram:*</a:t>
            </a:r>
          </a:p>
          <a:p/>
          <a:p>
            <a:r>
              <a:t>"This diagram shows the production architecture we deployed. Let me walk through the key components..."</a:t>
            </a:r>
          </a:p>
          <a:p/>
          <a:p>
            <a:r>
              <a:t>**Compute &amp; Storage - HyperFlex Cluster:**</a:t>
            </a:r>
          </a:p>
          <a:p>
            <a:r>
              <a:t>- 4x HyperFlex HX240c M5 nodes in hyperconverged cluster</a:t>
            </a:r>
          </a:p>
          <a:p>
            <a:r>
              <a:t>- Dual Intel Xeon Gold 6248R processors per node</a:t>
            </a:r>
          </a:p>
          <a:p>
            <a:r>
              <a:t>- 768 GB RAM per node (3 TB total)</a:t>
            </a:r>
          </a:p>
          <a:p>
            <a:r>
              <a:t>- All-NVMe storage with 7.68 TB drives</a:t>
            </a:r>
          </a:p>
          <a:p>
            <a:r>
              <a:t>- 20 TB usable capacity after deduplication/compression</a:t>
            </a:r>
          </a:p>
          <a:p>
            <a:r>
              <a:t>- Data replication factor of 3 for protection</a:t>
            </a:r>
          </a:p>
          <a:p/>
          <a:p>
            <a:r>
              <a:t>**Network Fabric:**</a:t>
            </a:r>
          </a:p>
          <a:p>
            <a:r>
              <a:t>- 2x UCS 6454 Fabric Interconnects (redundant)</a:t>
            </a:r>
          </a:p>
          <a:p>
            <a:r>
              <a:t>- 54 ports each (48x 25GbE + 6x 100GbE)</a:t>
            </a:r>
          </a:p>
          <a:p>
            <a:r>
              <a:t>- Unified fabric for LAN and SAN traffic</a:t>
            </a:r>
          </a:p>
          <a:p>
            <a:r>
              <a:t>- vPC configuration for high availability</a:t>
            </a:r>
          </a:p>
          <a:p>
            <a:r>
              <a:t>- Full redundancy - survives single FI failure</a:t>
            </a:r>
          </a:p>
          <a:p/>
          <a:p>
            <a:r>
              <a:t>**VM Workload Capacity:**</a:t>
            </a:r>
          </a:p>
          <a:p>
            <a:r>
              <a:t>- Current: 180 VMs running</a:t>
            </a:r>
          </a:p>
          <a:p>
            <a:r>
              <a:t>- Capacity: 200-300 VMs per design</a:t>
            </a:r>
          </a:p>
          <a:p>
            <a:r>
              <a:t>- Growth headroom: 50% additional capacity</a:t>
            </a:r>
          </a:p>
          <a:p>
            <a:r>
              <a:t>- Can add nodes for further scaling</a:t>
            </a:r>
          </a:p>
          <a:p/>
          <a:p>
            <a:r>
              <a:t>**Management Platform:**</a:t>
            </a:r>
          </a:p>
          <a:p>
            <a:r>
              <a:t>- Cisco Intersight for HyperFlex management</a:t>
            </a:r>
          </a:p>
          <a:p>
            <a:r>
              <a:t>  - Cloud-based monitoring and analytics</a:t>
            </a:r>
          </a:p>
          <a:p>
            <a:r>
              <a:t>  - Firmware updates and compliance</a:t>
            </a:r>
          </a:p>
          <a:p>
            <a:r>
              <a:t>  - Health monitoring and alerts</a:t>
            </a:r>
          </a:p>
          <a:p>
            <a:r>
              <a:t>- VMware vSphere 8 for VM management</a:t>
            </a:r>
          </a:p>
          <a:p>
            <a:r>
              <a:t>  - vCenter Server for centralized management</a:t>
            </a:r>
          </a:p>
          <a:p>
            <a:r>
              <a:t>  - DRS for automatic load balancing</a:t>
            </a:r>
          </a:p>
          <a:p>
            <a:r>
              <a:t>  - HA for automatic VM restart</a:t>
            </a:r>
          </a:p>
          <a:p>
            <a:r>
              <a:t>- Veeam Backup &amp; Replication</a:t>
            </a:r>
          </a:p>
          <a:p>
            <a:r>
              <a:t>  - Snapshot-based backup integration</a:t>
            </a:r>
          </a:p>
          <a:p>
            <a:r>
              <a:t>  - Policy-based backup schedules</a:t>
            </a:r>
          </a:p>
          <a:p>
            <a:r>
              <a:t>  - 30-day daily retention</a:t>
            </a:r>
          </a:p>
          <a:p/>
          <a:p>
            <a:r>
              <a:t>**Key Architecture Decisions:**</a:t>
            </a:r>
          </a:p>
          <a:p>
            <a:r>
              <a:t>1. All-flash NVMe for performance (30.7 TB raw)</a:t>
            </a:r>
          </a:p>
          <a:p>
            <a:r>
              <a:t>2. Replication factor 3 for data protection</a:t>
            </a:r>
          </a:p>
          <a:p>
            <a:r>
              <a:t>3. N+1 fault tolerance (cluster survives node failure)</a:t>
            </a:r>
          </a:p>
          <a:p>
            <a:r>
              <a:t>4. Cloud management with Intersight</a:t>
            </a:r>
          </a:p>
          <a:p/>
          <a:p>
            <a:r>
              <a:t>*Transition:*</a:t>
            </a:r>
          </a:p>
          <a:p>
            <a:r>
              <a:t>"Now let me show you the complete deliverables package we're handing over..."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*Deliverables Deep Dive - Review Each Item:*</a:t>
            </a:r>
          </a:p>
          <a:p/>
          <a:p>
            <a:r>
              <a:t>**1. Infrastructure Assessment:**</a:t>
            </a:r>
          </a:p>
          <a:p>
            <a:r>
              <a:t>- Complete inventory of 180 VMs with resource requirements</a:t>
            </a:r>
          </a:p>
          <a:p>
            <a:r>
              <a:t>- Storage analysis showing 15 TB actual usage</a:t>
            </a:r>
          </a:p>
          <a:p>
            <a:r>
              <a:t>- Performance baselines for migration comparison</a:t>
            </a:r>
          </a:p>
          <a:p>
            <a:r>
              <a:t>- Dependency mapping for migration wave planning</a:t>
            </a:r>
          </a:p>
          <a:p>
            <a:r>
              <a:t>- Reviewed and accepted by Infrastructure Lead</a:t>
            </a:r>
          </a:p>
          <a:p/>
          <a:p>
            <a:r>
              <a:t>**2. Detailed Design Document:**</a:t>
            </a:r>
          </a:p>
          <a:p>
            <a:r>
              <a:t>- 40+ pages comprehensive technical documentation</a:t>
            </a:r>
          </a:p>
          <a:p>
            <a:r>
              <a:t>- HyperFlex cluster configuration specifications</a:t>
            </a:r>
          </a:p>
          <a:p>
            <a:r>
              <a:t>- Network fabric design with UCS configuration</a:t>
            </a:r>
          </a:p>
          <a:p>
            <a:r>
              <a:t>- vSphere 8 architecture and settings</a:t>
            </a:r>
          </a:p>
          <a:p>
            <a:r>
              <a:t>- Intersight integration architecture</a:t>
            </a:r>
          </a:p>
          <a:p>
            <a:r>
              <a:t>- Living document - recommend annual review</a:t>
            </a:r>
          </a:p>
          <a:p/>
          <a:p>
            <a:r>
              <a:t>**3. Implementation Guide:**</a:t>
            </a:r>
          </a:p>
          <a:p>
            <a:r>
              <a:t>- Step-by-step deployment procedures</a:t>
            </a:r>
          </a:p>
          <a:p>
            <a:r>
              <a:t>- Prerequisites checklist</a:t>
            </a:r>
          </a:p>
          <a:p>
            <a:r>
              <a:t>- HyperFlex installation and configuration</a:t>
            </a:r>
          </a:p>
          <a:p>
            <a:r>
              <a:t>- vSphere deployment and VM migration</a:t>
            </a:r>
          </a:p>
          <a:p>
            <a:r>
              <a:t>- Validated by rebuilding test environment</a:t>
            </a:r>
          </a:p>
          <a:p/>
          <a:p>
            <a:r>
              <a:t>**4. Project Plan:**</a:t>
            </a:r>
          </a:p>
          <a:p>
            <a:r>
              <a:t>- Four worksheets:</a:t>
            </a:r>
          </a:p>
          <a:p>
            <a:r>
              <a:t>  1. Project Timeline - 28 tasks across 12 weeks</a:t>
            </a:r>
          </a:p>
          <a:p>
            <a:r>
              <a:t>  2. Milestones - 6 major milestones tracked</a:t>
            </a:r>
          </a:p>
          <a:p>
            <a:r>
              <a:t>  3. RACI Matrix - Clear ownership for all activities</a:t>
            </a:r>
          </a:p>
          <a:p>
            <a:r>
              <a:t>  4. Communications Plan - Meeting cadence defined</a:t>
            </a:r>
          </a:p>
          <a:p>
            <a:r>
              <a:t>- All milestones achieved on schedule</a:t>
            </a:r>
          </a:p>
          <a:p/>
          <a:p>
            <a:r>
              <a:t>**5. Test Plan &amp; Results:**</a:t>
            </a:r>
          </a:p>
          <a:p>
            <a:r>
              <a:t>- Three test categories:</a:t>
            </a:r>
          </a:p>
          <a:p>
            <a:r>
              <a:t>  1. Functional Tests - HyperFlex and vSphere validation</a:t>
            </a:r>
          </a:p>
          <a:p>
            <a:r>
              <a:t>  2. Non-Functional Tests - Performance and resilience</a:t>
            </a:r>
          </a:p>
          <a:p>
            <a:r>
              <a:t>  3. User Acceptance Tests - Migration validation</a:t>
            </a:r>
          </a:p>
          <a:p>
            <a:r>
              <a:t>- 100% pass rate on all test cases</a:t>
            </a:r>
          </a:p>
          <a:p/>
          <a:p>
            <a:r>
              <a:t>**6. Migration Reports:**</a:t>
            </a:r>
          </a:p>
          <a:p>
            <a:r>
              <a:t>- Wave-by-wave migration status</a:t>
            </a:r>
          </a:p>
          <a:p>
            <a:r>
              <a:t>- Application validation results</a:t>
            </a:r>
          </a:p>
          <a:p>
            <a:r>
              <a:t>- Performance comparison data</a:t>
            </a:r>
          </a:p>
          <a:p>
            <a:r>
              <a:t>- Rollback plans (unused)</a:t>
            </a:r>
          </a:p>
          <a:p/>
          <a:p>
            <a:r>
              <a:t>**7. Operations Runbook:**</a:t>
            </a:r>
          </a:p>
          <a:p>
            <a:r>
              <a:t>- Daily operations checklist</a:t>
            </a:r>
          </a:p>
          <a:p>
            <a:r>
              <a:t>- Intersight monitoring guide</a:t>
            </a:r>
          </a:p>
          <a:p>
            <a:r>
              <a:t>- Common troubleshooting scenarios</a:t>
            </a:r>
          </a:p>
          <a:p>
            <a:r>
              <a:t>- Escalation procedures</a:t>
            </a:r>
          </a:p>
          <a:p>
            <a:r>
              <a:t>- Backup verification procedures</a:t>
            </a:r>
          </a:p>
          <a:p/>
          <a:p>
            <a:r>
              <a:t>**8. Training Materials:**</a:t>
            </a:r>
          </a:p>
          <a:p>
            <a:r>
              <a:t>- Administrator Guide (PDF, 25 pages)</a:t>
            </a:r>
          </a:p>
          <a:p>
            <a:r>
              <a:t>- Quick reference cards</a:t>
            </a:r>
          </a:p>
          <a:p>
            <a:r>
              <a:t>- Video recordings (24 hours total):</a:t>
            </a:r>
          </a:p>
          <a:p>
            <a:r>
              <a:t>  1. HyperFlex administration</a:t>
            </a:r>
          </a:p>
          <a:p>
            <a:r>
              <a:t>  2. Intersight cloud management</a:t>
            </a:r>
          </a:p>
          <a:p>
            <a:r>
              <a:t>  3. vSphere operations</a:t>
            </a:r>
          </a:p>
          <a:p>
            <a:r>
              <a:t>  4. Backup and recovery</a:t>
            </a:r>
          </a:p>
          <a:p>
            <a:r>
              <a:t>- Total: 24 hours training as per SOW</a:t>
            </a:r>
          </a:p>
          <a:p/>
          <a:p>
            <a:r>
              <a:t>*Transition:*</a:t>
            </a:r>
          </a:p>
          <a:p>
            <a:r>
              <a:t>"Let's look at how the solution is performing against our targets..."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*Quality &amp; Performance Deep Dive:*</a:t>
            </a:r>
          </a:p>
          <a:p/>
          <a:p>
            <a:r>
              <a:t>**Infrastructure Metrics - Detailed Breakdown:**</a:t>
            </a:r>
          </a:p>
          <a:p/>
          <a:p>
            <a:r>
              <a:t>*Space Reduction: 71%*</a:t>
            </a:r>
          </a:p>
          <a:p>
            <a:r>
              <a:t>- Legacy: 42U rack space</a:t>
            </a:r>
          </a:p>
          <a:p>
            <a:r>
              <a:t>  - 40+ rack-mounted servers (36U)</a:t>
            </a:r>
          </a:p>
          <a:p>
            <a:r>
              <a:t>  - SAN storage arrays (6U)</a:t>
            </a:r>
          </a:p>
          <a:p>
            <a:r>
              <a:t>- HyperFlex: 12U rack space</a:t>
            </a:r>
          </a:p>
          <a:p>
            <a:r>
              <a:t>  - 4x HyperFlex nodes (8U)</a:t>
            </a:r>
          </a:p>
          <a:p>
            <a:r>
              <a:t>  - 2x Fabric Interconnects (4U)</a:t>
            </a:r>
          </a:p>
          <a:p>
            <a:r>
              <a:t>- Power reduction: 35% lower consumption</a:t>
            </a:r>
          </a:p>
          <a:p>
            <a:r>
              <a:t>- Cooling reduction: Corresponding decrease</a:t>
            </a:r>
          </a:p>
          <a:p/>
          <a:p>
            <a:r>
              <a:t>*VM Provisioning: 8 Minutes*</a:t>
            </a:r>
          </a:p>
          <a:p>
            <a:r>
              <a:t>- Legacy process: 4-8 hours</a:t>
            </a:r>
          </a:p>
          <a:p>
            <a:r>
              <a:t>  - Manual server selection</a:t>
            </a:r>
          </a:p>
          <a:p>
            <a:r>
              <a:t>  - Storage provisioning</a:t>
            </a:r>
          </a:p>
          <a:p>
            <a:r>
              <a:t>  - Network configuration</a:t>
            </a:r>
          </a:p>
          <a:p>
            <a:r>
              <a:t>  - OS installation</a:t>
            </a:r>
          </a:p>
          <a:p>
            <a:r>
              <a:t>- HyperFlex process: 8 minutes</a:t>
            </a:r>
          </a:p>
          <a:p>
            <a:r>
              <a:t>  - Template-based deployment</a:t>
            </a:r>
          </a:p>
          <a:p>
            <a:r>
              <a:t>  - Automated storage allocation</a:t>
            </a:r>
          </a:p>
          <a:p>
            <a:r>
              <a:t>  - Pre-configured networking</a:t>
            </a:r>
          </a:p>
          <a:p>
            <a:r>
              <a:t>  - One-click provisioning</a:t>
            </a:r>
          </a:p>
          <a:p/>
          <a:p>
            <a:r>
              <a:t>*Storage Performance:*</a:t>
            </a:r>
          </a:p>
          <a:p>
            <a:r>
              <a:t>- IOPS: 180,000 (80% above target)</a:t>
            </a:r>
          </a:p>
          <a:p>
            <a:r>
              <a:t>- Latency: 0.5ms average (90% under target)</a:t>
            </a:r>
          </a:p>
          <a:p>
            <a:r>
              <a:t>- All-flash NVMe performance</a:t>
            </a:r>
          </a:p>
          <a:p>
            <a:r>
              <a:t>- Inline deduplication and compression</a:t>
            </a:r>
          </a:p>
          <a:p/>
          <a:p>
            <a:r>
              <a:t>**Platform Metrics - Detailed Analysis:**</a:t>
            </a:r>
          </a:p>
          <a:p/>
          <a:p>
            <a:r>
              <a:t>*Availability: 99.95%*</a:t>
            </a:r>
          </a:p>
          <a:p>
            <a:r>
              <a:t>- Target: 99.9%</a:t>
            </a:r>
          </a:p>
          <a:p>
            <a:r>
              <a:t>- Achieved: 99.95% in first 30 days</a:t>
            </a:r>
          </a:p>
          <a:p>
            <a:r>
              <a:t>- No unplanned outages</a:t>
            </a:r>
          </a:p>
          <a:p>
            <a:r>
              <a:t>- N+1 fault tolerance validated</a:t>
            </a:r>
          </a:p>
          <a:p/>
          <a:p>
            <a:r>
              <a:t>*Deduplication Ratio: 2.3:1*</a:t>
            </a:r>
          </a:p>
          <a:p>
            <a:r>
              <a:t>- Effective capacity increase</a:t>
            </a:r>
          </a:p>
          <a:p>
            <a:r>
              <a:t>- 20 TB usable becomes ~46 TB effective</a:t>
            </a:r>
          </a:p>
          <a:p>
            <a:r>
              <a:t>- Varies by workload type</a:t>
            </a:r>
          </a:p>
          <a:p>
            <a:r>
              <a:t>- Windows VMs: 2.5:1 average</a:t>
            </a:r>
          </a:p>
          <a:p>
            <a:r>
              <a:t>- Database VMs: 1.8:1 average</a:t>
            </a:r>
          </a:p>
          <a:p/>
          <a:p>
            <a:r>
              <a:t>*Data Protection:*</a:t>
            </a:r>
          </a:p>
          <a:p>
            <a:r>
              <a:t>- 3-way replication across nodes</a:t>
            </a:r>
          </a:p>
          <a:p>
            <a:r>
              <a:t>- Survives any single node failure</a:t>
            </a:r>
          </a:p>
          <a:p>
            <a:r>
              <a:t>- Self-healing after failure</a:t>
            </a:r>
          </a:p>
          <a:p>
            <a:r>
              <a:t>- 4-hour rebuild time tested</a:t>
            </a:r>
          </a:p>
          <a:p/>
          <a:p>
            <a:r>
              <a:t>**Testing Summary:**</a:t>
            </a:r>
          </a:p>
          <a:p>
            <a:r>
              <a:t>- All functional tests: PASS</a:t>
            </a:r>
          </a:p>
          <a:p>
            <a:r>
              <a:t>- All non-functional tests: PASS</a:t>
            </a:r>
          </a:p>
          <a:p>
            <a:r>
              <a:t>- All UAT tests: PASS</a:t>
            </a:r>
          </a:p>
          <a:p>
            <a:r>
              <a:t>- Migration validation: 180 VMs successful</a:t>
            </a:r>
          </a:p>
          <a:p/>
          <a:p>
            <a:r>
              <a:t>*Transition:*</a:t>
            </a:r>
          </a:p>
          <a:p>
            <a:r>
              <a:t>"These performance improvements translate directly into business value. Let me show you the benefits..."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*Benefits Analysis - Detailed ROI Discussion:*</a:t>
            </a:r>
          </a:p>
          <a:p/>
          <a:p>
            <a:r>
              <a:t>**Space Reduction - 71%:**</a:t>
            </a:r>
          </a:p>
          <a:p/>
          <a:p>
            <a:r>
              <a:t>*Before (3-Tier Infrastructure):*</a:t>
            </a:r>
          </a:p>
          <a:p>
            <a:r>
              <a:t>- 40+ rack-mounted servers across 36U</a:t>
            </a:r>
          </a:p>
          <a:p>
            <a:r>
              <a:t>- SAN storage arrays consuming 6U</a:t>
            </a:r>
          </a:p>
          <a:p>
            <a:r>
              <a:t>- Separate network switches</a:t>
            </a:r>
          </a:p>
          <a:p>
            <a:r>
              <a:t>- Total: 42U of rack space</a:t>
            </a:r>
          </a:p>
          <a:p/>
          <a:p>
            <a:r>
              <a:t>*After (HyperFlex):*</a:t>
            </a:r>
          </a:p>
          <a:p>
            <a:r>
              <a:t>- 4x HyperFlex nodes in 8U</a:t>
            </a:r>
          </a:p>
          <a:p>
            <a:r>
              <a:t>- 2x Fabric Interconnects in 4U</a:t>
            </a:r>
          </a:p>
          <a:p>
            <a:r>
              <a:t>- Total: 12U of rack space</a:t>
            </a:r>
          </a:p>
          <a:p>
            <a:r>
              <a:t>- 30U freed for other use</a:t>
            </a:r>
          </a:p>
          <a:p/>
          <a:p>
            <a:r>
              <a:t>**CapEx Savings - 51%:**</a:t>
            </a:r>
          </a:p>
          <a:p/>
          <a:p>
            <a:r>
              <a:t>*Traditional 3-Tier Quote:*</a:t>
            </a:r>
          </a:p>
          <a:p>
            <a:r>
              <a:t>| Component | Cost |</a:t>
            </a:r>
          </a:p>
          <a:p>
            <a:r>
              <a:t>|-----------|------|</a:t>
            </a:r>
          </a:p>
          <a:p>
            <a:r>
              <a:t>| Servers (40+) | $360,000 |</a:t>
            </a:r>
          </a:p>
          <a:p>
            <a:r>
              <a:t>| SAN Storage | $180,000 |</a:t>
            </a:r>
          </a:p>
          <a:p>
            <a:r>
              <a:t>| Network Switches | $60,000 |</a:t>
            </a:r>
          </a:p>
          <a:p>
            <a:r>
              <a:t>| **Total** | **$600,000** |</a:t>
            </a:r>
          </a:p>
          <a:p/>
          <a:p>
            <a:r>
              <a:t>*HyperFlex Solution:*</a:t>
            </a:r>
          </a:p>
          <a:p>
            <a:r>
              <a:t>| Component | Cost |</a:t>
            </a:r>
          </a:p>
          <a:p>
            <a:r>
              <a:t>|-----------|------|</a:t>
            </a:r>
          </a:p>
          <a:p>
            <a:r>
              <a:t>| HyperFlex Cluster | $200,000 |</a:t>
            </a:r>
          </a:p>
          <a:p>
            <a:r>
              <a:t>| UCS Fabric Interconnects | $54,000 |</a:t>
            </a:r>
          </a:p>
          <a:p>
            <a:r>
              <a:t>| Software Licenses | $40,000 |</a:t>
            </a:r>
          </a:p>
          <a:p>
            <a:r>
              <a:t>| **Total** | **$294,000** |</a:t>
            </a:r>
          </a:p>
          <a:p/>
          <a:p>
            <a:r>
              <a:t>*Savings: $306,000 (51%)*</a:t>
            </a:r>
          </a:p>
          <a:p/>
          <a:p>
            <a:r>
              <a:t>**Operational Savings - Annual:**</a:t>
            </a:r>
          </a:p>
          <a:p/>
          <a:p>
            <a:r>
              <a:t>| Category | Legacy | HyperFlex | Savings |</a:t>
            </a:r>
          </a:p>
          <a:p>
            <a:r>
              <a:t>|----------|--------|-----------|---------|</a:t>
            </a:r>
          </a:p>
          <a:p>
            <a:r>
              <a:t>| Power/Cooling | $150,000 | $65,000 | $85,000 |</a:t>
            </a:r>
          </a:p>
          <a:p>
            <a:r>
              <a:t>| Admin Labor | $60,000 | $15,000 | $45,000 |</a:t>
            </a:r>
          </a:p>
          <a:p>
            <a:r>
              <a:t>| **Total Annual** | | | **$130,000** |</a:t>
            </a:r>
          </a:p>
          <a:p/>
          <a:p>
            <a:r>
              <a:t>**ROI Summary:**</a:t>
            </a:r>
          </a:p>
          <a:p/>
          <a:p>
            <a:r>
              <a:t>| Metric | Value |</a:t>
            </a:r>
          </a:p>
          <a:p>
            <a:r>
              <a:t>|--------|-------|</a:t>
            </a:r>
          </a:p>
          <a:p>
            <a:r>
              <a:t>| Total Investment (Year 1) | $417,000 |</a:t>
            </a:r>
          </a:p>
          <a:p>
            <a:r>
              <a:t>| Year 1 Operational Savings | $130,000 |</a:t>
            </a:r>
          </a:p>
          <a:p>
            <a:r>
              <a:t>| Year 1 Net Cost | $287,000 |</a:t>
            </a:r>
          </a:p>
          <a:p>
            <a:r>
              <a:t>| Year 2 Savings | $130,000 |</a:t>
            </a:r>
          </a:p>
          <a:p>
            <a:r>
              <a:t>| Year 3 Savings | $130,000 |</a:t>
            </a:r>
          </a:p>
          <a:p>
            <a:r>
              <a:t>| 3-Year Net Savings | $390,000 |</a:t>
            </a:r>
          </a:p>
          <a:p>
            <a:r>
              <a:t>| Payback Period | 30 months |</a:t>
            </a:r>
          </a:p>
          <a:p/>
          <a:p>
            <a:r>
              <a:t>*Transition:*</a:t>
            </a:r>
          </a:p>
          <a:p>
            <a:r>
              <a:t>"We learned valuable lessons during this implementation..."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*Lessons Learned - Comprehensive Review:*</a:t>
            </a:r>
          </a:p>
          <a:p/>
          <a:p>
            <a:r>
              <a:t>**What Worked Well - Details:**</a:t>
            </a:r>
          </a:p>
          <a:p/>
          <a:p>
            <a:r>
              <a:t>*1. Pilot Migration (Week 5):*</a:t>
            </a:r>
          </a:p>
          <a:p>
            <a:r>
              <a:t>- Started with 20 non-critical VMs</a:t>
            </a:r>
          </a:p>
          <a:p>
            <a:r>
              <a:t>- File servers and development systems</a:t>
            </a:r>
          </a:p>
          <a:p>
            <a:r>
              <a:t>- Validated vMotion process</a:t>
            </a:r>
          </a:p>
          <a:p>
            <a:r>
              <a:t>- Established application testing procedures</a:t>
            </a:r>
          </a:p>
          <a:p>
            <a:r>
              <a:t>- Built team confidence before production</a:t>
            </a:r>
          </a:p>
          <a:p/>
          <a:p>
            <a:r>
              <a:t>*2. Wave-Based Migration:*</a:t>
            </a:r>
          </a:p>
          <a:p>
            <a:r>
              <a:t>- Wave 1: 50 business applications</a:t>
            </a:r>
          </a:p>
          <a:p>
            <a:r>
              <a:t>- Wave 2: 50 critical VMs (databases, ERP)</a:t>
            </a:r>
          </a:p>
          <a:p>
            <a:r>
              <a:t>- Wave 3: 60 remaining VMs</a:t>
            </a:r>
          </a:p>
          <a:p>
            <a:r>
              <a:t>- Each wave validated before proceeding</a:t>
            </a:r>
          </a:p>
          <a:p>
            <a:r>
              <a:t>- Rollback procedures ready (unused)</a:t>
            </a:r>
          </a:p>
          <a:p/>
          <a:p>
            <a:r>
              <a:t>*3. Intersight Cloud Management:*</a:t>
            </a:r>
          </a:p>
          <a:p>
            <a:r>
              <a:t>- Simplified HyperFlex monitoring</a:t>
            </a:r>
          </a:p>
          <a:p>
            <a:r>
              <a:t>- Proactive firmware recommendations</a:t>
            </a:r>
          </a:p>
          <a:p>
            <a:r>
              <a:t>- Health score trending</a:t>
            </a:r>
          </a:p>
          <a:p>
            <a:r>
              <a:t>- Single pane for all Cisco infrastructure</a:t>
            </a:r>
          </a:p>
          <a:p/>
          <a:p>
            <a:r>
              <a:t>**Challenges Overcome - Details:**</a:t>
            </a:r>
          </a:p>
          <a:p/>
          <a:p>
            <a:r>
              <a:t>*1. Legacy VM Compatibility:*</a:t>
            </a:r>
          </a:p>
          <a:p>
            <a:r>
              <a:t>- Challenge: 15 VMs on old VMware Tools</a:t>
            </a:r>
          </a:p>
          <a:p>
            <a:r>
              <a:t>- Impact: vMotion failures</a:t>
            </a:r>
          </a:p>
          <a:p>
            <a:r>
              <a:t>- Resolution: Pre-migration VMware Tools upgrades</a:t>
            </a:r>
          </a:p>
          <a:p>
            <a:r>
              <a:t>- Prevention: Add to migration checklist</a:t>
            </a:r>
          </a:p>
          <a:p/>
          <a:p>
            <a:r>
              <a:t>*2. Network VLAN Mapping:*</a:t>
            </a:r>
          </a:p>
          <a:p>
            <a:r>
              <a:t>- Challenge: Legacy VLANs not documented</a:t>
            </a:r>
          </a:p>
          <a:p>
            <a:r>
              <a:t>- Impact: Network connectivity issues</a:t>
            </a:r>
          </a:p>
          <a:p>
            <a:r>
              <a:t>- Resolution: Network discovery and mapping</a:t>
            </a:r>
          </a:p>
          <a:p>
            <a:r>
              <a:t>- Prevention: Network audit in assessment phase</a:t>
            </a:r>
          </a:p>
          <a:p/>
          <a:p>
            <a:r>
              <a:t>*3. Application Dependencies:*</a:t>
            </a:r>
          </a:p>
          <a:p>
            <a:r>
              <a:t>- Challenge: Undocumented app dependencies</a:t>
            </a:r>
          </a:p>
          <a:p>
            <a:r>
              <a:t>- Impact: Migration sequencing issues</a:t>
            </a:r>
          </a:p>
          <a:p>
            <a:r>
              <a:t>- Resolution: Application owner interviews</a:t>
            </a:r>
          </a:p>
          <a:p>
            <a:r>
              <a:t>- Prevention: Include dependency mapping in scope</a:t>
            </a:r>
          </a:p>
          <a:p/>
          <a:p>
            <a:r>
              <a:t>**Recommendations for Future:**</a:t>
            </a:r>
          </a:p>
          <a:p/>
          <a:p>
            <a:r>
              <a:t>*1. DR Site with Stretch Cluster:*</a:t>
            </a:r>
          </a:p>
          <a:p>
            <a:r>
              <a:t>- Optional scope item from SOW</a:t>
            </a:r>
          </a:p>
          <a:p>
            <a:r>
              <a:t>- Geographic redundancy</a:t>
            </a:r>
          </a:p>
          <a:p>
            <a:r>
              <a:t>- RPO near-zero, RTO &lt;15 minutes</a:t>
            </a:r>
          </a:p>
          <a:p>
            <a:r>
              <a:t>- Estimated: $150K additional</a:t>
            </a:r>
          </a:p>
          <a:p/>
          <a:p>
            <a:r>
              <a:t>*2. Kubernetes on HyperFlex:*</a:t>
            </a:r>
          </a:p>
          <a:p>
            <a:r>
              <a:t>- Container workload support</a:t>
            </a:r>
          </a:p>
          <a:p>
            <a:r>
              <a:t>- HyperFlex native Kubernetes</a:t>
            </a:r>
          </a:p>
          <a:p>
            <a:r>
              <a:t>- Modern application platform</a:t>
            </a:r>
          </a:p>
          <a:p/>
          <a:p>
            <a:r>
              <a:t>*3. Additional Node (Year 2):*</a:t>
            </a:r>
          </a:p>
          <a:p>
            <a:r>
              <a:t>- Current utilization: 65%</a:t>
            </a:r>
          </a:p>
          <a:p>
            <a:r>
              <a:t>- Growth projection: 15%/year</a:t>
            </a:r>
          </a:p>
          <a:p>
            <a:r>
              <a:t>- 5th node provides headroom</a:t>
            </a:r>
          </a:p>
          <a:p/>
          <a:p>
            <a:r>
              <a:t>*Transition:*</a:t>
            </a:r>
          </a:p>
          <a:p>
            <a:r>
              <a:t>"Let me walk you through how we're transitioning support..."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*Support Transition - Complete Details:*</a:t>
            </a:r>
          </a:p>
          <a:p/>
          <a:p>
            <a:r>
              <a:t>**Hypercare Period Summary (4 Weeks Post-Go-Live):**</a:t>
            </a:r>
          </a:p>
          <a:p/>
          <a:p>
            <a:r>
              <a:t>*Daily Activities Completed:*</a:t>
            </a:r>
          </a:p>
          <a:p>
            <a:r>
              <a:t>- Morning health check calls (9am)</a:t>
            </a:r>
          </a:p>
          <a:p>
            <a:r>
              <a:t>- Intersight dashboard review</a:t>
            </a:r>
          </a:p>
          <a:p>
            <a:r>
              <a:t>- HyperFlex cluster health validation</a:t>
            </a:r>
          </a:p>
          <a:p>
            <a:r>
              <a:t>- vSphere resource monitoring</a:t>
            </a:r>
          </a:p>
          <a:p>
            <a:r>
              <a:t>- Backup job verification</a:t>
            </a:r>
          </a:p>
          <a:p/>
          <a:p>
            <a:r>
              <a:t>*Issues Resolved During Hypercare:*</a:t>
            </a:r>
          </a:p>
          <a:p/>
          <a:p>
            <a:r>
              <a:t>Issue #1 (P3) - Day 3:</a:t>
            </a:r>
          </a:p>
          <a:p>
            <a:r>
              <a:t>- Problem: VM storage policy mismatch</a:t>
            </a:r>
          </a:p>
          <a:p>
            <a:r>
              <a:t>- Root cause: Default policy applied incorrectly</a:t>
            </a:r>
          </a:p>
          <a:p>
            <a:r>
              <a:t>- Resolution: Policy corrected, VM reconfigured</a:t>
            </a:r>
          </a:p>
          <a:p>
            <a:r>
              <a:t>- Prevention: Added to deployment checklist</a:t>
            </a:r>
          </a:p>
          <a:p/>
          <a:p>
            <a:r>
              <a:t>Issue #2 (P3) - Day 8:</a:t>
            </a:r>
          </a:p>
          <a:p>
            <a:r>
              <a:t>- Problem: Intersight alert threshold noisy</a:t>
            </a:r>
          </a:p>
          <a:p>
            <a:r>
              <a:t>- Root cause: Default thresholds too sensitive</a:t>
            </a:r>
          </a:p>
          <a:p>
            <a:r>
              <a:t>- Resolution: Threshold tuning</a:t>
            </a:r>
          </a:p>
          <a:p>
            <a:r>
              <a:t>- Cost impact: None</a:t>
            </a:r>
          </a:p>
          <a:p/>
          <a:p>
            <a:r>
              <a:t>Issue #3 (P3) - Day 15:</a:t>
            </a:r>
          </a:p>
          <a:p>
            <a:r>
              <a:t>- Problem: Veeam job timing conflict</a:t>
            </a:r>
          </a:p>
          <a:p>
            <a:r>
              <a:t>- Root cause: Overlapping backup windows</a:t>
            </a:r>
          </a:p>
          <a:p>
            <a:r>
              <a:t>- Resolution: Staggered backup schedules</a:t>
            </a:r>
          </a:p>
          <a:p>
            <a:r>
              <a:t>- Prevention: Backup planning in runbook</a:t>
            </a:r>
          </a:p>
          <a:p/>
          <a:p>
            <a:r>
              <a:t>*Knowledge Transfer Sessions:*</a:t>
            </a:r>
          </a:p>
          <a:p/>
          <a:p>
            <a:r>
              <a:t>| Session | Date | Attendees | Hours |</a:t>
            </a:r>
          </a:p>
          <a:p>
            <a:r>
              <a:t>|---------|------|-----------|-------|</a:t>
            </a:r>
          </a:p>
          <a:p>
            <a:r>
              <a:t>| HyperFlex Admin | Week 9 | 4 admins | 8 |</a:t>
            </a:r>
          </a:p>
          <a:p>
            <a:r>
              <a:t>| Intersight Ops | Week 10 | 4 admins | 4 |</a:t>
            </a:r>
          </a:p>
          <a:p>
            <a:r>
              <a:t>| vSphere on HX | Week 10 | 4 admins | 8 |</a:t>
            </a:r>
          </a:p>
          <a:p>
            <a:r>
              <a:t>| Backup/Recovery | Week 11 | 4 admins | 4 |</a:t>
            </a:r>
          </a:p>
          <a:p/>
          <a:p>
            <a:r>
              <a:t>**Steady State Support Model:**</a:t>
            </a:r>
          </a:p>
          <a:p/>
          <a:p>
            <a:r>
              <a:t>*What Client Team Handles (L1/L2):*</a:t>
            </a:r>
          </a:p>
          <a:p>
            <a:r>
              <a:t>- Daily monitoring via Intersight</a:t>
            </a:r>
          </a:p>
          <a:p>
            <a:r>
              <a:t>- VM provisioning and management</a:t>
            </a:r>
          </a:p>
          <a:p>
            <a:r>
              <a:t>- Backup verification</a:t>
            </a:r>
          </a:p>
          <a:p>
            <a:r>
              <a:t>- Basic troubleshooting (per runbook)</a:t>
            </a:r>
          </a:p>
          <a:p>
            <a:r>
              <a:t>- Performance monitoring</a:t>
            </a:r>
          </a:p>
          <a:p/>
          <a:p>
            <a:r>
              <a:t>*When to Escalate to Cisco TAC (L3):*</a:t>
            </a:r>
          </a:p>
          <a:p>
            <a:r>
              <a:t>- HyperFlex cluster issues</a:t>
            </a:r>
          </a:p>
          <a:p>
            <a:r>
              <a:t>- Node failures</a:t>
            </a:r>
          </a:p>
          <a:p>
            <a:r>
              <a:t>- Firmware upgrades</a:t>
            </a:r>
          </a:p>
          <a:p>
            <a:r>
              <a:t>- Performance degradation</a:t>
            </a:r>
          </a:p>
          <a:p>
            <a:r>
              <a:t>- Complex troubleshooting</a:t>
            </a:r>
          </a:p>
          <a:p/>
          <a:p>
            <a:r>
              <a:t>**Support Contacts:**</a:t>
            </a:r>
          </a:p>
          <a:p/>
          <a:p>
            <a:r>
              <a:t>| Role | Contact | Availability |</a:t>
            </a:r>
          </a:p>
          <a:p>
            <a:r>
              <a:t>|------|---------|--------------|</a:t>
            </a:r>
          </a:p>
          <a:p>
            <a:r>
              <a:t>| Infrastructure Lead | [Name/Email] | Business hours |</a:t>
            </a:r>
          </a:p>
          <a:p>
            <a:r>
              <a:t>| Cisco TAC | SmartNet | 24/7 |</a:t>
            </a:r>
          </a:p>
          <a:p>
            <a:r>
              <a:t>| VMware Support | Enterprise | 24/7 |</a:t>
            </a:r>
          </a:p>
          <a:p>
            <a:r>
              <a:t>| Veeam Support | Standard | Business hours |</a:t>
            </a:r>
          </a:p>
          <a:p/>
          <a:p>
            <a:r>
              <a:t>*Transition:*</a:t>
            </a:r>
          </a:p>
          <a:p>
            <a:r>
              <a:t>"Let me acknowledge the team and outline next steps..."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*Acknowledgments - Recognize Key Contributors:*</a:t>
            </a:r>
          </a:p>
          <a:p/>
          <a:p>
            <a:r>
              <a:t>**Client Team Recognition:**</a:t>
            </a:r>
          </a:p>
          <a:p/>
          <a:p>
            <a:r>
              <a:t>*Executive Sponsor - [Name]:*</a:t>
            </a:r>
          </a:p>
          <a:p>
            <a:r>
              <a:t>- Championed infrastructure modernization</a:t>
            </a:r>
          </a:p>
          <a:p>
            <a:r>
              <a:t>- Secured budget approval</a:t>
            </a:r>
          </a:p>
          <a:p>
            <a:r>
              <a:t>- Removed organizational blockers</a:t>
            </a:r>
          </a:p>
          <a:p>
            <a:r>
              <a:t>- Key decision: Approved HyperFlex approach</a:t>
            </a:r>
          </a:p>
          <a:p/>
          <a:p>
            <a:r>
              <a:t>*Infrastructure Lead - [Name]:*</a:t>
            </a:r>
          </a:p>
          <a:p>
            <a:r>
              <a:t>- Technical counterpart throughout</a:t>
            </a:r>
          </a:p>
          <a:p>
            <a:r>
              <a:t>- HyperFlex configuration validation</a:t>
            </a:r>
          </a:p>
          <a:p>
            <a:r>
              <a:t>- Migration wave coordination</a:t>
            </a:r>
          </a:p>
          <a:p>
            <a:r>
              <a:t>- Future platform owner</a:t>
            </a:r>
          </a:p>
          <a:p/>
          <a:p>
            <a:r>
              <a:t>*Virtualization Lead - [Name]:*</a:t>
            </a:r>
          </a:p>
          <a:p>
            <a:r>
              <a:t>- vSphere administration lead</a:t>
            </a:r>
          </a:p>
          <a:p>
            <a:r>
              <a:t>- VM migration execution</a:t>
            </a:r>
          </a:p>
          <a:p>
            <a:r>
              <a:t>- Application testing coordination</a:t>
            </a:r>
          </a:p>
          <a:p>
            <a:r>
              <a:t>- Knowledge transfer recipient</a:t>
            </a:r>
          </a:p>
          <a:p/>
          <a:p>
            <a:r>
              <a:t>**Vendor Team Recognition:**</a:t>
            </a:r>
          </a:p>
          <a:p/>
          <a:p>
            <a:r>
              <a:t>*EO Project Manager - [Name]:*</a:t>
            </a:r>
          </a:p>
          <a:p>
            <a:r>
              <a:t>- Overall delivery accountability</a:t>
            </a:r>
          </a:p>
          <a:p>
            <a:r>
              <a:t>- Stakeholder communication</a:t>
            </a:r>
          </a:p>
          <a:p>
            <a:r>
              <a:t>- On-time, on-budget delivery</a:t>
            </a:r>
          </a:p>
          <a:p/>
          <a:p>
            <a:r>
              <a:t>*EO HCI Engineer - [Name]:*</a:t>
            </a:r>
          </a:p>
          <a:p>
            <a:r>
              <a:t>- HyperFlex cluster deployment</a:t>
            </a:r>
          </a:p>
          <a:p>
            <a:r>
              <a:t>- Intersight integration</a:t>
            </a:r>
          </a:p>
          <a:p>
            <a:r>
              <a:t>- Performance optimization</a:t>
            </a:r>
          </a:p>
          <a:p/>
          <a:p>
            <a:r>
              <a:t>*EO Virtualization Engineer - [Name]:*</a:t>
            </a:r>
          </a:p>
          <a:p>
            <a:r>
              <a:t>- vSphere 8 deployment</a:t>
            </a:r>
          </a:p>
          <a:p>
            <a:r>
              <a:t>- VM migration execution</a:t>
            </a:r>
          </a:p>
          <a:p>
            <a:r>
              <a:t>- Training delivery</a:t>
            </a:r>
          </a:p>
          <a:p/>
          <a:p>
            <a:r>
              <a:t>**Immediate Next Steps (This Week):**</a:t>
            </a:r>
          </a:p>
          <a:p/>
          <a:p>
            <a:r>
              <a:t>| Task | Owner | Due Date |</a:t>
            </a:r>
          </a:p>
          <a:p>
            <a:r>
              <a:t>|------|-------|----------|</a:t>
            </a:r>
          </a:p>
          <a:p>
            <a:r>
              <a:t>| Final documentation handover | PM | [Date] |</a:t>
            </a:r>
          </a:p>
          <a:p>
            <a:r>
              <a:t>| Archive project artifacts | PM | [Date] |</a:t>
            </a:r>
          </a:p>
          <a:p>
            <a:r>
              <a:t>| Legacy decommission planning | Infra Lead | [Date] |</a:t>
            </a:r>
          </a:p>
          <a:p/>
          <a:p>
            <a:r>
              <a:t>**30-Day Next Steps:**</a:t>
            </a:r>
          </a:p>
          <a:p/>
          <a:p>
            <a:r>
              <a:t>| Task | Owner | Due Date |</a:t>
            </a:r>
          </a:p>
          <a:p>
            <a:r>
              <a:t>|------|-------|----------|</a:t>
            </a:r>
          </a:p>
          <a:p>
            <a:r>
              <a:t>| First monthly performance review | Infra Lead | [Date+30] |</a:t>
            </a:r>
          </a:p>
          <a:p>
            <a:r>
              <a:t>| DR site planning workshop | PM | [Date+30] |</a:t>
            </a:r>
          </a:p>
          <a:p>
            <a:r>
              <a:t>| Node expansion assessment | HCI Engineer | [Date+45] |</a:t>
            </a:r>
          </a:p>
          <a:p/>
          <a:p>
            <a:r>
              <a:t>*Transition:*</a:t>
            </a:r>
          </a:p>
          <a:p>
            <a:r>
              <a:t>"Thank you for your partnership. Questions?"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*Closing and Q&amp;A Preparation:*</a:t>
            </a:r>
          </a:p>
          <a:p/>
          <a:p>
            <a:r>
              <a:t>**Closing Statement:**</a:t>
            </a:r>
          </a:p>
          <a:p>
            <a:r>
              <a:t>"Thank you for your partnership throughout this project. We've successfully transformed your data center from 40+ servers to a modern 4-node hyperconverged platform. HyperFlex is exceeding all targets, the team is trained and confident, and you're already seeing measurable savings."</a:t>
            </a:r>
          </a:p>
          <a:p/>
          <a:p>
            <a:r>
              <a:t>**Anticipated Questions:**</a:t>
            </a:r>
          </a:p>
          <a:p/>
          <a:p>
            <a:r>
              <a:t>*Q: What happens if a node fails?*</a:t>
            </a:r>
          </a:p>
          <a:p>
            <a:r>
              <a:t>A: The cluster is N+1 fault tolerant. VMs restart automatically on remaining nodes within minutes. Data is replicated 3 ways.</a:t>
            </a:r>
          </a:p>
          <a:p/>
          <a:p>
            <a:r>
              <a:t>*Q: Can we add more VMs?*</a:t>
            </a:r>
          </a:p>
          <a:p>
            <a:r>
              <a:t>A: Yes, current utilization is 65%. You have capacity for 60-80 more VMs before adding nodes.</a:t>
            </a:r>
          </a:p>
          <a:p/>
          <a:p>
            <a:r>
              <a:t>*Q: What are the ongoing Cisco costs?*</a:t>
            </a:r>
          </a:p>
          <a:p>
            <a:r>
              <a:t>A: Annual recurring is $158K covering licenses and SmartNet support.</a:t>
            </a:r>
          </a:p>
          <a:p/>
          <a:p>
            <a:r>
              <a:t>*Q: How do we handle capacity growth?*</a:t>
            </a:r>
          </a:p>
          <a:p>
            <a:r>
              <a:t>A: Add HyperFlex nodes non-disruptively. Linear scaling. Recommend planning 5th node in Year 2.</a:t>
            </a:r>
          </a:p>
          <a:p/>
          <a:p>
            <a:r>
              <a:t>*Q: When should we consider DR?*</a:t>
            </a:r>
          </a:p>
          <a:p>
            <a:r>
              <a:t>A: Recommend 60-90 days to stabilize, then evaluate stretch cluster for geographic redundancy.</a:t>
            </a:r>
          </a:p>
          <a:p/>
          <a:p>
            <a:r>
              <a:t>**Demo Offer:**</a:t>
            </a:r>
          </a:p>
          <a:p>
            <a:r>
              <a:t>"Would anyone like to see a live Intersight dashboard demo? I can show health monitoring and performance metrics."</a:t>
            </a:r>
          </a:p>
          <a:p/>
          <a:p>
            <a:r>
              <a:t>**Final Closing:**</a:t>
            </a:r>
          </a:p>
          <a:p>
            <a:r>
              <a:t>"Thank you again for trusting our team. This project demonstrates what's possible with modern hyperconverged infrastructure. We look forward to supporting your continued growth."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rgbClr val="C00000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F71806-AFEA-DD6D-E6AA-E2A002E682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Bullet Points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Bullet Point 1</a:t>
            </a:r>
          </a:p>
          <a:p>
            <a:pPr lvl="0"/>
            <a:r>
              <a:rPr lang="en-US" dirty="0"/>
              <a:t>Bullet Point 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2079A5-28FD-9D2F-2B9B-2FC8F9339A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9073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E4A97-A874-D6CA-E54C-5584536CA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3675" y="678433"/>
            <a:ext cx="4431079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Left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1ADBD-DA9D-A8A7-8FC3-64E82242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21470" y="678433"/>
            <a:ext cx="4228856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Right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DF49ED0-89F0-F008-ADD7-D71F338C8B9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97414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Table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3D9E4F7-6B7D-2205-75B9-EE8C54E89A5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56855" y="677011"/>
            <a:ext cx="8710933" cy="37850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00DC936-676C-1BAA-B4B4-D45CC5951D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4931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799"/>
            <a:ext cx="4337050" cy="38158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9992-B6F6-08BF-BFB5-6AF6BEDE3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75" y="685800"/>
            <a:ext cx="4449763" cy="3815859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6D03683B-7C4B-D474-74C5-EC53E3BB51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81065" y="4729530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783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730E7-C68E-A3E8-1745-8AF89C786D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678433"/>
            <a:ext cx="4237038" cy="3785513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1231DFE-6A5A-950E-159E-9E1D3D45FD3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7946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9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6356" y="2247927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304" y="1874962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DED039B-C555-DCF4-1CA7-CA1E44823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165" y="3131272"/>
            <a:ext cx="8480181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rgbClr val="000000"/>
                </a:solidFill>
              </a:rPr>
              <a:t>Account Manager:</a:t>
            </a:r>
            <a:r>
              <a:rPr lang="en-US" sz="1800" dirty="0">
                <a:solidFill>
                  <a:srgbClr val="000000"/>
                </a:solidFill>
              </a:rPr>
              <a:t> [Name, Title] | [Email] | [Phone]</a:t>
            </a: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9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Project Closeout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Cisco HyperFlex Hybrid Infrastructure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Project Manager | November 27, 2025</a:t>
            </a:r>
          </a:p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1" y="4536078"/>
            <a:ext cx="2099897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Executive Summary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Project Duration:</a:t>
            </a:r>
            <a:r>
              <a:t> 12 weeks, on schedule</a:t>
            </a:r>
          </a:p>
          <a:p>
            <a:pPr/>
            <a:r>
              <a:rPr b="1"/>
              <a:t>Budget:</a:t>
            </a:r>
            <a:r>
              <a:t> $417,000 Year 1 delivered on budget</a:t>
            </a:r>
          </a:p>
          <a:p>
            <a:pPr/>
            <a:r>
              <a:rPr b="1"/>
              <a:t>Go-Live Date:</a:t>
            </a:r>
            <a:r>
              <a:t> Week 12 as planned</a:t>
            </a:r>
          </a:p>
          <a:p>
            <a:pPr/>
            <a:r>
              <a:rPr b="1"/>
              <a:t>Quality:</a:t>
            </a:r>
            <a:r>
              <a:t> Zero critical defects at launch</a:t>
            </a:r>
          </a:p>
          <a:p>
            <a:pPr/>
            <a:r>
              <a:rPr b="1"/>
              <a:t>Space Reduction:</a:t>
            </a:r>
            <a:r>
              <a:t> 71% achieved (target: 70%)</a:t>
            </a:r>
          </a:p>
          <a:p>
            <a:pPr/>
            <a:r>
              <a:rPr b="1"/>
              <a:t>VM Provisioning:</a:t>
            </a:r>
            <a:r>
              <a:t> 8 minutes (target: 10 minutes)</a:t>
            </a:r>
          </a:p>
          <a:p>
            <a:pPr/>
            <a:r>
              <a:rPr b="1"/>
              <a:t>ROI Status:</a:t>
            </a:r>
            <a:r>
              <a:t> On track for 30-month payback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Cisco HyperFlex Hybrid Infrastructure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Solution Architecture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Compute &amp; Storage</a:t>
            </a:r>
          </a:p>
          <a:p>
            <a:pPr lvl="1"/>
            <a:r>
              <a:t>4-node HyperFlex HX240c M5 cluster</a:t>
            </a:r>
          </a:p>
          <a:p>
            <a:pPr lvl="1"/>
            <a:r>
              <a:t>20TB usable all-flash storage</a:t>
            </a:r>
          </a:p>
          <a:p>
            <a:pPr lvl="1"/>
            <a:r>
              <a:t>256 vCPUs 3TB RAM capacity</a:t>
            </a:r>
          </a:p>
          <a:p>
            <a:pPr/>
            <a:r>
              <a:rPr b="1"/>
              <a:t>Network Fabric</a:t>
            </a:r>
          </a:p>
          <a:p>
            <a:pPr lvl="1"/>
            <a:r>
              <a:t>UCS 6454 Fabric Interconnects</a:t>
            </a:r>
          </a:p>
          <a:p>
            <a:pPr lvl="1"/>
            <a:r>
              <a:t>25GbE unified fabric</a:t>
            </a:r>
          </a:p>
          <a:p>
            <a:pPr lvl="1"/>
            <a:r>
              <a:t>N+1 redundancy throughout</a:t>
            </a:r>
          </a:p>
          <a:p>
            <a:pPr/>
            <a:r>
              <a:rPr b="1"/>
              <a:t>Management Platform</a:t>
            </a:r>
          </a:p>
          <a:p>
            <a:pPr lvl="1"/>
            <a:r>
              <a:t>Cisco Intersight cloud management</a:t>
            </a:r>
          </a:p>
          <a:p>
            <a:pPr lvl="1"/>
            <a:r>
              <a:t>VMware vSphere 8 virtualization</a:t>
            </a:r>
          </a:p>
          <a:p>
            <a:pPr lvl="1"/>
            <a:r>
              <a:t>Veeam snapshot-based backup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Cisco HyperFlex Hybrid Infrastructure</a:t>
            </a:r>
          </a:p>
        </p:txBody>
      </p:sp>
      <p:pic>
        <p:nvPicPr>
          <p:cNvPr id="7" name="Picture 6" descr="architectur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488" y="685799"/>
            <a:ext cx="4337050" cy="3815859"/>
          </a:xfrm>
          <a:prstGeom prst="rect">
            <a:avLst/>
          </a:prstGeom>
          <a:ln w="12700">
            <a:solidFill>
              <a:srgbClr val="C0C0C0"/>
            </a:solidFill>
            <a:prstDash val="solid"/>
          </a:ln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592" y="4536078"/>
            <a:ext cx="2130670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Deliverables Inventory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1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3279"/>
                <a:gridCol w="3919919"/>
                <a:gridCol w="2177733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Deliverable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Location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Infrastructure Assessment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VM workload analysis and sizing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`/delivery/assessment-report.docx`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Detailed Design Document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HyperFlex architecture and config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`/delivery/detailed-design.docx`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Implementation Guide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Step-by-step deployment procedures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`/delivery/implementation-guide.docx`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Project Plan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Timeline, milestones, RACI matrix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`/delivery/project-plan.xlsx`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Test Plan &amp; Results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Validation testing and acceptance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`/delivery/test-plan.xlsx`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Migration Reports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VM migration status per wave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`/delivery/migration-reports/`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Operations Runbook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Day-2 procedures and troubleshooting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`/delivery/runbook.docx`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Training Materials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Administrator guides and recordings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`/delivery/training/`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Cisco HyperFlex Hybrid Infrastructure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Quality &amp; Performance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Infrastructure Metrics</a:t>
            </a:r>
          </a:p>
          <a:p>
            <a:pPr lvl="1"/>
            <a:r>
              <a:t>Space Reduction: 71% (target: 70%)</a:t>
            </a:r>
          </a:p>
          <a:p>
            <a:pPr lvl="1"/>
            <a:r>
              <a:t>VM Provisioning: 8 min (target: 10)</a:t>
            </a:r>
          </a:p>
          <a:p>
            <a:pPr lvl="1"/>
            <a:r>
              <a:t>Storage IOPS: 180K (target: 100K)</a:t>
            </a:r>
          </a:p>
          <a:p>
            <a:pPr lvl="1"/>
            <a:r>
              <a:t>Storage Latency: 0.5ms (target: &lt;5ms)</a:t>
            </a:r>
          </a:p>
          <a:p>
            <a:pPr lvl="1"/>
            <a:r>
              <a:t>VMs Migrated: 180 with zero downtime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Platform Metrics</a:t>
            </a:r>
          </a:p>
          <a:p>
            <a:pPr lvl="1"/>
            <a:r>
              <a:t>Availability: 99.95% (target: 99.9%)</a:t>
            </a:r>
          </a:p>
          <a:p>
            <a:pPr lvl="1"/>
            <a:r>
              <a:t>Deduplication Ratio: 2.3:1 average</a:t>
            </a:r>
          </a:p>
          <a:p>
            <a:pPr lvl="1"/>
            <a:r>
              <a:t>Data Protection: 3-way replication</a:t>
            </a:r>
          </a:p>
          <a:p>
            <a:pPr lvl="1"/>
            <a:r>
              <a:t>Backup Success Rate: 100%</a:t>
            </a:r>
          </a:p>
          <a:p>
            <a:pPr lvl="1"/>
            <a:r>
              <a:t>Recovery Test: 15 min RTO achieved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Cisco HyperFlex Hybrid Infrastructure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Benefits Realized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3279"/>
                <a:gridCol w="1742186"/>
                <a:gridCol w="1742186"/>
                <a:gridCol w="2613279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Benefit Category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SOW Target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Achieved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Business Impact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Space Reduction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70%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71%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42U to 12U rack space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VM Provisioning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10 min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8 min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4-8 hrs to 8 minutes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CapEx Savings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50%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51%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$294K vs $600K traditional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Management Time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75% reduction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78%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Unified Intersight platform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Power/Cooling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30% reduction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35%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$85K annual savings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Availability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99.9%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99.95%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Near-zero downtime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Cisco HyperFlex Hybrid Infrastructure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Lessons Learned &amp; Recommendations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What Worked Well</a:t>
            </a:r>
          </a:p>
          <a:p>
            <a:pPr lvl="1"/>
            <a:r>
              <a:t>Pilot migration validated approach</a:t>
            </a:r>
          </a:p>
          <a:p>
            <a:pPr lvl="1"/>
            <a:r>
              <a:t>Wave-based migration reduced risk</a:t>
            </a:r>
          </a:p>
          <a:p>
            <a:pPr lvl="1"/>
            <a:r>
              <a:t>Weekly stakeholder updates built trust</a:t>
            </a:r>
          </a:p>
          <a:p>
            <a:pPr lvl="1"/>
            <a:r>
              <a:t>Intersight cloud management simplified ops</a:t>
            </a:r>
          </a:p>
          <a:p>
            <a:pPr lvl="1"/>
            <a:r>
              <a:t>vMotion live migration minimized downtime</a:t>
            </a:r>
          </a:p>
          <a:p>
            <a:pPr/>
            <a:r>
              <a:rPr b="1"/>
              <a:t>Challenges Overcome</a:t>
            </a:r>
          </a:p>
          <a:p>
            <a:pPr lvl="1"/>
            <a:r>
              <a:t>Legacy VM compatibility issues resolved</a:t>
            </a:r>
          </a:p>
          <a:p>
            <a:pPr lvl="1"/>
            <a:r>
              <a:t>Network VLAN mapping required cleanup</a:t>
            </a:r>
          </a:p>
          <a:p>
            <a:pPr lvl="1"/>
            <a:r>
              <a:t>Application dependency discovery needed</a:t>
            </a:r>
          </a:p>
          <a:p>
            <a:pPr lvl="1"/>
            <a:r>
              <a:t>Backup integration testing extended</a:t>
            </a:r>
          </a:p>
          <a:p>
            <a:pPr lvl="1"/>
            <a:r>
              <a:t>Storage policy tuning iterative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Recommendations</a:t>
            </a:r>
          </a:p>
          <a:p>
            <a:pPr lvl="1"/>
            <a:r>
              <a:t>Consider DR site with stretch cluster</a:t>
            </a:r>
          </a:p>
          <a:p>
            <a:pPr lvl="1"/>
            <a:r>
              <a:t>Evaluate Kubernetes on HyperFlex</a:t>
            </a:r>
          </a:p>
          <a:p>
            <a:pPr lvl="1"/>
            <a:r>
              <a:t>Plan for additional node in Year 2</a:t>
            </a:r>
          </a:p>
          <a:p>
            <a:pPr lvl="1"/>
            <a:r>
              <a:t>Quarterly Intersight health reviews</a:t>
            </a:r>
          </a:p>
          <a:p>
            <a:pPr lvl="1"/>
            <a:r>
              <a:t>Annual firmware upgrade planning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Cisco HyperFlex Hybrid Infrastructure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Support Transition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Hypercare Complete (4 weeks)</a:t>
            </a:r>
          </a:p>
          <a:p>
            <a:pPr lvl="1"/>
            <a:r>
              <a:t>Daily health checks completed</a:t>
            </a:r>
          </a:p>
          <a:p>
            <a:pPr lvl="1"/>
            <a:r>
              <a:t>3 minor issues resolved</a:t>
            </a:r>
          </a:p>
          <a:p>
            <a:pPr lvl="1"/>
            <a:r>
              <a:t>Knowledge transfer sessions done</a:t>
            </a:r>
          </a:p>
          <a:p>
            <a:pPr lvl="1"/>
            <a:r>
              <a:t>Runbook procedures validated</a:t>
            </a:r>
          </a:p>
          <a:p>
            <a:pPr lvl="1"/>
            <a:r>
              <a:t>Team trained (24 hours total)</a:t>
            </a:r>
          </a:p>
          <a:p>
            <a:pPr/>
            <a:r>
              <a:rPr b="1"/>
              <a:t>Steady State Support</a:t>
            </a:r>
          </a:p>
          <a:p>
            <a:pPr lvl="1"/>
            <a:r>
              <a:t>Business hours monitoring (8AM-6PM)</a:t>
            </a:r>
          </a:p>
          <a:p>
            <a:pPr lvl="1"/>
            <a:r>
              <a:t>Intersight proactive alerts</a:t>
            </a:r>
          </a:p>
          <a:p>
            <a:pPr lvl="1"/>
            <a:r>
              <a:t>Monthly performance reviews</a:t>
            </a:r>
          </a:p>
          <a:p>
            <a:pPr lvl="1"/>
            <a:r>
              <a:t>Quarterly optimization checks</a:t>
            </a:r>
          </a:p>
          <a:p>
            <a:pPr lvl="1"/>
            <a:r>
              <a:t>Cisco TAC escalation path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Escalation Path</a:t>
            </a:r>
          </a:p>
          <a:p>
            <a:pPr lvl="1"/>
            <a:r>
              <a:t>L1: Internal Infrastructure Desk</a:t>
            </a:r>
          </a:p>
          <a:p>
            <a:pPr lvl="1"/>
            <a:r>
              <a:t>L2: Virtualization Operations Team</a:t>
            </a:r>
          </a:p>
          <a:p>
            <a:pPr lvl="1"/>
            <a:r>
              <a:t>L3: Cisco TAC via SmartNet</a:t>
            </a:r>
          </a:p>
          <a:p>
            <a:pPr lvl="1"/>
            <a:r>
              <a:t>Partner: Vendor support (optional)</a:t>
            </a:r>
          </a:p>
          <a:p>
            <a:pPr lvl="1"/>
            <a:r>
              <a:t>Executive: Account Manager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Cisco HyperFlex Hybrid Infrastructure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Acknowledgments &amp; Next Steps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Client Team:</a:t>
            </a:r>
            <a:r>
              <a:t> Executive sponsor, Infrastructure Lead, Virtualization team, App owners</a:t>
            </a:r>
          </a:p>
          <a:p>
            <a:pPr/>
            <a:r>
              <a:rPr b="1"/>
              <a:t>Vendor Team:</a:t>
            </a:r>
            <a:r>
              <a:t> Project manager, HCI engineer, Virtualization engineer</a:t>
            </a:r>
          </a:p>
          <a:p>
            <a:pPr/>
            <a:r>
              <a:rPr b="1"/>
              <a:t>Cisco Team:</a:t>
            </a:r>
            <a:r>
              <a:t> Partner enablement, TAC support, Professional services</a:t>
            </a:r>
          </a:p>
          <a:p>
            <a:pPr/>
            <a:r>
              <a:rPr b="1"/>
              <a:t>This Week:</a:t>
            </a:r>
            <a:r>
              <a:t> Final documentation handover, archive project artifacts</a:t>
            </a:r>
          </a:p>
          <a:p>
            <a:pPr/>
            <a:r>
              <a:rPr b="1"/>
              <a:t>Next 30 Days:</a:t>
            </a:r>
            <a:r>
              <a:t> Monthly performance review, DR site planning kickoff</a:t>
            </a:r>
          </a:p>
          <a:p>
            <a:pPr/>
            <a:r>
              <a:rPr b="1"/>
              <a:t>Next Quarter:</a:t>
            </a:r>
            <a:r>
              <a:t> HyperFlex node expansion assessment, Kubernetes pilot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Cisco HyperFlex Hybrid Infrastructure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592" y="4536078"/>
            <a:ext cx="2164114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</TotalTime>
  <Words>42</Words>
  <Application>Microsoft Office PowerPoint</Application>
  <PresentationFormat>On-screen Show (16:9)</PresentationFormat>
  <Paragraphs>21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86</cp:revision>
  <dcterms:created xsi:type="dcterms:W3CDTF">2025-11-01T21:16:10Z</dcterms:created>
  <dcterms:modified xsi:type="dcterms:W3CDTF">2025-11-27T20:15:42Z</dcterms:modified>
</cp:coreProperties>
</file>