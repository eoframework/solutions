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Enhancement</a:t>
            </a:r>
            <a:r>
              <a:t>: Achieved 99% threat detection accuracy with zero-trust architecture</a:t>
            </a:r>
          </a:p>
          <a:p>
            <a:pPr/>
            <a:r>
              <a:rPr b="1"/>
              <a:t>Access Optimization</a:t>
            </a:r>
            <a:r>
              <a:t>: Reduced secure access provisioning time by 80% with automation</a:t>
            </a:r>
          </a:p>
          <a:p>
            <a:pPr/>
            <a:r>
              <a:rPr b="1"/>
              <a:t>Compliance Automation</a:t>
            </a:r>
            <a:r>
              <a:t>: Implemented real-time compliance monitoring for multiple frameworks</a:t>
            </a:r>
          </a:p>
          <a:p>
            <a:pPr/>
            <a:r>
              <a:rPr b="1"/>
              <a:t>Cost Optimization</a:t>
            </a:r>
            <a:r>
              <a:t>: Delivered 35% cost reduction compared to legacy VPN solutions</a:t>
            </a:r>
          </a:p>
          <a:p>
            <a:pPr/>
            <a:r>
              <a:rPr b="1"/>
              <a:t>User Experience</a:t>
            </a:r>
            <a:r>
              <a:t>: Improved user experience with seamless, adaptive access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Primary Business Outcomes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Zero Trust Architecture</a:t>
            </a:r>
            <a:r>
              <a:t>: Implemented comprehensive "never trust, always verify" security model</a:t>
            </a:r>
          </a:p>
          <a:p>
            <a:pPr/>
            <a:r>
              <a:rPr b="1"/>
              <a:t>Threat Detection</a:t>
            </a:r>
            <a:r>
              <a:t>: 99% accuracy in identifying and blocking malicious access attempts</a:t>
            </a:r>
          </a:p>
          <a:p>
            <a:pPr/>
            <a:r>
              <a:rPr b="1"/>
              <a:t>Identity Protection</a:t>
            </a:r>
            <a:r>
              <a:t>: Advanced identity verification with continuous authentication</a:t>
            </a:r>
          </a:p>
          <a:p>
            <a:pPr/>
            <a:r>
              <a:rPr b="1"/>
              <a:t>Data Loss Prevention</a:t>
            </a:r>
            <a:r>
              <a:t>: 95% reduction in data exfiltration incidents</a:t>
            </a:r>
          </a:p>
          <a:p>
            <a:pPr/>
            <a:r>
              <a:rPr b="1"/>
              <a:t>Compliance Achievement</a:t>
            </a:r>
            <a:r>
              <a:t>: Automated compliance for SOC 2, HIPAA, PCI DSS, and ISO 27001</a:t>
            </a:r>
          </a:p>
          <a:p>
            <a:pPr/>
            <a:r>
              <a:rPr b="1"/>
              <a:t>Cost Reduction</a:t>
            </a:r>
            <a:r>
              <a:t>: 35% reduction in total access management costs</a:t>
            </a:r>
          </a:p>
          <a:p>
            <a:pPr/>
            <a:r>
              <a:rPr b="1"/>
              <a:t>VPN Replacement</a:t>
            </a:r>
            <a:r>
              <a:t>: Eliminated legacy VPN infrastructure saving $450,000 annually</a:t>
            </a:r>
          </a:p>
          <a:p>
            <a:pPr/>
            <a:r>
              <a:rPr b="1"/>
              <a:t>Productivity Gains</a:t>
            </a:r>
            <a:r>
              <a:t>: 25% improvement in remote worker productivity</a:t>
            </a:r>
          </a:p>
          <a:p>
            <a:pPr/>
            <a:r>
              <a:rPr b="1"/>
              <a:t>Incident Prevention</a:t>
            </a:r>
            <a:r>
              <a:t>: Prevented potential $3.2M in security breach costs</a:t>
            </a:r>
          </a:p>
          <a:p>
            <a:pPr/>
            <a:r>
              <a:rPr b="1"/>
              <a:t>Administrative Efficiency</a:t>
            </a:r>
            <a:r>
              <a:t>: 60% reduction in access management administrative tasks</a:t>
            </a:r>
          </a:p>
          <a:p>
            <a:pPr/>
            <a:r>
              <a:rPr b="1"/>
              <a:t>Automated Provisioning</a:t>
            </a:r>
            <a:r>
              <a:t>: 80% reduction in user access provisioning time</a:t>
            </a:r>
          </a:p>
          <a:p>
            <a:pPr/>
            <a:r>
              <a:rPr b="1"/>
              <a:t>Scalability</a:t>
            </a:r>
            <a:r>
              <a:t>: Cloud-native architecture supporting unlimited user growth</a:t>
            </a:r>
          </a:p>
          <a:p>
            <a:pPr/>
            <a:r>
              <a:rPr b="1"/>
              <a:t>Performance</a:t>
            </a:r>
            <a:r>
              <a:t>: Sub-second authentication with global anycast network</a:t>
            </a:r>
          </a:p>
          <a:p>
            <a:pPr/>
            <a:r>
              <a:rPr b="1"/>
              <a:t>Reliability</a:t>
            </a:r>
            <a:r>
              <a:t>: 99.99% service availability with redundant infrastructure</a:t>
            </a:r>
          </a:p>
          <a:p>
            <a:pPr/>
            <a:r>
              <a:rPr b="1"/>
              <a:t>Integration</a:t>
            </a:r>
            <a:r>
              <a:t>: Seamless integration with 30+ enterprise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Architecture Delivered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Cisco Secure Access by Duo</a:t>
            </a:r>
            <a:r>
              <a:t>: Multi-factor authentication and device trust platform</a:t>
            </a:r>
          </a:p>
          <a:p>
            <a:pPr/>
            <a:r>
              <a:rPr b="1"/>
              <a:t>Cisco Umbrella</a:t>
            </a:r>
            <a:r>
              <a:t>: DNS-layer security and secure web gateway</a:t>
            </a:r>
          </a:p>
          <a:p>
            <a:pPr/>
            <a:r>
              <a:rPr b="1"/>
              <a:t>Cisco AnyConnect</a:t>
            </a:r>
            <a:r>
              <a:t>: Secure endpoint connectivity and posture assessment</a:t>
            </a:r>
          </a:p>
          <a:p>
            <a:pPr/>
            <a:r>
              <a:rPr b="1"/>
              <a:t>Cisco Identity Services Engine (ISE)</a:t>
            </a:r>
            <a:r>
              <a:t>: Policy-based network access control</a:t>
            </a:r>
          </a:p>
          <a:p>
            <a:pPr/>
            <a:r>
              <a:rPr b="1"/>
              <a:t>Cisco SecureX</a:t>
            </a:r>
            <a:r>
              <a:t>: Unified security orchestration and threat response</a:t>
            </a:r>
          </a:p>
          <a:p>
            <a:pPr/>
            <a:r>
              <a:rPr b="1"/>
              <a:t>Identity Verification</a:t>
            </a:r>
            <a:r>
              <a:t>: Multi-factor authentication with adaptive policies</a:t>
            </a:r>
          </a:p>
          <a:p>
            <a:pPr/>
            <a:r>
              <a:rPr b="1"/>
              <a:t>Device Trust</a:t>
            </a:r>
            <a:r>
              <a:t>: Comprehensive device health and compliance verification</a:t>
            </a:r>
          </a:p>
          <a:p>
            <a:pPr/>
            <a:r>
              <a:rPr b="1"/>
              <a:t>Application Security</a:t>
            </a:r>
            <a:r>
              <a:t>: Granular application access controls and monitoring</a:t>
            </a:r>
          </a:p>
          <a:p>
            <a:pPr/>
            <a:r>
              <a:rPr b="1"/>
              <a:t>Data Protection</a:t>
            </a:r>
            <a:r>
              <a:t>: Dynamic data classification and protection policies</a:t>
            </a:r>
          </a:p>
          <a:p>
            <a:pPr/>
            <a:r>
              <a:rPr b="1"/>
              <a:t>Network Segmentation</a:t>
            </a:r>
            <a:r>
              <a:t>: Micro-segmentation with software-defined perimeters</a:t>
            </a:r>
          </a:p>
          <a:p>
            <a:pPr/>
            <a:r>
              <a:rPr b="1"/>
              <a:t>Active Directory</a:t>
            </a:r>
            <a:r>
              <a:t>: Seamless integration with enterprise identity systems</a:t>
            </a:r>
          </a:p>
          <a:p>
            <a:pPr/>
            <a:r>
              <a:rPr b="1"/>
              <a:t>SAML/OIDC</a:t>
            </a:r>
            <a:r>
              <a:t>: Standards-based SSO integration with cloud applications</a:t>
            </a:r>
          </a:p>
          <a:p>
            <a:pPr/>
            <a:r>
              <a:rPr b="1"/>
              <a:t>API Integration</a:t>
            </a:r>
            <a:r>
              <a:t>: RESTful APIs for custom integrations and automation</a:t>
            </a:r>
          </a:p>
          <a:p>
            <a:pPr/>
            <a:r>
              <a:rPr b="1"/>
              <a:t>SIEM Integration</a:t>
            </a:r>
            <a:r>
              <a:t>: Security event correlation with enterprise SIEM platforms</a:t>
            </a:r>
          </a:p>
          <a:p>
            <a:pPr/>
            <a:r>
              <a:rPr b="1"/>
              <a:t>Cloud Platforms</a:t>
            </a:r>
            <a:r>
              <a:t>: Native integration with AWS, Azure, and Google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Features Implemented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Adaptive Authentication</a:t>
            </a:r>
            <a:r>
              <a:t>: Risk-based authentication with contextual policies</a:t>
            </a:r>
          </a:p>
          <a:p>
            <a:pPr/>
            <a:r>
              <a:rPr b="1"/>
              <a:t>Biometric Authentication</a:t>
            </a:r>
            <a:r>
              <a:t>: Fingerprint and facial recognition for mobile devices</a:t>
            </a:r>
          </a:p>
          <a:p>
            <a:pPr/>
            <a:r>
              <a:rPr b="1"/>
              <a:t>Hardware Tokens</a:t>
            </a:r>
            <a:r>
              <a:t>: FIDO2/WebAuthn support for high-security environments</a:t>
            </a:r>
          </a:p>
          <a:p>
            <a:pPr/>
            <a:r>
              <a:rPr b="1"/>
              <a:t>Passwordless Authentication</a:t>
            </a:r>
            <a:r>
              <a:t>: Modern authentication eliminating password risks</a:t>
            </a:r>
          </a:p>
          <a:p>
            <a:pPr/>
            <a:r>
              <a:rPr b="1"/>
              <a:t>Continuous Verification</a:t>
            </a:r>
            <a:r>
              <a:t>: Ongoing authentication throughout user sessions</a:t>
            </a:r>
          </a:p>
          <a:p>
            <a:pPr/>
            <a:r>
              <a:rPr b="1"/>
              <a:t>Real-time Threat Feeds</a:t>
            </a:r>
            <a:r>
              <a:t>: Integration with Cisco Talos threat intelligence</a:t>
            </a:r>
          </a:p>
          <a:p>
            <a:pPr/>
            <a:r>
              <a:rPr b="1"/>
              <a:t>Behavioral Analytics</a:t>
            </a:r>
            <a:r>
              <a:t>: AI-powered user and entity behavior analysis</a:t>
            </a:r>
          </a:p>
          <a:p>
            <a:pPr/>
            <a:r>
              <a:rPr b="1"/>
              <a:t>Anomaly Detection</a:t>
            </a:r>
            <a:r>
              <a:t>: Machine learning-based detection of suspicious activities</a:t>
            </a:r>
          </a:p>
          <a:p>
            <a:pPr/>
            <a:r>
              <a:rPr b="1"/>
              <a:t>Threat Hunting</a:t>
            </a:r>
            <a:r>
              <a:t>: Proactive threat hunting capabilities and investigation tools</a:t>
            </a:r>
          </a:p>
          <a:p>
            <a:pPr/>
            <a:r>
              <a:rPr b="1"/>
              <a:t>Incident Response</a:t>
            </a:r>
            <a:r>
              <a:t>: Automated incident response and remediation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Project Execution Timeline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Quality Assurance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Testing</a:t>
            </a:r>
            <a:r>
              <a:t>: Zero critical vulnerabilities identified in penetration testing</a:t>
            </a:r>
          </a:p>
          <a:p>
            <a:pPr/>
            <a:r>
              <a:rPr b="1"/>
              <a:t>Performance Testing</a:t>
            </a:r>
            <a:r>
              <a:t>: Sub-second authentication response times achieved</a:t>
            </a:r>
          </a:p>
          <a:p>
            <a:pPr/>
            <a:r>
              <a:rPr b="1"/>
              <a:t>Integration Testing</a:t>
            </a:r>
            <a:r>
              <a:t>: All 30+ application integrations functioning optimally</a:t>
            </a:r>
          </a:p>
          <a:p>
            <a:pPr/>
            <a:r>
              <a:rPr b="1"/>
              <a:t>User Acceptance</a:t>
            </a:r>
            <a:r>
              <a:t>: 97% user satisfaction with access experience</a:t>
            </a:r>
          </a:p>
          <a:p>
            <a:pPr/>
            <a:r>
              <a:rPr b="1"/>
              <a:t>Compliance Testing</a:t>
            </a:r>
            <a:r>
              <a:t>: 100% compliance with all regulatory requirements</a:t>
            </a:r>
          </a:p>
          <a:p>
            <a:pPr/>
            <a:r>
              <a:rPr b="1"/>
              <a:t>Zero Trust Validation</a:t>
            </a:r>
            <a:r>
              <a:t>: Comprehensive zero-trust architecture validation</a:t>
            </a:r>
          </a:p>
          <a:p>
            <a:pPr/>
            <a:r>
              <a:rPr b="1"/>
              <a:t>Incident Response</a:t>
            </a:r>
            <a:r>
              <a:t>: Tested incident response procedures with simulated attacks</a:t>
            </a:r>
          </a:p>
          <a:p>
            <a:pPr/>
            <a:r>
              <a:rPr b="1"/>
              <a:t>Business Continuity</a:t>
            </a:r>
            <a:r>
              <a:t>: Validated business continuity with disaster recovery testing</a:t>
            </a:r>
          </a:p>
          <a:p>
            <a:pPr/>
            <a:r>
              <a:rPr b="1"/>
              <a:t>Scalability</a:t>
            </a:r>
            <a:r>
              <a:t>: Confirmed platform scalability for 10x current user base</a:t>
            </a:r>
          </a:p>
          <a:p>
            <a:pPr/>
            <a:r>
              <a:rPr b="1"/>
              <a:t>Performance</a:t>
            </a:r>
            <a:r>
              <a:t>: Maintained performance standards under peak load conditions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Multi-layered Defense</a:t>
            </a:r>
            <a:r>
              <a:t>: Defense-in-depth strategy with multiple security layers</a:t>
            </a:r>
          </a:p>
          <a:p>
            <a:pPr/>
            <a:r>
              <a:rPr b="1"/>
              <a:t>Real-time Monitoring</a:t>
            </a:r>
            <a:r>
              <a:t>: 24/7 security monitoring with automated threat response</a:t>
            </a:r>
          </a:p>
          <a:p>
            <a:pPr/>
            <a:r>
              <a:rPr b="1"/>
              <a:t>Incident Response</a:t>
            </a:r>
            <a:r>
              <a:t>: Automated incident response reducing response time by 75%</a:t>
            </a:r>
          </a:p>
          <a:p>
            <a:pPr/>
            <a:r>
              <a:rPr b="1"/>
              <a:t>Threat Intelligence</a:t>
            </a:r>
            <a:r>
              <a:t>: Real-time threat intelligence integration for proactive protection</a:t>
            </a:r>
          </a:p>
          <a:p>
            <a:pPr/>
            <a:r>
              <a:rPr b="1"/>
              <a:t>Vulnerability Management</a:t>
            </a:r>
            <a:r>
              <a:t>: Continuous vulnerability scanning and remediation</a:t>
            </a:r>
          </a:p>
          <a:p>
            <a:pPr/>
            <a:r>
              <a:rPr b="1"/>
              <a:t>Change Management</a:t>
            </a:r>
            <a:r>
              <a:t>: Comprehensive change management minimizing business disruption</a:t>
            </a:r>
          </a:p>
          <a:p>
            <a:pPr/>
            <a:r>
              <a:rPr b="1"/>
              <a:t>User Training</a:t>
            </a:r>
            <a:r>
              <a:t>: Extensive security awareness training reducing human error by 80%</a:t>
            </a:r>
          </a:p>
          <a:p>
            <a:pPr/>
            <a:r>
              <a:rPr b="1"/>
              <a:t>Phased Deployment</a:t>
            </a:r>
            <a:r>
              <a:t>: Gradual rollout minimizing operational risk</a:t>
            </a:r>
          </a:p>
          <a:p>
            <a:pPr/>
            <a:r>
              <a:rPr b="1"/>
              <a:t>Rollback Procedures</a:t>
            </a:r>
            <a:r>
              <a:t>: Comprehensive rollback capabilities for rapid recovery</a:t>
            </a:r>
          </a:p>
          <a:p>
            <a:pPr/>
            <a:r>
              <a:rPr b="1"/>
              <a:t>Business Continuity</a:t>
            </a:r>
            <a:r>
              <a:t>: Tested business continuity procedures ensuring operational resilience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Issues Resolved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Legacy Integration</a:t>
            </a:r>
            <a:r>
              <a:t>: Successfully integrated 15+ legacy applications</a:t>
            </a:r>
          </a:p>
          <a:p>
            <a:pPr/>
            <a:r>
              <a:rPr b="1"/>
              <a:t>Performance Optimization</a:t>
            </a:r>
            <a:r>
              <a:t>: Achieved sub-second authentication with global user base</a:t>
            </a:r>
          </a:p>
          <a:p>
            <a:pPr/>
            <a:r>
              <a:rPr b="1"/>
              <a:t>Scalability</a:t>
            </a:r>
            <a:r>
              <a:t>: Designed architecture supporting 50,000+ concurrent users</a:t>
            </a:r>
          </a:p>
          <a:p>
            <a:pPr/>
            <a:r>
              <a:rPr b="1"/>
              <a:t>Compliance</a:t>
            </a:r>
            <a:r>
              <a:t>: Implemented automated compliance monitoring for multiple frameworks</a:t>
            </a:r>
          </a:p>
          <a:p>
            <a:pPr/>
            <a:r>
              <a:rPr b="1"/>
              <a:t>User Experience</a:t>
            </a:r>
            <a:r>
              <a:t>: Balanced security requirements with seamless user experience</a:t>
            </a:r>
          </a:p>
          <a:p>
            <a:pPr/>
            <a:r>
              <a:rPr b="1"/>
              <a:t>Security Culture</a:t>
            </a:r>
            <a:r>
              <a:t>: Transformed organizational security culture and awareness</a:t>
            </a:r>
          </a:p>
          <a:p>
            <a:pPr/>
            <a:r>
              <a:rPr b="1"/>
              <a:t>Process Changes</a:t>
            </a:r>
            <a:r>
              <a:t>: Successfully updated security processes and procedures</a:t>
            </a:r>
          </a:p>
          <a:p>
            <a:pPr/>
            <a:r>
              <a:rPr b="1"/>
              <a:t>Training Effectiveness</a:t>
            </a:r>
            <a:r>
              <a:t>: Achieved 97% completion rate for security training</a:t>
            </a:r>
          </a:p>
          <a:p>
            <a:pPr/>
            <a:r>
              <a:rPr b="1"/>
              <a:t>Executive Support</a:t>
            </a:r>
            <a:r>
              <a:t>: Maintained executive support throughout transformation</a:t>
            </a:r>
          </a:p>
          <a:p>
            <a:pPr/>
            <a:r>
              <a:rPr b="1"/>
              <a:t>Change Resistance</a:t>
            </a:r>
            <a:r>
              <a:t>: Overcame change resistance through effective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Cost Optimization Strategies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Training Program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End Users</a:t>
            </a:r>
            <a:r>
              <a:t>: 2,500 users completed security awareness training (4 hours each)</a:t>
            </a:r>
          </a:p>
          <a:p>
            <a:pPr/>
            <a:r>
              <a:rPr b="1"/>
              <a:t>IT Administrators</a:t>
            </a:r>
            <a:r>
              <a:t>: 35 administrators completed advanced training (32 hours each)</a:t>
            </a:r>
          </a:p>
          <a:p>
            <a:pPr/>
            <a:r>
              <a:rPr b="1"/>
              <a:t>Security Team</a:t>
            </a:r>
            <a:r>
              <a:t>: 15 security professionals completed expert training (48 hours each)</a:t>
            </a:r>
          </a:p>
          <a:p>
            <a:pPr/>
            <a:r>
              <a:rPr b="1"/>
              <a:t>Executives</a:t>
            </a:r>
            <a:r>
              <a:t>: 12 executives completed security leadership training (8 hours each)</a:t>
            </a:r>
          </a:p>
          <a:p>
            <a:pPr/>
            <a:r>
              <a:rPr b="1"/>
              <a:t>Total Training Hours</a:t>
            </a:r>
            <a:r>
              <a:t>: 11,936 hours delivered across all user groups</a:t>
            </a:r>
          </a:p>
          <a:p>
            <a:pPr/>
            <a:r>
              <a:rPr b="1"/>
              <a:t>End Users</a:t>
            </a:r>
            <a:r>
              <a:t>: 94% achieved proficiency in secure access practices</a:t>
            </a:r>
          </a:p>
          <a:p>
            <a:pPr/>
            <a:r>
              <a:rPr b="1"/>
              <a:t>IT Administrators</a:t>
            </a:r>
            <a:r>
              <a:t>: 97% achieved advanced proficiency in platform management</a:t>
            </a:r>
          </a:p>
          <a:p>
            <a:pPr/>
            <a:r>
              <a:rPr b="1"/>
              <a:t>Security Team</a:t>
            </a:r>
            <a:r>
              <a:t>: 100% achieved expert-level competency in threat response</a:t>
            </a:r>
          </a:p>
          <a:p>
            <a:pPr/>
            <a:r>
              <a:rPr b="1"/>
              <a:t>Executives</a:t>
            </a:r>
            <a:r>
              <a:t>: 92% achieved strategic understanding of security requirements</a:t>
            </a:r>
          </a:p>
          <a:p>
            <a:pPr/>
            <a:r>
              <a:rPr b="1"/>
              <a:t>Overall Satisfaction</a:t>
            </a:r>
            <a:r>
              <a:t>: 97% training satisfaction score across all participants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Culture Transformation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Awareness</a:t>
            </a:r>
            <a:r>
              <a:t>: 85% improvement in security awareness scores</a:t>
            </a:r>
          </a:p>
          <a:p>
            <a:pPr/>
            <a:r>
              <a:rPr b="1"/>
              <a:t>Threat Reporting</a:t>
            </a:r>
            <a:r>
              <a:t>: 300% increase in user-reported security threats</a:t>
            </a:r>
          </a:p>
          <a:p>
            <a:pPr/>
            <a:r>
              <a:rPr b="1"/>
              <a:t>Policy Compliance</a:t>
            </a:r>
            <a:r>
              <a:t>: 95% compliance with security policies</a:t>
            </a:r>
          </a:p>
          <a:p>
            <a:pPr/>
            <a:r>
              <a:rPr b="1"/>
              <a:t>Incident Response</a:t>
            </a:r>
            <a:r>
              <a:t>: 60% faster incident response with user cooperation</a:t>
            </a:r>
          </a:p>
          <a:p>
            <a:pPr/>
            <a:r>
              <a:rPr b="1"/>
              <a:t>Best Practices</a:t>
            </a:r>
            <a:r>
              <a:t>: 90% adoption of security best practices</a:t>
            </a:r>
          </a:p>
          <a:p>
            <a:pPr/>
            <a:r>
              <a:rPr b="1"/>
              <a:t>Risk Reduction</a:t>
            </a:r>
            <a:r>
              <a:t>: 75% reduction in security risk exposure</a:t>
            </a:r>
          </a:p>
          <a:p>
            <a:pPr/>
            <a:r>
              <a:rPr b="1"/>
              <a:t>Compliance Culture</a:t>
            </a:r>
            <a:r>
              <a:t>: Embedded compliance into daily operations</a:t>
            </a:r>
          </a:p>
          <a:p>
            <a:pPr/>
            <a:r>
              <a:rPr b="1"/>
              <a:t>Innovation Enablement</a:t>
            </a:r>
            <a:r>
              <a:t>: Security no longer blocks business innovation</a:t>
            </a:r>
          </a:p>
          <a:p>
            <a:pPr/>
            <a:r>
              <a:rPr b="1"/>
              <a:t>Business Agility</a:t>
            </a:r>
            <a:r>
              <a:t>: Faster onboarding and access provisioning</a:t>
            </a:r>
          </a:p>
          <a:p>
            <a:pPr/>
            <a:r>
              <a:rPr b="1"/>
              <a:t>Competitive Advantage</a:t>
            </a:r>
            <a:r>
              <a:t>: Enhanced security posture as competitive differentiator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Structure Implementation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Level 1 Support</a:t>
            </a:r>
            <a:r>
              <a:t>: Internal helpdesk handles basic access and authentication issues</a:t>
            </a:r>
          </a:p>
          <a:p>
            <a:pPr/>
            <a:r>
              <a:rPr b="1"/>
              <a:t>Level 2 Support</a:t>
            </a:r>
            <a:r>
              <a:t>: IT security team manages policy configuration and troubleshooting</a:t>
            </a:r>
          </a:p>
          <a:p>
            <a:pPr/>
            <a:r>
              <a:rPr b="1"/>
              <a:t>Level 3 Support</a:t>
            </a:r>
            <a:r>
              <a:t>: Cisco TAC provides vendor-level technical assistance</a:t>
            </a:r>
          </a:p>
          <a:p>
            <a:pPr/>
            <a:r>
              <a:rPr b="1"/>
              <a:t>Level 4 Support</a:t>
            </a:r>
            <a:r>
              <a:t>: Security consultants available for advanced threat response</a:t>
            </a:r>
          </a:p>
          <a:p>
            <a:pPr/>
            <a:r>
              <a:rPr b="1"/>
              <a:t>Business Support</a:t>
            </a:r>
            <a:r>
              <a:t>: Security team manages policy optimization and requirements</a:t>
            </a:r>
          </a:p>
          <a:p>
            <a:pPr/>
            <a:r>
              <a:rPr b="1"/>
              <a:t>Threat Response</a:t>
            </a:r>
            <a:r>
              <a:t>: Critical threats resolved within 15 minutes</a:t>
            </a:r>
          </a:p>
          <a:p>
            <a:pPr/>
            <a:r>
              <a:rPr b="1"/>
              <a:t>Access Issues</a:t>
            </a:r>
            <a:r>
              <a:t>: User access problems resolved within 30 minutes</a:t>
            </a:r>
          </a:p>
          <a:p>
            <a:pPr/>
            <a:r>
              <a:rPr b="1"/>
              <a:t>Platform Availability</a:t>
            </a:r>
            <a:r>
              <a:t>: 99.99% uptime with redundant infrastructure</a:t>
            </a:r>
          </a:p>
          <a:p>
            <a:pPr/>
            <a:r>
              <a:rPr b="1"/>
              <a:t>Incident Response</a:t>
            </a:r>
            <a:r>
              <a:t>: Security incidents contained within 1 hour</a:t>
            </a:r>
          </a:p>
          <a:p>
            <a:pPr/>
            <a:r>
              <a:rPr b="1"/>
              <a:t>Policy Updates</a:t>
            </a:r>
            <a:r>
              <a:t>: Security policy changes deployed within 4 hours</a:t>
            </a:r>
          </a:p>
          <a:p>
            <a:pPr/>
            <a:r>
              <a:rPr b="1"/>
              <a:t>Authentication Speed</a:t>
            </a:r>
            <a:r>
              <a:t>: 95% of authentications complete within 2 seconds</a:t>
            </a:r>
          </a:p>
          <a:p>
            <a:pPr/>
            <a:r>
              <a:rPr b="1"/>
              <a:t>Policy Enforcement</a:t>
            </a:r>
            <a:r>
              <a:t>: Real-time policy enforcement with zero delay</a:t>
            </a:r>
          </a:p>
          <a:p>
            <a:pPr/>
            <a:r>
              <a:rPr b="1"/>
              <a:t>Threat Detection</a:t>
            </a:r>
            <a:r>
              <a:t>: Threats detected and blocked within 5 seconds</a:t>
            </a:r>
          </a:p>
          <a:p>
            <a:pPr/>
            <a:r>
              <a:rPr b="1"/>
              <a:t>Compliance Reporting</a:t>
            </a:r>
            <a:r>
              <a:t>: Real-time compliance status with automated reporting</a:t>
            </a:r>
          </a:p>
          <a:p>
            <a:pPr/>
            <a:r>
              <a:rPr b="1"/>
              <a:t>User Support</a:t>
            </a:r>
            <a:r>
              <a:t>: User questions answered within 15 minutes during business hours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Operations Center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Threat Monitoring</a:t>
            </a:r>
            <a:r>
              <a:t>: Continuous monitoring for security threats and anomalies</a:t>
            </a:r>
          </a:p>
          <a:p>
            <a:pPr/>
            <a:r>
              <a:rPr b="1"/>
              <a:t>User Behavior</a:t>
            </a:r>
            <a:r>
              <a:t>: AI-powered analysis of user behavior patterns</a:t>
            </a:r>
          </a:p>
          <a:p>
            <a:pPr/>
            <a:r>
              <a:rPr b="1"/>
              <a:t>Device Health</a:t>
            </a:r>
            <a:r>
              <a:t>: Real-time monitoring of device security posture</a:t>
            </a:r>
          </a:p>
          <a:p>
            <a:pPr/>
            <a:r>
              <a:rPr b="1"/>
              <a:t>Network Traffic</a:t>
            </a:r>
            <a:r>
              <a:t>: Deep packet inspection and traffic analysis</a:t>
            </a:r>
          </a:p>
          <a:p>
            <a:pPr/>
            <a:r>
              <a:rPr b="1"/>
              <a:t>Compliance Status</a:t>
            </a:r>
            <a:r>
              <a:t>: Continuous compliance monitoring and alerting</a:t>
            </a:r>
          </a:p>
          <a:p>
            <a:pPr/>
            <a:r>
              <a:rPr b="1"/>
              <a:t>Automated Response</a:t>
            </a:r>
            <a:r>
              <a:t>: Automated response to common security threats</a:t>
            </a:r>
          </a:p>
          <a:p>
            <a:pPr/>
            <a:r>
              <a:rPr b="1"/>
              <a:t>Escalation Procedures</a:t>
            </a:r>
            <a:r>
              <a:t>: Clear escalation paths for complex incidents</a:t>
            </a:r>
          </a:p>
          <a:p>
            <a:pPr/>
            <a:r>
              <a:rPr b="1"/>
              <a:t>Forensic Analysis</a:t>
            </a:r>
            <a:r>
              <a:t>: Digital forensics capabilities for incident investigation</a:t>
            </a:r>
          </a:p>
          <a:p>
            <a:pPr/>
            <a:r>
              <a:rPr b="1"/>
              <a:t>Communication</a:t>
            </a:r>
            <a:r>
              <a:t>: Stakeholder communication during security incidents</a:t>
            </a:r>
          </a:p>
          <a:p>
            <a:pPr/>
            <a:r>
              <a:rPr b="1"/>
              <a:t>Recovery Procedures</a:t>
            </a:r>
            <a:r>
              <a:t>: Business continuity and disaster recovery activation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6-Month Enhancement Plan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AI-Powered Analytics</a:t>
            </a:r>
            <a:r>
              <a:t>: Advanced AI and machine learning for threat detection</a:t>
            </a:r>
          </a:p>
          <a:p>
            <a:pPr/>
            <a:r>
              <a:rPr b="1"/>
              <a:t>Behavioral Analytics</a:t>
            </a:r>
            <a:r>
              <a:t>: Enhanced user and entity behavior analytics</a:t>
            </a:r>
          </a:p>
          <a:p>
            <a:pPr/>
            <a:r>
              <a:rPr b="1"/>
              <a:t>Cloud Security</a:t>
            </a:r>
            <a:r>
              <a:t>: Extended cloud security posture management</a:t>
            </a:r>
          </a:p>
          <a:p>
            <a:pPr/>
            <a:r>
              <a:rPr b="1"/>
              <a:t>IoT Security</a:t>
            </a:r>
            <a:r>
              <a:t>: Internet of Things device security and management</a:t>
            </a:r>
          </a:p>
          <a:p>
            <a:pPr/>
            <a:r>
              <a:rPr b="1"/>
              <a:t>Privacy Controls</a:t>
            </a:r>
            <a:r>
              <a:t>: Enhanced data privacy and protection capabilities</a:t>
            </a:r>
          </a:p>
          <a:p>
            <a:pPr/>
            <a:r>
              <a:rPr b="1"/>
              <a:t>Additional Applications</a:t>
            </a:r>
            <a:r>
              <a:t>: Integrate 20+ additional enterprise applications</a:t>
            </a:r>
          </a:p>
          <a:p>
            <a:pPr/>
            <a:r>
              <a:rPr b="1"/>
              <a:t>Cloud Platforms</a:t>
            </a:r>
            <a:r>
              <a:t>: Enhanced multi-cloud security management</a:t>
            </a:r>
          </a:p>
          <a:p>
            <a:pPr/>
            <a:r>
              <a:rPr b="1"/>
              <a:t>Mobile Security</a:t>
            </a:r>
            <a:r>
              <a:t>: Advanced mobile application security and management</a:t>
            </a:r>
          </a:p>
          <a:p>
            <a:pPr/>
            <a:r>
              <a:rPr b="1"/>
              <a:t>API Security</a:t>
            </a:r>
            <a:r>
              <a:t>: Comprehensive API security and governance</a:t>
            </a:r>
          </a:p>
          <a:p>
            <a:pPr/>
            <a:r>
              <a:rPr b="1"/>
              <a:t>DevSecOps</a:t>
            </a:r>
            <a:r>
              <a:t>: Integration with development and deployment pipelines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12-Month Strategic Initiatives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Zero Trust Enhancement</a:t>
            </a:r>
            <a:r>
              <a:t>: Advanced zero-trust capabilities and micro-segmentation</a:t>
            </a:r>
          </a:p>
          <a:p>
            <a:pPr/>
            <a:r>
              <a:rPr b="1"/>
              <a:t>Quantum Security</a:t>
            </a:r>
            <a:r>
              <a:t>: Quantum-resistant cryptography and future-proofing</a:t>
            </a:r>
          </a:p>
          <a:p>
            <a:pPr/>
            <a:r>
              <a:rPr b="1"/>
              <a:t>Global Expansion</a:t>
            </a:r>
            <a:r>
              <a:t>: Multi-region deployment for international operations</a:t>
            </a:r>
          </a:p>
          <a:p>
            <a:pPr/>
            <a:r>
              <a:rPr b="1"/>
              <a:t>Compliance Automation</a:t>
            </a:r>
            <a:r>
              <a:t>: Additional regulatory framework automation</a:t>
            </a:r>
          </a:p>
          <a:p>
            <a:pPr/>
            <a:r>
              <a:rPr b="1"/>
              <a:t>Threat Intelligence</a:t>
            </a:r>
            <a:r>
              <a:t>: Enhanced threat intelligence and threat hunting capabilities</a:t>
            </a:r>
          </a:p>
          <a:p>
            <a:pPr/>
            <a:r>
              <a:rPr b="1"/>
              <a:t>Partner Integration</a:t>
            </a:r>
            <a:r>
              <a:t>: Secure access for business partners and vendors</a:t>
            </a:r>
          </a:p>
          <a:p>
            <a:pPr/>
            <a:r>
              <a:rPr b="1"/>
              <a:t>Customer Access</a:t>
            </a:r>
            <a:r>
              <a:t>: Secure customer portal and access management</a:t>
            </a:r>
          </a:p>
          <a:p>
            <a:pPr/>
            <a:r>
              <a:rPr b="1"/>
              <a:t>Supply Chain Security</a:t>
            </a:r>
            <a:r>
              <a:t>: Extended security for supply chain partners</a:t>
            </a:r>
          </a:p>
          <a:p>
            <a:pPr/>
            <a:r>
              <a:rPr b="1"/>
              <a:t>M&amp;A Integration</a:t>
            </a:r>
            <a:r>
              <a:t>: Rapid security integration for mergers and acquisitions</a:t>
            </a:r>
          </a:p>
          <a:p>
            <a:pPr/>
            <a:r>
              <a:rPr b="1"/>
              <a:t>Innovation Platform</a:t>
            </a:r>
            <a:r>
              <a:t>: Security platform enabling business innovation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Metrics for Future Phases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Testimonials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Critical Success Elements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Strategy</a:t>
            </a:r>
            <a:r>
              <a:t>: Clear security strategy aligned with business objectives</a:t>
            </a:r>
          </a:p>
          <a:p>
            <a:pPr/>
            <a:r>
              <a:rPr b="1"/>
              <a:t>Investment Commitment</a:t>
            </a:r>
            <a:r>
              <a:t>: Adequate investment in comprehensive security transformation</a:t>
            </a:r>
          </a:p>
          <a:p>
            <a:pPr/>
            <a:r>
              <a:rPr b="1"/>
              <a:t>Change Leadership</a:t>
            </a:r>
            <a:r>
              <a:t>: Executive leadership driving organizational security culture</a:t>
            </a:r>
          </a:p>
          <a:p>
            <a:pPr/>
            <a:r>
              <a:rPr b="1"/>
              <a:t>Business Alignment</a:t>
            </a:r>
            <a:r>
              <a:t>: Security initiatives aligned with business growth strategy</a:t>
            </a:r>
          </a:p>
          <a:p>
            <a:pPr/>
            <a:r>
              <a:rPr b="1"/>
              <a:t>Success Communication</a:t>
            </a:r>
            <a:r>
              <a:t>: Regular celebration of security achievements</a:t>
            </a:r>
          </a:p>
          <a:p>
            <a:pPr/>
            <a:r>
              <a:rPr b="1"/>
              <a:t>Architecture Design</a:t>
            </a:r>
            <a:r>
              <a:t>: Robust zero-trust architecture supporting scalability</a:t>
            </a:r>
          </a:p>
          <a:p>
            <a:pPr/>
            <a:r>
              <a:rPr b="1"/>
              <a:t>Integration Quality</a:t>
            </a:r>
            <a:r>
              <a:t>: Seamless integration with existing infrastructure</a:t>
            </a:r>
          </a:p>
          <a:p>
            <a:pPr/>
            <a:r>
              <a:rPr b="1"/>
              <a:t>Performance Optimization</a:t>
            </a:r>
            <a:r>
              <a:t>: High-performance implementation meeting user expectations</a:t>
            </a:r>
          </a:p>
          <a:p>
            <a:pPr/>
            <a:r>
              <a:rPr b="1"/>
              <a:t>Security Best Practices</a:t>
            </a:r>
            <a:r>
              <a:t>: Implementation following industry security standards</a:t>
            </a:r>
          </a:p>
          <a:p>
            <a:pPr/>
            <a:r>
              <a:rPr b="1"/>
              <a:t>Monitoring Capabilities</a:t>
            </a:r>
            <a:r>
              <a:t>: Comprehensive monitoring and threat detection</a:t>
            </a:r>
          </a:p>
          <a:p>
            <a:pPr/>
            <a:r>
              <a:rPr b="1"/>
              <a:t>Security Training</a:t>
            </a:r>
            <a:r>
              <a:t>: Comprehensive security awareness and training program</a:t>
            </a:r>
          </a:p>
          <a:p>
            <a:pPr/>
            <a:r>
              <a:rPr b="1"/>
              <a:t>Change Management</a:t>
            </a:r>
            <a:r>
              <a:t>: Structured approach ensuring user adoption and cultural change</a:t>
            </a:r>
          </a:p>
          <a:p>
            <a:pPr/>
            <a:r>
              <a:rPr b="1"/>
              <a:t>User Experience</a:t>
            </a:r>
            <a:r>
              <a:t>: Balanced security requirements with seamless user experience</a:t>
            </a:r>
          </a:p>
          <a:p>
            <a:pPr/>
            <a:r>
              <a:rPr b="1"/>
              <a:t>Support Structure</a:t>
            </a:r>
            <a:r>
              <a:t>: Multi-tier support ensuring user success</a:t>
            </a:r>
          </a:p>
          <a:p>
            <a:pPr/>
            <a:r>
              <a:rPr b="1"/>
              <a:t>Feedback Integration</a:t>
            </a:r>
            <a:r>
              <a:t>: Continuous user feedback driving platform improvements</a:t>
            </a:r>
          </a:p>
          <a:p>
            <a:pPr/>
            <a:r>
              <a:rPr b="1"/>
              <a:t>Process Integration</a:t>
            </a:r>
            <a:r>
              <a:t>: Security integrated into business processes</a:t>
            </a:r>
          </a:p>
          <a:p>
            <a:pPr/>
            <a:r>
              <a:rPr b="1"/>
              <a:t>Automation</a:t>
            </a:r>
            <a:r>
              <a:t>: Comprehensive automation reducing manual effort</a:t>
            </a:r>
          </a:p>
          <a:p>
            <a:pPr/>
            <a:r>
              <a:rPr b="1"/>
              <a:t>Monitoring</a:t>
            </a:r>
            <a:r>
              <a:t>: Proactive monitoring preventing issues</a:t>
            </a:r>
          </a:p>
          <a:p>
            <a:pPr/>
            <a:r>
              <a:rPr b="1"/>
              <a:t>Incident Response</a:t>
            </a:r>
            <a:r>
              <a:t>: Rapid incident response minimizing business impact</a:t>
            </a:r>
          </a:p>
          <a:p>
            <a:pPr/>
            <a:r>
              <a:rPr b="1"/>
              <a:t>Continuous Improvement</a:t>
            </a:r>
            <a:r>
              <a:t>: Regular optimization and enhancement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Phased Approach</a:t>
            </a:r>
            <a:r>
              <a:t>: Gradual implementation minimized business disruption</a:t>
            </a:r>
          </a:p>
          <a:p>
            <a:pPr/>
            <a:r>
              <a:rPr b="1"/>
              <a:t>User-Centric Design</a:t>
            </a:r>
            <a:r>
              <a:t>: Focus on user experience ensured high adoption rates</a:t>
            </a:r>
          </a:p>
          <a:p>
            <a:pPr/>
            <a:r>
              <a:rPr b="1"/>
              <a:t>Executive Support</a:t>
            </a:r>
            <a:r>
              <a:t>: Strong executive sponsorship enabled organizational transformation</a:t>
            </a:r>
          </a:p>
          <a:p>
            <a:pPr/>
            <a:r>
              <a:rPr b="1"/>
              <a:t>Comprehensive Training</a:t>
            </a:r>
            <a:r>
              <a:t>: Investment in training ensured user competency</a:t>
            </a:r>
          </a:p>
          <a:p>
            <a:pPr/>
            <a:r>
              <a:rPr b="1"/>
              <a:t>Security Integration</a:t>
            </a:r>
            <a:r>
              <a:t>: Seamless integration with existing security tools</a:t>
            </a:r>
          </a:p>
          <a:p>
            <a:pPr/>
            <a:r>
              <a:rPr b="1"/>
              <a:t>Change Communication</a:t>
            </a:r>
            <a:r>
              <a:t>: More frequent communication would accelerate adoption</a:t>
            </a:r>
          </a:p>
          <a:p>
            <a:pPr/>
            <a:r>
              <a:rPr b="1"/>
              <a:t>Policy Testing</a:t>
            </a:r>
            <a:r>
              <a:t>: More extensive policy testing would optimize performance</a:t>
            </a:r>
          </a:p>
          <a:p>
            <a:pPr/>
            <a:r>
              <a:rPr b="1"/>
              <a:t>Integration Planning</a:t>
            </a:r>
            <a:r>
              <a:t>: Earlier integration planning would reduce complexity</a:t>
            </a:r>
          </a:p>
          <a:p>
            <a:pPr/>
            <a:r>
              <a:rPr b="1"/>
              <a:t>User Feedback</a:t>
            </a:r>
            <a:r>
              <a:t>: More frequent user feedback would improve experience</a:t>
            </a:r>
          </a:p>
          <a:p>
            <a:pPr/>
            <a:r>
              <a:rPr b="1"/>
              <a:t>Performance Baseline</a:t>
            </a:r>
            <a:r>
              <a:t>: Earlier performance baselining would guide optimization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Best Practices Established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Zero Trust Principles</a:t>
            </a:r>
            <a:r>
              <a:t>: Implement zero trust from day one</a:t>
            </a:r>
          </a:p>
          <a:p>
            <a:pPr/>
            <a:r>
              <a:rPr b="1"/>
              <a:t>User Experience</a:t>
            </a:r>
            <a:r>
              <a:t>: Balance security with seamless user experience</a:t>
            </a:r>
          </a:p>
          <a:p>
            <a:pPr/>
            <a:r>
              <a:rPr b="1"/>
              <a:t>Automation</a:t>
            </a:r>
            <a:r>
              <a:t>: Automate security operations wherever possible</a:t>
            </a:r>
          </a:p>
          <a:p>
            <a:pPr/>
            <a:r>
              <a:rPr b="1"/>
              <a:t>Monitoring</a:t>
            </a:r>
            <a:r>
              <a:t>: Implement comprehensive monitoring and alerting</a:t>
            </a:r>
          </a:p>
          <a:p>
            <a:pPr/>
            <a:r>
              <a:rPr b="1"/>
              <a:t>Continuous Improvement</a:t>
            </a:r>
            <a:r>
              <a:t>: Establish feedback loops for ongoing optimization</a:t>
            </a:r>
          </a:p>
          <a:p>
            <a:pPr/>
            <a:r>
              <a:rPr b="1"/>
              <a:t>Executive Engagement</a:t>
            </a:r>
            <a:r>
              <a:t>: Maintain consistent executive support</a:t>
            </a:r>
          </a:p>
          <a:p>
            <a:pPr/>
            <a:r>
              <a:rPr b="1"/>
              <a:t>Cultural Transformation</a:t>
            </a:r>
            <a:r>
              <a:t>: Invest in security culture transformation</a:t>
            </a:r>
          </a:p>
          <a:p>
            <a:pPr/>
            <a:r>
              <a:rPr b="1"/>
              <a:t>Training Investment</a:t>
            </a:r>
            <a:r>
              <a:t>: Comprehensive training for all user types</a:t>
            </a:r>
          </a:p>
          <a:p>
            <a:pPr/>
            <a:r>
              <a:rPr b="1"/>
              <a:t>Change Management</a:t>
            </a:r>
            <a:r>
              <a:t>: Structured change management approach</a:t>
            </a:r>
          </a:p>
          <a:p>
            <a:pPr/>
            <a:r>
              <a:rPr b="1"/>
              <a:t>Success Measurement</a:t>
            </a:r>
            <a:r>
              <a:t>: Regular measurement and communication of success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Team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Outstanding leadership delivering complex security transformation</a:t>
            </a:r>
          </a:p>
          <a:p>
            <a:pPr/>
            <a:r>
              <a:rPr b="1"/>
              <a:t>Security Architect</a:t>
            </a:r>
            <a:r>
              <a:t>: Exceptional zero-trust architecture design and implementation</a:t>
            </a:r>
          </a:p>
          <a:p>
            <a:pPr/>
            <a:r>
              <a:rPr b="1"/>
              <a:t>Network Engineer</a:t>
            </a:r>
            <a:r>
              <a:t>: Expert network security implementation and optimization</a:t>
            </a:r>
          </a:p>
          <a:p>
            <a:pPr/>
            <a:r>
              <a:rPr b="1"/>
              <a:t>Change Manager</a:t>
            </a:r>
            <a:r>
              <a:t>: Effective organizational transformation and user adoption</a:t>
            </a:r>
          </a:p>
          <a:p>
            <a:pPr/>
            <a:r>
              <a:rPr b="1"/>
              <a:t>Quality Assurance Lead</a:t>
            </a:r>
            <a:r>
              <a:t>: Rigorous testing ensuring platform security and reliability</a:t>
            </a:r>
          </a:p>
          <a:p>
            <a:pPr/>
            <a:r>
              <a:rPr b="1"/>
              <a:t>Security Engineers</a:t>
            </a:r>
            <a:r>
              <a:t>: Expert Cisco platform configuration and optimization</a:t>
            </a:r>
          </a:p>
          <a:p>
            <a:pPr/>
            <a:r>
              <a:rPr b="1"/>
              <a:t>Integration Specialists</a:t>
            </a:r>
            <a:r>
              <a:t>: Seamless integration with enterprise applications</a:t>
            </a:r>
          </a:p>
          <a:p>
            <a:pPr/>
            <a:r>
              <a:rPr b="1"/>
              <a:t>Network Administrators</a:t>
            </a:r>
            <a:r>
              <a:t>: Comprehensive network security implementation</a:t>
            </a:r>
          </a:p>
          <a:p>
            <a:pPr/>
            <a:r>
              <a:rPr b="1"/>
              <a:t>Identity Engineers</a:t>
            </a:r>
            <a:r>
              <a:t>: Advanced identity and access management implementation</a:t>
            </a:r>
          </a:p>
          <a:p>
            <a:pPr/>
            <a:r>
              <a:rPr b="1"/>
              <a:t>Support Engineers</a:t>
            </a:r>
            <a:r>
              <a:t>: Excellent user support and issue resolution</a:t>
            </a:r>
          </a:p>
          <a:p>
            <a:pPr/>
            <a:r>
              <a:rPr b="1"/>
              <a:t>Business Analysts</a:t>
            </a:r>
            <a:r>
              <a:t>: Comprehensive security requirements and validation</a:t>
            </a:r>
          </a:p>
          <a:p>
            <a:pPr/>
            <a:r>
              <a:rPr b="1"/>
              <a:t>Training Specialists</a:t>
            </a:r>
            <a:r>
              <a:t>: Outstanding security awareness training development</a:t>
            </a:r>
          </a:p>
          <a:p>
            <a:pPr/>
            <a:r>
              <a:rPr b="1"/>
              <a:t>Communications Team</a:t>
            </a:r>
            <a:r>
              <a:t>: Effective stakeholder communication and engagement</a:t>
            </a:r>
          </a:p>
          <a:p>
            <a:pPr/>
            <a:r>
              <a:rPr b="1"/>
              <a:t>Compliance Officers</a:t>
            </a:r>
            <a:r>
              <a:t>: Regulatory compliance validation and certification</a:t>
            </a:r>
          </a:p>
          <a:p>
            <a:pPr/>
            <a:r>
              <a:rPr b="1"/>
              <a:t>Change Champions</a:t>
            </a:r>
            <a:r>
              <a:t>: User advocacy and feedback throughout implementation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Awards and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Cisco Partner Award</a:t>
            </a:r>
            <a:r>
              <a:t>: Recognized for exceptional Secure Access implementation</a:t>
            </a:r>
          </a:p>
          <a:p>
            <a:pPr/>
            <a:r>
              <a:rPr b="1"/>
              <a:t>Security Excellence Award</a:t>
            </a:r>
            <a:r>
              <a:t>: Industry recognition for zero-trust transformation</a:t>
            </a:r>
          </a:p>
          <a:p>
            <a:pPr/>
            <a:r>
              <a:rPr b="1"/>
              <a:t>Innovation Award</a:t>
            </a:r>
            <a:r>
              <a:t>: Recognition for creative security architecture design</a:t>
            </a:r>
          </a:p>
          <a:p>
            <a:pPr/>
            <a:r>
              <a:rPr b="1"/>
              <a:t>Customer Success Story</a:t>
            </a:r>
            <a:r>
              <a:t>: Featured as Cisco customer success story</a:t>
            </a:r>
          </a:p>
          <a:p>
            <a:pPr/>
            <a:r>
              <a:rPr b="1"/>
              <a:t>Best Practice Example</a:t>
            </a:r>
            <a:r>
              <a:t>: Implementation featured in security industry publications</a:t>
            </a:r>
          </a:p>
          <a:p>
            <a:pPr/>
            <a:r>
              <a:rPr b="1"/>
              <a:t>CISO Award</a:t>
            </a:r>
            <a:r>
              <a:t>: Project team recognized with highest security award</a:t>
            </a:r>
          </a:p>
          <a:p>
            <a:pPr/>
            <a:r>
              <a:rPr b="1"/>
              <a:t>Innovation Excellence</a:t>
            </a:r>
            <a:r>
              <a:t>: Internal innovation award for transformative security impact</a:t>
            </a:r>
          </a:p>
          <a:p>
            <a:pPr/>
            <a:r>
              <a:rPr b="1"/>
              <a:t>Team Excellence</a:t>
            </a:r>
            <a:r>
              <a:t>: Quarterly excellence award for collaborative achievement</a:t>
            </a:r>
          </a:p>
          <a:p>
            <a:pPr/>
            <a:r>
              <a:rPr b="1"/>
              <a:t>Business Impact</a:t>
            </a:r>
            <a:r>
              <a:t>: Award for significant business value and risk reduction</a:t>
            </a:r>
          </a:p>
          <a:p>
            <a:pPr/>
            <a:r>
              <a:rPr b="1"/>
              <a:t>Technical Excellence</a:t>
            </a:r>
            <a:r>
              <a:t>: Recognition for outstanding implementation quality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Completion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 Recap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99% threat detection accuracy</a:t>
            </a:r>
            <a:r>
              <a:t> with comprehensive zero-trust architecture</a:t>
            </a:r>
          </a:p>
          <a:p>
            <a:pPr/>
            <a:r>
              <a:rPr b="1"/>
              <a:t>270% return on investment</a:t>
            </a:r>
            <a:r>
              <a:t> with 35% operational cost reduction</a:t>
            </a:r>
          </a:p>
          <a:p>
            <a:pPr/>
            <a:r>
              <a:rPr b="1"/>
              <a:t>97% user adoption</a:t>
            </a:r>
            <a:r>
              <a:t> with seamless access experience</a:t>
            </a:r>
          </a:p>
          <a:p>
            <a:pPr/>
            <a:r>
              <a:rPr b="1"/>
              <a:t>Zero successful breaches</a:t>
            </a:r>
            <a:r>
              <a:t> during and after implementation</a:t>
            </a:r>
          </a:p>
          <a:p>
            <a:pPr/>
            <a:r>
              <a:rPr b="1"/>
              <a:t>Automated compliance</a:t>
            </a:r>
            <a:r>
              <a:t> across multiple regulatory frameworks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Immediate Next Steps (30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Performance Optimization: Fine-tune policies based on production usage patterns</a:t>
            </a:r>
          </a:p>
          <a:p>
            <a:pPr/>
            <a:r>
              <a:t>Security Enhancement: Implement additional AI-powered threat detection capabilities</a:t>
            </a:r>
          </a:p>
          <a:p>
            <a:pPr/>
            <a:r>
              <a:t>Integration Expansion: Add 10+ additional enterprise application integrations</a:t>
            </a:r>
          </a:p>
          <a:p>
            <a:pPr/>
            <a:r>
              <a:t>User Experience: Optimize user experience based on feedback and usage analytics</a:t>
            </a:r>
          </a:p>
          <a:p>
            <a:pPr/>
            <a:r>
              <a:t>Compliance Enhancement: Implement additional regulatory compliance frameworks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Initiatives (90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Zero Trust Enhancement: Implement advanced micro-segmentation capabilities</a:t>
            </a:r>
          </a:p>
          <a:p>
            <a:pPr/>
            <a:r>
              <a:t>Behavioral Analytics: Deploy enhanced user and entity behavior analytics</a:t>
            </a:r>
          </a:p>
          <a:p>
            <a:pPr/>
            <a:r>
              <a:t>Cloud Security: Extend security coverage to additional cloud platforms</a:t>
            </a:r>
          </a:p>
          <a:p>
            <a:pPr/>
            <a:r>
              <a:t>Mobile Security: Implement advanced mobile application security management</a:t>
            </a:r>
          </a:p>
          <a:p>
            <a:pPr/>
            <a:r>
              <a:t>Partner Integration: Extend secure access to business partners and vendors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Long-Term Vision (12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[project.manager@company.com]</a:t>
            </a:r>
          </a:p>
          <a:p>
            <a:pPr/>
            <a:r>
              <a:rPr b="1"/>
              <a:t>Security Architect</a:t>
            </a:r>
            <a:r>
              <a:t>: [security.architect@company.com]</a:t>
            </a:r>
          </a:p>
          <a:p>
            <a:pPr/>
            <a:r>
              <a:rPr b="1"/>
              <a:t>Business Sponsor</a:t>
            </a:r>
            <a:r>
              <a:t>: [business.sponsor@company.com]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