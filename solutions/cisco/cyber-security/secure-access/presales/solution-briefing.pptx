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media/image1.bin" ContentType="image/unknown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9"/>
  </p:notesMasterIdLst>
  <p:sldIdLst>
    <p:sldId id="256" r:id="rId7"/>
    <p:sldId id="257" r:id="rId8"/>
    <p:sldId id="258" r:id="rId6"/>
    <p:sldId id="259" r:id="rId5"/>
    <p:sldId id="260" r:id="rId4"/>
    <p:sldId id="261" r:id="rId3"/>
    <p:sldId id="262" r:id="rId2"/>
    <p:sldId id="263" r:id="rId14"/>
    <p:sldId id="264" r:id="rId15"/>
    <p:sldId id="265" r:id="rId16"/>
    <p:sldId id="266" r:id="rId17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A01C0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E3FDE45-AF77-4B5C-9715-49D594BDF05E}" styleName="Light Style 1 - Accent 2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2"/>
              </a:solidFill>
            </a:ln>
          </a:top>
          <a:bottom>
            <a:ln w="12700" cmpd="sng">
              <a:solidFill>
                <a:schemeClr val="accent2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2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2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2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5" d="100"/>
          <a:sy n="135" d="100"/>
        </p:scale>
        <p:origin x="380" y="3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notesViewPr>
    <p:cSldViewPr snapToGrid="0" snapToObjects="1">
      <p:cViewPr varScale="1">
        <p:scale>
          <a:sx n="83" d="100"/>
          <a:sy n="83" d="100"/>
        </p:scale>
        <p:origin x="3732" y="76"/>
      </p:cViewPr>
      <p:guideLst/>
    </p:cSldViewPr>
  </p:notes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7.xml"/><Relationship Id="rId3" Type="http://schemas.openxmlformats.org/officeDocument/2006/relationships/slide" Target="slides/slide6.xml"/><Relationship Id="rId4" Type="http://schemas.openxmlformats.org/officeDocument/2006/relationships/slide" Target="slides/slide5.xml"/><Relationship Id="rId5" Type="http://schemas.openxmlformats.org/officeDocument/2006/relationships/slide" Target="slides/slide4.xml"/><Relationship Id="rId6" Type="http://schemas.openxmlformats.org/officeDocument/2006/relationships/slide" Target="slides/slide3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-17145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>
          <a:xfrm>
            <a:off x="514350" y="4400550"/>
            <a:ext cx="4114800" cy="3600450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167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bin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538528" y="1886679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Presentation Title</a:t>
            </a: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1" y="4536078"/>
            <a:ext cx="209989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59473" y="2437679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Subtitle Text</a:t>
            </a:r>
            <a:endParaRPr lang="en-US" sz="1800" dirty="0"/>
          </a:p>
        </p:txBody>
      </p:sp>
      <p:sp>
        <p:nvSpPr>
          <p:cNvPr id="12" name="Text Placeholder 11">
            <a:extLst>
              <a:ext uri="{FF2B5EF4-FFF2-40B4-BE49-F238E27FC236}">
                <a16:creationId xmlns:a16="http://schemas.microsoft.com/office/drawing/2014/main" id="{39F5D3C5-0033-51A7-77BC-7E3DBBF84F2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734286" y="3631467"/>
            <a:ext cx="3605212" cy="33496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4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sz="1400" dirty="0">
                <a:solidFill>
                  <a:srgbClr val="6C757D"/>
                </a:solidFill>
                <a:latin typeface="Arial" pitchFamily="34" charset="0"/>
                <a:cs typeface="Arial" pitchFamily="34" charset="-120"/>
              </a:rPr>
              <a:t>Presenter Name | Date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41143506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Single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Slide Title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="1" baseline="0">
                <a:solidFill>
                  <a:srgbClr val="C00000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7F71806-AFEA-DD6D-E6AA-E2A002E682D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4623962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Bullet Point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3" y="4536078"/>
            <a:ext cx="2143858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96863" y="0"/>
            <a:ext cx="8509304" cy="527008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Bullet Points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4BEE1A0-720D-187D-95F8-429F3DF3D64E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296863" y="685601"/>
            <a:ext cx="8548687" cy="3811657"/>
          </a:xfrm>
          <a:prstGeom prst="rect">
            <a:avLst/>
          </a:prstGeom>
        </p:spPr>
        <p:txBody>
          <a:bodyPr/>
          <a:lstStyle>
            <a:lvl1pPr>
              <a:defRPr sz="2000" baseline="0">
                <a:solidFill>
                  <a:schemeClr val="tx1"/>
                </a:solidFill>
              </a:defRPr>
            </a:lvl1pPr>
            <a:lvl2pPr>
              <a:buFont typeface="Arial" panose="020B0604020202020204" pitchFamily="34" charset="0"/>
              <a:buChar char="•"/>
              <a:defRPr sz="1600"/>
            </a:lvl2pPr>
            <a:lvl3pPr>
              <a:defRPr sz="1400"/>
            </a:lvl3pPr>
            <a:lvl4pPr>
              <a:buFont typeface="Arial" panose="020B0604020202020204" pitchFamily="34" charset="0"/>
              <a:buChar char="•"/>
              <a:defRPr sz="1200"/>
            </a:lvl4pPr>
          </a:lstStyle>
          <a:p>
            <a:pPr lvl="0"/>
            <a:r>
              <a:rPr lang="en-US" dirty="0"/>
              <a:t>Bullet Point 1</a:t>
            </a:r>
          </a:p>
          <a:p>
            <a:pPr lvl="0"/>
            <a:r>
              <a:rPr lang="en-US" dirty="0"/>
              <a:t>Bullet Point 2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62079A5-28FD-9D2F-2B9B-2FC8F9339A31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27076" y="4738688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09073776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wo Colum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21877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530738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Two Column Layout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229E4A97-A874-D6CA-E54C-5584536CAA7C}"/>
              </a:ext>
            </a:extLst>
          </p:cNvPr>
          <p:cNvSpPr>
            <a:spLocks noGrp="1"/>
          </p:cNvSpPr>
          <p:nvPr>
            <p:ph type="body" sz="quarter" idx="16" hasCustomPrompt="1"/>
          </p:nvPr>
        </p:nvSpPr>
        <p:spPr>
          <a:xfrm>
            <a:off x="193675" y="678433"/>
            <a:ext cx="4462463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Left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13" name="Text Placeholder 12">
            <a:extLst>
              <a:ext uri="{FF2B5EF4-FFF2-40B4-BE49-F238E27FC236}">
                <a16:creationId xmlns:a16="http://schemas.microsoft.com/office/drawing/2014/main" id="{EF61ADBD-DA9D-A8A7-8FC3-64E82242B983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4840288" y="678433"/>
            <a:ext cx="4110037" cy="3785515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Right Column Sub title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5DF49ED0-89F0-F008-ADD7-D71F338C8B9B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697414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124373098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ab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Picture Placeholder 13">
            <a:extLst>
              <a:ext uri="{FF2B5EF4-FFF2-40B4-BE49-F238E27FC236}">
                <a16:creationId xmlns:a16="http://schemas.microsoft.com/office/drawing/2014/main" id="{2DB97592-C4D5-B315-7F11-AA14F6EE8A62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26273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6855" y="39642"/>
            <a:ext cx="8710933" cy="527013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2700" b="1" dirty="0">
                <a:solidFill>
                  <a:srgbClr val="2C3E50"/>
                </a:solidFill>
                <a:latin typeface="Arial" pitchFamily="34" charset="0"/>
                <a:cs typeface="Arial" pitchFamily="34" charset="-120"/>
              </a:rPr>
              <a:t>Table</a:t>
            </a:r>
            <a:endParaRPr lang="en-US" sz="3200" dirty="0"/>
          </a:p>
          <a:p>
            <a:pPr lvl="0"/>
            <a:endParaRPr lang="en-US" dirty="0"/>
          </a:p>
        </p:txBody>
      </p:sp>
      <p:sp>
        <p:nvSpPr>
          <p:cNvPr id="5" name="Table Placeholder 4">
            <a:extLst>
              <a:ext uri="{FF2B5EF4-FFF2-40B4-BE49-F238E27FC236}">
                <a16:creationId xmlns:a16="http://schemas.microsoft.com/office/drawing/2014/main" id="{D3D9E4F7-6B7D-2205-75B9-EE8C54E89A5F}"/>
              </a:ext>
            </a:extLst>
          </p:cNvPr>
          <p:cNvSpPr>
            <a:spLocks noGrp="1"/>
          </p:cNvSpPr>
          <p:nvPr>
            <p:ph type="tbl" sz="quarter" idx="14"/>
          </p:nvPr>
        </p:nvSpPr>
        <p:spPr>
          <a:xfrm>
            <a:off x="256855" y="677011"/>
            <a:ext cx="8710933" cy="378508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00DC936-676C-1BAA-B4B4-D45CC5951D6E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574931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281483460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Visual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30670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7423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Visual Content</a:t>
            </a:r>
          </a:p>
        </p:txBody>
      </p:sp>
      <p:sp>
        <p:nvSpPr>
          <p:cNvPr id="6" name="Picture Placeholder 5">
            <a:extLst>
              <a:ext uri="{FF2B5EF4-FFF2-40B4-BE49-F238E27FC236}">
                <a16:creationId xmlns:a16="http://schemas.microsoft.com/office/drawing/2014/main" id="{D4B682B8-2171-423F-A77B-10BADD07BC6C}"/>
              </a:ext>
            </a:extLst>
          </p:cNvPr>
          <p:cNvSpPr>
            <a:spLocks noGrp="1"/>
          </p:cNvSpPr>
          <p:nvPr>
            <p:ph type="pic" sz="quarter" idx="15"/>
          </p:nvPr>
        </p:nvSpPr>
        <p:spPr>
          <a:xfrm>
            <a:off x="4662488" y="685799"/>
            <a:ext cx="4337050" cy="3815859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F1EE9992-B6F6-08BF-BFB5-6AF6BEDE367A}"/>
              </a:ext>
            </a:extLst>
          </p:cNvPr>
          <p:cNvSpPr>
            <a:spLocks noGrp="1"/>
          </p:cNvSpPr>
          <p:nvPr>
            <p:ph type="body" sz="quarter" idx="16"/>
          </p:nvPr>
        </p:nvSpPr>
        <p:spPr>
          <a:xfrm>
            <a:off x="92075" y="685800"/>
            <a:ext cx="4449763" cy="3815859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2" name="Text Placeholder 4">
            <a:extLst>
              <a:ext uri="{FF2B5EF4-FFF2-40B4-BE49-F238E27FC236}">
                <a16:creationId xmlns:a16="http://schemas.microsoft.com/office/drawing/2014/main" id="{6D03683B-7C4B-D474-74C5-EC53E3BB515B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781065" y="4729530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11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9440596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Data Visualiza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Picture Placeholder 13">
            <a:extLst>
              <a:ext uri="{FF2B5EF4-FFF2-40B4-BE49-F238E27FC236}">
                <a16:creationId xmlns:a16="http://schemas.microsoft.com/office/drawing/2014/main" id="{6A0FA445-7602-F06E-EC73-5504EBF827CC}"/>
              </a:ext>
            </a:extLst>
          </p:cNvPr>
          <p:cNvSpPr>
            <a:spLocks noGrp="1"/>
          </p:cNvSpPr>
          <p:nvPr>
            <p:ph type="pic" sz="quarter" idx="14"/>
          </p:nvPr>
        </p:nvSpPr>
        <p:spPr>
          <a:xfrm>
            <a:off x="313592" y="4536078"/>
            <a:ext cx="210429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3" name="Shape 1">
            <a:extLst>
              <a:ext uri="{FF2B5EF4-FFF2-40B4-BE49-F238E27FC236}">
                <a16:creationId xmlns:a16="http://schemas.microsoft.com/office/drawing/2014/main" id="{4EA828A1-D5D6-9ADA-1918-E5FE226673A0}"/>
              </a:ext>
            </a:extLst>
          </p:cNvPr>
          <p:cNvSpPr/>
          <p:nvPr userDrawn="1"/>
        </p:nvSpPr>
        <p:spPr>
          <a:xfrm>
            <a:off x="0" y="606304"/>
            <a:ext cx="9144000" cy="0"/>
          </a:xfrm>
          <a:prstGeom prst="line">
            <a:avLst/>
          </a:prstGeom>
          <a:noFill/>
          <a:ln w="28575">
            <a:solidFill>
              <a:srgbClr val="CC000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Placeholder 8">
            <a:extLst>
              <a:ext uri="{FF2B5EF4-FFF2-40B4-BE49-F238E27FC236}">
                <a16:creationId xmlns:a16="http://schemas.microsoft.com/office/drawing/2014/main" id="{980A86D4-478F-6846-9F0A-B815F2A3AB2D}"/>
              </a:ext>
            </a:extLst>
          </p:cNvPr>
          <p:cNvSpPr>
            <a:spLocks noGrp="1"/>
          </p:cNvSpPr>
          <p:nvPr>
            <p:ph type="body" sz="quarter" idx="10" hasCustomPrompt="1"/>
          </p:nvPr>
        </p:nvSpPr>
        <p:spPr>
          <a:xfrm>
            <a:off x="257174" y="7163"/>
            <a:ext cx="8640764" cy="527013"/>
          </a:xfrm>
          <a:prstGeom prst="rect">
            <a:avLst/>
          </a:prstGeom>
        </p:spPr>
        <p:txBody>
          <a:bodyPr/>
          <a:lstStyle>
            <a:lvl1pPr marL="0" marR="0" indent="0" algn="l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2700" b="1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lvl="0"/>
            <a:r>
              <a:rPr lang="en-US" dirty="0"/>
              <a:t>Data Visualization</a:t>
            </a:r>
          </a:p>
        </p:txBody>
      </p:sp>
      <p:sp>
        <p:nvSpPr>
          <p:cNvPr id="5" name="Chart Placeholder 4">
            <a:extLst>
              <a:ext uri="{FF2B5EF4-FFF2-40B4-BE49-F238E27FC236}">
                <a16:creationId xmlns:a16="http://schemas.microsoft.com/office/drawing/2014/main" id="{A686C49F-4337-BBE6-FF21-682B01E38601}"/>
              </a:ext>
            </a:extLst>
          </p:cNvPr>
          <p:cNvSpPr>
            <a:spLocks noGrp="1"/>
          </p:cNvSpPr>
          <p:nvPr>
            <p:ph type="chart" sz="quarter" idx="15"/>
          </p:nvPr>
        </p:nvSpPr>
        <p:spPr>
          <a:xfrm>
            <a:off x="4572000" y="685597"/>
            <a:ext cx="4325938" cy="3778347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0B730E7-C68E-A3E8-1745-8AF89C786D5F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136525" y="678433"/>
            <a:ext cx="4237038" cy="3785513"/>
          </a:xfrm>
          <a:prstGeom prst="rect">
            <a:avLst/>
          </a:prstGeom>
        </p:spPr>
        <p:txBody>
          <a:bodyPr/>
          <a:lstStyle>
            <a:lvl1pPr>
              <a:defRPr sz="1800" b="1">
                <a:solidFill>
                  <a:srgbClr val="C00000"/>
                </a:solidFill>
              </a:defRPr>
            </a:lvl1pPr>
            <a:lvl2pPr>
              <a:defRPr sz="1400"/>
            </a:lvl2pPr>
            <a:lvl3pPr>
              <a:defRPr sz="12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4">
            <a:extLst>
              <a:ext uri="{FF2B5EF4-FFF2-40B4-BE49-F238E27FC236}">
                <a16:creationId xmlns:a16="http://schemas.microsoft.com/office/drawing/2014/main" id="{A1231DFE-6A5A-950E-159E-9E1D3D45FD36}"/>
              </a:ext>
            </a:extLst>
          </p:cNvPr>
          <p:cNvSpPr>
            <a:spLocks noGrp="1"/>
          </p:cNvSpPr>
          <p:nvPr>
            <p:ph type="body" sz="quarter" idx="17" hasCustomPrompt="1"/>
          </p:nvPr>
        </p:nvSpPr>
        <p:spPr>
          <a:xfrm>
            <a:off x="5679465" y="4681864"/>
            <a:ext cx="3218473" cy="238125"/>
          </a:xfrm>
          <a:prstGeom prst="rect">
            <a:avLst/>
          </a:prstGeom>
        </p:spPr>
        <p:txBody>
          <a:bodyPr/>
          <a:lstStyle>
            <a:lvl5pPr algn="r">
              <a:buNone/>
              <a:defRPr sz="900"/>
            </a:lvl5pPr>
          </a:lstStyle>
          <a:p>
            <a:pPr lvl="4"/>
            <a:r>
              <a:rPr lang="en-US" dirty="0"/>
              <a:t>Project Name</a:t>
            </a:r>
          </a:p>
        </p:txBody>
      </p:sp>
    </p:spTree>
    <p:extLst>
      <p:ext uri="{BB962C8B-B14F-4D97-AF65-F5344CB8AC3E}">
        <p14:creationId xmlns:p14="http://schemas.microsoft.com/office/powerpoint/2010/main" val="47354944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EO Thank Yo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8D36A0E4-7374-4A92-CEC2-AC1CC29B855F}"/>
              </a:ext>
            </a:extLst>
          </p:cNvPr>
          <p:cNvSpPr>
            <a:spLocks noGrp="1"/>
          </p:cNvSpPr>
          <p:nvPr>
            <p:ph type="pic" sz="quarter" idx="10"/>
          </p:nvPr>
        </p:nvSpPr>
        <p:spPr>
          <a:xfrm>
            <a:off x="2180492" y="171206"/>
            <a:ext cx="3978520" cy="1314694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pic>
        <p:nvPicPr>
          <p:cNvPr id="5" name="Image 0" descr="/home/claude/eo-framework-logo.png">
            <a:extLst>
              <a:ext uri="{FF2B5EF4-FFF2-40B4-BE49-F238E27FC236}">
                <a16:creationId xmlns:a16="http://schemas.microsoft.com/office/drawing/2014/main" id="{028AFAE3-D949-BFF8-132D-C3956962B6BC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945879" y="4648200"/>
            <a:ext cx="1952244" cy="417576"/>
          </a:xfrm>
          <a:prstGeom prst="rect">
            <a:avLst/>
          </a:prstGeom>
        </p:spPr>
      </p:pic>
      <p:sp>
        <p:nvSpPr>
          <p:cNvPr id="6" name="Text Placeholder 8">
            <a:extLst>
              <a:ext uri="{FF2B5EF4-FFF2-40B4-BE49-F238E27FC236}">
                <a16:creationId xmlns:a16="http://schemas.microsoft.com/office/drawing/2014/main" id="{ABC2FEB1-3552-40B4-D5D2-8C9A2DF4EF3E}"/>
              </a:ext>
            </a:extLst>
          </p:cNvPr>
          <p:cNvSpPr>
            <a:spLocks noGrp="1"/>
          </p:cNvSpPr>
          <p:nvPr>
            <p:ph type="body" sz="quarter" idx="12" hasCustomPrompt="1"/>
          </p:nvPr>
        </p:nvSpPr>
        <p:spPr>
          <a:xfrm>
            <a:off x="736356" y="2247927"/>
            <a:ext cx="7671288" cy="527050"/>
          </a:xfrm>
          <a:prstGeom prst="rect">
            <a:avLst/>
          </a:prstGeom>
        </p:spPr>
        <p:txBody>
          <a:bodyPr/>
          <a:lstStyle>
            <a:lvl1pPr marL="0" indent="0" algn="ctr">
              <a:lnSpc>
                <a:spcPts val="3600"/>
              </a:lnSpc>
              <a:buNone/>
              <a:defRPr sz="3600" b="1" i="0" baseline="0">
                <a:latin typeface="Arial" panose="020B0604020202020204" pitchFamily="34" charset="0"/>
              </a:defRPr>
            </a:lvl1pPr>
          </a:lstStyle>
          <a:p>
            <a:pPr marL="0" indent="0" algn="ctr">
              <a:lnSpc>
                <a:spcPts val="3600"/>
              </a:lnSpc>
              <a:buNone/>
            </a:pPr>
            <a:r>
              <a:rPr lang="en-US" sz="3600" b="1" dirty="0">
                <a:solidFill>
                  <a:srgbClr val="2C3E5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Thank You</a:t>
            </a:r>
          </a:p>
          <a:p>
            <a:pPr marL="0" indent="0" algn="ctr">
              <a:lnSpc>
                <a:spcPts val="3600"/>
              </a:lnSpc>
              <a:buNone/>
            </a:pPr>
            <a:endParaRPr lang="en-US" sz="3600" dirty="0"/>
          </a:p>
        </p:txBody>
      </p:sp>
      <p:sp>
        <p:nvSpPr>
          <p:cNvPr id="7" name="Picture Placeholder 13">
            <a:extLst>
              <a:ext uri="{FF2B5EF4-FFF2-40B4-BE49-F238E27FC236}">
                <a16:creationId xmlns:a16="http://schemas.microsoft.com/office/drawing/2014/main" id="{86145EB1-48C8-058E-F657-82D57B579544}"/>
              </a:ext>
            </a:extLst>
          </p:cNvPr>
          <p:cNvSpPr>
            <a:spLocks noGrp="1"/>
          </p:cNvSpPr>
          <p:nvPr>
            <p:ph type="pic" sz="quarter" idx="13"/>
          </p:nvPr>
        </p:nvSpPr>
        <p:spPr>
          <a:xfrm>
            <a:off x="313592" y="4536078"/>
            <a:ext cx="2164114" cy="529698"/>
          </a:xfrm>
          <a:prstGeom prst="rect">
            <a:avLst/>
          </a:prstGeom>
        </p:spPr>
        <p:txBody>
          <a:bodyPr/>
          <a:lstStyle/>
          <a:p>
            <a:endParaRPr lang="en-US" dirty="0"/>
          </a:p>
        </p:txBody>
      </p:sp>
      <p:sp>
        <p:nvSpPr>
          <p:cNvPr id="8" name="Text 0">
            <a:extLst>
              <a:ext uri="{FF2B5EF4-FFF2-40B4-BE49-F238E27FC236}">
                <a16:creationId xmlns:a16="http://schemas.microsoft.com/office/drawing/2014/main" id="{D51056DC-8081-0916-0351-65D88D1682B8}"/>
              </a:ext>
            </a:extLst>
          </p:cNvPr>
          <p:cNvSpPr/>
          <p:nvPr userDrawn="1"/>
        </p:nvSpPr>
        <p:spPr>
          <a:xfrm>
            <a:off x="2224455" y="1676475"/>
            <a:ext cx="3886322" cy="45719"/>
          </a:xfrm>
          <a:prstGeom prst="roundRect">
            <a:avLst>
              <a:gd name="adj" fmla="val 50000"/>
            </a:avLst>
          </a:prstGeom>
          <a:solidFill>
            <a:srgbClr val="CC0000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10" name="Text Placeholder 9">
            <a:extLst>
              <a:ext uri="{FF2B5EF4-FFF2-40B4-BE49-F238E27FC236}">
                <a16:creationId xmlns:a16="http://schemas.microsoft.com/office/drawing/2014/main" id="{DC531180-94E5-3403-56E5-895E003A9D72}"/>
              </a:ext>
            </a:extLst>
          </p:cNvPr>
          <p:cNvSpPr>
            <a:spLocks noGrp="1"/>
          </p:cNvSpPr>
          <p:nvPr>
            <p:ph type="body" sz="quarter" idx="14" hasCustomPrompt="1"/>
          </p:nvPr>
        </p:nvSpPr>
        <p:spPr>
          <a:xfrm>
            <a:off x="1024304" y="1874962"/>
            <a:ext cx="6629399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/>
            </a:pPr>
            <a:r>
              <a:rPr lang="en-US" sz="1800" dirty="0">
                <a:solidFill>
                  <a:srgbClr val="6C757D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Questions?</a:t>
            </a:r>
            <a:endParaRPr lang="en-US" sz="1800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5727805F-2A15-11D3-243F-1AE09D6E973E}"/>
              </a:ext>
            </a:extLst>
          </p:cNvPr>
          <p:cNvSpPr/>
          <p:nvPr userDrawn="1"/>
        </p:nvSpPr>
        <p:spPr>
          <a:xfrm>
            <a:off x="3312808" y="4536078"/>
            <a:ext cx="2797969" cy="529698"/>
          </a:xfrm>
          <a:prstGeom prst="roundRect">
            <a:avLst>
              <a:gd name="adj" fmla="val 14286"/>
            </a:avLst>
          </a:prstGeom>
          <a:solidFill>
            <a:srgbClr val="F5F5F5"/>
          </a:solidFill>
          <a:ln/>
        </p:spPr>
        <p:txBody>
          <a:bodyPr wrap="square" rtlCol="0" anchor="ctr"/>
          <a:lstStyle/>
          <a:p>
            <a:pPr marL="0" indent="0">
              <a:buNone/>
            </a:pPr>
            <a:endParaRPr lang="en-US" dirty="0"/>
          </a:p>
        </p:txBody>
      </p:sp>
      <p:sp>
        <p:nvSpPr>
          <p:cNvPr id="3" name="Text 4">
            <a:extLst>
              <a:ext uri="{FF2B5EF4-FFF2-40B4-BE49-F238E27FC236}">
                <a16:creationId xmlns:a16="http://schemas.microsoft.com/office/drawing/2014/main" id="{1034B79E-463D-8396-409E-62C28A2DEB04}"/>
              </a:ext>
            </a:extLst>
          </p:cNvPr>
          <p:cNvSpPr/>
          <p:nvPr userDrawn="1"/>
        </p:nvSpPr>
        <p:spPr>
          <a:xfrm>
            <a:off x="3614735" y="4667577"/>
            <a:ext cx="2076688" cy="2667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lnSpc>
                <a:spcPts val="2100"/>
              </a:lnSpc>
              <a:spcBef>
                <a:spcPts val="300"/>
              </a:spcBef>
              <a:spcAft>
                <a:spcPts val="300"/>
              </a:spcAft>
              <a:buNone/>
            </a:pPr>
            <a:r>
              <a:rPr lang="en-US" sz="1500" b="1" dirty="0">
                <a:solidFill>
                  <a:schemeClr val="bg2">
                    <a:lumMod val="75000"/>
                  </a:schemeClr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www.eoframework.org</a:t>
            </a:r>
            <a:endParaRPr lang="en-US" sz="1500" dirty="0">
              <a:solidFill>
                <a:schemeClr val="bg2">
                  <a:lumMod val="75000"/>
                </a:schemeClr>
              </a:solidFill>
            </a:endParaRPr>
          </a:p>
        </p:txBody>
      </p:sp>
      <p:sp>
        <p:nvSpPr>
          <p:cNvPr id="16" name="Text Placeholder 9">
            <a:extLst>
              <a:ext uri="{FF2B5EF4-FFF2-40B4-BE49-F238E27FC236}">
                <a16:creationId xmlns:a16="http://schemas.microsoft.com/office/drawing/2014/main" id="{2DED039B-C555-DCF4-1CA7-CA1E44823784}"/>
              </a:ext>
            </a:extLst>
          </p:cNvPr>
          <p:cNvSpPr>
            <a:spLocks noGrp="1"/>
          </p:cNvSpPr>
          <p:nvPr>
            <p:ph type="body" sz="quarter" idx="15" hasCustomPrompt="1"/>
          </p:nvPr>
        </p:nvSpPr>
        <p:spPr>
          <a:xfrm>
            <a:off x="268165" y="3131272"/>
            <a:ext cx="8480181" cy="334598"/>
          </a:xfrm>
          <a:prstGeom prst="rect">
            <a:avLst/>
          </a:prstGeom>
        </p:spPr>
        <p:txBody>
          <a:bodyPr/>
          <a:lstStyle>
            <a:lvl1pPr marL="0" marR="0" indent="0" algn="ctr" defTabSz="914400" rtl="0" eaLnBrk="1" fontAlgn="auto" latinLnBrk="0" hangingPunct="1">
              <a:lnSpc>
                <a:spcPct val="100000"/>
              </a:lnSpc>
              <a:spcBef>
                <a:spcPct val="20000"/>
              </a:spcBef>
              <a:spcAft>
                <a:spcPts val="0"/>
              </a:spcAft>
              <a:buClrTx/>
              <a:buSzTx/>
              <a:buFont typeface="Arial" pitchFamily="34" charset="0"/>
              <a:buNone/>
              <a:tabLst/>
              <a:defRPr sz="1800" b="0">
                <a:solidFill>
                  <a:schemeClr val="tx1"/>
                </a:solidFill>
                <a:latin typeface="Arial" panose="020B0604020202020204" pitchFamily="34" charset="0"/>
                <a:cs typeface="Arial" panose="020B0604020202020204" pitchFamily="34" charset="0"/>
              </a:defRPr>
            </a:lvl1pPr>
          </a:lstStyle>
          <a:p>
            <a:pPr>
              <a:spcAft>
                <a:spcPts val="1200"/>
              </a:spcAft>
            </a:pPr>
            <a:r>
              <a:rPr lang="en-US" sz="1800" b="1" dirty="0">
                <a:solidFill>
                  <a:srgbClr val="000000"/>
                </a:solidFill>
              </a:rPr>
              <a:t>Account Manager:</a:t>
            </a:r>
            <a:r>
              <a:rPr lang="en-US" sz="1800" dirty="0">
                <a:solidFill>
                  <a:srgbClr val="000000"/>
                </a:solidFill>
              </a:rPr>
              <a:t> [Name, Title] | [Email] | [Phone]</a:t>
            </a:r>
          </a:p>
        </p:txBody>
      </p:sp>
    </p:spTree>
    <p:extLst>
      <p:ext uri="{BB962C8B-B14F-4D97-AF65-F5344CB8AC3E}">
        <p14:creationId xmlns:p14="http://schemas.microsoft.com/office/powerpoint/2010/main" val="3821020057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51" r:id="rId1"/>
    <p:sldLayoutId id="2147483653" r:id="rId2"/>
    <p:sldLayoutId id="2147483659" r:id="rId3"/>
    <p:sldLayoutId id="2147483654" r:id="rId4"/>
    <p:sldLayoutId id="2147483655" r:id="rId5"/>
    <p:sldLayoutId id="2147483656" r:id="rId6"/>
    <p:sldLayoutId id="2147483657" r:id="rId7"/>
    <p:sldLayoutId id="2147483658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image" Target="../media/image5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image" Target="../media/image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mage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8.xml"/><Relationship Id="rId2" Type="http://schemas.openxmlformats.org/officeDocument/2006/relationships/image" Target="../media/image2.png"/><Relationship Id="rId3" Type="http://schemas.openxmlformats.org/officeDocument/2006/relationships/image" Target="../media/image3.png"/><Relationship Id="rId4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Solution Briefing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r>
              <a:t>Cisco ISE Secure Network Access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r>
              <a:t>['Presenter Name'] | November 24, 2025</a:t>
            </a:r>
          </a:p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1" y="4536078"/>
            <a:ext cx="2099897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Business Opportunity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Opportunity</a:t>
            </a:r>
          </a:p>
          <a:p>
            <a:pPr lvl="1"/>
            <a:r>
              <a:t>Eliminate unauthorized network access reducing security breaches by 90% with 802.1X authentication</a:t>
            </a:r>
          </a:p>
          <a:p>
            <a:pPr lvl="1"/>
            <a:r>
              <a:t>Achieve micro-segmentation with TrustSec reducing lateral threat movement by 85%</a:t>
            </a:r>
          </a:p>
          <a:p>
            <a:pPr lvl="1"/>
            <a:r>
              <a:t>Automate BYOD onboarding reducing helpdesk tickets by 70% with self-service provisioning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Success Criteria</a:t>
            </a:r>
          </a:p>
          <a:p>
            <a:pPr lvl="1"/>
            <a:r>
              <a:t>100% device authentication compliance across wired and wireless networks</a:t>
            </a:r>
          </a:p>
          <a:p>
            <a:pPr lvl="1"/>
            <a:r>
              <a:t>90% reduction in network security incidents through policy enforcement</a:t>
            </a:r>
          </a:p>
          <a:p>
            <a:pPr lvl="1"/>
            <a:r>
              <a:t>ROI realization within 24 months through reduced security incidents and helpdesk costs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Engagement Scope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29" cy="3337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567967"/>
                <a:gridCol w="2526170"/>
                <a:gridCol w="435546"/>
                <a:gridCol w="1567967"/>
                <a:gridCol w="2613279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Parameter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Scope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Primary Features/Capabilities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ISE for 1000 users 2000 devices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Availability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(99.5%)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Customization Level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ISE 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Infrastructure Complexity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campus network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External System Integrations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systems (AD + switches)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Security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802.1X authentication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Sources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User identity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Compliance Frameworks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Basic logging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 Users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1000 employees and guests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Performance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Standard authentication speed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User Roles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 roles (employee + guest)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Deployment Environments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Production only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Data Processing Volume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2000 endpoint authentications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Data Storage Requirements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100 GB (90-day logs)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Deployment Regions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Single site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/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Solution Overview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Key Components</a:t>
            </a:r>
          </a:p>
          <a:p>
            <a:pPr lvl="1"/>
            <a:r>
              <a:t>Cisco ISE 3615 appliances in HA configuration supporting 3000 endpoints</a:t>
            </a:r>
          </a:p>
          <a:p>
            <a:pPr lvl="1"/>
            <a:r>
              <a:t>802.1X authentication with Active Directory integration for users</a:t>
            </a:r>
          </a:p>
          <a:p>
            <a:pPr lvl="1"/>
            <a:r>
              <a:t>TrustSec micro-segmentation with security group tags and policy matrix</a:t>
            </a:r>
          </a:p>
          <a:p>
            <a:pPr/>
            <a:r>
              <a:rPr b="1"/>
              <a:t>Technology Stack</a:t>
            </a:r>
          </a:p>
          <a:p>
            <a:pPr lvl="1"/>
            <a:r>
              <a:t>Platform: Cisco ISE Plus with 802.1X, MAB, BYOD, and guest access</a:t>
            </a:r>
          </a:p>
          <a:p>
            <a:pPr lvl="1"/>
            <a:r>
              <a:t>Authorization: TrustSec security groups with policy-based access control</a:t>
            </a:r>
          </a:p>
          <a:p>
            <a:pPr lvl="1"/>
            <a:r>
              <a:t>Integration: Active Directory LDAP and certificate-based authentication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7" name="Picture 6" descr="architecture-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662488" y="685799"/>
            <a:ext cx="4337050" cy="3815859"/>
          </a:xfrm>
          <a:prstGeom prst="rect">
            <a:avLst/>
          </a:prstGeom>
          <a:ln w="12700">
            <a:solidFill>
              <a:srgbClr val="C0C0C0"/>
            </a:solidFill>
            <a:prstDash val="solid"/>
          </a:ln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30670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Implementation Approach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Phase 1: Foundation &amp; Policy (Weeks 1-8)</a:t>
            </a:r>
          </a:p>
          <a:p>
            <a:pPr lvl="1"/>
            <a:r>
              <a:t>ISE HA deployment, Active Directory integration, and 802.1X readiness assessment</a:t>
            </a:r>
          </a:p>
          <a:p>
            <a:pPr lvl="1"/>
            <a:r>
              <a:t>Authentication policy framework design with 802.1X and MAB configuration</a:t>
            </a:r>
          </a:p>
          <a:p>
            <a:pPr lvl="1"/>
            <a:r>
              <a:t>BYOD and guest portal setup with sponsor workflows</a:t>
            </a:r>
          </a:p>
          <a:p>
            <a:pPr/>
            <a:r>
              <a:rPr b="1"/>
              <a:t>Phase 2: Integration &amp; Testing (Weeks 9-13)</a:t>
            </a:r>
          </a:p>
          <a:p>
            <a:pPr lvl="1"/>
            <a:r>
              <a:t>TrustSec security group tag design and policy matrix configuration</a:t>
            </a:r>
          </a:p>
          <a:p>
            <a:pPr lvl="1"/>
            <a:r>
              <a:t>Network infrastructure integration with switches and WLCs</a:t>
            </a:r>
          </a:p>
          <a:p>
            <a:pPr lvl="1"/>
            <a:r>
              <a:t>Lab validation and pilot deployment with IT department (50-100 users)</a:t>
            </a:r>
          </a:p>
          <a:p>
            <a:pPr/>
            <a:r>
              <a:rPr b="1"/>
              <a:t>Phase 3: Production Rollout (Weeks 14-16)</a:t>
            </a:r>
          </a:p>
          <a:p>
            <a:pPr lvl="1"/>
            <a:r>
              <a:t>Phased production rollout: wired, wireless, BYOD, and guest access</a:t>
            </a:r>
          </a:p>
          <a:p>
            <a:pPr lvl="1"/>
            <a:r>
              <a:t>TrustSec policy enforcement across network infrastructure</a:t>
            </a:r>
          </a:p>
          <a:p>
            <a:pPr lvl="1"/>
            <a:r>
              <a:t>Hypercare support and operational handoff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Timeline &amp; Milestones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1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71093"/>
                <a:gridCol w="2177733"/>
                <a:gridCol w="1306639"/>
                <a:gridCol w="4355466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No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Phase Description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Timeline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Key Deliverables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1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Foundation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1-4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ISE HA deployed, Active Directory integrated, 802.1X readiness validated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Policy Development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5-8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Authentication policies configured, BYOD portal operational, Guest workflow ready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3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TrustSec &amp; Integration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9-12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TrustSec SGTs designed, Network infrastructure integrated, Lab validation complete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Phase 4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Deployment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Weeks 13-16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IT pilot validated (50-100 users), Production rollout complete (1000 users), TrustSec enforced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Success Stories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Client Success: Healthcare System</a:t>
            </a:r>
          </a:p>
          <a:p>
            <a:pPr lvl="1"/>
            <a:r>
              <a:rPr b="1"/>
              <a:t>Client:</a:t>
            </a:r>
            <a:r>
              <a:t> Multi-hospital system with 1200 users and 2500 devices</a:t>
            </a:r>
          </a:p>
          <a:p>
            <a:pPr lvl="1"/>
            <a:r>
              <a:rPr b="1"/>
              <a:t>Challenge:</a:t>
            </a:r>
            <a:r>
              <a:t> Unauthorized access creating compliance risk. 150+ monthly BYOD tickets. Medical IoT lacking 802.1X support.</a:t>
            </a:r>
          </a:p>
          <a:p>
            <a:pPr lvl="1"/>
            <a:r>
              <a:rPr b="1"/>
              <a:t>Solution:</a:t>
            </a:r>
            <a:r>
              <a:t> Cisco ISE with 802.1X, MAB for IoT, BYOD portal, TrustSec segmentation.</a:t>
            </a:r>
          </a:p>
          <a:p>
            <a:pPr lvl="1"/>
            <a:r>
              <a:rPr b="1"/>
              <a:t>Results:</a:t>
            </a:r>
            <a:r>
              <a:t> 100% compliance. 78% ticket reduction (150 to 33). 92% fewer unauthorized access attempts. $82K savings, 22-month ROI.</a:t>
            </a:r>
          </a:p>
          <a:p>
            <a:pPr lvl="1"/>
            <a:r>
              <a:rPr b="1"/>
              <a:t>Testimonial:</a:t>
            </a:r>
            <a:r>
              <a:t> "ISE gave us HIPAA compliance visibility. The BYOD portal eliminated helpdesk burden, and TrustSec protects patient data without VLAN complexity." — </a:t>
            </a:r>
            <a:r>
              <a:rPr b="1"/>
              <a:t>Dr. Maria Rodriguez</a:t>
            </a:r>
            <a:r>
              <a:t>, CISO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Our Partnership Advantage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6" sz="quarter"/>
          </p:nvPr>
        </p:nvSpPr>
        <p:spPr/>
        <p:txBody>
          <a:bodyPr/>
          <a:lstStyle/>
          <a:p>
            <a:pPr/>
            <a:r>
              <a:rPr b="1"/>
              <a:t>What We Bring</a:t>
            </a:r>
          </a:p>
          <a:p>
            <a:pPr lvl="1"/>
            <a:r>
              <a:t>12+ years delivering Cisco ISE and network security solutions with proven deployments</a:t>
            </a:r>
          </a:p>
          <a:p>
            <a:pPr lvl="1"/>
            <a:r>
              <a:t>45+ successful ISE implementations across healthcare, finance, education, government sectors</a:t>
            </a:r>
          </a:p>
          <a:p>
            <a:pPr lvl="1"/>
            <a:r>
              <a:t>Cisco Gold Partner with Security Architecture Specialization and CCIE Security expertise</a:t>
            </a:r>
          </a:p>
          <a:p>
            <a:pPr lvl="1"/>
            <a:r>
              <a:t>Deep experience with 802.1X, TrustSec, BYOD, and guest access workflows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7" sz="quarter"/>
          </p:nvPr>
        </p:nvSpPr>
        <p:spPr/>
        <p:txBody>
          <a:bodyPr/>
          <a:lstStyle/>
          <a:p>
            <a:pPr/>
            <a:r>
              <a:rPr b="1"/>
              <a:t>Value to You</a:t>
            </a:r>
          </a:p>
          <a:p>
            <a:pPr lvl="1"/>
            <a:r>
              <a:t>Pre-built ISE policy templates for healthcare, finance, and enterprise accelerate deployment</a:t>
            </a:r>
          </a:p>
          <a:p>
            <a:pPr lvl="1"/>
            <a:r>
              <a:t>Proven integration patterns for Active Directory, RADIUS, and certificate authorities</a:t>
            </a:r>
          </a:p>
          <a:p>
            <a:pPr lvl="1"/>
            <a:r>
              <a:t>Best practices from 45+ implementations avoiding common authentication and policy pitfalls</a:t>
            </a:r>
          </a:p>
          <a:p>
            <a:pPr lvl="1"/>
            <a:r>
              <a:t>Ongoing support for policy tuning and troubleshooting as security requirements evolve</a:t>
            </a:r>
          </a:p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7" name="Picture 6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1877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Investment Summary</a:t>
            </a:r>
          </a:p>
        </p:txBody>
      </p:sp>
      <p:graphicFrame>
        <p:nvGraphicFramePr>
          <p:cNvPr id="4" name="Table Placeholder 3"/>
          <p:cNvGraphicFramePr>
            <a:graphicFrameLocks noGrp="1"/>
          </p:cNvGraphicFramePr>
          <p:nvPr>
            <p:ph type="tbl" idx="14" sz="quarter"/>
          </p:nvPr>
        </p:nvGraphicFramePr>
        <p:xfrm>
          <a:off x="256855" y="677011"/>
          <a:ext cx="871093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97920"/>
                <a:gridCol w="1198752"/>
                <a:gridCol w="1198752"/>
                <a:gridCol w="1198752"/>
                <a:gridCol w="959001"/>
                <a:gridCol w="959001"/>
                <a:gridCol w="1198752"/>
              </a:tblGrid>
              <a:tr h="370840"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Cost Category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List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Credits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1 Net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2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Year 3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>
                          <a:solidFill>
                            <a:srgbClr val="FFFFFF"/>
                          </a:solidFill>
                        </a:rPr>
                        <a:t>3-Year Total</a:t>
                      </a:r>
                    </a:p>
                  </a:txBody>
                  <a:tcPr>
                    <a:solidFill>
                      <a:srgbClr val="A01C02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Professional Services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Hardware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$80,000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Software Licenses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$65,000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$75,000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$215,000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sz="1100"/>
                        <a:t>Support &amp; Maintenance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$31,000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100"/>
                        <a:t>$93,000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  <a:tr h="370840">
                <a:tc>
                  <a:txBody>
                    <a:bodyPr/>
                    <a:lstStyle/>
                    <a:p>
                      <a:r>
                        <a:rPr b="1" sz="1100"/>
                        <a:t>TOTAL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$186,000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($10,000)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$176,000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$106,000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b="1" sz="1100"/>
                        <a:t>$388,000</a:t>
                      </a:r>
                    </a:p>
                  </a:txBody>
                  <a:tcPr>
                    <a:solidFill>
                      <a:srgbClr val="E7E6E6"/>
                    </a:solidFill>
                  </a:tcPr>
                </a:tc>
              </a:tr>
            </a:tbl>
          </a:graphicData>
        </a:graphic>
      </p:graphicFrame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2" y="4536078"/>
            <a:ext cx="2126273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0" sz="quarter"/>
          </p:nvPr>
        </p:nvSpPr>
        <p:spPr/>
        <p:txBody>
          <a:bodyPr/>
          <a:lstStyle/>
          <a:p>
            <a:pPr algn="l"/>
            <a:r>
              <a:t>Next Steps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>
            <a:pPr/>
            <a:r>
              <a:rPr b="1"/>
              <a:t>Decision:</a:t>
            </a:r>
            <a:r>
              <a:t> Executive approval for $258.2K Year 1 investment by [specific date]</a:t>
            </a:r>
          </a:p>
          <a:p>
            <a:pPr/>
            <a:r>
              <a:rPr b="1"/>
              <a:t>Hardware Procurement:</a:t>
            </a:r>
            <a:r>
              <a:t> Order ISE 3615 appliances (4-6 week lead time) with data center preparation</a:t>
            </a:r>
          </a:p>
          <a:p>
            <a:pPr/>
            <a:r>
              <a:rPr b="1"/>
              <a:t>Team Formation:</a:t>
            </a:r>
            <a:r>
              <a:t> Assign security lead, network team, and coordinate with Active Directory administrators</a:t>
            </a:r>
          </a:p>
          <a:p>
            <a:pPr/>
            <a:r>
              <a:rPr b="1"/>
              <a:t>Week 1-4:</a:t>
            </a:r>
            <a:r>
              <a:t> Foundation phase with 802.1X readiness assessment, ISE deployment, and AD integration</a:t>
            </a:r>
          </a:p>
          <a:p>
            <a:pPr/>
            <a:r>
              <a:rPr b="1"/>
              <a:t>Week 5-16:</a:t>
            </a:r>
            <a:r>
              <a:t> Policy development and rollout with BYOD/guest configuration, pilot validation, and production deployment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>
            <a:pPr algn="r">
              <a:buNone/>
            </a:pPr>
            <a:r>
              <a:rPr sz="1100">
                <a:solidFill>
                  <a:srgbClr val="CC0000"/>
                </a:solidFill>
              </a:rPr>
              <a:t>Cisco ISE Secure Network Access</a:t>
            </a:r>
          </a:p>
        </p:txBody>
      </p:sp>
      <p:pic>
        <p:nvPicPr>
          <p:cNvPr id="6" name="Picture 5" descr="consulting_company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13593" y="4536078"/>
            <a:ext cx="2143858" cy="529698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ext Placeholder 2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t>Thank You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idx="14" sz="quarter"/>
          </p:nvPr>
        </p:nvSpPr>
        <p:spPr/>
        <p:txBody>
          <a:bodyPr/>
          <a:lstStyle/>
          <a:p/>
        </p:txBody>
      </p:sp>
      <p:sp>
        <p:nvSpPr>
          <p:cNvPr id="6" name="Text Placeholder 5"/>
          <p:cNvSpPr>
            <a:spLocks noGrp="1"/>
          </p:cNvSpPr>
          <p:nvPr>
            <p:ph type="body" idx="15" sz="quarter"/>
          </p:nvPr>
        </p:nvSpPr>
        <p:spPr/>
        <p:txBody>
          <a:bodyPr/>
          <a:lstStyle/>
          <a:p/>
        </p:txBody>
      </p:sp>
      <p:pic>
        <p:nvPicPr>
          <p:cNvPr id="7" name="Picture 6" descr="client_log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0492" y="171206"/>
            <a:ext cx="3978520" cy="1314694"/>
          </a:xfrm>
          <a:prstGeom prst="rect">
            <a:avLst/>
          </a:prstGeom>
        </p:spPr>
      </p:pic>
      <p:pic>
        <p:nvPicPr>
          <p:cNvPr id="8" name="Picture 7" descr="consulting_company_logo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3592" y="4536078"/>
            <a:ext cx="2164114" cy="529698"/>
          </a:xfrm>
          <a:prstGeom prst="rect">
            <a:avLst/>
          </a:prstGeom>
        </p:spPr>
      </p:pic>
      <p:pic>
        <p:nvPicPr>
          <p:cNvPr id="9" name="Picture 8" descr="eo-framework-logo-real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84264" y="4535424"/>
            <a:ext cx="2139696" cy="530352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440</TotalTime>
  <Words>42</Words>
  <Application>Microsoft Office PowerPoint</Application>
  <PresentationFormat>On-screen Show (16:9)</PresentationFormat>
  <Paragraphs>21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0" baseType="lpstr">
      <vt:lpstr>Aptos</vt:lpstr>
      <vt:lpstr>Arial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EOFramework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EOFramework Template</dc:title>
  <dc:subject>PptxGenJS Presentation</dc:subject>
  <dc:creator>EOFramework</dc:creator>
  <cp:lastModifiedBy>Kishan Siram</cp:lastModifiedBy>
  <cp:revision>85</cp:revision>
  <dcterms:created xsi:type="dcterms:W3CDTF">2025-11-01T21:16:10Z</dcterms:created>
  <dcterms:modified xsi:type="dcterms:W3CDTF">2025-11-22T23:24:48Z</dcterms:modified>
</cp:coreProperties>
</file>