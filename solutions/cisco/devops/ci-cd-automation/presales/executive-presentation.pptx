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.bin" ContentType="image/unknown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7"/>
    <p:sldId id="257" r:id="rId8"/>
    <p:sldId id="258" r:id="rId6"/>
    <p:sldId id="259" r:id="rId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01C0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5" d="100"/>
          <a:sy n="135" d="100"/>
        </p:scale>
        <p:origin x="380" y="3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5" Type="http://schemas.openxmlformats.org/officeDocument/2006/relationships/slide" Target="slides/slide4.xml"/><Relationship Id="rId6" Type="http://schemas.openxmlformats.org/officeDocument/2006/relationships/slide" Target="slides/slide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01673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bin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bin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bin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bin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bin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bin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bin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bin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8D36A0E4-7374-4A92-CEC2-AC1CC29B855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180492" y="171206"/>
            <a:ext cx="3978520" cy="1314694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pic>
        <p:nvPicPr>
          <p:cNvPr id="5" name="Image 0" descr="/home/claude/eo-framework-logo.png">
            <a:extLst>
              <a:ext uri="{FF2B5EF4-FFF2-40B4-BE49-F238E27FC236}">
                <a16:creationId xmlns:a16="http://schemas.microsoft.com/office/drawing/2014/main" id="{028AFAE3-D949-BFF8-132D-C3956962B6B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45879" y="4648200"/>
            <a:ext cx="1952244" cy="417576"/>
          </a:xfrm>
          <a:prstGeom prst="rect">
            <a:avLst/>
          </a:prstGeom>
        </p:spPr>
      </p:pic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ABC2FEB1-3552-40B4-D5D2-8C9A2DF4EF3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8528" y="1886679"/>
            <a:ext cx="7671288" cy="52705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ts val="3600"/>
              </a:lnSpc>
              <a:buNone/>
              <a:defRPr sz="3600" b="1" i="0" baseline="0">
                <a:latin typeface="Arial" panose="020B0604020202020204" pitchFamily="34" charset="0"/>
              </a:defRPr>
            </a:lvl1pPr>
          </a:lstStyle>
          <a:p>
            <a:pPr marL="0" indent="0" algn="ctr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Presentation Title</a:t>
            </a:r>
            <a:endParaRPr lang="en-US" sz="3600" dirty="0"/>
          </a:p>
        </p:txBody>
      </p:sp>
      <p:sp>
        <p:nvSpPr>
          <p:cNvPr id="7" name="Picture Placeholder 13">
            <a:extLst>
              <a:ext uri="{FF2B5EF4-FFF2-40B4-BE49-F238E27FC236}">
                <a16:creationId xmlns:a16="http://schemas.microsoft.com/office/drawing/2014/main" id="{86145EB1-48C8-058E-F657-82D57B57954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1" y="4536078"/>
            <a:ext cx="2099897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8" name="Text 0">
            <a:extLst>
              <a:ext uri="{FF2B5EF4-FFF2-40B4-BE49-F238E27FC236}">
                <a16:creationId xmlns:a16="http://schemas.microsoft.com/office/drawing/2014/main" id="{D51056DC-8081-0916-0351-65D88D1682B8}"/>
              </a:ext>
            </a:extLst>
          </p:cNvPr>
          <p:cNvSpPr/>
          <p:nvPr userDrawn="1"/>
        </p:nvSpPr>
        <p:spPr>
          <a:xfrm>
            <a:off x="2224455" y="1676475"/>
            <a:ext cx="3886322" cy="45719"/>
          </a:xfrm>
          <a:prstGeom prst="roundRect">
            <a:avLst>
              <a:gd name="adj" fmla="val 50000"/>
            </a:avLst>
          </a:prstGeom>
          <a:solidFill>
            <a:srgbClr val="CC0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C531180-94E5-3403-56E5-895E003A9D7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59473" y="2437679"/>
            <a:ext cx="6629399" cy="334598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18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Subtitle Text</a:t>
            </a:r>
            <a:endParaRPr lang="en-US" sz="1800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39F5D3C5-0033-51A7-77BC-7E3DBBF84F2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734286" y="3631467"/>
            <a:ext cx="3605212" cy="334963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sz="1400" dirty="0">
                <a:solidFill>
                  <a:srgbClr val="6C757D"/>
                </a:solidFill>
                <a:latin typeface="Arial" pitchFamily="34" charset="0"/>
                <a:cs typeface="Arial" pitchFamily="34" charset="-120"/>
              </a:rPr>
              <a:t>Presenter Name | Date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14350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Singl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6863" y="0"/>
            <a:ext cx="8509304" cy="527008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Slide Title</a:t>
            </a:r>
          </a:p>
        </p:txBody>
      </p:sp>
      <p:sp>
        <p:nvSpPr>
          <p:cNvPr id="12" name="Picture Placeholder 13">
            <a:extLst>
              <a:ext uri="{FF2B5EF4-FFF2-40B4-BE49-F238E27FC236}">
                <a16:creationId xmlns:a16="http://schemas.microsoft.com/office/drawing/2014/main" id="{2DB97592-C4D5-B315-7F11-AA14F6EE8A6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3" y="4536078"/>
            <a:ext cx="2143858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pic>
        <p:nvPicPr>
          <p:cNvPr id="13" name="Image 0" descr="/home/claude/eo-framework-logo.png">
            <a:extLst>
              <a:ext uri="{FF2B5EF4-FFF2-40B4-BE49-F238E27FC236}">
                <a16:creationId xmlns:a16="http://schemas.microsoft.com/office/drawing/2014/main" id="{25116040-BB88-891D-9118-628A78E9987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45879" y="4648200"/>
            <a:ext cx="1952244" cy="417576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BEE1A0-720D-187D-95F8-429F3DF3D64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96863" y="685601"/>
            <a:ext cx="8548687" cy="3811657"/>
          </a:xfrm>
          <a:prstGeom prst="rect">
            <a:avLst/>
          </a:prstGeom>
        </p:spPr>
        <p:txBody>
          <a:bodyPr/>
          <a:lstStyle>
            <a:lvl1pPr>
              <a:defRPr sz="2000" baseline="0">
                <a:solidFill>
                  <a:srgbClr val="C00000"/>
                </a:solidFill>
              </a:defRPr>
            </a:lvl1pPr>
            <a:lvl2pPr>
              <a:buFont typeface="Arial" panose="020B0604020202020204" pitchFamily="34" charset="0"/>
              <a:buChar char="•"/>
              <a:defRPr sz="1600"/>
            </a:lvl2pPr>
            <a:lvl3pPr>
              <a:defRPr sz="1400"/>
            </a:lvl3pPr>
            <a:lvl4pPr>
              <a:buFont typeface="Arial" panose="020B0604020202020204" pitchFamily="34" charset="0"/>
              <a:buChar char="•"/>
              <a:defRPr sz="1200"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0462396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Bullet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6863" y="0"/>
            <a:ext cx="8509304" cy="527008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Bullet Points</a:t>
            </a:r>
          </a:p>
        </p:txBody>
      </p:sp>
      <p:sp>
        <p:nvSpPr>
          <p:cNvPr id="12" name="Picture Placeholder 13">
            <a:extLst>
              <a:ext uri="{FF2B5EF4-FFF2-40B4-BE49-F238E27FC236}">
                <a16:creationId xmlns:a16="http://schemas.microsoft.com/office/drawing/2014/main" id="{2DB97592-C4D5-B315-7F11-AA14F6EE8A6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3" y="4536078"/>
            <a:ext cx="2143858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pic>
        <p:nvPicPr>
          <p:cNvPr id="13" name="Image 0" descr="/home/claude/eo-framework-logo.png">
            <a:extLst>
              <a:ext uri="{FF2B5EF4-FFF2-40B4-BE49-F238E27FC236}">
                <a16:creationId xmlns:a16="http://schemas.microsoft.com/office/drawing/2014/main" id="{25116040-BB88-891D-9118-628A78E9987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45879" y="4648200"/>
            <a:ext cx="1952244" cy="417576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BEE1A0-720D-187D-95F8-429F3DF3D64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96863" y="685601"/>
            <a:ext cx="8548687" cy="3811657"/>
          </a:xfrm>
          <a:prstGeom prst="rect">
            <a:avLst/>
          </a:prstGeom>
        </p:spPr>
        <p:txBody>
          <a:bodyPr/>
          <a:lstStyle>
            <a:lvl1pPr>
              <a:defRPr sz="2000" baseline="0">
                <a:solidFill>
                  <a:schemeClr val="tx1"/>
                </a:solidFill>
              </a:defRPr>
            </a:lvl1pPr>
            <a:lvl2pPr>
              <a:buFont typeface="Arial" panose="020B0604020202020204" pitchFamily="34" charset="0"/>
              <a:buChar char="•"/>
              <a:defRPr sz="1600"/>
            </a:lvl2pPr>
            <a:lvl3pPr>
              <a:defRPr sz="1400"/>
            </a:lvl3pPr>
            <a:lvl4pPr>
              <a:buFont typeface="Arial" panose="020B0604020202020204" pitchFamily="34" charset="0"/>
              <a:buChar char="•"/>
              <a:defRPr sz="1200"/>
            </a:lvl4pPr>
          </a:lstStyle>
          <a:p>
            <a:pPr lvl="0"/>
            <a:r>
              <a:rPr lang="en-US" dirty="0"/>
              <a:t>Bullet Point 1</a:t>
            </a:r>
          </a:p>
          <a:p>
            <a:pPr lvl="0"/>
            <a:r>
              <a:rPr lang="en-US" dirty="0"/>
              <a:t>Bullet Point 2</a:t>
            </a:r>
          </a:p>
        </p:txBody>
      </p:sp>
    </p:spTree>
    <p:extLst>
      <p:ext uri="{BB962C8B-B14F-4D97-AF65-F5344CB8AC3E}">
        <p14:creationId xmlns:p14="http://schemas.microsoft.com/office/powerpoint/2010/main" val="10907377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174" y="7163"/>
            <a:ext cx="8530738" cy="527013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Two Column Layout</a:t>
            </a:r>
          </a:p>
        </p:txBody>
      </p:sp>
      <p:pic>
        <p:nvPicPr>
          <p:cNvPr id="8" name="Image 0" descr="/home/claude/eo-framework-logo.png">
            <a:extLst>
              <a:ext uri="{FF2B5EF4-FFF2-40B4-BE49-F238E27FC236}">
                <a16:creationId xmlns:a16="http://schemas.microsoft.com/office/drawing/2014/main" id="{4B7035C6-0EF1-6BD3-318E-553D1AAD670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45879" y="4648200"/>
            <a:ext cx="1952244" cy="417576"/>
          </a:xfrm>
          <a:prstGeom prst="rect">
            <a:avLst/>
          </a:prstGeom>
        </p:spPr>
      </p:pic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6A0FA445-7602-F06E-EC73-5504EBF827C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13592" y="4536078"/>
            <a:ext cx="2121877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29E4A97-A874-D6CA-E54C-5584536CAA7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93675" y="678433"/>
            <a:ext cx="4462463" cy="3785515"/>
          </a:xfrm>
          <a:prstGeom prst="rect">
            <a:avLst/>
          </a:prstGeom>
        </p:spPr>
        <p:txBody>
          <a:bodyPr/>
          <a:lstStyle>
            <a:lvl1pPr>
              <a:defRPr sz="1800">
                <a:solidFill>
                  <a:srgbClr val="C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Left Column Sub Title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EF61ADBD-DA9D-A8A7-8FC3-64E82242B98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840288" y="678433"/>
            <a:ext cx="4110037" cy="3785515"/>
          </a:xfrm>
          <a:prstGeom prst="rect">
            <a:avLst/>
          </a:prstGeom>
        </p:spPr>
        <p:txBody>
          <a:bodyPr/>
          <a:lstStyle>
            <a:lvl1pPr>
              <a:defRPr sz="1800">
                <a:solidFill>
                  <a:srgbClr val="C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Right Column Sub title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437309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6855" y="39642"/>
            <a:ext cx="8710933" cy="527013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2700" b="1" dirty="0">
                <a:solidFill>
                  <a:srgbClr val="2C3E50"/>
                </a:solidFill>
                <a:latin typeface="Arial" pitchFamily="34" charset="0"/>
                <a:cs typeface="Arial" pitchFamily="34" charset="-120"/>
              </a:rPr>
              <a:t>Table</a:t>
            </a:r>
            <a:endParaRPr lang="en-US" sz="3200" dirty="0"/>
          </a:p>
          <a:p>
            <a:pPr lvl="0"/>
            <a:endParaRPr lang="en-US" dirty="0"/>
          </a:p>
        </p:txBody>
      </p:sp>
      <p:sp>
        <p:nvSpPr>
          <p:cNvPr id="12" name="Picture Placeholder 13">
            <a:extLst>
              <a:ext uri="{FF2B5EF4-FFF2-40B4-BE49-F238E27FC236}">
                <a16:creationId xmlns:a16="http://schemas.microsoft.com/office/drawing/2014/main" id="{2DB97592-C4D5-B315-7F11-AA14F6EE8A6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2" y="4536078"/>
            <a:ext cx="2126273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pic>
        <p:nvPicPr>
          <p:cNvPr id="13" name="Image 0" descr="/home/claude/eo-framework-logo.png">
            <a:extLst>
              <a:ext uri="{FF2B5EF4-FFF2-40B4-BE49-F238E27FC236}">
                <a16:creationId xmlns:a16="http://schemas.microsoft.com/office/drawing/2014/main" id="{25116040-BB88-891D-9118-628A78E9987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45879" y="4648200"/>
            <a:ext cx="1952244" cy="417576"/>
          </a:xfrm>
          <a:prstGeom prst="rect">
            <a:avLst/>
          </a:prstGeom>
        </p:spPr>
      </p:pic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D3D9E4F7-6B7D-2205-75B9-EE8C54E89A5F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256855" y="677011"/>
            <a:ext cx="8710933" cy="378508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48346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Visual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174" y="7163"/>
            <a:ext cx="8742364" cy="527013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Visual Content</a:t>
            </a:r>
          </a:p>
        </p:txBody>
      </p:sp>
      <p:pic>
        <p:nvPicPr>
          <p:cNvPr id="8" name="Image 0" descr="/home/claude/eo-framework-logo.png">
            <a:extLst>
              <a:ext uri="{FF2B5EF4-FFF2-40B4-BE49-F238E27FC236}">
                <a16:creationId xmlns:a16="http://schemas.microsoft.com/office/drawing/2014/main" id="{4B7035C6-0EF1-6BD3-318E-553D1AAD670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45879" y="4648200"/>
            <a:ext cx="1952244" cy="417576"/>
          </a:xfrm>
          <a:prstGeom prst="rect">
            <a:avLst/>
          </a:prstGeom>
        </p:spPr>
      </p:pic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6A0FA445-7602-F06E-EC73-5504EBF827C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13592" y="4536078"/>
            <a:ext cx="2130670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4B682B8-2171-423F-A77B-10BADD07BC6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662488" y="685799"/>
            <a:ext cx="4337050" cy="3815859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1EE9992-B6F6-08BF-BFB5-6AF6BEDE367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2075" y="685800"/>
            <a:ext cx="4449763" cy="3815859"/>
          </a:xfrm>
          <a:prstGeom prst="rect">
            <a:avLst/>
          </a:prstGeom>
        </p:spPr>
        <p:txBody>
          <a:bodyPr/>
          <a:lstStyle>
            <a:lvl1pPr>
              <a:defRPr sz="1800">
                <a:solidFill>
                  <a:srgbClr val="C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440596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Data Visualiz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174" y="7163"/>
            <a:ext cx="8640764" cy="527013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Data Visualization</a:t>
            </a:r>
          </a:p>
        </p:txBody>
      </p:sp>
      <p:pic>
        <p:nvPicPr>
          <p:cNvPr id="8" name="Image 0" descr="/home/claude/eo-framework-logo.png">
            <a:extLst>
              <a:ext uri="{FF2B5EF4-FFF2-40B4-BE49-F238E27FC236}">
                <a16:creationId xmlns:a16="http://schemas.microsoft.com/office/drawing/2014/main" id="{4B7035C6-0EF1-6BD3-318E-553D1AAD670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45879" y="4648200"/>
            <a:ext cx="1952244" cy="417576"/>
          </a:xfrm>
          <a:prstGeom prst="rect">
            <a:avLst/>
          </a:prstGeom>
        </p:spPr>
      </p:pic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6A0FA445-7602-F06E-EC73-5504EBF827C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13592" y="4536078"/>
            <a:ext cx="2104294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Chart Placeholder 4">
            <a:extLst>
              <a:ext uri="{FF2B5EF4-FFF2-40B4-BE49-F238E27FC236}">
                <a16:creationId xmlns:a16="http://schemas.microsoft.com/office/drawing/2014/main" id="{A686C49F-4337-BBE6-FF21-682B01E38601}"/>
              </a:ext>
            </a:extLst>
          </p:cNvPr>
          <p:cNvSpPr>
            <a:spLocks noGrp="1"/>
          </p:cNvSpPr>
          <p:nvPr>
            <p:ph type="chart" sz="quarter" idx="15"/>
          </p:nvPr>
        </p:nvSpPr>
        <p:spPr>
          <a:xfrm>
            <a:off x="4572000" y="685597"/>
            <a:ext cx="4325938" cy="377834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B730E7-C68E-A3E8-1745-8AF89C786D5F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136525" y="678433"/>
            <a:ext cx="4237038" cy="3785513"/>
          </a:xfrm>
          <a:prstGeom prst="rect">
            <a:avLst/>
          </a:prstGeom>
        </p:spPr>
        <p:txBody>
          <a:bodyPr/>
          <a:lstStyle>
            <a:lvl1pPr>
              <a:defRPr sz="1800">
                <a:solidFill>
                  <a:srgbClr val="C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735494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8D36A0E4-7374-4A92-CEC2-AC1CC29B855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180492" y="171206"/>
            <a:ext cx="3978520" cy="1314694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pic>
        <p:nvPicPr>
          <p:cNvPr id="5" name="Image 0" descr="/home/claude/eo-framework-logo.png">
            <a:extLst>
              <a:ext uri="{FF2B5EF4-FFF2-40B4-BE49-F238E27FC236}">
                <a16:creationId xmlns:a16="http://schemas.microsoft.com/office/drawing/2014/main" id="{028AFAE3-D949-BFF8-132D-C3956962B6B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45879" y="4648200"/>
            <a:ext cx="1952244" cy="417576"/>
          </a:xfrm>
          <a:prstGeom prst="rect">
            <a:avLst/>
          </a:prstGeom>
        </p:spPr>
      </p:pic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ABC2FEB1-3552-40B4-D5D2-8C9A2DF4EF3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36356" y="2247927"/>
            <a:ext cx="7671288" cy="52705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ts val="3600"/>
              </a:lnSpc>
              <a:buNone/>
              <a:defRPr sz="3600" b="1" i="0" baseline="0">
                <a:latin typeface="Arial" panose="020B0604020202020204" pitchFamily="34" charset="0"/>
              </a:defRPr>
            </a:lvl1pPr>
          </a:lstStyle>
          <a:p>
            <a:pPr marL="0" indent="0" algn="ctr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</a:p>
          <a:p>
            <a:pPr marL="0" indent="0" algn="ctr">
              <a:lnSpc>
                <a:spcPts val="3600"/>
              </a:lnSpc>
              <a:buNone/>
            </a:pPr>
            <a:endParaRPr lang="en-US" sz="3600" dirty="0"/>
          </a:p>
        </p:txBody>
      </p:sp>
      <p:sp>
        <p:nvSpPr>
          <p:cNvPr id="7" name="Picture Placeholder 13">
            <a:extLst>
              <a:ext uri="{FF2B5EF4-FFF2-40B4-BE49-F238E27FC236}">
                <a16:creationId xmlns:a16="http://schemas.microsoft.com/office/drawing/2014/main" id="{86145EB1-48C8-058E-F657-82D57B57954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2" y="4536078"/>
            <a:ext cx="2164114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8" name="Text 0">
            <a:extLst>
              <a:ext uri="{FF2B5EF4-FFF2-40B4-BE49-F238E27FC236}">
                <a16:creationId xmlns:a16="http://schemas.microsoft.com/office/drawing/2014/main" id="{D51056DC-8081-0916-0351-65D88D1682B8}"/>
              </a:ext>
            </a:extLst>
          </p:cNvPr>
          <p:cNvSpPr/>
          <p:nvPr userDrawn="1"/>
        </p:nvSpPr>
        <p:spPr>
          <a:xfrm>
            <a:off x="2224455" y="1676475"/>
            <a:ext cx="3886322" cy="45719"/>
          </a:xfrm>
          <a:prstGeom prst="roundRect">
            <a:avLst>
              <a:gd name="adj" fmla="val 50000"/>
            </a:avLst>
          </a:prstGeom>
          <a:solidFill>
            <a:srgbClr val="CC0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C531180-94E5-3403-56E5-895E003A9D7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24304" y="1874962"/>
            <a:ext cx="6629399" cy="334598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18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1800" dirty="0"/>
          </a:p>
        </p:txBody>
      </p:sp>
      <p:sp>
        <p:nvSpPr>
          <p:cNvPr id="2" name="Text 3">
            <a:extLst>
              <a:ext uri="{FF2B5EF4-FFF2-40B4-BE49-F238E27FC236}">
                <a16:creationId xmlns:a16="http://schemas.microsoft.com/office/drawing/2014/main" id="{5727805F-2A15-11D3-243F-1AE09D6E973E}"/>
              </a:ext>
            </a:extLst>
          </p:cNvPr>
          <p:cNvSpPr/>
          <p:nvPr userDrawn="1"/>
        </p:nvSpPr>
        <p:spPr>
          <a:xfrm>
            <a:off x="3312808" y="4536078"/>
            <a:ext cx="2797969" cy="529698"/>
          </a:xfrm>
          <a:prstGeom prst="roundRect">
            <a:avLst>
              <a:gd name="adj" fmla="val 14286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4">
            <a:extLst>
              <a:ext uri="{FF2B5EF4-FFF2-40B4-BE49-F238E27FC236}">
                <a16:creationId xmlns:a16="http://schemas.microsoft.com/office/drawing/2014/main" id="{1034B79E-463D-8396-409E-62C28A2DEB04}"/>
              </a:ext>
            </a:extLst>
          </p:cNvPr>
          <p:cNvSpPr/>
          <p:nvPr userDrawn="1"/>
        </p:nvSpPr>
        <p:spPr>
          <a:xfrm>
            <a:off x="3614735" y="4667577"/>
            <a:ext cx="207668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chemeClr val="bg2">
                    <a:lumMod val="7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www.eoframework.org</a:t>
            </a:r>
            <a:endParaRPr lang="en-US" sz="15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2DED039B-C555-DCF4-1CA7-CA1E4482378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68165" y="3131272"/>
            <a:ext cx="8480181" cy="334598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8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spcAft>
                <a:spcPts val="1200"/>
              </a:spcAft>
            </a:pPr>
            <a:r>
              <a:rPr lang="en-US" sz="1800" b="1" dirty="0">
                <a:solidFill>
                  <a:srgbClr val="000000"/>
                </a:solidFill>
              </a:rPr>
              <a:t>Account Manager:</a:t>
            </a:r>
            <a:r>
              <a:rPr lang="en-US" sz="1800" dirty="0">
                <a:solidFill>
                  <a:srgbClr val="000000"/>
                </a:solidFill>
              </a:rPr>
              <a:t> [Name, Title] | [Email] | [Phone]</a:t>
            </a:r>
          </a:p>
        </p:txBody>
      </p:sp>
    </p:spTree>
    <p:extLst>
      <p:ext uri="{BB962C8B-B14F-4D97-AF65-F5344CB8AC3E}">
        <p14:creationId xmlns:p14="http://schemas.microsoft.com/office/powerpoint/2010/main" val="382102005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3" r:id="rId2"/>
    <p:sldLayoutId id="2147483659" r:id="rId3"/>
    <p:sldLayoutId id="2147483654" r:id="rId4"/>
    <p:sldLayoutId id="2147483655" r:id="rId5"/>
    <p:sldLayoutId id="2147483656" r:id="rId6"/>
    <p:sldLayoutId id="2147483657" r:id="rId7"/>
    <p:sldLayoutId id="2147483658" r:id="rId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10" sz="quarter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Presentation Title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Solution Name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Presenter Name | November 15,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rPr b="1"/>
              <a:t>Slide 7: Why This Solution?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graphicFrame>
        <p:nvGraphicFramePr>
          <p:cNvPr id="4" name="Table Placeholder 3"/>
          <p:cNvGraphicFramePr>
            <a:graphicFrameLocks noGrp="1"/>
          </p:cNvGraphicFramePr>
          <p:nvPr>
            <p:ph type="tbl" idx="14" sz="quarter"/>
          </p:nvPr>
        </p:nvGraphicFramePr>
        <p:xfrm>
          <a:off x="256855" y="677011"/>
          <a:ext cx="8710932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55466"/>
                <a:gridCol w="4355466"/>
              </a:tblGrid>
              <a:tr h="370840"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Traditional Approach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Our Solution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[Current limitation 1]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✅ [Our advantage 1]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[Current limitation 2]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✅ [Our advantage 2]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[Current limitation 3]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✅ [Our advantage 3]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rPr b="1"/>
              <a:t>Slide 8: Business Value - Financial Impact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graphicFrame>
        <p:nvGraphicFramePr>
          <p:cNvPr id="4" name="Table Placeholder 3"/>
          <p:cNvGraphicFramePr>
            <a:graphicFrameLocks noGrp="1"/>
          </p:cNvGraphicFramePr>
          <p:nvPr>
            <p:ph type="tbl" idx="14" sz="quarter"/>
          </p:nvPr>
        </p:nvGraphicFramePr>
        <p:xfrm>
          <a:off x="256855" y="677011"/>
          <a:ext cx="8710932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55466"/>
                <a:gridCol w="4355466"/>
              </a:tblGrid>
              <a:tr h="37084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Metric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Value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Total Investment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$[Amount]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Total Benefits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$[Amount]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Net Value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$[Amount]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Payback Period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[Months]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ROI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[Percentage]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rPr b="1"/>
              <a:t>Slide 11: Risk Mitigation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graphicFrame>
        <p:nvGraphicFramePr>
          <p:cNvPr id="4" name="Table Placeholder 3"/>
          <p:cNvGraphicFramePr>
            <a:graphicFrameLocks noGrp="1"/>
          </p:cNvGraphicFramePr>
          <p:nvPr>
            <p:ph type="tbl" idx="14" sz="quarter"/>
          </p:nvPr>
        </p:nvGraphicFramePr>
        <p:xfrm>
          <a:off x="256855" y="677011"/>
          <a:ext cx="8710932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03644"/>
                <a:gridCol w="2903644"/>
                <a:gridCol w="2903644"/>
              </a:tblGrid>
              <a:tr h="37084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Risk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Mitigation Strategy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Success Probability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[Risk 1]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[Mitigation approach]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[Percentage]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[Risk 2]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[Mitigation approach]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[Percentage]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[Risk 3]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[Mitigation approach]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[Percentage]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427</TotalTime>
  <Words>39</Words>
  <Application>Microsoft Office PowerPoint</Application>
  <PresentationFormat>On-screen Show (16:9)</PresentationFormat>
  <Paragraphs>20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9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EOFramework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EOFramework Template</dc:title>
  <dc:subject>PptxGenJS Presentation</dc:subject>
  <dc:creator>EOFramework</dc:creator>
  <cp:lastModifiedBy>Kishan Siram</cp:lastModifiedBy>
  <cp:revision>79</cp:revision>
  <dcterms:created xsi:type="dcterms:W3CDTF">2025-11-01T21:16:10Z</dcterms:created>
  <dcterms:modified xsi:type="dcterms:W3CDTF">2025-11-11T19:45:33Z</dcterms:modified>
</cp:coreProperties>
</file>