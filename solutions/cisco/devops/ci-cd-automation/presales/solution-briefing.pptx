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1.bin" ContentType="image/unknown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7"/>
    <p:sldId id="257" r:id="rId8"/>
    <p:sldId id="258" r:id="rId6"/>
    <p:sldId id="259" r:id="rId5"/>
    <p:sldId id="260" r:id="rId4"/>
    <p:sldId id="261" r:id="rId3"/>
    <p:sldId id="262" r:id="rId2"/>
    <p:sldId id="263" r:id="rId14"/>
    <p:sldId id="264" r:id="rId15"/>
    <p:sldId id="265" r:id="rId16"/>
    <p:sldId id="266" r:id="rId17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01C0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5" d="100"/>
          <a:sy n="135" d="100"/>
        </p:scale>
        <p:origin x="380" y="3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napToObjects="1">
      <p:cViewPr varScale="1">
        <p:scale>
          <a:sx n="83" d="100"/>
          <a:sy n="83" d="100"/>
        </p:scale>
        <p:origin x="3732" y="76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7.xml"/><Relationship Id="rId3" Type="http://schemas.openxmlformats.org/officeDocument/2006/relationships/slide" Target="slides/slide6.xml"/><Relationship Id="rId4" Type="http://schemas.openxmlformats.org/officeDocument/2006/relationships/slide" Target="slides/slide5.xml"/><Relationship Id="rId5" Type="http://schemas.openxmlformats.org/officeDocument/2006/relationships/slide" Target="slides/slide4.xml"/><Relationship Id="rId6" Type="http://schemas.openxmlformats.org/officeDocument/2006/relationships/slide" Target="slides/slide3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1673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38528" y="1886679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Presentation Title</a:t>
            </a: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1" y="4536078"/>
            <a:ext cx="209989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59473" y="2437679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Subtitle Text</a:t>
            </a:r>
            <a:endParaRPr lang="en-US" sz="1800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39F5D3C5-0033-51A7-77BC-7E3DBBF84F2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734286" y="3631467"/>
            <a:ext cx="3605212" cy="33496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sz="1400" dirty="0">
                <a:solidFill>
                  <a:srgbClr val="6C757D"/>
                </a:solidFill>
                <a:latin typeface="Arial" pitchFamily="34" charset="0"/>
                <a:cs typeface="Arial" pitchFamily="34" charset="-120"/>
              </a:rPr>
              <a:t>Presenter Name | Date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114350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Singl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3" y="4536078"/>
            <a:ext cx="2143858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863" y="0"/>
            <a:ext cx="8509304" cy="527008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Slide Title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BEE1A0-720D-187D-95F8-429F3DF3D64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96863" y="685601"/>
            <a:ext cx="8548687" cy="3811657"/>
          </a:xfrm>
          <a:prstGeom prst="rect">
            <a:avLst/>
          </a:prstGeom>
        </p:spPr>
        <p:txBody>
          <a:bodyPr/>
          <a:lstStyle>
            <a:lvl1pPr>
              <a:defRPr sz="2000" b="1" baseline="0">
                <a:solidFill>
                  <a:srgbClr val="C00000"/>
                </a:solidFill>
              </a:defRPr>
            </a:lvl1pPr>
            <a:lvl2pPr>
              <a:buFont typeface="Arial" panose="020B0604020202020204" pitchFamily="34" charset="0"/>
              <a:buChar char="•"/>
              <a:defRPr sz="1600"/>
            </a:lvl2pPr>
            <a:lvl3pPr>
              <a:defRPr sz="1400"/>
            </a:lvl3pPr>
            <a:lvl4pPr>
              <a:buFont typeface="Arial" panose="020B0604020202020204" pitchFamily="34" charset="0"/>
              <a:buChar char="•"/>
              <a:defRPr sz="1200"/>
            </a:lvl4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7F71806-AFEA-DD6D-E6AA-E2A002E682D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627076" y="4738688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10462396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Bullet Poi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3" y="4536078"/>
            <a:ext cx="2143858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863" y="0"/>
            <a:ext cx="8509304" cy="527008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Bullet Points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BEE1A0-720D-187D-95F8-429F3DF3D64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96863" y="685601"/>
            <a:ext cx="8548687" cy="3811657"/>
          </a:xfrm>
          <a:prstGeom prst="rect">
            <a:avLst/>
          </a:prstGeom>
        </p:spPr>
        <p:txBody>
          <a:bodyPr/>
          <a:lstStyle>
            <a:lvl1pPr>
              <a:defRPr sz="2000" baseline="0">
                <a:solidFill>
                  <a:schemeClr val="tx1"/>
                </a:solidFill>
              </a:defRPr>
            </a:lvl1pPr>
            <a:lvl2pPr>
              <a:buFont typeface="Arial" panose="020B0604020202020204" pitchFamily="34" charset="0"/>
              <a:buChar char="•"/>
              <a:defRPr sz="1600"/>
            </a:lvl2pPr>
            <a:lvl3pPr>
              <a:defRPr sz="1400"/>
            </a:lvl3pPr>
            <a:lvl4pPr>
              <a:buFont typeface="Arial" panose="020B0604020202020204" pitchFamily="34" charset="0"/>
              <a:buChar char="•"/>
              <a:defRPr sz="1200"/>
            </a:lvl4pPr>
          </a:lstStyle>
          <a:p>
            <a:pPr lvl="0"/>
            <a:r>
              <a:rPr lang="en-US" dirty="0"/>
              <a:t>Bullet Point 1</a:t>
            </a:r>
          </a:p>
          <a:p>
            <a:pPr lvl="0"/>
            <a:r>
              <a:rPr lang="en-US" dirty="0"/>
              <a:t>Bullet Point 2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62079A5-28FD-9D2F-2B9B-2FC8F9339A3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627076" y="4738688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10907377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2187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530738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Two Column Layout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229E4A97-A874-D6CA-E54C-5584536CAA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93675" y="678433"/>
            <a:ext cx="4462463" cy="3785515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Left Column Sub Title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EF61ADBD-DA9D-A8A7-8FC3-64E82242B98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840288" y="678433"/>
            <a:ext cx="4110037" cy="3785515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Right Column Sub title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5DF49ED0-89F0-F008-ADD7-D71F338C8B9B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697414" y="4681864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12437309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26273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6855" y="39642"/>
            <a:ext cx="8710933" cy="52701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2700" b="1" dirty="0">
                <a:solidFill>
                  <a:srgbClr val="2C3E50"/>
                </a:solidFill>
                <a:latin typeface="Arial" pitchFamily="34" charset="0"/>
                <a:cs typeface="Arial" pitchFamily="34" charset="-120"/>
              </a:rPr>
              <a:t>Table</a:t>
            </a:r>
            <a:endParaRPr lang="en-US" sz="3200" dirty="0"/>
          </a:p>
          <a:p>
            <a:pPr lvl="0"/>
            <a:endParaRPr lang="en-US" dirty="0"/>
          </a:p>
        </p:txBody>
      </p:sp>
      <p:sp>
        <p:nvSpPr>
          <p:cNvPr id="5" name="Table Placeholder 4">
            <a:extLst>
              <a:ext uri="{FF2B5EF4-FFF2-40B4-BE49-F238E27FC236}">
                <a16:creationId xmlns:a16="http://schemas.microsoft.com/office/drawing/2014/main" id="{D3D9E4F7-6B7D-2205-75B9-EE8C54E89A5F}"/>
              </a:ext>
            </a:extLst>
          </p:cNvPr>
          <p:cNvSpPr>
            <a:spLocks noGrp="1"/>
          </p:cNvSpPr>
          <p:nvPr>
            <p:ph type="tbl" sz="quarter" idx="14"/>
          </p:nvPr>
        </p:nvSpPr>
        <p:spPr>
          <a:xfrm>
            <a:off x="256855" y="677011"/>
            <a:ext cx="8710933" cy="378508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A00DC936-676C-1BAA-B4B4-D45CC5951D6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749315" y="4681864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28148346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Visual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30670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7423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Visual Content</a:t>
            </a:r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D4B682B8-2171-423F-A77B-10BADD07BC6C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662488" y="685799"/>
            <a:ext cx="4337050" cy="3815859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1EE9992-B6F6-08BF-BFB5-6AF6BEDE367A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92075" y="685800"/>
            <a:ext cx="4449763" cy="3815859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" name="Text Placeholder 4">
            <a:extLst>
              <a:ext uri="{FF2B5EF4-FFF2-40B4-BE49-F238E27FC236}">
                <a16:creationId xmlns:a16="http://schemas.microsoft.com/office/drawing/2014/main" id="{6D03683B-7C4B-D474-74C5-EC53E3BB515B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781065" y="4729530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9440596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Data Visualiz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0429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6407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Data Visualization</a:t>
            </a:r>
          </a:p>
        </p:txBody>
      </p:sp>
      <p:sp>
        <p:nvSpPr>
          <p:cNvPr id="5" name="Chart Placeholder 4">
            <a:extLst>
              <a:ext uri="{FF2B5EF4-FFF2-40B4-BE49-F238E27FC236}">
                <a16:creationId xmlns:a16="http://schemas.microsoft.com/office/drawing/2014/main" id="{A686C49F-4337-BBE6-FF21-682B01E38601}"/>
              </a:ext>
            </a:extLst>
          </p:cNvPr>
          <p:cNvSpPr>
            <a:spLocks noGrp="1"/>
          </p:cNvSpPr>
          <p:nvPr>
            <p:ph type="chart" sz="quarter" idx="15"/>
          </p:nvPr>
        </p:nvSpPr>
        <p:spPr>
          <a:xfrm>
            <a:off x="4572000" y="685597"/>
            <a:ext cx="4325938" cy="3778347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0B730E7-C68E-A3E8-1745-8AF89C786D5F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136525" y="678433"/>
            <a:ext cx="4237038" cy="3785513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A1231DFE-6A5A-950E-159E-9E1D3D45FD3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679465" y="4681864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9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47354944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hank Yo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36356" y="2247927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</a:p>
          <a:p>
            <a:pPr marL="0" indent="0" algn="ctr">
              <a:lnSpc>
                <a:spcPts val="3600"/>
              </a:lnSpc>
              <a:buNone/>
            </a:pP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6411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24304" y="1874962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Questions?</a:t>
            </a:r>
            <a:endParaRPr lang="en-US" sz="1800" dirty="0"/>
          </a:p>
        </p:txBody>
      </p:sp>
      <p:sp>
        <p:nvSpPr>
          <p:cNvPr id="2" name="Text 3">
            <a:extLst>
              <a:ext uri="{FF2B5EF4-FFF2-40B4-BE49-F238E27FC236}">
                <a16:creationId xmlns:a16="http://schemas.microsoft.com/office/drawing/2014/main" id="{5727805F-2A15-11D3-243F-1AE09D6E973E}"/>
              </a:ext>
            </a:extLst>
          </p:cNvPr>
          <p:cNvSpPr/>
          <p:nvPr userDrawn="1"/>
        </p:nvSpPr>
        <p:spPr>
          <a:xfrm>
            <a:off x="3312808" y="4536078"/>
            <a:ext cx="2797969" cy="529698"/>
          </a:xfrm>
          <a:prstGeom prst="roundRect">
            <a:avLst>
              <a:gd name="adj" fmla="val 14286"/>
            </a:avLst>
          </a:prstGeom>
          <a:solidFill>
            <a:srgbClr val="F5F5F5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4">
            <a:extLst>
              <a:ext uri="{FF2B5EF4-FFF2-40B4-BE49-F238E27FC236}">
                <a16:creationId xmlns:a16="http://schemas.microsoft.com/office/drawing/2014/main" id="{1034B79E-463D-8396-409E-62C28A2DEB04}"/>
              </a:ext>
            </a:extLst>
          </p:cNvPr>
          <p:cNvSpPr/>
          <p:nvPr userDrawn="1"/>
        </p:nvSpPr>
        <p:spPr>
          <a:xfrm>
            <a:off x="3614735" y="4667577"/>
            <a:ext cx="2076688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1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500" b="1" dirty="0">
                <a:solidFill>
                  <a:schemeClr val="bg2">
                    <a:lumMod val="75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www.eoframework.org</a:t>
            </a:r>
            <a:endParaRPr lang="en-US" sz="1500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16" name="Text Placeholder 9">
            <a:extLst>
              <a:ext uri="{FF2B5EF4-FFF2-40B4-BE49-F238E27FC236}">
                <a16:creationId xmlns:a16="http://schemas.microsoft.com/office/drawing/2014/main" id="{2DED039B-C555-DCF4-1CA7-CA1E4482378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68165" y="3131272"/>
            <a:ext cx="8480181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 b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spcAft>
                <a:spcPts val="1200"/>
              </a:spcAft>
            </a:pPr>
            <a:r>
              <a:rPr lang="en-US" sz="1800" b="1" dirty="0">
                <a:solidFill>
                  <a:srgbClr val="000000"/>
                </a:solidFill>
              </a:rPr>
              <a:t>Account Manager:</a:t>
            </a:r>
            <a:r>
              <a:rPr lang="en-US" sz="1800" dirty="0">
                <a:solidFill>
                  <a:srgbClr val="000000"/>
                </a:solidFill>
              </a:rPr>
              <a:t> [Name, Title] | [Email] | [Phone]</a:t>
            </a:r>
          </a:p>
        </p:txBody>
      </p:sp>
    </p:spTree>
    <p:extLst>
      <p:ext uri="{BB962C8B-B14F-4D97-AF65-F5344CB8AC3E}">
        <p14:creationId xmlns:p14="http://schemas.microsoft.com/office/powerpoint/2010/main" val="382102005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3" r:id="rId2"/>
    <p:sldLayoutId id="2147483659" r:id="rId3"/>
    <p:sldLayoutId id="2147483654" r:id="rId4"/>
    <p:sldLayoutId id="2147483655" r:id="rId5"/>
    <p:sldLayoutId id="2147483656" r:id="rId6"/>
    <p:sldLayoutId id="2147483657" r:id="rId7"/>
    <p:sldLayoutId id="2147483658" r:id="rId8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.png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Solution Briefing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Cisco Network CI/CD Automation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['Presenter Name'] | November 22, 2025</a:t>
            </a:r>
          </a:p>
        </p:txBody>
      </p:sp>
      <p:pic>
        <p:nvPicPr>
          <p:cNvPr id="7" name="Picture 6" descr="clien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0492" y="171206"/>
            <a:ext cx="3978520" cy="1314694"/>
          </a:xfrm>
          <a:prstGeom prst="rect">
            <a:avLst/>
          </a:prstGeom>
        </p:spPr>
      </p:pic>
      <p:pic>
        <p:nvPicPr>
          <p:cNvPr id="8" name="Picture 7" descr="consulting_company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591" y="4536078"/>
            <a:ext cx="2099897" cy="529698"/>
          </a:xfrm>
          <a:prstGeom prst="rect">
            <a:avLst/>
          </a:prstGeom>
        </p:spPr>
      </p:pic>
      <p:pic>
        <p:nvPicPr>
          <p:cNvPr id="9" name="Picture 8" descr="eo-framework-logo-r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Business Opportunity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Opportunity</a:t>
            </a:r>
          </a:p>
          <a:p>
            <a:pPr lvl="1"/>
            <a:r>
              <a:t>Eliminate manual CLI errors reducing configuration error rate from 15% to under 2%</a:t>
            </a:r>
          </a:p>
          <a:p>
            <a:pPr lvl="1"/>
            <a:r>
              <a:t>Accelerate network provisioning from 4-6 hours per device to 15 minutes with automated deployment</a:t>
            </a:r>
          </a:p>
          <a:p>
            <a:pPr lvl="1"/>
            <a:r>
              <a:t>Achieve complete change audit trails meeting PCI DSS and compliance requirements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/>
            <a:r>
              <a:rPr b="1"/>
              <a:t>Success Criteria</a:t>
            </a:r>
          </a:p>
          <a:p>
            <a:pPr lvl="1"/>
            <a:r>
              <a:t>95% faster provisioning with zero-touch deployment automation</a:t>
            </a:r>
          </a:p>
          <a:p>
            <a:pPr lvl="1"/>
            <a:r>
              <a:t>85% error reduction through automated validation and testing</a:t>
            </a:r>
          </a:p>
          <a:p>
            <a:pPr lvl="1"/>
            <a:r>
              <a:t>ROI realization within 24 months through labor cost avoidance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Cisco Network CI/CD Automation</a:t>
            </a:r>
          </a:p>
        </p:txBody>
      </p:sp>
      <p:pic>
        <p:nvPicPr>
          <p:cNvPr id="7" name="Picture 6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2" y="4536078"/>
            <a:ext cx="2121877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Engagement Scope</a:t>
            </a:r>
          </a:p>
        </p:txBody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29" cy="3337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67967"/>
                <a:gridCol w="2526170"/>
                <a:gridCol w="435546"/>
                <a:gridCol w="1567967"/>
                <a:gridCol w="2613279"/>
              </a:tblGrid>
              <a:tr h="3708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Parameter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Scope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Parameter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Scope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Primary Features/Capabilities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Ansible + GitLab CI/CD for 100 devices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Availability Requirements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Standard (99%)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Customization Level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Standard playbooks and templates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Infrastructure Complexity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Basic network (single platform)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External System Integrations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2 systems (Git + NetBox)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Security Requirements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Basic Git auth and secrets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Data Sources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Network device configs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Compliance Frameworks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Change tracking only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Total Users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5 network engineers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Performance Requirements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Standard deployment speed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User Roles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2 roles (developer + operator)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Deployment Environments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Production only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Data Processing Volume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100 device configs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Data Storage Requirements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50 GB (Git + backups)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Deployment Regions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Single data center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Cisco Network CI/CD Automation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2" y="4536078"/>
            <a:ext cx="2126273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Solution Overview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Key Components</a:t>
            </a:r>
          </a:p>
          <a:p>
            <a:pPr lvl="1"/>
            <a:r>
              <a:t>GitLab Premium with CI/CD runners for automated testing and deployment</a:t>
            </a:r>
          </a:p>
          <a:p>
            <a:pPr lvl="1"/>
            <a:r>
              <a:t>Ansible playbooks with templates for Cisco IOS-XE, NX-OS, and ASA</a:t>
            </a:r>
          </a:p>
          <a:p>
            <a:pPr lvl="1"/>
            <a:r>
              <a:t>NetBox IPAM as network source of truth with dynamic inventory</a:t>
            </a:r>
          </a:p>
          <a:p>
            <a:pPr/>
            <a:r>
              <a:rPr b="1"/>
              <a:t>Technology Stack</a:t>
            </a:r>
          </a:p>
          <a:p>
            <a:pPr lvl="1"/>
            <a:r>
              <a:t>Platform: GitLab self-hosted with CI/CD pipelines and merge request workflows</a:t>
            </a:r>
          </a:p>
          <a:p>
            <a:pPr lvl="1"/>
            <a:r>
              <a:t>Automation: Ansible and Terraform for configuration management and IaC</a:t>
            </a:r>
          </a:p>
          <a:p>
            <a:pPr lvl="1"/>
            <a:r>
              <a:t>Security: Vault integration for secrets and credential management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Cisco Network CI/CD Automation</a:t>
            </a:r>
          </a:p>
        </p:txBody>
      </p:sp>
      <p:pic>
        <p:nvPicPr>
          <p:cNvPr id="7" name="Picture 6" descr="architecture-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2488" y="685799"/>
            <a:ext cx="4337050" cy="3815859"/>
          </a:xfrm>
          <a:prstGeom prst="rect">
            <a:avLst/>
          </a:prstGeom>
          <a:ln w="12700">
            <a:solidFill>
              <a:srgbClr val="C0C0C0"/>
            </a:solidFill>
            <a:prstDash val="solid"/>
          </a:ln>
        </p:spPr>
      </p:pic>
      <p:pic>
        <p:nvPicPr>
          <p:cNvPr id="8" name="Picture 7" descr="consulting_company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592" y="4536078"/>
            <a:ext cx="2130670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Implementation Approach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Phase 1: Foundation &amp; Development (Weeks 1-8)</a:t>
            </a:r>
          </a:p>
          <a:p>
            <a:pPr lvl="1"/>
            <a:r>
              <a:t>GitLab deployment, NetBox IPAM setup, and automation infrastructure</a:t>
            </a:r>
          </a:p>
          <a:p>
            <a:pPr lvl="1"/>
            <a:r>
              <a:t>Develop 6 core Ansible playbooks (VLAN, ACL, routing, QoS, compliance)</a:t>
            </a:r>
          </a:p>
          <a:p>
            <a:pPr lvl="1"/>
            <a:r>
              <a:t>CI/CD pipeline configuration with syntax validation and secrets management</a:t>
            </a:r>
          </a:p>
          <a:p>
            <a:pPr/>
            <a:r>
              <a:rPr b="1"/>
              <a:t>Phase 2: Integration &amp; Testing (Weeks 9-12)</a:t>
            </a:r>
          </a:p>
          <a:p>
            <a:pPr lvl="1"/>
            <a:r>
              <a:t>ServiceNow integration for change management automation</a:t>
            </a:r>
          </a:p>
          <a:p>
            <a:pPr lvl="1"/>
            <a:r>
              <a:t>Lab testing with GNS3/CML validation environment</a:t>
            </a:r>
          </a:p>
          <a:p>
            <a:pPr lvl="1"/>
            <a:r>
              <a:t>Pilot deployment with 10 devices for validation</a:t>
            </a:r>
          </a:p>
          <a:p>
            <a:pPr/>
            <a:r>
              <a:rPr b="1"/>
              <a:t>Phase 3: Training &amp; Rollout (Weeks 13-16)</a:t>
            </a:r>
          </a:p>
          <a:p>
            <a:pPr lvl="1"/>
            <a:r>
              <a:t>Team training on Ansible, Git workflows, and CI/CD (40 hours)</a:t>
            </a:r>
          </a:p>
          <a:p>
            <a:pPr lvl="1"/>
            <a:r>
              <a:t>Phased rollout to remaining 90 devices with automated workflows</a:t>
            </a:r>
          </a:p>
          <a:p>
            <a:pPr lvl="1"/>
            <a:r>
              <a:t>Hypercare support and operational handoff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Cisco Network CI/CD Automation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3" y="4536078"/>
            <a:ext cx="2143858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Timeline &amp; Milestones</a:t>
            </a:r>
          </a:p>
        </p:txBody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31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71093"/>
                <a:gridCol w="2177733"/>
                <a:gridCol w="1306639"/>
                <a:gridCol w="4355466"/>
              </a:tblGrid>
              <a:tr h="3708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Phase No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Phase Description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Timeline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Key Deliverables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1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Foundation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Weeks 1-4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GitLab deployed, NetBox operational, CI/CD infrastructure ready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Playbook Development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Weeks 5-8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6 core Ansible playbooks built, CI/CD pipelines configured, Secrets management implemented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3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Advanced Automation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Weeks 9-10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Terraform modules deployed (optional), ServiceNow integrated, Lab testing complete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4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Training &amp; Rollout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Weeks 11-16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Team trained (40 hours), Pilot validated (10 devices), Full rollout (100 devices)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Cisco Network CI/CD Automation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2" y="4536078"/>
            <a:ext cx="2126273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Success Stories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Client Success: Regional Financial Services Company</a:t>
            </a:r>
          </a:p>
          <a:p>
            <a:pPr lvl="1"/>
            <a:r>
              <a:rPr b="1"/>
              <a:t>Client:</a:t>
            </a:r>
            <a:r>
              <a:t> Financial institution with 120 devices across 15 retail locations</a:t>
            </a:r>
          </a:p>
          <a:p>
            <a:pPr lvl="1"/>
            <a:r>
              <a:rPr b="1"/>
              <a:t>Challenge:</a:t>
            </a:r>
            <a:r>
              <a:t> 15% error rate causing outages. 4-6 hour provisioning delaying openings. No change tracking failing PCI DSS audits.</a:t>
            </a:r>
          </a:p>
          <a:p>
            <a:pPr lvl="1"/>
            <a:r>
              <a:rPr b="1"/>
              <a:t>Solution:</a:t>
            </a:r>
            <a:r>
              <a:t> GitLab CI/CD with Ansible for 120 devices, NetBox source of truth, standardized playbooks.</a:t>
            </a:r>
          </a:p>
          <a:p>
            <a:pPr lvl="1"/>
            <a:r>
              <a:rPr b="1"/>
              <a:t>Results:</a:t>
            </a:r>
            <a:r>
              <a:t> 96% faster provisioning (10 minutes vs 4 hours). 87% error reduction. PCI DSS compliance achieved. $52K annual savings.</a:t>
            </a:r>
          </a:p>
          <a:p>
            <a:pPr lvl="1"/>
            <a:r>
              <a:rPr b="1"/>
              <a:t>Testimonial:</a:t>
            </a:r>
            <a:r>
              <a:t> "Network automation transformed us from error-prone manual processes to reliable infrastructure as code. We deploy new branches in hours instead of days." — </a:t>
            </a:r>
            <a:r>
              <a:rPr b="1"/>
              <a:t>Jennifer Park</a:t>
            </a:r>
            <a:r>
              <a:t>, VP of Network Operations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Cisco Network CI/CD Automation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3" y="4536078"/>
            <a:ext cx="2143858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Our Partnership Advantage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What We Bring</a:t>
            </a:r>
          </a:p>
          <a:p>
            <a:pPr lvl="1"/>
            <a:r>
              <a:t>15+ years delivering network automation solutions with proven DevOps methodologies</a:t>
            </a:r>
          </a:p>
          <a:p>
            <a:pPr lvl="1"/>
            <a:r>
              <a:t>35+ successful Ansible/Terraform implementations across financial, healthcare, retail sectors</a:t>
            </a:r>
          </a:p>
          <a:p>
            <a:pPr lvl="1"/>
            <a:r>
              <a:t>Cisco DevNet Expert certified engineers with deep network automation expertise</a:t>
            </a:r>
          </a:p>
          <a:p>
            <a:pPr lvl="1"/>
            <a:r>
              <a:t>Active contributors to Ansible network modules and open source automation community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/>
            <a:r>
              <a:rPr b="1"/>
              <a:t>Value to You</a:t>
            </a:r>
          </a:p>
          <a:p>
            <a:pPr lvl="1"/>
            <a:r>
              <a:t>Pre-built Ansible playbook library for Cisco platforms accelerates development by 50%</a:t>
            </a:r>
          </a:p>
          <a:p>
            <a:pPr lvl="1"/>
            <a:r>
              <a:t>Proven GitOps workflows and CI/CD pipeline templates ready for immediate deployment</a:t>
            </a:r>
          </a:p>
          <a:p>
            <a:pPr lvl="1"/>
            <a:r>
              <a:t>Best practices from 35+ implementations avoiding common automation pitfalls</a:t>
            </a:r>
          </a:p>
          <a:p>
            <a:pPr lvl="1"/>
            <a:r>
              <a:t>Ongoing support and playbook enhancements as your automation needs evolve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Cisco Network CI/CD Automation</a:t>
            </a:r>
          </a:p>
        </p:txBody>
      </p:sp>
      <p:pic>
        <p:nvPicPr>
          <p:cNvPr id="7" name="Picture 6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2" y="4536078"/>
            <a:ext cx="2121877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Investment Summary</a:t>
            </a:r>
          </a:p>
        </p:txBody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30" cy="2225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97920"/>
                <a:gridCol w="1198752"/>
                <a:gridCol w="1198752"/>
                <a:gridCol w="1198752"/>
                <a:gridCol w="959001"/>
                <a:gridCol w="959001"/>
                <a:gridCol w="1198752"/>
              </a:tblGrid>
              <a:tr h="3708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Cost Category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1 List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1 Credits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1 Net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2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3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3-Year Total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Professional Services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$86,250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$86,250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$86,250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Cloud Infrastructure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$5,580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($1,000)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$4,580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$5,580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$5,580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$15,740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Software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$1,427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$1,427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$1,427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$1,427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$4,281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Support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$500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$500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$500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$500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$1,500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TOTAL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$93,757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($1,000)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$92,757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$7,507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$7,507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$107,771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Cisco Network CI/CD Automation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2" y="4536078"/>
            <a:ext cx="2126273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Next Steps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Decision:</a:t>
            </a:r>
            <a:r>
              <a:t> Executive approval for $92.7K Year 1 investment by [specific date]</a:t>
            </a:r>
          </a:p>
          <a:p>
            <a:pPr/>
            <a:r>
              <a:rPr b="1"/>
              <a:t>Infrastructure Planning:</a:t>
            </a:r>
            <a:r>
              <a:t> Identify servers for GitLab, NetBox, and CI/CD runners with network access</a:t>
            </a:r>
          </a:p>
          <a:p>
            <a:pPr/>
            <a:r>
              <a:rPr b="1"/>
              <a:t>Team Formation:</a:t>
            </a:r>
            <a:r>
              <a:t> Assign technical lead, identify 3-5 network engineers for automation training</a:t>
            </a:r>
          </a:p>
          <a:p>
            <a:pPr/>
            <a:r>
              <a:rPr b="1"/>
              <a:t>Week 1-4:</a:t>
            </a:r>
            <a:r>
              <a:t> Foundation phase with GitLab deployment, NetBox setup, and automation assessment</a:t>
            </a:r>
          </a:p>
          <a:p>
            <a:pPr/>
            <a:r>
              <a:rPr b="1"/>
              <a:t>Week 5-16:</a:t>
            </a:r>
            <a:r>
              <a:t> Development and rollout with playbook creation, pilot validation, and full deployment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Cisco Network CI/CD Automation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3" y="4536078"/>
            <a:ext cx="2143858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Thank You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/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/>
        </p:txBody>
      </p:sp>
      <p:pic>
        <p:nvPicPr>
          <p:cNvPr id="7" name="Picture 6" descr="clien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0492" y="171206"/>
            <a:ext cx="3978520" cy="1314694"/>
          </a:xfrm>
          <a:prstGeom prst="rect">
            <a:avLst/>
          </a:prstGeom>
        </p:spPr>
      </p:pic>
      <p:pic>
        <p:nvPicPr>
          <p:cNvPr id="8" name="Picture 7" descr="consulting_company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592" y="4536078"/>
            <a:ext cx="2164114" cy="529698"/>
          </a:xfrm>
          <a:prstGeom prst="rect">
            <a:avLst/>
          </a:prstGeom>
        </p:spPr>
      </p:pic>
      <p:pic>
        <p:nvPicPr>
          <p:cNvPr id="9" name="Picture 8" descr="eo-framework-logo-r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440</TotalTime>
  <Words>42</Words>
  <Application>Microsoft Office PowerPoint</Application>
  <PresentationFormat>On-screen Show (16:9)</PresentationFormat>
  <Paragraphs>21</Paragraphs>
  <Slides>7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Aptos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EOFramework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EOFramework Template</dc:title>
  <dc:subject>PptxGenJS Presentation</dc:subject>
  <dc:creator>EOFramework</dc:creator>
  <cp:lastModifiedBy>Kishan Siram</cp:lastModifiedBy>
  <cp:revision>85</cp:revision>
  <dcterms:created xsi:type="dcterms:W3CDTF">2025-11-01T21:16:10Z</dcterms:created>
  <dcterms:modified xsi:type="dcterms:W3CDTF">2025-11-22T23:24:48Z</dcterms:modified>
</cp:coreProperties>
</file>