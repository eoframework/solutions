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SD-WAN Enterprise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expensive MPLS circuits reducing WAN costs by 60% with broadband and LTE</a:t>
            </a:r>
          </a:p>
          <a:p>
            <a:pPr lvl="1"/>
            <a:r>
              <a:t>Accelerate cloud application performance with direct internet breakout and SaaS optimization</a:t>
            </a:r>
          </a:p>
          <a:p>
            <a:pPr lvl="1"/>
            <a:r>
              <a:t>Deploy new sites in 2 hours vs 8 weeks with zero-touch provisioning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60% WAN cost reduction through MPLS replacement with dual broadband circuits</a:t>
            </a:r>
          </a:p>
          <a:p>
            <a:pPr lvl="1"/>
            <a:r>
              <a:t>95% faster site deployment via zero-touch router provisioning</a:t>
            </a:r>
          </a:p>
          <a:p>
            <a:pPr lvl="1"/>
            <a:r>
              <a:t>ROI realization within 18 months through circuit savings and operational efficiency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Primary Features/Capabilities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SD-WAN for 25 branch offices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Customization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SD-WAN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hub-spoke WAN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systems (cloud + monitoring)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VPN encryption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WAN telemetry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network engineers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application routing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roles (admin + operator)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 sites WAN traffic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GB (90-day logs)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t>25x Cisco ISR 4331 branch routers with dual WAN and integrated security</a:t>
            </a:r>
          </a:p>
          <a:p>
            <a:pPr lvl="1"/>
            <a:r>
              <a:t>2x Cisco ISR 4451 hub routers providing redundant data center aggregation</a:t>
            </a:r>
          </a:p>
          <a:p>
            <a:pPr lvl="1"/>
            <a:r>
              <a:t>vManage, vSmart, vBond controllers for centralized orchestration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Cisco ISR 4300/4400 SD-WAN with dual broadband and LTE backup</a:t>
            </a:r>
          </a:p>
          <a:p>
            <a:pPr lvl="1"/>
            <a:r>
              <a:t>Application Routing: SLA-based policies for Office 365, VoIP, and ERP</a:t>
            </a:r>
          </a:p>
          <a:p>
            <a:pPr lvl="1"/>
            <a:r>
              <a:t>Security: Integrated firewall, VPN encryption, and Umbrella DNS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Design &amp; Infrastructure (Weeks 1-8)</a:t>
            </a:r>
          </a:p>
          <a:p>
            <a:pPr lvl="1"/>
            <a:r>
              <a:t>WAN assessment, SD-WAN architecture design, and circuit availability validation</a:t>
            </a:r>
          </a:p>
          <a:p>
            <a:pPr lvl="1"/>
            <a:r>
              <a:t>Controller deployment (vManage, vSmart, vBond) and hub router configuration</a:t>
            </a:r>
          </a:p>
          <a:p>
            <a:pPr lvl="1"/>
            <a:r>
              <a:t>Application routing policies and security configuration for SaaS and business apps</a:t>
            </a:r>
          </a:p>
          <a:p>
            <a:pPr/>
            <a:r>
              <a:rPr b="1"/>
              <a:t>Phase 2: Site Deployment (Weeks 9-13)</a:t>
            </a:r>
          </a:p>
          <a:p>
            <a:pPr lvl="1"/>
            <a:r>
              <a:t>Lab validation and pilot with 3 low-risk sites</a:t>
            </a:r>
          </a:p>
          <a:p>
            <a:pPr lvl="1"/>
            <a:r>
              <a:t>Production deployment in 2 waves: 22 sites with zero-touch provisioning</a:t>
            </a:r>
          </a:p>
          <a:p>
            <a:pPr lvl="1"/>
            <a:r>
              <a:t>Application SLA validation and MPLS cutover coordination</a:t>
            </a:r>
          </a:p>
          <a:p>
            <a:pPr/>
            <a:r>
              <a:rPr b="1"/>
              <a:t>Phase 3: Optimization &amp; Training (Weeks 14-16)</a:t>
            </a:r>
          </a:p>
          <a:p>
            <a:pPr lvl="1"/>
            <a:r>
              <a:t>MPLS circuit decommissioning and performance testing</a:t>
            </a:r>
          </a:p>
          <a:p>
            <a:pPr lvl="1"/>
            <a:r>
              <a:t>Team training on vManage operations and troubleshooting (24 hours)</a:t>
            </a:r>
          </a:p>
          <a:p>
            <a:pPr lvl="1"/>
            <a:r>
              <a:t>Hypercare support and operational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Design &amp;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WAN assessment complete (80 hrs), Architecture designed, Circuit availability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Controllers deployed, Hub routers configured (40 hrs), Policies configured (100 hrs)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Site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Lab validated (32 hrs), Pilot (3 sites), Wave 1 (10 sites), Wave 2 (12 sites)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13-16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MPLS decommissioned (40 hrs), Performance tested (64 hrs), Team trained (24 hrs)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Retail Chain</a:t>
            </a:r>
          </a:p>
          <a:p>
            <a:pPr lvl="1"/>
            <a:r>
              <a:rPr b="1"/>
              <a:t>Client:</a:t>
            </a:r>
            <a:r>
              <a:t> Retail chain with 30 stores across distributed locations</a:t>
            </a:r>
          </a:p>
          <a:p>
            <a:pPr lvl="1"/>
            <a:r>
              <a:rPr b="1"/>
              <a:t>Challenge:</a:t>
            </a:r>
            <a:r>
              <a:t> $320K MPLS costs. 8-12 week provisioning delays. Cloud app performance suffering from backhauling.</a:t>
            </a:r>
          </a:p>
          <a:p>
            <a:pPr lvl="1"/>
            <a:r>
              <a:rPr b="1"/>
              <a:t>Solution:</a:t>
            </a:r>
            <a:r>
              <a:t> SD-WAN with 30 ISR routers, dual broadband plus LTE, vManage orchestration.</a:t>
            </a:r>
          </a:p>
          <a:p>
            <a:pPr lvl="1"/>
            <a:r>
              <a:rPr b="1"/>
              <a:t>Results:</a:t>
            </a:r>
            <a:r>
              <a:t> 65% cost reduction ($320K to $112K). 97% faster deployment (2 hours vs 8 weeks). $208K annual savings, 15-month ROI.</a:t>
            </a:r>
          </a:p>
          <a:p>
            <a:pPr lvl="1"/>
            <a:r>
              <a:rPr b="1"/>
              <a:t>Testimonial:</a:t>
            </a:r>
            <a:r>
              <a:t> "SD-WAN slashed our WAN costs by two-thirds. We open new stores in hours instead of months, and cloud performance is phenomenal." — </a:t>
            </a:r>
            <a:r>
              <a:rPr b="1"/>
              <a:t>James Wilson</a:t>
            </a:r>
            <a:r>
              <a:t>, VP of IT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Cisco SD-WAN solutions with proven enterprise deployments</a:t>
            </a:r>
          </a:p>
          <a:p>
            <a:pPr lvl="1"/>
            <a:r>
              <a:t>35+ successful SD-WAN implementations across retail, healthcare, finance, manufacturing sectors</a:t>
            </a:r>
          </a:p>
          <a:p>
            <a:pPr lvl="1"/>
            <a:r>
              <a:t>Cisco Gold Partner with Advanced Enterprise Networks Architecture Specialization</a:t>
            </a:r>
          </a:p>
          <a:p>
            <a:pPr lvl="1"/>
            <a:r>
              <a:t>Certified SD-WAN experts and CCIE-level network architects on staff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SD-WAN design templates and application routing policies accelerate deployment</a:t>
            </a:r>
          </a:p>
          <a:p>
            <a:pPr lvl="1"/>
            <a:r>
              <a:t>Proven circuit migration methodology minimizes risk with dual-run and rollback procedures</a:t>
            </a:r>
          </a:p>
          <a:p>
            <a:pPr lvl="1"/>
            <a:r>
              <a:t>Best practices from 35+ implementations avoiding common policy and failover pitfalls</a:t>
            </a:r>
          </a:p>
          <a:p>
            <a:pPr lvl="1"/>
            <a:r>
              <a:t>Ongoing support for policy optimization and troubleshooting as WAN needs evolve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$80,200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$136,500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$59,200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$44,200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$59,200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$59,200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$162,600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$48,600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WAN Circuits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$103,800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$91,800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$103,800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$103,800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$299,400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$395,900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$360,900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$179,200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$179,200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$719,300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$360.9K Year 1 investment by [specific date]</a:t>
            </a:r>
          </a:p>
          <a:p>
            <a:pPr/>
            <a:r>
              <a:rPr b="1"/>
              <a:t>Hardware &amp; Circuit Procurement:</a:t>
            </a:r>
            <a:r>
              <a:t> Order ISR routers (6-8 week lead time) and broadband circuits (8-12 week provisioning)</a:t>
            </a:r>
          </a:p>
          <a:p>
            <a:pPr/>
            <a:r>
              <a:rPr b="1"/>
              <a:t>Team Formation:</a:t>
            </a:r>
            <a:r>
              <a:t> Assign technical lead, network team, and coordinate with carrier account managers</a:t>
            </a:r>
          </a:p>
          <a:p>
            <a:pPr/>
            <a:r>
              <a:rPr b="1"/>
              <a:t>Week 1-4:</a:t>
            </a:r>
            <a:r>
              <a:t> Design phase with WAN assessment (80 hrs), architecture design, and circuit availability validation</a:t>
            </a:r>
          </a:p>
          <a:p>
            <a:pPr/>
            <a:r>
              <a:rPr b="1"/>
              <a:t>Week 5-16:</a:t>
            </a:r>
            <a:r>
              <a:t> Deployment and optimization with controllers, pilot (3 sites), phased rollout (22 sites), and training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SD-WAN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