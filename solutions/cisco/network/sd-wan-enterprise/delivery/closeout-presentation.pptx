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Project Outcomes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150 sites migrated to SD-WAN</a:t>
            </a:r>
          </a:p>
          <a:p>
            <a:pPr/>
            <a:r>
              <a:t>99.99% network uptime achieved</a:t>
            </a:r>
          </a:p>
          <a:p>
            <a:pPr/>
            <a:r>
              <a:t>40% bandwidth optimization</a:t>
            </a:r>
          </a:p>
          <a:p>
            <a:pPr/>
            <a:r>
              <a:t>Direct cloud access enabled</a:t>
            </a:r>
          </a:p>
          <a:p>
            <a:pPr/>
            <a:r>
              <a:t>SaaS application optimization</a:t>
            </a:r>
          </a:p>
          <a:p>
            <a:pPr/>
            <a:r>
              <a:t>Multi-cloud integration</a:t>
            </a:r>
          </a:p>
          <a:p>
            <a:pPr/>
            <a:r>
              <a:t>45% WAN cost reduction</a:t>
            </a:r>
          </a:p>
          <a:p>
            <a:pPr/>
            <a:r>
              <a:t>$1.2M annual MPLS savings</a:t>
            </a:r>
          </a:p>
          <a:p>
            <a:pPr/>
            <a:r>
              <a:t>8.5 month payback period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SD-WAN Fabric Architecture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Cisco vManage orchestration</a:t>
            </a:r>
          </a:p>
          <a:p>
            <a:pPr/>
            <a:r>
              <a:t>Centralized policy management</a:t>
            </a:r>
          </a:p>
          <a:p>
            <a:pPr/>
            <a:r>
              <a:t>Real-time analytics dashboard</a:t>
            </a:r>
          </a:p>
          <a:p>
            <a:pPr/>
            <a:r>
              <a:t>Cisco vSmart controllers (HA)</a:t>
            </a:r>
          </a:p>
          <a:p>
            <a:pPr/>
            <a:r>
              <a:t>Secure control connections</a:t>
            </a:r>
          </a:p>
          <a:p>
            <a:pPr/>
            <a:r>
              <a:t>Policy distribution engine</a:t>
            </a:r>
          </a:p>
          <a:p>
            <a:pPr/>
            <a:r>
              <a:t>Cisco vEdge routers (150 sites)</a:t>
            </a:r>
          </a:p>
          <a:p>
            <a:pPr/>
            <a:r>
              <a:t>IPsec overlay tunnels</a:t>
            </a:r>
          </a:p>
          <a:p>
            <a:pPr/>
            <a:r>
              <a:t>Application-aware routing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Completed Deliverables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vManage cluster: 3 nodes (HA)</a:t>
            </a:r>
          </a:p>
          <a:p>
            <a:pPr/>
            <a:r>
              <a:t>vSmart controllers: 2 nodes (HA)</a:t>
            </a:r>
          </a:p>
          <a:p>
            <a:pPr/>
            <a:r>
              <a:t>vBond orchestrators: 2 nodes</a:t>
            </a:r>
          </a:p>
          <a:p>
            <a:pPr/>
            <a:r>
              <a:t>vEdge routers: 150 sites</a:t>
            </a:r>
          </a:p>
          <a:p>
            <a:pPr/>
            <a:r>
              <a:t>Cloud onramps: AWS, Azure</a:t>
            </a:r>
          </a:p>
          <a:p>
            <a:pPr/>
            <a:r>
              <a:t>Application-aware policies: 25</a:t>
            </a:r>
          </a:p>
          <a:p>
            <a:pPr/>
            <a:r>
              <a:t>QoS profiles: 8 per site</a:t>
            </a:r>
          </a:p>
          <a:p>
            <a:pPr/>
            <a:r>
              <a:t>Security policies: 12</a:t>
            </a:r>
          </a:p>
          <a:p>
            <a:pPr/>
            <a:r>
              <a:t>Cloud access templates: 15</a:t>
            </a:r>
          </a:p>
          <a:p>
            <a:pPr/>
            <a:r>
              <a:t>SLA policies: 6 classes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Key Performance Indicators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150 sites migrated successfully</a:t>
            </a:r>
          </a:p>
          <a:p>
            <a:pPr/>
            <a:r>
              <a:t>25 application policies deployed</a:t>
            </a:r>
          </a:p>
          <a:p>
            <a:pPr/>
            <a:r>
              <a:t>8 QoS profiles per site</a:t>
            </a:r>
          </a:p>
          <a:p>
            <a:pPr/>
            <a:r>
              <a:t>12 security zones configured</a:t>
            </a:r>
          </a:p>
          <a:p>
            <a:pPr/>
            <a:r>
              <a:t>Zero unplanned outages</a:t>
            </a:r>
          </a:p>
          <a:p>
            <a:pPr/>
            <a:r>
              <a:t>99.99% network availability</a:t>
            </a:r>
          </a:p>
          <a:p>
            <a:pPr/>
            <a:r>
              <a:t>40% bandwidth optimization</a:t>
            </a:r>
          </a:p>
          <a:p>
            <a:pPr/>
            <a:r>
              <a:t>60% latency reduction (SaaS)</a:t>
            </a:r>
          </a:p>
          <a:p>
            <a:pPr/>
            <a:r>
              <a:t>50% faster failover times</a:t>
            </a:r>
          </a:p>
          <a:p>
            <a:pPr/>
            <a:r>
              <a:t>100% policy compliance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Validation Outcomes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180 functional test cases passed</a:t>
            </a:r>
          </a:p>
          <a:p>
            <a:pPr/>
            <a:r>
              <a:t>30 failover scenarios validated</a:t>
            </a:r>
          </a:p>
          <a:p>
            <a:pPr/>
            <a:r>
              <a:t>15 performance benchmarks met</a:t>
            </a:r>
          </a:p>
          <a:p>
            <a:pPr/>
            <a:r>
              <a:t>10 security assessments cleared</a:t>
            </a:r>
          </a:p>
          <a:p>
            <a:pPr/>
            <a:r>
              <a:t>5 DR tests completed</a:t>
            </a:r>
          </a:p>
          <a:p>
            <a:pPr/>
            <a:r>
              <a:t>Zero critical defects at go-live</a:t>
            </a:r>
          </a:p>
          <a:p>
            <a:pPr/>
            <a:r>
              <a:t>99.4% test pass rate achieved</a:t>
            </a:r>
          </a:p>
          <a:p>
            <a:pPr/>
            <a:r>
              <a:t>All SLAs validated and met</a:t>
            </a:r>
          </a:p>
          <a:p>
            <a:pPr/>
            <a:r>
              <a:t>Security compliance confirmed</a:t>
            </a:r>
          </a:p>
          <a:p>
            <a:pPr/>
            <a:r>
              <a:t>DR procedures documented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Return on Investment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Hardware and licensing: $850K</a:t>
            </a:r>
          </a:p>
          <a:p>
            <a:pPr/>
            <a:r>
              <a:t>Professional services: $280K</a:t>
            </a:r>
          </a:p>
          <a:p>
            <a:pPr/>
            <a:r>
              <a:t>Cloud connectivity: $120K</a:t>
            </a:r>
          </a:p>
          <a:p>
            <a:pPr/>
            <a:r>
              <a:t>Training: $65K</a:t>
            </a:r>
          </a:p>
          <a:p>
            <a:pPr/>
            <a:r>
              <a:t>Total investment: $1.315M</a:t>
            </a:r>
          </a:p>
          <a:p>
            <a:pPr/>
            <a:r>
              <a:t>MPLS circuit savings: $1.2M</a:t>
            </a:r>
          </a:p>
          <a:p>
            <a:pPr/>
            <a:r>
              <a:t>Bandwidth optimization: $320K</a:t>
            </a:r>
          </a:p>
          <a:p>
            <a:pPr/>
            <a:r>
              <a:t>Operations efficiency: $180K</a:t>
            </a:r>
          </a:p>
          <a:p>
            <a:pPr/>
            <a:r>
              <a:t>Reduced downtime: $150K</a:t>
            </a:r>
          </a:p>
          <a:p>
            <a:pPr/>
            <a:r>
              <a:t>Total benefits: $1.85M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Knowledge Transfer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15 network engineers: 40 hrs</a:t>
            </a:r>
          </a:p>
          <a:p>
            <a:pPr/>
            <a:r>
              <a:t>10 NOC operators: 32 hrs</a:t>
            </a:r>
          </a:p>
          <a:p>
            <a:pPr/>
            <a:r>
              <a:t>8 security team: 24 hrs</a:t>
            </a:r>
          </a:p>
          <a:p>
            <a:pPr/>
            <a:r>
              <a:t>5 application owners: 16 hrs</a:t>
            </a:r>
          </a:p>
          <a:p>
            <a:pPr/>
            <a:r>
              <a:t>Total: 1,680 training hours</a:t>
            </a:r>
          </a:p>
          <a:p>
            <a:pPr/>
            <a:r>
              <a:t>Architecture design documents</a:t>
            </a:r>
          </a:p>
          <a:p>
            <a:pPr/>
            <a:r>
              <a:t>Operational runbook library</a:t>
            </a:r>
          </a:p>
          <a:p>
            <a:pPr/>
            <a:r>
              <a:t>Troubleshooting guides</a:t>
            </a:r>
          </a:p>
          <a:p>
            <a:pPr/>
            <a:r>
              <a:t>Policy configuration reference</a:t>
            </a:r>
          </a:p>
          <a:p>
            <a:pPr/>
            <a:r>
              <a:t>Disaster recovery procedures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Support Transition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NOC team trained and certified</a:t>
            </a:r>
          </a:p>
          <a:p>
            <a:pPr/>
            <a:r>
              <a:t>Escalation matrix documented</a:t>
            </a:r>
          </a:p>
          <a:p>
            <a:pPr/>
            <a:r>
              <a:t>SLA monitoring configured</a:t>
            </a:r>
          </a:p>
          <a:p>
            <a:pPr/>
            <a:r>
              <a:t>Incident procedures tested</a:t>
            </a:r>
          </a:p>
          <a:p>
            <a:pPr/>
            <a:r>
              <a:t>Vendor support contracts active</a:t>
            </a:r>
          </a:p>
          <a:p>
            <a:pPr/>
            <a:r>
              <a:t>24/7 network monitoring</a:t>
            </a:r>
          </a:p>
          <a:p>
            <a:pPr/>
            <a:r>
              <a:t>Daily health dashboards</a:t>
            </a:r>
          </a:p>
          <a:p>
            <a:pPr/>
            <a:r>
              <a:t>Weekly performance reviews</a:t>
            </a:r>
          </a:p>
          <a:p>
            <a:pPr/>
            <a:r>
              <a:t>Monthly capacity planning</a:t>
            </a:r>
          </a:p>
          <a:p>
            <a:pPr/>
            <a:r>
              <a:t>Quarterly security audits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Future Enhancements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Enable AIOps analytics</a:t>
            </a:r>
          </a:p>
          <a:p>
            <a:pPr/>
            <a:r>
              <a:t>Expand cloud onramps</a:t>
            </a:r>
          </a:p>
          <a:p>
            <a:pPr/>
            <a:r>
              <a:t>Implement SD-WAN security</a:t>
            </a:r>
          </a:p>
          <a:p>
            <a:pPr/>
            <a:r>
              <a:t>Add guest WiFi integration</a:t>
            </a:r>
          </a:p>
          <a:p>
            <a:pPr/>
            <a:r>
              <a:t>Deploy branch automation</a:t>
            </a:r>
          </a:p>
          <a:p>
            <a:pPr/>
            <a:r>
              <a:t>Migrate to SASE architecture</a:t>
            </a:r>
          </a:p>
          <a:p>
            <a:pPr/>
            <a:r>
              <a:t>Enable zero trust access</a:t>
            </a:r>
          </a:p>
          <a:p>
            <a:pPr/>
            <a:r>
              <a:t>Implement IoT segmentation</a:t>
            </a:r>
          </a:p>
          <a:p>
            <a:pPr/>
            <a:r>
              <a:t>Add CASB integration</a:t>
            </a:r>
          </a:p>
          <a:p>
            <a:pPr/>
            <a:r>
              <a:t>Expand to 200+ sites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