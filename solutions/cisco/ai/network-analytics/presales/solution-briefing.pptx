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Solution Briefing</a:t>
            </a:r>
          </a:p>
        </p:txBody>
      </p:sp>
      <p:sp>
        <p:nvSpPr>
          <p:cNvPr id="5" name="Text Placeholder 4"/>
          <p:cNvSpPr>
            <a:spLocks noGrp="1"/>
          </p:cNvSpPr>
          <p:nvPr>
            <p:ph type="body" idx="14" sz="quarter"/>
          </p:nvPr>
        </p:nvSpPr>
        <p:spPr/>
        <p:txBody>
          <a:bodyPr/>
          <a:lstStyle/>
          <a:p>
            <a:r>
              <a:t>Cisco DNA Center Network Analytics</a:t>
            </a:r>
          </a:p>
        </p:txBody>
      </p:sp>
      <p:sp>
        <p:nvSpPr>
          <p:cNvPr id="6" name="Text Placeholder 5"/>
          <p:cNvSpPr>
            <a:spLocks noGrp="1"/>
          </p:cNvSpPr>
          <p:nvPr>
            <p:ph type="body" idx="15" sz="quarter"/>
          </p:nvPr>
        </p:nvSpPr>
        <p:spPr/>
        <p:txBody>
          <a:bodyPr/>
          <a:lstStyle/>
          <a:p>
            <a:r>
              <a:t>['Presenter Name'] | November 22, 2025</a:t>
            </a:r>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1" y="4536078"/>
            <a:ext cx="2099897"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Business Opportunity</a:t>
            </a:r>
          </a:p>
        </p:txBody>
      </p:sp>
      <p:sp>
        <p:nvSpPr>
          <p:cNvPr id="4" name="Text Placeholder 3"/>
          <p:cNvSpPr>
            <a:spLocks noGrp="1"/>
          </p:cNvSpPr>
          <p:nvPr>
            <p:ph type="body" idx="16" sz="quarter"/>
          </p:nvPr>
        </p:nvSpPr>
        <p:spPr/>
        <p:txBody>
          <a:bodyPr/>
          <a:lstStyle/>
          <a:p>
            <a:pPr/>
            <a:r>
              <a:rPr b="1"/>
              <a:t>Opportunity</a:t>
            </a:r>
          </a:p>
          <a:p>
            <a:pPr lvl="1"/>
            <a:r>
              <a:t>Eliminate reactive troubleshooting reducing MTTR from 4-6 hours to under 1 hour with AI-powered root cause analysis</a:t>
            </a:r>
          </a:p>
          <a:p>
            <a:pPr lvl="1"/>
            <a:r>
              <a:t>Achieve 99.9% network uptime with predictive insights that detect device failures 14 days in advance</a:t>
            </a:r>
          </a:p>
          <a:p>
            <a:pPr lvl="1"/>
            <a:r>
              <a:t>Automate network provisioning reducing switch deployment time from 4 hours to 15 minutes</a:t>
            </a:r>
          </a:p>
        </p:txBody>
      </p:sp>
      <p:sp>
        <p:nvSpPr>
          <p:cNvPr id="5" name="Text Placeholder 4"/>
          <p:cNvSpPr>
            <a:spLocks noGrp="1"/>
          </p:cNvSpPr>
          <p:nvPr>
            <p:ph type="body" idx="17" sz="quarter"/>
          </p:nvPr>
        </p:nvSpPr>
        <p:spPr/>
        <p:txBody>
          <a:bodyPr/>
          <a:lstStyle/>
          <a:p>
            <a:pPr/>
            <a:r>
              <a:rPr b="1"/>
              <a:t>Success Criteria</a:t>
            </a:r>
          </a:p>
          <a:p>
            <a:pPr lvl="1"/>
            <a:r>
              <a:t>75% reduction in network troubleshooting time with measurable MTTR improvements</a:t>
            </a:r>
          </a:p>
          <a:p>
            <a:pPr lvl="1"/>
            <a:r>
              <a:t>Zero-touch provisioning for new sites deployed in hours versus weeks</a:t>
            </a:r>
          </a:p>
          <a:p>
            <a:pPr lvl="1"/>
            <a:r>
              <a:t>ROI realization within 18 months through operational efficiency and reduced downtime</a:t>
            </a:r>
          </a:p>
        </p:txBody>
      </p:sp>
      <p:sp>
        <p:nvSpPr>
          <p:cNvPr id="6" name="Text Placeholder 5"/>
          <p:cNvSpPr>
            <a:spLocks noGrp="1"/>
          </p:cNvSpPr>
          <p:nvPr>
            <p:ph type="body" idx="15" sz="quarter"/>
          </p:nvPr>
        </p:nvSpPr>
        <p:spPr/>
        <p:txBody>
          <a:bodyPr/>
          <a:lstStyle/>
          <a:p>
            <a:pPr algn="r">
              <a:buNone/>
            </a:pPr>
            <a:r>
              <a:rPr sz="1100">
                <a:solidFill>
                  <a:srgbClr val="CC0000"/>
                </a:solidFill>
              </a:rPr>
              <a:t>Cisco DNA Center Network Analytics</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Engagement Scope</a:t>
            </a:r>
          </a:p>
        </p:txBody>
      </p:sp>
      <p:graphicFrame>
        <p:nvGraphicFramePr>
          <p:cNvPr id="4" name="Table Placeholder 3"/>
          <p:cNvGraphicFramePr>
            <a:graphicFrameLocks noGrp="1"/>
          </p:cNvGraphicFramePr>
          <p:nvPr>
            <p:ph type="tbl" idx="14" sz="quarter"/>
          </p:nvPr>
        </p:nvGraphicFramePr>
        <p:xfrm>
          <a:off x="256855" y="677011"/>
          <a:ext cx="8710929" cy="333756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Primary Features/Capabilities</a:t>
                      </a:r>
                    </a:p>
                  </a:txBody>
                  <a:tcPr>
                    <a:solidFill>
                      <a:srgbClr val="E7E6E6"/>
                    </a:solidFill>
                  </a:tcPr>
                </a:tc>
                <a:tc>
                  <a:txBody>
                    <a:bodyPr/>
                    <a:lstStyle/>
                    <a:p>
                      <a:r>
                        <a:rPr sz="1100"/>
                        <a:t>DNA Center for 200 devices</a:t>
                      </a:r>
                    </a:p>
                  </a:txBody>
                  <a:tcPr>
                    <a:solidFill>
                      <a:srgbClr val="E7E6E6"/>
                    </a:solidFill>
                  </a:tcPr>
                </a:tc>
                <a:tc>
                  <a:txBody>
                    <a:bodyPr/>
                    <a:lstStyle/>
                    <a:p/>
                  </a:txBody>
                  <a:tcPr>
                    <a:solidFill>
                      <a:srgbClr val="FFFFFF"/>
                    </a:solidFill>
                  </a:tcPr>
                </a:tc>
                <a:tc>
                  <a:txBody>
                    <a:bodyPr/>
                    <a:lstStyle/>
                    <a:p>
                      <a:r>
                        <a:rPr b="1" sz="1100"/>
                        <a:t>Availability Requirements</a:t>
                      </a:r>
                    </a:p>
                  </a:txBody>
                  <a:tcPr>
                    <a:solidFill>
                      <a:srgbClr val="E7E6E6"/>
                    </a:solidFill>
                  </a:tcPr>
                </a:tc>
                <a:tc>
                  <a:txBody>
                    <a:bodyPr/>
                    <a:lstStyle/>
                    <a:p>
                      <a:r>
                        <a:rPr sz="1100"/>
                        <a:t>Standard (99.5%)</a:t>
                      </a:r>
                    </a:p>
                  </a:txBody>
                  <a:tcPr>
                    <a:solidFill>
                      <a:srgbClr val="E7E6E6"/>
                    </a:solidFill>
                  </a:tcPr>
                </a:tc>
              </a:tr>
              <a:tr h="370840">
                <a:tc>
                  <a:txBody>
                    <a:bodyPr/>
                    <a:lstStyle/>
                    <a:p>
                      <a:r>
                        <a:rPr b="1" sz="1100"/>
                        <a:t>Customization Level</a:t>
                      </a:r>
                    </a:p>
                  </a:txBody>
                  <a:tcPr>
                    <a:solidFill>
                      <a:srgbClr val="E7E6E6"/>
                    </a:solidFill>
                  </a:tcPr>
                </a:tc>
                <a:tc>
                  <a:txBody>
                    <a:bodyPr/>
                    <a:lstStyle/>
                    <a:p>
                      <a:r>
                        <a:rPr sz="1100"/>
                        <a:t>Standard DNA Center deployment</a:t>
                      </a:r>
                    </a:p>
                  </a:txBody>
                  <a:tcPr>
                    <a:solidFill>
                      <a:srgbClr val="E7E6E6"/>
                    </a:solidFill>
                  </a:tcPr>
                </a:tc>
                <a:tc>
                  <a:txBody>
                    <a:bodyPr/>
                    <a:lstStyle/>
                    <a:p/>
                  </a:txBody>
                  <a:tcPr>
                    <a:solidFill>
                      <a:srgbClr val="FFFFFF"/>
                    </a:solidFill>
                  </a:tcPr>
                </a:tc>
                <a:tc>
                  <a:txBody>
                    <a:bodyPr/>
                    <a:lstStyle/>
                    <a:p>
                      <a:r>
                        <a:rPr b="1" sz="1100"/>
                        <a:t>Infrastructure Complexity</a:t>
                      </a:r>
                    </a:p>
                  </a:txBody>
                  <a:tcPr>
                    <a:solidFill>
                      <a:srgbClr val="E7E6E6"/>
                    </a:solidFill>
                  </a:tcPr>
                </a:tc>
                <a:tc>
                  <a:txBody>
                    <a:bodyPr/>
                    <a:lstStyle/>
                    <a:p>
                      <a:r>
                        <a:rPr sz="1100"/>
                        <a:t>Basic campus network</a:t>
                      </a:r>
                    </a:p>
                  </a:txBody>
                  <a:tcPr>
                    <a:solidFill>
                      <a:srgbClr val="E7E6E6"/>
                    </a:solidFill>
                  </a:tcPr>
                </a:tc>
              </a:tr>
              <a:tr h="370840">
                <a:tc>
                  <a:txBody>
                    <a:bodyPr/>
                    <a:lstStyle/>
                    <a:p>
                      <a:r>
                        <a:rPr b="1" sz="1100"/>
                        <a:t>External System Integrations</a:t>
                      </a:r>
                    </a:p>
                  </a:txBody>
                  <a:tcPr>
                    <a:solidFill>
                      <a:srgbClr val="E7E6E6"/>
                    </a:solidFill>
                  </a:tcPr>
                </a:tc>
                <a:tc>
                  <a:txBody>
                    <a:bodyPr/>
                    <a:lstStyle/>
                    <a:p>
                      <a:r>
                        <a:rPr sz="1100"/>
                        <a:t>2 systems (AD + ITSM)</a:t>
                      </a:r>
                    </a:p>
                  </a:txBody>
                  <a:tcPr>
                    <a:solidFill>
                      <a:srgbClr val="E7E6E6"/>
                    </a:solidFill>
                  </a:tcPr>
                </a:tc>
                <a:tc>
                  <a:txBody>
                    <a:bodyPr/>
                    <a:lstStyle/>
                    <a:p/>
                  </a:txBody>
                  <a:tcPr>
                    <a:solidFill>
                      <a:srgbClr val="FFFFFF"/>
                    </a:solidFill>
                  </a:tcPr>
                </a:tc>
                <a:tc>
                  <a:txBody>
                    <a:bodyPr/>
                    <a:lstStyle/>
                    <a:p>
                      <a:r>
                        <a:rPr b="1" sz="1100"/>
                        <a:t>Security Requirements</a:t>
                      </a:r>
                    </a:p>
                  </a:txBody>
                  <a:tcPr>
                    <a:solidFill>
                      <a:srgbClr val="E7E6E6"/>
                    </a:solidFill>
                  </a:tcPr>
                </a:tc>
                <a:tc>
                  <a:txBody>
                    <a:bodyPr/>
                    <a:lstStyle/>
                    <a:p>
                      <a:r>
                        <a:rPr sz="1100"/>
                        <a:t>Basic 802.1X and encryption</a:t>
                      </a:r>
                    </a:p>
                  </a:txBody>
                  <a:tcPr>
                    <a:solidFill>
                      <a:srgbClr val="E7E6E6"/>
                    </a:solidFill>
                  </a:tcPr>
                </a:tc>
              </a:tr>
              <a:tr h="370840">
                <a:tc>
                  <a:txBody>
                    <a:bodyPr/>
                    <a:lstStyle/>
                    <a:p>
                      <a:r>
                        <a:rPr b="1" sz="1100"/>
                        <a:t>Data Sources</a:t>
                      </a:r>
                    </a:p>
                  </a:txBody>
                  <a:tcPr>
                    <a:solidFill>
                      <a:srgbClr val="E7E6E6"/>
                    </a:solidFill>
                  </a:tcPr>
                </a:tc>
                <a:tc>
                  <a:txBody>
                    <a:bodyPr/>
                    <a:lstStyle/>
                    <a:p>
                      <a:r>
                        <a:rPr sz="1100"/>
                        <a:t>Network devices only</a:t>
                      </a:r>
                    </a:p>
                  </a:txBody>
                  <a:tcPr>
                    <a:solidFill>
                      <a:srgbClr val="E7E6E6"/>
                    </a:solidFill>
                  </a:tcPr>
                </a:tc>
                <a:tc>
                  <a:txBody>
                    <a:bodyPr/>
                    <a:lstStyle/>
                    <a:p/>
                  </a:txBody>
                  <a:tcPr>
                    <a:solidFill>
                      <a:srgbClr val="FFFFFF"/>
                    </a:solidFill>
                  </a:tcPr>
                </a:tc>
                <a:tc>
                  <a:txBody>
                    <a:bodyPr/>
                    <a:lstStyle/>
                    <a:p>
                      <a:r>
                        <a:rPr b="1" sz="1100"/>
                        <a:t>Compliance Frameworks</a:t>
                      </a:r>
                    </a:p>
                  </a:txBody>
                  <a:tcPr>
                    <a:solidFill>
                      <a:srgbClr val="E7E6E6"/>
                    </a:solidFill>
                  </a:tcPr>
                </a:tc>
                <a:tc>
                  <a:txBody>
                    <a:bodyPr/>
                    <a:lstStyle/>
                    <a:p>
                      <a:r>
                        <a:rPr sz="1100"/>
                        <a:t>Basic logging</a:t>
                      </a:r>
                    </a:p>
                  </a:txBody>
                  <a:tcPr>
                    <a:solidFill>
                      <a:srgbClr val="E7E6E6"/>
                    </a:solidFill>
                  </a:tcPr>
                </a:tc>
              </a:tr>
              <a:tr h="370840">
                <a:tc>
                  <a:txBody>
                    <a:bodyPr/>
                    <a:lstStyle/>
                    <a:p>
                      <a:r>
                        <a:rPr b="1" sz="1100"/>
                        <a:t>Total Users</a:t>
                      </a:r>
                    </a:p>
                  </a:txBody>
                  <a:tcPr>
                    <a:solidFill>
                      <a:srgbClr val="E7E6E6"/>
                    </a:solidFill>
                  </a:tcPr>
                </a:tc>
                <a:tc>
                  <a:txBody>
                    <a:bodyPr/>
                    <a:lstStyle/>
                    <a:p>
                      <a:r>
                        <a:rPr sz="1100"/>
                        <a:t>10 network administrators</a:t>
                      </a:r>
                    </a:p>
                  </a:txBody>
                  <a:tcPr>
                    <a:solidFill>
                      <a:srgbClr val="E7E6E6"/>
                    </a:solidFill>
                  </a:tcPr>
                </a:tc>
                <a:tc>
                  <a:txBody>
                    <a:bodyPr/>
                    <a:lstStyle/>
                    <a:p/>
                  </a:txBody>
                  <a:tcPr>
                    <a:solidFill>
                      <a:srgbClr val="FFFFFF"/>
                    </a:solidFill>
                  </a:tcPr>
                </a:tc>
                <a:tc>
                  <a:txBody>
                    <a:bodyPr/>
                    <a:lstStyle/>
                    <a:p>
                      <a:r>
                        <a:rPr b="1" sz="1100"/>
                        <a:t>Performance Requirements</a:t>
                      </a:r>
                    </a:p>
                  </a:txBody>
                  <a:tcPr>
                    <a:solidFill>
                      <a:srgbClr val="E7E6E6"/>
                    </a:solidFill>
                  </a:tcPr>
                </a:tc>
                <a:tc>
                  <a:txBody>
                    <a:bodyPr/>
                    <a:lstStyle/>
                    <a:p>
                      <a:r>
                        <a:rPr sz="1100"/>
                        <a:t>Standard telemetry</a:t>
                      </a:r>
                    </a:p>
                  </a:txBody>
                  <a:tcPr>
                    <a:solidFill>
                      <a:srgbClr val="E7E6E6"/>
                    </a:solidFill>
                  </a:tcPr>
                </a:tc>
              </a:tr>
              <a:tr h="370840">
                <a:tc>
                  <a:txBody>
                    <a:bodyPr/>
                    <a:lstStyle/>
                    <a:p>
                      <a:r>
                        <a:rPr b="1" sz="1100"/>
                        <a:t>User Roles</a:t>
                      </a:r>
                    </a:p>
                  </a:txBody>
                  <a:tcPr>
                    <a:solidFill>
                      <a:srgbClr val="E7E6E6"/>
                    </a:solidFill>
                  </a:tcPr>
                </a:tc>
                <a:tc>
                  <a:txBody>
                    <a:bodyPr/>
                    <a:lstStyle/>
                    <a:p>
                      <a:r>
                        <a:rPr sz="1100"/>
                        <a:t>2 roles (admin + viewer)</a:t>
                      </a:r>
                    </a:p>
                  </a:txBody>
                  <a:tcPr>
                    <a:solidFill>
                      <a:srgbClr val="E7E6E6"/>
                    </a:solidFill>
                  </a:tcPr>
                </a:tc>
                <a:tc>
                  <a:txBody>
                    <a:bodyPr/>
                    <a:lstStyle/>
                    <a:p/>
                  </a:txBody>
                  <a:tcPr>
                    <a:solidFill>
                      <a:srgbClr val="FFFFFF"/>
                    </a:solidFill>
                  </a:tcPr>
                </a:tc>
                <a:tc>
                  <a:txBody>
                    <a:bodyPr/>
                    <a:lstStyle/>
                    <a:p>
                      <a:r>
                        <a:rPr b="1" sz="1100"/>
                        <a:t>Deployment Environments</a:t>
                      </a:r>
                    </a:p>
                  </a:txBody>
                  <a:tcPr>
                    <a:solidFill>
                      <a:srgbClr val="E7E6E6"/>
                    </a:solidFill>
                  </a:tcPr>
                </a:tc>
                <a:tc>
                  <a:txBody>
                    <a:bodyPr/>
                    <a:lstStyle/>
                    <a:p>
                      <a:r>
                        <a:rPr sz="1100"/>
                        <a:t>Production only</a:t>
                      </a:r>
                    </a:p>
                  </a:txBody>
                  <a:tcPr>
                    <a:solidFill>
                      <a:srgbClr val="E7E6E6"/>
                    </a:solidFill>
                  </a:tcPr>
                </a:tc>
              </a:tr>
              <a:tr h="370840">
                <a:tc>
                  <a:txBody>
                    <a:bodyPr/>
                    <a:lstStyle/>
                    <a:p>
                      <a:r>
                        <a:rPr b="1" sz="1100"/>
                        <a:t>Data Processing Volume</a:t>
                      </a:r>
                    </a:p>
                  </a:txBody>
                  <a:tcPr>
                    <a:solidFill>
                      <a:srgbClr val="E7E6E6"/>
                    </a:solidFill>
                  </a:tcPr>
                </a:tc>
                <a:tc>
                  <a:txBody>
                    <a:bodyPr/>
                    <a:lstStyle/>
                    <a:p>
                      <a:r>
                        <a:rPr sz="1100"/>
                        <a:t>200 devices telemetry</a:t>
                      </a:r>
                    </a:p>
                  </a:txBody>
                  <a:tcPr>
                    <a:solidFill>
                      <a:srgbClr val="E7E6E6"/>
                    </a:solidFill>
                  </a:tcPr>
                </a:tc>
                <a:tc>
                  <a:txBody>
                    <a:bodyPr/>
                    <a:lstStyle/>
                    <a:p/>
                  </a:txBody>
                  <a:tcPr>
                    <a:solidFill>
                      <a:srgbClr val="FFFFFF"/>
                    </a:solidFill>
                  </a:tcPr>
                </a:tc>
                <a:tc>
                  <a:txBody>
                    <a:bodyPr/>
                    <a:lstStyle/>
                    <a:p>
                      <a:r>
                        <a:rPr b="1" sz="1100"/>
                        <a:t>Data Storage Requirements</a:t>
                      </a:r>
                    </a:p>
                  </a:txBody>
                  <a:tcPr>
                    <a:solidFill>
                      <a:srgbClr val="E7E6E6"/>
                    </a:solidFill>
                  </a:tcPr>
                </a:tc>
                <a:tc>
                  <a:txBody>
                    <a:bodyPr/>
                    <a:lstStyle/>
                    <a:p>
                      <a:r>
                        <a:rPr sz="1100"/>
                        <a:t>500 GB (90-day retention)</a:t>
                      </a:r>
                    </a:p>
                  </a:txBody>
                  <a:tcPr>
                    <a:solidFill>
                      <a:srgbClr val="E7E6E6"/>
                    </a:solidFill>
                  </a:tcPr>
                </a:tc>
              </a:tr>
              <a:tr h="370840">
                <a:tc>
                  <a:txBody>
                    <a:bodyPr/>
                    <a:lstStyle/>
                    <a:p>
                      <a:r>
                        <a:rPr b="1" sz="1100"/>
                        <a:t>Deployment Regions</a:t>
                      </a:r>
                    </a:p>
                  </a:txBody>
                  <a:tcPr>
                    <a:solidFill>
                      <a:srgbClr val="E7E6E6"/>
                    </a:solidFill>
                  </a:tcPr>
                </a:tc>
                <a:tc>
                  <a:txBody>
                    <a:bodyPr/>
                    <a:lstStyle/>
                    <a:p>
                      <a:r>
                        <a:rPr sz="1100"/>
                        <a:t>Single data center</a:t>
                      </a:r>
                    </a:p>
                  </a:txBody>
                  <a:tcPr>
                    <a:solidFill>
                      <a:srgbClr val="E7E6E6"/>
                    </a:solidFill>
                  </a:tcPr>
                </a:tc>
                <a:tc>
                  <a:txBody>
                    <a:bodyPr/>
                    <a:lstStyle/>
                    <a:p/>
                  </a:txBody>
                  <a:tcPr>
                    <a:solidFill>
                      <a:srgbClr val="FFFFFF"/>
                    </a:solidFill>
                  </a:tcPr>
                </a:tc>
                <a:tc>
                  <a:txBody>
                    <a:bodyPr/>
                    <a:lstStyle/>
                    <a:p/>
                  </a:txBody>
                  <a:tcPr>
                    <a:solidFill>
                      <a:srgbClr val="E7E6E6"/>
                    </a:solidFill>
                  </a:tcPr>
                </a:tc>
                <a:tc>
                  <a:txBody>
                    <a:bodyPr/>
                    <a:lstStyle/>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Cisco DNA Center Network Analytics</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Solution Overview</a:t>
            </a:r>
          </a:p>
        </p:txBody>
      </p:sp>
      <p:sp>
        <p:nvSpPr>
          <p:cNvPr id="5" name="Text Placeholder 4"/>
          <p:cNvSpPr>
            <a:spLocks noGrp="1"/>
          </p:cNvSpPr>
          <p:nvPr>
            <p:ph type="body" idx="16" sz="quarter"/>
          </p:nvPr>
        </p:nvSpPr>
        <p:spPr/>
        <p:txBody>
          <a:bodyPr/>
          <a:lstStyle/>
          <a:p>
            <a:pPr/>
            <a:r>
              <a:rPr b="1"/>
              <a:t>Key Components</a:t>
            </a:r>
          </a:p>
          <a:p>
            <a:pPr lvl="1"/>
            <a:r>
              <a:t>Cisco DNA Center appliances (DN2-HW-APL) with primary and secondary HA for 99.9% uptime</a:t>
            </a:r>
          </a:p>
          <a:p>
            <a:pPr lvl="1"/>
            <a:r>
              <a:t>AI Network Analytics with predictive failure detection and automated remediation workflows</a:t>
            </a:r>
          </a:p>
          <a:p>
            <a:pPr lvl="1"/>
            <a:r>
              <a:t>Application Experience monitoring for Office 365, Webex, SAP with real-time SLA tracking</a:t>
            </a:r>
          </a:p>
          <a:p>
            <a:pPr/>
            <a:r>
              <a:rPr b="1"/>
              <a:t>Technology Stack</a:t>
            </a:r>
          </a:p>
          <a:p>
            <a:pPr lvl="1"/>
            <a:r>
              <a:t>Platform: Cisco DNA Center with vManage orchestration</a:t>
            </a:r>
          </a:p>
          <a:p>
            <a:pPr lvl="1"/>
            <a:r>
              <a:t>Automation: Zero-touch provisioning and policy templates</a:t>
            </a:r>
          </a:p>
          <a:p>
            <a:pPr lvl="1"/>
            <a:r>
              <a:t>Integration: Active Directory, ServiceNow ITSM, NetBox IPAM</a:t>
            </a:r>
          </a:p>
          <a:p>
            <a:pPr lvl="1"/>
            <a:r>
              <a:t>Security: TrustSec micro-segmentation (optional)</a:t>
            </a:r>
          </a:p>
        </p:txBody>
      </p:sp>
      <p:sp>
        <p:nvSpPr>
          <p:cNvPr id="6" name="Text Placeholder 5"/>
          <p:cNvSpPr>
            <a:spLocks noGrp="1"/>
          </p:cNvSpPr>
          <p:nvPr>
            <p:ph type="body" idx="17" sz="quarter"/>
          </p:nvPr>
        </p:nvSpPr>
        <p:spPr/>
        <p:txBody>
          <a:bodyPr/>
          <a:lstStyle/>
          <a:p>
            <a:pPr algn="r">
              <a:buNone/>
            </a:pPr>
            <a:r>
              <a:rPr sz="1100">
                <a:solidFill>
                  <a:srgbClr val="CC0000"/>
                </a:solidFill>
              </a:rPr>
              <a:t>Cisco DNA Center Network Analytics</a:t>
            </a:r>
          </a:p>
        </p:txBody>
      </p:sp>
      <p:pic>
        <p:nvPicPr>
          <p:cNvPr id="7" name="Picture 6" descr="architecture-diagram.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pic>
        <p:nvPicPr>
          <p:cNvPr id="8" name="Picture 7" descr="consulting_company_logo.png"/>
          <p:cNvPicPr>
            <a:picLocks noChangeAspect="1"/>
          </p:cNvPicPr>
          <p:nvPr/>
        </p:nvPicPr>
        <p:blipFill>
          <a:blip r:embed="rId3"/>
          <a:stretch>
            <a:fillRect/>
          </a:stretch>
        </p:blipFill>
        <p:spPr>
          <a:xfrm>
            <a:off x="313592" y="4536078"/>
            <a:ext cx="2130670" cy="52969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Implementation Approach</a:t>
            </a:r>
          </a:p>
        </p:txBody>
      </p:sp>
      <p:sp>
        <p:nvSpPr>
          <p:cNvPr id="4" name="Text Placeholder 3"/>
          <p:cNvSpPr>
            <a:spLocks noGrp="1"/>
          </p:cNvSpPr>
          <p:nvPr>
            <p:ph type="body" idx="14" sz="quarter"/>
          </p:nvPr>
        </p:nvSpPr>
        <p:spPr/>
        <p:txBody>
          <a:bodyPr/>
          <a:lstStyle/>
          <a:p>
            <a:pPr/>
            <a:r>
              <a:rPr b="1"/>
              <a:t>Phase 1: Foundation &amp; Deployment (Weeks 1-6)</a:t>
            </a:r>
          </a:p>
          <a:p>
            <a:pPr lvl="1"/>
            <a:r>
              <a:t>Network assessment and DNA Center HA deployment</a:t>
            </a:r>
          </a:p>
          <a:p>
            <a:pPr lvl="1"/>
            <a:r>
              <a:t>Initial device onboarding for 50 pilot devices with policy framework design</a:t>
            </a:r>
          </a:p>
          <a:p>
            <a:pPr lvl="1"/>
            <a:r>
              <a:t>Remaining 150 devices onboarded with AI analytics and automation workflows</a:t>
            </a:r>
          </a:p>
          <a:p>
            <a:pPr/>
            <a:r>
              <a:rPr b="1"/>
              <a:t>Phase 2: Advanced Features &amp; Integration (Weeks 7-12)</a:t>
            </a:r>
          </a:p>
          <a:p>
            <a:pPr lvl="1"/>
            <a:r>
              <a:t>Application experience monitoring for Office 365, Webex, and SAP</a:t>
            </a:r>
          </a:p>
          <a:p>
            <a:pPr lvl="1"/>
            <a:r>
              <a:t>ServiceNow and NetBox integration with automated ticket workflows</a:t>
            </a:r>
          </a:p>
          <a:p>
            <a:pPr lvl="1"/>
            <a:r>
              <a:t>Policy automation for VLAN, ACL, and compliance configuration</a:t>
            </a:r>
          </a:p>
          <a:p>
            <a:pPr/>
            <a:r>
              <a:rPr b="1"/>
              <a:t>Phase 3: Optimization &amp; Training (Weeks 13-16)</a:t>
            </a:r>
          </a:p>
          <a:p>
            <a:pPr lvl="1"/>
            <a:r>
              <a:t>Validation testing and policy fine-tuning based on feedback</a:t>
            </a:r>
          </a:p>
          <a:p>
            <a:pPr lvl="1"/>
            <a:r>
              <a:t>Team training (32 hours) with hands-on labs and knowledge transfer</a:t>
            </a:r>
          </a:p>
          <a:p>
            <a:pPr lvl="1"/>
            <a:r>
              <a:t>Operational handoff with runbooks and hypercare support</a:t>
            </a:r>
          </a:p>
        </p:txBody>
      </p:sp>
      <p:sp>
        <p:nvSpPr>
          <p:cNvPr id="5" name="Text Placeholder 4"/>
          <p:cNvSpPr>
            <a:spLocks noGrp="1"/>
          </p:cNvSpPr>
          <p:nvPr>
            <p:ph type="body" idx="15" sz="quarter"/>
          </p:nvPr>
        </p:nvSpPr>
        <p:spPr/>
        <p:txBody>
          <a:bodyPr/>
          <a:lstStyle/>
          <a:p>
            <a:pPr algn="r">
              <a:buNone/>
            </a:pPr>
            <a:r>
              <a:rPr sz="1100">
                <a:solidFill>
                  <a:srgbClr val="CC0000"/>
                </a:solidFill>
              </a:rPr>
              <a:t>Cisco DNA Center Network Analytics</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Timeline &amp; Milestones</a:t>
            </a:r>
          </a:p>
        </p:txBody>
      </p:sp>
      <p:graphicFrame>
        <p:nvGraphicFramePr>
          <p:cNvPr id="4" name="Table Placeholder 3"/>
          <p:cNvGraphicFramePr>
            <a:graphicFrameLocks noGrp="1"/>
          </p:cNvGraphicFramePr>
          <p:nvPr>
            <p:ph type="tbl" idx="14" sz="quarter"/>
          </p:nvPr>
        </p:nvGraphicFramePr>
        <p:xfrm>
          <a:off x="256855" y="677011"/>
          <a:ext cx="8710931" cy="185420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Foundation</a:t>
                      </a:r>
                    </a:p>
                  </a:txBody>
                  <a:tcPr>
                    <a:solidFill>
                      <a:srgbClr val="E7E6E6"/>
                    </a:solidFill>
                  </a:tcPr>
                </a:tc>
                <a:tc>
                  <a:txBody>
                    <a:bodyPr/>
                    <a:lstStyle/>
                    <a:p>
                      <a:r>
                        <a:rPr sz="1100"/>
                        <a:t>Weeks 1-4</a:t>
                      </a:r>
                    </a:p>
                  </a:txBody>
                  <a:tcPr>
                    <a:solidFill>
                      <a:srgbClr val="E7E6E6"/>
                    </a:solidFill>
                  </a:tcPr>
                </a:tc>
                <a:tc>
                  <a:txBody>
                    <a:bodyPr/>
                    <a:lstStyle/>
                    <a:p>
                      <a:r>
                        <a:rPr sz="1100"/>
                        <a:t>DNA Center HA deployed, 50 pilot devices onboarded, Policy framework designed</a:t>
                      </a:r>
                    </a:p>
                  </a:txBody>
                  <a:tcPr>
                    <a:solidFill>
                      <a:srgbClr val="E7E6E6"/>
                    </a:solidFill>
                  </a:tcPr>
                </a:tc>
              </a:tr>
              <a:tr h="370840">
                <a:tc>
                  <a:txBody>
                    <a:bodyPr/>
                    <a:lstStyle/>
                    <a:p>
                      <a:r>
                        <a:rPr sz="1100"/>
                        <a:t>Phase 2</a:t>
                      </a:r>
                    </a:p>
                  </a:txBody>
                  <a:tcPr>
                    <a:solidFill>
                      <a:srgbClr val="E7E6E6"/>
                    </a:solidFill>
                  </a:tcPr>
                </a:tc>
                <a:tc>
                  <a:txBody>
                    <a:bodyPr/>
                    <a:lstStyle/>
                    <a:p>
                      <a:r>
                        <a:rPr sz="1100"/>
                        <a:t>Automation &amp; Analytics</a:t>
                      </a:r>
                    </a:p>
                  </a:txBody>
                  <a:tcPr>
                    <a:solidFill>
                      <a:srgbClr val="E7E6E6"/>
                    </a:solidFill>
                  </a:tcPr>
                </a:tc>
                <a:tc>
                  <a:txBody>
                    <a:bodyPr/>
                    <a:lstStyle/>
                    <a:p>
                      <a:r>
                        <a:rPr sz="1100"/>
                        <a:t>Weeks 5-8</a:t>
                      </a:r>
                    </a:p>
                  </a:txBody>
                  <a:tcPr>
                    <a:solidFill>
                      <a:srgbClr val="E7E6E6"/>
                    </a:solidFill>
                  </a:tcPr>
                </a:tc>
                <a:tc>
                  <a:txBody>
                    <a:bodyPr/>
                    <a:lstStyle/>
                    <a:p>
                      <a:r>
                        <a:rPr sz="1100"/>
                        <a:t>200 devices managed, AI analytics operational, Network policies automated</a:t>
                      </a:r>
                    </a:p>
                  </a:txBody>
                  <a:tcPr>
                    <a:solidFill>
                      <a:srgbClr val="E7E6E6"/>
                    </a:solidFill>
                  </a:tcPr>
                </a:tc>
              </a:tr>
              <a:tr h="370840">
                <a:tc>
                  <a:txBody>
                    <a:bodyPr/>
                    <a:lstStyle/>
                    <a:p>
                      <a:r>
                        <a:rPr sz="1100"/>
                        <a:t>Phase 3</a:t>
                      </a:r>
                    </a:p>
                  </a:txBody>
                  <a:tcPr>
                    <a:solidFill>
                      <a:srgbClr val="E7E6E6"/>
                    </a:solidFill>
                  </a:tcPr>
                </a:tc>
                <a:tc>
                  <a:txBody>
                    <a:bodyPr/>
                    <a:lstStyle/>
                    <a:p>
                      <a:r>
                        <a:rPr sz="1100"/>
                        <a:t>Advanced Features</a:t>
                      </a:r>
                    </a:p>
                  </a:txBody>
                  <a:tcPr>
                    <a:solidFill>
                      <a:srgbClr val="E7E6E6"/>
                    </a:solidFill>
                  </a:tcPr>
                </a:tc>
                <a:tc>
                  <a:txBody>
                    <a:bodyPr/>
                    <a:lstStyle/>
                    <a:p>
                      <a:r>
                        <a:rPr sz="1100"/>
                        <a:t>Weeks 9-12</a:t>
                      </a:r>
                    </a:p>
                  </a:txBody>
                  <a:tcPr>
                    <a:solidFill>
                      <a:srgbClr val="E7E6E6"/>
                    </a:solidFill>
                  </a:tcPr>
                </a:tc>
                <a:tc>
                  <a:txBody>
                    <a:bodyPr/>
                    <a:lstStyle/>
                    <a:p>
                      <a:r>
                        <a:rPr sz="1100"/>
                        <a:t>Application monitoring live, ITSM/IPAM integrated, SD-Access deployed (100 devices)</a:t>
                      </a:r>
                    </a:p>
                  </a:txBody>
                  <a:tcPr>
                    <a:solidFill>
                      <a:srgbClr val="E7E6E6"/>
                    </a:solidFill>
                  </a:tcPr>
                </a:tc>
              </a:tr>
              <a:tr h="370840">
                <a:tc>
                  <a:txBody>
                    <a:bodyPr/>
                    <a:lstStyle/>
                    <a:p>
                      <a:r>
                        <a:rPr sz="1100"/>
                        <a:t>Phase 4</a:t>
                      </a:r>
                    </a:p>
                  </a:txBody>
                  <a:tcPr>
                    <a:solidFill>
                      <a:srgbClr val="E7E6E6"/>
                    </a:solidFill>
                  </a:tcPr>
                </a:tc>
                <a:tc>
                  <a:txBody>
                    <a:bodyPr/>
                    <a:lstStyle/>
                    <a:p>
                      <a:r>
                        <a:rPr sz="1100"/>
                        <a:t>Optimization</a:t>
                      </a:r>
                    </a:p>
                  </a:txBody>
                  <a:tcPr>
                    <a:solidFill>
                      <a:srgbClr val="E7E6E6"/>
                    </a:solidFill>
                  </a:tcPr>
                </a:tc>
                <a:tc>
                  <a:txBody>
                    <a:bodyPr/>
                    <a:lstStyle/>
                    <a:p>
                      <a:r>
                        <a:rPr sz="1100"/>
                        <a:t>Weeks 13-16</a:t>
                      </a:r>
                    </a:p>
                  </a:txBody>
                  <a:tcPr>
                    <a:solidFill>
                      <a:srgbClr val="E7E6E6"/>
                    </a:solidFill>
                  </a:tcPr>
                </a:tc>
                <a:tc>
                  <a:txBody>
                    <a:bodyPr/>
                    <a:lstStyle/>
                    <a:p>
                      <a:r>
                        <a:rPr sz="1100"/>
                        <a:t>Validation complete, Team trained (32 hours), Full operational handoff</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Cisco DNA Center Network Analytics</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Success Stories</a:t>
            </a:r>
          </a:p>
        </p:txBody>
      </p:sp>
      <p:sp>
        <p:nvSpPr>
          <p:cNvPr id="4" name="Text Placeholder 3"/>
          <p:cNvSpPr>
            <a:spLocks noGrp="1"/>
          </p:cNvSpPr>
          <p:nvPr>
            <p:ph type="body" idx="14" sz="quarter"/>
          </p:nvPr>
        </p:nvSpPr>
        <p:spPr/>
        <p:txBody>
          <a:bodyPr/>
          <a:lstStyle/>
          <a:p>
            <a:pPr/>
            <a:r>
              <a:rPr b="1"/>
              <a:t>Client Success: Regional Healthcare System</a:t>
            </a:r>
          </a:p>
          <a:p>
            <a:pPr lvl="1"/>
            <a:r>
              <a:rPr b="1"/>
              <a:t>Client:</a:t>
            </a:r>
            <a:r>
              <a:t> Multi-hospital healthcare system with 180 network devices across 8 locations managing patient care systems, EMR access, and telemedicine platforms</a:t>
            </a:r>
          </a:p>
          <a:p>
            <a:pPr lvl="1"/>
            <a:r>
              <a:rPr b="1"/>
              <a:t>Challenge:</a:t>
            </a:r>
            <a:r>
              <a:t> Reactive troubleshooting causing 4-6 hour network outages impacting patient care. Manual switch provisioning taking 4 hours per device limiting expansion. No visibility into application performance for critical healthcare apps.</a:t>
            </a:r>
          </a:p>
          <a:p>
            <a:pPr lvl="1"/>
            <a:r>
              <a:rPr b="1"/>
              <a:t>Solution:</a:t>
            </a:r>
            <a:r>
              <a:t> Deployed Cisco DNA Center with AI Network Analytics for 180 devices. Implemented zero-touch provisioning and application experience monitoring for Epic EMR and telemedicine platforms. Integrated with ServiceNow ITSM for automated ticket workflows.</a:t>
            </a:r>
          </a:p>
          <a:p>
            <a:pPr lvl="1"/>
            <a:r>
              <a:rPr b="1"/>
              <a:t>Results:</a:t>
            </a:r>
            <a:r>
              <a:t> 78% reduction in MTTR (6 hours to 1.3 hours) with AI root cause analysis. Zero-touch provisioning reduced device deployment from 4 hours to 12 minutes. 99.8% network uptime achieved with predictive failure detection preventing 14 unplanned outages. $135K annual operational savings with 14-month ROI.</a:t>
            </a:r>
          </a:p>
          <a:p>
            <a:pPr lvl="1"/>
            <a:r>
              <a:rPr b="1"/>
              <a:t>Testimonial:</a:t>
            </a:r>
            <a:r>
              <a:t> "DNA Center transformed our network operations from reactive firefighting to proactive management. We detected and prevented device failures before they impacted patient care. The AI analytics gave us visibility we never had before." — </a:t>
            </a:r>
            <a:r>
              <a:rPr b="1"/>
              <a:t>Michael Chen</a:t>
            </a:r>
            <a:r>
              <a:t>, Director of IT Infrastructure</a:t>
            </a:r>
          </a:p>
        </p:txBody>
      </p:sp>
      <p:sp>
        <p:nvSpPr>
          <p:cNvPr id="5" name="Text Placeholder 4"/>
          <p:cNvSpPr>
            <a:spLocks noGrp="1"/>
          </p:cNvSpPr>
          <p:nvPr>
            <p:ph type="body" idx="15" sz="quarter"/>
          </p:nvPr>
        </p:nvSpPr>
        <p:spPr/>
        <p:txBody>
          <a:bodyPr/>
          <a:lstStyle/>
          <a:p>
            <a:pPr algn="r">
              <a:buNone/>
            </a:pPr>
            <a:r>
              <a:rPr sz="1100">
                <a:solidFill>
                  <a:srgbClr val="CC0000"/>
                </a:solidFill>
              </a:rPr>
              <a:t>Cisco DNA Center Network Analytics</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Our Partnership Advantage</a:t>
            </a:r>
          </a:p>
        </p:txBody>
      </p:sp>
      <p:sp>
        <p:nvSpPr>
          <p:cNvPr id="4" name="Text Placeholder 3"/>
          <p:cNvSpPr>
            <a:spLocks noGrp="1"/>
          </p:cNvSpPr>
          <p:nvPr>
            <p:ph type="body" idx="16" sz="quarter"/>
          </p:nvPr>
        </p:nvSpPr>
        <p:spPr/>
        <p:txBody>
          <a:bodyPr/>
          <a:lstStyle/>
          <a:p>
            <a:pPr/>
            <a:r>
              <a:rPr b="1"/>
              <a:t>What We Bring</a:t>
            </a:r>
          </a:p>
          <a:p>
            <a:pPr lvl="1"/>
            <a:r>
              <a:t>12+ years delivering Cisco network automation solutions with proven enterprise deployments</a:t>
            </a:r>
          </a:p>
          <a:p>
            <a:pPr lvl="1"/>
            <a:r>
              <a:t>40+ successful DNA Center implementations across healthcare, finance, manufacturing</a:t>
            </a:r>
          </a:p>
          <a:p>
            <a:pPr lvl="1"/>
            <a:r>
              <a:t>Cisco Gold Partner with Advanced Enterprise Networks Architecture Specialization</a:t>
            </a:r>
          </a:p>
          <a:p>
            <a:pPr lvl="1"/>
            <a:r>
              <a:t>Certified DNA Center specialists and network automation experts on staff</a:t>
            </a:r>
          </a:p>
        </p:txBody>
      </p:sp>
      <p:sp>
        <p:nvSpPr>
          <p:cNvPr id="5" name="Text Placeholder 4"/>
          <p:cNvSpPr>
            <a:spLocks noGrp="1"/>
          </p:cNvSpPr>
          <p:nvPr>
            <p:ph type="body" idx="17" sz="quarter"/>
          </p:nvPr>
        </p:nvSpPr>
        <p:spPr/>
        <p:txBody>
          <a:bodyPr/>
          <a:lstStyle/>
          <a:p>
            <a:pPr/>
            <a:r>
              <a:rPr b="1"/>
              <a:t>Value to You</a:t>
            </a:r>
          </a:p>
          <a:p>
            <a:pPr lvl="1"/>
            <a:r>
              <a:t>Pre-built policy templates and automation workflows accelerate deployment by 40%</a:t>
            </a:r>
          </a:p>
          <a:p>
            <a:pPr lvl="1"/>
            <a:r>
              <a:t>Proven integration patterns for ServiceNow, NetBox, and SIEM platforms</a:t>
            </a:r>
          </a:p>
          <a:p>
            <a:pPr lvl="1"/>
            <a:r>
              <a:t>Direct Cisco TAC escalation and engineering support through partner network</a:t>
            </a:r>
          </a:p>
          <a:p>
            <a:pPr lvl="1"/>
            <a:r>
              <a:t>Best practices from 40+ implementations avoiding common deployment pitfalls</a:t>
            </a:r>
          </a:p>
        </p:txBody>
      </p:sp>
      <p:sp>
        <p:nvSpPr>
          <p:cNvPr id="6" name="Text Placeholder 5"/>
          <p:cNvSpPr>
            <a:spLocks noGrp="1"/>
          </p:cNvSpPr>
          <p:nvPr>
            <p:ph type="body" idx="15" sz="quarter"/>
          </p:nvPr>
        </p:nvSpPr>
        <p:spPr/>
        <p:txBody>
          <a:bodyPr/>
          <a:lstStyle/>
          <a:p>
            <a:pPr algn="r">
              <a:buNone/>
            </a:pPr>
            <a:r>
              <a:rPr sz="1100">
                <a:solidFill>
                  <a:srgbClr val="CC0000"/>
                </a:solidFill>
              </a:rPr>
              <a:t>Cisco DNA Center Network Analytics</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Investment Summary</a:t>
            </a:r>
          </a:p>
        </p:txBody>
      </p:sp>
      <p:graphicFrame>
        <p:nvGraphicFramePr>
          <p:cNvPr id="4" name="Table Placeholder 3"/>
          <p:cNvGraphicFramePr>
            <a:graphicFrameLocks noGrp="1"/>
          </p:cNvGraphicFramePr>
          <p:nvPr>
            <p:ph type="tbl" idx="14" sz="quarter"/>
          </p:nvPr>
        </p:nvGraphicFramePr>
        <p:xfrm>
          <a:off x="256855" y="677011"/>
          <a:ext cx="8710930" cy="2225040"/>
        </p:xfrm>
        <a:graphic>
          <a:graphicData uri="http://schemas.openxmlformats.org/drawingml/2006/table">
            <a:tbl>
              <a:tblPr firstRow="1" bandRow="1">
                <a:tableStyleId>{5C22544A-7EE6-4342-B048-85BDC9FD1C3A}</a:tableStyleId>
              </a:tblPr>
              <a:tblGrid>
                <a:gridCol w="1997920"/>
                <a:gridCol w="1198752"/>
                <a:gridCol w="1198752"/>
                <a:gridCol w="1198752"/>
                <a:gridCol w="959001"/>
                <a:gridCol w="959001"/>
                <a:gridCol w="1198752"/>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Year 1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sz="1100"/>
                        <a:t>Professional Services</a:t>
                      </a:r>
                    </a:p>
                  </a:txBody>
                  <a:tcPr>
                    <a:solidFill>
                      <a:srgbClr val="E7E6E6"/>
                    </a:solidFill>
                  </a:tcPr>
                </a:tc>
                <a:tc>
                  <a:txBody>
                    <a:bodyPr/>
                    <a:lstStyle/>
                    <a:p>
                      <a:r>
                        <a:rPr sz="1100"/>
                        <a:t>$85,100</a:t>
                      </a:r>
                    </a:p>
                  </a:txBody>
                  <a:tcPr>
                    <a:solidFill>
                      <a:srgbClr val="E7E6E6"/>
                    </a:solidFill>
                  </a:tcPr>
                </a:tc>
                <a:tc>
                  <a:txBody>
                    <a:bodyPr/>
                    <a:lstStyle/>
                    <a:p>
                      <a:r>
                        <a:rPr sz="1100"/>
                        <a:t>$0</a:t>
                      </a:r>
                    </a:p>
                  </a:txBody>
                  <a:tcPr>
                    <a:solidFill>
                      <a:srgbClr val="E7E6E6"/>
                    </a:solidFill>
                  </a:tcPr>
                </a:tc>
                <a:tc>
                  <a:txBody>
                    <a:bodyPr/>
                    <a:lstStyle/>
                    <a:p>
                      <a:r>
                        <a:rPr sz="1100"/>
                        <a:t>$85,100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$85,100</a:t>
                      </a:r>
                    </a:p>
                  </a:txBody>
                  <a:tcPr>
                    <a:solidFill>
                      <a:srgbClr val="E7E6E6"/>
                    </a:solidFill>
                  </a:tcPr>
                </a:tc>
              </a:tr>
              <a:tr h="370840">
                <a:tc>
                  <a:txBody>
                    <a:bodyPr/>
                    <a:lstStyle/>
                    <a:p>
                      <a:r>
                        <a:rPr sz="1100"/>
                        <a:t>Hardware</a:t>
                      </a:r>
                    </a:p>
                  </a:txBody>
                  <a:tcPr>
                    <a:solidFill>
                      <a:srgbClr val="E7E6E6"/>
                    </a:solidFill>
                  </a:tcPr>
                </a:tc>
                <a:tc>
                  <a:txBody>
                    <a:bodyPr/>
                    <a:lstStyle/>
                    <a:p>
                      <a:r>
                        <a:rPr sz="1100"/>
                        <a:t>$120,000</a:t>
                      </a:r>
                    </a:p>
                  </a:txBody>
                  <a:tcPr>
                    <a:solidFill>
                      <a:srgbClr val="E7E6E6"/>
                    </a:solidFill>
                  </a:tcPr>
                </a:tc>
                <a:tc>
                  <a:txBody>
                    <a:bodyPr/>
                    <a:lstStyle/>
                    <a:p>
                      <a:r>
                        <a:rPr sz="1100"/>
                        <a:t>$0</a:t>
                      </a:r>
                    </a:p>
                  </a:txBody>
                  <a:tcPr>
                    <a:solidFill>
                      <a:srgbClr val="E7E6E6"/>
                    </a:solidFill>
                  </a:tcPr>
                </a:tc>
                <a:tc>
                  <a:txBody>
                    <a:bodyPr/>
                    <a:lstStyle/>
                    <a:p>
                      <a:r>
                        <a:rPr sz="1100"/>
                        <a:t>$120,000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$120,000</a:t>
                      </a:r>
                    </a:p>
                  </a:txBody>
                  <a:tcPr>
                    <a:solidFill>
                      <a:srgbClr val="E7E6E6"/>
                    </a:solidFill>
                  </a:tcPr>
                </a:tc>
              </a:tr>
              <a:tr h="370840">
                <a:tc>
                  <a:txBody>
                    <a:bodyPr/>
                    <a:lstStyle/>
                    <a:p>
                      <a:r>
                        <a:rPr sz="1100"/>
                        <a:t>Software</a:t>
                      </a:r>
                    </a:p>
                  </a:txBody>
                  <a:tcPr>
                    <a:solidFill>
                      <a:srgbClr val="E7E6E6"/>
                    </a:solidFill>
                  </a:tcPr>
                </a:tc>
                <a:tc>
                  <a:txBody>
                    <a:bodyPr/>
                    <a:lstStyle/>
                    <a:p>
                      <a:r>
                        <a:rPr sz="1100"/>
                        <a:t>$110,000</a:t>
                      </a:r>
                    </a:p>
                  </a:txBody>
                  <a:tcPr>
                    <a:solidFill>
                      <a:srgbClr val="E7E6E6"/>
                    </a:solidFill>
                  </a:tcPr>
                </a:tc>
                <a:tc>
                  <a:txBody>
                    <a:bodyPr/>
                    <a:lstStyle/>
                    <a:p>
                      <a:r>
                        <a:rPr sz="1100"/>
                        <a:t>($20,000)</a:t>
                      </a:r>
                    </a:p>
                  </a:txBody>
                  <a:tcPr>
                    <a:solidFill>
                      <a:srgbClr val="E7E6E6"/>
                    </a:solidFill>
                  </a:tcPr>
                </a:tc>
                <a:tc>
                  <a:txBody>
                    <a:bodyPr/>
                    <a:lstStyle/>
                    <a:p>
                      <a:r>
                        <a:rPr sz="1100"/>
                        <a:t>$90,000</a:t>
                      </a:r>
                    </a:p>
                  </a:txBody>
                  <a:tcPr>
                    <a:solidFill>
                      <a:srgbClr val="E7E6E6"/>
                    </a:solidFill>
                  </a:tcPr>
                </a:tc>
                <a:tc>
                  <a:txBody>
                    <a:bodyPr/>
                    <a:lstStyle/>
                    <a:p>
                      <a:r>
                        <a:rPr sz="1100"/>
                        <a:t>$110,000</a:t>
                      </a:r>
                    </a:p>
                  </a:txBody>
                  <a:tcPr>
                    <a:solidFill>
                      <a:srgbClr val="E7E6E6"/>
                    </a:solidFill>
                  </a:tcPr>
                </a:tc>
                <a:tc>
                  <a:txBody>
                    <a:bodyPr/>
                    <a:lstStyle/>
                    <a:p>
                      <a:r>
                        <a:rPr sz="1100"/>
                        <a:t>$110,000</a:t>
                      </a:r>
                    </a:p>
                  </a:txBody>
                  <a:tcPr>
                    <a:solidFill>
                      <a:srgbClr val="E7E6E6"/>
                    </a:solidFill>
                  </a:tcPr>
                </a:tc>
                <a:tc>
                  <a:txBody>
                    <a:bodyPr/>
                    <a:lstStyle/>
                    <a:p>
                      <a:r>
                        <a:rPr sz="1100"/>
                        <a:t>$310,000</a:t>
                      </a:r>
                    </a:p>
                  </a:txBody>
                  <a:tcPr>
                    <a:solidFill>
                      <a:srgbClr val="E7E6E6"/>
                    </a:solidFill>
                  </a:tcPr>
                </a:tc>
              </a:tr>
              <a:tr h="370840">
                <a:tc>
                  <a:txBody>
                    <a:bodyPr/>
                    <a:lstStyle/>
                    <a:p>
                      <a:r>
                        <a:rPr sz="1100"/>
                        <a:t>Support</a:t>
                      </a:r>
                    </a:p>
                  </a:txBody>
                  <a:tcPr>
                    <a:solidFill>
                      <a:srgbClr val="E7E6E6"/>
                    </a:solidFill>
                  </a:tcPr>
                </a:tc>
                <a:tc>
                  <a:txBody>
                    <a:bodyPr/>
                    <a:lstStyle/>
                    <a:p>
                      <a:r>
                        <a:rPr sz="1100"/>
                        <a:t>$18,000</a:t>
                      </a:r>
                    </a:p>
                  </a:txBody>
                  <a:tcPr>
                    <a:solidFill>
                      <a:srgbClr val="E7E6E6"/>
                    </a:solidFill>
                  </a:tcPr>
                </a:tc>
                <a:tc>
                  <a:txBody>
                    <a:bodyPr/>
                    <a:lstStyle/>
                    <a:p>
                      <a:r>
                        <a:rPr sz="1100"/>
                        <a:t>$0</a:t>
                      </a:r>
                    </a:p>
                  </a:txBody>
                  <a:tcPr>
                    <a:solidFill>
                      <a:srgbClr val="E7E6E6"/>
                    </a:solidFill>
                  </a:tcPr>
                </a:tc>
                <a:tc>
                  <a:txBody>
                    <a:bodyPr/>
                    <a:lstStyle/>
                    <a:p>
                      <a:r>
                        <a:rPr sz="1100"/>
                        <a:t>$18,000</a:t>
                      </a:r>
                    </a:p>
                  </a:txBody>
                  <a:tcPr>
                    <a:solidFill>
                      <a:srgbClr val="E7E6E6"/>
                    </a:solidFill>
                  </a:tcPr>
                </a:tc>
                <a:tc>
                  <a:txBody>
                    <a:bodyPr/>
                    <a:lstStyle/>
                    <a:p>
                      <a:r>
                        <a:rPr sz="1100"/>
                        <a:t>$18,000</a:t>
                      </a:r>
                    </a:p>
                  </a:txBody>
                  <a:tcPr>
                    <a:solidFill>
                      <a:srgbClr val="E7E6E6"/>
                    </a:solidFill>
                  </a:tcPr>
                </a:tc>
                <a:tc>
                  <a:txBody>
                    <a:bodyPr/>
                    <a:lstStyle/>
                    <a:p>
                      <a:r>
                        <a:rPr sz="1100"/>
                        <a:t>$18,000</a:t>
                      </a:r>
                    </a:p>
                  </a:txBody>
                  <a:tcPr>
                    <a:solidFill>
                      <a:srgbClr val="E7E6E6"/>
                    </a:solidFill>
                  </a:tcPr>
                </a:tc>
                <a:tc>
                  <a:txBody>
                    <a:bodyPr/>
                    <a:lstStyle/>
                    <a:p>
                      <a:r>
                        <a:rPr sz="1100"/>
                        <a:t>$54,000</a:t>
                      </a:r>
                    </a:p>
                  </a:txBody>
                  <a:tcPr>
                    <a:solidFill>
                      <a:srgbClr val="E7E6E6"/>
                    </a:solidFill>
                  </a:tcPr>
                </a:tc>
              </a:tr>
              <a:tr h="370840">
                <a:tc>
                  <a:txBody>
                    <a:bodyPr/>
                    <a:lstStyle/>
                    <a:p>
                      <a:r>
                        <a:rPr b="1" sz="1100"/>
                        <a:t>TOTAL</a:t>
                      </a:r>
                    </a:p>
                  </a:txBody>
                  <a:tcPr>
                    <a:solidFill>
                      <a:srgbClr val="E7E6E6"/>
                    </a:solidFill>
                  </a:tcPr>
                </a:tc>
                <a:tc>
                  <a:txBody>
                    <a:bodyPr/>
                    <a:lstStyle/>
                    <a:p>
                      <a:r>
                        <a:rPr b="1" sz="1100"/>
                        <a:t>$333,100</a:t>
                      </a:r>
                    </a:p>
                  </a:txBody>
                  <a:tcPr>
                    <a:solidFill>
                      <a:srgbClr val="E7E6E6"/>
                    </a:solidFill>
                  </a:tcPr>
                </a:tc>
                <a:tc>
                  <a:txBody>
                    <a:bodyPr/>
                    <a:lstStyle/>
                    <a:p>
                      <a:r>
                        <a:rPr b="1" sz="1100"/>
                        <a:t>($20,000)</a:t>
                      </a:r>
                    </a:p>
                  </a:txBody>
                  <a:tcPr>
                    <a:solidFill>
                      <a:srgbClr val="E7E6E6"/>
                    </a:solidFill>
                  </a:tcPr>
                </a:tc>
                <a:tc>
                  <a:txBody>
                    <a:bodyPr/>
                    <a:lstStyle/>
                    <a:p>
                      <a:r>
                        <a:rPr b="1" sz="1100"/>
                        <a:t>$313,100</a:t>
                      </a:r>
                    </a:p>
                  </a:txBody>
                  <a:tcPr>
                    <a:solidFill>
                      <a:srgbClr val="E7E6E6"/>
                    </a:solidFill>
                  </a:tcPr>
                </a:tc>
                <a:tc>
                  <a:txBody>
                    <a:bodyPr/>
                    <a:lstStyle/>
                    <a:p>
                      <a:r>
                        <a:rPr b="1" sz="1100"/>
                        <a:t>$128,000</a:t>
                      </a:r>
                    </a:p>
                  </a:txBody>
                  <a:tcPr>
                    <a:solidFill>
                      <a:srgbClr val="E7E6E6"/>
                    </a:solidFill>
                  </a:tcPr>
                </a:tc>
                <a:tc>
                  <a:txBody>
                    <a:bodyPr/>
                    <a:lstStyle/>
                    <a:p>
                      <a:r>
                        <a:rPr b="1" sz="1100"/>
                        <a:t>$128,000</a:t>
                      </a:r>
                    </a:p>
                  </a:txBody>
                  <a:tcPr>
                    <a:solidFill>
                      <a:srgbClr val="E7E6E6"/>
                    </a:solidFill>
                  </a:tcPr>
                </a:tc>
                <a:tc>
                  <a:txBody>
                    <a:bodyPr/>
                    <a:lstStyle/>
                    <a:p>
                      <a:r>
                        <a:rPr b="1" sz="1100"/>
                        <a:t>$569,100</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Cisco DNA Center Network Analytics</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Next Steps</a:t>
            </a:r>
          </a:p>
        </p:txBody>
      </p:sp>
      <p:sp>
        <p:nvSpPr>
          <p:cNvPr id="4" name="Text Placeholder 3"/>
          <p:cNvSpPr>
            <a:spLocks noGrp="1"/>
          </p:cNvSpPr>
          <p:nvPr>
            <p:ph type="body" idx="14" sz="quarter"/>
          </p:nvPr>
        </p:nvSpPr>
        <p:spPr/>
        <p:txBody>
          <a:bodyPr/>
          <a:lstStyle/>
          <a:p>
            <a:pPr/>
            <a:r>
              <a:rPr b="1"/>
              <a:t>Decision:</a:t>
            </a:r>
            <a:r>
              <a:t> Executive approval for $313K Year 1 investment by [specific date]</a:t>
            </a:r>
          </a:p>
          <a:p>
            <a:pPr/>
            <a:r>
              <a:rPr b="1"/>
              <a:t>Hardware Procurement:</a:t>
            </a:r>
            <a:r>
              <a:t> Order DNA Center appliances (4-6 week lead time) with data center preparation</a:t>
            </a:r>
          </a:p>
          <a:p>
            <a:pPr/>
            <a:r>
              <a:rPr b="1"/>
              <a:t>Team Formation:</a:t>
            </a:r>
            <a:r>
              <a:t> Assign technical lead, project team, and secure implementation resources</a:t>
            </a:r>
          </a:p>
          <a:p>
            <a:pPr/>
            <a:r>
              <a:rPr b="1"/>
              <a:t>Week 1-4:</a:t>
            </a:r>
            <a:r>
              <a:t> Discovery phase with network assessment, policy design, and stakeholder workshops</a:t>
            </a:r>
          </a:p>
          <a:p>
            <a:pPr/>
            <a:r>
              <a:rPr b="1"/>
              <a:t>Week 5-16:</a:t>
            </a:r>
            <a:r>
              <a:t> Full deployment with pilot validation, enterprise rollout, training, and operational handoff</a:t>
            </a:r>
          </a:p>
        </p:txBody>
      </p:sp>
      <p:sp>
        <p:nvSpPr>
          <p:cNvPr id="5" name="Text Placeholder 4"/>
          <p:cNvSpPr>
            <a:spLocks noGrp="1"/>
          </p:cNvSpPr>
          <p:nvPr>
            <p:ph type="body" idx="15" sz="quarter"/>
          </p:nvPr>
        </p:nvSpPr>
        <p:spPr/>
        <p:txBody>
          <a:bodyPr/>
          <a:lstStyle/>
          <a:p>
            <a:pPr algn="r">
              <a:buNone/>
            </a:pPr>
            <a:r>
              <a:rPr sz="1100">
                <a:solidFill>
                  <a:srgbClr val="CC0000"/>
                </a:solidFill>
              </a:rPr>
              <a:t>Cisco DNA Center Network Analytics</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Thank You</a:t>
            </a:r>
          </a:p>
        </p:txBody>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2" y="4536078"/>
            <a:ext cx="2164114"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439</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84</cp:revision>
  <dcterms:created xsi:type="dcterms:W3CDTF">2025-11-01T21:16:10Z</dcterms:created>
  <dcterms:modified xsi:type="dcterms:W3CDTF">2025-11-22T19:37:42Z</dcterms:modified>
</cp:coreProperties>
</file>