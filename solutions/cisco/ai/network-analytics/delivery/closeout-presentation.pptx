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Cisco DNA Center Network Analytics implementation. This project has transformed [Client Name]'s network operations from reactive troubleshooting to AI-powered proactive management.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- 16 Weeks:**</a:t>
            </a:r>
          </a:p>
          <a:p>
            <a:r>
              <a:t>- Executed exactly as planned in the Statement of Work</a:t>
            </a:r>
          </a:p>
          <a:p>
            <a:r>
              <a:t>- Phase 1 (Weeks 1-4): DNA Center deployed, 50 pilot devices onboarded</a:t>
            </a:r>
          </a:p>
          <a:p>
            <a:r>
              <a:t>- Phase 2 (Weeks 5-8): Full 200 devices onboarded, AI analytics operational</a:t>
            </a:r>
          </a:p>
          <a:p>
            <a:r>
              <a:t>- Phase 3 (Weeks 9-12): Application monitoring, ServiceNow/NetBox integrations</a:t>
            </a:r>
          </a:p>
          <a:p>
            <a:r>
              <a:t>- Phase 4 (Weeks 13-16): Validation, training (32 hours), operational handoff</a:t>
            </a:r>
          </a:p>
          <a:p>
            <a:r>
              <a:t>- No schedule slippage despite integration complexity</a:t>
            </a:r>
          </a:p>
          <a:p/>
          <a:p>
            <a:r>
              <a:t>**Budget - $228,000 Year 1:**</a:t>
            </a:r>
          </a:p>
          <a:p>
            <a:r>
              <a:t>- Hardware: $120,000 (DNA Center primary + HA appliances)</a:t>
            </a:r>
          </a:p>
          <a:p>
            <a:r>
              <a:t>- Software Licenses: $90,000 (after $20,000 DNA license promotion credit)</a:t>
            </a:r>
          </a:p>
          <a:p>
            <a:r>
              <a:t>- Support &amp; Maintenance: $18,000</a:t>
            </a:r>
          </a:p>
          <a:p>
            <a:r>
              <a:t>- Annual recurring cost: $128,000/year for Years 2-3</a:t>
            </a:r>
          </a:p>
          <a:p>
            <a:r>
              <a:t>- 3-Year TCO: $484,000</a:t>
            </a:r>
          </a:p>
          <a:p/>
          <a:p>
            <a:r>
              <a:t>**Go-Live - Week 16:**</a:t>
            </a:r>
          </a:p>
          <a:p>
            <a:r>
              <a:t>- Phased rollout approach validated with pilot first</a:t>
            </a:r>
          </a:p>
          <a:p>
            <a:r>
              <a:t>- 50 devices in Week 4 proved approach before full rollout</a:t>
            </a:r>
          </a:p>
          <a:p>
            <a:r>
              <a:t>- All 200 devices under AI management by Week 8</a:t>
            </a:r>
          </a:p>
          <a:p>
            <a:r>
              <a:t>- Zero rollback events required during deployment</a:t>
            </a:r>
          </a:p>
          <a:p/>
          <a:p>
            <a:r>
              <a:t>**Quality - Zero Critical Defects:**</a:t>
            </a:r>
          </a:p>
          <a:p>
            <a:r>
              <a:t>- 38 test cases executed, 100% pass rate</a:t>
            </a:r>
          </a:p>
          <a:p>
            <a:r>
              <a:t>- No P1 or P2 defects at go-live</a:t>
            </a:r>
          </a:p>
          <a:p>
            <a:r>
              <a:t>- Policy automation tested with staged enforcement</a:t>
            </a:r>
          </a:p>
          <a:p>
            <a:r>
              <a:t>- Security validation completed by client security team</a:t>
            </a:r>
          </a:p>
          <a:p/>
          <a:p>
            <a:r>
              <a:t>**MTTR Reduction - 78%:**</a:t>
            </a:r>
          </a:p>
          <a:p>
            <a:r>
              <a:t>- Baseline (manual troubleshooting): 4-6 hours per incident</a:t>
            </a:r>
          </a:p>
          <a:p>
            <a:r>
              <a:t>- Current (AI-assisted): Under 1 hour average</a:t>
            </a:r>
          </a:p>
          <a:p>
            <a:r>
              <a:t>- Root cause analysis now automated with AI insights</a:t>
            </a:r>
          </a:p>
          <a:p>
            <a:r>
              <a:t>- Predictive alerts detecting failures 14 days in advance</a:t>
            </a:r>
          </a:p>
          <a:p/>
          <a:p>
            <a:r>
              <a:t>**Network Uptime - 99.91%:**</a:t>
            </a:r>
          </a:p>
          <a:p>
            <a:r>
              <a:t>- Target was 99.9% availability</a:t>
            </a:r>
          </a:p>
          <a:p>
            <a:r>
              <a:t>- DNA Center HA configuration provides controller redundancy</a:t>
            </a:r>
          </a:p>
          <a:p>
            <a:r>
              <a:t>- Automated remediation handling routine issues</a:t>
            </a:r>
          </a:p>
          <a:p>
            <a:r>
              <a:t>- Proactive maintenance preventing unplanned outages</a:t>
            </a:r>
          </a:p>
          <a:p/>
          <a:p>
            <a:r>
              <a:t>**ROI - 18-Month Payback:**</a:t>
            </a:r>
          </a:p>
          <a:p>
            <a:r>
              <a:t>- Annual operational savings: $180,000 (60% reduction in management overhead)</a:t>
            </a:r>
          </a:p>
          <a:p>
            <a:r>
              <a:t>- Downtime avoidance: $120,000/year (based on 90% reduction in unplanned outages)</a:t>
            </a:r>
          </a:p>
          <a:p>
            <a:r>
              <a:t>- Total Year 1 benefit: $300,000 vs $228,000 investment</a:t>
            </a:r>
          </a:p>
          <a:p>
            <a:r>
              <a:t>- 3-year projected savings: $900,000 vs $484,000 TCO</a:t>
            </a:r>
          </a:p>
          <a:p/>
          <a:p>
            <a:r>
              <a:t>*Transition to Next Slide:*</a:t>
            </a:r>
          </a:p>
          <a:p>
            <a:r>
              <a:t>"Let me walk you through exactly what we built together..."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architecture we deployed. Let me walk through the key components..."</a:t>
            </a:r>
          </a:p>
          <a:p/>
          <a:p>
            <a:r>
              <a:t>**Management Platform - DNA Center:**</a:t>
            </a:r>
          </a:p>
          <a:p>
            <a:r>
              <a:t>- Primary DN2-HW-APL appliance (200-device capacity)</a:t>
            </a:r>
          </a:p>
          <a:p>
            <a:r>
              <a:t>- Secondary DN2-HW-APL for high availability with automatic failover</a:t>
            </a:r>
          </a:p>
          <a:p>
            <a:r>
              <a:t>- 32 vCPU, 256 GB RAM per appliance</a:t>
            </a:r>
          </a:p>
          <a:p>
            <a:r>
              <a:t>- Deployed in client data center with redundant power and network</a:t>
            </a:r>
          </a:p>
          <a:p>
            <a:r>
              <a:t>- DNA Advantage licensing with AI Analytics subscription</a:t>
            </a:r>
          </a:p>
          <a:p/>
          <a:p>
            <a:r>
              <a:t>**Device Coverage:**</a:t>
            </a:r>
          </a:p>
          <a:p>
            <a:r>
              <a:t>- 200 network devices under management as scoped in SOW</a:t>
            </a:r>
          </a:p>
          <a:p>
            <a:r>
              <a:t>- Campus switches: 120 Catalyst 9000 series</a:t>
            </a:r>
          </a:p>
          <a:p>
            <a:r>
              <a:t>- Branch routers: 50 ISR 4000 series</a:t>
            </a:r>
          </a:p>
          <a:p>
            <a:r>
              <a:t>- Wireless controllers: 10 Catalyst 9800 series</a:t>
            </a:r>
          </a:p>
          <a:p>
            <a:r>
              <a:t>- Data center switches: 20 Nexus 9000 series</a:t>
            </a:r>
          </a:p>
          <a:p/>
          <a:p>
            <a:r>
              <a:t>**AI Network Analytics Capabilities:**</a:t>
            </a:r>
          </a:p>
          <a:p>
            <a:r>
              <a:t>- Anomaly detection identifying unusual device or network behavior</a:t>
            </a:r>
          </a:p>
          <a:p>
            <a:r>
              <a:t>- Predictive insights providing 14-day advance warning for failures</a:t>
            </a:r>
          </a:p>
          <a:p>
            <a:r>
              <a:t>- Performance baselines automatically established and monitored</a:t>
            </a:r>
          </a:p>
          <a:p>
            <a:r>
              <a:t>- Root cause analysis for accelerated troubleshooting</a:t>
            </a:r>
          </a:p>
          <a:p>
            <a:r>
              <a:t>- Currently achieving 78% MTTR reduction vs 75% target</a:t>
            </a:r>
          </a:p>
          <a:p/>
          <a:p>
            <a:r>
              <a:t>**Zero-Touch Provisioning:**</a:t>
            </a:r>
          </a:p>
          <a:p>
            <a:r>
              <a:t>- PnP (Plug and Play) configuration for new device deployment</a:t>
            </a:r>
          </a:p>
          <a:p>
            <a:r>
              <a:t>- Template-based provisioning reducing 4-hour manual config to 15 minutes</a:t>
            </a:r>
          </a:p>
          <a:p>
            <a:r>
              <a:t>- VLAN, ACL, and compliance policies automated</a:t>
            </a:r>
          </a:p>
          <a:p>
            <a:r>
              <a:t>- 85% reduction in configuration errors through automation</a:t>
            </a:r>
          </a:p>
          <a:p/>
          <a:p>
            <a:r>
              <a:t>**Integration Layer - 2 Integrations Delivered:**</a:t>
            </a:r>
          </a:p>
          <a:p>
            <a:r>
              <a:t>- ServiceNow Integration:</a:t>
            </a:r>
          </a:p>
          <a:p>
            <a:r>
              <a:t>  - Automated ticket creation for network issues</a:t>
            </a:r>
          </a:p>
          <a:p>
            <a:r>
              <a:t>  - Priority classification based on AI severity assessment</a:t>
            </a:r>
          </a:p>
          <a:p>
            <a:r>
              <a:t>  - Bi-directional status updates</a:t>
            </a:r>
          </a:p>
          <a:p>
            <a:r>
              <a:t>  - ~50 tickets created automatically in first month</a:t>
            </a:r>
          </a:p>
          <a:p>
            <a:r>
              <a:t>- NetBox IPAM Integration:</a:t>
            </a:r>
          </a:p>
          <a:p>
            <a:r>
              <a:t>  - Device inventory synchronization</a:t>
            </a:r>
          </a:p>
          <a:p>
            <a:r>
              <a:t>  - IP address management coordination</a:t>
            </a:r>
          </a:p>
          <a:p>
            <a:r>
              <a:t>  - Real-time inventory updates</a:t>
            </a:r>
          </a:p>
          <a:p>
            <a:r>
              <a:t>  - Single source of truth for network data</a:t>
            </a:r>
          </a:p>
          <a:p/>
          <a:p>
            <a:r>
              <a:t>**Active Directory Integration:**</a:t>
            </a:r>
          </a:p>
          <a:p>
            <a:r>
              <a:t>- LDAP authentication for DNA Center administrators</a:t>
            </a:r>
          </a:p>
          <a:p>
            <a:r>
              <a:t>- Role-based access control (RBAC) with 2 roles (admin + viewer)</a:t>
            </a:r>
          </a:p>
          <a:p>
            <a:r>
              <a:t>- 10 network administrators with appropriate access levels</a:t>
            </a:r>
          </a:p>
          <a:p>
            <a:r>
              <a:t>- Multi-factor authentication enabled for privileged access</a:t>
            </a:r>
          </a:p>
          <a:p/>
          <a:p>
            <a:r>
              <a:t>**Key Architecture Decisions:**</a:t>
            </a:r>
          </a:p>
          <a:p>
            <a:r>
              <a:t>1. HA deployment for DNA Center (controller redundancy)</a:t>
            </a:r>
          </a:p>
          <a:p>
            <a:r>
              <a:t>2. Single data center deployment as per SOW scope</a:t>
            </a:r>
          </a:p>
          <a:p>
            <a:r>
              <a:t>3. NETCONF/RESTCONF for device communication (IOS-XE 16.12+)</a:t>
            </a:r>
          </a:p>
          <a:p>
            <a:r>
              <a:t>4. VPC endpoints for secure AWS integration (if applicable)</a:t>
            </a:r>
          </a:p>
          <a:p/>
          <a:p>
            <a:r>
              <a:t>**Scalability Characteristics:**</a:t>
            </a:r>
          </a:p>
          <a:p>
            <a:r>
              <a:t>- Current: 200 devices (as scoped)</a:t>
            </a:r>
          </a:p>
          <a:p>
            <a:r>
              <a:t>- Capacity: Can scale to 500+ devices with current hardware</a:t>
            </a:r>
          </a:p>
          <a:p>
            <a:r>
              <a:t>- No infrastructure changes needed for growth to 500 devices</a:t>
            </a:r>
          </a:p>
          <a:p>
            <a:r>
              <a:t>- Large deployment option available for 500+ devices</a:t>
            </a:r>
          </a:p>
          <a:p/>
          <a:p>
            <a:r>
              <a:t>*Transition:*</a:t>
            </a:r>
          </a:p>
          <a:p>
            <a:r>
              <a:t>"Now let me show you the complete deliverables package we're handing over..."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Network Assessment Report:**</a:t>
            </a:r>
          </a:p>
          <a:p>
            <a:r>
              <a:t>- Complete inventory of all 200 devices with compatibility status</a:t>
            </a:r>
          </a:p>
          <a:p>
            <a:r>
              <a:t>- IOS-XE version validation (16.12+ required for DNA Center)</a:t>
            </a:r>
          </a:p>
          <a:p>
            <a:r>
              <a:t>- Device upgrade recommendations where needed</a:t>
            </a:r>
          </a:p>
          <a:p>
            <a:r>
              <a:t>- Network topology documentation with diagrams</a:t>
            </a:r>
          </a:p>
          <a:p>
            <a:r>
              <a:t>- Reviewed and accepted by Network Lead on [Date]</a:t>
            </a:r>
          </a:p>
          <a:p/>
          <a:p>
            <a:r>
              <a:t>**2. Detailed Design Document:**</a:t>
            </a:r>
          </a:p>
          <a:p>
            <a:r>
              <a:t>- 35+ pages comprehensive technical documentation</a:t>
            </a:r>
          </a:p>
          <a:p>
            <a:r>
              <a:t>- DNA Center configuration specifications</a:t>
            </a:r>
          </a:p>
          <a:p>
            <a:r>
              <a:t>- AI Analytics and assurance setup procedures</a:t>
            </a:r>
          </a:p>
          <a:p>
            <a:r>
              <a:t>- Policy framework design for automation</a:t>
            </a:r>
          </a:p>
          <a:p>
            <a:r>
              <a:t>- Integration architecture for ServiceNow and NetBox</a:t>
            </a:r>
          </a:p>
          <a:p>
            <a:r>
              <a:t>- Security controls and compliance mapping</a:t>
            </a:r>
          </a:p>
          <a:p>
            <a:r>
              <a:t>- Living document - recommend annual review</a:t>
            </a:r>
          </a:p>
          <a:p/>
          <a:p>
            <a:r>
              <a:t>**3. Implementation Guide:**</a:t>
            </a:r>
          </a:p>
          <a:p>
            <a:r>
              <a:t>- Step-by-step deployment procedures</a:t>
            </a:r>
          </a:p>
          <a:p>
            <a:r>
              <a:t>- Prerequisites checklist (rack space, power, network)</a:t>
            </a:r>
          </a:p>
          <a:p>
            <a:r>
              <a:t>- DNA Center installation and configuration</a:t>
            </a:r>
          </a:p>
          <a:p>
            <a:r>
              <a:t>- Device onboarding procedures (PnP and manual)</a:t>
            </a:r>
          </a:p>
          <a:p>
            <a:r>
              <a:t>- Integration configuration guides</a:t>
            </a:r>
          </a:p>
          <a:p>
            <a:r>
              <a:t>- Validated by rebuilding test environment from scratch</a:t>
            </a:r>
          </a:p>
          <a:p/>
          <a:p>
            <a:r>
              <a:t>**4. Project Plan:**</a:t>
            </a:r>
          </a:p>
          <a:p>
            <a:r>
              <a:t>- Four worksheets:</a:t>
            </a:r>
          </a:p>
          <a:p>
            <a:r>
              <a:t>  1. Project Timeline - 25+ tasks across 16 weeks</a:t>
            </a:r>
          </a:p>
          <a:p>
            <a:r>
              <a:t>  2. Milestones - 5 major milestones tracked</a:t>
            </a:r>
          </a:p>
          <a:p>
            <a:r>
              <a:t>  3. RACI Matrix - 18 activities with clear ownership</a:t>
            </a:r>
          </a:p>
          <a:p>
            <a:r>
              <a:t>  4. Communications Plan - 11 meeting types defined</a:t>
            </a:r>
          </a:p>
          <a:p>
            <a:r>
              <a:t>- All milestones achieved on schedule</a:t>
            </a:r>
          </a:p>
          <a:p>
            <a:r>
              <a:t>- Final status: 100% complete</a:t>
            </a:r>
          </a:p>
          <a:p/>
          <a:p>
            <a:r>
              <a:t>**5. Test Plan &amp; Results:**</a:t>
            </a:r>
          </a:p>
          <a:p>
            <a:r>
              <a:t>- Three test categories:</a:t>
            </a:r>
          </a:p>
          <a:p>
            <a:r>
              <a:t>  1. Functional Tests - 14 test cases (100% pass)</a:t>
            </a:r>
          </a:p>
          <a:p>
            <a:r>
              <a:t>  2. Non-Functional Tests - 14 test cases (100% pass)</a:t>
            </a:r>
          </a:p>
          <a:p>
            <a:r>
              <a:t>  3. User Acceptance Tests - 10 test cases (100% pass)</a:t>
            </a:r>
          </a:p>
          <a:p>
            <a:r>
              <a:t>- AI analytics validation with real network events</a:t>
            </a:r>
          </a:p>
          <a:p>
            <a:r>
              <a:t>- Integration testing with ServiceNow and NetBox</a:t>
            </a:r>
          </a:p>
          <a:p/>
          <a:p>
            <a:r>
              <a:t>**6. Policy Templates:**</a:t>
            </a:r>
          </a:p>
          <a:p>
            <a:r>
              <a:t>- DNA Center configuration templates:</a:t>
            </a:r>
          </a:p>
          <a:p>
            <a:r>
              <a:t>  - VLAN provisioning templates</a:t>
            </a:r>
          </a:p>
          <a:p>
            <a:r>
              <a:t>  - ACL policy templates</a:t>
            </a:r>
          </a:p>
          <a:p>
            <a:r>
              <a:t>  - Compliance check templates</a:t>
            </a:r>
          </a:p>
          <a:p>
            <a:r>
              <a:t>  - QoS policy templates</a:t>
            </a:r>
          </a:p>
          <a:p>
            <a:r>
              <a:t>- Version controlled and documented</a:t>
            </a:r>
          </a:p>
          <a:p>
            <a:r>
              <a:t>- Enables consistent automation across all devices</a:t>
            </a:r>
          </a:p>
          <a:p/>
          <a:p>
            <a:r>
              <a:t>**7. Operations Runbook:**</a:t>
            </a:r>
          </a:p>
          <a:p>
            <a:r>
              <a:t>- Daily operations checklist</a:t>
            </a:r>
          </a:p>
          <a:p>
            <a:r>
              <a:t>- Dashboard and monitoring guide</a:t>
            </a:r>
          </a:p>
          <a:p>
            <a:r>
              <a:t>- Common troubleshooting scenarios</a:t>
            </a:r>
          </a:p>
          <a:p>
            <a:r>
              <a:t>- Escalation procedures</a:t>
            </a:r>
          </a:p>
          <a:p>
            <a:r>
              <a:t>- Backup and recovery procedures</a:t>
            </a:r>
          </a:p>
          <a:p>
            <a:r>
              <a:t>- AWS service integration procedures</a:t>
            </a:r>
          </a:p>
          <a:p/>
          <a:p>
            <a:r>
              <a:t>**8. Training Materials:**</a:t>
            </a:r>
          </a:p>
          <a:p>
            <a:r>
              <a:t>- Administrator Guide (PDF, 30 pages)</a:t>
            </a:r>
          </a:p>
          <a:p>
            <a:r>
              <a:t>- Network Operations Guide (PDF, 20 pages)</a:t>
            </a:r>
          </a:p>
          <a:p>
            <a:r>
              <a:t>- Video recordings (4 sessions, 32 hours total):</a:t>
            </a:r>
          </a:p>
          <a:p>
            <a:r>
              <a:t>  1. DNA Center administration</a:t>
            </a:r>
          </a:p>
          <a:p>
            <a:r>
              <a:t>  2. AI Analytics and assurance</a:t>
            </a:r>
          </a:p>
          <a:p>
            <a:r>
              <a:t>  3. Policy automation</a:t>
            </a:r>
          </a:p>
          <a:p>
            <a:r>
              <a:t>  4. Troubleshooting with AI insights</a:t>
            </a:r>
          </a:p>
          <a:p>
            <a:r>
              <a:t>- Quick reference cards</a:t>
            </a:r>
          </a:p>
          <a:p/>
          <a:p>
            <a:r>
              <a:t>*Training Sessions Delivered:*</a:t>
            </a:r>
          </a:p>
          <a:p>
            <a:r>
              <a:t>- Administrator Training: 16 hours, 6 participants, 100% completion</a:t>
            </a:r>
          </a:p>
          <a:p>
            <a:r>
              <a:t>- Network Operations Training: 12 hours, 10 participants, 94% competency</a:t>
            </a:r>
          </a:p>
          <a:p>
            <a:r>
              <a:t>- Application Monitoring Training: 4 hours, 4 participants</a:t>
            </a:r>
          </a:p>
          <a:p>
            <a:r>
              <a:t>- Total training hours delivered: 32 hours (as per SOW)</a:t>
            </a:r>
          </a:p>
          <a:p/>
          <a:p>
            <a:r>
              <a:t>*Transition:*</a:t>
            </a:r>
          </a:p>
          <a:p>
            <a:r>
              <a:t>"Let's look at how the solution is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**AI Analytics Metrics - Detailed Breakdown:**</a:t>
            </a:r>
          </a:p>
          <a:p/>
          <a:p>
            <a:r>
              <a:t>*MTTR Reduction: 78%*</a:t>
            </a:r>
          </a:p>
          <a:p>
            <a:r>
              <a:t>- Baseline (manual troubleshooting): 4-6 hours per incident</a:t>
            </a:r>
          </a:p>
          <a:p>
            <a:r>
              <a:t>- Current (AI-assisted): Under 1 hour average</a:t>
            </a:r>
          </a:p>
          <a:p>
            <a:r>
              <a:t>- Root cause analysis automated with natural language explanations</a:t>
            </a:r>
          </a:p>
          <a:p>
            <a:r>
              <a:t>- AI insights reduce diagnostic time from hours to minutes</a:t>
            </a:r>
          </a:p>
          <a:p>
            <a:r>
              <a:t>- Network engineers can focus on resolution rather than investigation</a:t>
            </a:r>
          </a:p>
          <a:p/>
          <a:p>
            <a:r>
              <a:t>*Predictive Accuracy: 89%*</a:t>
            </a:r>
          </a:p>
          <a:p>
            <a:r>
              <a:t>- Failure prediction validated against actual incidents</a:t>
            </a:r>
          </a:p>
          <a:p>
            <a:r>
              <a:t>- 14-day advance warning for device failures (as per SOW)</a:t>
            </a:r>
          </a:p>
          <a:p>
            <a:r>
              <a:t>- Currently predicting failures for:</a:t>
            </a:r>
          </a:p>
          <a:p>
            <a:r>
              <a:t>  - Power supply issues</a:t>
            </a:r>
          </a:p>
          <a:p>
            <a:r>
              <a:t>  - Fan failures</a:t>
            </a:r>
          </a:p>
          <a:p>
            <a:r>
              <a:t>  - Memory degradation</a:t>
            </a:r>
          </a:p>
          <a:p>
            <a:r>
              <a:t>  - Interface errors trending</a:t>
            </a:r>
          </a:p>
          <a:p>
            <a:r>
              <a:t>- 156 potential issues identified and addressed in first 30 days</a:t>
            </a:r>
          </a:p>
          <a:p/>
          <a:p>
            <a:r>
              <a:t>*Anomaly Detection:*</a:t>
            </a:r>
          </a:p>
          <a:p>
            <a:r>
              <a:t>- Baseline established for all 200 devices</a:t>
            </a:r>
          </a:p>
          <a:p>
            <a:r>
              <a:t>- Automatic detection of unusual behavior patterns</a:t>
            </a:r>
          </a:p>
          <a:p>
            <a:r>
              <a:t>- Network performance anomalies identified in real-time</a:t>
            </a:r>
          </a:p>
          <a:p>
            <a:r>
              <a:t>- Security anomalies flagged for investigation</a:t>
            </a:r>
          </a:p>
          <a:p>
            <a:r>
              <a:t>- Correlation across multiple devices for root cause</a:t>
            </a:r>
          </a:p>
          <a:p/>
          <a:p>
            <a:r>
              <a:t>*Auto-remediation: 85%*</a:t>
            </a:r>
          </a:p>
          <a:p>
            <a:r>
              <a:t>- Routine issues resolved without human intervention</a:t>
            </a:r>
          </a:p>
          <a:p>
            <a:r>
              <a:t>- Examples:</a:t>
            </a:r>
          </a:p>
          <a:p>
            <a:r>
              <a:t>  - Port bounce recovery</a:t>
            </a:r>
          </a:p>
          <a:p>
            <a:r>
              <a:t>  - VLAN misconfiguration correction</a:t>
            </a:r>
          </a:p>
          <a:p>
            <a:r>
              <a:t>  - QoS policy enforcement</a:t>
            </a:r>
          </a:p>
          <a:p>
            <a:r>
              <a:t>  - Compliance drift remediation</a:t>
            </a:r>
          </a:p>
          <a:p>
            <a:r>
              <a:t>- Network team notified after resolution</a:t>
            </a:r>
          </a:p>
          <a:p/>
          <a:p>
            <a:r>
              <a:t>**Platform Metrics - Detailed Analysis:**</a:t>
            </a:r>
          </a:p>
          <a:p/>
          <a:p>
            <a:r>
              <a:t>*Network Uptime: 99.91%*</a:t>
            </a:r>
          </a:p>
          <a:p>
            <a:r>
              <a:t>- Target: 99.9% (SOW specification)</a:t>
            </a:r>
          </a:p>
          <a:p>
            <a:r>
              <a:t>- Achieved: 99.91% in first 30 days of operation</a:t>
            </a:r>
          </a:p>
          <a:p>
            <a:r>
              <a:t>- DNA Center HA providing controller redundancy</a:t>
            </a:r>
          </a:p>
          <a:p>
            <a:r>
              <a:t>- No unplanned network outages due to management plane</a:t>
            </a:r>
          </a:p>
          <a:p/>
          <a:p>
            <a:r>
              <a:t>*Device Provisioning: 15 minutes*</a:t>
            </a:r>
          </a:p>
          <a:p>
            <a:r>
              <a:t>- Target: Under 1 hour (75% reduction from 4-hour manual)</a:t>
            </a:r>
          </a:p>
          <a:p>
            <a:r>
              <a:t>- Achieved: 15 minutes average for new device deployment</a:t>
            </a:r>
          </a:p>
          <a:p>
            <a:r>
              <a:t>- Zero-touch provisioning (PnP) configuration</a:t>
            </a:r>
          </a:p>
          <a:p>
            <a:r>
              <a:t>- Template-based deployment with pre-validated configs</a:t>
            </a:r>
          </a:p>
          <a:p>
            <a:r>
              <a:t>- New site deployments now in hours vs weeks</a:t>
            </a:r>
          </a:p>
          <a:p/>
          <a:p>
            <a:r>
              <a:t>*Policy Deployment: 3 minutes for 200 devices*</a:t>
            </a:r>
          </a:p>
          <a:p>
            <a:r>
              <a:t>- Full policy push to all devices in under 5 minutes</a:t>
            </a:r>
          </a:p>
          <a:p>
            <a:r>
              <a:t>- Staged rollout capability for risk mitigation</a:t>
            </a:r>
          </a:p>
          <a:p>
            <a:r>
              <a:t>- Compliance validation automatic post-deployment</a:t>
            </a:r>
          </a:p>
          <a:p>
            <a:r>
              <a:t>- Rollback capability if issues detected</a:t>
            </a:r>
          </a:p>
          <a:p/>
          <a:p>
            <a:r>
              <a:t>**Testing Summary:**</a:t>
            </a:r>
          </a:p>
          <a:p>
            <a:r>
              <a:t>- Test Cases Executed: 38 total</a:t>
            </a:r>
          </a:p>
          <a:p>
            <a:r>
              <a:t>- Pass Rate: 100%</a:t>
            </a:r>
          </a:p>
          <a:p>
            <a:r>
              <a:t>- Test Coverage: 94%</a:t>
            </a:r>
          </a:p>
          <a:p>
            <a:r>
              <a:t>- Critical Defects at Go-Live: 0</a:t>
            </a:r>
          </a:p>
          <a:p/>
          <a:p>
            <a:r>
              <a:t>**Comparison to SOW Targets:**</a:t>
            </a:r>
          </a:p>
          <a:p>
            <a:r>
              <a:t>| Metric | SOW Target | Achieved | Status |</a:t>
            </a:r>
          </a:p>
          <a:p>
            <a:r>
              <a:t>|--------|------------|----------|--------|</a:t>
            </a:r>
          </a:p>
          <a:p>
            <a:r>
              <a:t>| MTTR Reduction | 75% | 78% | Exceeded |</a:t>
            </a:r>
          </a:p>
          <a:p>
            <a:r>
              <a:t>| Network Uptime | 99.9% | 99.91% | Exceeded |</a:t>
            </a:r>
          </a:p>
          <a:p>
            <a:r>
              <a:t>| Device Provisioning | &lt;1 hour | 15 min | Exceeded |</a:t>
            </a:r>
          </a:p>
          <a:p>
            <a:r>
              <a:t>| Config Error Reduction | 85% | 87% | Exceeded |</a:t>
            </a:r>
          </a:p>
          <a:p/>
          <a:p>
            <a:r>
              <a:t>*Transition:*</a:t>
            </a:r>
          </a:p>
          <a:p>
            <a:r>
              <a:t>"These performance improvements translate directly into business value. Let me show you the benefits we're already seeing..."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**MTTR Reduction - 78%:**</a:t>
            </a:r>
          </a:p>
          <a:p/>
          <a:p>
            <a:r>
              <a:t>*Before (Reactive Troubleshooting):*</a:t>
            </a:r>
          </a:p>
          <a:p>
            <a:r>
              <a:t>- Average time per incident: 4-6 hours</a:t>
            </a:r>
          </a:p>
          <a:p>
            <a:r>
              <a:t>- Process: User complaint → Ticket → Assign → Diagnose → Resolve</a:t>
            </a:r>
          </a:p>
          <a:p>
            <a:r>
              <a:t>- Diagnosis involved manual CLI commands across multiple devices</a:t>
            </a:r>
          </a:p>
          <a:p>
            <a:r>
              <a:t>- Root cause often unclear, leading to repeat issues</a:t>
            </a:r>
          </a:p>
          <a:p/>
          <a:p>
            <a:r>
              <a:t>*After (AI-Assisted Operations):*</a:t>
            </a:r>
          </a:p>
          <a:p>
            <a:r>
              <a:t>- Average time per incident: Under 1 hour</a:t>
            </a:r>
          </a:p>
          <a:p>
            <a:r>
              <a:t>- Process: AI detects anomaly → Root cause provided → Targeted fix</a:t>
            </a:r>
          </a:p>
          <a:p>
            <a:r>
              <a:t>- 85% of routine issues auto-remediated</a:t>
            </a:r>
          </a:p>
          <a:p>
            <a:r>
              <a:t>- Network engineers address complex issues with AI insights</a:t>
            </a:r>
          </a:p>
          <a:p/>
          <a:p>
            <a:r>
              <a:t>*Business Impact:*</a:t>
            </a:r>
          </a:p>
          <a:p>
            <a:r>
              <a:t>- Reduced downtime impact on business operations</a:t>
            </a:r>
          </a:p>
          <a:p>
            <a:r>
              <a:t>- Faster restoration of critical applications</a:t>
            </a:r>
          </a:p>
          <a:p>
            <a:r>
              <a:t>- Network team capacity increased for strategic work</a:t>
            </a:r>
          </a:p>
          <a:p/>
          <a:p>
            <a:r>
              <a:t>**Network Uptime - 99.91%:**</a:t>
            </a:r>
          </a:p>
          <a:p/>
          <a:p>
            <a:r>
              <a:t>*Before:*</a:t>
            </a:r>
          </a:p>
          <a:p>
            <a:r>
              <a:t>- Reactive detection (issues found after user complaints)</a:t>
            </a:r>
          </a:p>
          <a:p>
            <a:r>
              <a:t>- Average 2-3 unplanned outages per month</a:t>
            </a:r>
          </a:p>
          <a:p>
            <a:r>
              <a:t>- Each outage impacting business productivity</a:t>
            </a:r>
          </a:p>
          <a:p/>
          <a:p>
            <a:r>
              <a:t>*After:*</a:t>
            </a:r>
          </a:p>
          <a:p>
            <a:r>
              <a:t>- Proactive detection (AI predicts failures 14 days in advance)</a:t>
            </a:r>
          </a:p>
          <a:p>
            <a:r>
              <a:t>- Near-zero unplanned outages in first 30 days</a:t>
            </a:r>
          </a:p>
          <a:p>
            <a:r>
              <a:t>- Planned maintenance during business-approved windows</a:t>
            </a:r>
          </a:p>
          <a:p/>
          <a:p>
            <a:r>
              <a:t>**Operational Efficiency - 62%:**</a:t>
            </a:r>
          </a:p>
          <a:p/>
          <a:p>
            <a:r>
              <a:t>*Cost Comparison:*</a:t>
            </a:r>
          </a:p>
          <a:p/>
          <a:p>
            <a:r>
              <a:t>| Category | Before (Annual) | After (Annual) | Savings |</a:t>
            </a:r>
          </a:p>
          <a:p>
            <a:r>
              <a:t>|----------|-----------------|----------------|---------|</a:t>
            </a:r>
          </a:p>
          <a:p>
            <a:r>
              <a:t>| Network Management Labor | $300,000 | $114,000 | $186,000 |</a:t>
            </a:r>
          </a:p>
          <a:p>
            <a:r>
              <a:t>| Incident Response | $60,000 | $12,000 | $48,000 |</a:t>
            </a:r>
          </a:p>
          <a:p>
            <a:r>
              <a:t>| Overtime | $24,000 | $4,000 | $20,000 |</a:t>
            </a:r>
          </a:p>
          <a:p>
            <a:r>
              <a:t>| **Subtotal Savings** | | | **$254,000** |</a:t>
            </a:r>
          </a:p>
          <a:p>
            <a:r>
              <a:t>| Annual Recurring Cost | | ($128,000) | |</a:t>
            </a:r>
          </a:p>
          <a:p>
            <a:r>
              <a:t>| **Net Annual Savings** | | | **$126,000** |</a:t>
            </a:r>
          </a:p>
          <a:p/>
          <a:p>
            <a:r>
              <a:t>*2 FTEs Reallocated:*</a:t>
            </a:r>
          </a:p>
          <a:p>
            <a:r>
              <a:t>- Previous role: Manual CLI configuration and troubleshooting</a:t>
            </a:r>
          </a:p>
          <a:p>
            <a:r>
              <a:t>- New roles: Strategic network projects, security initiatives</a:t>
            </a:r>
          </a:p>
          <a:p>
            <a:r>
              <a:t>- No layoffs - internal redeployment to higher-value work</a:t>
            </a:r>
          </a:p>
          <a:p/>
          <a:p>
            <a:r>
              <a:t>**ROI Summary:**</a:t>
            </a:r>
          </a:p>
          <a:p/>
          <a:p>
            <a:r>
              <a:t>| Metric | Value |</a:t>
            </a:r>
          </a:p>
          <a:p>
            <a:r>
              <a:t>|--------|-------|</a:t>
            </a:r>
          </a:p>
          <a:p>
            <a:r>
              <a:t>| Total Investment (Year 1) | $228,000 |</a:t>
            </a:r>
          </a:p>
          <a:p>
            <a:r>
              <a:t>| Year 1 Net Savings | $126,000 |</a:t>
            </a:r>
          </a:p>
          <a:p>
            <a:r>
              <a:t>| Year 1 ROI | 55% |</a:t>
            </a:r>
          </a:p>
          <a:p>
            <a:r>
              <a:t>| Payback Period | 18 months |</a:t>
            </a:r>
          </a:p>
          <a:p>
            <a:r>
              <a:t>| 3-Year TCO | $484,000 |</a:t>
            </a:r>
          </a:p>
          <a:p>
            <a:r>
              <a:t>| 3-Year Savings | $378,000 |</a:t>
            </a:r>
          </a:p>
          <a:p>
            <a:r>
              <a:t>| 3-Year Net Benefit | ($106,000) |</a:t>
            </a:r>
          </a:p>
          <a:p/>
          <a:p>
            <a:r>
              <a:t>*Note: ROI improves significantly in Years 2-3 as investment is recovered*</a:t>
            </a:r>
          </a:p>
          <a:p/>
          <a:p>
            <a:r>
              <a:t>*Transition:*</a:t>
            </a:r>
          </a:p>
          <a:p>
            <a:r>
              <a:t>"We learned valuable lessons during this implementation that will help with future phases..."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Pilot with 50 Devices (Weeks 1-4):*</a:t>
            </a:r>
          </a:p>
          <a:p>
            <a:r>
              <a:t>- Started with campus core and distribution switches</a:t>
            </a:r>
          </a:p>
          <a:p>
            <a:r>
              <a:t>- Validated AI analytics accuracy before full rollout</a:t>
            </a:r>
          </a:p>
          <a:p>
            <a:r>
              <a:t>- Built stakeholder confidence with early quick wins</a:t>
            </a:r>
          </a:p>
          <a:p>
            <a:r>
              <a:t>- Identified integration issues early</a:t>
            </a:r>
          </a:p>
          <a:p>
            <a:r>
              <a:t>- Recommendation: Always pilot before enterprise deployment</a:t>
            </a:r>
          </a:p>
          <a:p/>
          <a:p>
            <a:r>
              <a:t>*2. Phased Device Onboarding:*</a:t>
            </a:r>
          </a:p>
          <a:p>
            <a:r>
              <a:t>- Wave 1: 50 devices (pilot validation)</a:t>
            </a:r>
          </a:p>
          <a:p>
            <a:r>
              <a:t>- Wave 2: 100 devices (campus expansion)</a:t>
            </a:r>
          </a:p>
          <a:p>
            <a:r>
              <a:t>- Wave 3: 200 devices (full deployment)</a:t>
            </a:r>
          </a:p>
          <a:p>
            <a:r>
              <a:t>- Each wave validated before proceeding</a:t>
            </a:r>
          </a:p>
          <a:p>
            <a:r>
              <a:t>- Zero rollback events required</a:t>
            </a:r>
          </a:p>
          <a:p/>
          <a:p>
            <a:r>
              <a:t>*3. Weekly Stakeholder Demos:*</a:t>
            </a:r>
          </a:p>
          <a:p>
            <a:r>
              <a:t>- Thursday demos throughout project</a:t>
            </a:r>
          </a:p>
          <a:p>
            <a:r>
              <a:t>- Showed real AI insights and anomaly detection</a:t>
            </a:r>
          </a:p>
          <a:p>
            <a:r>
              <a:t>- Gathered feedback in real-time</a:t>
            </a:r>
          </a:p>
          <a:p>
            <a:r>
              <a:t>- Built organizational buy-in for automation</a:t>
            </a:r>
          </a:p>
          <a:p>
            <a:r>
              <a:t>- Identified policy refinements early</a:t>
            </a:r>
          </a:p>
          <a:p/>
          <a:p>
            <a:r>
              <a:t>**Challenges Overcome - Details:**</a:t>
            </a:r>
          </a:p>
          <a:p/>
          <a:p>
            <a:r>
              <a:t>*1. IOS-XE Upgrades:*</a:t>
            </a:r>
          </a:p>
          <a:p>
            <a:r>
              <a:t>- Challenge: 15 devices below IOS-XE 16.12 minimum</a:t>
            </a:r>
          </a:p>
          <a:p>
            <a:r>
              <a:t>- Impact: DNA Center incompatibility</a:t>
            </a:r>
          </a:p>
          <a:p>
            <a:r>
              <a:t>- Resolution:</a:t>
            </a:r>
          </a:p>
          <a:p>
            <a:r>
              <a:t>  - Coordinated upgrade windows with change management</a:t>
            </a:r>
          </a:p>
          <a:p>
            <a:r>
              <a:t>  - Staged upgrades during maintenance periods</a:t>
            </a:r>
          </a:p>
          <a:p>
            <a:r>
              <a:t>  - All devices upgraded within Week 2</a:t>
            </a:r>
          </a:p>
          <a:p>
            <a:r>
              <a:t>- Future: Include device audit in discovery phase</a:t>
            </a:r>
          </a:p>
          <a:p/>
          <a:p>
            <a:r>
              <a:t>*2. NetBox Data Quality:*</a:t>
            </a:r>
          </a:p>
          <a:p>
            <a:r>
              <a:t>- Challenge: Inconsistent device naming and IP data</a:t>
            </a:r>
          </a:p>
          <a:p>
            <a:r>
              <a:t>- Impact: Initial sync failures</a:t>
            </a:r>
          </a:p>
          <a:p>
            <a:r>
              <a:t>- Resolution:</a:t>
            </a:r>
          </a:p>
          <a:p>
            <a:r>
              <a:t>  - Data cleansing effort (3 days)</a:t>
            </a:r>
          </a:p>
          <a:p>
            <a:r>
              <a:t>  - Established naming standards</a:t>
            </a:r>
          </a:p>
          <a:p>
            <a:r>
              <a:t>  - Automated sync validation</a:t>
            </a:r>
          </a:p>
          <a:p>
            <a:r>
              <a:t>- Result: 99.5% sync accuracy achieved</a:t>
            </a:r>
          </a:p>
          <a:p/>
          <a:p>
            <a:r>
              <a:t>*3. False Positive Tuning:*</a:t>
            </a:r>
          </a:p>
          <a:p>
            <a:r>
              <a:t>- Challenge: Initial alert volume too high</a:t>
            </a:r>
          </a:p>
          <a:p>
            <a:r>
              <a:t>- Impact: Alert fatigue risk</a:t>
            </a:r>
          </a:p>
          <a:p>
            <a:r>
              <a:t>- Resolution:</a:t>
            </a:r>
          </a:p>
          <a:p>
            <a:r>
              <a:t>  - Threshold optimization over 2 weeks</a:t>
            </a:r>
          </a:p>
          <a:p>
            <a:r>
              <a:t>  - Baseline refinement with AI learning</a:t>
            </a:r>
          </a:p>
          <a:p>
            <a:r>
              <a:t>  - Custom alert policies per device type</a:t>
            </a:r>
          </a:p>
          <a:p>
            <a:r>
              <a:t>- Result: False positive rate reduced to 3.2%</a:t>
            </a:r>
          </a:p>
          <a:p/>
          <a:p>
            <a:r>
              <a:t>**Recommendations for Future Enhancement:**</a:t>
            </a:r>
          </a:p>
          <a:p/>
          <a:p>
            <a:r>
              <a:t>*1. SD-Access Fabric (100 Devices):*</a:t>
            </a:r>
          </a:p>
          <a:p>
            <a:r>
              <a:t>- Optional scope item from SOW ready to implement</a:t>
            </a:r>
          </a:p>
          <a:p>
            <a:r>
              <a:t>- TrustSec micro-segmentation for security</a:t>
            </a:r>
          </a:p>
          <a:p>
            <a:r>
              <a:t>- Estimated effort: 4-6 weeks</a:t>
            </a:r>
          </a:p>
          <a:p>
            <a:r>
              <a:t>- Investment: ~$40,000-60,000</a:t>
            </a:r>
          </a:p>
          <a:p/>
          <a:p>
            <a:r>
              <a:t>*2. Wireless Analytics Expansion:*</a:t>
            </a:r>
          </a:p>
          <a:p>
            <a:r>
              <a:t>- Deep-dive into client experience</a:t>
            </a:r>
          </a:p>
          <a:p>
            <a:r>
              <a:t>- Roaming analytics and optimization</a:t>
            </a:r>
          </a:p>
          <a:p>
            <a:r>
              <a:t>- Application-specific wireless QoS</a:t>
            </a:r>
          </a:p>
          <a:p/>
          <a:p>
            <a:r>
              <a:t>*3. SIEM Integration:*</a:t>
            </a:r>
          </a:p>
          <a:p>
            <a:r>
              <a:t>- Unified network and security insights</a:t>
            </a:r>
          </a:p>
          <a:p>
            <a:r>
              <a:t>- Correlation of security events</a:t>
            </a:r>
          </a:p>
          <a:p>
            <a:r>
              <a:t>- Enhanced threat detection</a:t>
            </a:r>
          </a:p>
          <a:p/>
          <a:p>
            <a:r>
              <a:t>**Not Recommended at This Time:**</a:t>
            </a:r>
          </a:p>
          <a:p>
            <a:r>
              <a:t>- Multi-region deployment (single DC meeting requirements)</a:t>
            </a:r>
          </a:p>
          <a:p>
            <a:r>
              <a:t>- Custom ML model development (DNA Center AI sufficient)</a:t>
            </a:r>
          </a:p>
          <a:p>
            <a:r>
              <a:t>- Full SD-WAN integration (separate initiative recommended)</a:t>
            </a:r>
          </a:p>
          <a:p/>
          <a:p>
            <a:r>
              <a:t>*Transition:*</a:t>
            </a:r>
          </a:p>
          <a:p>
            <a:r>
              <a:t>"Let me walk you through how we're transitioning support to your team..."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(4 Weeks Post-Go-Live):**</a:t>
            </a:r>
          </a:p>
          <a:p/>
          <a:p>
            <a:r>
              <a:t>*Daily Activities Completed:*</a:t>
            </a:r>
          </a:p>
          <a:p>
            <a:r>
              <a:t>- Morning health check calls (9am) - first 2 weeks</a:t>
            </a:r>
          </a:p>
          <a:p>
            <a:r>
              <a:t>- DNA Center dashboard review</a:t>
            </a:r>
          </a:p>
          <a:p>
            <a:r>
              <a:t>- AI analytics alert review</a:t>
            </a:r>
          </a:p>
          <a:p>
            <a:r>
              <a:t>- Integration status verification</a:t>
            </a:r>
          </a:p>
          <a:p>
            <a:r>
              <a:t>- Policy compliance monitoring</a:t>
            </a:r>
          </a:p>
          <a:p/>
          <a:p>
            <a:r>
              <a:t>*Issues Resolved During Hypercare:*</a:t>
            </a:r>
          </a:p>
          <a:p/>
          <a:p>
            <a:r>
              <a:t>Issue #1 (P3) - Day 5:</a:t>
            </a:r>
          </a:p>
          <a:p>
            <a:r>
              <a:t>- Problem: NetBox sync timeout on large inventory</a:t>
            </a:r>
          </a:p>
          <a:p>
            <a:r>
              <a:t>- Root cause: API pagination not configured</a:t>
            </a:r>
          </a:p>
          <a:p>
            <a:r>
              <a:t>- Resolution: Enabled pagination, increased timeout</a:t>
            </a:r>
          </a:p>
          <a:p>
            <a:r>
              <a:t>- Prevention: Added to runbook procedures</a:t>
            </a:r>
          </a:p>
          <a:p/>
          <a:p>
            <a:r>
              <a:t>Issue #2 (P3) - Day 12:</a:t>
            </a:r>
          </a:p>
          <a:p>
            <a:r>
              <a:t>- Problem: ServiceNow ticket duplication</a:t>
            </a:r>
          </a:p>
          <a:p>
            <a:r>
              <a:t>- Root cause: Retry logic triggering on slow response</a:t>
            </a:r>
          </a:p>
          <a:p>
            <a:r>
              <a:t>- Resolution: Added deduplication check</a:t>
            </a:r>
          </a:p>
          <a:p>
            <a:r>
              <a:t>- Cost impact: None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DNA Center Admin | Week 14 | 6 IT staff | 8 hours | Yes |</a:t>
            </a:r>
          </a:p>
          <a:p>
            <a:r>
              <a:t>| AI Analytics Operations | Week 15 | 10 ops staff | 8 hours | Yes |</a:t>
            </a:r>
          </a:p>
          <a:p>
            <a:r>
              <a:t>| Policy Automation | Week 15 | 6 network eng | 8 hours | Yes |</a:t>
            </a:r>
          </a:p>
          <a:p>
            <a:r>
              <a:t>| Troubleshooting Workshop | Week 16 | 10 ops staff | 8 hours | Yes |</a:t>
            </a:r>
          </a:p>
          <a:p/>
          <a:p>
            <a:r>
              <a:t>*Runbook Validation:*</a:t>
            </a:r>
          </a:p>
          <a:p>
            <a:r>
              <a:t>- All 12 runbook procedures tested by client network team</a:t>
            </a:r>
          </a:p>
          <a:p>
            <a:r>
              <a:t>- Signed off by Network Lead on [Date]</a:t>
            </a:r>
          </a:p>
          <a:p>
            <a:r>
              <a:t>- Procedures validated:</a:t>
            </a:r>
          </a:p>
          <a:p>
            <a:r>
              <a:t>  1. Daily health check</a:t>
            </a:r>
          </a:p>
          <a:p>
            <a:r>
              <a:t>  2. Device onboarding</a:t>
            </a:r>
          </a:p>
          <a:p>
            <a:r>
              <a:t>  3. Policy deployment</a:t>
            </a:r>
          </a:p>
          <a:p>
            <a:r>
              <a:t>  4. AI alert investigation</a:t>
            </a:r>
          </a:p>
          <a:p>
            <a:r>
              <a:t>  5. Integration troubleshooting</a:t>
            </a:r>
          </a:p>
          <a:p>
            <a:r>
              <a:t>  6. Backup verification</a:t>
            </a:r>
          </a:p>
          <a:p>
            <a:r>
              <a:t>  7. HA failover testing</a:t>
            </a:r>
          </a:p>
          <a:p>
            <a:r>
              <a:t>  8. Performance troubleshooting</a:t>
            </a:r>
          </a:p>
          <a:p>
            <a:r>
              <a:t>  9. Security incident response</a:t>
            </a:r>
          </a:p>
          <a:p>
            <a:r>
              <a:t>  10. User access management</a:t>
            </a:r>
          </a:p>
          <a:p>
            <a:r>
              <a:t>  11. Report generation</a:t>
            </a:r>
          </a:p>
          <a:p>
            <a:r>
              <a:t>  12. Escalation procedures</a:t>
            </a:r>
          </a:p>
          <a:p/>
          <a:p>
            <a:r>
              <a:t>**Steady State Support Model:**</a:t>
            </a:r>
          </a:p>
          <a:p/>
          <a:p>
            <a:r>
              <a:t>*What Client Team Handles (L1/L2):*</a:t>
            </a:r>
          </a:p>
          <a:p>
            <a:r>
              <a:t>- Daily monitoring via DNA Center dashboards</a:t>
            </a:r>
          </a:p>
          <a:p>
            <a:r>
              <a:t>- Device onboarding using templates</a:t>
            </a:r>
          </a:p>
          <a:p>
            <a:r>
              <a:t>- Policy deployment and compliance</a:t>
            </a:r>
          </a:p>
          <a:p>
            <a:r>
              <a:t>- Basic troubleshooting (per runbook)</a:t>
            </a:r>
          </a:p>
          <a:p>
            <a:r>
              <a:t>- Monthly performance review</a:t>
            </a:r>
          </a:p>
          <a:p>
            <a:r>
              <a:t>- AI alert investigation</a:t>
            </a:r>
          </a:p>
          <a:p/>
          <a:p>
            <a:r>
              <a:t>*When to Escalate to Cisco TAC (L3):*</a:t>
            </a:r>
          </a:p>
          <a:p>
            <a:r>
              <a:t>- DNA Center platform issues</a:t>
            </a:r>
          </a:p>
          <a:p>
            <a:r>
              <a:t>- AI model accuracy degradation</a:t>
            </a:r>
          </a:p>
          <a:p>
            <a:r>
              <a:t>- Hardware failures</a:t>
            </a:r>
          </a:p>
          <a:p>
            <a:r>
              <a:t>- Software upgrades</a:t>
            </a:r>
          </a:p>
          <a:p>
            <a:r>
              <a:t>- Complex troubleshooting beyond runbook</a:t>
            </a:r>
          </a:p>
          <a:p/>
          <a:p>
            <a:r>
              <a:t>**Support Contact Information:**</a:t>
            </a:r>
          </a:p>
          <a:p/>
          <a:p>
            <a:r>
              <a:t>| Role | Name | Email | Phone | Availability |</a:t>
            </a:r>
          </a:p>
          <a:p>
            <a:r>
              <a:t>|------|------|-------|-------|--------------|</a:t>
            </a:r>
          </a:p>
          <a:p>
            <a:r>
              <a:t>| Network Lead | [Name] | [email] | [phone] | Business hours |</a:t>
            </a:r>
          </a:p>
          <a:p>
            <a:r>
              <a:t>| NOC Manager | [Name] | [email] | [phone] | Business hours |</a:t>
            </a:r>
          </a:p>
          <a:p>
            <a:r>
              <a:t>| Cisco TAC | Smart Net | [contract#] | [phone] | 24/7 |</a:t>
            </a:r>
          </a:p>
          <a:p>
            <a:r>
              <a:t>| Vendor Support | Support Team | support@vendor.com | 555-xxx-xxxx | Per contract |</a:t>
            </a:r>
          </a:p>
          <a:p/>
          <a:p>
            <a:r>
              <a:t>*Transition:*</a:t>
            </a:r>
          </a:p>
          <a:p>
            <a:r>
              <a:t>"Let me acknowledge the team that made this possible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AI-powered network transformation</a:t>
            </a:r>
          </a:p>
          <a:p>
            <a:r>
              <a:t>- Secured budget and organizational support</a:t>
            </a:r>
          </a:p>
          <a:p>
            <a:r>
              <a:t>- Removed blockers when escalated</a:t>
            </a:r>
          </a:p>
          <a:p>
            <a:r>
              <a:t>- Key decision: Approved phased deployment approach</a:t>
            </a:r>
          </a:p>
          <a:p/>
          <a:p>
            <a:r>
              <a:t>*Network Lead - [Name]:*</a:t>
            </a:r>
          </a:p>
          <a:p>
            <a:r>
              <a:t>- Technical counterpart throughout implementation</a:t>
            </a:r>
          </a:p>
          <a:p>
            <a:r>
              <a:t>- DNA Center configuration validation</a:t>
            </a:r>
          </a:p>
          <a:p>
            <a:r>
              <a:t>- Policy template review and approval</a:t>
            </a:r>
          </a:p>
          <a:p>
            <a:r>
              <a:t>- Knowledge transfer recipient and future owner</a:t>
            </a:r>
          </a:p>
          <a:p/>
          <a:p>
            <a:r>
              <a:t>*Operations Team:*</a:t>
            </a:r>
          </a:p>
          <a:p>
            <a:r>
              <a:t>- Participated in all UAT sessions</a:t>
            </a:r>
          </a:p>
          <a:p>
            <a:r>
              <a:t>- Provided critical feedback during pilot</a:t>
            </a:r>
          </a:p>
          <a:p>
            <a:r>
              <a:t>- Validated AI analytics accuracy</a:t>
            </a:r>
          </a:p>
          <a:p>
            <a:r>
              <a:t>- Transitioned to DNA Center operations</a:t>
            </a:r>
          </a:p>
          <a:p/>
          <a:p>
            <a:r>
              <a:t>*Security Team - [Name]:*</a:t>
            </a:r>
          </a:p>
          <a:p>
            <a:r>
              <a:t>- Security policy approval</a:t>
            </a:r>
          </a:p>
          <a:p>
            <a:r>
              <a:t>- Compliance validation</a:t>
            </a:r>
          </a:p>
          <a:p>
            <a:r>
              <a:t>- TrustSec planning for SD-Access</a:t>
            </a:r>
          </a:p>
          <a:p/>
          <a:p>
            <a:r>
              <a:t>**Vendor Team Recognition:**</a:t>
            </a:r>
          </a:p>
          <a:p/>
          <a:p>
            <a:r>
              <a:t>*EO Project Manager - [Name]:*</a:t>
            </a:r>
          </a:p>
          <a:p>
            <a:r>
              <a:t>- Overall delivery accountability</a:t>
            </a:r>
          </a:p>
          <a:p>
            <a:r>
              <a:t>- Stakeholder communication</a:t>
            </a:r>
          </a:p>
          <a:p>
            <a:r>
              <a:t>- Risk and issue management</a:t>
            </a:r>
          </a:p>
          <a:p>
            <a:r>
              <a:t>- On-time, on-budget delivery</a:t>
            </a:r>
          </a:p>
          <a:p/>
          <a:p>
            <a:r>
              <a:t>*EO Quarterback - [Name]:*</a:t>
            </a:r>
          </a:p>
          <a:p>
            <a:r>
              <a:t>- DNA Center architecture design</a:t>
            </a:r>
          </a:p>
          <a:p>
            <a:r>
              <a:t>- AI analytics optimization</a:t>
            </a:r>
          </a:p>
          <a:p>
            <a:r>
              <a:t>- Integration design</a:t>
            </a:r>
          </a:p>
          <a:p>
            <a:r>
              <a:t>- Technical documentation</a:t>
            </a:r>
          </a:p>
          <a:p/>
          <a:p>
            <a:r>
              <a:t>*EO Network Engineer - [Name]:*</a:t>
            </a:r>
          </a:p>
          <a:p>
            <a:r>
              <a:t>- DNA Center deployment</a:t>
            </a:r>
          </a:p>
          <a:p>
            <a:r>
              <a:t>- Device onboarding</a:t>
            </a:r>
          </a:p>
          <a:p>
            <a:r>
              <a:t>- Policy configuration</a:t>
            </a:r>
          </a:p>
          <a:p>
            <a:r>
              <a:t>- Training delivery</a:t>
            </a:r>
          </a:p>
          <a:p/>
          <a:p>
            <a:r>
              <a:t>*EO Automation Engineer - [Name]:*</a:t>
            </a:r>
          </a:p>
          <a:p>
            <a:r>
              <a:t>- ServiceNow integration</a:t>
            </a:r>
          </a:p>
          <a:p>
            <a:r>
              <a:t>- NetBox integration</a:t>
            </a:r>
          </a:p>
          <a:p>
            <a:r>
              <a:t>- Policy automation</a:t>
            </a:r>
          </a:p>
          <a:p>
            <a:r>
              <a:t>- Template development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artifacts | PM | [Date] |</a:t>
            </a:r>
          </a:p>
          <a:p>
            <a:r>
              <a:t>| Close project tracking | PM | [Date] |</a:t>
            </a:r>
          </a:p>
          <a:p>
            <a:r>
              <a:t>| Update asset inventory | Network Lead | [Date] |</a:t>
            </a:r>
          </a:p>
          <a:p>
            <a:r>
              <a:t>| Confirm support contacts | Network Lead | [Date]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First monthly performance review | Network Lead | [Date+30] |</a:t>
            </a:r>
          </a:p>
          <a:p>
            <a:r>
              <a:t>| AI analytics trend analysis | Operations Team | [Date+30] |</a:t>
            </a:r>
          </a:p>
          <a:p>
            <a:r>
              <a:t>| Cost optimization review | Network Lead | [Date+30] |</a:t>
            </a:r>
          </a:p>
          <a:p>
            <a:r>
              <a:t>| Identify SD-Access candidates | Network Lead | [Date+30] |</a:t>
            </a:r>
          </a:p>
          <a:p/>
          <a:p>
            <a:r>
              <a:t>**Quarterly Planning (Next Quarter):**</a:t>
            </a:r>
          </a:p>
          <a:p>
            <a:r>
              <a:t>- SD-Access fabric planning workshop</a:t>
            </a:r>
          </a:p>
          <a:p>
            <a:r>
              <a:t>- 100-device fabric scope definition</a:t>
            </a:r>
          </a:p>
          <a:p>
            <a:r>
              <a:t>- TrustSec micro-segmentation design</a:t>
            </a:r>
          </a:p>
          <a:p>
            <a:r>
              <a:t>- Business case development</a:t>
            </a:r>
          </a:p>
          <a:p/>
          <a:p>
            <a:r>
              <a:t>*Transition:*</a:t>
            </a:r>
          </a:p>
          <a:p>
            <a:r>
              <a:t>"Thank you for your partnership on this project. Let me open the floor for questions..."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project. We've successfully transformed network operations from reactive troubleshooting to AI-powered proactive management. DNA Center is exceeding our targets, the team is trained and confident, and you're already seeing measurable operational improvements.</a:t>
            </a:r>
          </a:p>
          <a:p/>
          <a:p>
            <a:r>
              <a:t>I want to open the floor for questions. We have [time] remaining."</a:t>
            </a:r>
          </a:p>
          <a:p/>
          <a:p>
            <a:r>
              <a:t>**Anticipated Questions and Prepared Answers:**</a:t>
            </a:r>
          </a:p>
          <a:p/>
          <a:p>
            <a:r>
              <a:t>*Q: What happens if AI accuracy drops?*</a:t>
            </a:r>
          </a:p>
          <a:p>
            <a:r>
              <a:t>A: DNA Center continuously retrains baselines. If accuracy drops below threshold, alerts trigger. Runbook has procedures for baseline reset and Cisco TAC engagement for persistent issues.</a:t>
            </a:r>
          </a:p>
          <a:p/>
          <a:p>
            <a:r>
              <a:t>*Q: Can we add more devices ourselves?*</a:t>
            </a:r>
          </a:p>
          <a:p>
            <a:r>
              <a:t>A: Yes, the team is trained on device onboarding. For bulk additions (50+ devices), recommend planning session. Current capacity supports up to 500 devices without hardware changes.</a:t>
            </a:r>
          </a:p>
          <a:p/>
          <a:p>
            <a:r>
              <a:t>*Q: What are the ongoing Cisco costs?*</a:t>
            </a:r>
          </a:p>
          <a:p>
            <a:r>
              <a:t>A: Annual recurring cost is $128,000/year covering DNA Advantage licenses for 200 devices plus SmartNet support. This is already budgeted.</a:t>
            </a:r>
          </a:p>
          <a:p/>
          <a:p>
            <a:r>
              <a:t>*Q: How do we handle a surge in network issues?*</a:t>
            </a:r>
          </a:p>
          <a:p>
            <a:r>
              <a:t>A: DNA Center handles scale automatically. AI analytics prioritizes critical issues. Automated remediation handles routine problems. Team focuses on complex issues only.</a:t>
            </a:r>
          </a:p>
          <a:p/>
          <a:p>
            <a:r>
              <a:t>*Q: What if a key team member leaves?*</a:t>
            </a:r>
          </a:p>
          <a:p>
            <a:r>
              <a:t>A: All knowledge is documented in runbooks and training materials. Video recordings of all sessions available. DNA Center templates are version controlled. Recommend cross-training at least two people per function.</a:t>
            </a:r>
          </a:p>
          <a:p/>
          <a:p>
            <a:r>
              <a:t>*Q: Is the platform secure?*</a:t>
            </a:r>
          </a:p>
          <a:p>
            <a:r>
              <a:t>A: Yes. MFA enabled for all administrators. RBAC with least privilege. All management encrypted. CloudTrail-equivalent audit logging. Compliant with client security standards.</a:t>
            </a:r>
          </a:p>
          <a:p/>
          <a:p>
            <a:r>
              <a:t>*Q: When should we start SD-Access?*</a:t>
            </a:r>
          </a:p>
          <a:p>
            <a:r>
              <a:t>A: Recommend waiting 60-90 days to:</a:t>
            </a:r>
          </a:p>
          <a:p>
            <a:r>
              <a:t>1. Establish stable operational patterns</a:t>
            </a:r>
          </a:p>
          <a:p>
            <a:r>
              <a:t>2. Build team confidence with DNA Center</a:t>
            </a:r>
          </a:p>
          <a:p>
            <a:r>
              <a:t>3. Identify priority segments for micro-segmentation</a:t>
            </a:r>
          </a:p>
          <a:p>
            <a:r>
              <a:t>Then schedule planning workshop.</a:t>
            </a:r>
          </a:p>
          <a:p/>
          <a:p>
            <a:r>
              <a:t>**Demo Offer:**</a:t>
            </a:r>
          </a:p>
          <a:p>
            <a:r>
              <a:t>"Would anyone like to see a live demo of AI analytics detecting an anomaly? I can show predictive insights and root cause analysis."</a:t>
            </a:r>
          </a:p>
          <a:p/>
          <a:p>
            <a:r>
              <a:t>**Final Closing:**</a:t>
            </a:r>
          </a:p>
          <a:p>
            <a:r>
              <a:t>"Thank you again for your trust in our team. This project demonstrates what's possible with AI-powered network management. We look forward to continuing this partnership with SD-Access and beyond.</a:t>
            </a:r>
          </a:p>
          <a:p/>
          <a:p>
            <a:r>
              <a:t>Please reach out to me or [Account Manager] if questions arise. Have a great [rest of your day/afternoon]."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DNA Center Network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16 weeks, on schedule</a:t>
            </a:r>
          </a:p>
          <a:p>
            <a:pPr/>
            <a:r>
              <a:rPr b="1"/>
              <a:t>Budget:</a:t>
            </a:r>
            <a:r>
              <a:t> $228,000 Year 1 delivered on budget</a:t>
            </a:r>
          </a:p>
          <a:p>
            <a:pPr/>
            <a:r>
              <a:rPr b="1"/>
              <a:t>Go-Live Date:</a:t>
            </a:r>
            <a:r>
              <a:t> Week 16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MTTR Reduction:</a:t>
            </a:r>
            <a:r>
              <a:t> 78% achieved (target: 75%)</a:t>
            </a:r>
          </a:p>
          <a:p>
            <a:pPr/>
            <a:r>
              <a:rPr b="1"/>
              <a:t>Network Uptime:</a:t>
            </a:r>
            <a:r>
              <a:t> 99.91% (target: 99.9%)</a:t>
            </a:r>
          </a:p>
          <a:p>
            <a:pPr/>
            <a:r>
              <a:rPr b="1"/>
              <a:t>ROI Status:</a:t>
            </a:r>
            <a:r>
              <a:t> On track for 18-month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Management Platform</a:t>
            </a:r>
          </a:p>
          <a:p>
            <a:pPr lvl="1"/>
            <a:r>
              <a:t>DNA Center HA appliances</a:t>
            </a:r>
          </a:p>
          <a:p>
            <a:pPr lvl="1"/>
            <a:r>
              <a:t>200 devices under management</a:t>
            </a:r>
          </a:p>
          <a:p>
            <a:pPr lvl="1"/>
            <a:r>
              <a:t>AI Network Analytics enabled</a:t>
            </a:r>
          </a:p>
          <a:p>
            <a:pPr/>
            <a:r>
              <a:rPr b="1"/>
              <a:t>Automation &amp; Analytics</a:t>
            </a:r>
          </a:p>
          <a:p>
            <a:pPr lvl="1"/>
            <a:r>
              <a:t>Zero-touch provisioning</a:t>
            </a:r>
          </a:p>
          <a:p>
            <a:pPr lvl="1"/>
            <a:r>
              <a:t>Predictive failure detection</a:t>
            </a:r>
          </a:p>
          <a:p>
            <a:pPr lvl="1"/>
            <a:r>
              <a:t>Policy-based automation</a:t>
            </a:r>
          </a:p>
          <a:p>
            <a:pPr/>
            <a:r>
              <a:rPr b="1"/>
              <a:t>Integration</a:t>
            </a:r>
          </a:p>
          <a:p>
            <a:pPr lvl="1"/>
            <a:r>
              <a:t>ServiceNow ITSM integration</a:t>
            </a:r>
          </a:p>
          <a:p>
            <a:pPr lvl="1"/>
            <a:r>
              <a:t>NetBox IPAM synchronization</a:t>
            </a:r>
          </a:p>
          <a:p>
            <a:pPr lvl="1"/>
            <a:r>
              <a:t>Active Directory authentication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Assessment Report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200-device inventory and compatibility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`/delivery/assessment-report.docx`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DNA Center architecture and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 matrix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Validation testing and acceptance criteria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DNA Center automation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`/delivery/scripts/templates/`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Day-2 procedures and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Administrator guides and video recordings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 Analytics Metrics</a:t>
            </a:r>
          </a:p>
          <a:p>
            <a:pPr lvl="1"/>
            <a:r>
              <a:t>MTTR Reduction: 78% (target: 75%)</a:t>
            </a:r>
          </a:p>
          <a:p>
            <a:pPr lvl="1"/>
            <a:r>
              <a:t>Predictive Accuracy: 89% failure prediction</a:t>
            </a:r>
          </a:p>
          <a:p>
            <a:pPr lvl="1"/>
            <a:r>
              <a:t>Anomaly Detection: 14-day advance warning</a:t>
            </a:r>
          </a:p>
          <a:p>
            <a:pPr lvl="1"/>
            <a:r>
              <a:t>Auto-remediation: 85% routine issues</a:t>
            </a:r>
          </a:p>
          <a:p>
            <a:pPr lvl="1"/>
            <a:r>
              <a:t>False Positive Rate: 3.2% (target: &lt;5%)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Platform Metrics</a:t>
            </a:r>
          </a:p>
          <a:p>
            <a:pPr lvl="1"/>
            <a:r>
              <a:t>Network Uptime: 99.91% (target: 99.9%)</a:t>
            </a:r>
          </a:p>
          <a:p>
            <a:pPr lvl="1"/>
            <a:r>
              <a:t>Device Provisioning: 15 min (target: &lt;1 hr)</a:t>
            </a:r>
          </a:p>
          <a:p>
            <a:pPr lvl="1"/>
            <a:r>
              <a:t>Policy Deployment: 3 min for 200 devices</a:t>
            </a:r>
          </a:p>
          <a:p>
            <a:pPr lvl="1"/>
            <a:r>
              <a:t>Dashboard Response: 1.8s (target: &lt;3s)</a:t>
            </a:r>
          </a:p>
          <a:p>
            <a:pPr lvl="1"/>
            <a:r>
              <a:t>Config Error Reduction: 87% (target: 85%)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MTTR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4-6 hrs to under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Uptime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99.91%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Near-zero unplanned outages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Device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hrs to 1 hr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hrs to 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New sites in hours vs weeks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Config Errors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87%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automation consistency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Operational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FTEs reallocated to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Predictive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14-day warning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maintenance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Pilot with 50 devices validated approach</a:t>
            </a:r>
          </a:p>
          <a:p>
            <a:pPr lvl="1"/>
            <a:r>
              <a:t>Phased device onboarding reduced risk</a:t>
            </a:r>
          </a:p>
          <a:p>
            <a:pPr lvl="1"/>
            <a:r>
              <a:t>Weekly stakeholder demos built confidence</a:t>
            </a:r>
          </a:p>
          <a:p>
            <a:pPr lvl="1"/>
            <a:r>
              <a:t>AI analytics exceeded accuracy targets</a:t>
            </a:r>
          </a:p>
          <a:p>
            <a:pPr lvl="1"/>
            <a:r>
              <a:t>ServiceNow integration streamlined ops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IOS-XE upgrades required for 15 devices</a:t>
            </a:r>
          </a:p>
          <a:p>
            <a:pPr lvl="1"/>
            <a:r>
              <a:t>NetBox data quality cleanup needed</a:t>
            </a:r>
          </a:p>
          <a:p>
            <a:pPr lvl="1"/>
            <a:r>
              <a:t>Initial false positive tuning required</a:t>
            </a:r>
          </a:p>
          <a:p>
            <a:pPr lvl="1"/>
            <a:r>
              <a:t>Policy template refinement iterative</a:t>
            </a:r>
          </a:p>
          <a:p>
            <a:pPr lvl="1"/>
            <a:r>
              <a:t>Training schedule coordination complex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to SD-Access fabric (100 devices)</a:t>
            </a:r>
          </a:p>
          <a:p>
            <a:pPr lvl="1"/>
            <a:r>
              <a:t>Add wireless analytics deep-dive</a:t>
            </a:r>
          </a:p>
          <a:p>
            <a:pPr lvl="1"/>
            <a:r>
              <a:t>Implement SIEM integration for security</a:t>
            </a:r>
          </a:p>
          <a:p>
            <a:pPr lvl="1"/>
            <a:r>
              <a:t>Plan for 500-device capacity growth</a:t>
            </a:r>
          </a:p>
          <a:p>
            <a:pPr lvl="1"/>
            <a:r>
              <a:t>Quarterly AI model baseline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(4 weeks)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2 minor issues resolved (P3)</a:t>
            </a:r>
          </a:p>
          <a:p>
            <a:pPr lvl="1"/>
            <a:r>
              <a:t>Knowledge transfer sessions done</a:t>
            </a:r>
          </a:p>
          <a:p>
            <a:pPr lvl="1"/>
            <a:r>
              <a:t>Runbook procedures validated</a:t>
            </a:r>
          </a:p>
          <a:p>
            <a:pPr lvl="1"/>
            <a:r>
              <a:t>Team trained (32 hours total)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Business hours monitoring (8AM-6PM)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optimization checks</a:t>
            </a:r>
          </a:p>
          <a:p>
            <a:pPr lvl="1"/>
            <a:r>
              <a:t>Cisco TAC escalation path</a:t>
            </a:r>
          </a:p>
          <a:p>
            <a:pPr lvl="1"/>
            <a:r>
              <a:t>Documentation fully maintained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Network Help Desk</a:t>
            </a:r>
          </a:p>
          <a:p>
            <a:pPr lvl="1"/>
            <a:r>
              <a:t>L2: Network Operations Team</a:t>
            </a:r>
          </a:p>
          <a:p>
            <a:pPr lvl="1"/>
            <a:r>
              <a:t>L3: Cisco TAC via Smart Net</a:t>
            </a:r>
          </a:p>
          <a:p>
            <a:pPr lvl="1"/>
            <a:r>
              <a:t>Partner: Vendor support (optional)</a:t>
            </a:r>
          </a:p>
          <a:p>
            <a:pPr lvl="1"/>
            <a:r>
              <a:t>Executive: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Executive sponsor, Network Lead, Operations team, Security team</a:t>
            </a:r>
          </a:p>
          <a:p>
            <a:pPr/>
            <a:r>
              <a:rPr b="1"/>
              <a:t>Vendor Team:</a:t>
            </a:r>
            <a:r>
              <a:t> Project manager, Quarterback, Network engineer, Automation engineer</a:t>
            </a:r>
          </a:p>
          <a:p>
            <a:pPr/>
            <a:r>
              <a:rPr b="1"/>
              <a:t>Cisco Team:</a:t>
            </a:r>
            <a:r>
              <a:t> TAC support, Partner enablement, Technical specialists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Monthly performance review, identify SD-Access candidates</a:t>
            </a:r>
          </a:p>
          <a:p>
            <a:pPr/>
            <a:r>
              <a:rPr b="1"/>
              <a:t>Next Quarter:</a:t>
            </a:r>
            <a:r>
              <a:t> SD-Access planning workshop for 100-device fabric expansion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