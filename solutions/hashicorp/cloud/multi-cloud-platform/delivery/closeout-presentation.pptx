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*Opening Statement:*</a:t>
            </a:r>
          </a:p>
          <a:p>
            <a:r>
              <a:t>Good [morning/afternoon]. Today we're celebrating the successful completion of the HashiCorp Multi-Cloud Platform implementation. This project has transformed [Client Name]'s fragmented multi-cloud infrastructure into a unified, policy-driven automation platform.</a:t>
            </a:r>
          </a:p>
          <a:p/>
          <a:p>
            <a:r>
              <a:t>*Key Talking Points - Expand on Each Bullet:*</a:t>
            </a:r>
          </a:p>
          <a:p/>
          <a:p>
            <a:r>
              <a:t>**Project Duration - 9 Months:**</a:t>
            </a:r>
          </a:p>
          <a:p>
            <a:r>
              <a:t>- Executed exactly as planned in the Statement of Work</a:t>
            </a:r>
          </a:p>
          <a:p>
            <a:r>
              <a:t>- Phase 1 (Foundation): Months 1-3 - Terraform Cloud operational, 25 workspaces migrated</a:t>
            </a:r>
          </a:p>
          <a:p>
            <a:r>
              <a:t>- Phase 2 (Expansion): Months 4-6 - 100 workspaces, Sentinel policies deployed</a:t>
            </a:r>
          </a:p>
          <a:p>
            <a:r>
              <a:t>- Phase 3 (Optimization): Months 7-9 - Consul service mesh, full automation</a:t>
            </a:r>
          </a:p>
          <a:p>
            <a:r>
              <a:t>- No schedule slippage despite integration complexity</a:t>
            </a:r>
          </a:p>
          <a:p/>
          <a:p>
            <a:r>
              <a:t>**Budget - $138,478 Year 1:**</a:t>
            </a:r>
          </a:p>
          <a:p>
            <a:r>
              <a:t>- Cloud Infrastructure: $35,218 (AWS credits applied)</a:t>
            </a:r>
          </a:p>
          <a:p>
            <a:r>
              <a:t>- Software Licenses: $18,360 (Datadog, PagerDuty, Slack)</a:t>
            </a:r>
          </a:p>
          <a:p>
            <a:r>
              <a:t>- Support &amp; Maintenance: $84,900</a:t>
            </a:r>
          </a:p>
          <a:p>
            <a:r>
              <a:t>- AWS Partner Credits: $12,700 applied to infrastructure</a:t>
            </a:r>
          </a:p>
          <a:p>
            <a:r>
              <a:t>- Actual spend: $138,412 - $66 under budget</a:t>
            </a:r>
          </a:p>
          <a:p/>
          <a:p>
            <a:r>
              <a:t>**Go-Live - Month 9:**</a:t>
            </a:r>
          </a:p>
          <a:p>
            <a:r>
              <a:t>- Followed phased workspace migration exactly as planned</a:t>
            </a:r>
          </a:p>
          <a:p>
            <a:r>
              <a:t>- 25 workspaces in pilot wave (Month 3)</a:t>
            </a:r>
          </a:p>
          <a:p>
            <a:r>
              <a:t>- 100 total workspaces migrated by Month 6</a:t>
            </a:r>
          </a:p>
          <a:p>
            <a:r>
              <a:t>- Full platform including Consul service mesh live Month 9</a:t>
            </a:r>
          </a:p>
          <a:p>
            <a:r>
              <a:t>- Zero rollback events required</a:t>
            </a:r>
          </a:p>
          <a:p/>
          <a:p>
            <a:r>
              <a:t>**Quality - Zero Critical Defects:**</a:t>
            </a:r>
          </a:p>
          <a:p>
            <a:r>
              <a:t>- 847 test cases executed, 100% pass rate</a:t>
            </a:r>
          </a:p>
          <a:p>
            <a:r>
              <a:t>- No P1 or P2 defects at go-live</a:t>
            </a:r>
          </a:p>
          <a:p>
            <a:r>
              <a:t>- 4 P3 defects identified and resolved during hypercare</a:t>
            </a:r>
          </a:p>
          <a:p>
            <a:r>
              <a:t>- Defect escape rate: 0.47% (target &lt;2%)</a:t>
            </a:r>
          </a:p>
          <a:p/>
          <a:p>
            <a:r>
              <a:t>**Provisioning Time - 78% Reduction:**</a:t>
            </a:r>
          </a:p>
          <a:p>
            <a:r>
              <a:t>- Baseline (manual): 5-7 days per environment average</a:t>
            </a:r>
          </a:p>
          <a:p>
            <a:r>
              <a:t>- Current (automated): 1-1.5 days average via self-service</a:t>
            </a:r>
          </a:p>
          <a:p>
            <a:r>
              <a:t>- Exceeds 75% target in SOW</a:t>
            </a:r>
          </a:p>
          <a:p>
            <a:r>
              <a:t>- Peak automation: 4 hours for standard deployments</a:t>
            </a:r>
          </a:p>
          <a:p/>
          <a:p>
            <a:r>
              <a:t>**Policy Compliance - 96.5%:**</a:t>
            </a:r>
          </a:p>
          <a:p>
            <a:r>
              <a:t>- Target was 95%+ per SOW</a:t>
            </a:r>
          </a:p>
          <a:p>
            <a:r>
              <a:t>- Security policies: 98.2% compliance</a:t>
            </a:r>
          </a:p>
          <a:p>
            <a:r>
              <a:t>- Cost governance policies: 95.1% compliance</a:t>
            </a:r>
          </a:p>
          <a:p>
            <a:r>
              <a:t>- Compliance framework policies: 96.8% compliance</a:t>
            </a:r>
          </a:p>
          <a:p>
            <a:r>
              <a:t>- 50 Sentinel policies enforced across all clouds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*Architecture Overview - Walk Through the Diagram:*</a:t>
            </a:r>
          </a:p>
          <a:p/>
          <a:p>
            <a:r>
              <a:t>"This diagram shows the production architecture we deployed. Let me walk through the platform components..."</a:t>
            </a:r>
          </a:p>
          <a:p/>
          <a:p>
            <a:r>
              <a:t>**Terraform Cloud Platform:**</a:t>
            </a:r>
          </a:p>
          <a:p>
            <a:r>
              <a:t>- Deployed on AWS EKS with 3 nodes (t3.xlarge) for high availability</a:t>
            </a:r>
          </a:p>
          <a:p>
            <a:r>
              <a:t>- PostgreSQL RDS backend (db.t3.large) for state storage</a:t>
            </a:r>
          </a:p>
          <a:p>
            <a:r>
              <a:t>- Manages 100 workspaces across AWS, Azure, and GCP</a:t>
            </a:r>
          </a:p>
          <a:p>
            <a:r>
              <a:t>- 50 users with 5 roles (viewer, operator, admin, security, auditor)</a:t>
            </a:r>
          </a:p>
          <a:p>
            <a:r>
              <a:t>- 15 concurrent Terraform runs supported</a:t>
            </a:r>
          </a:p>
          <a:p>
            <a:r>
              <a:t>- VCS integration with GitHub for GitOps workflows</a:t>
            </a:r>
          </a:p>
          <a:p/>
          <a:p>
            <a:r>
              <a:t>**HashiCorp Vault Implementation:**</a:t>
            </a:r>
          </a:p>
          <a:p>
            <a:r>
              <a:t>- 3-node HA deployment with auto-unseal via AWS KMS</a:t>
            </a:r>
          </a:p>
          <a:p>
            <a:r>
              <a:t>- Dynamic credential generation for AWS, Azure, GCP</a:t>
            </a:r>
          </a:p>
          <a:p>
            <a:r>
              <a:t>- Secrets engines configured for cloud provider access</a:t>
            </a:r>
          </a:p>
          <a:p>
            <a:r>
              <a:t>- Automatic credential rotation (1-hour TTL for cloud credentials)</a:t>
            </a:r>
          </a:p>
          <a:p>
            <a:r>
              <a:t>- Encryption as a service for sensitive data</a:t>
            </a:r>
          </a:p>
          <a:p/>
          <a:p>
            <a:r>
              <a:t>**Sentinel Policy Library:**</a:t>
            </a:r>
          </a:p>
          <a:p>
            <a:r>
              <a:t>- 50 policies developed covering security, cost, and compliance</a:t>
            </a:r>
          </a:p>
          <a:p>
            <a:r>
              <a:t>- Security policies: Network rules, encryption, IAM validation</a:t>
            </a:r>
          </a:p>
          <a:p>
            <a:r>
              <a:t>- Cost policies: Resource sizing, tagging enforcement</a:t>
            </a:r>
          </a:p>
          <a:p>
            <a:r>
              <a:t>- Compliance policies: SOC2, ISO27001 control mapping</a:t>
            </a:r>
          </a:p>
          <a:p>
            <a:r>
              <a:t>- Progressive enforcement: Advisory to mandatory transition</a:t>
            </a:r>
          </a:p>
          <a:p/>
          <a:p>
            <a:r>
              <a:t>**Consul Service Mesh:**</a:t>
            </a:r>
          </a:p>
          <a:p>
            <a:r>
              <a:t>- Cross-cloud service discovery operational</a:t>
            </a:r>
          </a:p>
          <a:p>
            <a:r>
              <a:t>- Consul Connect for encrypted service-to-service communication</a:t>
            </a:r>
          </a:p>
          <a:p>
            <a:r>
              <a:t>- Service health monitoring and routing</a:t>
            </a:r>
          </a:p>
          <a:p>
            <a:r>
              <a:t>- Supports hybrid and multi-cloud application architectures</a:t>
            </a:r>
          </a:p>
          <a:p/>
          <a:p>
            <a:r>
              <a:t>**Multi-Cloud Coverage:**</a:t>
            </a:r>
          </a:p>
          <a:p>
            <a:r>
              <a:t>- AWS: VPC, EC2, RDS, EKS, S3, IAM provisioning</a:t>
            </a:r>
          </a:p>
          <a:p>
            <a:r>
              <a:t>- Azure: Virtual Networks, VMs, AKS, Storage, RBAC</a:t>
            </a:r>
          </a:p>
          <a:p>
            <a:r>
              <a:t>- GCP: VPC, Compute Engine, GKE, Cloud Storage, IAM</a:t>
            </a:r>
          </a:p>
          <a:p>
            <a:r>
              <a:t>- 3 deployment regions: us-east-1, eu-west-1, ap-southeast-1</a:t>
            </a:r>
          </a:p>
          <a:p/>
          <a:p>
            <a:r>
              <a:t>*Presales Alignment:*</a:t>
            </a:r>
          </a:p>
          <a:p>
            <a:r>
              <a:t>- Architecture matches Solution Briefing specification exactly</a:t>
            </a:r>
          </a:p>
          <a:p>
            <a:r>
              <a:t>- All services deployed: Terraform Cloud, Vault, Consul</a:t>
            </a:r>
          </a:p>
          <a:p>
            <a:r>
              <a:t>- No scope additions beyond presales commitment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*Deliverables Deep Dive - Review Each Item:*</a:t>
            </a:r>
          </a:p>
          <a:p/>
          <a:p>
            <a:r>
              <a:t>**1. Multi-Cloud Architecture Document (detailed-design.docx):**</a:t>
            </a:r>
          </a:p>
          <a:p>
            <a:r>
              <a:t>- 52 pages comprehensive technical documentation</a:t>
            </a:r>
          </a:p>
          <a:p>
            <a:r>
              <a:t>- Sections include:</a:t>
            </a:r>
          </a:p>
          <a:p>
            <a:r>
              <a:t>  - Executive Summary and business context</a:t>
            </a:r>
          </a:p>
          <a:p>
            <a:r>
              <a:t>  - Multi-cloud current state assessment</a:t>
            </a:r>
          </a:p>
          <a:p>
            <a:r>
              <a:t>  - Target architecture with Terraform Cloud, Vault, Consul</a:t>
            </a:r>
          </a:p>
          <a:p>
            <a:r>
              <a:t>  - AWS, Azure, GCP service configurations</a:t>
            </a:r>
          </a:p>
          <a:p>
            <a:r>
              <a:t>  - Sentinel policy framework design</a:t>
            </a:r>
          </a:p>
          <a:p>
            <a:r>
              <a:t>  - Security controls and compliance mapping</a:t>
            </a:r>
          </a:p>
          <a:p>
            <a:r>
              <a:t>  - Integration specifications</a:t>
            </a:r>
          </a:p>
          <a:p>
            <a:r>
              <a:t>  - Monitoring and alerting setup</a:t>
            </a:r>
          </a:p>
          <a:p>
            <a:r>
              <a:t>- Reviewed and accepted by [Technical Lead] on [Date]</a:t>
            </a:r>
          </a:p>
          <a:p/>
          <a:p>
            <a:r>
              <a:t>**2. Implementation Guide (implementation-guide.docx):**</a:t>
            </a:r>
          </a:p>
          <a:p>
            <a:r>
              <a:t>- Step-by-step deployment procedures for all components</a:t>
            </a:r>
          </a:p>
          <a:p>
            <a:r>
              <a:t>- Prerequisites checklist for multi-cloud access</a:t>
            </a:r>
          </a:p>
          <a:p>
            <a:r>
              <a:t>- Terraform configuration for EKS, Vault, Consul deployment</a:t>
            </a:r>
          </a:p>
          <a:p>
            <a:r>
              <a:t>- Workspace migration procedures</a:t>
            </a:r>
          </a:p>
          <a:p>
            <a:r>
              <a:t>- Sentinel policy deployment guide</a:t>
            </a:r>
          </a:p>
          <a:p>
            <a:r>
              <a:t>- Post-deployment validation steps</a:t>
            </a:r>
          </a:p>
          <a:p>
            <a:r>
              <a:t>- Rollback procedures</a:t>
            </a:r>
          </a:p>
          <a:p>
            <a:r>
              <a:t>- Validated by rebuilding staging environment from scratch</a:t>
            </a:r>
          </a:p>
          <a:p/>
          <a:p>
            <a:r>
              <a:t>**3. Project Plan (project-plan.xlsx):**</a:t>
            </a:r>
          </a:p>
          <a:p>
            <a:r>
              <a:t>- Four worksheets:</a:t>
            </a:r>
          </a:p>
          <a:p>
            <a:r>
              <a:t>  1. Project Timeline - 42 tasks across 9 months</a:t>
            </a:r>
          </a:p>
          <a:p>
            <a:r>
              <a:t>  2. Milestones - 9 major milestones tracked</a:t>
            </a:r>
          </a:p>
          <a:p>
            <a:r>
              <a:t>  3. RACI Matrix - 22 activities with clear ownership</a:t>
            </a:r>
          </a:p>
          <a:p>
            <a:r>
              <a:t>  4. Communications Plan - 10 meeting types defined</a:t>
            </a:r>
          </a:p>
          <a:p>
            <a:r>
              <a:t>- All milestones achieved on or ahead of schedule</a:t>
            </a:r>
          </a:p>
          <a:p>
            <a:r>
              <a:t>- Final status: 100% complete</a:t>
            </a:r>
          </a:p>
          <a:p/>
          <a:p>
            <a:r>
              <a:t>**4. Test Plan &amp; Results (test-plan.xlsx):**</a:t>
            </a:r>
          </a:p>
          <a:p>
            <a:r>
              <a:t>- Three test categories:</a:t>
            </a:r>
          </a:p>
          <a:p>
            <a:r>
              <a:t>  1. Functional Tests - 18 test cases (100% pass)</a:t>
            </a:r>
          </a:p>
          <a:p>
            <a:r>
              <a:t>  2. Non-Functional Tests - 16 test cases (100% pass)</a:t>
            </a:r>
          </a:p>
          <a:p>
            <a:r>
              <a:t>  3. User Acceptance Tests - 12 test cases (100% pass)</a:t>
            </a:r>
          </a:p>
          <a:p>
            <a:r>
              <a:t>- Policy enforcement validation across all 3 clouds</a:t>
            </a:r>
          </a:p>
          <a:p>
            <a:r>
              <a:t>- Performance benchmarks documented</a:t>
            </a:r>
          </a:p>
          <a:p/>
          <a:p>
            <a:r>
              <a:t>**5. Terraform Modules:**</a:t>
            </a:r>
          </a:p>
          <a:p>
            <a:r>
              <a:t>- Reusable modules for all cloud providers</a:t>
            </a:r>
          </a:p>
          <a:p>
            <a:r>
              <a:t>- Modules included:</a:t>
            </a:r>
          </a:p>
          <a:p>
            <a:r>
              <a:t>  - `aws/` - VPC, EC2, RDS, EKS, IAM modules</a:t>
            </a:r>
          </a:p>
          <a:p>
            <a:r>
              <a:t>  - `azure/` - VNet, VM, AKS, Storage modules</a:t>
            </a:r>
          </a:p>
          <a:p>
            <a:r>
              <a:t>  - `gcp/` - VPC, Compute, GKE, IAM modules</a:t>
            </a:r>
          </a:p>
          <a:p>
            <a:r>
              <a:t>  - `common/` - Cross-cloud naming, tagging modules</a:t>
            </a:r>
          </a:p>
          <a:p>
            <a:r>
              <a:t>- Tested across all environments</a:t>
            </a:r>
          </a:p>
          <a:p/>
          <a:p>
            <a:r>
              <a:t>**6. Sentinel Policy Library:**</a:t>
            </a:r>
          </a:p>
          <a:p>
            <a:r>
              <a:t>- 50 policies organized by framework:</a:t>
            </a:r>
          </a:p>
          <a:p>
            <a:r>
              <a:t>  - `security/` - 20 policies (network, encryption, IAM)</a:t>
            </a:r>
          </a:p>
          <a:p>
            <a:r>
              <a:t>  - `cost/` - 15 policies (sizing, tagging, budgets)</a:t>
            </a:r>
          </a:p>
          <a:p>
            <a:r>
              <a:t>  - `compliance/` - 15 policies (SOC2, ISO27001)</a:t>
            </a:r>
          </a:p>
          <a:p>
            <a:r>
              <a:t>- Advisory and mandatory enforcement levels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*Quality &amp; Performance Deep Dive:*</a:t>
            </a:r>
          </a:p>
          <a:p/>
          <a:p>
            <a:r>
              <a:t>**Platform Metrics - Detailed Breakdown:**</a:t>
            </a:r>
          </a:p>
          <a:p/>
          <a:p>
            <a:r>
              <a:t>*Platform Uptime: 99.92%*</a:t>
            </a:r>
          </a:p>
          <a:p>
            <a:r>
              <a:t>- Target: 99.9% availability per SOW</a:t>
            </a:r>
          </a:p>
          <a:p>
            <a:r>
              <a:t>- Achieved: 99.92% (0.72 hours downtime in 30 days)</a:t>
            </a:r>
          </a:p>
          <a:p>
            <a:r>
              <a:t>- Downtime breakdown:</a:t>
            </a:r>
          </a:p>
          <a:p>
            <a:r>
              <a:t>  - Planned maintenance: 0.5 hours (during off-hours)</a:t>
            </a:r>
          </a:p>
          <a:p>
            <a:r>
              <a:t>  - Unplanned: 0.22 hours (EKS node replacement, auto-healed)</a:t>
            </a:r>
          </a:p>
          <a:p>
            <a:r>
              <a:t>- No data loss incidents</a:t>
            </a:r>
          </a:p>
          <a:p>
            <a:r>
              <a:t>- All SLAs met or exceeded</a:t>
            </a:r>
          </a:p>
          <a:p/>
          <a:p>
            <a:r>
              <a:t>*Workspace Success Rate: 98.7%*</a:t>
            </a:r>
          </a:p>
          <a:p>
            <a:r>
              <a:t>- Successful Terraform runs / Total runs</a:t>
            </a:r>
          </a:p>
          <a:p>
            <a:r>
              <a:t>- 1.3% failure rate due to:</a:t>
            </a:r>
          </a:p>
          <a:p>
            <a:r>
              <a:t>  - Cloud provider API rate limits: 0.5%</a:t>
            </a:r>
          </a:p>
          <a:p>
            <a:r>
              <a:t>  - State locking conflicts (resolved): 0.3%</a:t>
            </a:r>
          </a:p>
          <a:p>
            <a:r>
              <a:t>  - Policy violations (intended blocks): 0.5%</a:t>
            </a:r>
          </a:p>
          <a:p>
            <a:r>
              <a:t>- Average run duration: 3.5 minutes</a:t>
            </a:r>
          </a:p>
          <a:p/>
          <a:p>
            <a:r>
              <a:t>*Policy Compliance: 96.5%*</a:t>
            </a:r>
          </a:p>
          <a:p>
            <a:r>
              <a:t>- Target: 95%+ per SOW</a:t>
            </a:r>
          </a:p>
          <a:p>
            <a:r>
              <a:t>- Breakdown by policy type:</a:t>
            </a:r>
          </a:p>
          <a:p>
            <a:r>
              <a:t>  - Security policies: 98.2% compliance</a:t>
            </a:r>
          </a:p>
          <a:p>
            <a:r>
              <a:t>  - Cost governance policies: 95.1% compliance</a:t>
            </a:r>
          </a:p>
          <a:p>
            <a:r>
              <a:t>  - Compliance framework policies: 96.8% compliance</a:t>
            </a:r>
          </a:p>
          <a:p>
            <a:r>
              <a:t>- 847 policy violations blocked before reaching production</a:t>
            </a:r>
          </a:p>
          <a:p/>
          <a:p>
            <a:r>
              <a:t>*HashiCorp Vault: 99.99%*</a:t>
            </a:r>
          </a:p>
          <a:p>
            <a:r>
              <a:t>- 3-node HA cluster with auto-unseal</a:t>
            </a:r>
          </a:p>
          <a:p>
            <a:r>
              <a:t>- Zero credential exposure incidents</a:t>
            </a:r>
          </a:p>
          <a:p>
            <a:r>
              <a:t>- Dynamic credential generation: &lt;1 second average</a:t>
            </a:r>
          </a:p>
          <a:p>
            <a:r>
              <a:t>- Successful rotations: 100%</a:t>
            </a:r>
          </a:p>
          <a:p/>
          <a:p>
            <a:r>
              <a:t>**Efficiency Metrics - Detailed Analysis:**</a:t>
            </a:r>
          </a:p>
          <a:p/>
          <a:p>
            <a:r>
              <a:t>*Provisioning Time: 78% Reduction*</a:t>
            </a:r>
          </a:p>
          <a:p>
            <a:r>
              <a:t>- SOW target: 75% reduction</a:t>
            </a:r>
          </a:p>
          <a:p>
            <a:r>
              <a:t>- Baseline (manual): 5-7 days per environment</a:t>
            </a:r>
          </a:p>
          <a:p>
            <a:r>
              <a:t>- Current (automated): 1-1.5 days average</a:t>
            </a:r>
          </a:p>
          <a:p>
            <a:r>
              <a:t>- Self-service standard deployments: 4 hours</a:t>
            </a:r>
          </a:p>
          <a:p>
            <a:r>
              <a:t>- Exceeds target by 3%</a:t>
            </a:r>
          </a:p>
          <a:p/>
          <a:p>
            <a:r>
              <a:t>*Manual Effort: 85% Reduction*</a:t>
            </a:r>
          </a:p>
          <a:p>
            <a:r>
              <a:t>- Before: 3 FTEs dedicated to infrastructure provisioning</a:t>
            </a:r>
          </a:p>
          <a:p>
            <a:r>
              <a:t>- After: 0.5 FTE for review queue and exception handling</a:t>
            </a:r>
          </a:p>
          <a:p>
            <a:r>
              <a:t>- Remaining 2.5 FTE capacity reallocated to strategic work</a:t>
            </a:r>
          </a:p>
          <a:p/>
          <a:p>
            <a:r>
              <a:t>*Approval Time: 5 Days to 4 Hours*</a:t>
            </a:r>
          </a:p>
          <a:p>
            <a:r>
              <a:t>- Previous: Manual approval chain with email</a:t>
            </a:r>
          </a:p>
          <a:p>
            <a:r>
              <a:t>- Current: Automated Sentinel policy checks + ServiceNow integration</a:t>
            </a:r>
          </a:p>
          <a:p>
            <a:r>
              <a:t>- Production changes: Approval gates with 4-hour SLA</a:t>
            </a:r>
          </a:p>
          <a:p/>
          <a:p>
            <a:r>
              <a:t>**Testing Summary:**</a:t>
            </a:r>
          </a:p>
          <a:p>
            <a:r>
              <a:t>- Test Cases Executed: 46 total</a:t>
            </a:r>
          </a:p>
          <a:p>
            <a:r>
              <a:t>- Pass Rate: 100%</a:t>
            </a:r>
          </a:p>
          <a:p>
            <a:r>
              <a:t>- Test Coverage: 96%</a:t>
            </a:r>
          </a:p>
          <a:p>
            <a:r>
              <a:t>- Critical Defects at Go-Live: 0</a:t>
            </a:r>
          </a:p>
          <a:p>
            <a:r>
              <a:t>- Defects Found During Hypercare: 4 (all P3, resolved)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*Benefits Analysis - Detailed ROI Discussion:*</a:t>
            </a:r>
          </a:p>
          <a:p/>
          <a:p>
            <a:r>
              <a:t>**Provisioning Time Reduction - 78%:**</a:t>
            </a:r>
          </a:p>
          <a:p/>
          <a:p>
            <a:r>
              <a:t>*Before (Manual Process):*</a:t>
            </a:r>
          </a:p>
          <a:p>
            <a:r>
              <a:t>- Average time per environment: 5-7 days</a:t>
            </a:r>
          </a:p>
          <a:p>
            <a:r>
              <a:t>- Steps involved:</a:t>
            </a:r>
          </a:p>
          <a:p>
            <a:r>
              <a:t>  1. Manual approval chain via email (2-3 days)</a:t>
            </a:r>
          </a:p>
          <a:p>
            <a:r>
              <a:t>  2. Cloud console configuration (1 day)</a:t>
            </a:r>
          </a:p>
          <a:p>
            <a:r>
              <a:t>  3. Terraform OSS state management (0.5 days)</a:t>
            </a:r>
          </a:p>
          <a:p>
            <a:r>
              <a:t>  4. Testing and validation (1-2 days)</a:t>
            </a:r>
          </a:p>
          <a:p>
            <a:r>
              <a:t>  5. Documentation updates (0.5 days)</a:t>
            </a:r>
          </a:p>
          <a:p>
            <a:r>
              <a:t>- Daily capacity: 1-2 environments per team</a:t>
            </a:r>
          </a:p>
          <a:p/>
          <a:p>
            <a:r>
              <a:t>*After (Automated Process):*</a:t>
            </a:r>
          </a:p>
          <a:p>
            <a:r>
              <a:t>- Average time per environment: 1-1.5 days</a:t>
            </a:r>
          </a:p>
          <a:p>
            <a:r>
              <a:t>- Self-service standard deployments: 4 hours</a:t>
            </a:r>
          </a:p>
          <a:p>
            <a:r>
              <a:t>- 85% fully automated, 15% require approval for production</a:t>
            </a:r>
          </a:p>
          <a:p>
            <a:r>
              <a:t>- Daily capacity: 10+ environments possible</a:t>
            </a:r>
          </a:p>
          <a:p>
            <a:r>
              <a:t>- Staff time per deployment: &lt;30 minutes average</a:t>
            </a:r>
          </a:p>
          <a:p/>
          <a:p>
            <a:r>
              <a:t>**Policy Compliance - 96.5%:**</a:t>
            </a:r>
          </a:p>
          <a:p/>
          <a:p>
            <a:r>
              <a:t>*Before (Manual Enforcement):*</a:t>
            </a:r>
          </a:p>
          <a:p>
            <a:r>
              <a:t>- Compliance rate: ~60-70% (estimated)</a:t>
            </a:r>
          </a:p>
          <a:p>
            <a:r>
              <a:t>- Manual policy checks on each deployment</a:t>
            </a:r>
          </a:p>
          <a:p>
            <a:r>
              <a:t>- Inconsistent enforcement across teams</a:t>
            </a:r>
          </a:p>
          <a:p>
            <a:r>
              <a:t>- Audit findings: 12 security issues annually</a:t>
            </a:r>
          </a:p>
          <a:p>
            <a:r>
              <a:t>- Cost of compliance gaps: $180K annually (per discovery)</a:t>
            </a:r>
          </a:p>
          <a:p/>
          <a:p>
            <a:r>
              <a:t>*After (Automated Sentinel):*</a:t>
            </a:r>
          </a:p>
          <a:p>
            <a:r>
              <a:t>- Compliance rate: 96.5%</a:t>
            </a:r>
          </a:p>
          <a:p>
            <a:r>
              <a:t>- 50 policies enforced automatically</a:t>
            </a:r>
          </a:p>
          <a:p>
            <a:r>
              <a:t>- Consistent enforcement across all clouds</a:t>
            </a:r>
          </a:p>
          <a:p>
            <a:r>
              <a:t>- Policy violations blocked: 847 in first month</a:t>
            </a:r>
          </a:p>
          <a:p>
            <a:r>
              <a:t>- Projected audit findings: Near zero</a:t>
            </a:r>
          </a:p>
          <a:p/>
          <a:p>
            <a:r>
              <a:t>**Cost Savings Projection:**</a:t>
            </a:r>
          </a:p>
          <a:p/>
          <a:p>
            <a:r>
              <a:t>*Annual Savings Analysis:*</a:t>
            </a:r>
          </a:p>
          <a:p/>
          <a:p>
            <a:r>
              <a:t>| Category | Before (Annual) | After (Annual) | Savings |</a:t>
            </a:r>
          </a:p>
          <a:p>
            <a:r>
              <a:t>|----------|-----------------|----------------|---------|</a:t>
            </a:r>
          </a:p>
          <a:p>
            <a:r>
              <a:t>| Labor (3 FTEs) | $288,000 | $96,000* | $192,000 |</a:t>
            </a:r>
          </a:p>
          <a:p>
            <a:r>
              <a:t>| Security Incidents | $180,000 | $20,000 | $160,000 |</a:t>
            </a:r>
          </a:p>
          <a:p>
            <a:r>
              <a:t>| Compliance Remediation | $50,000 | $5,000 | $45,000 |</a:t>
            </a:r>
          </a:p>
          <a:p>
            <a:r>
              <a:t>| **Subtotal Savings** | | | **$397,000** |</a:t>
            </a:r>
          </a:p>
          <a:p>
            <a:r>
              <a:t>| Platform Investment | | ($138,478) | |</a:t>
            </a:r>
          </a:p>
          <a:p>
            <a:r>
              <a:t>| **Net Annual Savings** | | | **$258,522** |</a:t>
            </a:r>
          </a:p>
          <a:p/>
          <a:p>
            <a:r>
              <a:t>*Note: 2.5 FTEs reallocated to strategic work, 0.5 FTE manages platform</a:t>
            </a:r>
          </a:p>
          <a:p/>
          <a:p>
            <a:r>
              <a:t>**ROI Summary:**</a:t>
            </a:r>
          </a:p>
          <a:p/>
          <a:p>
            <a:r>
              <a:t>| Metric | Value |</a:t>
            </a:r>
          </a:p>
          <a:p>
            <a:r>
              <a:t>|--------|-------|</a:t>
            </a:r>
          </a:p>
          <a:p>
            <a:r>
              <a:t>| Total Investment (Year 1) | $138,478 |</a:t>
            </a:r>
          </a:p>
          <a:p>
            <a:r>
              <a:t>| Year 1 Net Savings | $258,522 |</a:t>
            </a:r>
          </a:p>
          <a:p>
            <a:r>
              <a:t>| Year 1 ROI | 187% |</a:t>
            </a:r>
          </a:p>
          <a:p>
            <a:r>
              <a:t>| Payback Period | 6.4 months |</a:t>
            </a:r>
          </a:p>
          <a:p>
            <a:r>
              <a:t>| 3-Year TCO | $440,834 |</a:t>
            </a:r>
          </a:p>
          <a:p>
            <a:r>
              <a:t>| 3-Year Savings | $1,191,000 |</a:t>
            </a:r>
          </a:p>
          <a:p>
            <a:r>
              <a:t>| 3-Year Net Benefit | $750,166 |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*Lessons Learned - Comprehensive Review:*</a:t>
            </a:r>
          </a:p>
          <a:p/>
          <a:p>
            <a:r>
              <a:t>**What Worked Well - Details:**</a:t>
            </a:r>
          </a:p>
          <a:p/>
          <a:p>
            <a:r>
              <a:t>*1. Phased Workspace Migration (Months 1-6):*</a:t>
            </a:r>
          </a:p>
          <a:p>
            <a:r>
              <a:t>- Started with 25 non-production workspaces in pilot</a:t>
            </a:r>
          </a:p>
          <a:p>
            <a:r>
              <a:t>- Validated state migration, run execution, policy enforcement</a:t>
            </a:r>
          </a:p>
          <a:p>
            <a:r>
              <a:t>- Built stakeholder confidence before production migration</a:t>
            </a:r>
          </a:p>
          <a:p>
            <a:r>
              <a:t>- Expanded to 100 workspaces with zero data loss</a:t>
            </a:r>
          </a:p>
          <a:p>
            <a:r>
              <a:t>- Recommendation: Always pilot with non-production first</a:t>
            </a:r>
          </a:p>
          <a:p/>
          <a:p>
            <a:r>
              <a:t>*2. Sentinel Advisory-to-Mandatory Rollout:*</a:t>
            </a:r>
          </a:p>
          <a:p>
            <a:r>
              <a:t>- Initial concern: Would policies break existing workflows?</a:t>
            </a:r>
          </a:p>
          <a:p>
            <a:r>
              <a:t>- Started with advisory mode (warnings only) for 30 days</a:t>
            </a:r>
          </a:p>
          <a:p>
            <a:r>
              <a:t>- Tuned false positives and exceptions before mandatory</a:t>
            </a:r>
          </a:p>
          <a:p>
            <a:r>
              <a:t>- Teams had time to remediate existing violations</a:t>
            </a:r>
          </a:p>
          <a:p>
            <a:r>
              <a:t>- Result: Smooth transition with minimal disruption</a:t>
            </a:r>
          </a:p>
          <a:p/>
          <a:p>
            <a:r>
              <a:t>*3. VCS-Driven GitOps Workflows:*</a:t>
            </a:r>
          </a:p>
          <a:p>
            <a:r>
              <a:t>- All Terraform changes via GitHub pull requests</a:t>
            </a:r>
          </a:p>
          <a:p>
            <a:r>
              <a:t>- Automated Terraform runs on PR merge</a:t>
            </a:r>
          </a:p>
          <a:p>
            <a:r>
              <a:t>- Code review ensures quality before apply</a:t>
            </a:r>
          </a:p>
          <a:p>
            <a:r>
              <a:t>- Full audit trail in version control</a:t>
            </a:r>
          </a:p>
          <a:p>
            <a:r>
              <a:t>- Recommendation: VCS-first approach essential</a:t>
            </a:r>
          </a:p>
          <a:p/>
          <a:p>
            <a:r>
              <a:t>**Challenges Overcome - Details:**</a:t>
            </a:r>
          </a:p>
          <a:p/>
          <a:p>
            <a:r>
              <a:t>*1. Legacy State File Migration:*</a:t>
            </a:r>
          </a:p>
          <a:p>
            <a:r>
              <a:t>- Challenge: 100+ state files across S3, local, Azure Blob</a:t>
            </a:r>
          </a:p>
          <a:p>
            <a:r>
              <a:t>- Impact: Risk of state corruption and resource conflicts</a:t>
            </a:r>
          </a:p>
          <a:p>
            <a:r>
              <a:t>- Resolution:</a:t>
            </a:r>
          </a:p>
          <a:p>
            <a:r>
              <a:t>  - Developed migration scripts with validation</a:t>
            </a:r>
          </a:p>
          <a:p>
            <a:r>
              <a:t>  - Parallel validation before switching backends</a:t>
            </a:r>
          </a:p>
          <a:p>
            <a:r>
              <a:t>  - Rollback procedures tested for each workspace</a:t>
            </a:r>
          </a:p>
          <a:p>
            <a:r>
              <a:t>- Result: Zero state corruption incidents</a:t>
            </a:r>
          </a:p>
          <a:p/>
          <a:p>
            <a:r>
              <a:t>*2. Multi-Cloud Credential Complexity:*</a:t>
            </a:r>
          </a:p>
          <a:p>
            <a:r>
              <a:t>- Challenge: Different auth methods per cloud (AWS IAM, Azure SP, GCP SA)</a:t>
            </a:r>
          </a:p>
          <a:p>
            <a:r>
              <a:t>- Impact: Initial Vault configuration took longer than planned</a:t>
            </a:r>
          </a:p>
          <a:p>
            <a:r>
              <a:t>- Resolution:</a:t>
            </a:r>
          </a:p>
          <a:p>
            <a:r>
              <a:t>  - Standardized dynamic credential patterns per cloud</a:t>
            </a:r>
          </a:p>
          <a:p>
            <a:r>
              <a:t>  - Implemented credential lease management</a:t>
            </a:r>
          </a:p>
          <a:p>
            <a:r>
              <a:t>  - Created runbook for credential troubleshooting</a:t>
            </a:r>
          </a:p>
          <a:p>
            <a:r>
              <a:t>- Result: Unified secrets management across all clouds</a:t>
            </a:r>
          </a:p>
          <a:p/>
          <a:p>
            <a:r>
              <a:t>*3. User Adoption Change Management:*</a:t>
            </a:r>
          </a:p>
          <a:p>
            <a:r>
              <a:t>- Challenge: Teams accustomed to direct cloud console access</a:t>
            </a:r>
          </a:p>
          <a:p>
            <a:r>
              <a:t>- Initial resistance: "Terraform adds extra steps"</a:t>
            </a:r>
          </a:p>
          <a:p>
            <a:r>
              <a:t>- Resolution:</a:t>
            </a:r>
          </a:p>
          <a:p>
            <a:r>
              <a:t>  - Demonstrated time savings with automation</a:t>
            </a:r>
          </a:p>
          <a:p>
            <a:r>
              <a:t>  - Created self-service workspace templates</a:t>
            </a:r>
          </a:p>
          <a:p>
            <a:r>
              <a:t>  - Celebrated early adopter successes</a:t>
            </a:r>
          </a:p>
          <a:p>
            <a:r>
              <a:t>- Result: 95% user adoption, positive feedback</a:t>
            </a:r>
          </a:p>
          <a:p/>
          <a:p>
            <a:r>
              <a:t>**Recommendations for Future Enhancement:**</a:t>
            </a:r>
          </a:p>
          <a:p/>
          <a:p>
            <a:r>
              <a:t>*1. Expand to Additional Workspaces:*</a:t>
            </a:r>
          </a:p>
          <a:p>
            <a:r>
              <a:t>- Current: 100 workspaces across 3 clouds</a:t>
            </a:r>
          </a:p>
          <a:p>
            <a:r>
              <a:t>- Opportunity: 50+ additional workspaces identified</a:t>
            </a:r>
          </a:p>
          <a:p>
            <a:r>
              <a:t>- Estimated effort: 2-3 weeks per wave of 25</a:t>
            </a:r>
          </a:p>
          <a:p>
            <a:r>
              <a:t>- Business case: Additional $50K savings per 25 workspaces</a:t>
            </a:r>
          </a:p>
          <a:p/>
          <a:p>
            <a:r>
              <a:t>*2. Advanced Cost Optimization:*</a:t>
            </a:r>
          </a:p>
          <a:p>
            <a:r>
              <a:t>- Current: Basic cost policies (sizing, tagging)</a:t>
            </a:r>
          </a:p>
          <a:p>
            <a:r>
              <a:t>- Enhancement: Predictive cost policies, budget alerts</a:t>
            </a:r>
          </a:p>
          <a:p>
            <a:r>
              <a:t>- Target: Additional 15% cloud cost reduction</a:t>
            </a:r>
          </a:p>
          <a:p>
            <a:r>
              <a:t>- Timeline: 4-6 weeks implementation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*Support Transition - Complete Details:*</a:t>
            </a:r>
          </a:p>
          <a:p/>
          <a:p>
            <a:r>
              <a:t>**Hypercare Period Summary (30 Days Post-Go-Live):**</a:t>
            </a:r>
          </a:p>
          <a:p/>
          <a:p>
            <a:r>
              <a:t>*Daily Activities Completed:*</a:t>
            </a:r>
          </a:p>
          <a:p>
            <a:r>
              <a:t>- Morning health check calls (9am) - first 2 weeks</a:t>
            </a:r>
          </a:p>
          <a:p>
            <a:r>
              <a:t>- CloudWatch and Datadog dashboard review</a:t>
            </a:r>
          </a:p>
          <a:p>
            <a:r>
              <a:t>- Terraform run queue monitoring</a:t>
            </a:r>
          </a:p>
          <a:p>
            <a:r>
              <a:t>- Vault credential generation validation</a:t>
            </a:r>
          </a:p>
          <a:p>
            <a:r>
              <a:t>- Policy enforcement statistics review</a:t>
            </a:r>
          </a:p>
          <a:p/>
          <a:p>
            <a:r>
              <a:t>*Issues Resolved During Hypercare:*</a:t>
            </a:r>
          </a:p>
          <a:p/>
          <a:p>
            <a:r>
              <a:t>Issue #1 (P3) - Day 5:</a:t>
            </a:r>
          </a:p>
          <a:p>
            <a:r>
              <a:t>- Problem: Workspace runs queuing during peak</a:t>
            </a:r>
          </a:p>
          <a:p>
            <a:r>
              <a:t>- Root cause: Concurrent run limit reached</a:t>
            </a:r>
          </a:p>
          <a:p>
            <a:r>
              <a:t>- Resolution: Implemented run prioritization</a:t>
            </a:r>
          </a:p>
          <a:p>
            <a:r>
              <a:t>- Prevention: Queue management runbook created</a:t>
            </a:r>
          </a:p>
          <a:p/>
          <a:p>
            <a:r>
              <a:t>Issue #2 (P3) - Day 8:</a:t>
            </a:r>
          </a:p>
          <a:p>
            <a:r>
              <a:t>- Problem: Vault credential lease expiry warnings</a:t>
            </a:r>
          </a:p>
          <a:p>
            <a:r>
              <a:t>- Root cause: TTL too short for long-running jobs</a:t>
            </a:r>
          </a:p>
          <a:p>
            <a:r>
              <a:t>- Resolution: Adjusted TTL to 2 hours for batch jobs</a:t>
            </a:r>
          </a:p>
          <a:p>
            <a:r>
              <a:t>- Cost impact: None</a:t>
            </a:r>
          </a:p>
          <a:p/>
          <a:p>
            <a:r>
              <a:t>Issue #3 (P3) - Day 12:</a:t>
            </a:r>
          </a:p>
          <a:p>
            <a:r>
              <a:t>- Problem: Sentinel policy false positive on Azure</a:t>
            </a:r>
          </a:p>
          <a:p>
            <a:r>
              <a:t>- Root cause: Azure provider attribute changes</a:t>
            </a:r>
          </a:p>
          <a:p>
            <a:r>
              <a:t>- Resolution: Updated policy logic for new attributes</a:t>
            </a:r>
          </a:p>
          <a:p>
            <a:r>
              <a:t>- User feedback: "Works correctly now"</a:t>
            </a:r>
          </a:p>
          <a:p/>
          <a:p>
            <a:r>
              <a:t>Issue #4 (P3) - Day 18:</a:t>
            </a:r>
          </a:p>
          <a:p>
            <a:r>
              <a:t>- Problem: GitHub webhook delivery delays</a:t>
            </a:r>
          </a:p>
          <a:p>
            <a:r>
              <a:t>- Root cause: Network latency during maintenance</a:t>
            </a:r>
          </a:p>
          <a:p>
            <a:r>
              <a:t>- Resolution: Implemented retry logic</a:t>
            </a:r>
          </a:p>
          <a:p>
            <a:r>
              <a:t>- Prevention: Added webhook monitoring</a:t>
            </a:r>
          </a:p>
          <a:p/>
          <a:p>
            <a:r>
              <a:t>*Knowledge Transfer Sessions Delivered:*</a:t>
            </a:r>
          </a:p>
          <a:p/>
          <a:p>
            <a:r>
              <a:t>| Session | Date | Attendees | Duration | Recording |</a:t>
            </a:r>
          </a:p>
          <a:p>
            <a:r>
              <a:t>|---------|------|-----------|----------|-----------|</a:t>
            </a:r>
          </a:p>
          <a:p>
            <a:r>
              <a:t>| Platform Admin Deep Dive | Week 37 | 6 IT staff | 4 hours | Yes |</a:t>
            </a:r>
          </a:p>
          <a:p>
            <a:r>
              <a:t>| Sentinel Policy Workshop | Week 38 | 5 DevOps | 3 hours | Yes |</a:t>
            </a:r>
          </a:p>
          <a:p>
            <a:r>
              <a:t>| Vault Administration | Week 38 | 4 Security | 2 hours | Yes |</a:t>
            </a:r>
          </a:p>
          <a:p>
            <a:r>
              <a:t>| Workspace Management | Week 37 | 12 engineers | 1.5 hours | Yes |</a:t>
            </a:r>
          </a:p>
          <a:p>
            <a:r>
              <a:t>| Executive Dashboard | Week 39 | 4 managers | 30 min | Yes |</a:t>
            </a:r>
          </a:p>
          <a:p/>
          <a:p>
            <a:r>
              <a:t>*Runbook Validation:*</a:t>
            </a:r>
          </a:p>
          <a:p>
            <a:r>
              <a:t>- All 15 runbook procedures tested by client IT</a:t>
            </a:r>
          </a:p>
          <a:p>
            <a:r>
              <a:t>- Signed off by [IT Lead] on [Date]</a:t>
            </a:r>
          </a:p>
          <a:p>
            <a:r>
              <a:t>- Procedures validated:</a:t>
            </a:r>
          </a:p>
          <a:p>
            <a:r>
              <a:t>  1. Daily health check</a:t>
            </a:r>
          </a:p>
          <a:p>
            <a:r>
              <a:t>  2. Workspace run troubleshooting</a:t>
            </a:r>
          </a:p>
          <a:p>
            <a:r>
              <a:t>  3. Sentinel policy updates</a:t>
            </a:r>
          </a:p>
          <a:p>
            <a:r>
              <a:t>  4. Vault credential rotation</a:t>
            </a:r>
          </a:p>
          <a:p>
            <a:r>
              <a:t>  5. State file recovery</a:t>
            </a:r>
          </a:p>
          <a:p>
            <a:r>
              <a:t>  6. Performance optimization</a:t>
            </a:r>
          </a:p>
          <a:p>
            <a:r>
              <a:t>  7. Cost monitoring</a:t>
            </a:r>
          </a:p>
          <a:p>
            <a:r>
              <a:t>  8. Backup verification</a:t>
            </a:r>
          </a:p>
          <a:p>
            <a:r>
              <a:t>  9. Disaster recovery</a:t>
            </a:r>
          </a:p>
          <a:p>
            <a:r>
              <a:t>  10. User access management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*Acknowledgments - Recognize Key Contributors:*</a:t>
            </a:r>
          </a:p>
          <a:p/>
          <a:p>
            <a:r>
              <a:t>**Client Team Recognition:**</a:t>
            </a:r>
          </a:p>
          <a:p/>
          <a:p>
            <a:r>
              <a:t>*Executive Sponsor - [Name]:*</a:t>
            </a:r>
          </a:p>
          <a:p>
            <a:r>
              <a:t>- Championed the project from discovery through go-live</a:t>
            </a:r>
          </a:p>
          <a:p>
            <a:r>
              <a:t>- Secured budget and organizational support</a:t>
            </a:r>
          </a:p>
          <a:p>
            <a:r>
              <a:t>- Removed blockers when escalated</a:t>
            </a:r>
          </a:p>
          <a:p>
            <a:r>
              <a:t>- Key decision: Approved phased migration approach</a:t>
            </a:r>
          </a:p>
          <a:p/>
          <a:p>
            <a:r>
              <a:t>*IT Lead - [Name]:*</a:t>
            </a:r>
          </a:p>
          <a:p>
            <a:r>
              <a:t>- Technical counterpart throughout implementation</a:t>
            </a:r>
          </a:p>
          <a:p>
            <a:r>
              <a:t>- AWS, Azure, GCP account setup and access coordination</a:t>
            </a:r>
          </a:p>
          <a:p>
            <a:r>
              <a:t>- Security and compliance validation</a:t>
            </a:r>
          </a:p>
          <a:p>
            <a:r>
              <a:t>- Knowledge transfer recipient and future owner</a:t>
            </a:r>
          </a:p>
          <a:p/>
          <a:p>
            <a:r>
              <a:t>*DevOps Team Lead - [Name]:*</a:t>
            </a:r>
          </a:p>
          <a:p>
            <a:r>
              <a:t>- Workspace migration coordination</a:t>
            </a:r>
          </a:p>
          <a:p>
            <a:r>
              <a:t>- Sentinel policy development support</a:t>
            </a:r>
          </a:p>
          <a:p>
            <a:r>
              <a:t>- User training logistics</a:t>
            </a:r>
          </a:p>
          <a:p>
            <a:r>
              <a:t>- Change management champion</a:t>
            </a:r>
          </a:p>
          <a:p/>
          <a:p>
            <a:r>
              <a:t>*Security Team:*</a:t>
            </a:r>
          </a:p>
          <a:p>
            <a:r>
              <a:t>- Vault architecture review and approval</a:t>
            </a:r>
          </a:p>
          <a:p>
            <a:r>
              <a:t>- Compliance framework validation</a:t>
            </a:r>
          </a:p>
          <a:p>
            <a:r>
              <a:t>- Policy requirements definition</a:t>
            </a:r>
          </a:p>
          <a:p>
            <a:r>
              <a:t>- Security testing support</a:t>
            </a:r>
          </a:p>
          <a:p/>
          <a:p>
            <a:r>
              <a:t>**Vendor Team Recognition:**</a:t>
            </a:r>
          </a:p>
          <a:p/>
          <a:p>
            <a:r>
              <a:t>*Project Manager - [Name]:*</a:t>
            </a:r>
          </a:p>
          <a:p>
            <a:r>
              <a:t>- Overall delivery accountability</a:t>
            </a:r>
          </a:p>
          <a:p>
            <a:r>
              <a:t>- Stakeholder communication</a:t>
            </a:r>
          </a:p>
          <a:p>
            <a:r>
              <a:t>- Risk and issue management</a:t>
            </a:r>
          </a:p>
          <a:p>
            <a:r>
              <a:t>- On-time, on-budget delivery</a:t>
            </a:r>
          </a:p>
          <a:p/>
          <a:p>
            <a:r>
              <a:t>*HashiCorp Solutions Architect - [Name]:*</a:t>
            </a:r>
          </a:p>
          <a:p>
            <a:r>
              <a:t>- Terraform Cloud, Vault, Consul architecture design</a:t>
            </a:r>
          </a:p>
          <a:p>
            <a:r>
              <a:t>- Sentinel policy framework development</a:t>
            </a:r>
          </a:p>
          <a:p>
            <a:r>
              <a:t>- Multi-cloud integration design</a:t>
            </a:r>
          </a:p>
          <a:p>
            <a:r>
              <a:t>- Technical documentation</a:t>
            </a:r>
          </a:p>
          <a:p/>
          <a:p>
            <a:r>
              <a:t>*DevOps Engineers:*</a:t>
            </a:r>
          </a:p>
          <a:p>
            <a:r>
              <a:t>- Platform deployment and configuration</a:t>
            </a:r>
          </a:p>
          <a:p>
            <a:r>
              <a:t>- Workspace migration automation</a:t>
            </a:r>
          </a:p>
          <a:p>
            <a:r>
              <a:t>- Monitoring and alerting setup</a:t>
            </a:r>
          </a:p>
          <a:p>
            <a:r>
              <a:t>- Knowledge transfer delivery</a:t>
            </a:r>
          </a:p>
          <a:p/>
          <a:p>
            <a:r>
              <a:t>**Immediate Next Steps (This Week):**</a:t>
            </a:r>
          </a:p>
          <a:p/>
          <a:p>
            <a:r>
              <a:t>| Task | Owner | Due Date |</a:t>
            </a:r>
          </a:p>
          <a:p>
            <a:r>
              <a:t>|------|-------|----------|</a:t>
            </a:r>
          </a:p>
          <a:p>
            <a:r>
              <a:t>| Final documentation handover | PM | [Date] |</a:t>
            </a:r>
          </a:p>
          <a:p>
            <a:r>
              <a:t>| Archive project artifacts | PM | [Date] |</a:t>
            </a:r>
          </a:p>
          <a:p>
            <a:r>
              <a:t>| Close project tracking | PM | [Date] |</a:t>
            </a:r>
          </a:p>
          <a:p>
            <a:r>
              <a:t>| Confirm support contacts | IT Lead | [Date] |</a:t>
            </a:r>
          </a:p>
          <a:p/>
          <a:p>
            <a:r>
              <a:t>**30-Day Next Steps:**</a:t>
            </a:r>
          </a:p>
          <a:p/>
          <a:p>
            <a:r>
              <a:t>| Task | Owner | Due Date |</a:t>
            </a:r>
          </a:p>
          <a:p>
            <a:r>
              <a:t>|------|-------|----------|</a:t>
            </a:r>
          </a:p>
          <a:p>
            <a:r>
              <a:t>| First monthly performance review | IT Lead | [Date+30] |</a:t>
            </a:r>
          </a:p>
          <a:p>
            <a:r>
              <a:t>| Policy effectiveness analysis | Security Lead | [Date+30] |</a:t>
            </a:r>
          </a:p>
          <a:p>
            <a:r>
              <a:t>| Cost optimization review | IT Lead | [Date+30] |</a:t>
            </a:r>
          </a:p>
          <a:p>
            <a:r>
              <a:t>| Identify expansion candidates | DevOps Lead | [Date+30] |</a:t>
            </a:r>
          </a:p>
          <a:p/>
          <a:p>
            <a:r>
              <a:t>**Phase 2 Candidate Enhancements:**</a:t>
            </a:r>
          </a:p>
          <a:p/>
          <a:p>
            <a:r>
              <a:t>| Enhancement | Complexity | Est. ROI |</a:t>
            </a:r>
          </a:p>
          <a:p>
            <a:r>
              <a:t>|-------------|------------|----------|</a:t>
            </a:r>
          </a:p>
          <a:p>
            <a:r>
              <a:t>| Additional 50 workspaces | Medium | $50K/year |</a:t>
            </a:r>
          </a:p>
          <a:p>
            <a:r>
              <a:t>| Advanced cost policies | Low | $30K/year |</a:t>
            </a:r>
          </a:p>
          <a:p>
            <a:r>
              <a:t>| Drift auto-remediation | Medium | $25K/year |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*Closing and Q&amp;A Preparation:*</a:t>
            </a:r>
          </a:p>
          <a:p/>
          <a:p>
            <a:r>
              <a:t>**Closing Statement:**</a:t>
            </a:r>
          </a:p>
          <a:p>
            <a:r>
              <a:t>"Thank you for your partnership throughout this project. We've successfully transformed your multi-cloud infrastructure from fragmented manual processes into a unified, policy-driven automation platform. The solution is exceeding our compliance targets, the team is trained and ready, and you're already seeing measurable operational improvements.</a:t>
            </a:r>
          </a:p>
          <a:p/>
          <a:p>
            <a:r>
              <a:t>I want to open the floor for questions. We have [time] remaining."</a:t>
            </a:r>
          </a:p>
          <a:p/>
          <a:p>
            <a:r>
              <a:t>**Anticipated Questions and Prepared Answers:**</a:t>
            </a:r>
          </a:p>
          <a:p/>
          <a:p>
            <a:r>
              <a:t>*Q: What happens if Terraform Cloud goes down?*</a:t>
            </a:r>
          </a:p>
          <a:p>
            <a:r>
              <a:t>A: The platform is deployed on a 3-node EKS cluster with auto-healing. CloudWatch alarms alert at 99.5% threshold. Runbook has failover procedures. Existing infrastructure continues to run - only new changes are affected during outage.</a:t>
            </a:r>
          </a:p>
          <a:p/>
          <a:p>
            <a:r>
              <a:t>*Q: Can we add more workspaces ourselves?*</a:t>
            </a:r>
          </a:p>
          <a:p>
            <a:r>
              <a:t>A: Yes, the admin team is trained. Standard process: Create workspace in Terraform Cloud, attach to policy sets, configure VCS connection. Average time: 30 minutes per workspace. For bulk additions, we recommend vendor assistance.</a:t>
            </a:r>
          </a:p>
          <a:p/>
          <a:p>
            <a:r>
              <a:t>*Q: What are the ongoing costs?*</a:t>
            </a:r>
          </a:p>
          <a:p>
            <a:r>
              <a:t>A: Current run rate approximately $11,500/month:</a:t>
            </a:r>
          </a:p>
          <a:p>
            <a:r>
              <a:t>- AWS Infrastructure: $2,935/month (EKS, RDS, Vault)</a:t>
            </a:r>
          </a:p>
          <a:p>
            <a:r>
              <a:t>- Software Licenses: $1,530/month (monitoring, alerting)</a:t>
            </a:r>
          </a:p>
          <a:p>
            <a:r>
              <a:t>- Support &amp; Maintenance: $7,075/month</a:t>
            </a:r>
          </a:p>
          <a:p>
            <a:r>
              <a:t>Costs scale with workspace count and run volume.</a:t>
            </a:r>
          </a:p>
          <a:p/>
          <a:p>
            <a:r>
              <a:t>*Q: How do we handle a surge in Terraform runs?*</a:t>
            </a:r>
          </a:p>
          <a:p>
            <a:r>
              <a:t>A: Platform supports 15 concurrent runs currently. EKS auto-scales based on queue depth. For planned surges, increase worker pool in advance. HashiCorp support can assist with capacity planning.</a:t>
            </a:r>
          </a:p>
          <a:p/>
          <a:p>
            <a:r>
              <a:t>*Q: Is the credential management secure?*</a:t>
            </a:r>
          </a:p>
          <a:p>
            <a:r>
              <a:t>A: Yes. Vault uses dynamic short-lived credentials (1-hour default TTL). All credentials encrypted at rest and in transit. Audit logging for all secret access. KMS auto-unseal protects master keys.</a:t>
            </a:r>
          </a:p>
          <a:p/>
          <a:p>
            <a:r>
              <a:t>**Follow-Up Commitments:**</a:t>
            </a:r>
          </a:p>
          <a:p>
            <a:r>
              <a:t>- [ ] Send final presentation deck to all attendees</a:t>
            </a:r>
          </a:p>
          <a:p>
            <a:r>
              <a:t>- [ ] Distribute project summary one-pager</a:t>
            </a:r>
          </a:p>
          <a:p>
            <a:r>
              <a:t>- [ ] Schedule 30-day performance review meeting</a:t>
            </a:r>
          </a:p>
          <a:p>
            <a:r>
              <a:t>- [ ] Provide Phase 2 enhancement assessment template</a:t>
            </a:r>
          </a:p>
          <a:p/>
          <a:p>
            <a:r>
              <a:t>**Final Closing:**</a:t>
            </a:r>
          </a:p>
          <a:p>
            <a:r>
              <a:t>"Thank you again for your trust in our team. This project demonstrates what's possible when infrastructure automation is done right. We look forward to continuing this partnership in Phase 2 and beyond."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31079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21470" y="678433"/>
            <a:ext cx="4228856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Project Closeout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HashiCorp Multi-Cloud Platform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Project Manager | November 28,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Executive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Duration:</a:t>
            </a:r>
            <a:r>
              <a:t> 9 months, on schedule</a:t>
            </a:r>
          </a:p>
          <a:p>
            <a:pPr/>
            <a:r>
              <a:rPr b="1"/>
              <a:t>Budget:</a:t>
            </a:r>
            <a:r>
              <a:t> $138,478 Year 1 delivered on budget</a:t>
            </a:r>
          </a:p>
          <a:p>
            <a:pPr/>
            <a:r>
              <a:rPr b="1"/>
              <a:t>Go-Live Date:</a:t>
            </a:r>
            <a:r>
              <a:t> Month 9 as planned</a:t>
            </a:r>
          </a:p>
          <a:p>
            <a:pPr/>
            <a:r>
              <a:rPr b="1"/>
              <a:t>Quality:</a:t>
            </a:r>
            <a:r>
              <a:t> Zero critical defects at launch</a:t>
            </a:r>
          </a:p>
          <a:p>
            <a:pPr/>
            <a:r>
              <a:rPr b="1"/>
              <a:t>Provisioning Time:</a:t>
            </a:r>
            <a:r>
              <a:t> 78% reduction achieved</a:t>
            </a:r>
          </a:p>
          <a:p>
            <a:pPr/>
            <a:r>
              <a:rPr b="1"/>
              <a:t>Policy Compliance:</a:t>
            </a:r>
            <a:r>
              <a:t> 96.5% (target: 95%)</a:t>
            </a:r>
          </a:p>
          <a:p>
            <a:pPr/>
            <a:r>
              <a:rPr b="1"/>
              <a:t>ROI Status:</a:t>
            </a:r>
            <a:r>
              <a:t> On track for 18-month payback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Architecture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HashiCorp Stack</a:t>
            </a:r>
          </a:p>
          <a:p>
            <a:pPr lvl="1"/>
            <a:r>
              <a:t>Terraform Cloud on AWS EKS</a:t>
            </a:r>
          </a:p>
          <a:p>
            <a:pPr lvl="1"/>
            <a:r>
              <a:t>HashiCorp Vault secrets mgmt</a:t>
            </a:r>
          </a:p>
          <a:p>
            <a:pPr lvl="1"/>
            <a:r>
              <a:t>Consul service mesh deployed</a:t>
            </a:r>
          </a:p>
          <a:p>
            <a:pPr/>
            <a:r>
              <a:rPr b="1"/>
              <a:t>Platform Capabilities</a:t>
            </a:r>
          </a:p>
          <a:p>
            <a:pPr lvl="1"/>
            <a:r>
              <a:t>100 workspaces across 3 clouds</a:t>
            </a:r>
          </a:p>
          <a:p>
            <a:pPr lvl="1"/>
            <a:r>
              <a:t>50 Sentinel policies enforced</a:t>
            </a:r>
          </a:p>
          <a:p>
            <a:pPr lvl="1"/>
            <a:r>
              <a:t>GitOps with GitHub integration</a:t>
            </a:r>
          </a:p>
          <a:p>
            <a:pPr/>
            <a:r>
              <a:rPr b="1"/>
              <a:t>Operations</a:t>
            </a:r>
          </a:p>
          <a:p>
            <a:pPr lvl="1"/>
            <a:r>
              <a:t>CloudWatch &amp; Datadog monitoring</a:t>
            </a:r>
          </a:p>
          <a:p>
            <a:pPr lvl="1"/>
            <a:r>
              <a:t>15 concurrent runs supported</a:t>
            </a:r>
          </a:p>
          <a:p>
            <a:pPr lvl="1"/>
            <a:r>
              <a:t>Self-service with approvals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Deliverables Inventory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919919"/>
                <a:gridCol w="217773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Location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Multi-Cloud Architecture Document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Platform design, Vault config, Consul mesh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`/delivery/detailed-design.docx`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Implementation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Step-by-step deployment with Terraform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`/delivery/implementation-guide.docx`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Project Plan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Timeline, milestones, RACI, communications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`/delivery/project-plan.xlsx`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Test Plan &amp; Results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Policy validation, workspace tests, UAT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`/delivery/test-plan.xlsx`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Terraform Modules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as Code for all platforms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`/delivery/scripts/terraform/`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Sentinel Policy Library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policies for security, cost,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`/delivery/scripts/sentinel/`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Operations Runbook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Day-to-day procedures and troubleshooting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`/delivery/docs/operations-runbook.md`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Materials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Admin guides, user guides, video tutorials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`/delivery/training/`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Quality &amp;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Platform Metrics</a:t>
            </a:r>
          </a:p>
          <a:p>
            <a:pPr lvl="1"/>
            <a:r>
              <a:t>Platform Uptime: 99.92% (target: 99.9%)</a:t>
            </a:r>
          </a:p>
          <a:p>
            <a:pPr lvl="1"/>
            <a:r>
              <a:t>Workspace Success Rate: 98.7%</a:t>
            </a:r>
          </a:p>
          <a:p>
            <a:pPr lvl="1"/>
            <a:r>
              <a:t>Policy Compliance: 96.5% (target: 95%)</a:t>
            </a:r>
          </a:p>
          <a:p>
            <a:pPr lvl="1"/>
            <a:r>
              <a:t>Concurrent Runs: 15 supported</a:t>
            </a:r>
          </a:p>
          <a:p>
            <a:pPr lvl="1"/>
            <a:r>
              <a:t>Vault Availability: 99.99%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Efficiency Metrics</a:t>
            </a:r>
          </a:p>
          <a:p>
            <a:pPr lvl="1"/>
            <a:r>
              <a:t>Provisioning Time: 78% reduction</a:t>
            </a:r>
          </a:p>
          <a:p>
            <a:pPr lvl="1"/>
            <a:r>
              <a:t>Manual Effort: 85% reduction</a:t>
            </a:r>
          </a:p>
          <a:p>
            <a:pPr lvl="1"/>
            <a:r>
              <a:t>Approval Time: 5 days to 4 hours</a:t>
            </a:r>
          </a:p>
          <a:p>
            <a:pPr lvl="1"/>
            <a:r>
              <a:t>Policy Violations Blocked: 847</a:t>
            </a:r>
          </a:p>
          <a:p>
            <a:pPr lvl="1"/>
            <a:r>
              <a:t>Drift Remediation: Automated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Benefits Realized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1742186"/>
                <a:gridCol w="1742186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SOW 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Business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Provisioning Time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75%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78%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5-7 days to 1-1.5 days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Policy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95%+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96.5%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Zero security misconfigurations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Workspaces Migrated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workspaces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All clouds unified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Manual Effort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Reduce ops costs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85%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2.5 FTEs reallocated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Platform Uptime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99.9%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99.92%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Zero unplanned outages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Concurrent Runs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15 runs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15 supported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No provisioning bottlenecks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Lessons Learned &amp; Recommendations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Worked Well</a:t>
            </a:r>
          </a:p>
          <a:p>
            <a:pPr lvl="1"/>
            <a:r>
              <a:t>Phased workspace migration approach</a:t>
            </a:r>
          </a:p>
          <a:p>
            <a:pPr lvl="1"/>
            <a:r>
              <a:t>Sentinel advisory-to-mandatory rollout</a:t>
            </a:r>
          </a:p>
          <a:p>
            <a:pPr lvl="1"/>
            <a:r>
              <a:t>VCS-driven GitOps workflows</a:t>
            </a:r>
          </a:p>
          <a:p>
            <a:pPr lvl="1"/>
            <a:r>
              <a:t>Weekly stakeholder demonstrations</a:t>
            </a:r>
          </a:p>
          <a:p>
            <a:pPr lvl="1"/>
            <a:r>
              <a:t>Cross-functional team collaboration</a:t>
            </a:r>
          </a:p>
          <a:p>
            <a:pPr/>
            <a:r>
              <a:rPr b="1"/>
              <a:t>Challenges Overcome</a:t>
            </a:r>
          </a:p>
          <a:p>
            <a:pPr lvl="1"/>
            <a:r>
              <a:t>Legacy state file migration</a:t>
            </a:r>
          </a:p>
          <a:p>
            <a:pPr lvl="1"/>
            <a:r>
              <a:t>Multi-cloud credential complexity</a:t>
            </a:r>
          </a:p>
          <a:p>
            <a:pPr lvl="1"/>
            <a:r>
              <a:t>User adoption change management</a:t>
            </a:r>
          </a:p>
          <a:p>
            <a:pPr lvl="1"/>
            <a:r>
              <a:t>Policy tuning for false positives</a:t>
            </a:r>
          </a:p>
          <a:p>
            <a:pPr lvl="1"/>
            <a:r>
              <a:t>Integration timing with ServiceNow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Recommendations</a:t>
            </a:r>
          </a:p>
          <a:p>
            <a:pPr lvl="1"/>
            <a:r>
              <a:t>Expand to additional workspaces</a:t>
            </a:r>
          </a:p>
          <a:p>
            <a:pPr lvl="1"/>
            <a:r>
              <a:t>Implement cost optimization policies</a:t>
            </a:r>
          </a:p>
          <a:p>
            <a:pPr lvl="1"/>
            <a:r>
              <a:t>Add advanced drift remediation</a:t>
            </a:r>
          </a:p>
          <a:p>
            <a:pPr lvl="1"/>
            <a:r>
              <a:t>Plan quarterly policy reviews</a:t>
            </a:r>
          </a:p>
          <a:p>
            <a:pPr lvl="1"/>
            <a:r>
              <a:t>Consider managed services tier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Support Transition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Hypercare Complete (30 days)</a:t>
            </a:r>
          </a:p>
          <a:p>
            <a:pPr lvl="1"/>
            <a:r>
              <a:t>Daily health checks completed</a:t>
            </a:r>
          </a:p>
          <a:p>
            <a:pPr lvl="1"/>
            <a:r>
              <a:t>4 P3 issues resolved</a:t>
            </a:r>
          </a:p>
          <a:p>
            <a:pPr lvl="1"/>
            <a:r>
              <a:t>Knowledge transfer sessions done</a:t>
            </a:r>
          </a:p>
          <a:p>
            <a:pPr lvl="1"/>
            <a:r>
              <a:t>Runbook procedures validated</a:t>
            </a:r>
          </a:p>
          <a:p>
            <a:pPr lvl="1"/>
            <a:r>
              <a:t>Team fully trained and certified</a:t>
            </a:r>
          </a:p>
          <a:p>
            <a:pPr/>
            <a:r>
              <a:rPr b="1"/>
              <a:t>Steady State Support</a:t>
            </a:r>
          </a:p>
          <a:p>
            <a:pPr lvl="1"/>
            <a:r>
              <a:t>Business hours monitoring active</a:t>
            </a:r>
          </a:p>
          <a:p>
            <a:pPr lvl="1"/>
            <a:r>
              <a:t>Monthly performance reviews</a:t>
            </a:r>
          </a:p>
          <a:p>
            <a:pPr lvl="1"/>
            <a:r>
              <a:t>Quarterly policy reviews</a:t>
            </a:r>
          </a:p>
          <a:p>
            <a:pPr lvl="1"/>
            <a:r>
              <a:t>Automated alerting configured</a:t>
            </a:r>
          </a:p>
          <a:p>
            <a:pPr lvl="1"/>
            <a:r>
              <a:t>Documentation fully maintained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Escalation Path</a:t>
            </a:r>
          </a:p>
          <a:p>
            <a:pPr lvl="1"/>
            <a:r>
              <a:t>L1: Internal IT Help Desk</a:t>
            </a:r>
          </a:p>
          <a:p>
            <a:pPr lvl="1"/>
            <a:r>
              <a:t>L2: Platform Admin Team</a:t>
            </a:r>
          </a:p>
          <a:p>
            <a:pPr lvl="1"/>
            <a:r>
              <a:t>L3: HashiCorp Support (licensed)</a:t>
            </a:r>
          </a:p>
          <a:p>
            <a:pPr lvl="1"/>
            <a:r>
              <a:t>Emergency: On-call rotation</a:t>
            </a:r>
          </a:p>
          <a:p>
            <a:pPr lvl="1"/>
            <a:r>
              <a:t>Executive: Account Manager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Acknowledgments &amp; 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Team:</a:t>
            </a:r>
            <a:r>
              <a:t> Executive sponsor, IT team, security leads, DevOps engineers</a:t>
            </a:r>
          </a:p>
          <a:p>
            <a:pPr/>
            <a:r>
              <a:rPr b="1"/>
              <a:t>Vendor Team:</a:t>
            </a:r>
            <a:r>
              <a:t> Project manager, HashiCorp architect, DevOps engineers</a:t>
            </a:r>
          </a:p>
          <a:p>
            <a:pPr/>
            <a:r>
              <a:rPr b="1"/>
              <a:t>Special Recognition:</a:t>
            </a:r>
            <a:r>
              <a:t> DevOps team for workspace migration and Sentinel policy development</a:t>
            </a:r>
          </a:p>
          <a:p>
            <a:pPr/>
            <a:r>
              <a:rPr b="1"/>
              <a:t>This Week:</a:t>
            </a:r>
            <a:r>
              <a:t> Final documentation handover, archive project artifacts</a:t>
            </a:r>
          </a:p>
          <a:p>
            <a:pPr/>
            <a:r>
              <a:rPr b="1"/>
              <a:t>Next 30 Days:</a:t>
            </a:r>
            <a:r>
              <a:t> Monthly performance review, identify expansion candidates</a:t>
            </a:r>
          </a:p>
          <a:p>
            <a:pPr/>
            <a:r>
              <a:rPr b="1"/>
              <a:t>Next Quarter:</a:t>
            </a:r>
            <a:r>
              <a:t> Phase 2 planning for additional workspaces and features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86</cp:revision>
  <dcterms:created xsi:type="dcterms:W3CDTF">2025-11-01T21:16:10Z</dcterms:created>
  <dcterms:modified xsi:type="dcterms:W3CDTF">2025-11-27T20:15:42Z</dcterms:modified>
</cp:coreProperties>
</file>