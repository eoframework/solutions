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*Opening Statement:*</a:t>
            </a:r>
          </a:p>
          <a:p>
            <a:r>
              <a:t>Good [morning/afternoon]. Today we're celebrating the successful completion of the HashiCorp Terraform Enterprise implementation. This project has transformed [Client Name]'s fragmented Terraform OSS usage into a centralized, policy-driven infrastructure automation platform.</a:t>
            </a:r>
          </a:p>
          <a:p/>
          <a:p>
            <a:r>
              <a:t>*Key Talking Points - Expand on Each Bullet:*</a:t>
            </a:r>
          </a:p>
          <a:p/>
          <a:p>
            <a:r>
              <a:t>**Project Duration - 6 Months:**</a:t>
            </a:r>
          </a:p>
          <a:p>
            <a:r>
              <a:t>- Executed exactly as planned in the Statement of Work</a:t>
            </a:r>
          </a:p>
          <a:p>
            <a:r>
              <a:t>- Phase 1 (Foundation): Months 1-2 - Terraform Enterprise operational, 50 workspaces migrated</a:t>
            </a:r>
          </a:p>
          <a:p>
            <a:r>
              <a:t>- Phase 2 (Governance): Months 3-4 - Sentinel policies enforced, Vault integration complete</a:t>
            </a:r>
          </a:p>
          <a:p>
            <a:r>
              <a:t>- Phase 3 (Optimization): Months 5-6 - Self-service enabled, training complete</a:t>
            </a:r>
          </a:p>
          <a:p>
            <a:r>
              <a:t>- No schedule slippage despite workspace migration complexity</a:t>
            </a:r>
          </a:p>
          <a:p/>
          <a:p>
            <a:r>
              <a:t>**Budget - $116,576 Year 1:**</a:t>
            </a:r>
          </a:p>
          <a:p>
            <a:r>
              <a:t>- Cloud Infrastructure: $23,916 (AWS credits applied)</a:t>
            </a:r>
          </a:p>
          <a:p>
            <a:r>
              <a:t>- Software Licenses: $34,260 (TFE, monitoring, alerting)</a:t>
            </a:r>
          </a:p>
          <a:p>
            <a:r>
              <a:t>- Support &amp; Maintenance: $58,400</a:t>
            </a:r>
          </a:p>
          <a:p>
            <a:r>
              <a:t>- AWS Partner Credits: $12,000 applied to infrastructure</a:t>
            </a:r>
          </a:p>
          <a:p>
            <a:r>
              <a:t>- Actual spend: $116,512 - $64 under budget</a:t>
            </a:r>
          </a:p>
          <a:p/>
          <a:p>
            <a:r>
              <a:t>**Go-Live - Month 6:**</a:t>
            </a:r>
          </a:p>
          <a:p>
            <a:r>
              <a:t>- Followed phased workspace migration exactly as planned</a:t>
            </a:r>
          </a:p>
          <a:p>
            <a:r>
              <a:t>- 10 pilot workspaces in Week 1 (development)</a:t>
            </a:r>
          </a:p>
          <a:p>
            <a:r>
              <a:t>- 50 total workspaces migrated by Month 3</a:t>
            </a:r>
          </a:p>
          <a:p>
            <a:r>
              <a:t>- Full platform with self-service live Month 6</a:t>
            </a:r>
          </a:p>
          <a:p>
            <a:r>
              <a:t>- Zero rollback events required</a:t>
            </a:r>
          </a:p>
          <a:p/>
          <a:p>
            <a:r>
              <a:t>**Quality - Zero Critical Defects:**</a:t>
            </a:r>
          </a:p>
          <a:p>
            <a:r>
              <a:t>- 46 test cases executed, 100% pass rate</a:t>
            </a:r>
          </a:p>
          <a:p>
            <a:r>
              <a:t>- No P1 or P2 defects at go-live</a:t>
            </a:r>
          </a:p>
          <a:p>
            <a:r>
              <a:t>- 3 P3 defects identified and resolved during hypercare</a:t>
            </a:r>
          </a:p>
          <a:p>
            <a:r>
              <a:t>- Defect escape rate: 0.38% (target &lt;2%)</a:t>
            </a:r>
          </a:p>
          <a:p/>
          <a:p>
            <a:r>
              <a:t>**Provisioning Time - 82% Reduction:**</a:t>
            </a:r>
          </a:p>
          <a:p>
            <a:r>
              <a:t>- Baseline (manual): 5 days per environment average</a:t>
            </a:r>
          </a:p>
          <a:p>
            <a:r>
              <a:t>- Current (automated): 1 day average via self-service</a:t>
            </a:r>
          </a:p>
          <a:p>
            <a:r>
              <a:t>- Exceeds 80% target in SOW</a:t>
            </a:r>
          </a:p>
          <a:p>
            <a:r>
              <a:t>- Standard deployments: 4 hours via VCS webhooks</a:t>
            </a:r>
          </a:p>
          <a:p/>
          <a:p>
            <a:r>
              <a:t>**Policy Compliance - 100%:**</a:t>
            </a:r>
          </a:p>
          <a:p>
            <a:r>
              <a:t>- Target was 100% per SOW</a:t>
            </a:r>
          </a:p>
          <a:p>
            <a:r>
              <a:t>- 40 Sentinel policies enforced across all workspaces</a:t>
            </a:r>
          </a:p>
          <a:p>
            <a:r>
              <a:t>- Zero policy violations reaching production</a:t>
            </a:r>
          </a:p>
          <a:p>
            <a:r>
              <a:t>- Security, cost, and compliance frameworks covered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*Architecture Overview - Walk Through the Diagram:*</a:t>
            </a:r>
          </a:p>
          <a:p/>
          <a:p>
            <a:r>
              <a:t>"This diagram shows the production architecture we deployed. Let me walk through the platform components..."</a:t>
            </a:r>
          </a:p>
          <a:p/>
          <a:p>
            <a:r>
              <a:t>**Terraform Enterprise Platform:**</a:t>
            </a:r>
          </a:p>
          <a:p>
            <a:r>
              <a:t>- Deployed on AWS EKS with 3 nodes (t3.large) for high availability</a:t>
            </a:r>
          </a:p>
          <a:p>
            <a:r>
              <a:t>- PostgreSQL RDS backend (db.t3.medium) for state storage</a:t>
            </a:r>
          </a:p>
          <a:p>
            <a:r>
              <a:t>- Manages 50 workspaces across AWS infrastructure</a:t>
            </a:r>
          </a:p>
          <a:p>
            <a:r>
              <a:t>- 25 users with 5 roles (viewer, plan-only, operator, admin, security-reviewer)</a:t>
            </a:r>
          </a:p>
          <a:p>
            <a:r>
              <a:t>- 10 concurrent Terraform runs supported</a:t>
            </a:r>
          </a:p>
          <a:p>
            <a:r>
              <a:t>- VCS integration with GitHub for GitOps workflows</a:t>
            </a:r>
          </a:p>
          <a:p/>
          <a:p>
            <a:r>
              <a:t>**HashiCorp Vault Integration:**</a:t>
            </a:r>
          </a:p>
          <a:p>
            <a:r>
              <a:t>- Dynamic AWS credentials via Vault secrets engine</a:t>
            </a:r>
          </a:p>
          <a:p>
            <a:r>
              <a:t>- 1-hour TTL for automated credential rotation</a:t>
            </a:r>
          </a:p>
          <a:p>
            <a:r>
              <a:t>- No static credentials in code or environment variables</a:t>
            </a:r>
          </a:p>
          <a:p>
            <a:r>
              <a:t>- Integrated with Terraform Enterprise run environment</a:t>
            </a:r>
          </a:p>
          <a:p/>
          <a:p>
            <a:r>
              <a:t>**Sentinel Policy Framework:**</a:t>
            </a:r>
          </a:p>
          <a:p>
            <a:r>
              <a:t>- 40 policies developed covering security, cost, and compliance</a:t>
            </a:r>
          </a:p>
          <a:p>
            <a:r>
              <a:t>- Security policies: Network rules, encryption, IAM validation</a:t>
            </a:r>
          </a:p>
          <a:p>
            <a:r>
              <a:t>- Cost policies: Resource sizing, tagging enforcement</a:t>
            </a:r>
          </a:p>
          <a:p>
            <a:r>
              <a:t>- Compliance policies: SOC2, ISO27001 control mapping</a:t>
            </a:r>
          </a:p>
          <a:p>
            <a:r>
              <a:t>- Progressive enforcement: Advisory in dev, mandatory in prod</a:t>
            </a:r>
          </a:p>
          <a:p/>
          <a:p>
            <a:r>
              <a:t>**Private Module Registry:**</a:t>
            </a:r>
          </a:p>
          <a:p>
            <a:r>
              <a:t>- 15 reusable Terraform modules published</a:t>
            </a:r>
          </a:p>
          <a:p>
            <a:r>
              <a:t>- Version control with semantic versioning</a:t>
            </a:r>
          </a:p>
          <a:p>
            <a:r>
              <a:t>- Module documentation auto-generated</a:t>
            </a:r>
          </a:p>
          <a:p>
            <a:r>
              <a:t>- Team access controls per module</a:t>
            </a:r>
          </a:p>
          <a:p/>
          <a:p>
            <a:r>
              <a:t>*Presales Alignment:*</a:t>
            </a:r>
          </a:p>
          <a:p>
            <a:r>
              <a:t>- Architecture matches SOW specification exactly</a:t>
            </a:r>
          </a:p>
          <a:p>
            <a:r>
              <a:t>- All services deployed: TFE on EKS, Vault integration, Sentinel policies</a:t>
            </a:r>
          </a:p>
          <a:p>
            <a:r>
              <a:t>- No scope additions beyond presales commitment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*Deliverables Deep Dive - Review Each Item:*</a:t>
            </a:r>
          </a:p>
          <a:p/>
          <a:p>
            <a:r>
              <a:t>**1. TFE Architecture Document (detailed-design.docx):**</a:t>
            </a:r>
          </a:p>
          <a:p>
            <a:r>
              <a:t>- 45 pages comprehensive technical documentation</a:t>
            </a:r>
          </a:p>
          <a:p>
            <a:r>
              <a:t>- Sections include:</a:t>
            </a:r>
          </a:p>
          <a:p>
            <a:r>
              <a:t>  - Executive Summary and business context</a:t>
            </a:r>
          </a:p>
          <a:p>
            <a:r>
              <a:t>  - Current state Terraform OSS assessment</a:t>
            </a:r>
          </a:p>
          <a:p>
            <a:r>
              <a:t>  - Target architecture with Terraform Enterprise on EKS</a:t>
            </a:r>
          </a:p>
          <a:p>
            <a:r>
              <a:t>  - Sentinel policy framework design</a:t>
            </a:r>
          </a:p>
          <a:p>
            <a:r>
              <a:t>  - Security controls and compliance mapping</a:t>
            </a:r>
          </a:p>
          <a:p>
            <a:r>
              <a:t>  - HashiCorp Vault integration specifications</a:t>
            </a:r>
          </a:p>
          <a:p>
            <a:r>
              <a:t>  - Monitoring and alerting setup</a:t>
            </a:r>
          </a:p>
          <a:p>
            <a:r>
              <a:t>- Reviewed and accepted by [Technical Lead] on [Date]</a:t>
            </a:r>
          </a:p>
          <a:p/>
          <a:p>
            <a:r>
              <a:t>**2. Implementation Guide (implementation-guide.docx):**</a:t>
            </a:r>
          </a:p>
          <a:p>
            <a:r>
              <a:t>- Step-by-step deployment procedures for all components</a:t>
            </a:r>
          </a:p>
          <a:p>
            <a:r>
              <a:t>- Prerequisites checklist for AWS and GitHub access</a:t>
            </a:r>
          </a:p>
          <a:p>
            <a:r>
              <a:t>- Terraform configuration for EKS and RDS deployment</a:t>
            </a:r>
          </a:p>
          <a:p>
            <a:r>
              <a:t>- Workspace migration procedures from OSS to Enterprise</a:t>
            </a:r>
          </a:p>
          <a:p>
            <a:r>
              <a:t>- Sentinel policy deployment guide</a:t>
            </a:r>
          </a:p>
          <a:p>
            <a:r>
              <a:t>- Post-deployment validation steps</a:t>
            </a:r>
          </a:p>
          <a:p>
            <a:r>
              <a:t>- Rollback procedures</a:t>
            </a:r>
          </a:p>
          <a:p>
            <a:r>
              <a:t>- Validated by rebuilding staging environment from scratch</a:t>
            </a:r>
          </a:p>
          <a:p/>
          <a:p>
            <a:r>
              <a:t>**3. Project Plan (project-plan.xlsx):**</a:t>
            </a:r>
          </a:p>
          <a:p>
            <a:r>
              <a:t>- Four worksheets:</a:t>
            </a:r>
          </a:p>
          <a:p>
            <a:r>
              <a:t>  1. Project Timeline - 35 tasks across 6 months</a:t>
            </a:r>
          </a:p>
          <a:p>
            <a:r>
              <a:t>  2. Milestones - 8 major milestones tracked</a:t>
            </a:r>
          </a:p>
          <a:p>
            <a:r>
              <a:t>  3. RACI Matrix - 20 activities with clear ownership</a:t>
            </a:r>
          </a:p>
          <a:p>
            <a:r>
              <a:t>  4. Communications Plan - 8 meeting types defined</a:t>
            </a:r>
          </a:p>
          <a:p>
            <a:r>
              <a:t>- All milestones achieved on or ahead of schedule</a:t>
            </a:r>
          </a:p>
          <a:p>
            <a:r>
              <a:t>- Final status: 100% complete</a:t>
            </a:r>
          </a:p>
          <a:p/>
          <a:p>
            <a:r>
              <a:t>**4. Test Plan &amp; Results (test-plan.xlsx):**</a:t>
            </a:r>
          </a:p>
          <a:p>
            <a:r>
              <a:t>- Three test categories:</a:t>
            </a:r>
          </a:p>
          <a:p>
            <a:r>
              <a:t>  1. Functional Tests - 18 test cases (100% pass)</a:t>
            </a:r>
          </a:p>
          <a:p>
            <a:r>
              <a:t>  2. Non-Functional Tests - 16 test cases (100% pass)</a:t>
            </a:r>
          </a:p>
          <a:p>
            <a:r>
              <a:t>  3. User Acceptance Tests - 12 test cases (100% pass)</a:t>
            </a:r>
          </a:p>
          <a:p>
            <a:r>
              <a:t>- Policy enforcement validation across all environments</a:t>
            </a:r>
          </a:p>
          <a:p>
            <a:r>
              <a:t>- Performance benchmarks documented</a:t>
            </a:r>
          </a:p>
          <a:p/>
          <a:p>
            <a:r>
              <a:t>**5. Sentinel Policy Library:**</a:t>
            </a:r>
          </a:p>
          <a:p>
            <a:r>
              <a:t>- 40 policies organized by framework:</a:t>
            </a:r>
          </a:p>
          <a:p>
            <a:r>
              <a:t>  - `security/` - 18 policies (network, encryption, IAM)</a:t>
            </a:r>
          </a:p>
          <a:p>
            <a:r>
              <a:t>  - `cost/` - 12 policies (sizing, tagging, budgets)</a:t>
            </a:r>
          </a:p>
          <a:p>
            <a:r>
              <a:t>  - `compliance/` - 10 policies (SOC2, ISO27001)</a:t>
            </a:r>
          </a:p>
          <a:p>
            <a:r>
              <a:t>- Advisory and mandatory enforcement levels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*Quality &amp; Performance Deep Dive:*</a:t>
            </a:r>
          </a:p>
          <a:p/>
          <a:p>
            <a:r>
              <a:t>**Platform Metrics - Detailed Breakdown:**</a:t>
            </a:r>
          </a:p>
          <a:p/>
          <a:p>
            <a:r>
              <a:t>*Platform Uptime: 99.94%*</a:t>
            </a:r>
          </a:p>
          <a:p>
            <a:r>
              <a:t>- Target: 99.9% availability per SOW</a:t>
            </a:r>
          </a:p>
          <a:p>
            <a:r>
              <a:t>- Achieved: 99.94% (0.43 hours downtime in 30 days)</a:t>
            </a:r>
          </a:p>
          <a:p>
            <a:r>
              <a:t>- Downtime breakdown:</a:t>
            </a:r>
          </a:p>
          <a:p>
            <a:r>
              <a:t>  - Planned maintenance: 0.3 hours (during off-hours)</a:t>
            </a:r>
          </a:p>
          <a:p>
            <a:r>
              <a:t>  - Unplanned: 0.13 hours (EKS node replacement, auto-healed)</a:t>
            </a:r>
          </a:p>
          <a:p>
            <a:r>
              <a:t>- No data loss incidents</a:t>
            </a:r>
          </a:p>
          <a:p>
            <a:r>
              <a:t>- All SLAs met or exceeded</a:t>
            </a:r>
          </a:p>
          <a:p/>
          <a:p>
            <a:r>
              <a:t>*Workspace Run Success: 98.5%*</a:t>
            </a:r>
          </a:p>
          <a:p>
            <a:r>
              <a:t>- Successful Terraform runs / Total runs</a:t>
            </a:r>
          </a:p>
          <a:p>
            <a:r>
              <a:t>- 1.5% failure rate due to:</a:t>
            </a:r>
          </a:p>
          <a:p>
            <a:r>
              <a:t>  - AWS API rate limits: 0.6%</a:t>
            </a:r>
          </a:p>
          <a:p>
            <a:r>
              <a:t>  - State locking conflicts (resolved): 0.4%</a:t>
            </a:r>
          </a:p>
          <a:p>
            <a:r>
              <a:t>  - Policy violations (intended blocks): 0.5%</a:t>
            </a:r>
          </a:p>
          <a:p>
            <a:r>
              <a:t>- Average run duration: 2.5 minutes</a:t>
            </a:r>
          </a:p>
          <a:p/>
          <a:p>
            <a:r>
              <a:t>*Policy Compliance: 100%*</a:t>
            </a:r>
          </a:p>
          <a:p>
            <a:r>
              <a:t>- Target: 100% per SOW</a:t>
            </a:r>
          </a:p>
          <a:p>
            <a:r>
              <a:t>- 40 Sentinel policies enforced</a:t>
            </a:r>
          </a:p>
          <a:p>
            <a:r>
              <a:t>- Zero policy violations reached production</a:t>
            </a:r>
          </a:p>
          <a:p>
            <a:r>
              <a:t>- 234 violations blocked pre-apply</a:t>
            </a:r>
          </a:p>
          <a:p/>
          <a:p>
            <a:r>
              <a:t>**Efficiency Metrics - Detailed Analysis:**</a:t>
            </a:r>
          </a:p>
          <a:p/>
          <a:p>
            <a:r>
              <a:t>*Provisioning Time: 82% Reduction*</a:t>
            </a:r>
          </a:p>
          <a:p>
            <a:r>
              <a:t>- SOW target: 80% reduction</a:t>
            </a:r>
          </a:p>
          <a:p>
            <a:r>
              <a:t>- Baseline (manual): 5 days per environment</a:t>
            </a:r>
          </a:p>
          <a:p>
            <a:r>
              <a:t>- Current (automated): 1 day average</a:t>
            </a:r>
          </a:p>
          <a:p>
            <a:r>
              <a:t>- Self-service standard deployments: 4 hours</a:t>
            </a:r>
          </a:p>
          <a:p>
            <a:r>
              <a:t>- Exceeds target by 2%</a:t>
            </a:r>
          </a:p>
          <a:p/>
          <a:p>
            <a:r>
              <a:t>*Manual Effort: 80% Reduction*</a:t>
            </a:r>
          </a:p>
          <a:p>
            <a:r>
              <a:t>- Before: 2 FTEs dedicated to infrastructure provisioning</a:t>
            </a:r>
          </a:p>
          <a:p>
            <a:r>
              <a:t>- After: 0.4 FTE for review queue and exception handling</a:t>
            </a:r>
          </a:p>
          <a:p>
            <a:r>
              <a:t>- Remaining 1.6 FTE capacity reallocated to strategic work</a:t>
            </a:r>
          </a:p>
          <a:p/>
          <a:p>
            <a:r>
              <a:t>**Testing Summary:**</a:t>
            </a:r>
          </a:p>
          <a:p>
            <a:r>
              <a:t>- Test Cases Executed: 46 total</a:t>
            </a:r>
          </a:p>
          <a:p>
            <a:r>
              <a:t>- Pass Rate: 100%</a:t>
            </a:r>
          </a:p>
          <a:p>
            <a:r>
              <a:t>- Test Coverage: 94%</a:t>
            </a:r>
          </a:p>
          <a:p>
            <a:r>
              <a:t>- Critical Defects at Go-Live: 0</a:t>
            </a:r>
          </a:p>
          <a:p>
            <a:r>
              <a:t>- Defects Found During Hypercare: 3 (all P3, resolved)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*Benefits Analysis - Detailed ROI Discussion:*</a:t>
            </a:r>
          </a:p>
          <a:p/>
          <a:p>
            <a:r>
              <a:t>**Provisioning Time Reduction - 82%:**</a:t>
            </a:r>
          </a:p>
          <a:p/>
          <a:p>
            <a:r>
              <a:t>*Before (Manual Process):*</a:t>
            </a:r>
          </a:p>
          <a:p>
            <a:r>
              <a:t>- Average time per environment: 5 days</a:t>
            </a:r>
          </a:p>
          <a:p>
            <a:r>
              <a:t>- Steps involved:</a:t>
            </a:r>
          </a:p>
          <a:p>
            <a:r>
              <a:t>  1. Manual approval chain via email (2-3 days)</a:t>
            </a:r>
          </a:p>
          <a:p>
            <a:r>
              <a:t>  2. Terraform OSS execution with local state (1 day)</a:t>
            </a:r>
          </a:p>
          <a:p>
            <a:r>
              <a:t>  3. Manual validation and documentation (1 day)</a:t>
            </a:r>
          </a:p>
          <a:p>
            <a:r>
              <a:t>- Daily capacity: 1 environment per team</a:t>
            </a:r>
          </a:p>
          <a:p/>
          <a:p>
            <a:r>
              <a:t>*After (Automated Process):*</a:t>
            </a:r>
          </a:p>
          <a:p>
            <a:r>
              <a:t>- Average time per environment: 1 day</a:t>
            </a:r>
          </a:p>
          <a:p>
            <a:r>
              <a:t>- Self-service standard deployments: 4 hours</a:t>
            </a:r>
          </a:p>
          <a:p>
            <a:r>
              <a:t>- 90% fully automated via VCS webhooks</a:t>
            </a:r>
          </a:p>
          <a:p>
            <a:r>
              <a:t>- Daily capacity: 5+ environments possible</a:t>
            </a:r>
          </a:p>
          <a:p>
            <a:r>
              <a:t>- Staff time per deployment: &lt;20 minutes average</a:t>
            </a:r>
          </a:p>
          <a:p/>
          <a:p>
            <a:r>
              <a:t>**Policy Compliance - 100%:**</a:t>
            </a:r>
          </a:p>
          <a:p/>
          <a:p>
            <a:r>
              <a:t>*Before (Manual Enforcement):*</a:t>
            </a:r>
          </a:p>
          <a:p>
            <a:r>
              <a:t>- Compliance rate: ~60% (estimated)</a:t>
            </a:r>
          </a:p>
          <a:p>
            <a:r>
              <a:t>- Manual code reviews on each deployment</a:t>
            </a:r>
          </a:p>
          <a:p>
            <a:r>
              <a:t>- Inconsistent enforcement across teams</a:t>
            </a:r>
          </a:p>
          <a:p>
            <a:r>
              <a:t>- Audit findings: 8 security issues annually</a:t>
            </a:r>
          </a:p>
          <a:p>
            <a:r>
              <a:t>- Cost of compliance gaps: $120K annually (per discovery)</a:t>
            </a:r>
          </a:p>
          <a:p/>
          <a:p>
            <a:r>
              <a:t>*After (Automated Sentinel):*</a:t>
            </a:r>
          </a:p>
          <a:p>
            <a:r>
              <a:t>- Compliance rate: 100%</a:t>
            </a:r>
          </a:p>
          <a:p>
            <a:r>
              <a:t>- 40 policies enforced automatically</a:t>
            </a:r>
          </a:p>
          <a:p>
            <a:r>
              <a:t>- Consistent enforcement across all workspaces</a:t>
            </a:r>
          </a:p>
          <a:p>
            <a:r>
              <a:t>- Policy violations blocked: 234 in first month</a:t>
            </a:r>
          </a:p>
          <a:p>
            <a:r>
              <a:t>- Projected audit findings: Zero</a:t>
            </a:r>
          </a:p>
          <a:p/>
          <a:p>
            <a:r>
              <a:t>**Cost Savings Projection:**</a:t>
            </a:r>
          </a:p>
          <a:p/>
          <a:p>
            <a:r>
              <a:t>*Annual Savings Analysis:*</a:t>
            </a:r>
          </a:p>
          <a:p/>
          <a:p>
            <a:r>
              <a:t>| Category | Before (Annual) | After (Annual) | Savings |</a:t>
            </a:r>
          </a:p>
          <a:p>
            <a:r>
              <a:t>|----------|-----------------|----------------|---------|</a:t>
            </a:r>
          </a:p>
          <a:p>
            <a:r>
              <a:t>| Labor (2 FTEs) | $192,000 | $64,000* | $128,000 |</a:t>
            </a:r>
          </a:p>
          <a:p>
            <a:r>
              <a:t>| Security Incidents | $120,000 | $10,000 | $110,000 |</a:t>
            </a:r>
          </a:p>
          <a:p>
            <a:r>
              <a:t>| Compliance Remediation | $35,000 | $5,000 | $30,000 |</a:t>
            </a:r>
          </a:p>
          <a:p>
            <a:r>
              <a:t>| **Subtotal Savings** | | | **$268,000** |</a:t>
            </a:r>
          </a:p>
          <a:p>
            <a:r>
              <a:t>| Platform Investment | | ($116,576) | |</a:t>
            </a:r>
          </a:p>
          <a:p>
            <a:r>
              <a:t>| **Net Annual Savings** | | | **$151,424** |</a:t>
            </a:r>
          </a:p>
          <a:p/>
          <a:p>
            <a:r>
              <a:t>*Note: 1.6 FTEs reallocated to strategic work, 0.4 FTE manages platform</a:t>
            </a:r>
          </a:p>
          <a:p/>
          <a:p>
            <a:r>
              <a:t>**ROI Summary:**</a:t>
            </a:r>
          </a:p>
          <a:p/>
          <a:p>
            <a:r>
              <a:t>| Metric | Value |</a:t>
            </a:r>
          </a:p>
          <a:p>
            <a:r>
              <a:t>|--------|-------|</a:t>
            </a:r>
          </a:p>
          <a:p>
            <a:r>
              <a:t>| Total Investment (Year 1) | $116,576 |</a:t>
            </a:r>
          </a:p>
          <a:p>
            <a:r>
              <a:t>| Year 1 Net Savings | $151,424 |</a:t>
            </a:r>
          </a:p>
          <a:p>
            <a:r>
              <a:t>| Year 1 ROI | 130% |</a:t>
            </a:r>
          </a:p>
          <a:p>
            <a:r>
              <a:t>| Payback Period | 9.2 months |</a:t>
            </a:r>
          </a:p>
          <a:p>
            <a:r>
              <a:t>| 3-Year TCO | $373,728 |</a:t>
            </a:r>
          </a:p>
          <a:p>
            <a:r>
              <a:t>| 3-Year Savings | $804,000 |</a:t>
            </a:r>
          </a:p>
          <a:p>
            <a:r>
              <a:t>| 3-Year Net Benefit | $430,272 |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*Lessons Learned - Comprehensive Review:*</a:t>
            </a:r>
          </a:p>
          <a:p/>
          <a:p>
            <a:r>
              <a:t>**What Worked Well - Details:**</a:t>
            </a:r>
          </a:p>
          <a:p/>
          <a:p>
            <a:r>
              <a:t>*1. Phased Workspace Migration:*</a:t>
            </a:r>
          </a:p>
          <a:p>
            <a:r>
              <a:t>- Started with 10 pilot development workspaces in Week 1</a:t>
            </a:r>
          </a:p>
          <a:p>
            <a:r>
              <a:t>- Validated state migration, VCS triggers, policy enforcement</a:t>
            </a:r>
          </a:p>
          <a:p>
            <a:r>
              <a:t>- Built stakeholder confidence before production migration</a:t>
            </a:r>
          </a:p>
          <a:p>
            <a:r>
              <a:t>- Expanded to 50 workspaces by Month 3 with zero data loss</a:t>
            </a:r>
          </a:p>
          <a:p>
            <a:r>
              <a:t>- Recommendation: Always pilot with non-production first</a:t>
            </a:r>
          </a:p>
          <a:p/>
          <a:p>
            <a:r>
              <a:t>*2. Sentinel Advisory-to-Mandatory Rollout:*</a:t>
            </a:r>
          </a:p>
          <a:p>
            <a:r>
              <a:t>- Initial concern: Would policies break existing workflows?</a:t>
            </a:r>
          </a:p>
          <a:p>
            <a:r>
              <a:t>- Started with advisory mode (warnings only) for 2 weeks</a:t>
            </a:r>
          </a:p>
          <a:p>
            <a:r>
              <a:t>- Tuned false positives and exceptions before mandatory</a:t>
            </a:r>
          </a:p>
          <a:p>
            <a:r>
              <a:t>- Teams had time to remediate existing violations</a:t>
            </a:r>
          </a:p>
          <a:p>
            <a:r>
              <a:t>- Result: Smooth transition with minimal disruption</a:t>
            </a:r>
          </a:p>
          <a:p/>
          <a:p>
            <a:r>
              <a:t>*3. Private Module Registry Adoption:*</a:t>
            </a:r>
          </a:p>
          <a:p>
            <a:r>
              <a:t>- Created 15 reusable modules during implementation</a:t>
            </a:r>
          </a:p>
          <a:p>
            <a:r>
              <a:t>- Teams immediately adopted for new infrastructure</a:t>
            </a:r>
          </a:p>
          <a:p>
            <a:r>
              <a:t>- Module usage increased productivity by 35%</a:t>
            </a:r>
          </a:p>
          <a:p>
            <a:r>
              <a:t>- Version control prevented breaking changes</a:t>
            </a:r>
          </a:p>
          <a:p>
            <a:r>
              <a:t>- Recommendation: Start module library early in project</a:t>
            </a:r>
          </a:p>
          <a:p/>
          <a:p>
            <a:r>
              <a:t>**Challenges Overcome - Details:**</a:t>
            </a:r>
          </a:p>
          <a:p/>
          <a:p>
            <a:r>
              <a:t>*1. State File Migration:*</a:t>
            </a:r>
          </a:p>
          <a:p>
            <a:r>
              <a:t>- Challenge: 50 state files across S3 and local storage</a:t>
            </a:r>
          </a:p>
          <a:p>
            <a:r>
              <a:t>- Impact: Risk of state corruption and resource conflicts</a:t>
            </a:r>
          </a:p>
          <a:p>
            <a:r>
              <a:t>- Resolution:</a:t>
            </a:r>
          </a:p>
          <a:p>
            <a:r>
              <a:t>  - Developed migration scripts with validation</a:t>
            </a:r>
          </a:p>
          <a:p>
            <a:r>
              <a:t>  - Parallel validation before switching backends</a:t>
            </a:r>
          </a:p>
          <a:p>
            <a:r>
              <a:t>  - Rollback procedures tested for each workspace</a:t>
            </a:r>
          </a:p>
          <a:p>
            <a:r>
              <a:t>- Result: Zero state corruption incidents</a:t>
            </a:r>
          </a:p>
          <a:p/>
          <a:p>
            <a:r>
              <a:t>*2. Vault Credential Integration:*</a:t>
            </a:r>
          </a:p>
          <a:p>
            <a:r>
              <a:t>- Challenge: Timing dependencies with TFE run environment</a:t>
            </a:r>
          </a:p>
          <a:p>
            <a:r>
              <a:t>- Impact: Initial runs failed to retrieve dynamic credentials</a:t>
            </a:r>
          </a:p>
          <a:p>
            <a:r>
              <a:t>- Resolution:</a:t>
            </a:r>
          </a:p>
          <a:p>
            <a:r>
              <a:t>  - Adjusted Vault TTL settings for run duration</a:t>
            </a:r>
          </a:p>
          <a:p>
            <a:r>
              <a:t>  - Implemented credential pre-fetch in run tasks</a:t>
            </a:r>
          </a:p>
          <a:p>
            <a:r>
              <a:t>  - Created troubleshooting runbook</a:t>
            </a:r>
          </a:p>
          <a:p>
            <a:r>
              <a:t>- Result: 100% credential retrieval success rate</a:t>
            </a:r>
          </a:p>
          <a:p/>
          <a:p>
            <a:r>
              <a:t>**Recommendations for Future Enhancement:**</a:t>
            </a:r>
          </a:p>
          <a:p/>
          <a:p>
            <a:r>
              <a:t>*1. Expand to Additional Workspaces:*</a:t>
            </a:r>
          </a:p>
          <a:p>
            <a:r>
              <a:t>- Current: 50 workspaces for AWS infrastructure</a:t>
            </a:r>
          </a:p>
          <a:p>
            <a:r>
              <a:t>- Opportunity: 30+ additional workspaces identified</a:t>
            </a:r>
          </a:p>
          <a:p>
            <a:r>
              <a:t>- Estimated effort: 2-3 weeks per wave of 15</a:t>
            </a:r>
          </a:p>
          <a:p>
            <a:r>
              <a:t>- Business case: Additional $40K savings per 15 workspaces</a:t>
            </a:r>
          </a:p>
          <a:p/>
          <a:p>
            <a:r>
              <a:t>*2. Add More Sentinel Policies:*</a:t>
            </a:r>
          </a:p>
          <a:p>
            <a:r>
              <a:t>- Current: 40 policies for security, cost, compliance</a:t>
            </a:r>
          </a:p>
          <a:p>
            <a:r>
              <a:t>- Enhancement: Industry-specific policies (HIPAA, PCI)</a:t>
            </a:r>
          </a:p>
          <a:p>
            <a:r>
              <a:t>- Target: 60+ policies for comprehensive governance</a:t>
            </a:r>
          </a:p>
          <a:p>
            <a:r>
              <a:t>- Timeline: 2-4 weeks per policy set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*Support Transition - Complete Details:*</a:t>
            </a:r>
          </a:p>
          <a:p/>
          <a:p>
            <a:r>
              <a:t>**Hypercare Period Summary (30 Days Post-Go-Live):**</a:t>
            </a:r>
          </a:p>
          <a:p/>
          <a:p>
            <a:r>
              <a:t>*Daily Activities Completed:*</a:t>
            </a:r>
          </a:p>
          <a:p>
            <a:r>
              <a:t>- Morning health check calls (9am) - first 2 weeks</a:t>
            </a:r>
          </a:p>
          <a:p>
            <a:r>
              <a:t>- CloudWatch dashboard review</a:t>
            </a:r>
          </a:p>
          <a:p>
            <a:r>
              <a:t>- Terraform run queue monitoring</a:t>
            </a:r>
          </a:p>
          <a:p>
            <a:r>
              <a:t>- Vault credential generation validation</a:t>
            </a:r>
          </a:p>
          <a:p>
            <a:r>
              <a:t>- Policy enforcement statistics review</a:t>
            </a:r>
          </a:p>
          <a:p/>
          <a:p>
            <a:r>
              <a:t>*Issues Resolved During Hypercare:*</a:t>
            </a:r>
          </a:p>
          <a:p/>
          <a:p>
            <a:r>
              <a:t>Issue #1 (P3) - Day 4:</a:t>
            </a:r>
          </a:p>
          <a:p>
            <a:r>
              <a:t>- Problem: VCS webhook delivery delays</a:t>
            </a:r>
          </a:p>
          <a:p>
            <a:r>
              <a:t>- Root cause: GitHub rate limiting</a:t>
            </a:r>
          </a:p>
          <a:p>
            <a:r>
              <a:t>- Resolution: Implemented webhook batching</a:t>
            </a:r>
          </a:p>
          <a:p>
            <a:r>
              <a:t>- Prevention: Rate limit monitoring added</a:t>
            </a:r>
          </a:p>
          <a:p/>
          <a:p>
            <a:r>
              <a:t>Issue #2 (P3) - Day 9:</a:t>
            </a:r>
          </a:p>
          <a:p>
            <a:r>
              <a:t>- Problem: Cost estimation timeout on large plans</a:t>
            </a:r>
          </a:p>
          <a:p>
            <a:r>
              <a:t>- Root cause: Plan complexity exceeded timeout</a:t>
            </a:r>
          </a:p>
          <a:p>
            <a:r>
              <a:t>- Resolution: Increased cost estimation timeout</a:t>
            </a:r>
          </a:p>
          <a:p>
            <a:r>
              <a:t>- Cost impact: None</a:t>
            </a:r>
          </a:p>
          <a:p/>
          <a:p>
            <a:r>
              <a:t>Issue #3 (P3) - Day 15:</a:t>
            </a:r>
          </a:p>
          <a:p>
            <a:r>
              <a:t>- Problem: Sentinel policy false positive on dev</a:t>
            </a:r>
          </a:p>
          <a:p>
            <a:r>
              <a:t>- Root cause: New AWS provider attribute</a:t>
            </a:r>
          </a:p>
          <a:p>
            <a:r>
              <a:t>- Resolution: Updated policy logic</a:t>
            </a:r>
          </a:p>
          <a:p>
            <a:r>
              <a:t>- User feedback: "Works correctly now"</a:t>
            </a:r>
          </a:p>
          <a:p/>
          <a:p>
            <a:r>
              <a:t>*Knowledge Transfer Sessions Delivered:*</a:t>
            </a:r>
          </a:p>
          <a:p/>
          <a:p>
            <a:r>
              <a:t>| Session | Date | Attendees | Duration | Recording |</a:t>
            </a:r>
          </a:p>
          <a:p>
            <a:r>
              <a:t>|---------|------|-----------|----------|-----------|</a:t>
            </a:r>
          </a:p>
          <a:p>
            <a:r>
              <a:t>| Platform Admin Deep Dive | Week 25 | 4 IT staff | 4 hours | Yes |</a:t>
            </a:r>
          </a:p>
          <a:p>
            <a:r>
              <a:t>| Sentinel Policy Workshop | Week 25 | 4 DevOps | 3 hours | Yes |</a:t>
            </a:r>
          </a:p>
          <a:p>
            <a:r>
              <a:t>| Vault Integration | Week 26 | 3 Security | 2 hours | Yes |</a:t>
            </a:r>
          </a:p>
          <a:p>
            <a:r>
              <a:t>| Workspace Management | Week 24 | 8 engineers | 1.5 hours | Yes |</a:t>
            </a:r>
          </a:p>
          <a:p>
            <a:r>
              <a:t>| Executive Dashboard | Week 26 | 3 managers | 30 min | Yes |</a:t>
            </a:r>
          </a:p>
          <a:p/>
          <a:p>
            <a:r>
              <a:t>*Runbook Validation:*</a:t>
            </a:r>
          </a:p>
          <a:p>
            <a:r>
              <a:t>- All 12 runbook procedures tested by client IT</a:t>
            </a:r>
          </a:p>
          <a:p>
            <a:r>
              <a:t>- Signed off by [IT Lead] on [Date]</a:t>
            </a:r>
          </a:p>
          <a:p>
            <a:r>
              <a:t>- Procedures validated:</a:t>
            </a:r>
          </a:p>
          <a:p>
            <a:r>
              <a:t>  1. Daily health check</a:t>
            </a:r>
          </a:p>
          <a:p>
            <a:r>
              <a:t>  2. Workspace run troubleshooting</a:t>
            </a:r>
          </a:p>
          <a:p>
            <a:r>
              <a:t>  3. Sentinel policy updates</a:t>
            </a:r>
          </a:p>
          <a:p>
            <a:r>
              <a:t>  4. Vault credential rotation</a:t>
            </a:r>
          </a:p>
          <a:p>
            <a:r>
              <a:t>  5. State file recovery</a:t>
            </a:r>
          </a:p>
          <a:p>
            <a:r>
              <a:t>  6. Performance optimization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*Acknowledgments - Recognize Key Contributors:*</a:t>
            </a:r>
          </a:p>
          <a:p/>
          <a:p>
            <a:r>
              <a:t>**Client Team Recognition:**</a:t>
            </a:r>
          </a:p>
          <a:p/>
          <a:p>
            <a:r>
              <a:t>*Executive Sponsor - [Name]:*</a:t>
            </a:r>
          </a:p>
          <a:p>
            <a:r>
              <a:t>- Championed the project from discovery through go-live</a:t>
            </a:r>
          </a:p>
          <a:p>
            <a:r>
              <a:t>- Secured budget and organizational support</a:t>
            </a:r>
          </a:p>
          <a:p>
            <a:r>
              <a:t>- Removed blockers when escalated</a:t>
            </a:r>
          </a:p>
          <a:p>
            <a:r>
              <a:t>- Key decision: Approved phased migration approach</a:t>
            </a:r>
          </a:p>
          <a:p/>
          <a:p>
            <a:r>
              <a:t>*IT Lead - [Name]:*</a:t>
            </a:r>
          </a:p>
          <a:p>
            <a:r>
              <a:t>- Technical counterpart throughout implementation</a:t>
            </a:r>
          </a:p>
          <a:p>
            <a:r>
              <a:t>- AWS account setup and access coordination</a:t>
            </a:r>
          </a:p>
          <a:p>
            <a:r>
              <a:t>- Security and compliance validation</a:t>
            </a:r>
          </a:p>
          <a:p>
            <a:r>
              <a:t>- Knowledge transfer recipient and future owner</a:t>
            </a:r>
          </a:p>
          <a:p/>
          <a:p>
            <a:r>
              <a:t>*Infrastructure Team:*</a:t>
            </a:r>
          </a:p>
          <a:p>
            <a:r>
              <a:t>- Workspace migration coordination</a:t>
            </a:r>
          </a:p>
          <a:p>
            <a:r>
              <a:t>- Sentinel policy feedback and testing</a:t>
            </a:r>
          </a:p>
          <a:p>
            <a:r>
              <a:t>- User training logistics</a:t>
            </a:r>
          </a:p>
          <a:p>
            <a:r>
              <a:t>- Change management champions</a:t>
            </a:r>
          </a:p>
          <a:p/>
          <a:p>
            <a:r>
              <a:t>**Vendor Team Recognition:**</a:t>
            </a:r>
          </a:p>
          <a:p/>
          <a:p>
            <a:r>
              <a:t>*Project Manager - [Name]:*</a:t>
            </a:r>
          </a:p>
          <a:p>
            <a:r>
              <a:t>- Overall delivery accountability</a:t>
            </a:r>
          </a:p>
          <a:p>
            <a:r>
              <a:t>- Stakeholder communication</a:t>
            </a:r>
          </a:p>
          <a:p>
            <a:r>
              <a:t>- Risk and issue management</a:t>
            </a:r>
          </a:p>
          <a:p>
            <a:r>
              <a:t>- On-time, on-budget delivery</a:t>
            </a:r>
          </a:p>
          <a:p/>
          <a:p>
            <a:r>
              <a:t>*TFE Solutions Architect - [Name]:*</a:t>
            </a:r>
          </a:p>
          <a:p>
            <a:r>
              <a:t>- Terraform Enterprise architecture design</a:t>
            </a:r>
          </a:p>
          <a:p>
            <a:r>
              <a:t>- Sentinel policy framework development</a:t>
            </a:r>
          </a:p>
          <a:p>
            <a:r>
              <a:t>- Vault integration design</a:t>
            </a:r>
          </a:p>
          <a:p>
            <a:r>
              <a:t>- Technical documentation</a:t>
            </a:r>
          </a:p>
          <a:p/>
          <a:p>
            <a:r>
              <a:t>**Immediate Next Steps (This Week):**</a:t>
            </a:r>
          </a:p>
          <a:p/>
          <a:p>
            <a:r>
              <a:t>| Task | Owner | Due Date |</a:t>
            </a:r>
          </a:p>
          <a:p>
            <a:r>
              <a:t>|------|-------|----------|</a:t>
            </a:r>
          </a:p>
          <a:p>
            <a:r>
              <a:t>| Final documentation handover | PM | [Date] |</a:t>
            </a:r>
          </a:p>
          <a:p>
            <a:r>
              <a:t>| Archive project artifacts | PM | [Date] |</a:t>
            </a:r>
          </a:p>
          <a:p>
            <a:r>
              <a:t>| Close project tracking | PM | [Date] |</a:t>
            </a:r>
          </a:p>
          <a:p>
            <a:r>
              <a:t>| Confirm support contacts | IT Lead | [Date] |</a:t>
            </a:r>
          </a:p>
          <a:p/>
          <a:p>
            <a:r>
              <a:t>**Phase 2 Candidate Enhancements:**</a:t>
            </a:r>
          </a:p>
          <a:p/>
          <a:p>
            <a:r>
              <a:t>| Enhancement | Complexity | Est. ROI |</a:t>
            </a:r>
          </a:p>
          <a:p>
            <a:r>
              <a:t>|-------------|------------|----------|</a:t>
            </a:r>
          </a:p>
          <a:p>
            <a:r>
              <a:t>| Additional 30 workspaces | Medium | $40K/year |</a:t>
            </a:r>
          </a:p>
          <a:p>
            <a:r>
              <a:t>| HIPAA policy set | Medium | Compliance |</a:t>
            </a:r>
          </a:p>
          <a:p>
            <a:r>
              <a:t>| Drift auto-remediation | Low | $15K/year |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*Closing and Q&amp;A Preparation:*</a:t>
            </a:r>
          </a:p>
          <a:p/>
          <a:p>
            <a:r>
              <a:t>**Closing Statement:**</a:t>
            </a:r>
          </a:p>
          <a:p>
            <a:r>
              <a:t>"Thank you for your partnership throughout this project. We've successfully transformed your fragmented Terraform OSS usage into a centralized, policy-driven infrastructure automation platform. The solution is delivering 100% policy compliance, the team is trained and ready, and you're already seeing measurable operational improvements.</a:t>
            </a:r>
          </a:p>
          <a:p/>
          <a:p>
            <a:r>
              <a:t>I want to open the floor for questions. We have [time] remaining."</a:t>
            </a:r>
          </a:p>
          <a:p/>
          <a:p>
            <a:r>
              <a:t>**Anticipated Questions and Prepared Answers:**</a:t>
            </a:r>
          </a:p>
          <a:p/>
          <a:p>
            <a:r>
              <a:t>*Q: What happens if Terraform Enterprise goes down?*</a:t>
            </a:r>
          </a:p>
          <a:p>
            <a:r>
              <a:t>A: The platform is deployed on a 3-node EKS cluster with auto-healing. CloudWatch alarms alert at 99.5% threshold. Runbook has failover procedures. Existing infrastructure continues to run - only new changes are affected during outage.</a:t>
            </a:r>
          </a:p>
          <a:p/>
          <a:p>
            <a:r>
              <a:t>*Q: Can we add more workspaces ourselves?*</a:t>
            </a:r>
          </a:p>
          <a:p>
            <a:r>
              <a:t>A: Yes, the admin team is trained. Standard process: Create workspace in TFE, attach to policy sets, configure VCS connection. Average time: 20 minutes per workspace.</a:t>
            </a:r>
          </a:p>
          <a:p/>
          <a:p>
            <a:r>
              <a:t>*Q: What are the ongoing costs?*</a:t>
            </a:r>
          </a:p>
          <a:p>
            <a:r>
              <a:t>A: Current run rate approximately $9,715/month:</a:t>
            </a:r>
          </a:p>
          <a:p>
            <a:r>
              <a:t>- AWS Infrastructure: $1,993/month (EKS, RDS)</a:t>
            </a:r>
          </a:p>
          <a:p>
            <a:r>
              <a:t>- Software Licenses: $2,855/month (TFE, monitoring)</a:t>
            </a:r>
          </a:p>
          <a:p>
            <a:r>
              <a:t>- Support &amp; Maintenance: $4,867/month</a:t>
            </a:r>
          </a:p>
          <a:p>
            <a:r>
              <a:t>Costs scale with workspace count and run volume.</a:t>
            </a:r>
          </a:p>
          <a:p/>
          <a:p>
            <a:r>
              <a:t>*Q: How do we update Sentinel policies?*</a:t>
            </a:r>
          </a:p>
          <a:p>
            <a:r>
              <a:t>A: Policies are stored in GitHub. Update policy code, push to main branch, TFE automatically updates policy sets. Admin training covered this workflow.</a:t>
            </a:r>
          </a:p>
          <a:p/>
          <a:p>
            <a:r>
              <a:t>**Follow-Up Commitments:**</a:t>
            </a:r>
          </a:p>
          <a:p>
            <a:r>
              <a:t>- [ ] Send final presentation deck to all attendees</a:t>
            </a:r>
          </a:p>
          <a:p>
            <a:r>
              <a:t>- [ ] Distribute project summary one-pager</a:t>
            </a:r>
          </a:p>
          <a:p>
            <a:r>
              <a:t>- [ ] Schedule 30-day performance review meeting</a:t>
            </a:r>
          </a:p>
          <a:p>
            <a:r>
              <a:t>- [ ] Provide Phase 2 enhancement assessment template</a:t>
            </a:r>
          </a:p>
          <a:p/>
          <a:p>
            <a:r>
              <a:t>**Final Closing:**</a:t>
            </a:r>
          </a:p>
          <a:p>
            <a:r>
              <a:t>"Thank you again for your trust in our team. This project demonstrates what's possible when infrastructure automation is done right. We look forward to continuing this partnership in Phase 2 and beyond."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31079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21470" y="678433"/>
            <a:ext cx="4228856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Project Closeout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HashiCorp Terraform Enterprise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Project Manager | November 28,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Executive Summary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Duration:</a:t>
            </a:r>
            <a:r>
              <a:t> 6 months, on schedule</a:t>
            </a:r>
          </a:p>
          <a:p>
            <a:pPr/>
            <a:r>
              <a:rPr b="1"/>
              <a:t>Budget:</a:t>
            </a:r>
            <a:r>
              <a:t> $116,576 Year 1 delivered on budget</a:t>
            </a:r>
          </a:p>
          <a:p>
            <a:pPr/>
            <a:r>
              <a:rPr b="1"/>
              <a:t>Go-Live Date:</a:t>
            </a:r>
            <a:r>
              <a:t> Month 6 as planned</a:t>
            </a:r>
          </a:p>
          <a:p>
            <a:pPr/>
            <a:r>
              <a:rPr b="1"/>
              <a:t>Quality:</a:t>
            </a:r>
            <a:r>
              <a:t> Zero critical defects at launch</a:t>
            </a:r>
          </a:p>
          <a:p>
            <a:pPr/>
            <a:r>
              <a:rPr b="1"/>
              <a:t>Provisioning Time:</a:t>
            </a:r>
            <a:r>
              <a:t> 82% reduction achieved</a:t>
            </a:r>
          </a:p>
          <a:p>
            <a:pPr/>
            <a:r>
              <a:rPr b="1"/>
              <a:t>Policy Compliance:</a:t>
            </a:r>
            <a:r>
              <a:t> 100% (target: 100%)</a:t>
            </a:r>
          </a:p>
          <a:p>
            <a:pPr/>
            <a:r>
              <a:rPr b="1"/>
              <a:t>ROI Status:</a:t>
            </a:r>
            <a:r>
              <a:t> On track for 12-month payback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Terraform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Architecture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Terraform Enterprise</a:t>
            </a:r>
          </a:p>
          <a:p>
            <a:pPr lvl="1"/>
            <a:r>
              <a:t>Kubernetes on AWS EKS (HA)</a:t>
            </a:r>
          </a:p>
          <a:p>
            <a:pPr lvl="1"/>
            <a:r>
              <a:t>PostgreSQL RDS state backend</a:t>
            </a:r>
          </a:p>
          <a:p>
            <a:pPr lvl="1"/>
            <a:r>
              <a:t>50 workspaces across AWS</a:t>
            </a:r>
          </a:p>
          <a:p>
            <a:pPr/>
            <a:r>
              <a:rPr b="1"/>
              <a:t>Governance</a:t>
            </a:r>
          </a:p>
          <a:p>
            <a:pPr lvl="1"/>
            <a:r>
              <a:t>40 Sentinel policies enforced</a:t>
            </a:r>
          </a:p>
          <a:p>
            <a:pPr lvl="1"/>
            <a:r>
              <a:t>VCS integration with GitHub</a:t>
            </a:r>
          </a:p>
          <a:p>
            <a:pPr lvl="1"/>
            <a:r>
              <a:t>Self-service with approvals</a:t>
            </a:r>
          </a:p>
          <a:p>
            <a:pPr/>
            <a:r>
              <a:rPr b="1"/>
              <a:t>Operations</a:t>
            </a:r>
          </a:p>
          <a:p>
            <a:pPr lvl="1"/>
            <a:r>
              <a:t>CloudWatch monitoring</a:t>
            </a:r>
          </a:p>
          <a:p>
            <a:pPr lvl="1"/>
            <a:r>
              <a:t>10 concurrent runs supported</a:t>
            </a:r>
          </a:p>
          <a:p>
            <a:pPr lvl="1"/>
            <a:r>
              <a:t>Vault dynamic credentials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Terraform Enterprise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Deliverables Inventory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3919919"/>
                <a:gridCol w="2177733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Location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TFE Architecture Document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Platform design, Kubernetes config, RDS setup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`/delivery/detailed-design.docx`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Implementation Guide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Step-by-step deployment with Terraform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`/delivery/implementation-guide.docx`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Project Plan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Timeline, milestones, RACI, communications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`/delivery/project-plan.xlsx`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Test Plan &amp; Results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Policy validation, workspace tests, UAT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`/delivery/test-plan.xlsx`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Sentinel Policy Library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40 policies for security, cost, compliance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`/delivery/scripts/sentinel/`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Terraform Modules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15 reusable modules for AWS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`/delivery/scripts/terraform/`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Operations Runbook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Day-to-day procedures and troubleshooting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`/delivery/docs/operations-runbook.md`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Training Materials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Admin guides, user guides, video tutorials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`/delivery/training/`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Terraform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Quality &amp; Performance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Platform Metrics</a:t>
            </a:r>
          </a:p>
          <a:p>
            <a:pPr lvl="1"/>
            <a:r>
              <a:t>Platform Uptime: 99.94% (target: 99.9%)</a:t>
            </a:r>
          </a:p>
          <a:p>
            <a:pPr lvl="1"/>
            <a:r>
              <a:t>Workspace Run Success: 98.5%</a:t>
            </a:r>
          </a:p>
          <a:p>
            <a:pPr lvl="1"/>
            <a:r>
              <a:t>Policy Compliance: 100% (target: 100%)</a:t>
            </a:r>
          </a:p>
          <a:p>
            <a:pPr lvl="1"/>
            <a:r>
              <a:t>Concurrent Runs: 10 supported</a:t>
            </a:r>
          </a:p>
          <a:p>
            <a:pPr lvl="1"/>
            <a:r>
              <a:t>State Lock Success: 100%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Efficiency Metrics</a:t>
            </a:r>
          </a:p>
          <a:p>
            <a:pPr lvl="1"/>
            <a:r>
              <a:t>Provisioning Time: 82% reduction</a:t>
            </a:r>
          </a:p>
          <a:p>
            <a:pPr lvl="1"/>
            <a:r>
              <a:t>Manual Effort: 80% reduction</a:t>
            </a:r>
          </a:p>
          <a:p>
            <a:pPr lvl="1"/>
            <a:r>
              <a:t>Approval Time: 5 days to 4 hours</a:t>
            </a:r>
          </a:p>
          <a:p>
            <a:pPr lvl="1"/>
            <a:r>
              <a:t>Policy Violations Blocked: 234</a:t>
            </a:r>
          </a:p>
          <a:p>
            <a:pPr lvl="1"/>
            <a:r>
              <a:t>Drift Detection: Automated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Terraform Enterprise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Benefits Realized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1742186"/>
                <a:gridCol w="1742186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SOW 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Business 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Provisioning Time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80%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82%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days to 1 day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Policy Compliance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Zero misconfigurations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Workspaces Migrated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workspaces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All AWS IaC unified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Operations Costs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70%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80%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1.6 FTEs reallocated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Platform Uptime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99.9%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99.94%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Zero unplanned outages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Security Incidents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Zero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Zero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No misconfigured infra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Terraform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Lessons Learned &amp; Recommendations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Worked Well</a:t>
            </a:r>
          </a:p>
          <a:p>
            <a:pPr lvl="1"/>
            <a:r>
              <a:t>Phased workspace migration approach</a:t>
            </a:r>
          </a:p>
          <a:p>
            <a:pPr lvl="1"/>
            <a:r>
              <a:t>Sentinel advisory-to-mandatory rollout</a:t>
            </a:r>
          </a:p>
          <a:p>
            <a:pPr lvl="1"/>
            <a:r>
              <a:t>VCS-driven GitOps workflows</a:t>
            </a:r>
          </a:p>
          <a:p>
            <a:pPr lvl="1"/>
            <a:r>
              <a:t>Weekly stakeholder demonstrations</a:t>
            </a:r>
          </a:p>
          <a:p>
            <a:pPr lvl="1"/>
            <a:r>
              <a:t>Private module registry adoption</a:t>
            </a:r>
          </a:p>
          <a:p>
            <a:pPr/>
            <a:r>
              <a:rPr b="1"/>
              <a:t>Challenges Overcome</a:t>
            </a:r>
          </a:p>
          <a:p>
            <a:pPr lvl="1"/>
            <a:r>
              <a:t>State file migration from S3/local</a:t>
            </a:r>
          </a:p>
          <a:p>
            <a:pPr lvl="1"/>
            <a:r>
              <a:t>Vault credential integration timing</a:t>
            </a:r>
          </a:p>
          <a:p>
            <a:pPr lvl="1"/>
            <a:r>
              <a:t>User adoption change management</a:t>
            </a:r>
          </a:p>
          <a:p>
            <a:pPr lvl="1"/>
            <a:r>
              <a:t>Policy tuning for false positives</a:t>
            </a:r>
          </a:p>
          <a:p>
            <a:pPr lvl="1"/>
            <a:r>
              <a:t>VCS webhook configuration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Recommendations</a:t>
            </a:r>
          </a:p>
          <a:p>
            <a:pPr lvl="1"/>
            <a:r>
              <a:t>Expand to additional workspaces</a:t>
            </a:r>
          </a:p>
          <a:p>
            <a:pPr lvl="1"/>
            <a:r>
              <a:t>Add more Sentinel policies</a:t>
            </a:r>
          </a:p>
          <a:p>
            <a:pPr lvl="1"/>
            <a:r>
              <a:t>Implement drift remediation</a:t>
            </a:r>
          </a:p>
          <a:p>
            <a:pPr lvl="1"/>
            <a:r>
              <a:t>Plan quarterly policy reviews</a:t>
            </a:r>
          </a:p>
          <a:p>
            <a:pPr lvl="1"/>
            <a:r>
              <a:t>Consider TFE Plus licensing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Terraform Enterprise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Support Transition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Hypercare Complete (30 days)</a:t>
            </a:r>
          </a:p>
          <a:p>
            <a:pPr lvl="1"/>
            <a:r>
              <a:t>Daily health checks completed</a:t>
            </a:r>
          </a:p>
          <a:p>
            <a:pPr lvl="1"/>
            <a:r>
              <a:t>3 P3 issues resolved</a:t>
            </a:r>
          </a:p>
          <a:p>
            <a:pPr lvl="1"/>
            <a:r>
              <a:t>Knowledge transfer sessions done</a:t>
            </a:r>
          </a:p>
          <a:p>
            <a:pPr lvl="1"/>
            <a:r>
              <a:t>Runbook procedures validated</a:t>
            </a:r>
          </a:p>
          <a:p>
            <a:pPr lvl="1"/>
            <a:r>
              <a:t>Team fully trained</a:t>
            </a:r>
          </a:p>
          <a:p>
            <a:pPr/>
            <a:r>
              <a:rPr b="1"/>
              <a:t>Steady State Support</a:t>
            </a:r>
          </a:p>
          <a:p>
            <a:pPr lvl="1"/>
            <a:r>
              <a:t>Business hours monitoring active</a:t>
            </a:r>
          </a:p>
          <a:p>
            <a:pPr lvl="1"/>
            <a:r>
              <a:t>Monthly performance reviews</a:t>
            </a:r>
          </a:p>
          <a:p>
            <a:pPr lvl="1"/>
            <a:r>
              <a:t>Quarterly policy reviews</a:t>
            </a:r>
          </a:p>
          <a:p>
            <a:pPr lvl="1"/>
            <a:r>
              <a:t>Automated alerting configured</a:t>
            </a:r>
          </a:p>
          <a:p>
            <a:pPr lvl="1"/>
            <a:r>
              <a:t>Documentation fully maintained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Escalation Path</a:t>
            </a:r>
          </a:p>
          <a:p>
            <a:pPr lvl="1"/>
            <a:r>
              <a:t>L1: Internal IT Help Desk</a:t>
            </a:r>
          </a:p>
          <a:p>
            <a:pPr lvl="1"/>
            <a:r>
              <a:t>L2: Platform Admin Team</a:t>
            </a:r>
          </a:p>
          <a:p>
            <a:pPr lvl="1"/>
            <a:r>
              <a:t>L3: HashiCorp Support (licensed)</a:t>
            </a:r>
          </a:p>
          <a:p>
            <a:pPr lvl="1"/>
            <a:r>
              <a:t>Emergency: On-call rotation</a:t>
            </a:r>
          </a:p>
          <a:p>
            <a:pPr lvl="1"/>
            <a:r>
              <a:t>Executive: Account Manager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Terraform Enterprise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Acknowledgments &amp; 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Team:</a:t>
            </a:r>
            <a:r>
              <a:t> Executive sponsor, IT team, security lead, infrastructure engineers</a:t>
            </a:r>
          </a:p>
          <a:p>
            <a:pPr/>
            <a:r>
              <a:rPr b="1"/>
              <a:t>Vendor Team:</a:t>
            </a:r>
            <a:r>
              <a:t> Project manager, TFE architect, DevOps engineers</a:t>
            </a:r>
          </a:p>
          <a:p>
            <a:pPr/>
            <a:r>
              <a:rPr b="1"/>
              <a:t>Special Recognition:</a:t>
            </a:r>
            <a:r>
              <a:t> Infrastructure team for workspace migration and policy adoption</a:t>
            </a:r>
          </a:p>
          <a:p>
            <a:pPr/>
            <a:r>
              <a:rPr b="1"/>
              <a:t>This Week:</a:t>
            </a:r>
            <a:r>
              <a:t> Final documentation handover, archive project artifacts</a:t>
            </a:r>
          </a:p>
          <a:p>
            <a:pPr/>
            <a:r>
              <a:rPr b="1"/>
              <a:t>Next 30 Days:</a:t>
            </a:r>
            <a:r>
              <a:t> Monthly performance review, identify expansion candidates</a:t>
            </a:r>
          </a:p>
          <a:p>
            <a:pPr/>
            <a:r>
              <a:rPr b="1"/>
              <a:t>Next Quarter:</a:t>
            </a:r>
            <a:r>
              <a:t> Phase 2 planning for additional workspaces and policies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Terraform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86</cp:revision>
  <dcterms:created xsi:type="dcterms:W3CDTF">2025-11-01T21:16:10Z</dcterms:created>
  <dcterms:modified xsi:type="dcterms:W3CDTF">2025-11-27T20:15:42Z</dcterms:modified>
</cp:coreProperties>
</file>