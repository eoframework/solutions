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- project delivered on time and on budget</a:t>
            </a:r>
          </a:p>
          <a:p>
            <a:r>
              <a:t>- WiFi 6E provides 8x throughput improvement over legacy WiFi 5</a:t>
            </a:r>
          </a:p>
          <a:p>
            <a:r>
              <a:t>- Marvis AI eliminates manual troubleshooting, averaging 90% faster resolution</a:t>
            </a:r>
          </a:p>
          <a:p>
            <a:r>
              <a:t>- Location services operational with vBLE for wayfinding</a:t>
            </a:r>
          </a:p>
          <a:p>
            <a:r>
              <a:t>- Client team trained and independently operating Mist Cloud dashboard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architecture from client device to cloud</a:t>
            </a:r>
          </a:p>
          <a:p>
            <a:r>
              <a:t>- AP45 provides WiFi 6E with 6 GHz band for high-density areas</a:t>
            </a:r>
          </a:p>
          <a:p>
            <a:r>
              <a:t>- EX4400 switches provide PoE++ power and Wired Assurance</a:t>
            </a:r>
          </a:p>
          <a:p>
            <a:r>
              <a:t>- Mist Cloud eliminates on-premises controller infrastructure</a:t>
            </a:r>
          </a:p>
          <a:p>
            <a:r>
              <a:t>- All management through single Mist dashboard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deliverables have been reviewed and accepted by client team</a:t>
            </a:r>
          </a:p>
          <a:p>
            <a:r>
              <a:t>- RF site survey used Mist AI predictive modeling for accurate planning</a:t>
            </a:r>
          </a:p>
          <a:p>
            <a:r>
              <a:t>- Training recordings available for future team member onboarding</a:t>
            </a:r>
          </a:p>
          <a:p>
            <a:r>
              <a:t>- Operations runbook covers common tasks and troubleshooting</a:t>
            </a:r>
          </a:p>
          <a:p>
            <a:r>
              <a:t>- As-built documentation reflects actual production configuration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SLE targets met or exceeded</a:t>
            </a:r>
          </a:p>
          <a:p>
            <a:r>
              <a:t>- RF validation confirmed complete building coverage</a:t>
            </a:r>
          </a:p>
          <a:p>
            <a:r>
              <a:t>- Location services accuracy exceeds specification</a:t>
            </a:r>
          </a:p>
          <a:p>
            <a:r>
              <a:t>- Roaming performance tested across all floor transitions</a:t>
            </a:r>
          </a:p>
          <a:p>
            <a:r>
              <a:t>- Client team certified on Mist Cloud administration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- 99.95% uptime means less than 4.5 hours downtime annually</a:t>
            </a:r>
          </a:p>
          <a:p>
            <a:r>
              <a:t>- 62% reduction in helpdesk tickets frees IT staff for strategic work</a:t>
            </a:r>
          </a:p>
          <a:p>
            <a:r>
              <a:t>- Marvis AI provides instant root cause analysis vs hours of packet captures</a:t>
            </a:r>
          </a:p>
          <a:p>
            <a:r>
              <a:t>- Automated RF optimization eliminates quarterly manual site surveys</a:t>
            </a:r>
          </a:p>
          <a:p>
            <a:r>
              <a:t>- SLE dashboard provides ongoing visibility into client experience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Predictive RF survey matched actual coverage within 3 dB</a:t>
            </a:r>
          </a:p>
          <a:p>
            <a:r>
              <a:t>- Phased deployment allowed validation before legacy cutover</a:t>
            </a:r>
          </a:p>
          <a:p>
            <a:r>
              <a:t>- Dense construction required 2 additional APs in server room</a:t>
            </a:r>
          </a:p>
          <a:p>
            <a:r>
              <a:t>- Legacy AP interference resolved by coordinated cutover</a:t>
            </a:r>
          </a:p>
          <a:p>
            <a:r>
              <a:t>- 6 GHz band provides cleanest RF environment for density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- 30-day warranty period provides transition support</a:t>
            </a:r>
          </a:p>
          <a:p>
            <a:r>
              <a:t>- Client team trained and capable of day-to-day operations</a:t>
            </a:r>
          </a:p>
          <a:p>
            <a:r>
              <a:t>- Mist Cloud provides continuous updates and new features</a:t>
            </a:r>
          </a:p>
          <a:p>
            <a:r>
              <a:t>- JTAC provides 24x7 expert support with 4-hour RMA</a:t>
            </a:r>
          </a:p>
          <a:p>
            <a:r>
              <a:t>- Monthly SLE reviews ensure ongoing performance visibility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Acknowledge the partnership - successful wireless transformation</a:t>
            </a:r>
          </a:p>
          <a:p>
            <a:r>
              <a:t>- Network team's VLAN and trunk configuration enabled SSIDs</a:t>
            </a:r>
          </a:p>
          <a:p>
            <a:r>
              <a:t>- Facilities coordination enabled efficient AP installation</a:t>
            </a:r>
          </a:p>
          <a:p>
            <a:r>
              <a:t>- Security team validated 802.1X authentication flows</a:t>
            </a:r>
          </a:p>
          <a:p>
            <a:r>
              <a:t>- 6 GHz band provides opportunity for even better performance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</a:t>
            </a:r>
          </a:p>
          <a:p>
            <a:r>
              <a:t>- Have backup slides ready for deep-dive on RF, Marvis, location</a:t>
            </a:r>
          </a:p>
          <a:p>
            <a:r>
              <a:t>- Offer to schedule follow-up sessions for specific topics</a:t>
            </a:r>
          </a:p>
          <a:p>
            <a:r>
              <a:t>- Confirm warranty support contact procedures</a:t>
            </a:r>
          </a:p>
          <a:p>
            <a:r>
              <a:t>- Celebrate the successful wireless transformation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Juniper Mist AI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28,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8 weeks, completed on schedule</a:t>
            </a:r>
          </a:p>
          <a:p>
            <a:pPr/>
            <a:r>
              <a:rPr b="1"/>
              <a:t>Budget:</a:t>
            </a:r>
            <a:r>
              <a:t> $222,724 delivered on budget</a:t>
            </a:r>
          </a:p>
          <a:p>
            <a:pPr/>
            <a:r>
              <a:rPr b="1"/>
              <a:t>Go-Live Date:</a:t>
            </a:r>
            <a:r>
              <a:t> [DATE] as planned</a:t>
            </a:r>
          </a:p>
          <a:p>
            <a:pPr/>
            <a:r>
              <a:rPr b="1"/>
              <a:t>Coverage:</a:t>
            </a:r>
            <a:r>
              <a:t> 50 AP45 WiFi 6E access points deployed</a:t>
            </a:r>
          </a:p>
          <a:p>
            <a:pPr/>
            <a:r>
              <a:rPr b="1"/>
              <a:t>SLE Achievement:</a:t>
            </a:r>
            <a:r>
              <a:t> 99.2% successful connections (target: 99%)</a:t>
            </a:r>
          </a:p>
          <a:p>
            <a:pPr/>
            <a:r>
              <a:rPr b="1"/>
              <a:t>Marvis AI:</a:t>
            </a:r>
            <a:r>
              <a:t> Operational with proactive anomaly detection</a:t>
            </a:r>
          </a:p>
          <a:p>
            <a:pPr/>
            <a:r>
              <a:rPr b="1"/>
              <a:t>User Impact:</a:t>
            </a:r>
            <a:r>
              <a:t> 60% reduction in wireless helpdesk tickets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Access Layer</a:t>
            </a:r>
          </a:p>
          <a:p>
            <a:pPr lvl="1"/>
            <a:r>
              <a:t>50 AP45 WiFi 6E access points</a:t>
            </a:r>
          </a:p>
          <a:p>
            <a:pPr lvl="1"/>
            <a:r>
              <a:t>9.6 Gbps tri-band throughput</a:t>
            </a:r>
          </a:p>
          <a:p>
            <a:pPr lvl="1"/>
            <a:r>
              <a:t>Built-in vBLE for location</a:t>
            </a:r>
          </a:p>
          <a:p>
            <a:pPr/>
            <a:r>
              <a:rPr b="1"/>
              <a:t>Network Layer</a:t>
            </a:r>
          </a:p>
          <a:p>
            <a:pPr lvl="1"/>
            <a:r>
              <a:t>4 EX4400 PoE switches</a:t>
            </a:r>
          </a:p>
          <a:p>
            <a:pPr lvl="1"/>
            <a:r>
              <a:t>Wired Assurance enabled</a:t>
            </a:r>
          </a:p>
          <a:p>
            <a:pPr lvl="1"/>
            <a:r>
              <a:t>Unified Mist management</a:t>
            </a:r>
          </a:p>
          <a:p>
            <a:pPr/>
            <a:r>
              <a:rPr b="1"/>
              <a:t>Cloud Intelligence</a:t>
            </a:r>
          </a:p>
          <a:p>
            <a:pPr lvl="1"/>
            <a:r>
              <a:t>Mist Cloud AI platform</a:t>
            </a:r>
          </a:p>
          <a:p>
            <a:pPr lvl="1"/>
            <a:r>
              <a:t>Marvis virtual assistant</a:t>
            </a:r>
          </a:p>
          <a:p>
            <a:pPr lvl="1"/>
            <a:r>
              <a:t>Real-time SLE monitoring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RF Site Survey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Coverage predictions and AP placement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`/delivery/rf-survey.pdf`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Architecture, SSIDs, VLANs, security config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 Placement Maps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Floor-by-floor AP locations with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`/delivery/ap-placement-maps/`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RF validation, SLE testing, UAT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Day-to-day wireless operations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`/delivery/operations-runbook.docx`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Administrator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Mist dashboard and Marvis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Recorded sessions available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As-Built Documentation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Final configuration and network diagrams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`/delivery/as-built/`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Wireless SLE Results</a:t>
            </a:r>
          </a:p>
          <a:p>
            <a:pPr lvl="1"/>
            <a:r>
              <a:t>Successful Connections: 99.2% (target: 99%)</a:t>
            </a:r>
          </a:p>
          <a:p>
            <a:pPr lvl="1"/>
            <a:r>
              <a:t>Coverage SLE: 98.5% (target: 95%)</a:t>
            </a:r>
          </a:p>
          <a:p>
            <a:pPr lvl="1"/>
            <a:r>
              <a:t>Capacity SLE: 99.1% (target: 95%)</a:t>
            </a:r>
          </a:p>
          <a:p>
            <a:pPr lvl="1"/>
            <a:r>
              <a:t>Roaming SLE: 97.8% (target: 95%)</a:t>
            </a:r>
          </a:p>
          <a:p>
            <a:pPr lvl="1"/>
            <a:r>
              <a:t>Throughput SLE: 98.7% (target: 95%)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Deployment Metrics</a:t>
            </a:r>
          </a:p>
          <a:p>
            <a:pPr lvl="1"/>
            <a:r>
              <a:t>Access Points Deployed: 50/50 (100%)</a:t>
            </a:r>
          </a:p>
          <a:p>
            <a:pPr lvl="1"/>
            <a:r>
              <a:t>RF Coverage: 100% building area</a:t>
            </a:r>
          </a:p>
          <a:p>
            <a:pPr lvl="1"/>
            <a:r>
              <a:t>Location Accuracy: 3.2 meters (target: 3-5m)</a:t>
            </a:r>
          </a:p>
          <a:p>
            <a:pPr lvl="1"/>
            <a:r>
              <a:t>Test Cases Passed: 42/42 (100%)</a:t>
            </a:r>
          </a:p>
          <a:p>
            <a:pPr lvl="1"/>
            <a:r>
              <a:t>Training Completed: 10 administrators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Wireless Uptime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unplanned wireless outages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Helpdesk Tickets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62%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31 fewer tickets per 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Troubleshooting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92%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Marvis AI root cause in seconds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RF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automated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manual channel tuning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Client Experience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99% SLE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99.2% SLE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Measurable user satisfaction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Location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3-5m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3.2m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Wayfinding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Predictive RF site survey accuracy</a:t>
            </a:r>
          </a:p>
          <a:p>
            <a:pPr lvl="1"/>
            <a:r>
              <a:t>Floor-by-floor phased deployment</a:t>
            </a:r>
          </a:p>
          <a:p>
            <a:pPr lvl="1"/>
            <a:r>
              <a:t>Early RADIUS integration testing</a:t>
            </a:r>
          </a:p>
          <a:p>
            <a:pPr lvl="1"/>
            <a:r>
              <a:t>Daily SLE monitoring during rollout</a:t>
            </a:r>
          </a:p>
          <a:p>
            <a:pPr lvl="1"/>
            <a:r>
              <a:t>Comprehensive admin training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Dense construction in server room</a:t>
            </a:r>
          </a:p>
          <a:p>
            <a:pPr lvl="1"/>
            <a:r>
              <a:t>Legacy AP interference during cutover</a:t>
            </a:r>
          </a:p>
          <a:p>
            <a:pPr lvl="1"/>
            <a:r>
              <a:t>Guest portal customization</a:t>
            </a:r>
          </a:p>
          <a:p>
            <a:pPr lvl="1"/>
            <a:r>
              <a:t>vBLE calibration refinement</a:t>
            </a:r>
          </a:p>
          <a:p>
            <a:pPr lvl="1"/>
            <a:r>
              <a:t>VLAN trunk configuration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Enable 6 GHz band for high-density</a:t>
            </a:r>
          </a:p>
          <a:p>
            <a:pPr lvl="1"/>
            <a:r>
              <a:t>Expand location analytics usage</a:t>
            </a:r>
          </a:p>
          <a:p>
            <a:pPr lvl="1"/>
            <a:r>
              <a:t>Implement Marvis Actions automation</a:t>
            </a:r>
          </a:p>
          <a:p>
            <a:pPr lvl="1"/>
            <a:r>
              <a:t>Schedule quarterly SLE reviews</a:t>
            </a:r>
          </a:p>
          <a:p>
            <a:pPr lvl="1"/>
            <a:r>
              <a:t>Plan capacity for IoT expansion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Warranty (Days 1-30)</a:t>
            </a:r>
          </a:p>
          <a:p>
            <a:pPr lvl="1"/>
            <a:r>
              <a:t>Dedicated project team support</a:t>
            </a:r>
          </a:p>
          <a:p>
            <a:pPr lvl="1"/>
            <a:r>
              <a:t>Daily SLE health check reviews</a:t>
            </a:r>
          </a:p>
          <a:p>
            <a:pPr lvl="1"/>
            <a:r>
              <a:t>4-hour response for critical issues</a:t>
            </a:r>
          </a:p>
          <a:p>
            <a:pPr lvl="1"/>
            <a:r>
              <a:t>Configuration assistance</a:t>
            </a:r>
          </a:p>
          <a:p>
            <a:pPr lvl="1"/>
            <a:r>
              <a:t>Performance optimization</a:t>
            </a:r>
          </a:p>
          <a:p>
            <a:pPr/>
            <a:r>
              <a:rPr b="1"/>
              <a:t>Steady State (Day 31+)</a:t>
            </a:r>
          </a:p>
          <a:p>
            <a:pPr lvl="1"/>
            <a:r>
              <a:t>Juniper JTAC 24x7 support</a:t>
            </a:r>
          </a:p>
          <a:p>
            <a:pPr lvl="1"/>
            <a:r>
              <a:t>4-hour hardware replacement</a:t>
            </a:r>
          </a:p>
          <a:p>
            <a:pPr lvl="1"/>
            <a:r>
              <a:t>Mist Cloud subscription support</a:t>
            </a:r>
          </a:p>
          <a:p>
            <a:pPr lvl="1"/>
            <a:r>
              <a:t>Monthly SLE trend reviews</a:t>
            </a:r>
          </a:p>
          <a:p>
            <a:pPr lvl="1"/>
            <a:r>
              <a:t>Annual architecture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Contacts</a:t>
            </a:r>
          </a:p>
          <a:p>
            <a:pPr lvl="1"/>
            <a:r>
              <a:t>L1: Client NOC (15 min)</a:t>
            </a:r>
          </a:p>
          <a:p>
            <a:pPr lvl="1"/>
            <a:r>
              <a:t>L2: Client Network Team (1 hour)</a:t>
            </a:r>
          </a:p>
          <a:p>
            <a:pPr lvl="1"/>
            <a:r>
              <a:t>L3: JTAC (4 hour 24x7)</a:t>
            </a:r>
          </a:p>
          <a:p>
            <a:pPr lvl="1"/>
            <a:r>
              <a:t>Account: am@consulting.com</a:t>
            </a:r>
          </a:p>
          <a:p>
            <a:pPr lvl="1"/>
            <a:r>
              <a:t>Emergency: 1-888-314-JTAC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Network team for infrastructure preparation and VLAN config</a:t>
            </a:r>
          </a:p>
          <a:p>
            <a:pPr/>
            <a:r>
              <a:t>Facilities team for AP mounting access and coordination</a:t>
            </a:r>
          </a:p>
          <a:p>
            <a:pPr/>
            <a:r>
              <a:t>Security team for RADIUS integration and policy validation</a:t>
            </a:r>
          </a:p>
          <a:p>
            <a:pPr/>
            <a:r>
              <a:t>IT leadership for project prioritization and support</a:t>
            </a:r>
          </a:p>
          <a:p>
            <a:pPr/>
            <a:r>
              <a:rPr b="1"/>
              <a:t>This Week:</a:t>
            </a:r>
            <a:r>
              <a:t> Final documentation handover and warranty start</a:t>
            </a:r>
          </a:p>
          <a:p>
            <a:pPr/>
            <a:r>
              <a:rPr b="1"/>
              <a:t>Next 30 Days:</a:t>
            </a:r>
            <a:r>
              <a:t> Warranty support with daily SLE reviews</a:t>
            </a:r>
          </a:p>
          <a:p>
            <a:pPr/>
            <a:r>
              <a:rPr b="1"/>
              <a:t>Next Quarter:</a:t>
            </a:r>
            <a:r>
              <a:t> 6 GHz band enablement planning</a:t>
            </a:r>
          </a:p>
          <a:p>
            <a:pPr/>
            <a:r>
              <a:rPr b="1"/>
              <a:t>Ongoing:</a:t>
            </a:r>
            <a:r>
              <a:t> Monthly SLE reviews and quarterly optimization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