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bin" ContentType="image/unknown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7"/>
    <p:sldId id="257" r:id="rId8"/>
    <p:sldId id="258" r:id="rId6"/>
    <p:sldId id="259" r:id="rId5"/>
    <p:sldId id="260" r:id="rId4"/>
    <p:sldId id="261" r:id="rId3"/>
    <p:sldId id="262" r:id="rId2"/>
    <p:sldId id="263" r:id="rId14"/>
    <p:sldId id="264" r:id="rId15"/>
    <p:sldId id="265" r:id="rId16"/>
    <p:sldId id="266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1C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380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3" d="100"/>
          <a:sy n="83" d="100"/>
        </p:scale>
        <p:origin x="3732" y="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7.xml"/><Relationship Id="rId3" Type="http://schemas.openxmlformats.org/officeDocument/2006/relationships/slide" Target="slides/slide6.xml"/><Relationship Id="rId4" Type="http://schemas.openxmlformats.org/officeDocument/2006/relationships/slide" Target="slides/slide5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67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Additional Scope Parameters (not displayed on slide):</a:t>
            </a:r>
          </a:p>
          <a:p/>
          <a:p>
            <a:r>
              <a:t>• Client Device Count: 2000 total devices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8528" y="1886679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Title</a:t>
            </a: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1" y="4536078"/>
            <a:ext cx="209989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9473" y="2437679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 Text</a:t>
            </a:r>
            <a:endParaRPr lang="en-US" sz="18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9F5D3C5-0033-51A7-77BC-7E3DBBF84F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34286" y="3631467"/>
            <a:ext cx="3605212" cy="33496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sz="1400" dirty="0">
                <a:solidFill>
                  <a:srgbClr val="6C757D"/>
                </a:solidFill>
                <a:latin typeface="Arial" pitchFamily="34" charset="0"/>
                <a:cs typeface="Arial" pitchFamily="34" charset="-120"/>
              </a:rPr>
              <a:t>Presenter Name | 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435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="1" baseline="0">
                <a:solidFill>
                  <a:srgbClr val="C00000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F71806-AFEA-DD6D-E6AA-E2A002E682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7076" y="4738688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046239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Bullet Points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chemeClr val="tx1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Bullet Point 1</a:t>
            </a:r>
          </a:p>
          <a:p>
            <a:pPr lvl="0"/>
            <a:r>
              <a:rPr lang="en-US" dirty="0"/>
              <a:t>Bullet Point 2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2079A5-28FD-9D2F-2B9B-2FC8F9339A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7076" y="4738688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090737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2187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530738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Two Column Layout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29E4A97-A874-D6CA-E54C-5584536CAA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3675" y="678433"/>
            <a:ext cx="4462463" cy="378551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Left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F61ADBD-DA9D-A8A7-8FC3-64E82242B9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40288" y="678433"/>
            <a:ext cx="4110037" cy="378551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Right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5DF49ED0-89F0-F008-ADD7-D71F338C8B9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97414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243730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26273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6855" y="39642"/>
            <a:ext cx="8710933" cy="52701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Table</a:t>
            </a:r>
            <a:endParaRPr lang="en-US" sz="3200" dirty="0"/>
          </a:p>
          <a:p>
            <a:pPr lvl="0"/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D3D9E4F7-6B7D-2205-75B9-EE8C54E89A5F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256855" y="677011"/>
            <a:ext cx="8710933" cy="378508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00DC936-676C-1BAA-B4B4-D45CC5951D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49315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2814834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Vis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30670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7423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Visual Content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4B682B8-2171-423F-A77B-10BADD07BC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62488" y="685799"/>
            <a:ext cx="4337050" cy="381585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EE9992-B6F6-08BF-BFB5-6AF6BEDE367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2075" y="685800"/>
            <a:ext cx="4449763" cy="3815859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6D03683B-7C4B-D474-74C5-EC53E3BB515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81065" y="4729530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944059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Data Visualiz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0429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6407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Data Visualization</a:t>
            </a:r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A686C49F-4337-BBE6-FF21-682B01E38601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4572000" y="685597"/>
            <a:ext cx="4325938" cy="377834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B730E7-C68E-A3E8-1745-8AF89C786D5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36525" y="678433"/>
            <a:ext cx="4237038" cy="3785513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1231DFE-6A5A-950E-159E-9E1D3D45FD3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79465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9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47354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6356" y="2247927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</a:p>
          <a:p>
            <a:pPr marL="0" indent="0" algn="ctr">
              <a:lnSpc>
                <a:spcPts val="3600"/>
              </a:lnSpc>
              <a:buNone/>
            </a:pP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6411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4304" y="1874962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5727805F-2A15-11D3-243F-1AE09D6E973E}"/>
              </a:ext>
            </a:extLst>
          </p:cNvPr>
          <p:cNvSpPr/>
          <p:nvPr userDrawn="1"/>
        </p:nvSpPr>
        <p:spPr>
          <a:xfrm>
            <a:off x="3312808" y="4536078"/>
            <a:ext cx="2797969" cy="529698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1034B79E-463D-8396-409E-62C28A2DEB04}"/>
              </a:ext>
            </a:extLst>
          </p:cNvPr>
          <p:cNvSpPr/>
          <p:nvPr userDrawn="1"/>
        </p:nvSpPr>
        <p:spPr>
          <a:xfrm>
            <a:off x="3614735" y="4667577"/>
            <a:ext cx="20766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bg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www.eoframework.org</a:t>
            </a:r>
            <a:endParaRPr lang="en-US" sz="15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2DED039B-C555-DCF4-1CA7-CA1E448237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8165" y="3131272"/>
            <a:ext cx="8480181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1200"/>
              </a:spcAft>
            </a:pPr>
            <a:r>
              <a:rPr lang="en-US" sz="1800" b="1" dirty="0">
                <a:solidFill>
                  <a:srgbClr val="000000"/>
                </a:solidFill>
              </a:rPr>
              <a:t>Account Manager:</a:t>
            </a:r>
            <a:r>
              <a:rPr lang="en-US" sz="1800" dirty="0">
                <a:solidFill>
                  <a:srgbClr val="000000"/>
                </a:solidFill>
              </a:rPr>
              <a:t> [Name, Title] | [Email] | [Phone]</a:t>
            </a:r>
          </a:p>
        </p:txBody>
      </p:sp>
    </p:spTree>
    <p:extLst>
      <p:ext uri="{BB962C8B-B14F-4D97-AF65-F5344CB8AC3E}">
        <p14:creationId xmlns:p14="http://schemas.microsoft.com/office/powerpoint/2010/main" val="38210200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3" r:id="rId2"/>
    <p:sldLayoutId id="2147483659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Solution Briefing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Juniper Mist AI Network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['Presenter Name'] | November 22, 2025</a:t>
            </a:r>
          </a:p>
        </p:txBody>
      </p:sp>
      <p:pic>
        <p:nvPicPr>
          <p:cNvPr id="7" name="Picture 6" descr="clien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492" y="171206"/>
            <a:ext cx="3978520" cy="1314694"/>
          </a:xfrm>
          <a:prstGeom prst="rect">
            <a:avLst/>
          </a:prstGeom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1" y="4536078"/>
            <a:ext cx="2099897" cy="529698"/>
          </a:xfrm>
          <a:prstGeom prst="rect">
            <a:avLst/>
          </a:prstGeom>
        </p:spPr>
      </p:pic>
      <p:pic>
        <p:nvPicPr>
          <p:cNvPr id="9" name="Picture 8" descr="eo-framework-logo-r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Business Opportunity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Opportunity</a:t>
            </a:r>
          </a:p>
          <a:p>
            <a:pPr lvl="1"/>
            <a:r>
              <a:t>Eliminate 90% of WiFi troubleshooting time with AI root cause analysis and automated remediation</a:t>
            </a:r>
          </a:p>
          <a:p>
            <a:pPr lvl="1"/>
            <a:r>
              <a:t>Achieve 99.9% wireless uptime with proactive anomaly detection before user impact</a:t>
            </a:r>
          </a:p>
          <a:p>
            <a:pPr lvl="1"/>
            <a:r>
              <a:t>Enable location-based services with virtual Bluetooth LE for wayfinding and asset tracking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Success Criteria</a:t>
            </a:r>
          </a:p>
          <a:p>
            <a:pPr lvl="1"/>
            <a:r>
              <a:t>60% reduction in wireless helpdesk tickets through Marvis AI self-service troubleshooting</a:t>
            </a:r>
          </a:p>
          <a:p>
            <a:pPr lvl="1"/>
            <a:r>
              <a:t>Zero manual RF optimization - AI automatically adjusts channels and power for optimal performance</a:t>
            </a:r>
          </a:p>
          <a:p>
            <a:pPr lvl="1"/>
            <a:r>
              <a:t>Real-time client experience SLE tracking with measurable performance improvements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Juniper Mist AI Network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Engagement Scope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29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7967"/>
                <a:gridCol w="2526170"/>
                <a:gridCol w="435546"/>
                <a:gridCol w="1567967"/>
                <a:gridCol w="2613279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Scope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Scope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WiFi 6E Access Points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50 Juniper AP45 APs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Building Types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Office commercial building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Wired Assurance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4 EX4400 PoE switches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Deployment Locations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Single building multi-floor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SSIDs and VLANs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3-5 wireless networks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RF Environment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Standard office construction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External System Integrations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2 integrations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Authentication Methods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802.1X RADIUS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Location Services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Indoor positioning enabled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Compliance Frameworks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Basic security SOC 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Concurrent Wireless Users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500-1000 concurrent users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Coverage Requirements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Standard office coverage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Network Administrators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3 wireless administrators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Client Experience SLEs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99% successful connects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Access Point Count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50 access points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Deployment Environments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2 environments (staging prod)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Juniper Mist AI Network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Solution Overview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Mist AI Wireless Platform</a:t>
            </a:r>
          </a:p>
          <a:p>
            <a:pPr lvl="1"/>
            <a:r>
              <a:t>50 AP45 WiFi 6E access points delivering 9.6 Gbps throughput</a:t>
            </a:r>
          </a:p>
          <a:p>
            <a:pPr lvl="1"/>
            <a:r>
              <a:t>Mist Cloud AI with machine learning for anomaly detection</a:t>
            </a:r>
          </a:p>
          <a:p>
            <a:pPr lvl="1"/>
            <a:r>
              <a:t>Marvis Virtual Network Assistant for conversational troubleshooting</a:t>
            </a:r>
          </a:p>
          <a:p>
            <a:pPr/>
            <a:r>
              <a:rPr b="1"/>
              <a:t>Location Services &amp; Management</a:t>
            </a:r>
          </a:p>
          <a:p>
            <a:pPr lvl="1"/>
            <a:r>
              <a:t>Virtual BLE (vBLE) for indoor positioning without beacon hardware</a:t>
            </a:r>
          </a:p>
          <a:p>
            <a:pPr lvl="1"/>
            <a:r>
              <a:t>Real-time wayfinding, asset tracking, and occupancy analytics</a:t>
            </a:r>
          </a:p>
          <a:p>
            <a:pPr lvl="1"/>
            <a:r>
              <a:t>Unified dashboard for wireless and wired with 4 EX4400 switches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Juniper Mist AI Network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30670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Implementation Approach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Phase 1: Design &amp; Planning (Weeks 1-2)</a:t>
            </a:r>
          </a:p>
          <a:p>
            <a:pPr lvl="1"/>
            <a:r>
              <a:t>Predictive RF site survey using building plans and Mist AI planning tools</a:t>
            </a:r>
          </a:p>
          <a:p>
            <a:pPr lvl="1"/>
            <a:r>
              <a:t>AP placement design optimizing coverage, capacity, and client experience</a:t>
            </a:r>
          </a:p>
          <a:p>
            <a:pPr lvl="1"/>
            <a:r>
              <a:t>WLAN architecture design with VLAN segmentation and security policies</a:t>
            </a:r>
          </a:p>
          <a:p>
            <a:pPr/>
            <a:r>
              <a:rPr b="1"/>
              <a:t>Phase 2: Deployment &amp; Configuration (Weeks 3-6)</a:t>
            </a:r>
          </a:p>
          <a:p>
            <a:pPr lvl="1"/>
            <a:r>
              <a:t>Deploy EX4400 switches and mount 50 AP45 access points with minimal disruption</a:t>
            </a:r>
          </a:p>
          <a:p>
            <a:pPr lvl="1"/>
            <a:r>
              <a:t>Configure Mist Cloud with SSIDs, VLANs, authentication, and security policies</a:t>
            </a:r>
          </a:p>
          <a:p>
            <a:pPr lvl="1"/>
            <a:r>
              <a:t>Enable Marvis AI and location services with vBLE for wayfinding</a:t>
            </a:r>
          </a:p>
          <a:p>
            <a:pPr/>
            <a:r>
              <a:rPr b="1"/>
              <a:t>Phase 3: Validation &amp; Handoff (Weeks 7-8)</a:t>
            </a:r>
          </a:p>
          <a:p>
            <a:pPr lvl="1"/>
            <a:r>
              <a:t>RF validation testing coverage, throughput, and roaming performance</a:t>
            </a:r>
          </a:p>
          <a:p>
            <a:pPr lvl="1"/>
            <a:r>
              <a:t>Train IT staff on Mist dashboard, Marvis AI, and troubleshooting workflows</a:t>
            </a:r>
          </a:p>
          <a:p>
            <a:pPr lvl="1"/>
            <a:r>
              <a:t>Complete documentation and transition to operations with 30-day support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Juniper Mist AI Network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Timeline &amp; Milestones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1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093"/>
                <a:gridCol w="2177733"/>
                <a:gridCol w="1306639"/>
                <a:gridCol w="4355466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Phase No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Phase Description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Timeline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Key Deliverables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1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Design &amp; Site Survey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Weeks 1-2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RF design completed, AP placement finalized, Mist Cloud configured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Infrastructure Deployment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Weeks 3-5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Switches and APs installed, Wireless network operational, Legacy APs decommissioned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3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Services Enablement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Week 6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Marvis AI activated, Location services enabled, Authentication integrated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4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Validation &amp; Handoff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Weeks 7-8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RF validation completed, IT staff trained, Documentation delivered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Juniper Mist AI Network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Success Stories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Client Success: Higher Education</a:t>
            </a:r>
          </a:p>
          <a:p>
            <a:pPr lvl="1"/>
            <a:r>
              <a:rPr b="1"/>
              <a:t>Client:</a:t>
            </a:r>
            <a:r>
              <a:t> Major university campus with 30,000 students</a:t>
            </a:r>
          </a:p>
          <a:p>
            <a:pPr lvl="1"/>
            <a:r>
              <a:rPr b="1"/>
              <a:t>Challenge:</a:t>
            </a:r>
            <a:r>
              <a:t> Poor WiFi coverage with constant troubleshooting, manual RF tuning, and helpdesk team overwhelmed with wireless connectivity complaints.</a:t>
            </a:r>
          </a:p>
          <a:p>
            <a:pPr lvl="1"/>
            <a:r>
              <a:rPr b="1"/>
              <a:t>Solution:</a:t>
            </a:r>
            <a:r>
              <a:t> Deployed 2,500 Mist APs with Marvis AI and location services.</a:t>
            </a:r>
          </a:p>
          <a:p>
            <a:pPr lvl="1"/>
            <a:r>
              <a:rPr b="1"/>
              <a:t>Results:</a:t>
            </a:r>
            <a:r>
              <a:t> Achieved 99.9% uptime, reduced helpdesk tickets by 75%, and enabled campus wayfinding for 10,000 monthly visitors.</a:t>
            </a:r>
          </a:p>
          <a:p>
            <a:pPr lvl="1"/>
            <a:r>
              <a:rPr b="1"/>
              <a:t>Testimonial:</a:t>
            </a:r>
            <a:r>
              <a:t> "Marvis AI answers 'Why is WiFi slow?' in seconds instead of hours of packet captures. Our team now focuses on strategic projects." — </a:t>
            </a:r>
            <a:r>
              <a:rPr b="1"/>
              <a:t>VP of IT</a:t>
            </a:r>
            <a:r>
              <a:t>, Public University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Juniper Mist AI Network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Our Partnership Advantage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What We Bring</a:t>
            </a:r>
          </a:p>
          <a:p>
            <a:pPr lvl="1"/>
            <a:r>
              <a:t>12+ years delivering enterprise wireless solutions with proven results</a:t>
            </a:r>
          </a:p>
          <a:p>
            <a:pPr lvl="1"/>
            <a:r>
              <a:t>75+ successful Mist AI wireless deployments across education, healthcare, hospitality</a:t>
            </a:r>
          </a:p>
          <a:p>
            <a:pPr lvl="1"/>
            <a:r>
              <a:t>Juniper Elite Partner with Wireless Specialization and AI Expertise</a:t>
            </a:r>
          </a:p>
          <a:p>
            <a:pPr lvl="1"/>
            <a:r>
              <a:t>Certified wireless architects with Mist AI and location services expertise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Value to You</a:t>
            </a:r>
          </a:p>
          <a:p>
            <a:pPr lvl="1"/>
            <a:r>
              <a:t>Pre-built WLAN design templates accelerate deployment</a:t>
            </a:r>
          </a:p>
          <a:p>
            <a:pPr lvl="1"/>
            <a:r>
              <a:t>Proven RF site survey methodology ensures optimal coverage</a:t>
            </a:r>
          </a:p>
          <a:p>
            <a:pPr lvl="1"/>
            <a:r>
              <a:t>Direct Mist AI engineering support through elite partner network</a:t>
            </a:r>
          </a:p>
          <a:p>
            <a:pPr lvl="1"/>
            <a:r>
              <a:t>Best practices from 75+ implementations avoid common pitfalls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Juniper Mist AI Network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Investment Summary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7920"/>
                <a:gridCol w="1198752"/>
                <a:gridCol w="1198752"/>
                <a:gridCol w="1198752"/>
                <a:gridCol w="959001"/>
                <a:gridCol w="959001"/>
                <a:gridCol w="1198752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Cost Category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1 List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1 Credits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1 Net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2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3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3-Year Total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Professional Services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$81,000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$81,000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$81,000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Hardware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$116,600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($5,580)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$111,020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$111,020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Software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$31,400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($7,500)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$23,900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$31,400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$31,400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$86,700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Support &amp; Maintenance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$9,720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($2,916)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$6,804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$9,720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$9,720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$26,244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TOTAL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$238,720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($15,996)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$222,724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$41,120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$41,120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$304,964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Juniper Mist AI Network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Next Steps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Decision:</a:t>
            </a:r>
            <a:r>
              <a:t> Executive approval for Mist AI wireless by [specific date]</a:t>
            </a:r>
          </a:p>
          <a:p>
            <a:pPr/>
            <a:r>
              <a:rPr b="1"/>
              <a:t>Kickoff:</a:t>
            </a:r>
            <a:r>
              <a:t> Target project start within 30 days of approval</a:t>
            </a:r>
          </a:p>
          <a:p>
            <a:pPr/>
            <a:r>
              <a:rPr b="1"/>
              <a:t>Team Formation:</a:t>
            </a:r>
            <a:r>
              <a:t> Identify wireless lead, network team, and provide building floor plans</a:t>
            </a:r>
          </a:p>
          <a:p>
            <a:pPr/>
            <a:r>
              <a:rPr b="1"/>
              <a:t>Week 1-2:</a:t>
            </a:r>
            <a:r>
              <a:t> Design phase with RF site survey and WLAN architecture planning</a:t>
            </a:r>
          </a:p>
          <a:p>
            <a:pPr/>
            <a:r>
              <a:rPr b="1"/>
              <a:t>Week 3-8:</a:t>
            </a:r>
            <a:r>
              <a:t> AP deployment, Marvis AI activation, and production cutover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Juniper Mist AI Network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pic>
        <p:nvPicPr>
          <p:cNvPr id="7" name="Picture 6" descr="clien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492" y="171206"/>
            <a:ext cx="3978520" cy="1314694"/>
          </a:xfrm>
          <a:prstGeom prst="rect">
            <a:avLst/>
          </a:prstGeom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64114" cy="529698"/>
          </a:xfrm>
          <a:prstGeom prst="rect">
            <a:avLst/>
          </a:prstGeom>
        </p:spPr>
      </p:pic>
      <p:pic>
        <p:nvPicPr>
          <p:cNvPr id="9" name="Picture 8" descr="eo-framework-logo-r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440</TotalTime>
  <Words>42</Words>
  <Application>Microsoft Office PowerPoint</Application>
  <PresentationFormat>On-screen Show (16:9)</PresentationFormat>
  <Paragraphs>21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EOFramework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EOFramework Template</dc:title>
  <dc:subject>PptxGenJS Presentation</dc:subject>
  <dc:creator>EOFramework</dc:creator>
  <cp:lastModifiedBy>Kishan Siram</cp:lastModifiedBy>
  <cp:revision>85</cp:revision>
  <dcterms:created xsi:type="dcterms:W3CDTF">2025-11-01T21:16:10Z</dcterms:created>
  <dcterms:modified xsi:type="dcterms:W3CDTF">2025-11-22T23:24:48Z</dcterms:modified>
</cp:coreProperties>
</file>