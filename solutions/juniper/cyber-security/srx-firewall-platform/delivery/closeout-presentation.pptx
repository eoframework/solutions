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 and on budget</a:t>
            </a:r>
          </a:p>
          <a:p>
            <a:r>
              <a:t>- Emphasize zero business disruption during policy migration</a:t>
            </a:r>
          </a:p>
          <a:p>
            <a:r>
              <a:t>- 8x improvement in firewall throughput (10 Gbps to 80 Gbps)</a:t>
            </a:r>
          </a:p>
          <a:p>
            <a:r>
              <a:t>- All 12 devices (2 datacenter + 10 branch) operational</a:t>
            </a:r>
          </a:p>
          <a:p>
            <a:r>
              <a:t>- Security services fully enabled: IPS, ATP Cloud, SecIntel</a:t>
            </a:r>
          </a:p>
          <a:p>
            <a:r>
              <a:t>- Client team trained and independently operating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architecture from datacenter to branch</a:t>
            </a:r>
          </a:p>
          <a:p>
            <a:r>
              <a:t>- SRX4600 HA pair provides enterprise-grade redundancy</a:t>
            </a:r>
          </a:p>
          <a:p>
            <a:r>
              <a:t>- Branch SRX300 devices support SD-WAN for intelligent routing</a:t>
            </a:r>
          </a:p>
          <a:p>
            <a:r>
              <a:t>- All advanced security services enabled and operational</a:t>
            </a:r>
          </a:p>
          <a:p>
            <a:r>
              <a:t>- Centralized management via Junos Space Security Director</a:t>
            </a:r>
          </a:p>
          <a:p>
            <a:r>
              <a:t>- SIEM integration with Splunk completed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 by client team</a:t>
            </a:r>
          </a:p>
          <a:p>
            <a:r>
              <a:t>- Ansible playbooks enable repeatable branch deployments</a:t>
            </a:r>
          </a:p>
          <a:p>
            <a:r>
              <a:t>- Policy migration report includes before/after comparison</a:t>
            </a:r>
          </a:p>
          <a:p>
            <a:r>
              <a:t>- Training materials support ongoing team development</a:t>
            </a:r>
          </a:p>
          <a:p>
            <a:r>
              <a:t>- Security Director provides centralized policy management</a:t>
            </a:r>
          </a:p>
          <a:p>
            <a:r>
              <a:t>- Documentation supports knowledge transfer and operations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performance targets met or exceeded</a:t>
            </a:r>
          </a:p>
          <a:p>
            <a:r>
              <a:t>- HA failover tested multiple times with consistent results</a:t>
            </a:r>
          </a:p>
          <a:p>
            <a:r>
              <a:t>- Policy migration achieved 100% accuracy with zero gaps</a:t>
            </a:r>
          </a:p>
          <a:p>
            <a:r>
              <a:t>- IPS throughput exceeds specification by 5%</a:t>
            </a:r>
          </a:p>
          <a:p>
            <a:r>
              <a:t>- SSL inspection performance provides headroom for growth</a:t>
            </a:r>
          </a:p>
          <a:p>
            <a:r>
              <a:t>- Continuous monitoring confirmed stable operations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- 8x throughput improvement eliminates performance constraints</a:t>
            </a:r>
          </a:p>
          <a:p>
            <a:r>
              <a:t>- IPS enabled on all traffic zones without performance impact</a:t>
            </a:r>
          </a:p>
          <a:p>
            <a:r>
              <a:t>- Security Director reduces policy change time from hours to minutes</a:t>
            </a:r>
          </a:p>
          <a:p>
            <a:r>
              <a:t>- License consolidation achieved through integrated security services</a:t>
            </a:r>
          </a:p>
          <a:p>
            <a:r>
              <a:t>- ATP Cloud and SecIntel integration accelerates threat response</a:t>
            </a:r>
          </a:p>
          <a:p>
            <a:r>
              <a:t>- PCI DSS compliance validated through network segmentation audit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Parallel infrastructure enabled zero-downtime migration</a:t>
            </a:r>
          </a:p>
          <a:p>
            <a:r>
              <a:t>- Lab testing caught 23 policy issues before production</a:t>
            </a:r>
          </a:p>
          <a:p>
            <a:r>
              <a:t>- Legacy policy cleanup identified 47 redundant rules</a:t>
            </a:r>
          </a:p>
          <a:p>
            <a:r>
              <a:t>- Branch WAN delays managed through flexible scheduling</a:t>
            </a:r>
          </a:p>
          <a:p>
            <a:r>
              <a:t>- SSL inspection Phase 2 can extend coverage incrementally</a:t>
            </a:r>
          </a:p>
          <a:p>
            <a:r>
              <a:t>- Recommend quarterly HA failover tests to maintain readiness</a:t>
            </a:r>
          </a:p>
          <a:p>
            <a:r>
              <a:t>- 18-month growth planning should begin next quarter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- 30-day warranty period provides transition support</a:t>
            </a:r>
          </a:p>
          <a:p>
            <a:r>
              <a:t>- Client team trained and capable of day-to-day operations</a:t>
            </a:r>
          </a:p>
          <a:p>
            <a:r>
              <a:t>- Juniper JTAC provides 24x7 expert support with 4-hour RMA</a:t>
            </a:r>
          </a:p>
          <a:p>
            <a:r>
              <a:t>- Clear escalation path ensures rapid issue resolution</a:t>
            </a:r>
          </a:p>
          <a:p>
            <a:r>
              <a:t>- Monthly security reviews monitor threat landscape</a:t>
            </a:r>
          </a:p>
          <a:p>
            <a:r>
              <a:t>- Quarterly business reviews assess capacity and performance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migration success required teamwork</a:t>
            </a:r>
          </a:p>
          <a:p>
            <a:r>
              <a:t>- Security team's policy expertise ensured accurate migration</a:t>
            </a:r>
          </a:p>
          <a:p>
            <a:r>
              <a:t>- Branch managers enabled efficient site deployments</a:t>
            </a:r>
          </a:p>
          <a:p>
            <a:r>
              <a:t>- Keep next steps concrete and actionable</a:t>
            </a:r>
          </a:p>
          <a:p>
            <a:r>
              <a:t>- SSL inspection Phase 2 extends encrypted traffic coverage</a:t>
            </a:r>
          </a:p>
          <a:p>
            <a:r>
              <a:t>- Monthly reviews maintain security posture visibility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slides ready for deep-dive questions on HA, VPN, IPS</a:t>
            </a:r>
          </a:p>
          <a:p>
            <a:r>
              <a:t>- Offer to schedule follow-up sessions for specific topics</a:t>
            </a:r>
          </a:p>
          <a:p>
            <a:r>
              <a:t>- Confirm warranty support contact procedures</a:t>
            </a:r>
          </a:p>
          <a:p>
            <a:r>
              <a:t>- End on positive note - celebrate the successful security transformation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Juniper SRX Firewall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27,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12 weeks, completed on schedule</a:t>
            </a:r>
          </a:p>
          <a:p>
            <a:pPr/>
            <a:r>
              <a:rPr b="1"/>
              <a:t>Budget:</a:t>
            </a:r>
            <a:r>
              <a:t> $382,500 delivered on budget</a:t>
            </a:r>
          </a:p>
          <a:p>
            <a:pPr/>
            <a:r>
              <a:rPr b="1"/>
              <a:t>Go-Live Date:</a:t>
            </a:r>
            <a:r>
              <a:t> [DATE] as planned</a:t>
            </a:r>
          </a:p>
          <a:p>
            <a:pPr/>
            <a:r>
              <a:rPr b="1"/>
              <a:t>Quality:</a:t>
            </a:r>
            <a:r>
              <a:t> Zero security incidents during migration</a:t>
            </a:r>
          </a:p>
          <a:p>
            <a:pPr/>
            <a:r>
              <a:rPr b="1"/>
              <a:t>Throughput:</a:t>
            </a:r>
            <a:r>
              <a:t> 80 Gbps validated with IPS enabled</a:t>
            </a:r>
          </a:p>
          <a:p>
            <a:pPr/>
            <a:r>
              <a:rPr b="1"/>
              <a:t>Branch Sites:</a:t>
            </a:r>
            <a:r>
              <a:t> 10 SRX300 firewalls deployed</a:t>
            </a:r>
          </a:p>
          <a:p>
            <a:pPr/>
            <a:r>
              <a:rPr b="1"/>
              <a:t>ROI Status:</a:t>
            </a:r>
            <a:r>
              <a:t> 15-month payback period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Datacenter</a:t>
            </a:r>
          </a:p>
          <a:p>
            <a:pPr lvl="1"/>
            <a:r>
              <a:t>SRX4600 HA cluster deployed</a:t>
            </a:r>
          </a:p>
          <a:p>
            <a:pPr lvl="1"/>
            <a:r>
              <a:t>80 Gbps firewall throughput</a:t>
            </a:r>
          </a:p>
          <a:p>
            <a:pPr lvl="1"/>
            <a:r>
              <a:t>Sub-second failover validated</a:t>
            </a:r>
          </a:p>
          <a:p>
            <a:pPr/>
            <a:r>
              <a:rPr b="1"/>
              <a:t>Branch Network</a:t>
            </a:r>
          </a:p>
          <a:p>
            <a:pPr lvl="1"/>
            <a:r>
              <a:t>10 SRX300 with SD-WAN</a:t>
            </a:r>
          </a:p>
          <a:p>
            <a:pPr lvl="1"/>
            <a:r>
              <a:t>Dual WAN per site configured</a:t>
            </a:r>
          </a:p>
          <a:p>
            <a:pPr lvl="1"/>
            <a:r>
              <a:t>Site-to-site VPN operational</a:t>
            </a:r>
          </a:p>
          <a:p>
            <a:pPr/>
            <a:r>
              <a:rPr b="1"/>
              <a:t>Security Services</a:t>
            </a:r>
          </a:p>
          <a:p>
            <a:pPr lvl="1"/>
            <a:r>
              <a:t>IPS with 40 Gbps throughput</a:t>
            </a:r>
          </a:p>
          <a:p>
            <a:pPr lvl="1"/>
            <a:r>
              <a:t>ATP Cloud malware sandbox</a:t>
            </a:r>
          </a:p>
          <a:p>
            <a:pPr lvl="1"/>
            <a:r>
              <a:t>SecIntel threat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Architecture, zones, policies, integration specs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with Junos configurations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Functional, performance, HA failover test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Migration Report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500+ rules migrated with validation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`/delivery/policy-migration.xlsx`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deployment automation scripts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Director Config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templates and device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Director console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guides, Junos CLI reference, videos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Firewall Throughput: 80 Gbps (target: 80)</a:t>
            </a:r>
          </a:p>
          <a:p>
            <a:pPr lvl="1"/>
            <a:r>
              <a:t>IPS Throughput: 42 Gbps (target: 40 Gbps)</a:t>
            </a:r>
          </a:p>
          <a:p>
            <a:pPr lvl="1"/>
            <a:r>
              <a:t>HA Failover: 0.8s (target: &lt;1 second)</a:t>
            </a:r>
          </a:p>
          <a:p>
            <a:pPr lvl="1"/>
            <a:r>
              <a:t>Policies Migrated: 512/512 (100%)</a:t>
            </a:r>
          </a:p>
          <a:p>
            <a:pPr lvl="1"/>
            <a:r>
              <a:t>Test Cases Passed: 147/147 (100%)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99.99% during cutover</a:t>
            </a:r>
          </a:p>
          <a:p>
            <a:pPr lvl="1"/>
            <a:r>
              <a:t>VPN Tunnels: 30/30 operational</a:t>
            </a:r>
          </a:p>
          <a:p>
            <a:pPr lvl="1"/>
            <a:r>
              <a:t>SSL VPN Users: 100 capacity validated</a:t>
            </a:r>
          </a:p>
          <a:p>
            <a:pPr lvl="1"/>
            <a:r>
              <a:t>Session Capacity: 2M concurrent</a:t>
            </a:r>
          </a:p>
          <a:p>
            <a:pPr lvl="1"/>
            <a:r>
              <a:t>SSL Inspection: 22 Gbps throughput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Firewall Throughput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increase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(80 Gbps)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Eliminated performance bottleneck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IPS Coverage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 traffic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threat visibility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60%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72%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Director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License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42%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Consolidated security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Incident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Integrated ATP + SecIntel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Compliance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PCI DSS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Zone segmentation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Parallel infrastructure approach</a:t>
            </a:r>
          </a:p>
          <a:p>
            <a:pPr lvl="1"/>
            <a:r>
              <a:t>Zone-by-zone traffic migration</a:t>
            </a:r>
          </a:p>
          <a:p>
            <a:pPr lvl="1"/>
            <a:r>
              <a:t>Lab validation before production</a:t>
            </a:r>
          </a:p>
          <a:p>
            <a:pPr lvl="1"/>
            <a:r>
              <a:t>Daily cutover standups</a:t>
            </a:r>
          </a:p>
          <a:p>
            <a:pPr lvl="1"/>
            <a:r>
              <a:t>Security Director automation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policy cleanup required</a:t>
            </a:r>
          </a:p>
          <a:p>
            <a:pPr lvl="1"/>
            <a:r>
              <a:t>VPN tunnel re-keying scheduled</a:t>
            </a:r>
          </a:p>
          <a:p>
            <a:pPr lvl="1"/>
            <a:r>
              <a:t>Branch WAN circuit delays</a:t>
            </a:r>
          </a:p>
          <a:p>
            <a:pPr lvl="1"/>
            <a:r>
              <a:t>SSL certificate management</a:t>
            </a:r>
          </a:p>
          <a:p>
            <a:pPr lvl="1"/>
            <a:r>
              <a:t>SIEM log format alignment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Enable SSL inspection Phase 2</a:t>
            </a:r>
          </a:p>
          <a:p>
            <a:pPr lvl="1"/>
            <a:r>
              <a:t>Expand SD-WAN capabilities</a:t>
            </a:r>
          </a:p>
          <a:p>
            <a:pPr lvl="1"/>
            <a:r>
              <a:t>Implement policy lifecycle mgmt</a:t>
            </a:r>
          </a:p>
          <a:p>
            <a:pPr lvl="1"/>
            <a:r>
              <a:t>Schedule quarterly HA tests</a:t>
            </a:r>
          </a:p>
          <a:p>
            <a:pPr lvl="1"/>
            <a:r>
              <a:t>Plan capacity for 18-month growth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Warranty (Days 1-30)</a:t>
            </a:r>
          </a:p>
          <a:p>
            <a:pPr lvl="1"/>
            <a:r>
              <a:t>Dedicated project team support</a:t>
            </a:r>
          </a:p>
          <a:p>
            <a:pPr lvl="1"/>
            <a:r>
              <a:t>Daily health check reviews</a:t>
            </a:r>
          </a:p>
          <a:p>
            <a:pPr lvl="1"/>
            <a:r>
              <a:t>4-hour response for critical</a:t>
            </a:r>
          </a:p>
          <a:p>
            <a:pPr lvl="1"/>
            <a:r>
              <a:t>Priority issue escalation</a:t>
            </a:r>
          </a:p>
          <a:p>
            <a:pPr lvl="1"/>
            <a:r>
              <a:t>Configuration assistance</a:t>
            </a:r>
          </a:p>
          <a:p>
            <a:pPr/>
            <a:r>
              <a:rPr b="1"/>
              <a:t>Steady State (Day 31+)</a:t>
            </a:r>
          </a:p>
          <a:p>
            <a:pPr lvl="1"/>
            <a:r>
              <a:t>Juniper JTAC 24x7 support</a:t>
            </a:r>
          </a:p>
          <a:p>
            <a:pPr lvl="1"/>
            <a:r>
              <a:t>4-hour hardware replacement</a:t>
            </a:r>
          </a:p>
          <a:p>
            <a:pPr lvl="1"/>
            <a:r>
              <a:t>Monthly security reviews</a:t>
            </a:r>
          </a:p>
          <a:p>
            <a:pPr lvl="1"/>
            <a:r>
              <a:t>Quarterly business reviews</a:t>
            </a:r>
          </a:p>
          <a:p>
            <a:pPr lvl="1"/>
            <a:r>
              <a:t>Annual architecture review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Contacts</a:t>
            </a:r>
          </a:p>
          <a:p>
            <a:pPr lvl="1"/>
            <a:r>
              <a:t>L1: Client NOC (15 min)</a:t>
            </a:r>
          </a:p>
          <a:p>
            <a:pPr lvl="1"/>
            <a:r>
              <a:t>L2: Client Security (1 hour)</a:t>
            </a:r>
          </a:p>
          <a:p>
            <a:pPr lvl="1"/>
            <a:r>
              <a:t>L3: JTAC (4 hour 24x7)</a:t>
            </a:r>
          </a:p>
          <a:p>
            <a:pPr lvl="1"/>
            <a:r>
              <a:t>Account: am@consulting.com</a:t>
            </a:r>
          </a:p>
          <a:p>
            <a:pPr lvl="1"/>
            <a:r>
              <a:t>Emergency: 1-888-314-JTAC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Security team for thorough policy review and validation</a:t>
            </a:r>
          </a:p>
          <a:p>
            <a:pPr/>
            <a:r>
              <a:t>Network operations for maintenance window coordination</a:t>
            </a:r>
          </a:p>
          <a:p>
            <a:pPr/>
            <a:r>
              <a:t>Branch site managers for local deployment support</a:t>
            </a:r>
          </a:p>
          <a:p>
            <a:pPr/>
            <a:r>
              <a:t>Executive sponsors for project prioritization</a:t>
            </a:r>
          </a:p>
          <a:p>
            <a:pPr/>
            <a:r>
              <a:rPr b="1"/>
              <a:t>This Week:</a:t>
            </a:r>
            <a:r>
              <a:t> Final documentation handover and training</a:t>
            </a:r>
          </a:p>
          <a:p>
            <a:pPr/>
            <a:r>
              <a:rPr b="1"/>
              <a:t>Next 30 Days:</a:t>
            </a:r>
            <a:r>
              <a:t> Warranty support with daily check-ins</a:t>
            </a:r>
          </a:p>
          <a:p>
            <a:pPr/>
            <a:r>
              <a:rPr b="1"/>
              <a:t>Next Quarter:</a:t>
            </a:r>
            <a:r>
              <a:t> SSL inspection Phase 2 planning</a:t>
            </a:r>
          </a:p>
          <a:p>
            <a:pPr/>
            <a:r>
              <a:rPr b="1"/>
              <a:t>Ongoing:</a:t>
            </a:r>
            <a:r>
              <a:t> Monthly security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