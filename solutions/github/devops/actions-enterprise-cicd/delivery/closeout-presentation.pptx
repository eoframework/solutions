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*Opening Statement:*</a:t>
            </a:r>
          </a:p>
          <a:p>
            <a:r>
              <a:t>Good [morning/afternoon]. Today we're celebrating the successful completion of the GitHub Actions Enterprise CI/CD implementation. This project has transformed [Client Name]'s software delivery from legacy Jenkins to a modern, cloud-native CI/CD platform that enables daily production deployments.</a:t>
            </a:r>
          </a:p>
          <a:p/>
          <a:p>
            <a:r>
              <a:t>*Key Talking Points - Expand on Each Bullet:*</a:t>
            </a:r>
          </a:p>
          <a:p/>
          <a:p>
            <a:r>
              <a:t>**Project Duration - 6 Months:**</a:t>
            </a:r>
          </a:p>
          <a:p>
            <a:r>
              <a:t>- We executed exactly as planned in the Statement of Work</a:t>
            </a:r>
          </a:p>
          <a:p>
            <a:r>
              <a:t>- Phase 1 (Discovery &amp; Assessment): Weeks 1-3 - CI/CD assessment and architecture design</a:t>
            </a:r>
          </a:p>
          <a:p>
            <a:r>
              <a:t>- Phase 2 (Foundation &amp; Pilot): Weeks 4-8 - Runner infrastructure and pilot migrations</a:t>
            </a:r>
          </a:p>
          <a:p>
            <a:r>
              <a:t>- Phase 3 (Scale &amp; Integration): Weeks 9-16 - Organization-wide application migration</a:t>
            </a:r>
          </a:p>
          <a:p>
            <a:r>
              <a:t>- Phase 4 (Testing &amp; Validation): Weeks 17-20 - Performance validation and UAT</a:t>
            </a:r>
          </a:p>
          <a:p>
            <a:r>
              <a:t>- Phase 5 (Handover): Weeks 21-26 - Knowledge transfer and hypercare complete</a:t>
            </a:r>
          </a:p>
          <a:p/>
          <a:p>
            <a:r>
              <a:t>**Budget - $1.14M Year 1:**</a:t>
            </a:r>
          </a:p>
          <a:p>
            <a:r>
              <a:t>- Professional Services: $80,200 (268 hours as quoted)</a:t>
            </a:r>
          </a:p>
          <a:p>
            <a:r>
              <a:t>- GitHub Enterprise Cloud: $212,040 (100 users + Actions minutes)</a:t>
            </a:r>
          </a:p>
          <a:p>
            <a:r>
              <a:t>- AWS Infrastructure: $760,248 (20 self-hosted runners + networking)</a:t>
            </a:r>
          </a:p>
          <a:p>
            <a:r>
              <a:t>- Third-Party Tools: $28,980 (Datadog, PagerDuty, SonarQube)</a:t>
            </a:r>
          </a:p>
          <a:p>
            <a:r>
              <a:t>- Actual spend: $1,135,012 - $1,456 under budget</a:t>
            </a:r>
          </a:p>
          <a:p/>
          <a:p>
            <a:r>
              <a:t>**Go-Live - Week 22:**</a:t>
            </a:r>
          </a:p>
          <a:p>
            <a:r>
              <a:t>- Followed pilot-validate-expand strategy exactly as planned</a:t>
            </a:r>
          </a:p>
          <a:p>
            <a:r>
              <a:t>- Weeks 1-8: Pilot with 10 applications across different tech stacks</a:t>
            </a:r>
          </a:p>
          <a:p>
            <a:r>
              <a:t>- Weeks 9-16: Phased migration of remaining 40 applications</a:t>
            </a:r>
          </a:p>
          <a:p>
            <a:r>
              <a:t>- Weeks 17-20: Performance validation and optimization</a:t>
            </a:r>
          </a:p>
          <a:p>
            <a:r>
              <a:t>- Zero rollback events required during migration</a:t>
            </a:r>
          </a:p>
          <a:p/>
          <a:p>
            <a:r>
              <a:t>**Quality - Zero Critical Defects:**</a:t>
            </a:r>
          </a:p>
          <a:p>
            <a:r>
              <a:t>- All reusable workflow templates validated with 100% pass rate</a:t>
            </a:r>
          </a:p>
          <a:p>
            <a:r>
              <a:t>- No deployment failures during go-live weekend</a:t>
            </a:r>
          </a:p>
          <a:p>
            <a:r>
              <a:t>- 5 minor configuration issues resolved during hypercare</a:t>
            </a:r>
          </a:p>
          <a:p>
            <a:r>
              <a:t>- Developer satisfaction: 8.5/10 rating</a:t>
            </a:r>
          </a:p>
          <a:p/>
          <a:p>
            <a:r>
              <a:t>**Pipeline Speed - 8 Minutes:**</a:t>
            </a:r>
          </a:p>
          <a:p>
            <a:r>
              <a:t>- Target was &lt;10 minutes per SOW</a:t>
            </a:r>
          </a:p>
          <a:p>
            <a:r>
              <a:t>- Previous Jenkins average: 45 minutes</a:t>
            </a:r>
          </a:p>
          <a:p>
            <a:r>
              <a:t>- 82% improvement in build times</a:t>
            </a:r>
          </a:p>
          <a:p>
            <a:r>
              <a:t>- Breakdown by technology:</a:t>
            </a:r>
          </a:p>
          <a:p>
            <a:r>
              <a:t>  - .NET applications: 7 minutes</a:t>
            </a:r>
          </a:p>
          <a:p>
            <a:r>
              <a:t>  - Node.js applications: 6 minutes</a:t>
            </a:r>
          </a:p>
          <a:p>
            <a:r>
              <a:t>  - Python applications: 5 minutes</a:t>
            </a:r>
          </a:p>
          <a:p>
            <a:r>
              <a:t>  - Docker builds: 10 minutes</a:t>
            </a:r>
          </a:p>
          <a:p/>
          <a:p>
            <a:r>
              <a:t>**Deployment Success - 96.2%:**</a:t>
            </a:r>
          </a:p>
          <a:p>
            <a:r>
              <a:t>- Target was 95%+ per SOW</a:t>
            </a:r>
          </a:p>
          <a:p>
            <a:r>
              <a:t>- Previous Jenkins: 70% success rate</a:t>
            </a:r>
          </a:p>
          <a:p>
            <a:r>
              <a:t>- 37% improvement in deployment reliability</a:t>
            </a:r>
          </a:p>
          <a:p>
            <a:r>
              <a:t>- Failed deploys traced to application code issues, not platform</a:t>
            </a:r>
          </a:p>
          <a:p/>
          <a:p>
            <a:r>
              <a:t>**Jenkins Eliminated - $200K Savings:**</a:t>
            </a:r>
          </a:p>
          <a:p>
            <a:r>
              <a:t>- Jenkins infrastructure: $180K/year eliminated</a:t>
            </a:r>
          </a:p>
          <a:p>
            <a:r>
              <a:t>- Jenkins administrator: $120K/year reallocated</a:t>
            </a:r>
          </a:p>
          <a:p>
            <a:r>
              <a:t>- Total direct savings: $200K+ annually</a:t>
            </a:r>
          </a:p>
          <a:p>
            <a:r>
              <a:t>- Plus productivity gains from faster pipelines</a:t>
            </a:r>
          </a:p>
          <a:p/>
          <a:p>
            <a:r>
              <a:t>*Transition to Next Slide:*</a:t>
            </a:r>
          </a:p>
          <a:p>
            <a:r>
              <a:t>"Let me walk you through exactly what we built together..."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Overview - Walk Through the Diagram:*</a:t>
            </a:r>
          </a:p>
          <a:p/>
          <a:p>
            <a:r>
              <a:t>"This diagram shows the production CI/CD architecture we deployed. Let me walk through the build and deployment flow..."</a:t>
            </a:r>
          </a:p>
          <a:p/>
          <a:p>
            <a:r>
              <a:t>**GitHub Actions Platform Layer:**</a:t>
            </a:r>
          </a:p>
          <a:p>
            <a:r>
              <a:t>- GitHub Enterprise Cloud with Actions enabled for all 50 repositories</a:t>
            </a:r>
          </a:p>
          <a:p>
            <a:r>
              <a:t>- Organization-wide security and workflow policies configured</a:t>
            </a:r>
          </a:p>
          <a:p>
            <a:r>
              <a:t>- 15 reusable workflow templates covering all technology stacks:</a:t>
            </a:r>
          </a:p>
          <a:p>
            <a:r>
              <a:t>  - .NET Core build and deploy (3 templates)</a:t>
            </a:r>
          </a:p>
          <a:p>
            <a:r>
              <a:t>  - Node.js build and deploy (3 templates)</a:t>
            </a:r>
          </a:p>
          <a:p>
            <a:r>
              <a:t>  - Python build and deploy (2 templates)</a:t>
            </a:r>
          </a:p>
          <a:p>
            <a:r>
              <a:t>  - Docker multi-stage builds (3 templates)</a:t>
            </a:r>
          </a:p>
          <a:p>
            <a:r>
              <a:t>  - Kubernetes/Helm deployments (2 templates)</a:t>
            </a:r>
          </a:p>
          <a:p>
            <a:r>
              <a:t>  - Shared composite actions (2 templates)</a:t>
            </a:r>
          </a:p>
          <a:p>
            <a:r>
              <a:t>- Environment protection rules:</a:t>
            </a:r>
          </a:p>
          <a:p>
            <a:r>
              <a:t>  - Development: Auto-deploy on push</a:t>
            </a:r>
          </a:p>
          <a:p>
            <a:r>
              <a:t>  - Staging: Auto-deploy on PR merge</a:t>
            </a:r>
          </a:p>
          <a:p>
            <a:r>
              <a:t>  - Production: Required approvals (2 reviewers)</a:t>
            </a:r>
          </a:p>
          <a:p/>
          <a:p>
            <a:r>
              <a:t>**Self-Hosted Runner Infrastructure:**</a:t>
            </a:r>
          </a:p>
          <a:p>
            <a:r>
              <a:t>- 20 x c5.2xlarge EC2 instances (8 vCPU, 16GB RAM each)</a:t>
            </a:r>
          </a:p>
          <a:p>
            <a:r>
              <a:t>- Deployed in AWS VPC private subnets</a:t>
            </a:r>
          </a:p>
          <a:p>
            <a:r>
              <a:t>- Auto-scaling configuration:</a:t>
            </a:r>
          </a:p>
          <a:p>
            <a:r>
              <a:t>  - Minimum: 10 runners (always available)</a:t>
            </a:r>
          </a:p>
          <a:p>
            <a:r>
              <a:t>  - Maximum: 30 runners (peak capacity)</a:t>
            </a:r>
          </a:p>
          <a:p>
            <a:r>
              <a:t>  - Scale-up trigger: Queue depth &gt; 5 jobs</a:t>
            </a:r>
          </a:p>
          <a:p>
            <a:r>
              <a:t>  - Scale-down trigger: 15 minutes idle</a:t>
            </a:r>
          </a:p>
          <a:p>
            <a:r>
              <a:t>- Estimated monthly runner cost: $5,000 (vs $15,000+ cloud-hosted equivalent)</a:t>
            </a:r>
          </a:p>
          <a:p>
            <a:r>
              <a:t>- 60% cost savings vs GitHub-hosted runners achieved</a:t>
            </a:r>
          </a:p>
          <a:p/>
          <a:p>
            <a:r>
              <a:t>**Operating System Support:**</a:t>
            </a:r>
          </a:p>
          <a:p>
            <a:r>
              <a:t>- 16 Linux runners (Ubuntu 22.04): .NET, Node.js, Python, Docker</a:t>
            </a:r>
          </a:p>
          <a:p>
            <a:r>
              <a:t>- 4 Windows runners (Server 2022): Legacy .NET Framework applications</a:t>
            </a:r>
          </a:p>
          <a:p>
            <a:r>
              <a:t>- Automated runner image updates via custom AMI pipeline</a:t>
            </a:r>
          </a:p>
          <a:p/>
          <a:p>
            <a:r>
              <a:t>**Container Registry Integration:**</a:t>
            </a:r>
          </a:p>
          <a:p>
            <a:r>
              <a:t>- GitHub Packages: Development and staging images</a:t>
            </a:r>
          </a:p>
          <a:p>
            <a:r>
              <a:t>- AWS ECR: Production container images</a:t>
            </a:r>
          </a:p>
          <a:p>
            <a:r>
              <a:t>- Image scanning enabled via Trivy integration</a:t>
            </a:r>
          </a:p>
          <a:p>
            <a:r>
              <a:t>- Retention policies: 90 days for dev/staging, unlimited for production</a:t>
            </a:r>
          </a:p>
          <a:p/>
          <a:p>
            <a:r>
              <a:t>**OIDC AWS Authentication (Keyless):**</a:t>
            </a:r>
          </a:p>
          <a:p>
            <a:r>
              <a:t>- No static AWS credentials in workflows</a:t>
            </a:r>
          </a:p>
          <a:p>
            <a:r>
              <a:t>- GitHub Actions OIDC provider configured in AWS IAM</a:t>
            </a:r>
          </a:p>
          <a:p>
            <a:r>
              <a:t>- Role assumption per repository:</a:t>
            </a:r>
          </a:p>
          <a:p>
            <a:r>
              <a:t>  - `github-actions-dev-deploy`: Dev account access</a:t>
            </a:r>
          </a:p>
          <a:p>
            <a:r>
              <a:t>  - `github-actions-staging-deploy`: Staging account access</a:t>
            </a:r>
          </a:p>
          <a:p>
            <a:r>
              <a:t>  - `github-actions-prod-deploy`: Production account access</a:t>
            </a:r>
          </a:p>
          <a:p>
            <a:r>
              <a:t>- Token lifetime: 1 hour maximum</a:t>
            </a:r>
          </a:p>
          <a:p/>
          <a:p>
            <a:r>
              <a:t>**Kubernetes (EKS) Deployment Automation:**</a:t>
            </a:r>
          </a:p>
          <a:p>
            <a:r>
              <a:t>- Kubectl and Helm deployed via workflow</a:t>
            </a:r>
          </a:p>
          <a:p>
            <a:r>
              <a:t>- EKS cluster access via OIDC token exchange</a:t>
            </a:r>
          </a:p>
          <a:p>
            <a:r>
              <a:t>- Deployment strategies:</a:t>
            </a:r>
          </a:p>
          <a:p>
            <a:r>
              <a:t>  - Rolling updates for stateless services</a:t>
            </a:r>
          </a:p>
          <a:p>
            <a:r>
              <a:t>  - Blue-green for critical applications</a:t>
            </a:r>
          </a:p>
          <a:p>
            <a:r>
              <a:t>  - Canary deployments for high-risk changes</a:t>
            </a:r>
          </a:p>
          <a:p>
            <a:r>
              <a:t>- Namespace isolation per environment</a:t>
            </a:r>
          </a:p>
          <a:p/>
          <a:p>
            <a:r>
              <a:t>**Monitoring Integration:**</a:t>
            </a:r>
          </a:p>
          <a:p>
            <a:r>
              <a:t>- Datadog: Workflow metrics and runner health</a:t>
            </a:r>
          </a:p>
          <a:p>
            <a:r>
              <a:t>- CloudWatch: AWS infrastructure metrics</a:t>
            </a:r>
          </a:p>
          <a:p>
            <a:r>
              <a:t>- PagerDuty: Critical alert escalation</a:t>
            </a:r>
          </a:p>
          <a:p>
            <a:r>
              <a:t>- Slack: Build notifications (success/failure)</a:t>
            </a:r>
          </a:p>
          <a:p/>
          <a:p>
            <a:r>
              <a:t>**Key Architecture Decisions Made During Implementation:**</a:t>
            </a:r>
          </a:p>
          <a:p>
            <a:r>
              <a:t>1. Self-hosted runners over GitHub-hosted (60% cost savings)</a:t>
            </a:r>
          </a:p>
          <a:p>
            <a:r>
              <a:t>2. OIDC over static credentials (security improvement)</a:t>
            </a:r>
          </a:p>
          <a:p>
            <a:r>
              <a:t>3. Reusable workflows over copy-paste (maintainability)</a:t>
            </a:r>
          </a:p>
          <a:p>
            <a:r>
              <a:t>4. Auto-scaling over fixed capacity (cost optimization)</a:t>
            </a:r>
          </a:p>
          <a:p/>
          <a:p>
            <a:r>
              <a:t>*Transition:*</a:t>
            </a:r>
          </a:p>
          <a:p>
            <a:r>
              <a:t>"Now let me show you the complete deliverables package we're handing over..."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*Deliverables Deep Dive - Review Each Item:*</a:t>
            </a:r>
          </a:p>
          <a:p/>
          <a:p>
            <a:r>
              <a:t>**1. Solution Architecture Document (detailed-design.docx):**</a:t>
            </a:r>
          </a:p>
          <a:p>
            <a:r>
              <a:t>- 40 pages comprehensive technical documentation</a:t>
            </a:r>
          </a:p>
          <a:p>
            <a:r>
              <a:t>- Sections include:</a:t>
            </a:r>
          </a:p>
          <a:p>
            <a:r>
              <a:t>  - Executive Summary and business context</a:t>
            </a:r>
          </a:p>
          <a:p>
            <a:r>
              <a:t>  - Current state Jenkins/GitLab assessment</a:t>
            </a:r>
          </a:p>
          <a:p>
            <a:r>
              <a:t>  - GitHub Actions architecture and configuration</a:t>
            </a:r>
          </a:p>
          <a:p>
            <a:r>
              <a:t>  - Self-hosted runner infrastructure design</a:t>
            </a:r>
          </a:p>
          <a:p>
            <a:r>
              <a:t>  - OIDC AWS integration specifications</a:t>
            </a:r>
          </a:p>
          <a:p>
            <a:r>
              <a:t>  - Kubernetes deployment patterns</a:t>
            </a:r>
          </a:p>
          <a:p>
            <a:r>
              <a:t>  - Monitoring and observability design</a:t>
            </a:r>
          </a:p>
          <a:p>
            <a:r>
              <a:t>- Reviewed and accepted by [DevOps Lead] on [Date]</a:t>
            </a:r>
          </a:p>
          <a:p>
            <a:r>
              <a:t>- Living document - recommend annual review</a:t>
            </a:r>
          </a:p>
          <a:p/>
          <a:p>
            <a:r>
              <a:t>**2. Implementation Guide (implementation-guide.docx):**</a:t>
            </a:r>
          </a:p>
          <a:p>
            <a:r>
              <a:t>- Step-by-step GitHub Actions deployment procedures</a:t>
            </a:r>
          </a:p>
          <a:p>
            <a:r>
              <a:t>- Prerequisites checklist</a:t>
            </a:r>
          </a:p>
          <a:p>
            <a:r>
              <a:t>- Terraform modules for runner infrastructure</a:t>
            </a:r>
          </a:p>
          <a:p>
            <a:r>
              <a:t>- Reusable workflow deployment procedures</a:t>
            </a:r>
          </a:p>
          <a:p>
            <a:r>
              <a:t>- Post-deployment verification steps</a:t>
            </a:r>
          </a:p>
          <a:p>
            <a:r>
              <a:t>- Rollback procedures</a:t>
            </a:r>
          </a:p>
          <a:p>
            <a:r>
              <a:t>- Validated by rebuilding staging environment from scratch</a:t>
            </a:r>
          </a:p>
          <a:p/>
          <a:p>
            <a:r>
              <a:t>**3. Project Plan (project-plan.xlsx):**</a:t>
            </a:r>
          </a:p>
          <a:p>
            <a:r>
              <a:t>- Four worksheets:</a:t>
            </a:r>
          </a:p>
          <a:p>
            <a:r>
              <a:t>  1. Project Timeline - 38 tasks across 6 months</a:t>
            </a:r>
          </a:p>
          <a:p>
            <a:r>
              <a:t>  2. Milestones - 9 major milestones tracked</a:t>
            </a:r>
          </a:p>
          <a:p>
            <a:r>
              <a:t>  3. RACI Matrix - 22 activities with clear ownership</a:t>
            </a:r>
          </a:p>
          <a:p>
            <a:r>
              <a:t>  4. Communications Plan - 11 meeting types defined</a:t>
            </a:r>
          </a:p>
          <a:p>
            <a:r>
              <a:t>- All milestones achieved on or ahead of schedule</a:t>
            </a:r>
          </a:p>
          <a:p>
            <a:r>
              <a:t>- Final status: 100% complete</a:t>
            </a:r>
          </a:p>
          <a:p/>
          <a:p>
            <a:r>
              <a:t>**4. Test Plan &amp; Results (test-plan.xlsx):**</a:t>
            </a:r>
          </a:p>
          <a:p>
            <a:r>
              <a:t>- Three test categories:</a:t>
            </a:r>
          </a:p>
          <a:p>
            <a:r>
              <a:t>  1. Functional Tests - 16 test cases (100% pass)</a:t>
            </a:r>
          </a:p>
          <a:p>
            <a:r>
              <a:t>  2. Non-Functional Tests - 14 test cases (100% pass)</a:t>
            </a:r>
          </a:p>
          <a:p>
            <a:r>
              <a:t>  3. User Acceptance Tests - 10 test cases (100% pass)</a:t>
            </a:r>
          </a:p>
          <a:p>
            <a:r>
              <a:t>- Performance validation: 8 min average (target &lt;10 min)</a:t>
            </a:r>
          </a:p>
          <a:p>
            <a:r>
              <a:t>- Deployment success rate: 96.2% (target 95%)</a:t>
            </a:r>
          </a:p>
          <a:p/>
          <a:p>
            <a:r>
              <a:t>**5. Reusable Workflow Templates (15 templates):**</a:t>
            </a:r>
          </a:p>
          <a:p>
            <a:r>
              <a:t>- Organization-wide workflow standardization:</a:t>
            </a:r>
          </a:p>
          <a:p>
            <a:r>
              <a:t>  - `dotnet-build-deploy.yml`: .NET Core CI/CD</a:t>
            </a:r>
          </a:p>
          <a:p>
            <a:r>
              <a:t>  - `dotnet-framework.yml`: Legacy .NET Framework</a:t>
            </a:r>
          </a:p>
          <a:p>
            <a:r>
              <a:t>  - `nodejs-build-deploy.yml`: Node.js CI/CD</a:t>
            </a:r>
          </a:p>
          <a:p>
            <a:r>
              <a:t>  - `python-build-deploy.yml`: Python CI/CD</a:t>
            </a:r>
          </a:p>
          <a:p>
            <a:r>
              <a:t>  - `docker-build-push.yml`: Container builds</a:t>
            </a:r>
          </a:p>
          <a:p>
            <a:r>
              <a:t>  - `kubernetes-deploy.yml`: EKS deployments</a:t>
            </a:r>
          </a:p>
          <a:p>
            <a:r>
              <a:t>  - `helm-deploy.yml`: Helm chart deployments</a:t>
            </a:r>
          </a:p>
          <a:p>
            <a:r>
              <a:t>  - And 8 additional specialized templates</a:t>
            </a:r>
          </a:p>
          <a:p>
            <a:r>
              <a:t>- Documentation and usage examples included</a:t>
            </a:r>
          </a:p>
          <a:p/>
          <a:p>
            <a:r>
              <a:t>**6. Operations Runbook:**</a:t>
            </a:r>
          </a:p>
          <a:p>
            <a:r>
              <a:t>- Daily operations checklist</a:t>
            </a:r>
          </a:p>
          <a:p>
            <a:r>
              <a:t>- Runner health monitoring procedures</a:t>
            </a:r>
          </a:p>
          <a:p>
            <a:r>
              <a:t>- Auto-scaling troubleshooting</a:t>
            </a:r>
          </a:p>
          <a:p>
            <a:r>
              <a:t>- Workflow debugging guide</a:t>
            </a:r>
          </a:p>
          <a:p>
            <a:r>
              <a:t>- OIDC token troubleshooting</a:t>
            </a:r>
          </a:p>
          <a:p>
            <a:r>
              <a:t>- Escalation procedures</a:t>
            </a:r>
          </a:p>
          <a:p/>
          <a:p>
            <a:r>
              <a:t>**7. Training Materials:**</a:t>
            </a:r>
          </a:p>
          <a:p>
            <a:r>
              <a:t>- DevOps Engineer Guide (PDF, 35 pages)</a:t>
            </a:r>
          </a:p>
          <a:p>
            <a:r>
              <a:t>- Administrator Quick Start Guide (PDF, 15 pages)</a:t>
            </a:r>
          </a:p>
          <a:p>
            <a:r>
              <a:t>- Video tutorials (6 recordings, 90 minutes total):</a:t>
            </a:r>
          </a:p>
          <a:p>
            <a:r>
              <a:t>  1. Workflow development basics</a:t>
            </a:r>
          </a:p>
          <a:p>
            <a:r>
              <a:t>  2. Reusable workflow patterns</a:t>
            </a:r>
          </a:p>
          <a:p>
            <a:r>
              <a:t>  3. Runner management</a:t>
            </a:r>
          </a:p>
          <a:p>
            <a:r>
              <a:t>  4. OIDC configuration</a:t>
            </a:r>
          </a:p>
          <a:p>
            <a:r>
              <a:t>  5. Kubernetes deployments</a:t>
            </a:r>
          </a:p>
          <a:p>
            <a:r>
              <a:t>  6. Troubleshooting guide</a:t>
            </a:r>
          </a:p>
          <a:p>
            <a:r>
              <a:t>- Quick reference cards (laminated)</a:t>
            </a:r>
          </a:p>
          <a:p/>
          <a:p>
            <a:r>
              <a:t>**8. Terraform Modules:**</a:t>
            </a:r>
          </a:p>
          <a:p>
            <a:r>
              <a:t>- Complete infrastructure as code:</a:t>
            </a:r>
          </a:p>
          <a:p>
            <a:r>
              <a:t>  - VPC and networking module</a:t>
            </a:r>
          </a:p>
          <a:p>
            <a:r>
              <a:t>  - Auto-scaling group module</a:t>
            </a:r>
          </a:p>
          <a:p>
            <a:r>
              <a:t>  - IAM roles and OIDC module</a:t>
            </a:r>
          </a:p>
          <a:p>
            <a:r>
              <a:t>  - CloudWatch monitoring module</a:t>
            </a:r>
          </a:p>
          <a:p>
            <a:r>
              <a:t>- State management via S3 backend</a:t>
            </a:r>
          </a:p>
          <a:p>
            <a:r>
              <a:t>- Environment-specific variable files</a:t>
            </a:r>
          </a:p>
          <a:p/>
          <a:p>
            <a:r>
              <a:t>*Training Sessions Delivered:*</a:t>
            </a:r>
          </a:p>
          <a:p>
            <a:r>
              <a:t>- DevOps Engineer Training: 4 sessions, 15 engineers, 100% completion</a:t>
            </a:r>
          </a:p>
          <a:p>
            <a:r>
              <a:t>- Platform Admin Training: 2 sessions, 4 administrators</a:t>
            </a:r>
          </a:p>
          <a:p>
            <a:r>
              <a:t>- Developer Overview: 8 sessions, 100 developers, 95% attendance</a:t>
            </a:r>
          </a:p>
          <a:p>
            <a:r>
              <a:t>- Total training hours delivered: 28 hours</a:t>
            </a:r>
          </a:p>
          <a:p/>
          <a:p>
            <a:r>
              <a:t>*Transition:*</a:t>
            </a:r>
          </a:p>
          <a:p>
            <a:r>
              <a:t>"Let's look at how the solution is performing against our targets..."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*Quality &amp; Performance Deep Dive:*</a:t>
            </a:r>
          </a:p>
          <a:p/>
          <a:p>
            <a:r>
              <a:t>**Pipeline Performance - Detailed Breakdown:**</a:t>
            </a:r>
          </a:p>
          <a:p/>
          <a:p>
            <a:r>
              <a:t>*Average Build Time: 8 Minutes*</a:t>
            </a:r>
          </a:p>
          <a:p>
            <a:r>
              <a:t>- SOW target: &lt;10 minutes per build</a:t>
            </a:r>
          </a:p>
          <a:p>
            <a:r>
              <a:t>- Previous Jenkins average: 45 minutes</a:t>
            </a:r>
          </a:p>
          <a:p>
            <a:r>
              <a:t>- Improvement: 82% faster builds</a:t>
            </a:r>
          </a:p>
          <a:p>
            <a:r>
              <a:t>- Achieved through:</a:t>
            </a:r>
          </a:p>
          <a:p>
            <a:r>
              <a:t>  - Self-hosted runners (no cloud spin-up time)</a:t>
            </a:r>
          </a:p>
          <a:p>
            <a:r>
              <a:t>  - Parallel job execution</a:t>
            </a:r>
          </a:p>
          <a:p>
            <a:r>
              <a:t>  - Dependency caching</a:t>
            </a:r>
          </a:p>
          <a:p>
            <a:r>
              <a:t>  - Incremental builds where supported</a:t>
            </a:r>
          </a:p>
          <a:p/>
          <a:p>
            <a:r>
              <a:t>*Build Time by Technology:*</a:t>
            </a:r>
          </a:p>
          <a:p>
            <a:r>
              <a:t>| Stack | Before (Jenkins) | After (Actions) | Improvement |</a:t>
            </a:r>
          </a:p>
          <a:p>
            <a:r>
              <a:t>|-------|------------------|-----------------|-------------|</a:t>
            </a:r>
          </a:p>
          <a:p>
            <a:r>
              <a:t>| .NET Core | 35 min | 7 min | 80% |</a:t>
            </a:r>
          </a:p>
          <a:p>
            <a:r>
              <a:t>| Node.js | 25 min | 6 min | 76% |</a:t>
            </a:r>
          </a:p>
          <a:p>
            <a:r>
              <a:t>| Python | 20 min | 5 min | 75% |</a:t>
            </a:r>
          </a:p>
          <a:p>
            <a:r>
              <a:t>| Docker | 50 min | 10 min | 80% |</a:t>
            </a:r>
          </a:p>
          <a:p>
            <a:r>
              <a:t>| **Weighted Avg** | **45 min** | **8 min** | **82%** |</a:t>
            </a:r>
          </a:p>
          <a:p/>
          <a:p>
            <a:r>
              <a:t>*Key Optimizations Implemented:*</a:t>
            </a:r>
          </a:p>
          <a:p>
            <a:r>
              <a:t>1. Dependency caching: npm, NuGet, pip caches (3 min savings)</a:t>
            </a:r>
          </a:p>
          <a:p>
            <a:r>
              <a:t>2. Docker layer caching: BuildKit with registry cache (5 min savings)</a:t>
            </a:r>
          </a:p>
          <a:p>
            <a:r>
              <a:t>3. Parallel test execution: Split tests across runners (10 min savings)</a:t>
            </a:r>
          </a:p>
          <a:p>
            <a:r>
              <a:t>4. Incremental compilation: Only changed modules (5 min savings)</a:t>
            </a:r>
          </a:p>
          <a:p/>
          <a:p>
            <a:r>
              <a:t>**Deployment Metrics - Detailed Analysis:**</a:t>
            </a:r>
          </a:p>
          <a:p/>
          <a:p>
            <a:r>
              <a:t>*Deployment Success Rate: 96.2%*</a:t>
            </a:r>
          </a:p>
          <a:p>
            <a:r>
              <a:t>- SOW target: 95%+ deployment success</a:t>
            </a:r>
          </a:p>
          <a:p>
            <a:r>
              <a:t>- Previous Jenkins: 70% success rate</a:t>
            </a:r>
          </a:p>
          <a:p>
            <a:r>
              <a:t>- 37% improvement in reliability</a:t>
            </a:r>
          </a:p>
          <a:p/>
          <a:p>
            <a:r>
              <a:t>*Breakdown of Failed Deployments (3.8%):*</a:t>
            </a:r>
          </a:p>
          <a:p>
            <a:r>
              <a:t>| Failure Type | Percentage | Root Cause |</a:t>
            </a:r>
          </a:p>
          <a:p>
            <a:r>
              <a:t>|--------------|------------|------------|</a:t>
            </a:r>
          </a:p>
          <a:p>
            <a:r>
              <a:t>| Application Code | 2.1% | Test failures, bugs |</a:t>
            </a:r>
          </a:p>
          <a:p>
            <a:r>
              <a:t>| Configuration | 1.0% | Wrong environment vars |</a:t>
            </a:r>
          </a:p>
          <a:p>
            <a:r>
              <a:t>| Infrastructure | 0.5% | EKS capacity limits |</a:t>
            </a:r>
          </a:p>
          <a:p>
            <a:r>
              <a:t>| Platform | 0.2% | GitHub transient issues |</a:t>
            </a:r>
          </a:p>
          <a:p>
            <a:r>
              <a:t>| **Total** | **3.8%** | |</a:t>
            </a:r>
          </a:p>
          <a:p/>
          <a:p>
            <a:r>
              <a:t>*Note: Platform issues are minimal (0.2%) - most failures are application-related</a:t>
            </a:r>
          </a:p>
          <a:p/>
          <a:p>
            <a:r>
              <a:t>*Daily Deployments: 45 Average*</a:t>
            </a:r>
          </a:p>
          <a:p>
            <a:r>
              <a:t>- Previous: 7 deployments per week (1/day)</a:t>
            </a:r>
          </a:p>
          <a:p>
            <a:r>
              <a:t>- Current: 45 deployments per day (7x improvement)</a:t>
            </a:r>
          </a:p>
          <a:p>
            <a:r>
              <a:t>- Breakdown by environment:</a:t>
            </a:r>
          </a:p>
          <a:p>
            <a:r>
              <a:t>  - Development: 30/day (auto-deploy on push)</a:t>
            </a:r>
          </a:p>
          <a:p>
            <a:r>
              <a:t>  - Staging: 10/day (PR merge triggers)</a:t>
            </a:r>
          </a:p>
          <a:p>
            <a:r>
              <a:t>  - Production: 5/day (approved releases)</a:t>
            </a:r>
          </a:p>
          <a:p/>
          <a:p>
            <a:r>
              <a:t>*Concurrent Build Capacity: 25 Sustained*</a:t>
            </a:r>
          </a:p>
          <a:p>
            <a:r>
              <a:t>- Peak tested: 30 concurrent builds</a:t>
            </a:r>
          </a:p>
          <a:p>
            <a:r>
              <a:t>- No queue buildup during peak hours</a:t>
            </a:r>
          </a:p>
          <a:p>
            <a:r>
              <a:t>- Auto-scaling successfully engaged 3x during migration</a:t>
            </a:r>
          </a:p>
          <a:p/>
          <a:p>
            <a:r>
              <a:t>*Runner Utilization: 72% Average*</a:t>
            </a:r>
          </a:p>
          <a:p>
            <a:r>
              <a:t>- Healthy utilization indicating right-sizing</a:t>
            </a:r>
          </a:p>
          <a:p>
            <a:r>
              <a:t>- Peak utilization: 95% (during large builds)</a:t>
            </a:r>
          </a:p>
          <a:p>
            <a:r>
              <a:t>- Off-hours utilization: 15% (scheduled jobs)</a:t>
            </a:r>
          </a:p>
          <a:p>
            <a:r>
              <a:t>- Cost-effective auto-scaling operational</a:t>
            </a:r>
          </a:p>
          <a:p/>
          <a:p>
            <a:r>
              <a:t>*Queue Wait Time: &lt;30 Seconds*</a:t>
            </a:r>
          </a:p>
          <a:p>
            <a:r>
              <a:t>- 90th percentile: 25 seconds</a:t>
            </a:r>
          </a:p>
          <a:p>
            <a:r>
              <a:t>- Maximum observed: 90 seconds (during surge)</a:t>
            </a:r>
          </a:p>
          <a:p>
            <a:r>
              <a:t>- Acceptable developer experience</a:t>
            </a:r>
          </a:p>
          <a:p/>
          <a:p>
            <a:r>
              <a:t>**Testing Summary:**</a:t>
            </a:r>
          </a:p>
          <a:p>
            <a:r>
              <a:t>- Test Cases Executed: 40 total</a:t>
            </a:r>
          </a:p>
          <a:p>
            <a:r>
              <a:t>- Pass Rate: 100%</a:t>
            </a:r>
          </a:p>
          <a:p>
            <a:r>
              <a:t>- Performance Target: Met (&lt;10 min)</a:t>
            </a:r>
          </a:p>
          <a:p>
            <a:r>
              <a:t>- Success Rate Target: Exceeded (96.2% vs 95%)</a:t>
            </a:r>
          </a:p>
          <a:p>
            <a:r>
              <a:t>- Critical Defects at Go-Live: 0</a:t>
            </a:r>
          </a:p>
          <a:p>
            <a:r>
              <a:t>- Hypercare Issues: 5 (all P3, resolved)</a:t>
            </a:r>
          </a:p>
          <a:p/>
          <a:p>
            <a:r>
              <a:t>*Transition:*</a:t>
            </a:r>
          </a:p>
          <a:p>
            <a:r>
              <a:t>"These pipeline improvements translate directly into business value. Let me show you the benefits we're already seeing..."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*Benefits Analysis - Detailed ROI Discussion:*</a:t>
            </a:r>
          </a:p>
          <a:p/>
          <a:p>
            <a:r>
              <a:t>**Pipeline Speed - 8 Minutes Average:**</a:t>
            </a:r>
          </a:p>
          <a:p/>
          <a:p>
            <a:r>
              <a:t>*Before (Jenkins):*</a:t>
            </a:r>
          </a:p>
          <a:p>
            <a:r>
              <a:t>- Average build time: 45 minutes</a:t>
            </a:r>
          </a:p>
          <a:p>
            <a:r>
              <a:t>- Developers waiting for builds frequently</a:t>
            </a:r>
          </a:p>
          <a:p>
            <a:r>
              <a:t>- Limited parallelization capability</a:t>
            </a:r>
          </a:p>
          <a:p>
            <a:r>
              <a:t>- Bottleneck during peak hours</a:t>
            </a:r>
          </a:p>
          <a:p/>
          <a:p>
            <a:r>
              <a:t>*After (GitHub Actions):*</a:t>
            </a:r>
          </a:p>
          <a:p>
            <a:r>
              <a:t>- Average build time: 8 minutes</a:t>
            </a:r>
          </a:p>
          <a:p>
            <a:r>
              <a:t>- Self-hosted runners eliminate spin-up time</a:t>
            </a:r>
          </a:p>
          <a:p>
            <a:r>
              <a:t>- Parallel job execution enabled</a:t>
            </a:r>
          </a:p>
          <a:p>
            <a:r>
              <a:t>- Auto-scaling handles peak load</a:t>
            </a:r>
          </a:p>
          <a:p/>
          <a:p>
            <a:r>
              <a:t>*Business Impact:*</a:t>
            </a:r>
          </a:p>
          <a:p>
            <a:r>
              <a:t>- 37 minutes saved per build</a:t>
            </a:r>
          </a:p>
          <a:p>
            <a:r>
              <a:t>- 200 builds/day x 37 minutes = 123 hours/day saved</a:t>
            </a:r>
          </a:p>
          <a:p>
            <a:r>
              <a:t>- Developer productivity significantly improved</a:t>
            </a:r>
          </a:p>
          <a:p>
            <a:r>
              <a:t>- Faster feedback loop accelerates development</a:t>
            </a:r>
          </a:p>
          <a:p/>
          <a:p>
            <a:r>
              <a:t>**Deploy Frequency - 45 Deployments/Day:**</a:t>
            </a:r>
          </a:p>
          <a:p/>
          <a:p>
            <a:r>
              <a:t>*Before (Jenkins):*</a:t>
            </a:r>
          </a:p>
          <a:p>
            <a:r>
              <a:t>- Weekly release cadence enforced</a:t>
            </a:r>
          </a:p>
          <a:p>
            <a:r>
              <a:t>- 7 deployments per week average</a:t>
            </a:r>
          </a:p>
          <a:p>
            <a:r>
              <a:t>- Manual deployment processes</a:t>
            </a:r>
          </a:p>
          <a:p>
            <a:r>
              <a:t>- Long lead time from code to production</a:t>
            </a:r>
          </a:p>
          <a:p/>
          <a:p>
            <a:r>
              <a:t>*After (GitHub Actions):*</a:t>
            </a:r>
          </a:p>
          <a:p>
            <a:r>
              <a:t>- Daily deployment capability achieved</a:t>
            </a:r>
          </a:p>
          <a:p>
            <a:r>
              <a:t>- 45 deployments per day average</a:t>
            </a:r>
          </a:p>
          <a:p>
            <a:r>
              <a:t>- Fully automated with approval gates</a:t>
            </a:r>
          </a:p>
          <a:p>
            <a:r>
              <a:t>- Minutes from merge to production</a:t>
            </a:r>
          </a:p>
          <a:p/>
          <a:p>
            <a:r>
              <a:t>*Business Impact:*</a:t>
            </a:r>
          </a:p>
          <a:p>
            <a:r>
              <a:t>- 7x improvement in deployment frequency</a:t>
            </a:r>
          </a:p>
          <a:p>
            <a:r>
              <a:t>- Features reach customers faster</a:t>
            </a:r>
          </a:p>
          <a:p>
            <a:r>
              <a:t>- Bug fixes deployed same-day</a:t>
            </a:r>
          </a:p>
          <a:p>
            <a:r>
              <a:t>- Competitive advantage through speed</a:t>
            </a:r>
          </a:p>
          <a:p/>
          <a:p>
            <a:r>
              <a:t>**Deployment Success Rate - 96.2%:**</a:t>
            </a:r>
          </a:p>
          <a:p/>
          <a:p>
            <a:r>
              <a:t>*Before (Jenkins):*</a:t>
            </a:r>
          </a:p>
          <a:p>
            <a:r>
              <a:t>- 70% deployment success rate</a:t>
            </a:r>
          </a:p>
          <a:p>
            <a:r>
              <a:t>- 30% failures requiring rollback</a:t>
            </a:r>
          </a:p>
          <a:p>
            <a:r>
              <a:t>- Emergency fixes common</a:t>
            </a:r>
          </a:p>
          <a:p>
            <a:r>
              <a:t>- High stress deployment events</a:t>
            </a:r>
          </a:p>
          <a:p/>
          <a:p>
            <a:r>
              <a:t>*After (GitHub Actions):*</a:t>
            </a:r>
          </a:p>
          <a:p>
            <a:r>
              <a:t>- 96.2% deployment success rate</a:t>
            </a:r>
          </a:p>
          <a:p>
            <a:r>
              <a:t>- 3.8% failures (mostly app code issues)</a:t>
            </a:r>
          </a:p>
          <a:p>
            <a:r>
              <a:t>- Automated rollback capability</a:t>
            </a:r>
          </a:p>
          <a:p>
            <a:r>
              <a:t>- Low-stress deployment culture</a:t>
            </a:r>
          </a:p>
          <a:p/>
          <a:p>
            <a:r>
              <a:t>*Business Impact:*</a:t>
            </a:r>
          </a:p>
          <a:p>
            <a:r>
              <a:t>- 37% reduction in failed deployments</a:t>
            </a:r>
          </a:p>
          <a:p>
            <a:r>
              <a:t>- Reduced emergency response incidents</a:t>
            </a:r>
          </a:p>
          <a:p>
            <a:r>
              <a:t>- Lower operational stress</a:t>
            </a:r>
          </a:p>
          <a:p>
            <a:r>
              <a:t>- Higher service reliability</a:t>
            </a:r>
          </a:p>
          <a:p/>
          <a:p>
            <a:r>
              <a:t>**Jenkins Cost Elimination - $200K+ Annually:**</a:t>
            </a:r>
          </a:p>
          <a:p/>
          <a:p>
            <a:r>
              <a:t>*Jenkins Infrastructure Eliminated:*</a:t>
            </a:r>
          </a:p>
          <a:p>
            <a:r>
              <a:t>| Cost Item | Annual Cost | Status |</a:t>
            </a:r>
          </a:p>
          <a:p>
            <a:r>
              <a:t>|-----------|-------------|--------|</a:t>
            </a:r>
          </a:p>
          <a:p>
            <a:r>
              <a:t>| Jenkins Master (EC2) | $25,000 | Eliminated |</a:t>
            </a:r>
          </a:p>
          <a:p>
            <a:r>
              <a:t>| Jenkins Agents (20x EC2) | $100,000 | Replaced by runners |</a:t>
            </a:r>
          </a:p>
          <a:p>
            <a:r>
              <a:t>| Jenkins Storage (EBS) | $15,000 | Eliminated |</a:t>
            </a:r>
          </a:p>
          <a:p>
            <a:r>
              <a:t>| Jenkins Maintenance | $40,000 | Eliminated |</a:t>
            </a:r>
          </a:p>
          <a:p>
            <a:r>
              <a:t>| **Total Direct** | **$180,000** | **Eliminated** |</a:t>
            </a:r>
          </a:p>
          <a:p/>
          <a:p>
            <a:r>
              <a:t>*Jenkins Personnel Reallocation:*</a:t>
            </a:r>
          </a:p>
          <a:p>
            <a:r>
              <a:t>- 1 Jenkins administrator ($120K/year)</a:t>
            </a:r>
          </a:p>
          <a:p>
            <a:r>
              <a:t>- Reallocated to DevOps engineering (higher value work)</a:t>
            </a:r>
          </a:p>
          <a:p>
            <a:r>
              <a:t>- No layoffs - internal redeployment</a:t>
            </a:r>
          </a:p>
          <a:p/>
          <a:p>
            <a:r>
              <a:t>*Net Savings Calculation:*</a:t>
            </a:r>
          </a:p>
          <a:p>
            <a:r>
              <a:t>| Category | Before | After | Savings |</a:t>
            </a:r>
          </a:p>
          <a:p>
            <a:r>
              <a:t>|----------|--------|-------|---------|</a:t>
            </a:r>
          </a:p>
          <a:p>
            <a:r>
              <a:t>| Infrastructure | $180K | $0 | $180K |</a:t>
            </a:r>
          </a:p>
          <a:p>
            <a:r>
              <a:t>| Admin Labor | $120K | $0 (reallocated) | $120K potential |</a:t>
            </a:r>
          </a:p>
          <a:p>
            <a:r>
              <a:t>| **Conservative** | | | **$200K+** |</a:t>
            </a:r>
          </a:p>
          <a:p/>
          <a:p>
            <a:r>
              <a:t>**Developer Time Savings - 6,166 Hours/Year:**</a:t>
            </a:r>
          </a:p>
          <a:p/>
          <a:p>
            <a:r>
              <a:t>*Calculation:*</a:t>
            </a:r>
          </a:p>
          <a:p>
            <a:r>
              <a:t>- Time saved per build: 37 minutes</a:t>
            </a:r>
          </a:p>
          <a:p>
            <a:r>
              <a:t>- Builds per day: 200</a:t>
            </a:r>
          </a:p>
          <a:p>
            <a:r>
              <a:t>- Working days per year: 250</a:t>
            </a:r>
          </a:p>
          <a:p>
            <a:r>
              <a:t>- Annual time saved: 200 x 37 x 250 = 1,850,000 minutes = 30,833 hours</a:t>
            </a:r>
          </a:p>
          <a:p/>
          <a:p>
            <a:r>
              <a:t>*Conservative estimate (20% developer wait time):*</a:t>
            </a:r>
          </a:p>
          <a:p>
            <a:r>
              <a:t>- 30,833 hours x 20% = 6,166 hours/year</a:t>
            </a:r>
          </a:p>
          <a:p>
            <a:r>
              <a:t>- At $75/hour: $462,450 productivity value</a:t>
            </a:r>
          </a:p>
          <a:p/>
          <a:p>
            <a:r>
              <a:t>**ROI Summary:**</a:t>
            </a:r>
          </a:p>
          <a:p/>
          <a:p>
            <a:r>
              <a:t>| Metric | Value |</a:t>
            </a:r>
          </a:p>
          <a:p>
            <a:r>
              <a:t>|--------|-------|</a:t>
            </a:r>
          </a:p>
          <a:p>
            <a:r>
              <a:t>| Total Investment (Year 1) | $1,136,468 |</a:t>
            </a:r>
          </a:p>
          <a:p>
            <a:r>
              <a:t>| Direct Savings (Jenkins) | $200,000 |</a:t>
            </a:r>
          </a:p>
          <a:p>
            <a:r>
              <a:t>| Productivity Gains | $462,450 |</a:t>
            </a:r>
          </a:p>
          <a:p>
            <a:r>
              <a:t>| Year 1 Benefits | $662,450 |</a:t>
            </a:r>
          </a:p>
          <a:p>
            <a:r>
              <a:t>| Year 1 Net Cost | $474,018 |</a:t>
            </a:r>
          </a:p>
          <a:p>
            <a:r>
              <a:t>| Year 2 Benefits | $662,450 |</a:t>
            </a:r>
          </a:p>
          <a:p>
            <a:r>
              <a:t>| Payback Period | 18 months |</a:t>
            </a:r>
          </a:p>
          <a:p>
            <a:r>
              <a:t>| 3-Year ROI | 43% |</a:t>
            </a:r>
          </a:p>
          <a:p/>
          <a:p>
            <a:r>
              <a:t>*Note: ROI improves significantly in Year 2+ as professional services are one-time</a:t>
            </a:r>
          </a:p>
          <a:p/>
          <a:p>
            <a:r>
              <a:t>*Transition:*</a:t>
            </a:r>
          </a:p>
          <a:p>
            <a:r>
              <a:t>"We learned valuable lessons during this implementation that will help with future phases..."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*Lessons Learned - Comprehensive Review:*</a:t>
            </a:r>
          </a:p>
          <a:p/>
          <a:p>
            <a:r>
              <a:t>**What Worked Well - Details:**</a:t>
            </a:r>
          </a:p>
          <a:p/>
          <a:p>
            <a:r>
              <a:t>*1. Pilot-First Migration Strategy (Weeks 1-8):*</a:t>
            </a:r>
          </a:p>
          <a:p>
            <a:r>
              <a:t>- Started with 10 diverse applications across all tech stacks</a:t>
            </a:r>
          </a:p>
          <a:p>
            <a:r>
              <a:t>- Validated performance before full migration</a:t>
            </a:r>
          </a:p>
          <a:p>
            <a:r>
              <a:t>- Built developer confidence with working examples</a:t>
            </a:r>
          </a:p>
          <a:p>
            <a:r>
              <a:t>- Recommendation: Always pilot across representative samples</a:t>
            </a:r>
          </a:p>
          <a:p/>
          <a:p>
            <a:r>
              <a:t>*2. Reusable Workflow Standardization:*</a:t>
            </a:r>
          </a:p>
          <a:p>
            <a:r>
              <a:t>- 15 organization-wide workflow templates</a:t>
            </a:r>
          </a:p>
          <a:p>
            <a:r>
              <a:t>- Reduced workflow development time by 80%</a:t>
            </a:r>
          </a:p>
          <a:p>
            <a:r>
              <a:t>- Consistent security and quality gates</a:t>
            </a:r>
          </a:p>
          <a:p>
            <a:r>
              <a:t>- Easy updates - change template, all repos updated</a:t>
            </a:r>
          </a:p>
          <a:p/>
          <a:p>
            <a:r>
              <a:t>*3. Self-Hosted Runner Cost Savings:*</a:t>
            </a:r>
          </a:p>
          <a:p>
            <a:r>
              <a:t>- 60% cost savings vs GitHub-hosted runners</a:t>
            </a:r>
          </a:p>
          <a:p>
            <a:r>
              <a:t>- Full VPC access for private resource deployments</a:t>
            </a:r>
          </a:p>
          <a:p>
            <a:r>
              <a:t>- Consistent performance (no cold starts)</a:t>
            </a:r>
          </a:p>
          <a:p>
            <a:r>
              <a:t>- Scale: Can handle 200+ builds/day with 20 runners</a:t>
            </a:r>
          </a:p>
          <a:p/>
          <a:p>
            <a:r>
              <a:t>*4. OIDC Keyless Authentication:*</a:t>
            </a:r>
          </a:p>
          <a:p>
            <a:r>
              <a:t>- Eliminated 50+ static AWS credentials</a:t>
            </a:r>
          </a:p>
          <a:p>
            <a:r>
              <a:t>- Reduced security attack surface</a:t>
            </a:r>
          </a:p>
          <a:p>
            <a:r>
              <a:t>- Automatic credential rotation</a:t>
            </a:r>
          </a:p>
          <a:p>
            <a:r>
              <a:t>- Simplified credential management</a:t>
            </a:r>
          </a:p>
          <a:p/>
          <a:p>
            <a:r>
              <a:t>*5. Developer Training Program:*</a:t>
            </a:r>
          </a:p>
          <a:p>
            <a:r>
              <a:t>- 28 hours of training delivered</a:t>
            </a:r>
          </a:p>
          <a:p>
            <a:r>
              <a:t>- 8.5/10 developer satisfaction</a:t>
            </a:r>
          </a:p>
          <a:p>
            <a:r>
              <a:t>- Champions in each team driving adoption</a:t>
            </a:r>
          </a:p>
          <a:p>
            <a:r>
              <a:t>- Self-service deployment achieved</a:t>
            </a:r>
          </a:p>
          <a:p/>
          <a:p>
            <a:r>
              <a:t>**Challenges Overcome - Details:**</a:t>
            </a:r>
          </a:p>
          <a:p/>
          <a:p>
            <a:r>
              <a:t>*1. Windows Runner Configuration:*</a:t>
            </a:r>
          </a:p>
          <a:p>
            <a:r>
              <a:t>- Challenge: Windows builds required different runner config</a:t>
            </a:r>
          </a:p>
          <a:p>
            <a:r>
              <a:t>- Root cause: IIS dependencies and Windows-specific tooling</a:t>
            </a:r>
          </a:p>
          <a:p>
            <a:r>
              <a:t>- Resolution:</a:t>
            </a:r>
          </a:p>
          <a:p>
            <a:r>
              <a:t>  - Dedicated Windows runner AMI</a:t>
            </a:r>
          </a:p>
          <a:p>
            <a:r>
              <a:t>  - Separate auto-scaling group</a:t>
            </a:r>
          </a:p>
          <a:p>
            <a:r>
              <a:t>  - Pre-installed Visual Studio Build Tools</a:t>
            </a:r>
          </a:p>
          <a:p>
            <a:r>
              <a:t>- Result: Windows builds running at 9 min (vs 15 min initial)</a:t>
            </a:r>
          </a:p>
          <a:p/>
          <a:p>
            <a:r>
              <a:t>*2. Legacy .NET Framework Builds:*</a:t>
            </a:r>
          </a:p>
          <a:p>
            <a:r>
              <a:t>- Challenge: .NET Framework 4.8 not supported on Linux</a:t>
            </a:r>
          </a:p>
          <a:p>
            <a:r>
              <a:t>- Resolution:</a:t>
            </a:r>
          </a:p>
          <a:p>
            <a:r>
              <a:t>  - Windows runners for Framework apps</a:t>
            </a:r>
          </a:p>
          <a:p>
            <a:r>
              <a:t>  - Custom build scripts for MSBuild</a:t>
            </a:r>
          </a:p>
          <a:p>
            <a:r>
              <a:t>  - Long-term: Migration path to .NET 6+</a:t>
            </a:r>
          </a:p>
          <a:p>
            <a:r>
              <a:t>- Result: All 8 Framework apps successfully migrated</a:t>
            </a:r>
          </a:p>
          <a:p/>
          <a:p>
            <a:r>
              <a:t>*3. Large Monorepo Handling:*</a:t>
            </a:r>
          </a:p>
          <a:p>
            <a:r>
              <a:t>- Challenge: 500K+ LOC monorepo causing slow checkouts</a:t>
            </a:r>
          </a:p>
          <a:p>
            <a:r>
              <a:t>- Resolution:</a:t>
            </a:r>
          </a:p>
          <a:p>
            <a:r>
              <a:t>  - Sparse checkout configuration</a:t>
            </a:r>
          </a:p>
          <a:p>
            <a:r>
              <a:t>  - Fetch depth limiting</a:t>
            </a:r>
          </a:p>
          <a:p>
            <a:r>
              <a:t>  - Path-based workflow triggers</a:t>
            </a:r>
          </a:p>
          <a:p>
            <a:r>
              <a:t>- Result: Checkout time reduced from 8 min to 45 seconds</a:t>
            </a:r>
          </a:p>
          <a:p/>
          <a:p>
            <a:r>
              <a:t>*4. EKS Access Configuration:*</a:t>
            </a:r>
          </a:p>
          <a:p>
            <a:r>
              <a:t>- Challenge: OIDC token exchange to EKS complex</a:t>
            </a:r>
          </a:p>
          <a:p>
            <a:r>
              <a:t>- Resolution:</a:t>
            </a:r>
          </a:p>
          <a:p>
            <a:r>
              <a:t>  - Custom IAM role per cluster</a:t>
            </a:r>
          </a:p>
          <a:p>
            <a:r>
              <a:t>  - aws-actions/configure-aws-credentials</a:t>
            </a:r>
          </a:p>
          <a:p>
            <a:r>
              <a:t>  - kubectl OIDC token provider</a:t>
            </a:r>
          </a:p>
          <a:p>
            <a:r>
              <a:t>- Result: Secure, keyless EKS deployments working</a:t>
            </a:r>
          </a:p>
          <a:p/>
          <a:p>
            <a:r>
              <a:t>*5. Workflow Caching Optimization:*</a:t>
            </a:r>
          </a:p>
          <a:p>
            <a:r>
              <a:t>- Challenge: Initial builds not using cache effectively</a:t>
            </a:r>
          </a:p>
          <a:p>
            <a:r>
              <a:t>- Resolution:</a:t>
            </a:r>
          </a:p>
          <a:p>
            <a:r>
              <a:t>  - Proper cache key strategies</a:t>
            </a:r>
          </a:p>
          <a:p>
            <a:r>
              <a:t>  - Restore-keys for partial matches</a:t>
            </a:r>
          </a:p>
          <a:p>
            <a:r>
              <a:t>  - Cache size monitoring</a:t>
            </a:r>
          </a:p>
          <a:p>
            <a:r>
              <a:t>- Result: 3+ minute savings per build from caching</a:t>
            </a:r>
          </a:p>
          <a:p/>
          <a:p>
            <a:r>
              <a:t>**Recommendations for Future Enhancement:**</a:t>
            </a:r>
          </a:p>
          <a:p/>
          <a:p>
            <a:r>
              <a:t>*1. Expand to Remaining 50+ Repos:*</a:t>
            </a:r>
          </a:p>
          <a:p>
            <a:r>
              <a:t>- Current: 50 repositories migrated</a:t>
            </a:r>
          </a:p>
          <a:p>
            <a:r>
              <a:t>- Opportunity: Additional 50+ repos identified</a:t>
            </a:r>
          </a:p>
          <a:p>
            <a:r>
              <a:t>- Effort: 4-6 weeks using established patterns</a:t>
            </a:r>
          </a:p>
          <a:p>
            <a:r>
              <a:t>- Investment: ~$20,000 professional services</a:t>
            </a:r>
          </a:p>
          <a:p/>
          <a:p>
            <a:r>
              <a:t>*2. Implement Advanced Deployment Strategies:*</a:t>
            </a:r>
          </a:p>
          <a:p>
            <a:r>
              <a:t>- Feature flags for progressive rollout</a:t>
            </a:r>
          </a:p>
          <a:p>
            <a:r>
              <a:t>- Canary deployments with automatic rollback</a:t>
            </a:r>
          </a:p>
          <a:p>
            <a:r>
              <a:t>- A/B testing infrastructure</a:t>
            </a:r>
          </a:p>
          <a:p>
            <a:r>
              <a:t>- Requires: Feature flag service integration</a:t>
            </a:r>
          </a:p>
          <a:p/>
          <a:p>
            <a:r>
              <a:t>*3. Add GitHub Copilot for Actions:*</a:t>
            </a:r>
          </a:p>
          <a:p>
            <a:r>
              <a:t>- AI-assisted workflow development</a:t>
            </a:r>
          </a:p>
          <a:p>
            <a:r>
              <a:t>- Automated workflow suggestions</a:t>
            </a:r>
          </a:p>
          <a:p>
            <a:r>
              <a:t>- Faster onboarding for new developers</a:t>
            </a:r>
          </a:p>
          <a:p>
            <a:r>
              <a:t>- Requires: GitHub Copilot Enterprise license</a:t>
            </a:r>
          </a:p>
          <a:p/>
          <a:p>
            <a:r>
              <a:t>*4. Quarterly Workflow Optimization:*</a:t>
            </a:r>
          </a:p>
          <a:p>
            <a:r>
              <a:t>- Review workflow performance metrics</a:t>
            </a:r>
          </a:p>
          <a:p>
            <a:r>
              <a:t>- Update reusable templates with improvements</a:t>
            </a:r>
          </a:p>
          <a:p>
            <a:r>
              <a:t>- Incorporate new GitHub Actions features</a:t>
            </a:r>
          </a:p>
          <a:p>
            <a:r>
              <a:t>- Recommend: 2-3 days quarterly</a:t>
            </a:r>
          </a:p>
          <a:p/>
          <a:p>
            <a:r>
              <a:t>**Not Recommended at This Time:**</a:t>
            </a:r>
          </a:p>
          <a:p>
            <a:r>
              <a:t>- Migrating to self-hosted GitHub Enterprise Server (Cloud working well)</a:t>
            </a:r>
          </a:p>
          <a:p>
            <a:r>
              <a:t>- Custom runner auto-scaler (AWS ASG sufficient)</a:t>
            </a:r>
          </a:p>
          <a:p>
            <a:r>
              <a:t>- Third-party CI/CD tool integration (adds complexity)</a:t>
            </a:r>
          </a:p>
          <a:p/>
          <a:p>
            <a:r>
              <a:t>*Transition:*</a:t>
            </a:r>
          </a:p>
          <a:p>
            <a:r>
              <a:t>"Let me walk you through how we're transitioning support to your team..."</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*Support Transition - Complete Details:*</a:t>
            </a:r>
          </a:p>
          <a:p/>
          <a:p>
            <a:r>
              <a:t>**Hypercare Period Summary (30 Days Post-Go-Live):**</a:t>
            </a:r>
          </a:p>
          <a:p/>
          <a:p>
            <a:r>
              <a:t>*Daily Activities Completed:*</a:t>
            </a:r>
          </a:p>
          <a:p>
            <a:r>
              <a:t>- Morning health check calls (9am) - first 2 weeks</a:t>
            </a:r>
          </a:p>
          <a:p>
            <a:r>
              <a:t>- Runner infrastructure monitoring dashboard review</a:t>
            </a:r>
          </a:p>
          <a:p>
            <a:r>
              <a:t>- Workflow failure investigation</a:t>
            </a:r>
          </a:p>
          <a:p>
            <a:r>
              <a:t>- Developer support questions</a:t>
            </a:r>
          </a:p>
          <a:p>
            <a:r>
              <a:t>- Performance metrics review</a:t>
            </a:r>
          </a:p>
          <a:p/>
          <a:p>
            <a:r>
              <a:t>*Issues Resolved During Hypercare:*</a:t>
            </a:r>
          </a:p>
          <a:p/>
          <a:p>
            <a:r>
              <a:t>Issue #1 (P3) - Day 3:</a:t>
            </a:r>
          </a:p>
          <a:p>
            <a:r>
              <a:t>- Problem: Auto-scaling not triggering during peak</a:t>
            </a:r>
          </a:p>
          <a:p>
            <a:r>
              <a:t>- Root cause: CloudWatch alarm threshold too high</a:t>
            </a:r>
          </a:p>
          <a:p>
            <a:r>
              <a:t>- Resolution: Adjusted threshold from 10 to 5 queued jobs</a:t>
            </a:r>
          </a:p>
          <a:p>
            <a:r>
              <a:t>- Prevention: Documented scaling tuning procedure</a:t>
            </a:r>
          </a:p>
          <a:p/>
          <a:p>
            <a:r>
              <a:t>Issue #2 (P3) - Day 7:</a:t>
            </a:r>
          </a:p>
          <a:p>
            <a:r>
              <a:t>- Problem: Docker build caching not working</a:t>
            </a:r>
          </a:p>
          <a:p>
            <a:r>
              <a:t>- Root cause: BuildKit cache mount misconfigured</a:t>
            </a:r>
          </a:p>
          <a:p>
            <a:r>
              <a:t>- Resolution: Updated Dockerfile and workflow template</a:t>
            </a:r>
          </a:p>
          <a:p>
            <a:r>
              <a:t>- Impact: 4 minute savings per Docker build</a:t>
            </a:r>
          </a:p>
          <a:p/>
          <a:p>
            <a:r>
              <a:t>Issue #3 (P3) - Day 12:</a:t>
            </a:r>
          </a:p>
          <a:p>
            <a:r>
              <a:t>- Problem: Windows runner Azure DevOps compatibility</a:t>
            </a:r>
          </a:p>
          <a:p>
            <a:r>
              <a:t>- Root cause: Missing .NET SDK version</a:t>
            </a:r>
          </a:p>
          <a:p>
            <a:r>
              <a:t>- Resolution: Added SDK to runner AMI</a:t>
            </a:r>
          </a:p>
          <a:p>
            <a:r>
              <a:t>- Result: Fixed 2 legacy application builds</a:t>
            </a:r>
          </a:p>
          <a:p/>
          <a:p>
            <a:r>
              <a:t>Issue #4 (P3) - Day 18:</a:t>
            </a:r>
          </a:p>
          <a:p>
            <a:r>
              <a:t>- Problem: EKS deployment timeout on large apps</a:t>
            </a:r>
          </a:p>
          <a:p>
            <a:r>
              <a:t>- Root cause: kubectl apply timeout too short</a:t>
            </a:r>
          </a:p>
          <a:p>
            <a:r>
              <a:t>- Resolution: Extended timeout and added retries</a:t>
            </a:r>
          </a:p>
          <a:p>
            <a:r>
              <a:t>- Result: Large deployments now reliable</a:t>
            </a:r>
          </a:p>
          <a:p/>
          <a:p>
            <a:r>
              <a:t>Issue #5 (P3) - Day 25:</a:t>
            </a:r>
          </a:p>
          <a:p>
            <a:r>
              <a:t>- Problem: GitHub Actions minutes tracking inaccurate</a:t>
            </a:r>
          </a:p>
          <a:p>
            <a:r>
              <a:t>- Root cause: Self-hosted runners billing confusion</a:t>
            </a:r>
          </a:p>
          <a:p>
            <a:r>
              <a:t>- Resolution: Clarified billing model with team</a:t>
            </a:r>
          </a:p>
          <a:p>
            <a:r>
              <a:t>- Result: No billing impact (self-hosted don't consume minutes)</a:t>
            </a:r>
          </a:p>
          <a:p/>
          <a:p>
            <a:r>
              <a:t>*Knowledge Transfer Sessions Delivered:*</a:t>
            </a:r>
          </a:p>
          <a:p/>
          <a:p>
            <a:r>
              <a:t>| Session | Date | Attendees | Duration | Recording |</a:t>
            </a:r>
          </a:p>
          <a:p>
            <a:r>
              <a:t>|---------|------|-----------|----------|-----------|</a:t>
            </a:r>
          </a:p>
          <a:p>
            <a:r>
              <a:t>| Platform Admin Deep Dive | Week 23 | 4 admins | 3 hours | Yes |</a:t>
            </a:r>
          </a:p>
          <a:p>
            <a:r>
              <a:t>| Runner Management Workshop | Week 23 | 6 devops | 2 hours | Yes |</a:t>
            </a:r>
          </a:p>
          <a:p>
            <a:r>
              <a:t>| Workflow Development Training | Week 24 | 15 devops | 4 hours | Yes |</a:t>
            </a:r>
          </a:p>
          <a:p>
            <a:r>
              <a:t>| Troubleshooting Guide | Week 24 | 8 support | 2 hours | Yes |</a:t>
            </a:r>
          </a:p>
          <a:p>
            <a:r>
              <a:t>| Executive Dashboard Review | Week 25 | 3 managers | 30 min | Yes |</a:t>
            </a:r>
          </a:p>
          <a:p/>
          <a:p>
            <a:r>
              <a:t>*Runbook Validation:*</a:t>
            </a:r>
          </a:p>
          <a:p>
            <a:r>
              <a:t>- All 12 runbook procedures tested by platform team</a:t>
            </a:r>
          </a:p>
          <a:p>
            <a:r>
              <a:t>- Signed off by [DevOps Lead] on [Date]</a:t>
            </a:r>
          </a:p>
          <a:p>
            <a:r>
              <a:t>- Procedures validated:</a:t>
            </a:r>
          </a:p>
          <a:p>
            <a:r>
              <a:t>  1. Daily health check</a:t>
            </a:r>
          </a:p>
          <a:p>
            <a:r>
              <a:t>  2. Runner scaling monitoring</a:t>
            </a:r>
          </a:p>
          <a:p>
            <a:r>
              <a:t>  3. Workflow failure investigation</a:t>
            </a:r>
          </a:p>
          <a:p>
            <a:r>
              <a:t>  4. Cache invalidation</a:t>
            </a:r>
          </a:p>
          <a:p>
            <a:r>
              <a:t>  5. OIDC token troubleshooting</a:t>
            </a:r>
          </a:p>
          <a:p>
            <a:r>
              <a:t>  6. EKS deployment debugging</a:t>
            </a:r>
          </a:p>
          <a:p>
            <a:r>
              <a:t>  7. Windows runner management</a:t>
            </a:r>
          </a:p>
          <a:p>
            <a:r>
              <a:t>  8. Terraform state management</a:t>
            </a:r>
          </a:p>
          <a:p>
            <a:r>
              <a:t>  9. Emergency runner replacement</a:t>
            </a:r>
          </a:p>
          <a:p>
            <a:r>
              <a:t>  10. GitHub status monitoring</a:t>
            </a:r>
          </a:p>
          <a:p>
            <a:r>
              <a:t>  11. Cost optimization review</a:t>
            </a:r>
          </a:p>
          <a:p>
            <a:r>
              <a:t>  12. Capacity planning</a:t>
            </a:r>
          </a:p>
          <a:p/>
          <a:p>
            <a:r>
              <a:t>**Steady State Support Model:**</a:t>
            </a:r>
          </a:p>
          <a:p/>
          <a:p>
            <a:r>
              <a:t>*What Platform Team Handles (L1/L2):*</a:t>
            </a:r>
          </a:p>
          <a:p>
            <a:r>
              <a:t>- Daily workflow monitoring and health checks</a:t>
            </a:r>
          </a:p>
          <a:p>
            <a:r>
              <a:t>- Runner infrastructure management</a:t>
            </a:r>
          </a:p>
          <a:p>
            <a:r>
              <a:t>- Developer support and guidance</a:t>
            </a:r>
          </a:p>
          <a:p>
            <a:r>
              <a:t>- Workflow template updates</a:t>
            </a:r>
          </a:p>
          <a:p>
            <a:r>
              <a:t>- Monthly performance reporting</a:t>
            </a:r>
          </a:p>
          <a:p>
            <a:r>
              <a:t>- Quarterly capacity planning</a:t>
            </a:r>
          </a:p>
          <a:p/>
          <a:p>
            <a:r>
              <a:t>*When to Escalate to Vendor (L3):*</a:t>
            </a:r>
          </a:p>
          <a:p>
            <a:r>
              <a:t>- Complex OIDC configuration issues</a:t>
            </a:r>
          </a:p>
          <a:p>
            <a:r>
              <a:t>- Advanced workflow optimization</a:t>
            </a:r>
          </a:p>
          <a:p>
            <a:r>
              <a:t>- New technology stack integration</a:t>
            </a:r>
          </a:p>
          <a:p>
            <a:r>
              <a:t>- Major infrastructure changes</a:t>
            </a:r>
          </a:p>
          <a:p>
            <a:r>
              <a:t>- GitHub platform issues</a:t>
            </a:r>
          </a:p>
          <a:p/>
          <a:p>
            <a:r>
              <a:t>**Monthly Operational Tasks:**</a:t>
            </a:r>
          </a:p>
          <a:p>
            <a:r>
              <a:t>- Week 1: Review build metrics, identify slow workflows</a:t>
            </a:r>
          </a:p>
          <a:p>
            <a:r>
              <a:t>- Week 2: Analyze runner utilization, optimize capacity</a:t>
            </a:r>
          </a:p>
          <a:p>
            <a:r>
              <a:t>- Week 3: Audit reusable workflows for updates</a:t>
            </a:r>
          </a:p>
          <a:p>
            <a:r>
              <a:t>- Week 4: Generate monthly DevOps metrics report</a:t>
            </a:r>
          </a:p>
          <a:p/>
          <a:p>
            <a:r>
              <a:t>**Quarterly Tasks:**</a:t>
            </a:r>
          </a:p>
          <a:p>
            <a:r>
              <a:t>- Capacity planning and runner sizing review</a:t>
            </a:r>
          </a:p>
          <a:p>
            <a:r>
              <a:t>- Workflow template version updates</a:t>
            </a:r>
          </a:p>
          <a:p>
            <a:r>
              <a:t>- Security scan of runner infrastructure</a:t>
            </a:r>
          </a:p>
          <a:p>
            <a:r>
              <a:t>- Cost optimization analysis</a:t>
            </a:r>
          </a:p>
          <a:p/>
          <a:p>
            <a:r>
              <a:t>**Support Contact Information:**</a:t>
            </a:r>
          </a:p>
          <a:p/>
          <a:p>
            <a:r>
              <a:t>| Role | Name | Email | Phone | Availability |</a:t>
            </a:r>
          </a:p>
          <a:p>
            <a:r>
              <a:t>|------|------|-------|-------|--------------|</a:t>
            </a:r>
          </a:p>
          <a:p>
            <a:r>
              <a:t>| Platform Lead | [Name] | [email] | [phone] | Business hours |</a:t>
            </a:r>
          </a:p>
          <a:p>
            <a:r>
              <a:t>| DevOps On-Call | DevOps Duty | [email] | [phone] | 24/7 |</a:t>
            </a:r>
          </a:p>
          <a:p>
            <a:r>
              <a:t>| Vendor Support (optional) | Support Team | support@vendor.com | 555-xxx-xxxx | Per contract |</a:t>
            </a:r>
          </a:p>
          <a:p/>
          <a:p>
            <a:r>
              <a:t>**Optional Managed Services:**</a:t>
            </a:r>
          </a:p>
          <a:p>
            <a:r>
              <a:t>- Available for ongoing vendor support</a:t>
            </a:r>
          </a:p>
          <a:p>
            <a:r>
              <a:t>- Scope: 24/7 monitoring, proactive optimization, quarterly reviews</a:t>
            </a:r>
          </a:p>
          <a:p>
            <a:r>
              <a:t>- Separate contract required</a:t>
            </a:r>
          </a:p>
          <a:p>
            <a:r>
              <a:t>- Recommended for: Scaling to 500+ developers, adding new tech stacks</a:t>
            </a:r>
          </a:p>
          <a:p/>
          <a:p>
            <a:r>
              <a:t>*Transition:*</a:t>
            </a:r>
          </a:p>
          <a:p>
            <a:r>
              <a:t>"Let me acknowledge the team that made this possible and outline next steps..."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*Acknowledgments - Recognize Key Contributors:*</a:t>
            </a:r>
          </a:p>
          <a:p/>
          <a:p>
            <a:r>
              <a:t>**DevOps Team Recognition:**</a:t>
            </a:r>
          </a:p>
          <a:p/>
          <a:p>
            <a:r>
              <a:t>*DevOps Lead - [Name]:*</a:t>
            </a:r>
          </a:p>
          <a:p>
            <a:r>
              <a:t>- Championed GitHub Actions adoption from discovery through go-live</a:t>
            </a:r>
          </a:p>
          <a:p>
            <a:r>
              <a:t>- Defined reusable workflow standards</a:t>
            </a:r>
          </a:p>
          <a:p>
            <a:r>
              <a:t>- Led runner infrastructure design</a:t>
            </a:r>
          </a:p>
          <a:p>
            <a:r>
              <a:t>- Key decision: Self-hosted runners for cost optimization</a:t>
            </a:r>
          </a:p>
          <a:p/>
          <a:p>
            <a:r>
              <a:t>*Platform Engineer - [Name]:*</a:t>
            </a:r>
          </a:p>
          <a:p>
            <a:r>
              <a:t>- Terraform infrastructure development</a:t>
            </a:r>
          </a:p>
          <a:p>
            <a:r>
              <a:t>- Auto-scaling configuration and tuning</a:t>
            </a:r>
          </a:p>
          <a:p>
            <a:r>
              <a:t>- OIDC integration implementation</a:t>
            </a:r>
          </a:p>
          <a:p>
            <a:r>
              <a:t>- Hypercare support leadership</a:t>
            </a:r>
          </a:p>
          <a:p/>
          <a:p>
            <a:r>
              <a:t>*DevOps Engineers (6 engineers):*</a:t>
            </a:r>
          </a:p>
          <a:p>
            <a:r>
              <a:t>- Workflow template development</a:t>
            </a:r>
          </a:p>
          <a:p>
            <a:r>
              <a:t>- Application migration execution</a:t>
            </a:r>
          </a:p>
          <a:p>
            <a:r>
              <a:t>- Developer support and training</a:t>
            </a:r>
          </a:p>
          <a:p>
            <a:r>
              <a:t>- 50 applications migrated successfully</a:t>
            </a:r>
          </a:p>
          <a:p/>
          <a:p>
            <a:r>
              <a:t>**Development Team Recognition:**</a:t>
            </a:r>
          </a:p>
          <a:p/>
          <a:p>
            <a:r>
              <a:t>*Development Leadership:*</a:t>
            </a:r>
          </a:p>
          <a:p>
            <a:r>
              <a:t>- Supported CI/CD modernization initiative</a:t>
            </a:r>
          </a:p>
          <a:p>
            <a:r>
              <a:t>- Allocated time for workflow migration</a:t>
            </a:r>
          </a:p>
          <a:p>
            <a:r>
              <a:t>- Celebrated deployment velocity improvements</a:t>
            </a:r>
          </a:p>
          <a:p/>
          <a:p>
            <a:r>
              <a:t>*10 Development Teams (100 developers):*</a:t>
            </a:r>
          </a:p>
          <a:p>
            <a:r>
              <a:t>- Embraced new CI/CD workflows</a:t>
            </a:r>
          </a:p>
          <a:p>
            <a:r>
              <a:t>- Provided critical feedback during pilot</a:t>
            </a:r>
          </a:p>
          <a:p>
            <a:r>
              <a:t>- Achieved 95% training completion</a:t>
            </a:r>
          </a:p>
          <a:p>
            <a:r>
              <a:t>- 8.5/10 satisfaction rating</a:t>
            </a:r>
          </a:p>
          <a:p/>
          <a:p>
            <a:r>
              <a:t>**Executive Recognition:**</a:t>
            </a:r>
          </a:p>
          <a:p/>
          <a:p>
            <a:r>
              <a:t>*Executive Sponsor - [Name]:*</a:t>
            </a:r>
          </a:p>
          <a:p>
            <a:r>
              <a:t>- Secured budget and organizational support</a:t>
            </a:r>
          </a:p>
          <a:p>
            <a:r>
              <a:t>- Removed blockers when escalated</a:t>
            </a:r>
          </a:p>
          <a:p>
            <a:r>
              <a:t>- Championed DevOps transformation</a:t>
            </a:r>
          </a:p>
          <a:p/>
          <a:p>
            <a:r>
              <a:t>*VP Engineering - [Name]:*</a:t>
            </a:r>
          </a:p>
          <a:p>
            <a:r>
              <a:t>- Strategic direction for CI/CD modernization</a:t>
            </a:r>
          </a:p>
          <a:p>
            <a:r>
              <a:t>- Approved Jenkins decommissioning</a:t>
            </a:r>
          </a:p>
          <a:p>
            <a:r>
              <a:t>- Board-level reporting support</a:t>
            </a:r>
          </a:p>
          <a:p/>
          <a:p>
            <a:r>
              <a:t>**Immediate Next Steps (This Week):**</a:t>
            </a:r>
          </a:p>
          <a:p/>
          <a:p>
            <a:r>
              <a:t>| Task | Owner | Due Date |</a:t>
            </a:r>
          </a:p>
          <a:p>
            <a:r>
              <a:t>|------|-------|----------|</a:t>
            </a:r>
          </a:p>
          <a:p>
            <a:r>
              <a:t>| Final documentation handover | PM | [Date] |</a:t>
            </a:r>
          </a:p>
          <a:p>
            <a:r>
              <a:t>| Archive project artifacts | PM | [Date] |</a:t>
            </a:r>
          </a:p>
          <a:p>
            <a:r>
              <a:t>| Close project tracking | PM | [Date] |</a:t>
            </a:r>
          </a:p>
          <a:p>
            <a:r>
              <a:t>| Update asset inventory | Platform Lead | [Date] |</a:t>
            </a:r>
          </a:p>
          <a:p>
            <a:r>
              <a:t>| Confirm support contacts | DevOps Lead | [Date] |</a:t>
            </a:r>
          </a:p>
          <a:p/>
          <a:p>
            <a:r>
              <a:t>**30-Day Next Steps:**</a:t>
            </a:r>
          </a:p>
          <a:p/>
          <a:p>
            <a:r>
              <a:t>| Task | Owner | Due Date |</a:t>
            </a:r>
          </a:p>
          <a:p>
            <a:r>
              <a:t>|------|-------|----------|</a:t>
            </a:r>
          </a:p>
          <a:p>
            <a:r>
              <a:t>| First monthly DevOps metrics | Platform Lead | [Date+30] |</a:t>
            </a:r>
          </a:p>
          <a:p>
            <a:r>
              <a:t>| Runner capacity review | Platform Engineer | [Date+30] |</a:t>
            </a:r>
          </a:p>
          <a:p>
            <a:r>
              <a:t>| Developer satisfaction survey | PM | [Date+30] |</a:t>
            </a:r>
          </a:p>
          <a:p>
            <a:r>
              <a:t>| Identify Phase 2 candidates | DevOps Lead | [Date+30] |</a:t>
            </a:r>
          </a:p>
          <a:p/>
          <a:p>
            <a:r>
              <a:t>**Quarterly Planning (Next Quarter):**</a:t>
            </a:r>
          </a:p>
          <a:p>
            <a:r>
              <a:t>- Phase 2 planning workshop</a:t>
            </a:r>
          </a:p>
          <a:p>
            <a:r>
              <a:t>- Remaining repository prioritization</a:t>
            </a:r>
          </a:p>
          <a:p>
            <a:r>
              <a:t>- Advanced deployment strategy roadmap</a:t>
            </a:r>
          </a:p>
          <a:p>
            <a:r>
              <a:t>- Resource planning for expansion</a:t>
            </a:r>
          </a:p>
          <a:p/>
          <a:p>
            <a:r>
              <a:t>**Phase 2 Enhancement Candidates:**</a:t>
            </a:r>
          </a:p>
          <a:p/>
          <a:p>
            <a:r>
              <a:t>| Enhancement | Effort | Est. Investment | Priority |</a:t>
            </a:r>
          </a:p>
          <a:p>
            <a:r>
              <a:t>|-------------|--------|-----------------|----------|</a:t>
            </a:r>
          </a:p>
          <a:p>
            <a:r>
              <a:t>| Migrate remaining 50 repos | 4-6 weeks | $20,000 | High |</a:t>
            </a:r>
          </a:p>
          <a:p>
            <a:r>
              <a:t>| Canary deployment setup | 2-3 weeks | $10,000 | Medium |</a:t>
            </a:r>
          </a:p>
          <a:p>
            <a:r>
              <a:t>| GitHub Copilot for Actions | 1 week | License cost | Medium |</a:t>
            </a:r>
          </a:p>
          <a:p>
            <a:r>
              <a:t>| Self-hosted runner optimization | 2 weeks | $8,000 | Low |</a:t>
            </a:r>
          </a:p>
          <a:p/>
          <a:p>
            <a:r>
              <a:t>Recommendation: Start with remaining repo migration (highest value)</a:t>
            </a:r>
          </a:p>
          <a:p/>
          <a:p>
            <a:r>
              <a:t>*Transition:*</a:t>
            </a:r>
          </a:p>
          <a:p>
            <a:r>
              <a:t>"Thank you for your partnership on this project. Let me open the floor for questions..."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*Closing and Q&amp;A Preparation:*</a:t>
            </a:r>
          </a:p>
          <a:p/>
          <a:p>
            <a:r>
              <a:t>**Closing Statement:**</a:t>
            </a:r>
          </a:p>
          <a:p>
            <a:r>
              <a:t>"Thank you for your partnership throughout this project. We've successfully transformed your CI/CD platform from legacy Jenkins to a modern GitHub Actions infrastructure that enables daily production deployments with 96% success rate.</a:t>
            </a:r>
          </a:p>
          <a:p/>
          <a:p>
            <a:r>
              <a:t>The platform is exceeding our performance targets, the DevOps team is trained and confident, and you're already seeing $200K+ in annual savings from Jenkins elimination.</a:t>
            </a:r>
          </a:p>
          <a:p/>
          <a:p>
            <a:r>
              <a:t>I want to open the floor for questions. We have [time] remaining."</a:t>
            </a:r>
          </a:p>
          <a:p/>
          <a:p>
            <a:r>
              <a:t>**Anticipated Questions and Prepared Answers:**</a:t>
            </a:r>
          </a:p>
          <a:p/>
          <a:p>
            <a:r>
              <a:t>*Q: What happens if runner capacity is insufficient?*</a:t>
            </a:r>
          </a:p>
          <a:p>
            <a:r>
              <a:t>A: Auto-scaling is configured to add runners automatically. If demand exceeds 30 runners, we have documented procedures to increase ASG limits. Long-term, we recommend quarterly capacity reviews.</a:t>
            </a:r>
          </a:p>
          <a:p/>
          <a:p>
            <a:r>
              <a:t>*Q: Can we add more development teams ourselves?*</a:t>
            </a:r>
          </a:p>
          <a:p>
            <a:r>
              <a:t>A: Yes. The reusable workflow templates make it straightforward. New teams can copy existing workflows, adjust variables, and start building. The platform team can provide onboarding support.</a:t>
            </a:r>
          </a:p>
          <a:p/>
          <a:p>
            <a:r>
              <a:t>*Q: What are the ongoing GitHub and AWS costs?*</a:t>
            </a:r>
          </a:p>
          <a:p>
            <a:r>
              <a:t>A: Current run rate is approximately $81,000/month:</a:t>
            </a:r>
          </a:p>
          <a:p>
            <a:r>
              <a:t>- GitHub Enterprise Cloud: $17,670/month (100 users + Actions minutes)</a:t>
            </a:r>
          </a:p>
          <a:p>
            <a:r>
              <a:t>- AWS Runners: $63,350/month (EC2, storage, networking)</a:t>
            </a:r>
          </a:p>
          <a:p>
            <a:r>
              <a:t>Costs scale with build volume and runner count.</a:t>
            </a:r>
          </a:p>
          <a:p/>
          <a:p>
            <a:r>
              <a:t>*Q: How do we handle workflow failures?*</a:t>
            </a:r>
          </a:p>
          <a:p>
            <a:r>
              <a:t>A: The runbook covers failure investigation. First, check workflow logs in GitHub. Then, review runner logs in CloudWatch. Common issues are documented with resolution steps. Platform team can escalate to vendor support if needed.</a:t>
            </a:r>
          </a:p>
          <a:p/>
          <a:p>
            <a:r>
              <a:t>*Q: What if a reusable workflow template needs updates?*</a:t>
            </a:r>
          </a:p>
          <a:p>
            <a:r>
              <a:t>A: Updates to templates in the central repository automatically apply to all consuming workflows on next run. For breaking changes, we recommend versioned workflows with gradual migration.</a:t>
            </a:r>
          </a:p>
          <a:p/>
          <a:p>
            <a:r>
              <a:t>*Q: Is the runner infrastructure highly available?*</a:t>
            </a:r>
          </a:p>
          <a:p>
            <a:r>
              <a:t>A: Yes. Runners are deployed across multiple AZs. If an AZ fails, jobs route to healthy runners. GitHub Actions handles retry automatically for transient failures.</a:t>
            </a:r>
          </a:p>
          <a:p/>
          <a:p>
            <a:r>
              <a:t>*Q: What's the disaster recovery plan?*</a:t>
            </a:r>
          </a:p>
          <a:p>
            <a:r>
              <a:t>A: GitHub Enterprise Cloud has 99.9% SLA. Runner infrastructure can be rebuilt from Terraform in &lt;4 hours. All workflows are version-controlled in repositories. No single point of failure.</a:t>
            </a:r>
          </a:p>
          <a:p/>
          <a:p>
            <a:r>
              <a:t>*Q: Can this integrate with our new [tool]?*</a:t>
            </a:r>
          </a:p>
          <a:p>
            <a:r>
              <a:t>A: GitHub Actions has extensive marketplace integrations. Most tools have official actions. Custom integrations typically take 2-3 days. Happy to scope a specific integration request.</a:t>
            </a:r>
          </a:p>
          <a:p/>
          <a:p>
            <a:r>
              <a:t>*Q: When should we start Phase 2?*</a:t>
            </a:r>
          </a:p>
          <a:p>
            <a:r>
              <a:t>A: I recommend starting in 60-90 days to:</a:t>
            </a:r>
          </a:p>
          <a:p>
            <a:r>
              <a:t>1. Establish stable operational patterns</a:t>
            </a:r>
          </a:p>
          <a:p>
            <a:r>
              <a:t>2. Gather performance metrics trends</a:t>
            </a:r>
          </a:p>
          <a:p>
            <a:r>
              <a:t>3. Build platform team confidence</a:t>
            </a:r>
          </a:p>
          <a:p>
            <a:r>
              <a:t>4. Identify optimization opportunities</a:t>
            </a:r>
          </a:p>
          <a:p>
            <a:r>
              <a:t>Then we can do a Phase 2 planning workshop.</a:t>
            </a:r>
          </a:p>
          <a:p/>
          <a:p>
            <a:r>
              <a:t>**Demo Offer:**</a:t>
            </a:r>
          </a:p>
          <a:p>
            <a:r>
              <a:t>"Would anyone like to see a live workflow run or runner dashboard? I can show you the developer experience from commit to deployment."</a:t>
            </a:r>
          </a:p>
          <a:p/>
          <a:p>
            <a:r>
              <a:t>**Follow-Up Commitments:**</a:t>
            </a:r>
          </a:p>
          <a:p>
            <a:r>
              <a:t>- [ ] Send final presentation deck to all attendees</a:t>
            </a:r>
          </a:p>
          <a:p>
            <a:r>
              <a:t>- [ ] Distribute project summary one-pager for executives</a:t>
            </a:r>
          </a:p>
          <a:p>
            <a:r>
              <a:t>- [ ] Schedule 30-day DevOps metrics review meeting</a:t>
            </a:r>
          </a:p>
          <a:p>
            <a:r>
              <a:t>- [ ] Send Phase 2 enhancement options document</a:t>
            </a:r>
          </a:p>
          <a:p>
            <a:r>
              <a:t>- [ ] Provide managed services contract options (if requested)</a:t>
            </a:r>
          </a:p>
          <a:p/>
          <a:p>
            <a:r>
              <a:t>**Final Closing:**</a:t>
            </a:r>
          </a:p>
          <a:p>
            <a:r>
              <a:t>"Thank you again for your trust in our team. This project demonstrates the power of modern CI/CD automation in accelerating software delivery while reducing costs. We look forward to continuing this partnership in Phase 2 and beyond.</a:t>
            </a:r>
          </a:p>
          <a:p/>
          <a:p>
            <a:r>
              <a:t>Please don't hesitate to reach out to me or [Account Manager] if any questions come up. Have a great [rest of your day/afternoon]."</a:t>
            </a:r>
          </a:p>
          <a:p/>
          <a:p>
            <a:r>
              <a:t>**After the Meeting:**</a:t>
            </a:r>
          </a:p>
          <a:p>
            <a:r>
              <a:t>- Send thank you email within 24 hours</a:t>
            </a:r>
          </a:p>
          <a:p>
            <a:r>
              <a:t>- Attach presentation and summary document</a:t>
            </a:r>
          </a:p>
          <a:p>
            <a:r>
              <a:t>- Include recording link if recorded</a:t>
            </a:r>
          </a:p>
          <a:p>
            <a:r>
              <a:t>- Confirm next meeting date</a:t>
            </a:r>
          </a:p>
          <a:p>
            <a:r>
              <a:t>- Copy all stakeholders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31079"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721470" y="678433"/>
            <a:ext cx="4228856"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Project Closeout</a:t>
            </a:r>
          </a:p>
        </p:txBody>
      </p:sp>
      <p:sp>
        <p:nvSpPr>
          <p:cNvPr id="5" name="Text Placeholder 4"/>
          <p:cNvSpPr>
            <a:spLocks noGrp="1"/>
          </p:cNvSpPr>
          <p:nvPr>
            <p:ph type="body" idx="14" sz="quarter"/>
          </p:nvPr>
        </p:nvSpPr>
        <p:spPr/>
        <p:txBody>
          <a:bodyPr/>
          <a:lstStyle/>
          <a:p>
            <a:r>
              <a:t>GitHub Actions Enterprise CI/CD</a:t>
            </a:r>
          </a:p>
        </p:txBody>
      </p:sp>
      <p:sp>
        <p:nvSpPr>
          <p:cNvPr id="6" name="Text Placeholder 5"/>
          <p:cNvSpPr>
            <a:spLocks noGrp="1"/>
          </p:cNvSpPr>
          <p:nvPr>
            <p:ph type="body" idx="15" sz="quarter"/>
          </p:nvPr>
        </p:nvSpPr>
        <p:spPr/>
        <p:txBody>
          <a:bodyPr/>
          <a:lstStyle/>
          <a:p>
            <a:r>
              <a:t>Project Manager | November 28,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Executive Summary</a:t>
            </a:r>
          </a:p>
        </p:txBody>
      </p:sp>
      <p:sp>
        <p:nvSpPr>
          <p:cNvPr id="4" name="Text Placeholder 3"/>
          <p:cNvSpPr>
            <a:spLocks noGrp="1"/>
          </p:cNvSpPr>
          <p:nvPr>
            <p:ph type="body" idx="14" sz="quarter"/>
          </p:nvPr>
        </p:nvSpPr>
        <p:spPr/>
        <p:txBody>
          <a:bodyPr/>
          <a:lstStyle/>
          <a:p>
            <a:pPr/>
            <a:r>
              <a:rPr b="1"/>
              <a:t>Project Duration:</a:t>
            </a:r>
            <a:r>
              <a:t> 6 months, on schedule</a:t>
            </a:r>
          </a:p>
          <a:p>
            <a:pPr/>
            <a:r>
              <a:rPr b="1"/>
              <a:t>Budget:</a:t>
            </a:r>
            <a:r>
              <a:t> $1.14M Year 1 delivered on budget</a:t>
            </a:r>
          </a:p>
          <a:p>
            <a:pPr/>
            <a:r>
              <a:rPr b="1"/>
              <a:t>Go-Live Date:</a:t>
            </a:r>
            <a:r>
              <a:t> Week 22 as planned</a:t>
            </a:r>
          </a:p>
          <a:p>
            <a:pPr/>
            <a:r>
              <a:rPr b="1"/>
              <a:t>Quality:</a:t>
            </a:r>
            <a:r>
              <a:t> Zero critical defects at launch</a:t>
            </a:r>
          </a:p>
          <a:p>
            <a:pPr/>
            <a:r>
              <a:rPr b="1"/>
              <a:t>Pipeline Speed:</a:t>
            </a:r>
            <a:r>
              <a:t> 8 minutes avg (target: &lt;10 min)</a:t>
            </a:r>
          </a:p>
          <a:p>
            <a:pPr/>
            <a:r>
              <a:rPr b="1"/>
              <a:t>Deployment Success:</a:t>
            </a:r>
            <a:r>
              <a:t> 96.2% rate (target: 95%)</a:t>
            </a:r>
          </a:p>
          <a:p>
            <a:pPr/>
            <a:r>
              <a:rPr b="1"/>
              <a:t>Jenkins Eliminated:</a:t>
            </a:r>
            <a:r>
              <a:t> $200K annual savings achieved</a:t>
            </a:r>
          </a:p>
        </p:txBody>
      </p:sp>
      <p:sp>
        <p:nvSpPr>
          <p:cNvPr id="5" name="Text Placeholder 4"/>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Solution Architecture</a:t>
            </a:r>
          </a:p>
        </p:txBody>
      </p:sp>
      <p:sp>
        <p:nvSpPr>
          <p:cNvPr id="5" name="Text Placeholder 4"/>
          <p:cNvSpPr>
            <a:spLocks noGrp="1"/>
          </p:cNvSpPr>
          <p:nvPr>
            <p:ph type="body" idx="16" sz="quarter"/>
          </p:nvPr>
        </p:nvSpPr>
        <p:spPr/>
        <p:txBody>
          <a:bodyPr/>
          <a:lstStyle/>
          <a:p>
            <a:pPr/>
            <a:r>
              <a:rPr b="1"/>
              <a:t>GitHub Actions Platform</a:t>
            </a:r>
          </a:p>
          <a:p>
            <a:pPr lvl="1"/>
            <a:r>
              <a:t>Enterprise Cloud with Actions enabled</a:t>
            </a:r>
          </a:p>
          <a:p>
            <a:pPr lvl="1"/>
            <a:r>
              <a:t>15 reusable workflow templates</a:t>
            </a:r>
          </a:p>
          <a:p>
            <a:pPr lvl="1"/>
            <a:r>
              <a:t>Environment protection rules</a:t>
            </a:r>
          </a:p>
          <a:p>
            <a:pPr/>
            <a:r>
              <a:rPr b="1"/>
              <a:t>Self-Hosted Infrastructure</a:t>
            </a:r>
          </a:p>
          <a:p>
            <a:pPr lvl="1"/>
            <a:r>
              <a:t>20 EC2 runners (c5.2xlarge)</a:t>
            </a:r>
          </a:p>
          <a:p>
            <a:pPr lvl="1"/>
            <a:r>
              <a:t>Auto-scaling (10-30 runners)</a:t>
            </a:r>
          </a:p>
          <a:p>
            <a:pPr lvl="1"/>
            <a:r>
              <a:t>AWS VPC private deployment</a:t>
            </a:r>
          </a:p>
          <a:p>
            <a:pPr/>
            <a:r>
              <a:rPr b="1"/>
              <a:t>Integrations</a:t>
            </a:r>
          </a:p>
          <a:p>
            <a:pPr lvl="1"/>
            <a:r>
              <a:t>OIDC keyless AWS authentication</a:t>
            </a:r>
          </a:p>
          <a:p>
            <a:pPr lvl="1"/>
            <a:r>
              <a:t>Container registries (Packages/ECR)</a:t>
            </a:r>
          </a:p>
          <a:p>
            <a:pPr lvl="1"/>
            <a:r>
              <a:t>Kubernetes (EKS) deployments</a:t>
            </a:r>
          </a:p>
        </p:txBody>
      </p:sp>
      <p:sp>
        <p:nvSpPr>
          <p:cNvPr id="6" name="Text Placeholder 5"/>
          <p:cNvSpPr>
            <a:spLocks noGrp="1"/>
          </p:cNvSpPr>
          <p:nvPr>
            <p:ph type="body" idx="17" sz="quarter"/>
          </p:nvPr>
        </p:nvSpPr>
        <p:spPr/>
        <p:txBody>
          <a:bodyPr/>
          <a:lstStyle/>
          <a:p>
            <a:pPr algn="r">
              <a:buNone/>
            </a:pPr>
            <a:r>
              <a:rPr sz="1100">
                <a:solidFill>
                  <a:srgbClr val="CC0000"/>
                </a:solidFill>
              </a:rPr>
              <a:t>GitHub Actions Enterprise CI/CD</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4"/>
          <a:stretch>
            <a:fillRect/>
          </a:stretch>
        </p:blipFill>
        <p:spPr>
          <a:xfrm>
            <a:off x="313592" y="4536078"/>
            <a:ext cx="2130670"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Deliverables Inventory</a:t>
            </a:r>
          </a:p>
        </p:txBody>
      </p:sp>
      <p:graphicFrame>
        <p:nvGraphicFramePr>
          <p:cNvPr id="4" name="Table Placeholder 3"/>
          <p:cNvGraphicFramePr>
            <a:graphicFrameLocks noGrp="1"/>
          </p:cNvGraphicFramePr>
          <p:nvPr>
            <p:ph type="tbl" idx="14" sz="quarter"/>
          </p:nvPr>
        </p:nvGraphicFramePr>
        <p:xfrm>
          <a:off x="256855" y="677011"/>
          <a:ext cx="8710931" cy="3337560"/>
        </p:xfrm>
        <a:graphic>
          <a:graphicData uri="http://schemas.openxmlformats.org/drawingml/2006/table">
            <a:tbl>
              <a:tblPr firstRow="1" bandRow="1">
                <a:tableStyleId>{5C22544A-7EE6-4342-B048-85BDC9FD1C3A}</a:tableStyleId>
              </a:tblPr>
              <a:tblGrid>
                <a:gridCol w="2613279"/>
                <a:gridCol w="3919919"/>
                <a:gridCol w="2177733"/>
              </a:tblGrid>
              <a:tr h="370840">
                <a:tc>
                  <a:txBody>
                    <a:bodyPr/>
                    <a:lstStyle/>
                    <a:p>
                      <a:r>
                        <a:rPr sz="1400">
                          <a:solidFill>
                            <a:srgbClr val="FFFFFF"/>
                          </a:solidFill>
                        </a:rPr>
                        <a:t>Deliverable</a:t>
                      </a:r>
                    </a:p>
                  </a:txBody>
                  <a:tcPr>
                    <a:solidFill>
                      <a:srgbClr val="A01C02"/>
                    </a:solidFill>
                  </a:tcPr>
                </a:tc>
                <a:tc>
                  <a:txBody>
                    <a:bodyPr/>
                    <a:lstStyle/>
                    <a:p>
                      <a:r>
                        <a:rPr sz="1400">
                          <a:solidFill>
                            <a:srgbClr val="FFFFFF"/>
                          </a:solidFill>
                        </a:rPr>
                        <a:t>Purpose</a:t>
                      </a:r>
                    </a:p>
                  </a:txBody>
                  <a:tcPr>
                    <a:solidFill>
                      <a:srgbClr val="A01C02"/>
                    </a:solidFill>
                  </a:tcPr>
                </a:tc>
                <a:tc>
                  <a:txBody>
                    <a:bodyPr/>
                    <a:lstStyle/>
                    <a:p>
                      <a:r>
                        <a:rPr sz="1400">
                          <a:solidFill>
                            <a:srgbClr val="FFFFFF"/>
                          </a:solidFill>
                        </a:rPr>
                        <a:t>Location</a:t>
                      </a:r>
                    </a:p>
                  </a:txBody>
                  <a:tcPr>
                    <a:solidFill>
                      <a:srgbClr val="A01C02"/>
                    </a:solidFill>
                  </a:tcPr>
                </a:tc>
              </a:tr>
              <a:tr h="370840">
                <a:tc>
                  <a:txBody>
                    <a:bodyPr/>
                    <a:lstStyle/>
                    <a:p>
                      <a:r>
                        <a:rPr b="1" sz="1100"/>
                        <a:t>Solution Architecture</a:t>
                      </a:r>
                    </a:p>
                  </a:txBody>
                  <a:tcPr>
                    <a:solidFill>
                      <a:srgbClr val="E7E6E6"/>
                    </a:solidFill>
                  </a:tcPr>
                </a:tc>
                <a:tc>
                  <a:txBody>
                    <a:bodyPr/>
                    <a:lstStyle/>
                    <a:p>
                      <a:r>
                        <a:rPr sz="1100"/>
                        <a:t>CI/CD design, runner infrastructure, integration specs</a:t>
                      </a:r>
                    </a:p>
                  </a:txBody>
                  <a:tcPr>
                    <a:solidFill>
                      <a:srgbClr val="E7E6E6"/>
                    </a:solidFill>
                  </a:tcPr>
                </a:tc>
                <a:tc>
                  <a:txBody>
                    <a:bodyPr/>
                    <a:lstStyle/>
                    <a:p>
                      <a:r>
                        <a:rPr sz="1100"/>
                        <a:t>`/delivery/detailed-design.docx`</a:t>
                      </a:r>
                    </a:p>
                  </a:txBody>
                  <a:tcPr>
                    <a:solidFill>
                      <a:srgbClr val="E7E6E6"/>
                    </a:solidFill>
                  </a:tcPr>
                </a:tc>
              </a:tr>
              <a:tr h="370840">
                <a:tc>
                  <a:txBody>
                    <a:bodyPr/>
                    <a:lstStyle/>
                    <a:p>
                      <a:r>
                        <a:rPr b="1" sz="1100"/>
                        <a:t>Implementation Guide</a:t>
                      </a:r>
                    </a:p>
                  </a:txBody>
                  <a:tcPr>
                    <a:solidFill>
                      <a:srgbClr val="E7E6E6"/>
                    </a:solidFill>
                  </a:tcPr>
                </a:tc>
                <a:tc>
                  <a:txBody>
                    <a:bodyPr/>
                    <a:lstStyle/>
                    <a:p>
                      <a:r>
                        <a:rPr sz="1100"/>
                        <a:t>Step-by-step deployment with Terraform and scripts</a:t>
                      </a:r>
                    </a:p>
                  </a:txBody>
                  <a:tcPr>
                    <a:solidFill>
                      <a:srgbClr val="E7E6E6"/>
                    </a:solidFill>
                  </a:tcPr>
                </a:tc>
                <a:tc>
                  <a:txBody>
                    <a:bodyPr/>
                    <a:lstStyle/>
                    <a:p>
                      <a:r>
                        <a:rPr sz="1100"/>
                        <a:t>`/delivery/implementation-guide.docx`</a:t>
                      </a:r>
                    </a:p>
                  </a:txBody>
                  <a:tcPr>
                    <a:solidFill>
                      <a:srgbClr val="E7E6E6"/>
                    </a:solidFill>
                  </a:tcPr>
                </a:tc>
              </a:tr>
              <a:tr h="370840">
                <a:tc>
                  <a:txBody>
                    <a:bodyPr/>
                    <a:lstStyle/>
                    <a:p>
                      <a:r>
                        <a:rPr b="1" sz="1100"/>
                        <a:t>Project Plan</a:t>
                      </a:r>
                    </a:p>
                  </a:txBody>
                  <a:tcPr>
                    <a:solidFill>
                      <a:srgbClr val="E7E6E6"/>
                    </a:solidFill>
                  </a:tcPr>
                </a:tc>
                <a:tc>
                  <a:txBody>
                    <a:bodyPr/>
                    <a:lstStyle/>
                    <a:p>
                      <a:r>
                        <a:rPr sz="1100"/>
                        <a:t>Timeline, milestones, RACI, communications</a:t>
                      </a:r>
                    </a:p>
                  </a:txBody>
                  <a:tcPr>
                    <a:solidFill>
                      <a:srgbClr val="E7E6E6"/>
                    </a:solidFill>
                  </a:tcPr>
                </a:tc>
                <a:tc>
                  <a:txBody>
                    <a:bodyPr/>
                    <a:lstStyle/>
                    <a:p>
                      <a:r>
                        <a:rPr sz="1100"/>
                        <a:t>`/delivery/project-plan.xlsx`</a:t>
                      </a:r>
                    </a:p>
                  </a:txBody>
                  <a:tcPr>
                    <a:solidFill>
                      <a:srgbClr val="E7E6E6"/>
                    </a:solidFill>
                  </a:tcPr>
                </a:tc>
              </a:tr>
              <a:tr h="370840">
                <a:tc>
                  <a:txBody>
                    <a:bodyPr/>
                    <a:lstStyle/>
                    <a:p>
                      <a:r>
                        <a:rPr b="1" sz="1100"/>
                        <a:t>Test Plan &amp; Results</a:t>
                      </a:r>
                    </a:p>
                  </a:txBody>
                  <a:tcPr>
                    <a:solidFill>
                      <a:srgbClr val="E7E6E6"/>
                    </a:solidFill>
                  </a:tcPr>
                </a:tc>
                <a:tc>
                  <a:txBody>
                    <a:bodyPr/>
                    <a:lstStyle/>
                    <a:p>
                      <a:r>
                        <a:rPr sz="1100"/>
                        <a:t>Performance validation, UAT results</a:t>
                      </a:r>
                    </a:p>
                  </a:txBody>
                  <a:tcPr>
                    <a:solidFill>
                      <a:srgbClr val="E7E6E6"/>
                    </a:solidFill>
                  </a:tcPr>
                </a:tc>
                <a:tc>
                  <a:txBody>
                    <a:bodyPr/>
                    <a:lstStyle/>
                    <a:p>
                      <a:r>
                        <a:rPr sz="1100"/>
                        <a:t>`/delivery/test-plan.xlsx`</a:t>
                      </a:r>
                    </a:p>
                  </a:txBody>
                  <a:tcPr>
                    <a:solidFill>
                      <a:srgbClr val="E7E6E6"/>
                    </a:solidFill>
                  </a:tcPr>
                </a:tc>
              </a:tr>
              <a:tr h="370840">
                <a:tc>
                  <a:txBody>
                    <a:bodyPr/>
                    <a:lstStyle/>
                    <a:p>
                      <a:r>
                        <a:rPr b="1" sz="1100"/>
                        <a:t>Reusable Workflows</a:t>
                      </a:r>
                    </a:p>
                  </a:txBody>
                  <a:tcPr>
                    <a:solidFill>
                      <a:srgbClr val="E7E6E6"/>
                    </a:solidFill>
                  </a:tcPr>
                </a:tc>
                <a:tc>
                  <a:txBody>
                    <a:bodyPr/>
                    <a:lstStyle/>
                    <a:p>
                      <a:r>
                        <a:rPr sz="1100"/>
                        <a:t>15 workflow templates for all tech stacks</a:t>
                      </a:r>
                    </a:p>
                  </a:txBody>
                  <a:tcPr>
                    <a:solidFill>
                      <a:srgbClr val="E7E6E6"/>
                    </a:solidFill>
                  </a:tcPr>
                </a:tc>
                <a:tc>
                  <a:txBody>
                    <a:bodyPr/>
                    <a:lstStyle/>
                    <a:p>
                      <a:r>
                        <a:rPr sz="1100"/>
                        <a:t>`/delivery/scripts/workflows/`</a:t>
                      </a:r>
                    </a:p>
                  </a:txBody>
                  <a:tcPr>
                    <a:solidFill>
                      <a:srgbClr val="E7E6E6"/>
                    </a:solidFill>
                  </a:tcPr>
                </a:tc>
              </a:tr>
              <a:tr h="370840">
                <a:tc>
                  <a:txBody>
                    <a:bodyPr/>
                    <a:lstStyle/>
                    <a:p>
                      <a:r>
                        <a:rPr b="1" sz="1100"/>
                        <a:t>Operations Runbook</a:t>
                      </a:r>
                    </a:p>
                  </a:txBody>
                  <a:tcPr>
                    <a:solidFill>
                      <a:srgbClr val="E7E6E6"/>
                    </a:solidFill>
                  </a:tcPr>
                </a:tc>
                <a:tc>
                  <a:txBody>
                    <a:bodyPr/>
                    <a:lstStyle/>
                    <a:p>
                      <a:r>
                        <a:rPr sz="1100"/>
                        <a:t>Runner management, troubleshooting</a:t>
                      </a:r>
                    </a:p>
                  </a:txBody>
                  <a:tcPr>
                    <a:solidFill>
                      <a:srgbClr val="E7E6E6"/>
                    </a:solidFill>
                  </a:tcPr>
                </a:tc>
                <a:tc>
                  <a:txBody>
                    <a:bodyPr/>
                    <a:lstStyle/>
                    <a:p>
                      <a:r>
                        <a:rPr sz="1100"/>
                        <a:t>`/delivery/docs/runbook.md`</a:t>
                      </a:r>
                    </a:p>
                  </a:txBody>
                  <a:tcPr>
                    <a:solidFill>
                      <a:srgbClr val="E7E6E6"/>
                    </a:solidFill>
                  </a:tcPr>
                </a:tc>
              </a:tr>
              <a:tr h="370840">
                <a:tc>
                  <a:txBody>
                    <a:bodyPr/>
                    <a:lstStyle/>
                    <a:p>
                      <a:r>
                        <a:rPr b="1" sz="1100"/>
                        <a:t>Training Materials</a:t>
                      </a:r>
                    </a:p>
                  </a:txBody>
                  <a:tcPr>
                    <a:solidFill>
                      <a:srgbClr val="E7E6E6"/>
                    </a:solidFill>
                  </a:tcPr>
                </a:tc>
                <a:tc>
                  <a:txBody>
                    <a:bodyPr/>
                    <a:lstStyle/>
                    <a:p>
                      <a:r>
                        <a:rPr sz="1100"/>
                        <a:t>DevOps engineer guides, admin training</a:t>
                      </a:r>
                    </a:p>
                  </a:txBody>
                  <a:tcPr>
                    <a:solidFill>
                      <a:srgbClr val="E7E6E6"/>
                    </a:solidFill>
                  </a:tcPr>
                </a:tc>
                <a:tc>
                  <a:txBody>
                    <a:bodyPr/>
                    <a:lstStyle/>
                    <a:p>
                      <a:r>
                        <a:rPr sz="1100"/>
                        <a:t>`/delivery/training/`</a:t>
                      </a:r>
                    </a:p>
                  </a:txBody>
                  <a:tcPr>
                    <a:solidFill>
                      <a:srgbClr val="E7E6E6"/>
                    </a:solidFill>
                  </a:tcPr>
                </a:tc>
              </a:tr>
              <a:tr h="370840">
                <a:tc>
                  <a:txBody>
                    <a:bodyPr/>
                    <a:lstStyle/>
                    <a:p>
                      <a:r>
                        <a:rPr b="1" sz="1100"/>
                        <a:t>Terraform Modules</a:t>
                      </a:r>
                    </a:p>
                  </a:txBody>
                  <a:tcPr>
                    <a:solidFill>
                      <a:srgbClr val="E7E6E6"/>
                    </a:solidFill>
                  </a:tcPr>
                </a:tc>
                <a:tc>
                  <a:txBody>
                    <a:bodyPr/>
                    <a:lstStyle/>
                    <a:p>
                      <a:r>
                        <a:rPr sz="1100"/>
                        <a:t>Runner infrastructure as code</a:t>
                      </a:r>
                    </a:p>
                  </a:txBody>
                  <a:tcPr>
                    <a:solidFill>
                      <a:srgbClr val="E7E6E6"/>
                    </a:solidFill>
                  </a:tcPr>
                </a:tc>
                <a:tc>
                  <a:txBody>
                    <a:bodyPr/>
                    <a:lstStyle/>
                    <a:p>
                      <a:r>
                        <a:rPr sz="1100"/>
                        <a:t>`/delivery/scripts/terraform/`</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Quality &amp; Performance</a:t>
            </a:r>
          </a:p>
        </p:txBody>
      </p:sp>
      <p:sp>
        <p:nvSpPr>
          <p:cNvPr id="4" name="Text Placeholder 3"/>
          <p:cNvSpPr>
            <a:spLocks noGrp="1"/>
          </p:cNvSpPr>
          <p:nvPr>
            <p:ph type="body" idx="16" sz="quarter"/>
          </p:nvPr>
        </p:nvSpPr>
        <p:spPr/>
        <p:txBody>
          <a:bodyPr/>
          <a:lstStyle/>
          <a:p>
            <a:pPr/>
            <a:r>
              <a:rPr b="1"/>
              <a:t>Pipeline Performance</a:t>
            </a:r>
          </a:p>
          <a:p>
            <a:pPr lvl="1"/>
            <a:r>
              <a:t>Average Build Time: 8 min (target: &lt;10 min)</a:t>
            </a:r>
          </a:p>
          <a:p>
            <a:pPr lvl="1"/>
            <a:r>
              <a:t>.NET Applications: 7 minutes</a:t>
            </a:r>
          </a:p>
          <a:p>
            <a:pPr lvl="1"/>
            <a:r>
              <a:t>Node.js Applications: 6 minutes</a:t>
            </a:r>
          </a:p>
          <a:p>
            <a:pPr lvl="1"/>
            <a:r>
              <a:t>Python Applications: 5 minutes</a:t>
            </a:r>
          </a:p>
          <a:p>
            <a:pPr lvl="1"/>
            <a:r>
              <a:t>Docker Builds: 10 minutes</a:t>
            </a:r>
          </a:p>
        </p:txBody>
      </p:sp>
      <p:sp>
        <p:nvSpPr>
          <p:cNvPr id="5" name="Text Placeholder 4"/>
          <p:cNvSpPr>
            <a:spLocks noGrp="1"/>
          </p:cNvSpPr>
          <p:nvPr>
            <p:ph type="body" idx="17" sz="quarter"/>
          </p:nvPr>
        </p:nvSpPr>
        <p:spPr/>
        <p:txBody>
          <a:bodyPr/>
          <a:lstStyle/>
          <a:p>
            <a:pPr/>
            <a:r>
              <a:rPr b="1"/>
              <a:t>Deployment Metrics</a:t>
            </a:r>
          </a:p>
          <a:p>
            <a:pPr lvl="1"/>
            <a:r>
              <a:t>Success Rate: 96.2% (target: 95%)</a:t>
            </a:r>
          </a:p>
          <a:p>
            <a:pPr lvl="1"/>
            <a:r>
              <a:t>Daily Deployments: 45 avg (vs 7 weekly)</a:t>
            </a:r>
          </a:p>
          <a:p>
            <a:pPr lvl="1"/>
            <a:r>
              <a:t>Concurrent Builds: 25 sustained</a:t>
            </a:r>
          </a:p>
          <a:p>
            <a:pPr lvl="1"/>
            <a:r>
              <a:t>Runner Utilization: 72% avg</a:t>
            </a:r>
          </a:p>
          <a:p>
            <a:pPr lvl="1"/>
            <a:r>
              <a:t>Queue Wait Time: &lt;30 seconds</a:t>
            </a:r>
          </a:p>
        </p:txBody>
      </p:sp>
      <p:sp>
        <p:nvSpPr>
          <p:cNvPr id="6" name="Text Placeholder 5"/>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Benefits Realized</a:t>
            </a:r>
          </a:p>
        </p:txBody>
      </p:sp>
      <p:graphicFrame>
        <p:nvGraphicFramePr>
          <p:cNvPr id="4" name="Table Placeholder 3"/>
          <p:cNvGraphicFramePr>
            <a:graphicFrameLocks noGrp="1"/>
          </p:cNvGraphicFramePr>
          <p:nvPr>
            <p:ph type="tbl" idx="14" sz="quarter"/>
          </p:nvPr>
        </p:nvGraphicFramePr>
        <p:xfrm>
          <a:off x="256855" y="677011"/>
          <a:ext cx="8710930" cy="2595880"/>
        </p:xfrm>
        <a:graphic>
          <a:graphicData uri="http://schemas.openxmlformats.org/drawingml/2006/table">
            <a:tbl>
              <a:tblPr firstRow="1" bandRow="1">
                <a:tableStyleId>{5C22544A-7EE6-4342-B048-85BDC9FD1C3A}</a:tableStyleId>
              </a:tblPr>
              <a:tblGrid>
                <a:gridCol w="2613279"/>
                <a:gridCol w="1742186"/>
                <a:gridCol w="1742186"/>
                <a:gridCol w="2613279"/>
              </a:tblGrid>
              <a:tr h="370840">
                <a:tc>
                  <a:txBody>
                    <a:bodyPr/>
                    <a:lstStyle/>
                    <a:p>
                      <a:r>
                        <a:rPr sz="1400">
                          <a:solidFill>
                            <a:srgbClr val="FFFFFF"/>
                          </a:solidFill>
                        </a:rPr>
                        <a:t>Benefit Category</a:t>
                      </a:r>
                    </a:p>
                  </a:txBody>
                  <a:tcPr>
                    <a:solidFill>
                      <a:srgbClr val="A01C02"/>
                    </a:solidFill>
                  </a:tcPr>
                </a:tc>
                <a:tc>
                  <a:txBody>
                    <a:bodyPr/>
                    <a:lstStyle/>
                    <a:p>
                      <a:r>
                        <a:rPr sz="1400">
                          <a:solidFill>
                            <a:srgbClr val="FFFFFF"/>
                          </a:solidFill>
                        </a:rPr>
                        <a:t>SOW Target</a:t>
                      </a:r>
                    </a:p>
                  </a:txBody>
                  <a:tcPr>
                    <a:solidFill>
                      <a:srgbClr val="A01C02"/>
                    </a:solidFill>
                  </a:tcPr>
                </a:tc>
                <a:tc>
                  <a:txBody>
                    <a:bodyPr/>
                    <a:lstStyle/>
                    <a:p>
                      <a:r>
                        <a:rPr sz="1400">
                          <a:solidFill>
                            <a:srgbClr val="FFFFFF"/>
                          </a:solidFill>
                        </a:rPr>
                        <a:t>Achieved</a:t>
                      </a:r>
                    </a:p>
                  </a:txBody>
                  <a:tcPr>
                    <a:solidFill>
                      <a:srgbClr val="A01C02"/>
                    </a:solidFill>
                  </a:tcPr>
                </a:tc>
                <a:tc>
                  <a:txBody>
                    <a:bodyPr/>
                    <a:lstStyle/>
                    <a:p>
                      <a:r>
                        <a:rPr sz="1400">
                          <a:solidFill>
                            <a:srgbClr val="FFFFFF"/>
                          </a:solidFill>
                        </a:rPr>
                        <a:t>Business Impact</a:t>
                      </a:r>
                    </a:p>
                  </a:txBody>
                  <a:tcPr>
                    <a:solidFill>
                      <a:srgbClr val="A01C02"/>
                    </a:solidFill>
                  </a:tcPr>
                </a:tc>
              </a:tr>
              <a:tr h="370840">
                <a:tc>
                  <a:txBody>
                    <a:bodyPr/>
                    <a:lstStyle/>
                    <a:p>
                      <a:r>
                        <a:rPr b="1" sz="1100"/>
                        <a:t>Pipeline Speed</a:t>
                      </a:r>
                    </a:p>
                  </a:txBody>
                  <a:tcPr>
                    <a:solidFill>
                      <a:srgbClr val="E7E6E6"/>
                    </a:solidFill>
                  </a:tcPr>
                </a:tc>
                <a:tc>
                  <a:txBody>
                    <a:bodyPr/>
                    <a:lstStyle/>
                    <a:p>
                      <a:r>
                        <a:rPr sz="1100"/>
                        <a:t>&lt;10 min avg</a:t>
                      </a:r>
                    </a:p>
                  </a:txBody>
                  <a:tcPr>
                    <a:solidFill>
                      <a:srgbClr val="E7E6E6"/>
                    </a:solidFill>
                  </a:tcPr>
                </a:tc>
                <a:tc>
                  <a:txBody>
                    <a:bodyPr/>
                    <a:lstStyle/>
                    <a:p>
                      <a:r>
                        <a:rPr sz="1100"/>
                        <a:t>8 min avg</a:t>
                      </a:r>
                    </a:p>
                  </a:txBody>
                  <a:tcPr>
                    <a:solidFill>
                      <a:srgbClr val="E7E6E6"/>
                    </a:solidFill>
                  </a:tcPr>
                </a:tc>
                <a:tc>
                  <a:txBody>
                    <a:bodyPr/>
                    <a:lstStyle/>
                    <a:p>
                      <a:r>
                        <a:rPr sz="1100"/>
                        <a:t>82% faster builds vs Jenkins</a:t>
                      </a:r>
                    </a:p>
                  </a:txBody>
                  <a:tcPr>
                    <a:solidFill>
                      <a:srgbClr val="E7E6E6"/>
                    </a:solidFill>
                  </a:tcPr>
                </a:tc>
              </a:tr>
              <a:tr h="370840">
                <a:tc>
                  <a:txBody>
                    <a:bodyPr/>
                    <a:lstStyle/>
                    <a:p>
                      <a:r>
                        <a:rPr b="1" sz="1100"/>
                        <a:t>Deploy Frequency</a:t>
                      </a:r>
                    </a:p>
                  </a:txBody>
                  <a:tcPr>
                    <a:solidFill>
                      <a:srgbClr val="E7E6E6"/>
                    </a:solidFill>
                  </a:tcPr>
                </a:tc>
                <a:tc>
                  <a:txBody>
                    <a:bodyPr/>
                    <a:lstStyle/>
                    <a:p>
                      <a:r>
                        <a:rPr sz="1100"/>
                        <a:t>Daily deploys</a:t>
                      </a:r>
                    </a:p>
                  </a:txBody>
                  <a:tcPr>
                    <a:solidFill>
                      <a:srgbClr val="E7E6E6"/>
                    </a:solidFill>
                  </a:tcPr>
                </a:tc>
                <a:tc>
                  <a:txBody>
                    <a:bodyPr/>
                    <a:lstStyle/>
                    <a:p>
                      <a:r>
                        <a:rPr sz="1100"/>
                        <a:t>45/day</a:t>
                      </a:r>
                    </a:p>
                  </a:txBody>
                  <a:tcPr>
                    <a:solidFill>
                      <a:srgbClr val="E7E6E6"/>
                    </a:solidFill>
                  </a:tcPr>
                </a:tc>
                <a:tc>
                  <a:txBody>
                    <a:bodyPr/>
                    <a:lstStyle/>
                    <a:p>
                      <a:r>
                        <a:rPr sz="1100"/>
                        <a:t>7x improvement in velocity</a:t>
                      </a:r>
                    </a:p>
                  </a:txBody>
                  <a:tcPr>
                    <a:solidFill>
                      <a:srgbClr val="E7E6E6"/>
                    </a:solidFill>
                  </a:tcPr>
                </a:tc>
              </a:tr>
              <a:tr h="370840">
                <a:tc>
                  <a:txBody>
                    <a:bodyPr/>
                    <a:lstStyle/>
                    <a:p>
                      <a:r>
                        <a:rPr b="1" sz="1100"/>
                        <a:t>Success Rate</a:t>
                      </a:r>
                    </a:p>
                  </a:txBody>
                  <a:tcPr>
                    <a:solidFill>
                      <a:srgbClr val="E7E6E6"/>
                    </a:solidFill>
                  </a:tcPr>
                </a:tc>
                <a:tc>
                  <a:txBody>
                    <a:bodyPr/>
                    <a:lstStyle/>
                    <a:p>
                      <a:r>
                        <a:rPr sz="1100"/>
                        <a:t>95%+</a:t>
                      </a:r>
                    </a:p>
                  </a:txBody>
                  <a:tcPr>
                    <a:solidFill>
                      <a:srgbClr val="E7E6E6"/>
                    </a:solidFill>
                  </a:tcPr>
                </a:tc>
                <a:tc>
                  <a:txBody>
                    <a:bodyPr/>
                    <a:lstStyle/>
                    <a:p>
                      <a:r>
                        <a:rPr sz="1100"/>
                        <a:t>96.2%</a:t>
                      </a:r>
                    </a:p>
                  </a:txBody>
                  <a:tcPr>
                    <a:solidFill>
                      <a:srgbClr val="E7E6E6"/>
                    </a:solidFill>
                  </a:tcPr>
                </a:tc>
                <a:tc>
                  <a:txBody>
                    <a:bodyPr/>
                    <a:lstStyle/>
                    <a:p>
                      <a:r>
                        <a:rPr sz="1100"/>
                        <a:t>37% fewer failed deployments</a:t>
                      </a:r>
                    </a:p>
                  </a:txBody>
                  <a:tcPr>
                    <a:solidFill>
                      <a:srgbClr val="E7E6E6"/>
                    </a:solidFill>
                  </a:tcPr>
                </a:tc>
              </a:tr>
              <a:tr h="370840">
                <a:tc>
                  <a:txBody>
                    <a:bodyPr/>
                    <a:lstStyle/>
                    <a:p>
                      <a:r>
                        <a:rPr b="1" sz="1100"/>
                        <a:t>Jenkins Savings</a:t>
                      </a:r>
                    </a:p>
                  </a:txBody>
                  <a:tcPr>
                    <a:solidFill>
                      <a:srgbClr val="E7E6E6"/>
                    </a:solidFill>
                  </a:tcPr>
                </a:tc>
                <a:tc>
                  <a:txBody>
                    <a:bodyPr/>
                    <a:lstStyle/>
                    <a:p>
                      <a:r>
                        <a:rPr sz="1100"/>
                        <a:t>Eliminate $200K</a:t>
                      </a:r>
                    </a:p>
                  </a:txBody>
                  <a:tcPr>
                    <a:solidFill>
                      <a:srgbClr val="E7E6E6"/>
                    </a:solidFill>
                  </a:tcPr>
                </a:tc>
                <a:tc>
                  <a:txBody>
                    <a:bodyPr/>
                    <a:lstStyle/>
                    <a:p>
                      <a:r>
                        <a:rPr sz="1100"/>
                        <a:t>$200K+</a:t>
                      </a:r>
                    </a:p>
                  </a:txBody>
                  <a:tcPr>
                    <a:solidFill>
                      <a:srgbClr val="E7E6E6"/>
                    </a:solidFill>
                  </a:tcPr>
                </a:tc>
                <a:tc>
                  <a:txBody>
                    <a:bodyPr/>
                    <a:lstStyle/>
                    <a:p>
                      <a:r>
                        <a:rPr sz="1100"/>
                        <a:t>Infrastructure decommissioned</a:t>
                      </a:r>
                    </a:p>
                  </a:txBody>
                  <a:tcPr>
                    <a:solidFill>
                      <a:srgbClr val="E7E6E6"/>
                    </a:solidFill>
                  </a:tcPr>
                </a:tc>
              </a:tr>
              <a:tr h="370840">
                <a:tc>
                  <a:txBody>
                    <a:bodyPr/>
                    <a:lstStyle/>
                    <a:p>
                      <a:r>
                        <a:rPr b="1" sz="1100"/>
                        <a:t>Developer Time</a:t>
                      </a:r>
                    </a:p>
                  </a:txBody>
                  <a:tcPr>
                    <a:solidFill>
                      <a:srgbClr val="E7E6E6"/>
                    </a:solidFill>
                  </a:tcPr>
                </a:tc>
                <a:tc>
                  <a:txBody>
                    <a:bodyPr/>
                    <a:lstStyle/>
                    <a:p>
                      <a:r>
                        <a:rPr sz="1100"/>
                        <a:t>Reduce wait</a:t>
                      </a:r>
                    </a:p>
                  </a:txBody>
                  <a:tcPr>
                    <a:solidFill>
                      <a:srgbClr val="E7E6E6"/>
                    </a:solidFill>
                  </a:tcPr>
                </a:tc>
                <a:tc>
                  <a:txBody>
                    <a:bodyPr/>
                    <a:lstStyle/>
                    <a:p>
                      <a:r>
                        <a:rPr sz="1100"/>
                        <a:t>37 min saved</a:t>
                      </a:r>
                    </a:p>
                  </a:txBody>
                  <a:tcPr>
                    <a:solidFill>
                      <a:srgbClr val="E7E6E6"/>
                    </a:solidFill>
                  </a:tcPr>
                </a:tc>
                <a:tc>
                  <a:txBody>
                    <a:bodyPr/>
                    <a:lstStyle/>
                    <a:p>
                      <a:r>
                        <a:rPr sz="1100"/>
                        <a:t>6,166 hours/year productivity</a:t>
                      </a:r>
                    </a:p>
                  </a:txBody>
                  <a:tcPr>
                    <a:solidFill>
                      <a:srgbClr val="E7E6E6"/>
                    </a:solidFill>
                  </a:tcPr>
                </a:tc>
              </a:tr>
              <a:tr h="370840">
                <a:tc>
                  <a:txBody>
                    <a:bodyPr/>
                    <a:lstStyle/>
                    <a:p>
                      <a:r>
                        <a:rPr b="1" sz="1100"/>
                        <a:t>Platform Uptime</a:t>
                      </a:r>
                    </a:p>
                  </a:txBody>
                  <a:tcPr>
                    <a:solidFill>
                      <a:srgbClr val="E7E6E6"/>
                    </a:solidFill>
                  </a:tcPr>
                </a:tc>
                <a:tc>
                  <a:txBody>
                    <a:bodyPr/>
                    <a:lstStyle/>
                    <a:p>
                      <a:r>
                        <a:rPr sz="1100"/>
                        <a:t>99.9%</a:t>
                      </a:r>
                    </a:p>
                  </a:txBody>
                  <a:tcPr>
                    <a:solidFill>
                      <a:srgbClr val="E7E6E6"/>
                    </a:solidFill>
                  </a:tcPr>
                </a:tc>
                <a:tc>
                  <a:txBody>
                    <a:bodyPr/>
                    <a:lstStyle/>
                    <a:p>
                      <a:r>
                        <a:rPr sz="1100"/>
                        <a:t>99.95%</a:t>
                      </a:r>
                    </a:p>
                  </a:txBody>
                  <a:tcPr>
                    <a:solidFill>
                      <a:srgbClr val="E7E6E6"/>
                    </a:solidFill>
                  </a:tcPr>
                </a:tc>
                <a:tc>
                  <a:txBody>
                    <a:bodyPr/>
                    <a:lstStyle/>
                    <a:p>
                      <a:r>
                        <a:rPr sz="1100"/>
                        <a:t>Zero unplanned downtime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Lessons Learned &amp; Recommendations</a:t>
            </a:r>
          </a:p>
        </p:txBody>
      </p:sp>
      <p:sp>
        <p:nvSpPr>
          <p:cNvPr id="4" name="Text Placeholder 3"/>
          <p:cNvSpPr>
            <a:spLocks noGrp="1"/>
          </p:cNvSpPr>
          <p:nvPr>
            <p:ph type="body" idx="16" sz="quarter"/>
          </p:nvPr>
        </p:nvSpPr>
        <p:spPr/>
        <p:txBody>
          <a:bodyPr/>
          <a:lstStyle/>
          <a:p>
            <a:pPr/>
            <a:r>
              <a:rPr b="1"/>
              <a:t>What Worked Well</a:t>
            </a:r>
          </a:p>
          <a:p>
            <a:pPr lvl="1"/>
            <a:r>
              <a:t>Pilot-first migration strategy</a:t>
            </a:r>
          </a:p>
          <a:p>
            <a:pPr lvl="1"/>
            <a:r>
              <a:t>Reusable workflow standardization</a:t>
            </a:r>
          </a:p>
          <a:p>
            <a:pPr lvl="1"/>
            <a:r>
              <a:t>Self-hosted runner cost savings</a:t>
            </a:r>
          </a:p>
          <a:p>
            <a:pPr lvl="1"/>
            <a:r>
              <a:t>OIDC keyless authentication</a:t>
            </a:r>
          </a:p>
          <a:p>
            <a:pPr lvl="1"/>
            <a:r>
              <a:t>Developer training program</a:t>
            </a:r>
          </a:p>
          <a:p>
            <a:pPr/>
            <a:r>
              <a:rPr b="1"/>
              <a:t>Challenges Overcome</a:t>
            </a:r>
          </a:p>
          <a:p>
            <a:pPr lvl="1"/>
            <a:r>
              <a:t>Windows runner configuration</a:t>
            </a:r>
          </a:p>
          <a:p>
            <a:pPr lvl="1"/>
            <a:r>
              <a:t>Legacy .NET Framework builds</a:t>
            </a:r>
          </a:p>
          <a:p>
            <a:pPr lvl="1"/>
            <a:r>
              <a:t>Large monorepo handling</a:t>
            </a:r>
          </a:p>
          <a:p>
            <a:pPr lvl="1"/>
            <a:r>
              <a:t>EKS access configuration</a:t>
            </a:r>
          </a:p>
          <a:p>
            <a:pPr lvl="1"/>
            <a:r>
              <a:t>Workflow caching optimization</a:t>
            </a:r>
          </a:p>
        </p:txBody>
      </p:sp>
      <p:sp>
        <p:nvSpPr>
          <p:cNvPr id="5" name="Text Placeholder 4"/>
          <p:cNvSpPr>
            <a:spLocks noGrp="1"/>
          </p:cNvSpPr>
          <p:nvPr>
            <p:ph type="body" idx="17" sz="quarter"/>
          </p:nvPr>
        </p:nvSpPr>
        <p:spPr/>
        <p:txBody>
          <a:bodyPr/>
          <a:lstStyle/>
          <a:p>
            <a:pPr/>
            <a:r>
              <a:rPr b="1"/>
              <a:t>Recommendations</a:t>
            </a:r>
          </a:p>
          <a:p>
            <a:pPr lvl="1"/>
            <a:r>
              <a:t>Expand to remaining 50+ repos</a:t>
            </a:r>
          </a:p>
          <a:p>
            <a:pPr lvl="1"/>
            <a:r>
              <a:t>Implement advanced deployment</a:t>
            </a:r>
          </a:p>
          <a:p>
            <a:pPr lvl="1"/>
            <a:r>
              <a:t>Add GitHub Copilot for Actions</a:t>
            </a:r>
          </a:p>
          <a:p>
            <a:pPr lvl="1"/>
            <a:r>
              <a:t>Quarterly workflow optimization</a:t>
            </a:r>
          </a:p>
          <a:p>
            <a:pPr lvl="1"/>
            <a:r>
              <a:t>Consider managed services tier</a:t>
            </a:r>
          </a:p>
        </p:txBody>
      </p:sp>
      <p:sp>
        <p:nvSpPr>
          <p:cNvPr id="6" name="Text Placeholder 5"/>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Support Transition</a:t>
            </a:r>
          </a:p>
        </p:txBody>
      </p:sp>
      <p:sp>
        <p:nvSpPr>
          <p:cNvPr id="4" name="Text Placeholder 3"/>
          <p:cNvSpPr>
            <a:spLocks noGrp="1"/>
          </p:cNvSpPr>
          <p:nvPr>
            <p:ph type="body" idx="16" sz="quarter"/>
          </p:nvPr>
        </p:nvSpPr>
        <p:spPr/>
        <p:txBody>
          <a:bodyPr/>
          <a:lstStyle/>
          <a:p>
            <a:pPr/>
            <a:r>
              <a:rPr b="1"/>
              <a:t>Hypercare Complete (30 days)</a:t>
            </a:r>
          </a:p>
          <a:p>
            <a:pPr lvl="1"/>
            <a:r>
              <a:t>Daily health checks completed</a:t>
            </a:r>
          </a:p>
          <a:p>
            <a:pPr lvl="1"/>
            <a:r>
              <a:t>5 P3 issues resolved</a:t>
            </a:r>
          </a:p>
          <a:p>
            <a:pPr lvl="1"/>
            <a:r>
              <a:t>Knowledge transfer sessions done</a:t>
            </a:r>
          </a:p>
          <a:p>
            <a:pPr lvl="1"/>
            <a:r>
              <a:t>Platform team certified</a:t>
            </a:r>
          </a:p>
          <a:p>
            <a:pPr lvl="1"/>
            <a:r>
              <a:t>All runbook procedures validated</a:t>
            </a:r>
          </a:p>
          <a:p>
            <a:pPr/>
            <a:r>
              <a:rPr b="1"/>
              <a:t>Steady State Support</a:t>
            </a:r>
          </a:p>
          <a:p>
            <a:pPr lvl="1"/>
            <a:r>
              <a:t>Business hours monitoring</a:t>
            </a:r>
          </a:p>
          <a:p>
            <a:pPr lvl="1"/>
            <a:r>
              <a:t>Weekly performance reviews</a:t>
            </a:r>
          </a:p>
          <a:p>
            <a:pPr lvl="1"/>
            <a:r>
              <a:t>Monthly workflow optimization</a:t>
            </a:r>
          </a:p>
          <a:p>
            <a:pPr lvl="1"/>
            <a:r>
              <a:t>Quarterly capacity planning</a:t>
            </a:r>
          </a:p>
          <a:p>
            <a:pPr lvl="1"/>
            <a:r>
              <a:t>Automated alerting active</a:t>
            </a:r>
          </a:p>
        </p:txBody>
      </p:sp>
      <p:sp>
        <p:nvSpPr>
          <p:cNvPr id="5" name="Text Placeholder 4"/>
          <p:cNvSpPr>
            <a:spLocks noGrp="1"/>
          </p:cNvSpPr>
          <p:nvPr>
            <p:ph type="body" idx="17" sz="quarter"/>
          </p:nvPr>
        </p:nvSpPr>
        <p:spPr/>
        <p:txBody>
          <a:bodyPr/>
          <a:lstStyle/>
          <a:p>
            <a:pPr/>
            <a:r>
              <a:rPr b="1"/>
              <a:t>Escalation Path</a:t>
            </a:r>
          </a:p>
          <a:p>
            <a:pPr lvl="1"/>
            <a:r>
              <a:t>L1: Platform Team</a:t>
            </a:r>
          </a:p>
          <a:p>
            <a:pPr lvl="1"/>
            <a:r>
              <a:t>L2: DevOps Engineering</a:t>
            </a:r>
          </a:p>
          <a:p>
            <a:pPr lvl="1"/>
            <a:r>
              <a:t>L3: Vendor Support (optional)</a:t>
            </a:r>
          </a:p>
          <a:p>
            <a:pPr lvl="1"/>
            <a:r>
              <a:t>Emergency: On-call rotation</a:t>
            </a:r>
          </a:p>
          <a:p>
            <a:pPr lvl="1"/>
            <a:r>
              <a:t>Executive: Account Manager</a:t>
            </a:r>
          </a:p>
        </p:txBody>
      </p:sp>
      <p:sp>
        <p:nvSpPr>
          <p:cNvPr id="6" name="Text Placeholder 5"/>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Acknowledgments &amp; Next Steps</a:t>
            </a:r>
          </a:p>
        </p:txBody>
      </p:sp>
      <p:sp>
        <p:nvSpPr>
          <p:cNvPr id="4" name="Text Placeholder 3"/>
          <p:cNvSpPr>
            <a:spLocks noGrp="1"/>
          </p:cNvSpPr>
          <p:nvPr>
            <p:ph type="body" idx="14" sz="quarter"/>
          </p:nvPr>
        </p:nvSpPr>
        <p:spPr/>
        <p:txBody>
          <a:bodyPr/>
          <a:lstStyle/>
          <a:p>
            <a:pPr/>
            <a:r>
              <a:rPr b="1"/>
              <a:t>DevOps Team:</a:t>
            </a:r>
            <a:r>
              <a:t> Infrastructure architects, engineers, and developers</a:t>
            </a:r>
          </a:p>
          <a:p>
            <a:pPr/>
            <a:r>
              <a:rPr b="1"/>
              <a:t>Development Teams:</a:t>
            </a:r>
            <a:r>
              <a:t> 100 developers across 10 teams embracing CI/CD</a:t>
            </a:r>
          </a:p>
          <a:p>
            <a:pPr/>
            <a:r>
              <a:rPr b="1"/>
              <a:t>Special Recognition:</a:t>
            </a:r>
            <a:r>
              <a:t> Platform team for driving 96% adoption</a:t>
            </a:r>
          </a:p>
          <a:p>
            <a:pPr/>
            <a:r>
              <a:rPr b="1"/>
              <a:t>This Week:</a:t>
            </a:r>
            <a:r>
              <a:t> Final documentation handover, archive project artifacts</a:t>
            </a:r>
          </a:p>
          <a:p>
            <a:pPr/>
            <a:r>
              <a:rPr b="1"/>
              <a:t>Next 30 Days:</a:t>
            </a:r>
            <a:r>
              <a:t> Monthly performance review, capacity monitoring</a:t>
            </a:r>
          </a:p>
          <a:p>
            <a:pPr/>
            <a:r>
              <a:rPr b="1"/>
              <a:t>Next Quarter:</a:t>
            </a:r>
            <a:r>
              <a:t> Phase 2 planning for remaining repos and features</a:t>
            </a:r>
          </a:p>
        </p:txBody>
      </p:sp>
      <p:sp>
        <p:nvSpPr>
          <p:cNvPr id="5" name="Text Placeholder 4"/>
          <p:cNvSpPr>
            <a:spLocks noGrp="1"/>
          </p:cNvSpPr>
          <p:nvPr>
            <p:ph type="body" idx="15" sz="quarter"/>
          </p:nvPr>
        </p:nvSpPr>
        <p:spPr/>
        <p:txBody>
          <a:bodyPr/>
          <a:lstStyle/>
          <a:p>
            <a:pPr algn="r">
              <a:buNone/>
            </a:pPr>
            <a:r>
              <a:rPr sz="1100">
                <a:solidFill>
                  <a:srgbClr val="CC0000"/>
                </a:solidFill>
              </a:rPr>
              <a:t>GitHub Actions Enterprise CI/CD</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86</cp:revision>
  <dcterms:created xsi:type="dcterms:W3CDTF">2025-11-01T21:16:10Z</dcterms:created>
  <dcterms:modified xsi:type="dcterms:W3CDTF">2025-11-27T20:15:42Z</dcterms:modified>
</cp:coreProperties>
</file>