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bin" ContentType="image/unknown"/>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 id="266"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C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5" d="100"/>
          <a:sy n="135" d="100"/>
        </p:scale>
        <p:origin x="380" y="308"/>
      </p:cViewPr>
      <p:guideLst/>
    </p:cSldViewPr>
  </p:slideViewPr>
  <p:notesTextViewPr>
    <p:cViewPr>
      <p:scale>
        <a:sx n="1" d="1"/>
        <a:sy n="1" d="1"/>
      </p:scale>
      <p:origin x="0" y="0"/>
    </p:cViewPr>
  </p:notesTextViewPr>
  <p:notesViewPr>
    <p:cSldViewPr snapToGrid="0" snapToObjects="1">
      <p:cViewPr varScale="1">
        <p:scale>
          <a:sx n="83" d="100"/>
          <a:sy n="83" d="100"/>
        </p:scale>
        <p:origin x="3732"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9016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O 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538528" y="1886679"/>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Presentation Title</a:t>
            </a: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1" y="4536078"/>
            <a:ext cx="2099897"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59473" y="2437679"/>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Subtitle Text</a:t>
            </a:r>
            <a:endParaRPr lang="en-US" sz="1800" dirty="0"/>
          </a:p>
        </p:txBody>
      </p:sp>
      <p:sp>
        <p:nvSpPr>
          <p:cNvPr id="12" name="Text Placeholder 11">
            <a:extLst>
              <a:ext uri="{FF2B5EF4-FFF2-40B4-BE49-F238E27FC236}">
                <a16:creationId xmlns:a16="http://schemas.microsoft.com/office/drawing/2014/main" id="{39F5D3C5-0033-51A7-77BC-7E3DBBF84F2E}"/>
              </a:ext>
            </a:extLst>
          </p:cNvPr>
          <p:cNvSpPr>
            <a:spLocks noGrp="1"/>
          </p:cNvSpPr>
          <p:nvPr>
            <p:ph type="body" sz="quarter" idx="15" hasCustomPrompt="1"/>
          </p:nvPr>
        </p:nvSpPr>
        <p:spPr>
          <a:xfrm>
            <a:off x="2734286" y="3631467"/>
            <a:ext cx="3605212" cy="33496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400">
                <a:latin typeface="Arial" panose="020B0604020202020204" pitchFamily="34" charset="0"/>
                <a:cs typeface="Arial" panose="020B0604020202020204" pitchFamily="34" charset="0"/>
              </a:defRPr>
            </a:lvl1pPr>
          </a:lstStyle>
          <a:p>
            <a:pPr lvl="0"/>
            <a:r>
              <a:rPr lang="en-US" sz="1400" dirty="0">
                <a:solidFill>
                  <a:srgbClr val="6C757D"/>
                </a:solidFill>
                <a:latin typeface="Arial" pitchFamily="34" charset="0"/>
                <a:cs typeface="Arial" pitchFamily="34" charset="-120"/>
              </a:rPr>
              <a:t>Presenter Name | Date</a:t>
            </a:r>
            <a:endParaRPr lang="en-US" dirty="0"/>
          </a:p>
        </p:txBody>
      </p:sp>
    </p:spTree>
    <p:extLst>
      <p:ext uri="{BB962C8B-B14F-4D97-AF65-F5344CB8AC3E}">
        <p14:creationId xmlns:p14="http://schemas.microsoft.com/office/powerpoint/2010/main" val="141143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O Single Column">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Slide Title</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p:nvPr>
        </p:nvSpPr>
        <p:spPr>
          <a:xfrm>
            <a:off x="296863" y="685601"/>
            <a:ext cx="8548687" cy="3811657"/>
          </a:xfrm>
          <a:prstGeom prst="rect">
            <a:avLst/>
          </a:prstGeom>
        </p:spPr>
        <p:txBody>
          <a:bodyPr/>
          <a:lstStyle>
            <a:lvl1pPr>
              <a:defRPr sz="2000" b="1" baseline="0">
                <a:solidFill>
                  <a:srgbClr val="C00000"/>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57F71806-AFEA-DD6D-E6AA-E2A002E682DE}"/>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4623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O Bullet Points">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Bullet Points</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hasCustomPrompt="1"/>
          </p:nvPr>
        </p:nvSpPr>
        <p:spPr>
          <a:xfrm>
            <a:off x="296863" y="685601"/>
            <a:ext cx="8548687" cy="3811657"/>
          </a:xfrm>
          <a:prstGeom prst="rect">
            <a:avLst/>
          </a:prstGeom>
        </p:spPr>
        <p:txBody>
          <a:bodyPr/>
          <a:lstStyle>
            <a:lvl1pPr>
              <a:defRPr sz="2000" baseline="0">
                <a:solidFill>
                  <a:schemeClr val="tx1"/>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Bullet Point 1</a:t>
            </a:r>
          </a:p>
          <a:p>
            <a:pPr lvl="0"/>
            <a:r>
              <a:rPr lang="en-US" dirty="0"/>
              <a:t>Bullet Point 2</a:t>
            </a:r>
          </a:p>
        </p:txBody>
      </p:sp>
      <p:sp>
        <p:nvSpPr>
          <p:cNvPr id="5" name="Text Placeholder 4">
            <a:extLst>
              <a:ext uri="{FF2B5EF4-FFF2-40B4-BE49-F238E27FC236}">
                <a16:creationId xmlns:a16="http://schemas.microsoft.com/office/drawing/2014/main" id="{162079A5-28FD-9D2F-2B9B-2FC8F9339A31}"/>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90737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O Two Colum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21877"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530738"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Two Column Layout</a:t>
            </a:r>
          </a:p>
        </p:txBody>
      </p:sp>
      <p:sp>
        <p:nvSpPr>
          <p:cNvPr id="6" name="Text Placeholder 5">
            <a:extLst>
              <a:ext uri="{FF2B5EF4-FFF2-40B4-BE49-F238E27FC236}">
                <a16:creationId xmlns:a16="http://schemas.microsoft.com/office/drawing/2014/main" id="{229E4A97-A874-D6CA-E54C-5584536CAA7C}"/>
              </a:ext>
            </a:extLst>
          </p:cNvPr>
          <p:cNvSpPr>
            <a:spLocks noGrp="1"/>
          </p:cNvSpPr>
          <p:nvPr>
            <p:ph type="body" sz="quarter" idx="16" hasCustomPrompt="1"/>
          </p:nvPr>
        </p:nvSpPr>
        <p:spPr>
          <a:xfrm>
            <a:off x="193675" y="678433"/>
            <a:ext cx="4462463"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Left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EF61ADBD-DA9D-A8A7-8FC3-64E82242B983}"/>
              </a:ext>
            </a:extLst>
          </p:cNvPr>
          <p:cNvSpPr>
            <a:spLocks noGrp="1"/>
          </p:cNvSpPr>
          <p:nvPr>
            <p:ph type="body" sz="quarter" idx="17" hasCustomPrompt="1"/>
          </p:nvPr>
        </p:nvSpPr>
        <p:spPr>
          <a:xfrm>
            <a:off x="4840288" y="678433"/>
            <a:ext cx="4110037"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Right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5DF49ED0-89F0-F008-ADD7-D71F338C8B9B}"/>
              </a:ext>
            </a:extLst>
          </p:cNvPr>
          <p:cNvSpPr>
            <a:spLocks noGrp="1"/>
          </p:cNvSpPr>
          <p:nvPr>
            <p:ph type="body" sz="quarter" idx="15" hasCustomPrompt="1"/>
          </p:nvPr>
        </p:nvSpPr>
        <p:spPr>
          <a:xfrm>
            <a:off x="5697414"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24373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O Table">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2" y="4536078"/>
            <a:ext cx="2126273"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6855" y="39642"/>
            <a:ext cx="8710933" cy="52701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27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700" b="1" dirty="0">
                <a:solidFill>
                  <a:srgbClr val="2C3E50"/>
                </a:solidFill>
                <a:latin typeface="Arial" pitchFamily="34" charset="0"/>
                <a:cs typeface="Arial" pitchFamily="34" charset="-120"/>
              </a:rPr>
              <a:t>Table</a:t>
            </a:r>
            <a:endParaRPr lang="en-US" sz="3200" dirty="0"/>
          </a:p>
          <a:p>
            <a:pPr lvl="0"/>
            <a:endParaRPr lang="en-US" dirty="0"/>
          </a:p>
        </p:txBody>
      </p:sp>
      <p:sp>
        <p:nvSpPr>
          <p:cNvPr id="5" name="Table Placeholder 4">
            <a:extLst>
              <a:ext uri="{FF2B5EF4-FFF2-40B4-BE49-F238E27FC236}">
                <a16:creationId xmlns:a16="http://schemas.microsoft.com/office/drawing/2014/main" id="{D3D9E4F7-6B7D-2205-75B9-EE8C54E89A5F}"/>
              </a:ext>
            </a:extLst>
          </p:cNvPr>
          <p:cNvSpPr>
            <a:spLocks noGrp="1"/>
          </p:cNvSpPr>
          <p:nvPr>
            <p:ph type="tbl" sz="quarter" idx="14"/>
          </p:nvPr>
        </p:nvSpPr>
        <p:spPr>
          <a:xfrm>
            <a:off x="256855" y="677011"/>
            <a:ext cx="8710933" cy="3785084"/>
          </a:xfrm>
          <a:prstGeom prst="rect">
            <a:avLst/>
          </a:prstGeom>
        </p:spPr>
        <p:txBody>
          <a:bodyPr/>
          <a:lstStyle/>
          <a:p>
            <a:endParaRPr lang="en-US"/>
          </a:p>
        </p:txBody>
      </p:sp>
      <p:sp>
        <p:nvSpPr>
          <p:cNvPr id="4" name="Text Placeholder 4">
            <a:extLst>
              <a:ext uri="{FF2B5EF4-FFF2-40B4-BE49-F238E27FC236}">
                <a16:creationId xmlns:a16="http://schemas.microsoft.com/office/drawing/2014/main" id="{A00DC936-676C-1BAA-B4B4-D45CC5951D6E}"/>
              </a:ext>
            </a:extLst>
          </p:cNvPr>
          <p:cNvSpPr>
            <a:spLocks noGrp="1"/>
          </p:cNvSpPr>
          <p:nvPr>
            <p:ph type="body" sz="quarter" idx="15" hasCustomPrompt="1"/>
          </p:nvPr>
        </p:nvSpPr>
        <p:spPr>
          <a:xfrm>
            <a:off x="5749315"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281483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O Visual Content">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30670"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7423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Visual Content</a:t>
            </a:r>
          </a:p>
        </p:txBody>
      </p:sp>
      <p:sp>
        <p:nvSpPr>
          <p:cNvPr id="6" name="Picture Placeholder 5">
            <a:extLst>
              <a:ext uri="{FF2B5EF4-FFF2-40B4-BE49-F238E27FC236}">
                <a16:creationId xmlns:a16="http://schemas.microsoft.com/office/drawing/2014/main" id="{D4B682B8-2171-423F-A77B-10BADD07BC6C}"/>
              </a:ext>
            </a:extLst>
          </p:cNvPr>
          <p:cNvSpPr>
            <a:spLocks noGrp="1"/>
          </p:cNvSpPr>
          <p:nvPr>
            <p:ph type="pic" sz="quarter" idx="15"/>
          </p:nvPr>
        </p:nvSpPr>
        <p:spPr>
          <a:xfrm>
            <a:off x="4662488" y="685799"/>
            <a:ext cx="4337050" cy="3815859"/>
          </a:xfrm>
          <a:prstGeom prst="rect">
            <a:avLst/>
          </a:prstGeom>
        </p:spPr>
        <p:txBody>
          <a:bodyPr/>
          <a:lstStyle/>
          <a:p>
            <a:endParaRPr lang="en-US"/>
          </a:p>
        </p:txBody>
      </p:sp>
      <p:sp>
        <p:nvSpPr>
          <p:cNvPr id="5" name="Text Placeholder 4">
            <a:extLst>
              <a:ext uri="{FF2B5EF4-FFF2-40B4-BE49-F238E27FC236}">
                <a16:creationId xmlns:a16="http://schemas.microsoft.com/office/drawing/2014/main" id="{F1EE9992-B6F6-08BF-BFB5-6AF6BEDE367A}"/>
              </a:ext>
            </a:extLst>
          </p:cNvPr>
          <p:cNvSpPr>
            <a:spLocks noGrp="1"/>
          </p:cNvSpPr>
          <p:nvPr>
            <p:ph type="body" sz="quarter" idx="16"/>
          </p:nvPr>
        </p:nvSpPr>
        <p:spPr>
          <a:xfrm>
            <a:off x="92075" y="685800"/>
            <a:ext cx="4449763" cy="3815859"/>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4">
            <a:extLst>
              <a:ext uri="{FF2B5EF4-FFF2-40B4-BE49-F238E27FC236}">
                <a16:creationId xmlns:a16="http://schemas.microsoft.com/office/drawing/2014/main" id="{6D03683B-7C4B-D474-74C5-EC53E3BB515B}"/>
              </a:ext>
            </a:extLst>
          </p:cNvPr>
          <p:cNvSpPr>
            <a:spLocks noGrp="1"/>
          </p:cNvSpPr>
          <p:nvPr>
            <p:ph type="body" sz="quarter" idx="17" hasCustomPrompt="1"/>
          </p:nvPr>
        </p:nvSpPr>
        <p:spPr>
          <a:xfrm>
            <a:off x="5781065" y="4729530"/>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94405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O Data Visualizatio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04294"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6407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Data Visualization</a:t>
            </a:r>
          </a:p>
        </p:txBody>
      </p:sp>
      <p:sp>
        <p:nvSpPr>
          <p:cNvPr id="5" name="Chart Placeholder 4">
            <a:extLst>
              <a:ext uri="{FF2B5EF4-FFF2-40B4-BE49-F238E27FC236}">
                <a16:creationId xmlns:a16="http://schemas.microsoft.com/office/drawing/2014/main" id="{A686C49F-4337-BBE6-FF21-682B01E38601}"/>
              </a:ext>
            </a:extLst>
          </p:cNvPr>
          <p:cNvSpPr>
            <a:spLocks noGrp="1"/>
          </p:cNvSpPr>
          <p:nvPr>
            <p:ph type="chart" sz="quarter" idx="15"/>
          </p:nvPr>
        </p:nvSpPr>
        <p:spPr>
          <a:xfrm>
            <a:off x="4572000" y="685597"/>
            <a:ext cx="4325938" cy="3778347"/>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D0B730E7-C68E-A3E8-1745-8AF89C786D5F}"/>
              </a:ext>
            </a:extLst>
          </p:cNvPr>
          <p:cNvSpPr>
            <a:spLocks noGrp="1"/>
          </p:cNvSpPr>
          <p:nvPr>
            <p:ph sz="quarter" idx="16"/>
          </p:nvPr>
        </p:nvSpPr>
        <p:spPr>
          <a:xfrm>
            <a:off x="136525" y="678433"/>
            <a:ext cx="4237038" cy="3785513"/>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A1231DFE-6A5A-950E-159E-9E1D3D45FD36}"/>
              </a:ext>
            </a:extLst>
          </p:cNvPr>
          <p:cNvSpPr>
            <a:spLocks noGrp="1"/>
          </p:cNvSpPr>
          <p:nvPr>
            <p:ph type="body" sz="quarter" idx="17" hasCustomPrompt="1"/>
          </p:nvPr>
        </p:nvSpPr>
        <p:spPr>
          <a:xfrm>
            <a:off x="5679465" y="4681864"/>
            <a:ext cx="3218473" cy="238125"/>
          </a:xfrm>
          <a:prstGeom prst="rect">
            <a:avLst/>
          </a:prstGeom>
        </p:spPr>
        <p:txBody>
          <a:bodyPr/>
          <a:lstStyle>
            <a:lvl5pPr algn="r">
              <a:buNone/>
              <a:defRPr sz="900"/>
            </a:lvl5pPr>
          </a:lstStyle>
          <a:p>
            <a:pPr lvl="4"/>
            <a:r>
              <a:rPr lang="en-US" dirty="0"/>
              <a:t>Project Name</a:t>
            </a:r>
          </a:p>
        </p:txBody>
      </p:sp>
    </p:spTree>
    <p:extLst>
      <p:ext uri="{BB962C8B-B14F-4D97-AF65-F5344CB8AC3E}">
        <p14:creationId xmlns:p14="http://schemas.microsoft.com/office/powerpoint/2010/main" val="47354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O Thank You">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736356" y="2247927"/>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Thank You</a:t>
            </a:r>
          </a:p>
          <a:p>
            <a:pPr marL="0" indent="0" algn="ctr">
              <a:lnSpc>
                <a:spcPts val="3600"/>
              </a:lnSpc>
              <a:buNone/>
            </a:pP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2" y="4536078"/>
            <a:ext cx="2164114"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24304" y="1874962"/>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Questions?</a:t>
            </a:r>
            <a:endParaRPr lang="en-US" sz="1800" dirty="0"/>
          </a:p>
        </p:txBody>
      </p:sp>
      <p:sp>
        <p:nvSpPr>
          <p:cNvPr id="2" name="Text 3">
            <a:extLst>
              <a:ext uri="{FF2B5EF4-FFF2-40B4-BE49-F238E27FC236}">
                <a16:creationId xmlns:a16="http://schemas.microsoft.com/office/drawing/2014/main" id="{5727805F-2A15-11D3-243F-1AE09D6E973E}"/>
              </a:ext>
            </a:extLst>
          </p:cNvPr>
          <p:cNvSpPr/>
          <p:nvPr userDrawn="1"/>
        </p:nvSpPr>
        <p:spPr>
          <a:xfrm>
            <a:off x="3312808" y="4536078"/>
            <a:ext cx="2797969" cy="529698"/>
          </a:xfrm>
          <a:prstGeom prst="roundRect">
            <a:avLst>
              <a:gd name="adj" fmla="val 14286"/>
            </a:avLst>
          </a:prstGeom>
          <a:solidFill>
            <a:srgbClr val="F5F5F5"/>
          </a:solidFill>
          <a:ln/>
        </p:spPr>
        <p:txBody>
          <a:bodyPr wrap="square" rtlCol="0" anchor="ctr"/>
          <a:lstStyle/>
          <a:p>
            <a:pPr marL="0" indent="0">
              <a:buNone/>
            </a:pPr>
            <a:endParaRPr lang="en-US" dirty="0"/>
          </a:p>
        </p:txBody>
      </p:sp>
      <p:sp>
        <p:nvSpPr>
          <p:cNvPr id="3" name="Text 4">
            <a:extLst>
              <a:ext uri="{FF2B5EF4-FFF2-40B4-BE49-F238E27FC236}">
                <a16:creationId xmlns:a16="http://schemas.microsoft.com/office/drawing/2014/main" id="{1034B79E-463D-8396-409E-62C28A2DEB04}"/>
              </a:ext>
            </a:extLst>
          </p:cNvPr>
          <p:cNvSpPr/>
          <p:nvPr userDrawn="1"/>
        </p:nvSpPr>
        <p:spPr>
          <a:xfrm>
            <a:off x="3614735" y="4667577"/>
            <a:ext cx="2076688" cy="266700"/>
          </a:xfrm>
          <a:prstGeom prst="rect">
            <a:avLst/>
          </a:prstGeom>
          <a:noFill/>
          <a:ln/>
        </p:spPr>
        <p:txBody>
          <a:bodyPr wrap="square" lIns="0" tIns="0" rIns="0" bIns="0" rtlCol="0" anchor="t"/>
          <a:lstStyle/>
          <a:p>
            <a:pPr marL="0" indent="0" algn="ctr">
              <a:lnSpc>
                <a:spcPts val="2100"/>
              </a:lnSpc>
              <a:spcBef>
                <a:spcPts val="300"/>
              </a:spcBef>
              <a:spcAft>
                <a:spcPts val="300"/>
              </a:spcAft>
              <a:buNone/>
            </a:pPr>
            <a:r>
              <a:rPr lang="en-US" sz="1500" b="1" dirty="0">
                <a:solidFill>
                  <a:schemeClr val="bg2">
                    <a:lumMod val="75000"/>
                  </a:schemeClr>
                </a:solidFill>
                <a:latin typeface="Arial" pitchFamily="34" charset="0"/>
                <a:ea typeface="Arial" pitchFamily="34" charset="-122"/>
                <a:cs typeface="Arial" pitchFamily="34" charset="-120"/>
              </a:rPr>
              <a:t>www.eoframework.org</a:t>
            </a:r>
            <a:endParaRPr lang="en-US" sz="1500" dirty="0">
              <a:solidFill>
                <a:schemeClr val="bg2">
                  <a:lumMod val="75000"/>
                </a:schemeClr>
              </a:solidFill>
            </a:endParaRPr>
          </a:p>
        </p:txBody>
      </p:sp>
      <p:sp>
        <p:nvSpPr>
          <p:cNvPr id="16" name="Text Placeholder 9">
            <a:extLst>
              <a:ext uri="{FF2B5EF4-FFF2-40B4-BE49-F238E27FC236}">
                <a16:creationId xmlns:a16="http://schemas.microsoft.com/office/drawing/2014/main" id="{2DED039B-C555-DCF4-1CA7-CA1E44823784}"/>
              </a:ext>
            </a:extLst>
          </p:cNvPr>
          <p:cNvSpPr>
            <a:spLocks noGrp="1"/>
          </p:cNvSpPr>
          <p:nvPr>
            <p:ph type="body" sz="quarter" idx="15" hasCustomPrompt="1"/>
          </p:nvPr>
        </p:nvSpPr>
        <p:spPr>
          <a:xfrm>
            <a:off x="268165" y="3131272"/>
            <a:ext cx="8480181"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b="0">
                <a:solidFill>
                  <a:schemeClr val="tx1"/>
                </a:solidFill>
                <a:latin typeface="Arial" panose="020B0604020202020204" pitchFamily="34" charset="0"/>
                <a:cs typeface="Arial" panose="020B0604020202020204" pitchFamily="34" charset="0"/>
              </a:defRPr>
            </a:lvl1pPr>
          </a:lstStyle>
          <a:p>
            <a:pPr>
              <a:spcAft>
                <a:spcPts val="1200"/>
              </a:spcAft>
            </a:pPr>
            <a:r>
              <a:rPr lang="en-US" sz="1800" b="1" dirty="0">
                <a:solidFill>
                  <a:srgbClr val="000000"/>
                </a:solidFill>
              </a:rPr>
              <a:t>Account Manager:</a:t>
            </a:r>
            <a:r>
              <a:rPr lang="en-US" sz="1800" dirty="0">
                <a:solidFill>
                  <a:srgbClr val="000000"/>
                </a:solidFill>
              </a:rPr>
              <a:t> [Name, Title] | [Email] | [Phone]</a:t>
            </a:r>
          </a:p>
        </p:txBody>
      </p:sp>
    </p:spTree>
    <p:extLst>
      <p:ext uri="{BB962C8B-B14F-4D97-AF65-F5344CB8AC3E}">
        <p14:creationId xmlns:p14="http://schemas.microsoft.com/office/powerpoint/2010/main" val="3821020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3" r:id="rId2"/>
    <p:sldLayoutId id="2147483659" r:id="rId3"/>
    <p:sldLayoutId id="2147483654" r:id="rId4"/>
    <p:sldLayoutId id="2147483655" r:id="rId5"/>
    <p:sldLayoutId id="2147483656" r:id="rId6"/>
    <p:sldLayoutId id="2147483657" r:id="rId7"/>
    <p:sldLayoutId id="2147483658"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 Placeholder 2"/>
          <p:cNvSpPr>
            <a:spLocks noGrp="1"/>
          </p:cNvSpPr>
          <p:nvPr>
            <p:ph type="body" idx="12" sz="quarter"/>
          </p:nvPr>
        </p:nvSpPr>
        <p:spPr/>
        <p:txBody>
          <a:bodyPr/>
          <a:lstStyle/>
          <a:p>
            <a:r>
              <a:t>Solution Briefing</a:t>
            </a:r>
          </a:p>
        </p:txBody>
      </p:sp>
      <p:sp>
        <p:nvSpPr>
          <p:cNvPr id="4" name="Picture Placeholder 3"/>
          <p:cNvSpPr>
            <a:spLocks noGrp="1"/>
          </p:cNvSpPr>
          <p:nvPr>
            <p:ph type="pic" idx="13" sz="quarter"/>
          </p:nvPr>
        </p:nvSpPr>
        <p:spPr/>
      </p:sp>
      <p:sp>
        <p:nvSpPr>
          <p:cNvPr id="5" name="Text Placeholder 4"/>
          <p:cNvSpPr>
            <a:spLocks noGrp="1"/>
          </p:cNvSpPr>
          <p:nvPr>
            <p:ph type="body" idx="14" sz="quarter"/>
          </p:nvPr>
        </p:nvSpPr>
        <p:spPr/>
        <p:txBody>
          <a:bodyPr/>
          <a:lstStyle/>
          <a:p>
            <a:r>
              <a:t>GitHub Advanced Security</a:t>
            </a:r>
          </a:p>
        </p:txBody>
      </p:sp>
      <p:sp>
        <p:nvSpPr>
          <p:cNvPr id="6" name="Text Placeholder 5"/>
          <p:cNvSpPr>
            <a:spLocks noGrp="1"/>
          </p:cNvSpPr>
          <p:nvPr>
            <p:ph type="body" idx="15" sz="quarter"/>
          </p:nvPr>
        </p:nvSpPr>
        <p:spPr/>
        <p:txBody>
          <a:bodyPr/>
          <a:lstStyle/>
          <a:p>
            <a:r>
              <a:t>['Presenter Name'] | November 22,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4" sz="quarter"/>
          </p:nvPr>
        </p:nvSpPr>
        <p:spPr/>
      </p:sp>
      <p:sp>
        <p:nvSpPr>
          <p:cNvPr id="3" name="Text Placeholder 2"/>
          <p:cNvSpPr>
            <a:spLocks noGrp="1"/>
          </p:cNvSpPr>
          <p:nvPr>
            <p:ph type="body" idx="10" sz="quarter"/>
          </p:nvPr>
        </p:nvSpPr>
        <p:spPr/>
        <p:txBody>
          <a:bodyPr/>
          <a:lstStyle/>
          <a:p>
            <a:pPr algn="l"/>
            <a:r>
              <a:t>Business Opportunity</a:t>
            </a:r>
          </a:p>
        </p:txBody>
      </p:sp>
      <p:sp>
        <p:nvSpPr>
          <p:cNvPr id="4" name="Text Placeholder 3"/>
          <p:cNvSpPr>
            <a:spLocks noGrp="1"/>
          </p:cNvSpPr>
          <p:nvPr>
            <p:ph type="body" idx="16" sz="quarter"/>
          </p:nvPr>
        </p:nvSpPr>
        <p:spPr/>
        <p:txBody>
          <a:bodyPr/>
          <a:lstStyle/>
          <a:p>
            <a:pPr/>
            <a:r>
              <a:rPr b="1"/>
              <a:t>Opportunity</a:t>
            </a:r>
          </a:p>
          <a:p>
            <a:pPr lvl="1"/>
            <a:r>
              <a:t>Detect 90% of vulnerabilities before production through automated pull request scanning</a:t>
            </a:r>
          </a:p>
          <a:p>
            <a:pPr lvl="1"/>
            <a:r>
              <a:t>Prevent secret leaks and credential exposure with real-time detection and alerting</a:t>
            </a:r>
          </a:p>
          <a:p>
            <a:pPr lvl="1"/>
            <a:r>
              <a:t>Eliminate $500K+ security debt - cost to fix bugs increases 100x after production</a:t>
            </a:r>
          </a:p>
        </p:txBody>
      </p:sp>
      <p:sp>
        <p:nvSpPr>
          <p:cNvPr id="5" name="Text Placeholder 4"/>
          <p:cNvSpPr>
            <a:spLocks noGrp="1"/>
          </p:cNvSpPr>
          <p:nvPr>
            <p:ph type="body" idx="17" sz="quarter"/>
          </p:nvPr>
        </p:nvSpPr>
        <p:spPr/>
        <p:txBody>
          <a:bodyPr/>
          <a:lstStyle/>
          <a:p>
            <a:pPr/>
            <a:r>
              <a:rPr b="1"/>
              <a:t>Success Criteria</a:t>
            </a:r>
          </a:p>
          <a:p>
            <a:pPr lvl="1"/>
            <a:r>
              <a:t>95% vulnerability detection in pull requests with automated CodeQL scanning</a:t>
            </a:r>
          </a:p>
          <a:p>
            <a:pPr lvl="1"/>
            <a:r>
              <a:t>Zero secret leaks to production through secret scanning and push protection</a:t>
            </a:r>
          </a:p>
          <a:p>
            <a:pPr lvl="1"/>
            <a:r>
              <a:t>ROI realization within 12 months through reduced security incidents and remediation costs</a:t>
            </a:r>
          </a:p>
        </p:txBody>
      </p:sp>
      <p:sp>
        <p:nvSpPr>
          <p:cNvPr id="6" name="Text Placeholder 5"/>
          <p:cNvSpPr>
            <a:spLocks noGrp="1"/>
          </p:cNvSpPr>
          <p:nvPr>
            <p:ph type="body" idx="15" sz="quarter"/>
          </p:nvPr>
        </p:nvSpPr>
        <p:spPr/>
        <p:txBody>
          <a:bodyPr/>
          <a:lstStyle/>
          <a:p>
            <a:pPr algn="r">
              <a:buNone/>
            </a:pPr>
            <a:r>
              <a:rPr sz="1100">
                <a:solidFill>
                  <a:srgbClr val="CC0000"/>
                </a:solidFill>
              </a:rPr>
              <a:t>GitHub Advanced Security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3" sz="quarter"/>
          </p:nvPr>
        </p:nvSpPr>
        <p:spPr/>
      </p:sp>
      <p:sp>
        <p:nvSpPr>
          <p:cNvPr id="3" name="Text Placeholder 2"/>
          <p:cNvSpPr>
            <a:spLocks noGrp="1"/>
          </p:cNvSpPr>
          <p:nvPr>
            <p:ph type="body" idx="10" sz="quarter"/>
          </p:nvPr>
        </p:nvSpPr>
        <p:spPr/>
        <p:txBody>
          <a:bodyPr/>
          <a:lstStyle/>
          <a:p>
            <a:pPr algn="l"/>
            <a:r>
              <a:t>Engagement Scope</a:t>
            </a:r>
          </a:p>
        </p:txBody>
      </p:sp>
      <p:graphicFrame>
        <p:nvGraphicFramePr>
          <p:cNvPr id="4" name="Table Placeholder 3"/>
          <p:cNvGraphicFramePr>
            <a:graphicFrameLocks noGrp="1"/>
          </p:cNvGraphicFramePr>
          <p:nvPr>
            <p:ph type="tbl" idx="14" sz="quarter"/>
          </p:nvPr>
        </p:nvGraphicFramePr>
        <p:xfrm>
          <a:off x="256855" y="677011"/>
          <a:ext cx="8710929" cy="2966720"/>
        </p:xfrm>
        <a:graphic>
          <a:graphicData uri="http://schemas.openxmlformats.org/drawingml/2006/table">
            <a:tbl>
              <a:tblPr firstRow="1" bandRow="1">
                <a:tableStyleId>{5C22544A-7EE6-4342-B048-85BDC9FD1C3A}</a:tableStyleId>
              </a:tblPr>
              <a:tblGrid>
                <a:gridCol w="1567967"/>
                <a:gridCol w="2526170"/>
                <a:gridCol w="435546"/>
                <a:gridCol w="1567967"/>
                <a:gridCol w="2613279"/>
              </a:tblGrid>
              <a:tr h="370840">
                <a:tc>
                  <a:txBody>
                    <a:bodyPr/>
                    <a:lstStyle/>
                    <a:p>
                      <a:r>
                        <a:rPr sz="1400">
                          <a:solidFill>
                            <a:srgbClr val="FFFFFF"/>
                          </a:solidFill>
                        </a:rPr>
                        <a:t>Parameter</a:t>
                      </a:r>
                    </a:p>
                  </a:txBody>
                  <a:tcPr>
                    <a:solidFill>
                      <a:srgbClr val="A01C02"/>
                    </a:solidFill>
                  </a:tcPr>
                </a:tc>
                <a:tc>
                  <a:txBody>
                    <a:bodyPr/>
                    <a:lstStyle/>
                    <a:p>
                      <a:r>
                        <a:rPr sz="1400">
                          <a:solidFill>
                            <a:srgbClr val="FFFFFF"/>
                          </a:solidFill>
                        </a:rPr>
                        <a:t>Scope</a:t>
                      </a:r>
                    </a:p>
                  </a:txBody>
                  <a:tcPr>
                    <a:solidFill>
                      <a:srgbClr val="A01C02"/>
                    </a:solidFill>
                  </a:tcPr>
                </a:tc>
                <a:tc>
                  <a:txBody>
                    <a:bodyPr/>
                    <a:lstStyle/>
                    <a:p/>
                  </a:txBody>
                  <a:tcPr>
                    <a:solidFill>
                      <a:srgbClr val="FFFFFF"/>
                    </a:solidFill>
                  </a:tcPr>
                </a:tc>
                <a:tc>
                  <a:txBody>
                    <a:bodyPr/>
                    <a:lstStyle/>
                    <a:p>
                      <a:r>
                        <a:rPr sz="1400">
                          <a:solidFill>
                            <a:srgbClr val="FFFFFF"/>
                          </a:solidFill>
                        </a:rPr>
                        <a:t>Parameter</a:t>
                      </a:r>
                    </a:p>
                  </a:txBody>
                  <a:tcPr>
                    <a:solidFill>
                      <a:srgbClr val="A01C02"/>
                    </a:solidFill>
                  </a:tcPr>
                </a:tc>
                <a:tc>
                  <a:txBody>
                    <a:bodyPr/>
                    <a:lstStyle/>
                    <a:p>
                      <a:r>
                        <a:rPr sz="1400">
                          <a:solidFill>
                            <a:srgbClr val="FFFFFF"/>
                          </a:solidFill>
                        </a:rPr>
                        <a:t>Scope</a:t>
                      </a:r>
                    </a:p>
                  </a:txBody>
                  <a:tcPr>
                    <a:solidFill>
                      <a:srgbClr val="A01C02"/>
                    </a:solidFill>
                  </a:tcPr>
                </a:tc>
              </a:tr>
              <a:tr h="370840">
                <a:tc>
                  <a:txBody>
                    <a:bodyPr/>
                    <a:lstStyle/>
                    <a:p>
                      <a:r>
                        <a:rPr b="1" sz="1100"/>
                        <a:t>Active Developers</a:t>
                      </a:r>
                    </a:p>
                  </a:txBody>
                  <a:tcPr>
                    <a:solidFill>
                      <a:srgbClr val="E7E6E6"/>
                    </a:solidFill>
                  </a:tcPr>
                </a:tc>
                <a:tc>
                  <a:txBody>
                    <a:bodyPr/>
                    <a:lstStyle/>
                    <a:p>
                      <a:r>
                        <a:rPr sz="1100"/>
                        <a:t>100 developers</a:t>
                      </a:r>
                    </a:p>
                  </a:txBody>
                  <a:tcPr>
                    <a:solidFill>
                      <a:srgbClr val="E7E6E6"/>
                    </a:solidFill>
                  </a:tcPr>
                </a:tc>
                <a:tc>
                  <a:txBody>
                    <a:bodyPr/>
                    <a:lstStyle/>
                    <a:p/>
                  </a:txBody>
                  <a:tcPr>
                    <a:solidFill>
                      <a:srgbClr val="FFFFFF"/>
                    </a:solidFill>
                  </a:tcPr>
                </a:tc>
                <a:tc>
                  <a:txBody>
                    <a:bodyPr/>
                    <a:lstStyle/>
                    <a:p>
                      <a:r>
                        <a:rPr b="1" sz="1100"/>
                        <a:t>CodeQL Custom Queries</a:t>
                      </a:r>
                    </a:p>
                  </a:txBody>
                  <a:tcPr>
                    <a:solidFill>
                      <a:srgbClr val="E7E6E6"/>
                    </a:solidFill>
                  </a:tcPr>
                </a:tc>
                <a:tc>
                  <a:txBody>
                    <a:bodyPr/>
                    <a:lstStyle/>
                    <a:p>
                      <a:r>
                        <a:rPr sz="1100"/>
                        <a:t>10-15 custom queries</a:t>
                      </a:r>
                    </a:p>
                  </a:txBody>
                  <a:tcPr>
                    <a:solidFill>
                      <a:srgbClr val="E7E6E6"/>
                    </a:solidFill>
                  </a:tcPr>
                </a:tc>
              </a:tr>
              <a:tr h="370840">
                <a:tc>
                  <a:txBody>
                    <a:bodyPr/>
                    <a:lstStyle/>
                    <a:p>
                      <a:r>
                        <a:rPr b="1" sz="1100"/>
                        <a:t>Active Committers (GHAS)</a:t>
                      </a:r>
                    </a:p>
                  </a:txBody>
                  <a:tcPr>
                    <a:solidFill>
                      <a:srgbClr val="E7E6E6"/>
                    </a:solidFill>
                  </a:tcPr>
                </a:tc>
                <a:tc>
                  <a:txBody>
                    <a:bodyPr/>
                    <a:lstStyle/>
                    <a:p>
                      <a:r>
                        <a:rPr sz="1100"/>
                        <a:t>80 committers (90-day)</a:t>
                      </a:r>
                    </a:p>
                  </a:txBody>
                  <a:tcPr>
                    <a:solidFill>
                      <a:srgbClr val="E7E6E6"/>
                    </a:solidFill>
                  </a:tcPr>
                </a:tc>
                <a:tc>
                  <a:txBody>
                    <a:bodyPr/>
                    <a:lstStyle/>
                    <a:p/>
                  </a:txBody>
                  <a:tcPr>
                    <a:solidFill>
                      <a:srgbClr val="FFFFFF"/>
                    </a:solidFill>
                  </a:tcPr>
                </a:tc>
                <a:tc>
                  <a:txBody>
                    <a:bodyPr/>
                    <a:lstStyle/>
                    <a:p>
                      <a:r>
                        <a:rPr b="1" sz="1100"/>
                        <a:t>GitHub Platform</a:t>
                      </a:r>
                    </a:p>
                  </a:txBody>
                  <a:tcPr>
                    <a:solidFill>
                      <a:srgbClr val="E7E6E6"/>
                    </a:solidFill>
                  </a:tcPr>
                </a:tc>
                <a:tc>
                  <a:txBody>
                    <a:bodyPr/>
                    <a:lstStyle/>
                    <a:p>
                      <a:r>
                        <a:rPr sz="1100"/>
                        <a:t>Enterprise Cloud</a:t>
                      </a:r>
                    </a:p>
                  </a:txBody>
                  <a:tcPr>
                    <a:solidFill>
                      <a:srgbClr val="E7E6E6"/>
                    </a:solidFill>
                  </a:tcPr>
                </a:tc>
              </a:tr>
              <a:tr h="370840">
                <a:tc>
                  <a:txBody>
                    <a:bodyPr/>
                    <a:lstStyle/>
                    <a:p>
                      <a:r>
                        <a:rPr b="1" sz="1100"/>
                        <a:t>Total Repositories</a:t>
                      </a:r>
                    </a:p>
                  </a:txBody>
                  <a:tcPr>
                    <a:solidFill>
                      <a:srgbClr val="E7E6E6"/>
                    </a:solidFill>
                  </a:tcPr>
                </a:tc>
                <a:tc>
                  <a:txBody>
                    <a:bodyPr/>
                    <a:lstStyle/>
                    <a:p>
                      <a:r>
                        <a:rPr sz="1100"/>
                        <a:t>200 repositories</a:t>
                      </a:r>
                    </a:p>
                  </a:txBody>
                  <a:tcPr>
                    <a:solidFill>
                      <a:srgbClr val="E7E6E6"/>
                    </a:solidFill>
                  </a:tcPr>
                </a:tc>
                <a:tc>
                  <a:txBody>
                    <a:bodyPr/>
                    <a:lstStyle/>
                    <a:p/>
                  </a:txBody>
                  <a:tcPr>
                    <a:solidFill>
                      <a:srgbClr val="FFFFFF"/>
                    </a:solidFill>
                  </a:tcPr>
                </a:tc>
                <a:tc>
                  <a:txBody>
                    <a:bodyPr/>
                    <a:lstStyle/>
                    <a:p>
                      <a:r>
                        <a:rPr b="1" sz="1100"/>
                        <a:t>Compliance Frameworks</a:t>
                      </a:r>
                    </a:p>
                  </a:txBody>
                  <a:tcPr>
                    <a:solidFill>
                      <a:srgbClr val="E7E6E6"/>
                    </a:solidFill>
                  </a:tcPr>
                </a:tc>
                <a:tc>
                  <a:txBody>
                    <a:bodyPr/>
                    <a:lstStyle/>
                    <a:p>
                      <a:r>
                        <a:rPr sz="1100"/>
                        <a:t>SOC 2 PCI-DSS</a:t>
                      </a:r>
                    </a:p>
                  </a:txBody>
                  <a:tcPr>
                    <a:solidFill>
                      <a:srgbClr val="E7E6E6"/>
                    </a:solidFill>
                  </a:tcPr>
                </a:tc>
              </a:tr>
              <a:tr h="370840">
                <a:tc>
                  <a:txBody>
                    <a:bodyPr/>
                    <a:lstStyle/>
                    <a:p>
                      <a:r>
                        <a:rPr b="1" sz="1100"/>
                        <a:t>Programming Languages</a:t>
                      </a:r>
                    </a:p>
                  </a:txBody>
                  <a:tcPr>
                    <a:solidFill>
                      <a:srgbClr val="E7E6E6"/>
                    </a:solidFill>
                  </a:tcPr>
                </a:tc>
                <a:tc>
                  <a:txBody>
                    <a:bodyPr/>
                    <a:lstStyle/>
                    <a:p>
                      <a:r>
                        <a:rPr sz="1100"/>
                        <a:t>5-7 languages</a:t>
                      </a:r>
                    </a:p>
                  </a:txBody>
                  <a:tcPr>
                    <a:solidFill>
                      <a:srgbClr val="E7E6E6"/>
                    </a:solidFill>
                  </a:tcPr>
                </a:tc>
                <a:tc>
                  <a:txBody>
                    <a:bodyPr/>
                    <a:lstStyle/>
                    <a:p/>
                  </a:txBody>
                  <a:tcPr>
                    <a:solidFill>
                      <a:srgbClr val="FFFFFF"/>
                    </a:solidFill>
                  </a:tcPr>
                </a:tc>
                <a:tc>
                  <a:txBody>
                    <a:bodyPr/>
                    <a:lstStyle/>
                    <a:p>
                      <a:r>
                        <a:rPr b="1" sz="1100"/>
                        <a:t>Secret Scanning</a:t>
                      </a:r>
                    </a:p>
                  </a:txBody>
                  <a:tcPr>
                    <a:solidFill>
                      <a:srgbClr val="E7E6E6"/>
                    </a:solidFill>
                  </a:tcPr>
                </a:tc>
                <a:tc>
                  <a:txBody>
                    <a:bodyPr/>
                    <a:lstStyle/>
                    <a:p>
                      <a:r>
                        <a:rPr sz="1100"/>
                        <a:t>Partner + custom patterns</a:t>
                      </a:r>
                    </a:p>
                  </a:txBody>
                  <a:tcPr>
                    <a:solidFill>
                      <a:srgbClr val="E7E6E6"/>
                    </a:solidFill>
                  </a:tcPr>
                </a:tc>
              </a:tr>
              <a:tr h="370840">
                <a:tc>
                  <a:txBody>
                    <a:bodyPr/>
                    <a:lstStyle/>
                    <a:p>
                      <a:r>
                        <a:rPr b="1" sz="1100"/>
                        <a:t>CI/CD Platform</a:t>
                      </a:r>
                    </a:p>
                  </a:txBody>
                  <a:tcPr>
                    <a:solidFill>
                      <a:srgbClr val="E7E6E6"/>
                    </a:solidFill>
                  </a:tcPr>
                </a:tc>
                <a:tc>
                  <a:txBody>
                    <a:bodyPr/>
                    <a:lstStyle/>
                    <a:p>
                      <a:r>
                        <a:rPr sz="1100"/>
                        <a:t>GitHub Actions</a:t>
                      </a:r>
                    </a:p>
                  </a:txBody>
                  <a:tcPr>
                    <a:solidFill>
                      <a:srgbClr val="E7E6E6"/>
                    </a:solidFill>
                  </a:tcPr>
                </a:tc>
                <a:tc>
                  <a:txBody>
                    <a:bodyPr/>
                    <a:lstStyle/>
                    <a:p/>
                  </a:txBody>
                  <a:tcPr>
                    <a:solidFill>
                      <a:srgbClr val="FFFFFF"/>
                    </a:solidFill>
                  </a:tcPr>
                </a:tc>
                <a:tc>
                  <a:txBody>
                    <a:bodyPr/>
                    <a:lstStyle/>
                    <a:p>
                      <a:r>
                        <a:rPr b="1" sz="1100"/>
                        <a:t>Deployment Environments</a:t>
                      </a:r>
                    </a:p>
                  </a:txBody>
                  <a:tcPr>
                    <a:solidFill>
                      <a:srgbClr val="E7E6E6"/>
                    </a:solidFill>
                  </a:tcPr>
                </a:tc>
                <a:tc>
                  <a:txBody>
                    <a:bodyPr/>
                    <a:lstStyle/>
                    <a:p>
                      <a:r>
                        <a:rPr sz="1100"/>
                        <a:t>Dev staging production</a:t>
                      </a:r>
                    </a:p>
                  </a:txBody>
                  <a:tcPr>
                    <a:solidFill>
                      <a:srgbClr val="E7E6E6"/>
                    </a:solidFill>
                  </a:tcPr>
                </a:tc>
              </a:tr>
              <a:tr h="370840">
                <a:tc>
                  <a:txBody>
                    <a:bodyPr/>
                    <a:lstStyle/>
                    <a:p>
                      <a:r>
                        <a:rPr b="1" sz="1100"/>
                        <a:t>SIEM Integration</a:t>
                      </a:r>
                    </a:p>
                  </a:txBody>
                  <a:tcPr>
                    <a:solidFill>
                      <a:srgbClr val="E7E6E6"/>
                    </a:solidFill>
                  </a:tcPr>
                </a:tc>
                <a:tc>
                  <a:txBody>
                    <a:bodyPr/>
                    <a:lstStyle/>
                    <a:p>
                      <a:r>
                        <a:rPr sz="1100"/>
                        <a:t>Splunk Azure Sentinel</a:t>
                      </a:r>
                    </a:p>
                  </a:txBody>
                  <a:tcPr>
                    <a:solidFill>
                      <a:srgbClr val="E7E6E6"/>
                    </a:solidFill>
                  </a:tcPr>
                </a:tc>
                <a:tc>
                  <a:txBody>
                    <a:bodyPr/>
                    <a:lstStyle/>
                    <a:p/>
                  </a:txBody>
                  <a:tcPr>
                    <a:solidFill>
                      <a:srgbClr val="FFFFFF"/>
                    </a:solidFill>
                  </a:tcPr>
                </a:tc>
                <a:tc>
                  <a:txBody>
                    <a:bodyPr/>
                    <a:lstStyle/>
                    <a:p>
                      <a:r>
                        <a:rPr b="1" sz="1100"/>
                        <a:t>Security Team Size</a:t>
                      </a:r>
                    </a:p>
                  </a:txBody>
                  <a:tcPr>
                    <a:solidFill>
                      <a:srgbClr val="E7E6E6"/>
                    </a:solidFill>
                  </a:tcPr>
                </a:tc>
                <a:tc>
                  <a:txBody>
                    <a:bodyPr/>
                    <a:lstStyle/>
                    <a:p>
                      <a:r>
                        <a:rPr sz="1100"/>
                        <a:t>3-5 security engineers</a:t>
                      </a:r>
                    </a:p>
                  </a:txBody>
                  <a:tcPr>
                    <a:solidFill>
                      <a:srgbClr val="E7E6E6"/>
                    </a:solidFill>
                  </a:tcPr>
                </a:tc>
              </a:tr>
              <a:tr h="370840">
                <a:tc>
                  <a:txBody>
                    <a:bodyPr/>
                    <a:lstStyle/>
                    <a:p>
                      <a:r>
                        <a:rPr b="1" sz="1100"/>
                        <a:t>Development Teams</a:t>
                      </a:r>
                    </a:p>
                  </a:txBody>
                  <a:tcPr>
                    <a:solidFill>
                      <a:srgbClr val="E7E6E6"/>
                    </a:solidFill>
                  </a:tcPr>
                </a:tc>
                <a:tc>
                  <a:txBody>
                    <a:bodyPr/>
                    <a:lstStyle/>
                    <a:p>
                      <a:r>
                        <a:rPr sz="1100"/>
                        <a:t>8-10 teams</a:t>
                      </a:r>
                    </a:p>
                  </a:txBody>
                  <a:tcPr>
                    <a:solidFill>
                      <a:srgbClr val="E7E6E6"/>
                    </a:solidFill>
                  </a:tcPr>
                </a:tc>
                <a:tc>
                  <a:txBody>
                    <a:bodyPr/>
                    <a:lstStyle/>
                    <a:p/>
                  </a:txBody>
                  <a:tcPr>
                    <a:solidFill>
                      <a:srgbClr val="FFFFFF"/>
                    </a:solidFill>
                  </a:tcPr>
                </a:tc>
                <a:tc>
                  <a:txBody>
                    <a:bodyPr/>
                    <a:lstStyle/>
                    <a:p>
                      <a:r>
                        <a:rPr b="1" sz="1100"/>
                        <a:t>Code Scanning Frequency</a:t>
                      </a:r>
                    </a:p>
                  </a:txBody>
                  <a:tcPr>
                    <a:solidFill>
                      <a:srgbClr val="E7E6E6"/>
                    </a:solidFill>
                  </a:tcPr>
                </a:tc>
                <a:tc>
                  <a:txBody>
                    <a:bodyPr/>
                    <a:lstStyle/>
                    <a:p>
                      <a:r>
                        <a:rPr sz="1100"/>
                        <a:t>Per pull request</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GitHub Advanced Security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4" sz="quarter"/>
          </p:nvPr>
        </p:nvSpPr>
        <p:spPr/>
      </p:sp>
      <p:sp>
        <p:nvSpPr>
          <p:cNvPr id="3" name="Text Placeholder 2"/>
          <p:cNvSpPr>
            <a:spLocks noGrp="1"/>
          </p:cNvSpPr>
          <p:nvPr>
            <p:ph type="body" idx="10" sz="quarter"/>
          </p:nvPr>
        </p:nvSpPr>
        <p:spPr/>
        <p:txBody>
          <a:bodyPr/>
          <a:lstStyle/>
          <a:p>
            <a:pPr algn="l"/>
            <a:r>
              <a:t>Solution Overview</a:t>
            </a:r>
          </a:p>
        </p:txBody>
      </p:sp>
      <p:sp>
        <p:nvSpPr>
          <p:cNvPr id="5" name="Text Placeholder 4"/>
          <p:cNvSpPr>
            <a:spLocks noGrp="1"/>
          </p:cNvSpPr>
          <p:nvPr>
            <p:ph type="body" idx="16" sz="quarter"/>
          </p:nvPr>
        </p:nvSpPr>
        <p:spPr/>
        <p:txBody>
          <a:bodyPr/>
          <a:lstStyle/>
          <a:p>
            <a:pPr/>
            <a:r>
              <a:rPr b="1"/>
              <a:t>Code Scanning</a:t>
            </a:r>
          </a:p>
          <a:p>
            <a:pPr lvl="1"/>
            <a:r>
              <a:t>CodeQL analysis detecting 300+ CWE vulnerability patterns</a:t>
            </a:r>
          </a:p>
          <a:p>
            <a:pPr lvl="1"/>
            <a:r>
              <a:t>SQL injection XSS CSRF authentication bypass path traversal</a:t>
            </a:r>
          </a:p>
          <a:p>
            <a:pPr lvl="1"/>
            <a:r>
              <a:t>Custom queries for company-specific security policies</a:t>
            </a:r>
          </a:p>
          <a:p>
            <a:pPr/>
            <a:r>
              <a:rPr b="1"/>
              <a:t>Security Platform</a:t>
            </a:r>
          </a:p>
          <a:p>
            <a:pPr lvl="1"/>
            <a:r>
              <a:t>Secret scanning for API keys passwords with push protection</a:t>
            </a:r>
          </a:p>
          <a:p>
            <a:pPr lvl="1"/>
            <a:r>
              <a:t>Dependabot for dependency vulnerabilities and automated updates</a:t>
            </a:r>
          </a:p>
          <a:p>
            <a:pPr lvl="1"/>
            <a:r>
              <a:t>Pull request integration blocking merges on critical vulnerabilities</a:t>
            </a:r>
          </a:p>
        </p:txBody>
      </p:sp>
      <p:sp>
        <p:nvSpPr>
          <p:cNvPr id="6" name="Text Placeholder 5"/>
          <p:cNvSpPr>
            <a:spLocks noGrp="1"/>
          </p:cNvSpPr>
          <p:nvPr>
            <p:ph type="body" idx="17" sz="quarter"/>
          </p:nvPr>
        </p:nvSpPr>
        <p:spPr/>
        <p:txBody>
          <a:bodyPr/>
          <a:lstStyle/>
          <a:p>
            <a:pPr algn="r">
              <a:buNone/>
            </a:pPr>
            <a:r>
              <a:rPr sz="1100">
                <a:solidFill>
                  <a:srgbClr val="CC0000"/>
                </a:solidFill>
              </a:rPr>
              <a:t>GitHub Advanced Security</a:t>
            </a:r>
          </a:p>
        </p:txBody>
      </p:sp>
      <p:pic>
        <p:nvPicPr>
          <p:cNvPr id="7" name="Picture 6" descr="architecture-diagram.png"/>
          <p:cNvPicPr>
            <a:picLocks noChangeAspect="1"/>
          </p:cNvPicPr>
          <p:nvPr/>
        </p:nvPicPr>
        <p:blipFill>
          <a:blip r:embed="rId2"/>
          <a:stretch>
            <a:fillRect/>
          </a:stretch>
        </p:blipFill>
        <p:spPr>
          <a:xfrm>
            <a:off x="4662488" y="685799"/>
            <a:ext cx="4337050" cy="3815859"/>
          </a:xfrm>
          <a:prstGeom prst="rect">
            <a:avLst/>
          </a:prstGeom>
          <a:ln w="12700">
            <a:solidFill>
              <a:srgbClr val="C0C0C0"/>
            </a:solidFill>
            <a:prstDash val="solid"/>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3" sz="quarter"/>
          </p:nvPr>
        </p:nvSpPr>
        <p:spPr/>
      </p:sp>
      <p:sp>
        <p:nvSpPr>
          <p:cNvPr id="3" name="Text Placeholder 2"/>
          <p:cNvSpPr>
            <a:spLocks noGrp="1"/>
          </p:cNvSpPr>
          <p:nvPr>
            <p:ph type="body" idx="10" sz="quarter"/>
          </p:nvPr>
        </p:nvSpPr>
        <p:spPr/>
        <p:txBody>
          <a:bodyPr/>
          <a:lstStyle/>
          <a:p>
            <a:pPr algn="l"/>
            <a:r>
              <a:t>Implementation Approach</a:t>
            </a:r>
          </a:p>
        </p:txBody>
      </p:sp>
      <p:sp>
        <p:nvSpPr>
          <p:cNvPr id="4" name="Text Placeholder 3"/>
          <p:cNvSpPr>
            <a:spLocks noGrp="1"/>
          </p:cNvSpPr>
          <p:nvPr>
            <p:ph type="body" idx="14" sz="quarter"/>
          </p:nvPr>
        </p:nvSpPr>
        <p:spPr/>
        <p:txBody>
          <a:bodyPr/>
          <a:lstStyle/>
          <a:p>
            <a:pPr/>
            <a:r>
              <a:rPr b="1"/>
              <a:t>Phase 1: Pilot (Months 1-2)</a:t>
            </a:r>
          </a:p>
          <a:p>
            <a:pPr lvl="1"/>
            <a:r>
              <a:t>Deploy GHAS to 5-10 pilot repositories across different teams and languages</a:t>
            </a:r>
          </a:p>
          <a:p>
            <a:pPr lvl="1"/>
            <a:r>
              <a:t>Configure CodeQL analysis for JavaScript Python Java C# Go</a:t>
            </a:r>
          </a:p>
          <a:p>
            <a:pPr lvl="1"/>
            <a:r>
              <a:t>Establish security policies and pull request merge protection rules</a:t>
            </a:r>
          </a:p>
          <a:p>
            <a:pPr/>
            <a:r>
              <a:rPr b="1"/>
              <a:t>Phase 2: Expansion (Months 3-4)</a:t>
            </a:r>
          </a:p>
          <a:p>
            <a:pPr lvl="1"/>
            <a:r>
              <a:t>Roll out to all 200 repositories with phased team onboarding</a:t>
            </a:r>
          </a:p>
          <a:p>
            <a:pPr lvl="1"/>
            <a:r>
              <a:t>Develop 10-15 custom CodeQL queries for org-specific security patterns</a:t>
            </a:r>
          </a:p>
          <a:p>
            <a:pPr lvl="1"/>
            <a:r>
              <a:t>Integrate with SIEM (Splunk Azure Sentinel) for security event aggregation</a:t>
            </a:r>
          </a:p>
          <a:p>
            <a:pPr/>
            <a:r>
              <a:rPr b="1"/>
              <a:t>Phase 3: Optimization (Months 5-6)</a:t>
            </a:r>
          </a:p>
          <a:p>
            <a:pPr lvl="1"/>
            <a:r>
              <a:t>Fine-tune CodeQL queries based on false positive rates and developer feedback</a:t>
            </a:r>
          </a:p>
          <a:p>
            <a:pPr lvl="1"/>
            <a:r>
              <a:t>Implement security champion program with 8 champions across teams</a:t>
            </a:r>
          </a:p>
          <a:p>
            <a:pPr lvl="1"/>
            <a:r>
              <a:t>Establish vulnerability SLAs: Critical-24h High-7d Medium-30d Low-90d</a:t>
            </a:r>
          </a:p>
        </p:txBody>
      </p:sp>
      <p:sp>
        <p:nvSpPr>
          <p:cNvPr id="5" name="Text Placeholder 4"/>
          <p:cNvSpPr>
            <a:spLocks noGrp="1"/>
          </p:cNvSpPr>
          <p:nvPr>
            <p:ph type="body" idx="15" sz="quarter"/>
          </p:nvPr>
        </p:nvSpPr>
        <p:spPr/>
        <p:txBody>
          <a:bodyPr/>
          <a:lstStyle/>
          <a:p>
            <a:pPr algn="r">
              <a:buNone/>
            </a:pPr>
            <a:r>
              <a:rPr sz="1100">
                <a:solidFill>
                  <a:srgbClr val="CC0000"/>
                </a:solidFill>
              </a:rPr>
              <a:t>GitHub Advanced Security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3" sz="quarter"/>
          </p:nvPr>
        </p:nvSpPr>
        <p:spPr/>
      </p:sp>
      <p:sp>
        <p:nvSpPr>
          <p:cNvPr id="3" name="Text Placeholder 2"/>
          <p:cNvSpPr>
            <a:spLocks noGrp="1"/>
          </p:cNvSpPr>
          <p:nvPr>
            <p:ph type="body" idx="10" sz="quarter"/>
          </p:nvPr>
        </p:nvSpPr>
        <p:spPr/>
        <p:txBody>
          <a:bodyPr/>
          <a:lstStyle/>
          <a:p>
            <a:pPr algn="l"/>
            <a:r>
              <a:t>Timeline &amp; Milestones</a:t>
            </a:r>
          </a:p>
        </p:txBody>
      </p:sp>
      <p:graphicFrame>
        <p:nvGraphicFramePr>
          <p:cNvPr id="4" name="Table Placeholder 3"/>
          <p:cNvGraphicFramePr>
            <a:graphicFrameLocks noGrp="1"/>
          </p:cNvGraphicFramePr>
          <p:nvPr>
            <p:ph type="tbl" idx="14" sz="quarter"/>
          </p:nvPr>
        </p:nvGraphicFramePr>
        <p:xfrm>
          <a:off x="256855" y="677011"/>
          <a:ext cx="8710931" cy="1483360"/>
        </p:xfrm>
        <a:graphic>
          <a:graphicData uri="http://schemas.openxmlformats.org/drawingml/2006/table">
            <a:tbl>
              <a:tblPr firstRow="1" bandRow="1">
                <a:tableStyleId>{5C22544A-7EE6-4342-B048-85BDC9FD1C3A}</a:tableStyleId>
              </a:tblPr>
              <a:tblGrid>
                <a:gridCol w="871093"/>
                <a:gridCol w="2177733"/>
                <a:gridCol w="1306639"/>
                <a:gridCol w="4355466"/>
              </a:tblGrid>
              <a:tr h="370840">
                <a:tc>
                  <a:txBody>
                    <a:bodyPr/>
                    <a:lstStyle/>
                    <a:p>
                      <a:r>
                        <a:rPr sz="1400">
                          <a:solidFill>
                            <a:srgbClr val="FFFFFF"/>
                          </a:solidFill>
                        </a:rPr>
                        <a:t>Phase No</a:t>
                      </a:r>
                    </a:p>
                  </a:txBody>
                  <a:tcPr>
                    <a:solidFill>
                      <a:srgbClr val="A01C02"/>
                    </a:solidFill>
                  </a:tcPr>
                </a:tc>
                <a:tc>
                  <a:txBody>
                    <a:bodyPr/>
                    <a:lstStyle/>
                    <a:p>
                      <a:r>
                        <a:rPr sz="1400">
                          <a:solidFill>
                            <a:srgbClr val="FFFFFF"/>
                          </a:solidFill>
                        </a:rPr>
                        <a:t>Phase Description</a:t>
                      </a:r>
                    </a:p>
                  </a:txBody>
                  <a:tcPr>
                    <a:solidFill>
                      <a:srgbClr val="A01C02"/>
                    </a:solidFill>
                  </a:tcPr>
                </a:tc>
                <a:tc>
                  <a:txBody>
                    <a:bodyPr/>
                    <a:lstStyle/>
                    <a:p>
                      <a:r>
                        <a:rPr sz="1400">
                          <a:solidFill>
                            <a:srgbClr val="FFFFFF"/>
                          </a:solidFill>
                        </a:rPr>
                        <a:t>Timeline</a:t>
                      </a:r>
                    </a:p>
                  </a:txBody>
                  <a:tcPr>
                    <a:solidFill>
                      <a:srgbClr val="A01C02"/>
                    </a:solidFill>
                  </a:tcPr>
                </a:tc>
                <a:tc>
                  <a:txBody>
                    <a:bodyPr/>
                    <a:lstStyle/>
                    <a:p>
                      <a:r>
                        <a:rPr sz="1400">
                          <a:solidFill>
                            <a:srgbClr val="FFFFFF"/>
                          </a:solidFill>
                        </a:rPr>
                        <a:t>Key Deliverables</a:t>
                      </a:r>
                    </a:p>
                  </a:txBody>
                  <a:tcPr>
                    <a:solidFill>
                      <a:srgbClr val="A01C02"/>
                    </a:solidFill>
                  </a:tcPr>
                </a:tc>
              </a:tr>
              <a:tr h="370840">
                <a:tc>
                  <a:txBody>
                    <a:bodyPr/>
                    <a:lstStyle/>
                    <a:p>
                      <a:r>
                        <a:rPr sz="1100"/>
                        <a:t>Phase 1</a:t>
                      </a:r>
                    </a:p>
                  </a:txBody>
                  <a:tcPr>
                    <a:solidFill>
                      <a:srgbClr val="E7E6E6"/>
                    </a:solidFill>
                  </a:tcPr>
                </a:tc>
                <a:tc>
                  <a:txBody>
                    <a:bodyPr/>
                    <a:lstStyle/>
                    <a:p>
                      <a:r>
                        <a:rPr sz="1100"/>
                        <a:t>Pilot &amp; Validation</a:t>
                      </a:r>
                    </a:p>
                  </a:txBody>
                  <a:tcPr>
                    <a:solidFill>
                      <a:srgbClr val="E7E6E6"/>
                    </a:solidFill>
                  </a:tcPr>
                </a:tc>
                <a:tc>
                  <a:txBody>
                    <a:bodyPr/>
                    <a:lstStyle/>
                    <a:p>
                      <a:r>
                        <a:rPr sz="1100"/>
                        <a:t>Months 1-2</a:t>
                      </a:r>
                    </a:p>
                  </a:txBody>
                  <a:tcPr>
                    <a:solidFill>
                      <a:srgbClr val="E7E6E6"/>
                    </a:solidFill>
                  </a:tcPr>
                </a:tc>
                <a:tc>
                  <a:txBody>
                    <a:bodyPr/>
                    <a:lstStyle/>
                    <a:p>
                      <a:r>
                        <a:rPr sz="1100"/>
                        <a:t>10 pilot repos with CodeQL scanning, Security policies configured, Baseline false positive rate established</a:t>
                      </a:r>
                    </a:p>
                  </a:txBody>
                  <a:tcPr>
                    <a:solidFill>
                      <a:srgbClr val="E7E6E6"/>
                    </a:solidFill>
                  </a:tcPr>
                </a:tc>
              </a:tr>
              <a:tr h="370840">
                <a:tc>
                  <a:txBody>
                    <a:bodyPr/>
                    <a:lstStyle/>
                    <a:p>
                      <a:r>
                        <a:rPr sz="1100"/>
                        <a:t>Phase 2</a:t>
                      </a:r>
                    </a:p>
                  </a:txBody>
                  <a:tcPr>
                    <a:solidFill>
                      <a:srgbClr val="E7E6E6"/>
                    </a:solidFill>
                  </a:tcPr>
                </a:tc>
                <a:tc>
                  <a:txBody>
                    <a:bodyPr/>
                    <a:lstStyle/>
                    <a:p>
                      <a:r>
                        <a:rPr sz="1100"/>
                        <a:t>Expansion &amp; Integration</a:t>
                      </a:r>
                    </a:p>
                  </a:txBody>
                  <a:tcPr>
                    <a:solidFill>
                      <a:srgbClr val="E7E6E6"/>
                    </a:solidFill>
                  </a:tcPr>
                </a:tc>
                <a:tc>
                  <a:txBody>
                    <a:bodyPr/>
                    <a:lstStyle/>
                    <a:p>
                      <a:r>
                        <a:rPr sz="1100"/>
                        <a:t>Months 3-4</a:t>
                      </a:r>
                    </a:p>
                  </a:txBody>
                  <a:tcPr>
                    <a:solidFill>
                      <a:srgbClr val="E7E6E6"/>
                    </a:solidFill>
                  </a:tcPr>
                </a:tc>
                <a:tc>
                  <a:txBody>
                    <a:bodyPr/>
                    <a:lstStyle/>
                    <a:p>
                      <a:r>
                        <a:rPr sz="1100"/>
                        <a:t>200 repos with full GHAS coverage, 15 custom CodeQL queries deployed, SIEM integration operational</a:t>
                      </a:r>
                    </a:p>
                  </a:txBody>
                  <a:tcPr>
                    <a:solidFill>
                      <a:srgbClr val="E7E6E6"/>
                    </a:solidFill>
                  </a:tcPr>
                </a:tc>
              </a:tr>
              <a:tr h="370840">
                <a:tc>
                  <a:txBody>
                    <a:bodyPr/>
                    <a:lstStyle/>
                    <a:p>
                      <a:r>
                        <a:rPr sz="1100"/>
                        <a:t>Phase 3</a:t>
                      </a:r>
                    </a:p>
                  </a:txBody>
                  <a:tcPr>
                    <a:solidFill>
                      <a:srgbClr val="E7E6E6"/>
                    </a:solidFill>
                  </a:tcPr>
                </a:tc>
                <a:tc>
                  <a:txBody>
                    <a:bodyPr/>
                    <a:lstStyle/>
                    <a:p>
                      <a:r>
                        <a:rPr sz="1100"/>
                        <a:t>Optimization &amp; Enablement</a:t>
                      </a:r>
                    </a:p>
                  </a:txBody>
                  <a:tcPr>
                    <a:solidFill>
                      <a:srgbClr val="E7E6E6"/>
                    </a:solidFill>
                  </a:tcPr>
                </a:tc>
                <a:tc>
                  <a:txBody>
                    <a:bodyPr/>
                    <a:lstStyle/>
                    <a:p>
                      <a:r>
                        <a:rPr sz="1100"/>
                        <a:t>Months 5-6</a:t>
                      </a:r>
                    </a:p>
                  </a:txBody>
                  <a:tcPr>
                    <a:solidFill>
                      <a:srgbClr val="E7E6E6"/>
                    </a:solidFill>
                  </a:tcPr>
                </a:tc>
                <a:tc>
                  <a:txBody>
                    <a:bodyPr/>
                    <a:lstStyle/>
                    <a:p>
                      <a:r>
                        <a:rPr sz="1100"/>
                        <a:t>CodeQL queries tuned for accuracy, Security champion program established, Vulnerability SLAs operational</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GitHub Advanced Security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3" sz="quarter"/>
          </p:nvPr>
        </p:nvSpPr>
        <p:spPr/>
      </p:sp>
      <p:sp>
        <p:nvSpPr>
          <p:cNvPr id="3" name="Text Placeholder 2"/>
          <p:cNvSpPr>
            <a:spLocks noGrp="1"/>
          </p:cNvSpPr>
          <p:nvPr>
            <p:ph type="body" idx="10" sz="quarter"/>
          </p:nvPr>
        </p:nvSpPr>
        <p:spPr/>
        <p:txBody>
          <a:bodyPr/>
          <a:lstStyle/>
          <a:p>
            <a:pPr algn="l"/>
            <a:r>
              <a:t>Success Stories</a:t>
            </a:r>
          </a:p>
        </p:txBody>
      </p:sp>
      <p:sp>
        <p:nvSpPr>
          <p:cNvPr id="4" name="Text Placeholder 3"/>
          <p:cNvSpPr>
            <a:spLocks noGrp="1"/>
          </p:cNvSpPr>
          <p:nvPr>
            <p:ph type="body" idx="14" sz="quarter"/>
          </p:nvPr>
        </p:nvSpPr>
        <p:spPr/>
        <p:txBody>
          <a:bodyPr/>
          <a:lstStyle/>
          <a:p>
            <a:pPr/>
            <a:r>
              <a:rPr b="1"/>
              <a:t>Client Success: Financial Services Technology Company</a:t>
            </a:r>
          </a:p>
          <a:p>
            <a:pPr lvl="1"/>
            <a:r>
              <a:rPr b="1"/>
              <a:t>Client:</a:t>
            </a:r>
            <a:r>
              <a:t> Global fintech with 300 developers across 500+ repositories</a:t>
            </a:r>
          </a:p>
          <a:p>
            <a:pPr lvl="1"/>
            <a:r>
              <a:rPr b="1"/>
              <a:t>Challenge:</a:t>
            </a:r>
            <a:r>
              <a:t> Manual code reviews missing critical vulnerabilities with 15+ security incidents annually costing $2M in remediation. SOC 2 and PCI-DSS compliance gaps creating audit exposure.</a:t>
            </a:r>
          </a:p>
          <a:p>
            <a:pPr lvl="1"/>
            <a:r>
              <a:rPr b="1"/>
              <a:t>Solution:</a:t>
            </a:r>
            <a:r>
              <a:t> Deployed GitHub Advanced Security with CodeQL SAST, secret scanning with push protection, and Dependabot SCA.</a:t>
            </a:r>
          </a:p>
          <a:p>
            <a:pPr lvl="1"/>
            <a:r>
              <a:rPr b="1"/>
              <a:t>Results:</a:t>
            </a:r>
            <a:r>
              <a:t> 94% of vulnerabilities detected in pull requests before merge, zero secret leaks in 12 months, and $1.8M annual savings. SOC 2 and PCI-DSS compliance validated with zero audit findings. Full ROI achieved in 10 months.</a:t>
            </a:r>
          </a:p>
          <a:p>
            <a:pPr lvl="1"/>
            <a:r>
              <a:rPr b="1"/>
              <a:t>Testimonial:</a:t>
            </a:r>
            <a:r>
              <a:t> "GitHub Advanced Security transformed our security posture from reactive to proactive. CodeQL catches issues our manual reviews missed, and our developers now fix security bugs during development instead of after customer impact." — </a:t>
            </a:r>
            <a:r>
              <a:rPr b="1"/>
              <a:t>Michael Chen</a:t>
            </a:r>
            <a:r>
              <a:t>, CISO</a:t>
            </a:r>
          </a:p>
        </p:txBody>
      </p:sp>
      <p:sp>
        <p:nvSpPr>
          <p:cNvPr id="5" name="Text Placeholder 4"/>
          <p:cNvSpPr>
            <a:spLocks noGrp="1"/>
          </p:cNvSpPr>
          <p:nvPr>
            <p:ph type="body" idx="15" sz="quarter"/>
          </p:nvPr>
        </p:nvSpPr>
        <p:spPr/>
        <p:txBody>
          <a:bodyPr/>
          <a:lstStyle/>
          <a:p>
            <a:pPr algn="r">
              <a:buNone/>
            </a:pPr>
            <a:r>
              <a:rPr sz="1100">
                <a:solidFill>
                  <a:srgbClr val="CC0000"/>
                </a:solidFill>
              </a:rPr>
              <a:t>GitHub Advanced Security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4" sz="quarter"/>
          </p:nvPr>
        </p:nvSpPr>
        <p:spPr/>
      </p:sp>
      <p:sp>
        <p:nvSpPr>
          <p:cNvPr id="3" name="Text Placeholder 2"/>
          <p:cNvSpPr>
            <a:spLocks noGrp="1"/>
          </p:cNvSpPr>
          <p:nvPr>
            <p:ph type="body" idx="10" sz="quarter"/>
          </p:nvPr>
        </p:nvSpPr>
        <p:spPr/>
        <p:txBody>
          <a:bodyPr/>
          <a:lstStyle/>
          <a:p>
            <a:pPr algn="l"/>
            <a:r>
              <a:t>Our Partnership Advantage</a:t>
            </a:r>
          </a:p>
        </p:txBody>
      </p:sp>
      <p:sp>
        <p:nvSpPr>
          <p:cNvPr id="4" name="Text Placeholder 3"/>
          <p:cNvSpPr>
            <a:spLocks noGrp="1"/>
          </p:cNvSpPr>
          <p:nvPr>
            <p:ph type="body" idx="16" sz="quarter"/>
          </p:nvPr>
        </p:nvSpPr>
        <p:spPr/>
        <p:txBody>
          <a:bodyPr/>
          <a:lstStyle/>
          <a:p>
            <a:pPr/>
            <a:r>
              <a:rPr b="1"/>
              <a:t>What We Bring</a:t>
            </a:r>
          </a:p>
          <a:p>
            <a:pPr lvl="1"/>
            <a:r>
              <a:t>5+ years implementing GitHub Advanced Security across enterprise organizations</a:t>
            </a:r>
          </a:p>
          <a:p>
            <a:pPr lvl="1"/>
            <a:r>
              <a:t>30+ successful GHAS deployments for financial services, healthcare, and technology</a:t>
            </a:r>
          </a:p>
          <a:p>
            <a:pPr lvl="1"/>
            <a:r>
              <a:t>GitHub Services Partner with Advanced Security implementation expertise</a:t>
            </a:r>
          </a:p>
          <a:p>
            <a:pPr lvl="1"/>
            <a:r>
              <a:t>Certified security engineers with CodeQL and SAST/SCA specialization</a:t>
            </a:r>
          </a:p>
        </p:txBody>
      </p:sp>
      <p:sp>
        <p:nvSpPr>
          <p:cNvPr id="5" name="Text Placeholder 4"/>
          <p:cNvSpPr>
            <a:spLocks noGrp="1"/>
          </p:cNvSpPr>
          <p:nvPr>
            <p:ph type="body" idx="17" sz="quarter"/>
          </p:nvPr>
        </p:nvSpPr>
        <p:spPr/>
        <p:txBody>
          <a:bodyPr/>
          <a:lstStyle/>
          <a:p>
            <a:pPr/>
            <a:r>
              <a:rPr b="1"/>
              <a:t>Value to You</a:t>
            </a:r>
          </a:p>
          <a:p>
            <a:pPr lvl="1"/>
            <a:r>
              <a:t>Pre-built CodeQL query library for common compliance frameworks (SOC 2, PCI-DSS, HIPAA)</a:t>
            </a:r>
          </a:p>
          <a:p>
            <a:pPr lvl="1"/>
            <a:r>
              <a:t>Proven false positive reduction methodology accelerating developer adoption</a:t>
            </a:r>
          </a:p>
          <a:p>
            <a:pPr lvl="1"/>
            <a:r>
              <a:t>Direct GitHub Advanced Security specialist support through partner network</a:t>
            </a:r>
          </a:p>
          <a:p>
            <a:pPr lvl="1"/>
            <a:r>
              <a:t>Best practices from 30+ implementations avoiding common pitfalls and adoption challenges</a:t>
            </a:r>
          </a:p>
        </p:txBody>
      </p:sp>
      <p:sp>
        <p:nvSpPr>
          <p:cNvPr id="6" name="Text Placeholder 5"/>
          <p:cNvSpPr>
            <a:spLocks noGrp="1"/>
          </p:cNvSpPr>
          <p:nvPr>
            <p:ph type="body" idx="15" sz="quarter"/>
          </p:nvPr>
        </p:nvSpPr>
        <p:spPr/>
        <p:txBody>
          <a:bodyPr/>
          <a:lstStyle/>
          <a:p>
            <a:pPr algn="r">
              <a:buNone/>
            </a:pPr>
            <a:r>
              <a:rPr sz="1100">
                <a:solidFill>
                  <a:srgbClr val="CC0000"/>
                </a:solidFill>
              </a:rPr>
              <a:t>GitHub Advanced Security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3" sz="quarter"/>
          </p:nvPr>
        </p:nvSpPr>
        <p:spPr/>
      </p:sp>
      <p:sp>
        <p:nvSpPr>
          <p:cNvPr id="3" name="Text Placeholder 2"/>
          <p:cNvSpPr>
            <a:spLocks noGrp="1"/>
          </p:cNvSpPr>
          <p:nvPr>
            <p:ph type="body" idx="10" sz="quarter"/>
          </p:nvPr>
        </p:nvSpPr>
        <p:spPr/>
        <p:txBody>
          <a:bodyPr/>
          <a:lstStyle/>
          <a:p>
            <a:pPr algn="l"/>
            <a:r>
              <a:t>Investment Summary</a:t>
            </a:r>
          </a:p>
        </p:txBody>
      </p:sp>
      <p:graphicFrame>
        <p:nvGraphicFramePr>
          <p:cNvPr id="4" name="Table Placeholder 3"/>
          <p:cNvGraphicFramePr>
            <a:graphicFrameLocks noGrp="1"/>
          </p:cNvGraphicFramePr>
          <p:nvPr>
            <p:ph type="tbl" idx="14" sz="quarter"/>
          </p:nvPr>
        </p:nvGraphicFramePr>
        <p:xfrm>
          <a:off x="256855" y="677011"/>
          <a:ext cx="8710930" cy="741680"/>
        </p:xfrm>
        <a:graphic>
          <a:graphicData uri="http://schemas.openxmlformats.org/drawingml/2006/table">
            <a:tbl>
              <a:tblPr firstRow="1" bandRow="1">
                <a:tableStyleId>{5C22544A-7EE6-4342-B048-85BDC9FD1C3A}</a:tableStyleId>
              </a:tblPr>
              <a:tblGrid>
                <a:gridCol w="1997920"/>
                <a:gridCol w="1198752"/>
                <a:gridCol w="1198752"/>
                <a:gridCol w="1198752"/>
                <a:gridCol w="959001"/>
                <a:gridCol w="959001"/>
                <a:gridCol w="1198752"/>
              </a:tblGrid>
              <a:tr h="370840">
                <a:tc>
                  <a:txBody>
                    <a:bodyPr/>
                    <a:lstStyle/>
                    <a:p>
                      <a:r>
                        <a:rPr sz="1400">
                          <a:solidFill>
                            <a:srgbClr val="FFFFFF"/>
                          </a:solidFill>
                        </a:rPr>
                        <a:t>Cost Category</a:t>
                      </a:r>
                    </a:p>
                  </a:txBody>
                  <a:tcPr>
                    <a:solidFill>
                      <a:srgbClr val="A01C02"/>
                    </a:solidFill>
                  </a:tcPr>
                </a:tc>
                <a:tc>
                  <a:txBody>
                    <a:bodyPr/>
                    <a:lstStyle/>
                    <a:p>
                      <a:r>
                        <a:rPr sz="1400">
                          <a:solidFill>
                            <a:srgbClr val="FFFFFF"/>
                          </a:solidFill>
                        </a:rPr>
                        <a:t>Year 1 List</a:t>
                      </a:r>
                    </a:p>
                  </a:txBody>
                  <a:tcPr>
                    <a:solidFill>
                      <a:srgbClr val="A01C02"/>
                    </a:solidFill>
                  </a:tcPr>
                </a:tc>
                <a:tc>
                  <a:txBody>
                    <a:bodyPr/>
                    <a:lstStyle/>
                    <a:p>
                      <a:r>
                        <a:rPr sz="1400">
                          <a:solidFill>
                            <a:srgbClr val="FFFFFF"/>
                          </a:solidFill>
                        </a:rPr>
                        <a:t>Year 1 Credits</a:t>
                      </a:r>
                    </a:p>
                  </a:txBody>
                  <a:tcPr>
                    <a:solidFill>
                      <a:srgbClr val="A01C02"/>
                    </a:solidFill>
                  </a:tcPr>
                </a:tc>
                <a:tc>
                  <a:txBody>
                    <a:bodyPr/>
                    <a:lstStyle/>
                    <a:p>
                      <a:r>
                        <a:rPr sz="1400">
                          <a:solidFill>
                            <a:srgbClr val="FFFFFF"/>
                          </a:solidFill>
                        </a:rPr>
                        <a:t>Year 1 Net</a:t>
                      </a:r>
                    </a:p>
                  </a:txBody>
                  <a:tcPr>
                    <a:solidFill>
                      <a:srgbClr val="A01C02"/>
                    </a:solidFill>
                  </a:tcPr>
                </a:tc>
                <a:tc>
                  <a:txBody>
                    <a:bodyPr/>
                    <a:lstStyle/>
                    <a:p>
                      <a:r>
                        <a:rPr sz="1400">
                          <a:solidFill>
                            <a:srgbClr val="FFFFFF"/>
                          </a:solidFill>
                        </a:rPr>
                        <a:t>Year 2</a:t>
                      </a:r>
                    </a:p>
                  </a:txBody>
                  <a:tcPr>
                    <a:solidFill>
                      <a:srgbClr val="A01C02"/>
                    </a:solidFill>
                  </a:tcPr>
                </a:tc>
                <a:tc>
                  <a:txBody>
                    <a:bodyPr/>
                    <a:lstStyle/>
                    <a:p>
                      <a:r>
                        <a:rPr sz="1400">
                          <a:solidFill>
                            <a:srgbClr val="FFFFFF"/>
                          </a:solidFill>
                        </a:rPr>
                        <a:t>Year 3</a:t>
                      </a:r>
                    </a:p>
                  </a:txBody>
                  <a:tcPr>
                    <a:solidFill>
                      <a:srgbClr val="A01C02"/>
                    </a:solidFill>
                  </a:tcPr>
                </a:tc>
                <a:tc>
                  <a:txBody>
                    <a:bodyPr/>
                    <a:lstStyle/>
                    <a:p>
                      <a:r>
                        <a:rPr sz="1400">
                          <a:solidFill>
                            <a:srgbClr val="FFFFFF"/>
                          </a:solidFill>
                        </a:rPr>
                        <a:t>3-Year Total</a:t>
                      </a:r>
                    </a:p>
                  </a:txBody>
                  <a:tcPr>
                    <a:solidFill>
                      <a:srgbClr val="A01C02"/>
                    </a:solidFill>
                  </a:tcPr>
                </a:tc>
              </a:tr>
              <a:tr h="370840">
                <a:tc>
                  <a:txBody>
                    <a:bodyPr/>
                    <a:lstStyle/>
                    <a:p>
                      <a:r>
                        <a:rPr b="1" sz="1100"/>
                        <a:t>TOTAL</a:t>
                      </a:r>
                    </a:p>
                  </a:txBody>
                  <a:tcPr>
                    <a:solidFill>
                      <a:srgbClr val="E7E6E6"/>
                    </a:solidFill>
                  </a:tcPr>
                </a:tc>
                <a:tc>
                  <a:txBody>
                    <a:bodyPr/>
                    <a:lstStyle/>
                    <a:p>
                      <a:r>
                        <a:rPr b="1" sz="1100"/>
                        <a:t>$0</a:t>
                      </a:r>
                    </a:p>
                  </a:txBody>
                  <a:tcPr>
                    <a:solidFill>
                      <a:srgbClr val="E7E6E6"/>
                    </a:solidFill>
                  </a:tcPr>
                </a:tc>
                <a:tc>
                  <a:txBody>
                    <a:bodyPr/>
                    <a:lstStyle/>
                    <a:p>
                      <a:r>
                        <a:rPr b="1" sz="1100"/>
                        <a:t>$0</a:t>
                      </a:r>
                    </a:p>
                  </a:txBody>
                  <a:tcPr>
                    <a:solidFill>
                      <a:srgbClr val="E7E6E6"/>
                    </a:solidFill>
                  </a:tcPr>
                </a:tc>
                <a:tc>
                  <a:txBody>
                    <a:bodyPr/>
                    <a:lstStyle/>
                    <a:p>
                      <a:r>
                        <a:rPr b="1" sz="1100"/>
                        <a:t>$0</a:t>
                      </a:r>
                    </a:p>
                  </a:txBody>
                  <a:tcPr>
                    <a:solidFill>
                      <a:srgbClr val="E7E6E6"/>
                    </a:solidFill>
                  </a:tcPr>
                </a:tc>
                <a:tc>
                  <a:txBody>
                    <a:bodyPr/>
                    <a:lstStyle/>
                    <a:p>
                      <a:r>
                        <a:rPr b="1" sz="1100"/>
                        <a:t>$0</a:t>
                      </a:r>
                    </a:p>
                  </a:txBody>
                  <a:tcPr>
                    <a:solidFill>
                      <a:srgbClr val="E7E6E6"/>
                    </a:solidFill>
                  </a:tcPr>
                </a:tc>
                <a:tc>
                  <a:txBody>
                    <a:bodyPr/>
                    <a:lstStyle/>
                    <a:p>
                      <a:r>
                        <a:rPr b="1" sz="1100"/>
                        <a:t>$0</a:t>
                      </a:r>
                    </a:p>
                  </a:txBody>
                  <a:tcPr>
                    <a:solidFill>
                      <a:srgbClr val="E7E6E6"/>
                    </a:solidFill>
                  </a:tcPr>
                </a:tc>
                <a:tc>
                  <a:txBody>
                    <a:bodyPr/>
                    <a:lstStyle/>
                    <a:p>
                      <a:r>
                        <a:rPr b="1" sz="1100"/>
                        <a:t>$0</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GitHub Advanced Security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3" sz="quarter"/>
          </p:nvPr>
        </p:nvSpPr>
        <p:spPr/>
      </p:sp>
      <p:sp>
        <p:nvSpPr>
          <p:cNvPr id="3" name="Text Placeholder 2"/>
          <p:cNvSpPr>
            <a:spLocks noGrp="1"/>
          </p:cNvSpPr>
          <p:nvPr>
            <p:ph type="body" idx="10" sz="quarter"/>
          </p:nvPr>
        </p:nvSpPr>
        <p:spPr/>
        <p:txBody>
          <a:bodyPr/>
          <a:lstStyle/>
          <a:p>
            <a:pPr algn="l"/>
            <a:r>
              <a:t>Next Steps</a:t>
            </a:r>
          </a:p>
        </p:txBody>
      </p:sp>
      <p:sp>
        <p:nvSpPr>
          <p:cNvPr id="4" name="Text Placeholder 3"/>
          <p:cNvSpPr>
            <a:spLocks noGrp="1"/>
          </p:cNvSpPr>
          <p:nvPr>
            <p:ph type="body" idx="14" sz="quarter"/>
          </p:nvPr>
        </p:nvSpPr>
        <p:spPr/>
        <p:txBody>
          <a:bodyPr/>
          <a:lstStyle/>
          <a:p>
            <a:pPr/>
            <a:r>
              <a:rPr b="1"/>
              <a:t>Decision:</a:t>
            </a:r>
            <a:r>
              <a:t> Executive approval for GHAS pilot phase by [specific date]</a:t>
            </a:r>
          </a:p>
          <a:p>
            <a:pPr/>
            <a:r>
              <a:rPr b="1"/>
              <a:t>Kickoff:</a:t>
            </a:r>
            <a:r>
              <a:t> Target pilot start within 30 days of approval with 5-10 repositories</a:t>
            </a:r>
          </a:p>
          <a:p>
            <a:pPr/>
            <a:r>
              <a:rPr b="1"/>
              <a:t>Team Formation:</a:t>
            </a:r>
            <a:r>
              <a:t> Identify security champions (1-2 per team), platform admin, and security team lead</a:t>
            </a:r>
          </a:p>
          <a:p>
            <a:pPr/>
            <a:r>
              <a:rPr b="1"/>
              <a:t>Week 1-2:</a:t>
            </a:r>
            <a:r>
              <a:t> Contract finalization and GitHub Enterprise Cloud account setup</a:t>
            </a:r>
          </a:p>
          <a:p>
            <a:pPr/>
            <a:r>
              <a:rPr b="1"/>
              <a:t>Week 3-4:</a:t>
            </a:r>
            <a:r>
              <a:t> Pilot repository enablement and first CodeQL scans operational</a:t>
            </a:r>
          </a:p>
        </p:txBody>
      </p:sp>
      <p:sp>
        <p:nvSpPr>
          <p:cNvPr id="5" name="Text Placeholder 4"/>
          <p:cNvSpPr>
            <a:spLocks noGrp="1"/>
          </p:cNvSpPr>
          <p:nvPr>
            <p:ph type="body" idx="15" sz="quarter"/>
          </p:nvPr>
        </p:nvSpPr>
        <p:spPr/>
        <p:txBody>
          <a:bodyPr/>
          <a:lstStyle/>
          <a:p>
            <a:pPr algn="r">
              <a:buNone/>
            </a:pPr>
            <a:r>
              <a:rPr sz="1100">
                <a:solidFill>
                  <a:srgbClr val="CC0000"/>
                </a:solidFill>
              </a:rPr>
              <a:t>GitHub Advanced Security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sp>
      <p:sp>
        <p:nvSpPr>
          <p:cNvPr id="3" name="Text Placeholder 2"/>
          <p:cNvSpPr>
            <a:spLocks noGrp="1"/>
          </p:cNvSpPr>
          <p:nvPr>
            <p:ph type="body" idx="12" sz="quarter"/>
          </p:nvPr>
        </p:nvSpPr>
        <p:spPr/>
        <p:txBody>
          <a:bodyPr/>
          <a:lstStyle/>
          <a:p>
            <a:r>
              <a:t>Thank You</a:t>
            </a:r>
          </a:p>
        </p:txBody>
      </p:sp>
      <p:sp>
        <p:nvSpPr>
          <p:cNvPr id="4" name="Picture Placeholder 3"/>
          <p:cNvSpPr>
            <a:spLocks noGrp="1"/>
          </p:cNvSpPr>
          <p:nvPr>
            <p:ph type="pic" idx="13" sz="quarter"/>
          </p:nvPr>
        </p:nvSpPr>
        <p:spPr/>
      </p:sp>
      <p:sp>
        <p:nvSpPr>
          <p:cNvPr id="5" name="Text Placeholder 4"/>
          <p:cNvSpPr>
            <a:spLocks noGrp="1"/>
          </p:cNvSpPr>
          <p:nvPr>
            <p:ph type="body" idx="14" sz="quarter"/>
          </p:nvPr>
        </p:nvSpPr>
        <p:spPr/>
        <p:txBody>
          <a:bodyPr/>
          <a:lstStyle/>
          <a:p/>
        </p:txBody>
      </p:sp>
      <p:sp>
        <p:nvSpPr>
          <p:cNvPr id="6" name="Text Placeholder 5"/>
          <p:cNvSpPr>
            <a:spLocks noGrp="1"/>
          </p:cNvSpPr>
          <p:nvPr>
            <p:ph type="body" idx="15" sz="quarter"/>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440</TotalTime>
  <Words>42</Words>
  <Application>Microsoft Office PowerPoint</Application>
  <PresentationFormat>On-screen Show (16:9)</PresentationFormat>
  <Paragraphs>21</Paragraphs>
  <Slides>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EOFramework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EOFramework Template</dc:title>
  <dc:subject>PptxGenJS Presentation</dc:subject>
  <dc:creator>EOFramework</dc:creator>
  <cp:lastModifiedBy>Kishan Siram</cp:lastModifiedBy>
  <cp:revision>85</cp:revision>
  <dcterms:created xsi:type="dcterms:W3CDTF">2025-11-01T21:16:10Z</dcterms:created>
  <dcterms:modified xsi:type="dcterms:W3CDTF">2025-11-22T23:24:48Z</dcterms:modified>
</cp:coreProperties>
</file>