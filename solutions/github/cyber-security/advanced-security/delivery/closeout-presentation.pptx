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*Opening Statement:*</a:t>
            </a:r>
          </a:p>
          <a:p>
            <a:r>
              <a:t>Good [morning/afternoon]. Today we're celebrating the successful completion of the GitHub Advanced Security implementation. This project has transformed [Client Name]'s application security from reactive to proactive, integrating automated vulnerability detection directly into developer workflows.</a:t>
            </a:r>
          </a:p>
          <a:p/>
          <a:p>
            <a:r>
              <a:t>*Key Talking Points - Expand on Each Bullet:*</a:t>
            </a:r>
          </a:p>
          <a:p/>
          <a:p>
            <a:r>
              <a:t>**Project Duration - 6 Months:**</a:t>
            </a:r>
          </a:p>
          <a:p>
            <a:r>
              <a:t>- We executed exactly as planned in the Statement of Work</a:t>
            </a:r>
          </a:p>
          <a:p>
            <a:r>
              <a:t>- Phase 1 (Discovery &amp; Assessment): Weeks 1-3 - Security assessment and GHAS architecture design</a:t>
            </a:r>
          </a:p>
          <a:p>
            <a:r>
              <a:t>- Phase 2 (Pilot &amp; Validation): Weeks 4-6 - 10 pilot repositories secured with CodeQL</a:t>
            </a:r>
          </a:p>
          <a:p>
            <a:r>
              <a:t>- Phase 3 (Expansion &amp; Integration): Weeks 7-16 - 200 repositories rolled out</a:t>
            </a:r>
          </a:p>
          <a:p>
            <a:r>
              <a:t>- Phase 4 (Testing &amp; Validation): Weeks 17-20 - Detection accuracy validated</a:t>
            </a:r>
          </a:p>
          <a:p>
            <a:r>
              <a:t>- Phase 5 (Handover): Weeks 21-26 - Knowledge transfer and hypercare complete</a:t>
            </a:r>
          </a:p>
          <a:p/>
          <a:p>
            <a:r>
              <a:t>**Budget - $588,000 Year 1:**</a:t>
            </a:r>
          </a:p>
          <a:p>
            <a:r>
              <a:t>- Professional Services: $77,700 (259 hours as quoted)</a:t>
            </a:r>
          </a:p>
          <a:p>
            <a:r>
              <a:t>- GitHub Enterprise Cloud: $210,000 (100 users @ $2,100/user/year)</a:t>
            </a:r>
          </a:p>
          <a:p>
            <a:r>
              <a:t>- GitHub Advanced Security: $201,600 (80 committers @ $2,520/committer/year)</a:t>
            </a:r>
          </a:p>
          <a:p>
            <a:r>
              <a:t>- GitHub Actions: $11,700 (50,000 minutes + additional)</a:t>
            </a:r>
          </a:p>
          <a:p>
            <a:r>
              <a:t>- Third-Party Tools: $20,000 (Datadog, PagerDuty, JIRA integration)</a:t>
            </a:r>
          </a:p>
          <a:p>
            <a:r>
              <a:t>- Support &amp; Maintenance: $67,000 (optional managed services)</a:t>
            </a:r>
          </a:p>
          <a:p>
            <a:r>
              <a:t>- Actual spend: $587,412 - $588 under budget</a:t>
            </a:r>
          </a:p>
          <a:p/>
          <a:p>
            <a:r>
              <a:t>**Go-Live - Week 22:**</a:t>
            </a:r>
          </a:p>
          <a:p>
            <a:r>
              <a:t>- Followed pilot-validate-expand strategy exactly as planned</a:t>
            </a:r>
          </a:p>
          <a:p>
            <a:r>
              <a:t>- Weeks 1-6: Pilot with 10 repositories across different languages</a:t>
            </a:r>
          </a:p>
          <a:p>
            <a:r>
              <a:t>- Weeks 7-16: Phased rollout 20-30 repositories per week</a:t>
            </a:r>
          </a:p>
          <a:p>
            <a:r>
              <a:t>- Weeks 17-20: Detection accuracy tuning and validation</a:t>
            </a:r>
          </a:p>
          <a:p>
            <a:r>
              <a:t>- Zero rollback events required during rollout</a:t>
            </a:r>
          </a:p>
          <a:p/>
          <a:p>
            <a:r>
              <a:t>**Quality - Zero Critical Defects:**</a:t>
            </a:r>
          </a:p>
          <a:p>
            <a:r>
              <a:t>- All custom CodeQL queries validated with &lt;10% false positive rate</a:t>
            </a:r>
          </a:p>
          <a:p>
            <a:r>
              <a:t>- No security policy enforcement issues at go-live</a:t>
            </a:r>
          </a:p>
          <a:p>
            <a:r>
              <a:t>- 3 minor configuration issues resolved during hypercare</a:t>
            </a:r>
          </a:p>
          <a:p>
            <a:r>
              <a:t>- Developer satisfaction: 4.5/5.0 rating</a:t>
            </a:r>
          </a:p>
          <a:p/>
          <a:p>
            <a:r>
              <a:t>**Detection Rate - 96.2%:**</a:t>
            </a:r>
          </a:p>
          <a:p>
            <a:r>
              <a:t>- Target was 95%+ per SOW</a:t>
            </a:r>
          </a:p>
          <a:p>
            <a:r>
              <a:t>- CodeQL detection across 5 languages: 96.2% average</a:t>
            </a:r>
          </a:p>
          <a:p>
            <a:r>
              <a:t>- JavaScript/TypeScript: 97.1%</a:t>
            </a:r>
          </a:p>
          <a:p>
            <a:r>
              <a:t>- Python: 96.8%</a:t>
            </a:r>
          </a:p>
          <a:p>
            <a:r>
              <a:t>- Java: 95.4%</a:t>
            </a:r>
          </a:p>
          <a:p>
            <a:r>
              <a:t>- C#: 95.8%</a:t>
            </a:r>
          </a:p>
          <a:p>
            <a:r>
              <a:t>- Go: 96.1%</a:t>
            </a:r>
          </a:p>
          <a:p>
            <a:r>
              <a:t>- Validated against 500 known vulnerability patterns</a:t>
            </a:r>
          </a:p>
          <a:p/>
          <a:p>
            <a:r>
              <a:t>**Secret Leaks - Zero Post-Deployment:**</a:t>
            </a:r>
          </a:p>
          <a:p>
            <a:r>
              <a:t>- Push protection blocking 100% effective</a:t>
            </a:r>
          </a:p>
          <a:p>
            <a:r>
              <a:t>- 847 secret commit attempts blocked in first month</a:t>
            </a:r>
          </a:p>
          <a:p>
            <a:r>
              <a:t>- Historical scanning identified 23 legacy secrets for rotation</a:t>
            </a:r>
          </a:p>
          <a:p>
            <a:r>
              <a:t>- Custom patterns catching proprietary API keys</a:t>
            </a:r>
          </a:p>
          <a:p/>
          <a:p>
            <a:r>
              <a:t>**ROI - 10-Month Payback:**</a:t>
            </a:r>
          </a:p>
          <a:p>
            <a:r>
              <a:t>- Annual security incident cost reduction: $500K+ (prevented breaches)</a:t>
            </a:r>
          </a:p>
          <a:p>
            <a:r>
              <a:t>- Manual security review time savings: $96,000/year (2 FTEs)</a:t>
            </a:r>
          </a:p>
          <a:p>
            <a:r>
              <a:t>- Compliance audit efficiency: $50,000/year reduction</a:t>
            </a:r>
          </a:p>
          <a:p>
            <a:r>
              <a:t>- Total Year 1 benefit: $650,000+ vs $588,000 investment</a:t>
            </a:r>
          </a:p>
          <a:p/>
          <a:p>
            <a:r>
              <a:t>*Transition to Next Slide:*</a:t>
            </a:r>
          </a:p>
          <a:p>
            <a:r>
              <a:t>"Let me walk you through exactly what we built together..."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*Architecture Overview - Walk Through the Diagram:*</a:t>
            </a:r>
          </a:p>
          <a:p/>
          <a:p>
            <a:r>
              <a:t>"This diagram shows the production architecture we deployed. Let me walk through the security scanning flow..."</a:t>
            </a:r>
          </a:p>
          <a:p/>
          <a:p>
            <a:r>
              <a:t>**Code Scanning Layer - GitHub CodeQL:**</a:t>
            </a:r>
          </a:p>
          <a:p>
            <a:r>
              <a:t>- Primary static application security testing (SAST) engine</a:t>
            </a:r>
          </a:p>
          <a:p>
            <a:r>
              <a:t>- Semantic code analysis detecting complex vulnerability patterns</a:t>
            </a:r>
          </a:p>
          <a:p>
            <a:r>
              <a:t>- Languages enabled per SOW:</a:t>
            </a:r>
          </a:p>
          <a:p>
            <a:r>
              <a:t>  - JavaScript/TypeScript (Node.js, React, Angular)</a:t>
            </a:r>
          </a:p>
          <a:p>
            <a:r>
              <a:t>  - Python (Django, Flask, FastAPI)</a:t>
            </a:r>
          </a:p>
          <a:p>
            <a:r>
              <a:t>  - Java (Spring Boot, Hibernate)</a:t>
            </a:r>
          </a:p>
          <a:p>
            <a:r>
              <a:t>  - C# (.NET Core, ASP.NET)</a:t>
            </a:r>
          </a:p>
          <a:p>
            <a:r>
              <a:t>  - Go (microservices, CLI tools)</a:t>
            </a:r>
          </a:p>
          <a:p>
            <a:r>
              <a:t>- 300+ built-in CWE vulnerability patterns</a:t>
            </a:r>
          </a:p>
          <a:p>
            <a:r>
              <a:t>- 15 custom CodeQL queries for organization-specific patterns</a:t>
            </a:r>
          </a:p>
          <a:p>
            <a:r>
              <a:t>- Pull request integration blocking merges on critical vulnerabilities</a:t>
            </a:r>
          </a:p>
          <a:p>
            <a:r>
              <a:t>- Current accuracy: 96.2% across all codebases</a:t>
            </a:r>
          </a:p>
          <a:p/>
          <a:p>
            <a:r>
              <a:t>**Secret Scanning Layer:**</a:t>
            </a:r>
          </a:p>
          <a:p>
            <a:r>
              <a:t>- Partner pattern detection for 200+ secret types:</a:t>
            </a:r>
          </a:p>
          <a:p>
            <a:r>
              <a:t>  - AWS Access Keys and Secret Keys</a:t>
            </a:r>
          </a:p>
          <a:p>
            <a:r>
              <a:t>  - Azure Service Principals and Connection Strings</a:t>
            </a:r>
          </a:p>
          <a:p>
            <a:r>
              <a:t>  - GCP Service Account Keys</a:t>
            </a:r>
          </a:p>
          <a:p>
            <a:r>
              <a:t>  - Stripe, Twilio, SendGrid API Keys</a:t>
            </a:r>
          </a:p>
          <a:p>
            <a:r>
              <a:t>  - Database connection strings</a:t>
            </a:r>
          </a:p>
          <a:p>
            <a:r>
              <a:t>- Custom pattern detection for proprietary APIs:</a:t>
            </a:r>
          </a:p>
          <a:p>
            <a:r>
              <a:t>  - Internal API keys matching organization patterns</a:t>
            </a:r>
          </a:p>
          <a:p>
            <a:r>
              <a:t>  - Service tokens for internal microservices</a:t>
            </a:r>
          </a:p>
          <a:p>
            <a:r>
              <a:t>  - Legacy system credentials</a:t>
            </a:r>
          </a:p>
          <a:p>
            <a:r>
              <a:t>- Push protection enabled organization-wide:</a:t>
            </a:r>
          </a:p>
          <a:p>
            <a:r>
              <a:t>  - Real-time blocking prevents secrets from reaching repositories</a:t>
            </a:r>
          </a:p>
          <a:p>
            <a:r>
              <a:t>  - 847 blocked attempts in first 30 days</a:t>
            </a:r>
          </a:p>
          <a:p>
            <a:r>
              <a:t>  - Developer education through blocking messages</a:t>
            </a:r>
          </a:p>
          <a:p>
            <a:r>
              <a:t>- Secret validity checking for GitHub, AWS, Azure partners</a:t>
            </a:r>
          </a:p>
          <a:p/>
          <a:p>
            <a:r>
              <a:t>**Dependency Scanning Layer - Dependabot:**</a:t>
            </a:r>
          </a:p>
          <a:p>
            <a:r>
              <a:t>- Automated vulnerability alerts for all dependencies</a:t>
            </a:r>
          </a:p>
          <a:p>
            <a:r>
              <a:t>- Package managers supported per SOW:</a:t>
            </a:r>
          </a:p>
          <a:p>
            <a:r>
              <a:t>  - npm (JavaScript)</a:t>
            </a:r>
          </a:p>
          <a:p>
            <a:r>
              <a:t>  - pip/Poetry (Python)</a:t>
            </a:r>
          </a:p>
          <a:p>
            <a:r>
              <a:t>  - Maven/Gradle (Java)</a:t>
            </a:r>
          </a:p>
          <a:p>
            <a:r>
              <a:t>  - NuGet (C#)</a:t>
            </a:r>
          </a:p>
          <a:p>
            <a:r>
              <a:t>  - Go modules</a:t>
            </a:r>
          </a:p>
          <a:p>
            <a:r>
              <a:t>- Automated security update pull requests</a:t>
            </a:r>
          </a:p>
          <a:p>
            <a:r>
              <a:t>- Vulnerability prioritization by CVSS severity</a:t>
            </a:r>
          </a:p>
          <a:p/>
          <a:p>
            <a:r>
              <a:t>**Integration Layer - GitHub Actions:**</a:t>
            </a:r>
          </a:p>
          <a:p>
            <a:r>
              <a:t>- CodeQL analysis runs on every pull request</a:t>
            </a:r>
          </a:p>
          <a:p>
            <a:r>
              <a:t>- Workflow triggers:</a:t>
            </a:r>
          </a:p>
          <a:p>
            <a:r>
              <a:t>  - Pull request opened/synchronized</a:t>
            </a:r>
          </a:p>
          <a:p>
            <a:r>
              <a:t>  - Push to default branch</a:t>
            </a:r>
          </a:p>
          <a:p>
            <a:r>
              <a:t>  - Scheduled daily scans (full repository)</a:t>
            </a:r>
          </a:p>
          <a:p>
            <a:r>
              <a:t>- Average scan duration: 8 minutes (target: &lt;15 minutes)</a:t>
            </a:r>
          </a:p>
          <a:p>
            <a:r>
              <a:t>- Parallel scanning for large repositories</a:t>
            </a:r>
          </a:p>
          <a:p/>
          <a:p>
            <a:r>
              <a:t>**SIEM Integration (Splunk/Azure Sentinel):**</a:t>
            </a:r>
          </a:p>
          <a:p>
            <a:r>
              <a:t>- Webhook integration for security alerts</a:t>
            </a:r>
          </a:p>
          <a:p>
            <a:r>
              <a:t>- Event types forwarded:</a:t>
            </a:r>
          </a:p>
          <a:p>
            <a:r>
              <a:t>  - Code scanning alerts (new, fixed, dismissed)</a:t>
            </a:r>
          </a:p>
          <a:p>
            <a:r>
              <a:t>  - Secret scanning alerts</a:t>
            </a:r>
          </a:p>
          <a:p>
            <a:r>
              <a:t>  - Dependabot alerts</a:t>
            </a:r>
          </a:p>
          <a:p>
            <a:r>
              <a:t>  - Audit log events</a:t>
            </a:r>
          </a:p>
          <a:p>
            <a:r>
              <a:t>- ~500 events/day to SIEM</a:t>
            </a:r>
          </a:p>
          <a:p>
            <a:r>
              <a:t>- Correlation with other security tools</a:t>
            </a:r>
          </a:p>
          <a:p/>
          <a:p>
            <a:r>
              <a:t>**Issue Tracking Integration (JIRA/ServiceNow):**</a:t>
            </a:r>
          </a:p>
          <a:p>
            <a:r>
              <a:t>- Automatic ticket creation for critical/high vulnerabilities</a:t>
            </a:r>
          </a:p>
          <a:p>
            <a:r>
              <a:t>- Fields mapped: severity, CWE, file path, remediation guidance</a:t>
            </a:r>
          </a:p>
          <a:p>
            <a:r>
              <a:t>- SLA tracking: Critical-24h, High-7d, Medium-30d, Low-90d</a:t>
            </a:r>
          </a:p>
          <a:p>
            <a:r>
              <a:t>- ~200 tickets created in first month</a:t>
            </a:r>
          </a:p>
          <a:p/>
          <a:p>
            <a:r>
              <a:t>**Key Architecture Decisions Made During Implementation:**</a:t>
            </a:r>
          </a:p>
          <a:p>
            <a:r>
              <a:t>1. Enabled push protection organization-wide (not just alerts)</a:t>
            </a:r>
          </a:p>
          <a:p>
            <a:r>
              <a:t>2. Configured merge blocking for critical vulnerabilities</a:t>
            </a:r>
          </a:p>
          <a:p>
            <a:r>
              <a:t>3. Set 85% confidence threshold for A2I-equivalent manual review</a:t>
            </a:r>
          </a:p>
          <a:p>
            <a:r>
              <a:t>4. Used GitHub-hosted runners (no self-hosted required at this scale)</a:t>
            </a:r>
          </a:p>
          <a:p/>
          <a:p>
            <a:r>
              <a:t>**Scalability Characteristics:**</a:t>
            </a:r>
          </a:p>
          <a:p>
            <a:r>
              <a:t>- Current: 100 developers, 200 repositories</a:t>
            </a:r>
          </a:p>
          <a:p>
            <a:r>
              <a:t>- Capacity: Can scale to 500+ developers with license increase only</a:t>
            </a:r>
          </a:p>
          <a:p>
            <a:r>
              <a:t>- No architectural changes needed to scale</a:t>
            </a:r>
          </a:p>
          <a:p/>
          <a:p>
            <a:r>
              <a:t>**Security Implementation:**</a:t>
            </a:r>
          </a:p>
          <a:p>
            <a:r>
              <a:t>- SAML SSO integration with corporate IdP</a:t>
            </a:r>
          </a:p>
          <a:p>
            <a:r>
              <a:t>- Multi-factor authentication enforced</a:t>
            </a:r>
          </a:p>
          <a:p>
            <a:r>
              <a:t>- Organization-wide security policies</a:t>
            </a:r>
          </a:p>
          <a:p>
            <a:r>
              <a:t>- Audit logging via GitHub audit log API</a:t>
            </a:r>
          </a:p>
          <a:p/>
          <a:p>
            <a:r>
              <a:t>*Transition:*</a:t>
            </a:r>
          </a:p>
          <a:p>
            <a:r>
              <a:t>"Now let me show you the complete deliverables package we're handing over..."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*Deliverables Deep Dive - Review Each Item:*</a:t>
            </a:r>
          </a:p>
          <a:p/>
          <a:p>
            <a:r>
              <a:t>**1. Solution Architecture Document (detailed-design.docx):**</a:t>
            </a:r>
          </a:p>
          <a:p>
            <a:r>
              <a:t>- 35 pages comprehensive technical documentation</a:t>
            </a:r>
          </a:p>
          <a:p>
            <a:r>
              <a:t>- Sections include:</a:t>
            </a:r>
          </a:p>
          <a:p>
            <a:r>
              <a:t>  - Executive Summary and business context</a:t>
            </a:r>
          </a:p>
          <a:p>
            <a:r>
              <a:t>  - Current state security assessment</a:t>
            </a:r>
          </a:p>
          <a:p>
            <a:r>
              <a:t>  - GHAS architecture and configuration</a:t>
            </a:r>
          </a:p>
          <a:p>
            <a:r>
              <a:t>  - CodeQL language configurations</a:t>
            </a:r>
          </a:p>
          <a:p>
            <a:r>
              <a:t>  - Secret scanning patterns and rules</a:t>
            </a:r>
          </a:p>
          <a:p>
            <a:r>
              <a:t>  - Dependabot configuration</a:t>
            </a:r>
          </a:p>
          <a:p>
            <a:r>
              <a:t>  - Integration specifications</a:t>
            </a:r>
          </a:p>
          <a:p>
            <a:r>
              <a:t>  - Security policy enforcement rules</a:t>
            </a:r>
          </a:p>
          <a:p>
            <a:r>
              <a:t>- Reviewed and accepted by [Security Lead] on [Date]</a:t>
            </a:r>
          </a:p>
          <a:p>
            <a:r>
              <a:t>- Living document - recommend annual review</a:t>
            </a:r>
          </a:p>
          <a:p/>
          <a:p>
            <a:r>
              <a:t>**2. Implementation Guide (implementation-guide.docx):**</a:t>
            </a:r>
          </a:p>
          <a:p>
            <a:r>
              <a:t>- Step-by-step GHAS deployment procedures</a:t>
            </a:r>
          </a:p>
          <a:p>
            <a:r>
              <a:t>- Prerequisites checklist</a:t>
            </a:r>
          </a:p>
          <a:p>
            <a:r>
              <a:t>- GitHub Actions workflow templates</a:t>
            </a:r>
          </a:p>
          <a:p>
            <a:r>
              <a:t>- CodeQL configuration examples</a:t>
            </a:r>
          </a:p>
          <a:p>
            <a:r>
              <a:t>- Post-deployment verification steps</a:t>
            </a:r>
          </a:p>
          <a:p>
            <a:r>
              <a:t>- Rollback procedures</a:t>
            </a:r>
          </a:p>
          <a:p>
            <a:r>
              <a:t>- Validated by rebuilding staging organization from scratch</a:t>
            </a:r>
          </a:p>
          <a:p/>
          <a:p>
            <a:r>
              <a:t>**3. Project Plan (project-plan.xlsx):**</a:t>
            </a:r>
          </a:p>
          <a:p>
            <a:r>
              <a:t>- Four worksheets:</a:t>
            </a:r>
          </a:p>
          <a:p>
            <a:r>
              <a:t>  1. Project Timeline - 37 tasks across 6 months</a:t>
            </a:r>
          </a:p>
          <a:p>
            <a:r>
              <a:t>  2. Milestones - 9 major milestones tracked</a:t>
            </a:r>
          </a:p>
          <a:p>
            <a:r>
              <a:t>  3. RACI Matrix - 20 activities with clear ownership</a:t>
            </a:r>
          </a:p>
          <a:p>
            <a:r>
              <a:t>  4. Communications Plan - 11 meeting types defined</a:t>
            </a:r>
          </a:p>
          <a:p>
            <a:r>
              <a:t>- All milestones achieved on or ahead of schedule</a:t>
            </a:r>
          </a:p>
          <a:p>
            <a:r>
              <a:t>- Final status: 100% complete</a:t>
            </a:r>
          </a:p>
          <a:p/>
          <a:p>
            <a:r>
              <a:t>**4. Test Plan &amp; Results (test-plan.xlsx):**</a:t>
            </a:r>
          </a:p>
          <a:p>
            <a:r>
              <a:t>- Three test categories:</a:t>
            </a:r>
          </a:p>
          <a:p>
            <a:r>
              <a:t>  1. Functional Tests - 14 test cases (100% pass)</a:t>
            </a:r>
          </a:p>
          <a:p>
            <a:r>
              <a:t>  2. Non-Functional Tests - 14 test cases (100% pass)</a:t>
            </a:r>
          </a:p>
          <a:p>
            <a:r>
              <a:t>  3. User Acceptance Tests - 10 test cases (100% pass)</a:t>
            </a:r>
          </a:p>
          <a:p>
            <a:r>
              <a:t>- Detection accuracy validation dataset: 500 vulnerabilities</a:t>
            </a:r>
          </a:p>
          <a:p>
            <a:r>
              <a:t>- False positive rate: 8% (target &lt;10%)</a:t>
            </a:r>
          </a:p>
          <a:p/>
          <a:p>
            <a:r>
              <a:t>**5. Custom CodeQL Queries (15 queries):**</a:t>
            </a:r>
          </a:p>
          <a:p>
            <a:r>
              <a:t>- Organization-specific security patterns:</a:t>
            </a:r>
          </a:p>
          <a:p>
            <a:r>
              <a:t>  - Proprietary API key validation</a:t>
            </a:r>
          </a:p>
          <a:p>
            <a:r>
              <a:t>  - Internal authentication patterns</a:t>
            </a:r>
          </a:p>
          <a:p>
            <a:r>
              <a:t>  - Custom SQL injection variations</a:t>
            </a:r>
          </a:p>
          <a:p>
            <a:r>
              <a:t>  - Legacy system security patterns</a:t>
            </a:r>
          </a:p>
          <a:p>
            <a:r>
              <a:t>- Queries version-controlled in dedicated repository</a:t>
            </a:r>
          </a:p>
          <a:p>
            <a:r>
              <a:t>- Documentation and usage examples included</a:t>
            </a:r>
          </a:p>
          <a:p/>
          <a:p>
            <a:r>
              <a:t>**6. Operations Runbook:**</a:t>
            </a:r>
          </a:p>
          <a:p>
            <a:r>
              <a:t>- Daily operations checklist</a:t>
            </a:r>
          </a:p>
          <a:p>
            <a:r>
              <a:t>- Alert triage procedures by severity</a:t>
            </a:r>
          </a:p>
          <a:p>
            <a:r>
              <a:t>- False positive handling workflow</a:t>
            </a:r>
          </a:p>
          <a:p>
            <a:r>
              <a:t>- SIEM alert correlation guide</a:t>
            </a:r>
          </a:p>
          <a:p>
            <a:r>
              <a:t>- Escalation procedures</a:t>
            </a:r>
          </a:p>
          <a:p>
            <a:r>
              <a:t>- CodeQL query tuning guidance</a:t>
            </a:r>
          </a:p>
          <a:p/>
          <a:p>
            <a:r>
              <a:t>**7. Training Materials:**</a:t>
            </a:r>
          </a:p>
          <a:p>
            <a:r>
              <a:t>- Security Champion Guide (PDF, 30 pages)</a:t>
            </a:r>
          </a:p>
          <a:p>
            <a:r>
              <a:t>- Developer Quick Start Guide (PDF, 15 pages)</a:t>
            </a:r>
          </a:p>
          <a:p>
            <a:r>
              <a:t>- Video tutorials (5 recordings, 60 minutes total):</a:t>
            </a:r>
          </a:p>
          <a:p>
            <a:r>
              <a:t>  1. CodeQL alert remediation</a:t>
            </a:r>
          </a:p>
          <a:p>
            <a:r>
              <a:t>  2. Secret scanning workflow</a:t>
            </a:r>
          </a:p>
          <a:p>
            <a:r>
              <a:t>  3. Dependabot PR management</a:t>
            </a:r>
          </a:p>
          <a:p>
            <a:r>
              <a:t>  4. Security policy compliance</a:t>
            </a:r>
          </a:p>
          <a:p>
            <a:r>
              <a:t>  5. Admin dashboard overview</a:t>
            </a:r>
          </a:p>
          <a:p>
            <a:r>
              <a:t>- Quick reference cards (laminated)</a:t>
            </a:r>
          </a:p>
          <a:p/>
          <a:p>
            <a:r>
              <a:t>**8. SIEM Integration Configuration:**</a:t>
            </a:r>
          </a:p>
          <a:p>
            <a:r>
              <a:t>- Webhook configuration for Splunk/Sentinel</a:t>
            </a:r>
          </a:p>
          <a:p>
            <a:r>
              <a:t>- Event schema documentation</a:t>
            </a:r>
          </a:p>
          <a:p>
            <a:r>
              <a:t>- Sample queries for security dashboards</a:t>
            </a:r>
          </a:p>
          <a:p>
            <a:r>
              <a:t>- Alert correlation rules</a:t>
            </a:r>
          </a:p>
          <a:p/>
          <a:p>
            <a:r>
              <a:t>*Training Sessions Delivered:*</a:t>
            </a:r>
          </a:p>
          <a:p>
            <a:r>
              <a:t>- Security Champion Training: 3 sessions, 12 champions, 100% certification</a:t>
            </a:r>
          </a:p>
          <a:p>
            <a:r>
              <a:t>- Developer Training: 8 sessions, 100 developers, 95% completion</a:t>
            </a:r>
          </a:p>
          <a:p>
            <a:r>
              <a:t>- Admin Training: 2 sessions, 5 administrators</a:t>
            </a:r>
          </a:p>
          <a:p>
            <a:r>
              <a:t>- Total training hours delivered: 24 hours</a:t>
            </a:r>
          </a:p>
          <a:p/>
          <a:p>
            <a:r>
              <a:t>*Transition:*</a:t>
            </a:r>
          </a:p>
          <a:p>
            <a:r>
              <a:t>"Let's look at how the solution is performing against our targets..."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*Quality &amp; Performance Deep Dive:*</a:t>
            </a:r>
          </a:p>
          <a:p/>
          <a:p>
            <a:r>
              <a:t>**Detection Metrics - Detailed Breakdown:**</a:t>
            </a:r>
          </a:p>
          <a:p/>
          <a:p>
            <a:r>
              <a:t>*Overall Detection Accuracy: 96.2%*</a:t>
            </a:r>
          </a:p>
          <a:p>
            <a:r>
              <a:t>- Measured against 500 known vulnerability patterns</a:t>
            </a:r>
          </a:p>
          <a:p>
            <a:r>
              <a:t>- Ground truth created from CVE database and custom test cases</a:t>
            </a:r>
          </a:p>
          <a:p>
            <a:r>
              <a:t>- Calculation methodology:</a:t>
            </a:r>
          </a:p>
          <a:p>
            <a:r>
              <a:t>  - True positives / (True positives + False negatives)</a:t>
            </a:r>
          </a:p>
          <a:p>
            <a:r>
              <a:t>  - Weighted by vulnerability severity</a:t>
            </a:r>
          </a:p>
          <a:p/>
          <a:p>
            <a:r>
              <a:t>*JavaScript/TypeScript: 97.1% Accuracy*</a:t>
            </a:r>
          </a:p>
          <a:p>
            <a:r>
              <a:t>- Highest accuracy due to mature CodeQL support</a:t>
            </a:r>
          </a:p>
          <a:p>
            <a:r>
              <a:t>- Vulnerability types detected:</a:t>
            </a:r>
          </a:p>
          <a:p>
            <a:r>
              <a:t>  - Cross-site scripting (XSS): 98.2%</a:t>
            </a:r>
          </a:p>
          <a:p>
            <a:r>
              <a:t>  - SQL injection: 97.5%</a:t>
            </a:r>
          </a:p>
          <a:p>
            <a:r>
              <a:t>  - Path traversal: 96.8%</a:t>
            </a:r>
          </a:p>
          <a:p>
            <a:r>
              <a:t>  - Prototype pollution: 95.4%</a:t>
            </a:r>
          </a:p>
          <a:p>
            <a:r>
              <a:t>  - Insecure dependencies: 97.1%</a:t>
            </a:r>
          </a:p>
          <a:p>
            <a:r>
              <a:t>- Most common false negatives: Complex obfuscated patterns</a:t>
            </a:r>
          </a:p>
          <a:p/>
          <a:p>
            <a:r>
              <a:t>*Python: 96.8% Accuracy*</a:t>
            </a:r>
          </a:p>
          <a:p>
            <a:r>
              <a:t>- Strong coverage for Django, Flask, FastAPI</a:t>
            </a:r>
          </a:p>
          <a:p>
            <a:r>
              <a:t>- Vulnerability types detected:</a:t>
            </a:r>
          </a:p>
          <a:p>
            <a:r>
              <a:t>  - SQL injection: 97.2%</a:t>
            </a:r>
          </a:p>
          <a:p>
            <a:r>
              <a:t>  - Command injection: 96.5%</a:t>
            </a:r>
          </a:p>
          <a:p>
            <a:r>
              <a:t>  - SSRF: 95.8%</a:t>
            </a:r>
          </a:p>
          <a:p>
            <a:r>
              <a:t>  - Deserialization: 96.2%</a:t>
            </a:r>
          </a:p>
          <a:p>
            <a:r>
              <a:t>- Custom queries added for Django-specific patterns</a:t>
            </a:r>
          </a:p>
          <a:p/>
          <a:p>
            <a:r>
              <a:t>*Java: 95.4% Accuracy*</a:t>
            </a:r>
          </a:p>
          <a:p>
            <a:r>
              <a:t>- Good coverage for Spring Boot applications</a:t>
            </a:r>
          </a:p>
          <a:p>
            <a:r>
              <a:t>- Vulnerability types detected:</a:t>
            </a:r>
          </a:p>
          <a:p>
            <a:r>
              <a:t>  - SQL injection: 96.1%</a:t>
            </a:r>
          </a:p>
          <a:p>
            <a:r>
              <a:t>  - LDAP injection: 94.8%</a:t>
            </a:r>
          </a:p>
          <a:p>
            <a:r>
              <a:t>  - XXE: 95.2%</a:t>
            </a:r>
          </a:p>
          <a:p>
            <a:r>
              <a:t>  - Insecure deserialization: 95.4%</a:t>
            </a:r>
          </a:p>
          <a:p>
            <a:r>
              <a:t>- Some legacy patterns require custom queries</a:t>
            </a:r>
          </a:p>
          <a:p/>
          <a:p>
            <a:r>
              <a:t>*False Positive Rate: 8%*</a:t>
            </a:r>
          </a:p>
          <a:p>
            <a:r>
              <a:t>- Target: &lt;10% per SOW</a:t>
            </a:r>
          </a:p>
          <a:p>
            <a:r>
              <a:t>- Breakdown by language:</a:t>
            </a:r>
          </a:p>
          <a:p>
            <a:r>
              <a:t>  - JavaScript: 6%</a:t>
            </a:r>
          </a:p>
          <a:p>
            <a:r>
              <a:t>  - Python: 7%</a:t>
            </a:r>
          </a:p>
          <a:p>
            <a:r>
              <a:t>  - Java: 10%</a:t>
            </a:r>
          </a:p>
          <a:p>
            <a:r>
              <a:t>  - C#: 9%</a:t>
            </a:r>
          </a:p>
          <a:p>
            <a:r>
              <a:t>  - Go: 7%</a:t>
            </a:r>
          </a:p>
          <a:p>
            <a:r>
              <a:t>- Tuning performed during pilot phase</a:t>
            </a:r>
          </a:p>
          <a:p>
            <a:r>
              <a:t>- Custom dismiss rules for known safe patterns</a:t>
            </a:r>
          </a:p>
          <a:p/>
          <a:p>
            <a:r>
              <a:t>**Performance Metrics - Detailed Analysis:**</a:t>
            </a:r>
          </a:p>
          <a:p/>
          <a:p>
            <a:r>
              <a:t>*PR Scan Duration: 8 Minutes Average*</a:t>
            </a:r>
          </a:p>
          <a:p>
            <a:r>
              <a:t>- SOW target: &lt;15 minutes per pull request</a:t>
            </a:r>
          </a:p>
          <a:p>
            <a:r>
              <a:t>- Breakdown by repository size:</a:t>
            </a:r>
          </a:p>
          <a:p>
            <a:r>
              <a:t>  - Small (&lt;10K LOC): 3 minutes</a:t>
            </a:r>
          </a:p>
          <a:p>
            <a:r>
              <a:t>  - Medium (10-50K LOC): 8 minutes</a:t>
            </a:r>
          </a:p>
          <a:p>
            <a:r>
              <a:t>  - Large (&gt;50K LOC): 12 minutes</a:t>
            </a:r>
          </a:p>
          <a:p>
            <a:r>
              <a:t>- Optimization: Incremental analysis for changed files only</a:t>
            </a:r>
          </a:p>
          <a:p/>
          <a:p>
            <a:r>
              <a:t>*Push Protection Latency: &lt;2 Seconds*</a:t>
            </a:r>
          </a:p>
          <a:p>
            <a:r>
              <a:t>- Real-time blocking at git push</a:t>
            </a:r>
          </a:p>
          <a:p>
            <a:r>
              <a:t>- Developer experience not impacted</a:t>
            </a:r>
          </a:p>
          <a:p>
            <a:r>
              <a:t>- Clear error messages with remediation guidance</a:t>
            </a:r>
          </a:p>
          <a:p/>
          <a:p>
            <a:r>
              <a:t>*Secret Blocking Rate: 100%*</a:t>
            </a:r>
          </a:p>
          <a:p>
            <a:r>
              <a:t>- 847 blocked attempts in first 30 days</a:t>
            </a:r>
          </a:p>
          <a:p>
            <a:r>
              <a:t>- Common blocked secrets:</a:t>
            </a:r>
          </a:p>
          <a:p>
            <a:r>
              <a:t>  - AWS credentials: 312</a:t>
            </a:r>
          </a:p>
          <a:p>
            <a:r>
              <a:t>  - API keys: 287</a:t>
            </a:r>
          </a:p>
          <a:p>
            <a:r>
              <a:t>  - Database passwords: 148</a:t>
            </a:r>
          </a:p>
          <a:p>
            <a:r>
              <a:t>  - Tokens: 100</a:t>
            </a:r>
          </a:p>
          <a:p/>
          <a:p>
            <a:r>
              <a:t>*SIEM Alert Latency: &lt;30 Seconds*</a:t>
            </a:r>
          </a:p>
          <a:p>
            <a:r>
              <a:t>- Webhook delivery to Splunk/Sentinel</a:t>
            </a:r>
          </a:p>
          <a:p>
            <a:r>
              <a:t>- End-to-end visibility for SOC team</a:t>
            </a:r>
          </a:p>
          <a:p/>
          <a:p>
            <a:r>
              <a:t>**Testing Summary:**</a:t>
            </a:r>
          </a:p>
          <a:p>
            <a:r>
              <a:t>- Test Cases Executed: 38 total</a:t>
            </a:r>
          </a:p>
          <a:p>
            <a:r>
              <a:t>- Pass Rate: 100%</a:t>
            </a:r>
          </a:p>
          <a:p>
            <a:r>
              <a:t>- Detection Coverage: 96.2%</a:t>
            </a:r>
          </a:p>
          <a:p>
            <a:r>
              <a:t>- Critical Defects at Go-Live: 0</a:t>
            </a:r>
          </a:p>
          <a:p>
            <a:r>
              <a:t>- Hypercare Issues: 3 (all P3, resolved)</a:t>
            </a:r>
          </a:p>
          <a:p/>
          <a:p>
            <a:r>
              <a:t>**Comparison to SOW Targets:**</a:t>
            </a:r>
          </a:p>
          <a:p>
            <a:r>
              <a:t>| Metric | SOW Target | Achieved | Status |</a:t>
            </a:r>
          </a:p>
          <a:p>
            <a:r>
              <a:t>|--------|------------|----------|--------|</a:t>
            </a:r>
          </a:p>
          <a:p>
            <a:r>
              <a:t>| Detection Accuracy | 95%+ | 96.2% | Exceeded |</a:t>
            </a:r>
          </a:p>
          <a:p>
            <a:r>
              <a:t>| PR Scan Duration | &lt;15 min | 8 min | Exceeded |</a:t>
            </a:r>
          </a:p>
          <a:p>
            <a:r>
              <a:t>| False Positive Rate | &lt;10% | 8% | Met |</a:t>
            </a:r>
          </a:p>
          <a:p>
            <a:r>
              <a:t>| Repository Coverage | 100% | 100% | Met |</a:t>
            </a:r>
          </a:p>
          <a:p/>
          <a:p>
            <a:r>
              <a:t>*Transition:*</a:t>
            </a:r>
          </a:p>
          <a:p>
            <a:r>
              <a:t>"These detection improvements translate directly into business value. Let me show you the benefits we're already seeing..."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*Benefits Analysis - Detailed ROI Discussion:*</a:t>
            </a:r>
          </a:p>
          <a:p/>
          <a:p>
            <a:r>
              <a:t>**Vulnerability Detection - 96.2% Pre-Merge:**</a:t>
            </a:r>
          </a:p>
          <a:p/>
          <a:p>
            <a:r>
              <a:t>*Before (Manual Security Reviews):*</a:t>
            </a:r>
          </a:p>
          <a:p>
            <a:r>
              <a:t>- Security team reviewing ~30% of pull requests</a:t>
            </a:r>
          </a:p>
          <a:p>
            <a:r>
              <a:t>- 60-70% of vulnerabilities reaching production</a:t>
            </a:r>
          </a:p>
          <a:p>
            <a:r>
              <a:t>- Average vulnerability dwell time: 120+ days</a:t>
            </a:r>
          </a:p>
          <a:p>
            <a:r>
              <a:t>- Emergency remediation cost: $15,000+ per incident</a:t>
            </a:r>
          </a:p>
          <a:p/>
          <a:p>
            <a:r>
              <a:t>*After (Automated GHAS Scanning):*</a:t>
            </a:r>
          </a:p>
          <a:p>
            <a:r>
              <a:t>- 100% of pull requests scanned</a:t>
            </a:r>
          </a:p>
          <a:p>
            <a:r>
              <a:t>- 96.2% of vulnerabilities blocked pre-merge</a:t>
            </a:r>
          </a:p>
          <a:p>
            <a:r>
              <a:t>- Average time to detection: &lt;8 minutes</a:t>
            </a:r>
          </a:p>
          <a:p>
            <a:r>
              <a:t>- Developer fixes during same PR cycle</a:t>
            </a:r>
          </a:p>
          <a:p/>
          <a:p>
            <a:r>
              <a:t>*Business Impact:*</a:t>
            </a:r>
          </a:p>
          <a:p>
            <a:r>
              <a:t>- Estimated 500+ vulnerabilities blocked in Year 1</a:t>
            </a:r>
          </a:p>
          <a:p>
            <a:r>
              <a:t>- $500K+ potential incident cost avoidance</a:t>
            </a:r>
          </a:p>
          <a:p>
            <a:r>
              <a:t>- Compliance audit findings: Zero security gaps</a:t>
            </a:r>
          </a:p>
          <a:p/>
          <a:p>
            <a:r>
              <a:t>**Secret Protection - Zero Post-Deployment Leaks:**</a:t>
            </a:r>
          </a:p>
          <a:p/>
          <a:p>
            <a:r>
              <a:t>*Push Protection Statistics (First 30 Days):*</a:t>
            </a:r>
          </a:p>
          <a:p>
            <a:r>
              <a:t>| Secret Type | Blocked | Percentage |</a:t>
            </a:r>
          </a:p>
          <a:p>
            <a:r>
              <a:t>|-------------|---------|------------|</a:t>
            </a:r>
          </a:p>
          <a:p>
            <a:r>
              <a:t>| AWS Credentials | 312 | 37% |</a:t>
            </a:r>
          </a:p>
          <a:p>
            <a:r>
              <a:t>| Generic API Keys | 287 | 34% |</a:t>
            </a:r>
          </a:p>
          <a:p>
            <a:r>
              <a:t>| Database Passwords | 148 | 17% |</a:t>
            </a:r>
          </a:p>
          <a:p>
            <a:r>
              <a:t>| Service Tokens | 100 | 12% |</a:t>
            </a:r>
          </a:p>
          <a:p>
            <a:r>
              <a:t>| **Total** | **847** | **100%** |</a:t>
            </a:r>
          </a:p>
          <a:p/>
          <a:p>
            <a:r>
              <a:t>*Before Push Protection:*</a:t>
            </a:r>
          </a:p>
          <a:p>
            <a:r>
              <a:t>- Average 2-3 credential leaks per month</a:t>
            </a:r>
          </a:p>
          <a:p>
            <a:r>
              <a:t>- Each leak requiring:</a:t>
            </a:r>
          </a:p>
          <a:p>
            <a:r>
              <a:t>  - Credential rotation</a:t>
            </a:r>
          </a:p>
          <a:p>
            <a:r>
              <a:t>  - Security review</a:t>
            </a:r>
          </a:p>
          <a:p>
            <a:r>
              <a:t>  - Incident documentation</a:t>
            </a:r>
          </a:p>
          <a:p>
            <a:r>
              <a:t>  - Potential breach investigation</a:t>
            </a:r>
          </a:p>
          <a:p>
            <a:r>
              <a:t>- Average cost per incident: $25,000+</a:t>
            </a:r>
          </a:p>
          <a:p/>
          <a:p>
            <a:r>
              <a:t>*After Push Protection:*</a:t>
            </a:r>
          </a:p>
          <a:p>
            <a:r>
              <a:t>- Zero leaks to repositories</a:t>
            </a:r>
          </a:p>
          <a:p>
            <a:r>
              <a:t>- Developer education through blocking messages</a:t>
            </a:r>
          </a:p>
          <a:p>
            <a:r>
              <a:t>- Historical scanning cleaned up 23 legacy secrets</a:t>
            </a:r>
          </a:p>
          <a:p/>
          <a:p>
            <a:r>
              <a:t>**Security Debt Reduction - 65% Year 1:**</a:t>
            </a:r>
          </a:p>
          <a:p/>
          <a:p>
            <a:r>
              <a:t>*Vulnerability Reduction:*</a:t>
            </a:r>
          </a:p>
          <a:p>
            <a:r>
              <a:t>| Severity | Before | After | Reduction |</a:t>
            </a:r>
          </a:p>
          <a:p>
            <a:r>
              <a:t>|----------|--------|-------|-----------|</a:t>
            </a:r>
          </a:p>
          <a:p>
            <a:r>
              <a:t>| Critical | 45 | 8 | 82% |</a:t>
            </a:r>
          </a:p>
          <a:p>
            <a:r>
              <a:t>| High | 187 | 52 | 72% |</a:t>
            </a:r>
          </a:p>
          <a:p>
            <a:r>
              <a:t>| Medium | 423 | 178 | 58% |</a:t>
            </a:r>
          </a:p>
          <a:p>
            <a:r>
              <a:t>| Low | 892 | 401 | 55% |</a:t>
            </a:r>
          </a:p>
          <a:p>
            <a:r>
              <a:t>| **Total** | **1,547** | **639** | **59%** |</a:t>
            </a:r>
          </a:p>
          <a:p/>
          <a:p>
            <a:r>
              <a:t>*Note: Building to 70%+ target by Month 12 with continued remediation</a:t>
            </a:r>
          </a:p>
          <a:p/>
          <a:p>
            <a:r>
              <a:t>**Manual Review Savings - 2 FTEs:**</a:t>
            </a:r>
          </a:p>
          <a:p>
            <a:r>
              <a:t>- Previous: 3 security engineers doing manual code review</a:t>
            </a:r>
          </a:p>
          <a:p>
            <a:r>
              <a:t>- Current: 1 engineer managing automated findings</a:t>
            </a:r>
          </a:p>
          <a:p>
            <a:r>
              <a:t>- 2 FTEs reallocated to:</a:t>
            </a:r>
          </a:p>
          <a:p>
            <a:r>
              <a:t>  - Threat modeling</a:t>
            </a:r>
          </a:p>
          <a:p>
            <a:r>
              <a:t>  - Security architecture</a:t>
            </a:r>
          </a:p>
          <a:p>
            <a:r>
              <a:t>  - Incident response</a:t>
            </a:r>
          </a:p>
          <a:p>
            <a:r>
              <a:t>- No layoffs - internal redeployment</a:t>
            </a:r>
          </a:p>
          <a:p/>
          <a:p>
            <a:r>
              <a:t>**Compliance - Full Audit Trail:**</a:t>
            </a:r>
          </a:p>
          <a:p>
            <a:r>
              <a:t>- GitHub audit log capturing all security events</a:t>
            </a:r>
          </a:p>
          <a:p>
            <a:r>
              <a:t>- Automated evidence collection for:</a:t>
            </a:r>
          </a:p>
          <a:p>
            <a:r>
              <a:t>  - SOC 2 Type II (CC6.1-CC6.8)</a:t>
            </a:r>
          </a:p>
          <a:p>
            <a:r>
              <a:t>  - PCI-DSS (6.5.x secure coding)</a:t>
            </a:r>
          </a:p>
          <a:p>
            <a:r>
              <a:t>  - HIPAA (technical safeguards)</a:t>
            </a:r>
          </a:p>
          <a:p>
            <a:r>
              <a:t>- Audit prep time: 89% reduction</a:t>
            </a:r>
          </a:p>
          <a:p/>
          <a:p>
            <a:r>
              <a:t>**ROI Summary:**</a:t>
            </a:r>
          </a:p>
          <a:p/>
          <a:p>
            <a:r>
              <a:t>| Metric | Value |</a:t>
            </a:r>
          </a:p>
          <a:p>
            <a:r>
              <a:t>|--------|-------|</a:t>
            </a:r>
          </a:p>
          <a:p>
            <a:r>
              <a:t>| Total Investment (Year 1) | $588,000 |</a:t>
            </a:r>
          </a:p>
          <a:p>
            <a:r>
              <a:t>| Year 1 Benefits | $650,000+ |</a:t>
            </a:r>
          </a:p>
          <a:p>
            <a:r>
              <a:t>| Year 1 ROI | 10.5% |</a:t>
            </a:r>
          </a:p>
          <a:p>
            <a:r>
              <a:t>| Payback Period | 10.8 months |</a:t>
            </a:r>
          </a:p>
          <a:p>
            <a:r>
              <a:t>| 3-Year TCO | $1,602,000 |</a:t>
            </a:r>
          </a:p>
          <a:p>
            <a:r>
              <a:t>| 3-Year Benefits | $1,950,000+ |</a:t>
            </a:r>
          </a:p>
          <a:p>
            <a:r>
              <a:t>| 3-Year Net Benefit | $348,000+ |</a:t>
            </a:r>
          </a:p>
          <a:p/>
          <a:p>
            <a:r>
              <a:t>*Transition:*</a:t>
            </a:r>
          </a:p>
          <a:p>
            <a:r>
              <a:t>"We learned valuable lessons during this implementation that will help with future phases..."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*Lessons Learned - Comprehensive Review:*</a:t>
            </a:r>
          </a:p>
          <a:p/>
          <a:p>
            <a:r>
              <a:t>**What Worked Well - Details:**</a:t>
            </a:r>
          </a:p>
          <a:p/>
          <a:p>
            <a:r>
              <a:t>*1. Pilot-Validate-Expand Rollout (Weeks 1-16):*</a:t>
            </a:r>
          </a:p>
          <a:p>
            <a:r>
              <a:t>- Started with 10 diverse repositories across all 5 languages</a:t>
            </a:r>
          </a:p>
          <a:p>
            <a:r>
              <a:t>- Validated 95%+ detection before expansion</a:t>
            </a:r>
          </a:p>
          <a:p>
            <a:r>
              <a:t>- Built stakeholder confidence with measurable results</a:t>
            </a:r>
          </a:p>
          <a:p>
            <a:r>
              <a:t>- Recommendation: Always pilot across representative samples</a:t>
            </a:r>
          </a:p>
          <a:p/>
          <a:p>
            <a:r>
              <a:t>*2. Security Champion Program:*</a:t>
            </a:r>
          </a:p>
          <a:p>
            <a:r>
              <a:t>- 12 champions across 8 development teams</a:t>
            </a:r>
          </a:p>
          <a:p>
            <a:r>
              <a:t>- Champions handled 80% of first-line questions</a:t>
            </a:r>
          </a:p>
          <a:p>
            <a:r>
              <a:t>- Reduced security team escalations by 70%</a:t>
            </a:r>
          </a:p>
          <a:p>
            <a:r>
              <a:t>- Champions became internal advocates for security</a:t>
            </a:r>
          </a:p>
          <a:p/>
          <a:p>
            <a:r>
              <a:t>*3. Push Protection Immediate Enablement:*</a:t>
            </a:r>
          </a:p>
          <a:p>
            <a:r>
              <a:t>- Initial concern: Would block developer productivity</a:t>
            </a:r>
          </a:p>
          <a:p>
            <a:r>
              <a:t>- Reality: Developers appreciated immediate feedback</a:t>
            </a:r>
          </a:p>
          <a:p>
            <a:r>
              <a:t>- 847 blocked secrets = 847 avoided incidents</a:t>
            </a:r>
          </a:p>
          <a:p>
            <a:r>
              <a:t>- Recommendation: Enable push protection day 1</a:t>
            </a:r>
          </a:p>
          <a:p/>
          <a:p>
            <a:r>
              <a:t>*4. Weekly Developer Feedback Sessions:*</a:t>
            </a:r>
          </a:p>
          <a:p>
            <a:r>
              <a:t>- Thursday 2pm feedback sessions during rollout</a:t>
            </a:r>
          </a:p>
          <a:p>
            <a:r>
              <a:t>- Identified false positive patterns early</a:t>
            </a:r>
          </a:p>
          <a:p>
            <a:r>
              <a:t>- Tuned CodeQL queries based on real feedback</a:t>
            </a:r>
          </a:p>
          <a:p>
            <a:r>
              <a:t>- Built developer buy-in through inclusion</a:t>
            </a:r>
          </a:p>
          <a:p/>
          <a:p>
            <a:r>
              <a:t>**Challenges Overcome - Details:**</a:t>
            </a:r>
          </a:p>
          <a:p/>
          <a:p>
            <a:r>
              <a:t>*1. False Positive Tuning for Java (10% → 8%):*</a:t>
            </a:r>
          </a:p>
          <a:p>
            <a:r>
              <a:t>- Challenge: Legacy Spring patterns triggering false positives</a:t>
            </a:r>
          </a:p>
          <a:p>
            <a:r>
              <a:t>- Root cause: Outdated code patterns flagged as vulnerabilities</a:t>
            </a:r>
          </a:p>
          <a:p>
            <a:r>
              <a:t>- Resolution:</a:t>
            </a:r>
          </a:p>
          <a:p>
            <a:r>
              <a:t>  - Custom CodeQL dismiss rules for known safe patterns</a:t>
            </a:r>
          </a:p>
          <a:p>
            <a:r>
              <a:t>  - Developer training on modern secure coding</a:t>
            </a:r>
          </a:p>
          <a:p>
            <a:r>
              <a:t>  - Gradual legacy code remediation</a:t>
            </a:r>
          </a:p>
          <a:p>
            <a:r>
              <a:t>- Result: 10% → 8% false positive rate</a:t>
            </a:r>
          </a:p>
          <a:p/>
          <a:p>
            <a:r>
              <a:t>*2. Legacy Repository Scanning:*</a:t>
            </a:r>
          </a:p>
          <a:p>
            <a:r>
              <a:t>- Challenge: 50 repositories with no recent activity</a:t>
            </a:r>
          </a:p>
          <a:p>
            <a:r>
              <a:t>- Impact: Initial scan generated 500+ alerts</a:t>
            </a:r>
          </a:p>
          <a:p>
            <a:r>
              <a:t>- Resolution:</a:t>
            </a:r>
          </a:p>
          <a:p>
            <a:r>
              <a:t>  - Prioritized by business criticality</a:t>
            </a:r>
          </a:p>
          <a:p>
            <a:r>
              <a:t>  - Created remediation backlog</a:t>
            </a:r>
          </a:p>
          <a:p>
            <a:r>
              <a:t>  - Security debt reduction plan</a:t>
            </a:r>
          </a:p>
          <a:p>
            <a:r>
              <a:t>- Result: 65% reduction in first year</a:t>
            </a:r>
          </a:p>
          <a:p/>
          <a:p>
            <a:r>
              <a:t>*3. SIEM Webhook Configuration:*</a:t>
            </a:r>
          </a:p>
          <a:p>
            <a:r>
              <a:t>- Challenge: Initial event flooding to Splunk</a:t>
            </a:r>
          </a:p>
          <a:p>
            <a:r>
              <a:t>- Resolution:</a:t>
            </a:r>
          </a:p>
          <a:p>
            <a:r>
              <a:t>  - Event filtering at webhook level</a:t>
            </a:r>
          </a:p>
          <a:p>
            <a:r>
              <a:t>  - Severity-based routing</a:t>
            </a:r>
          </a:p>
          <a:p>
            <a:r>
              <a:t>  - Deduplication rules</a:t>
            </a:r>
          </a:p>
          <a:p>
            <a:r>
              <a:t>- Result: Clean, actionable alerts in SOC</a:t>
            </a:r>
          </a:p>
          <a:p/>
          <a:p>
            <a:r>
              <a:t>*4. Developer Adoption Concerns:*</a:t>
            </a:r>
          </a:p>
          <a:p>
            <a:r>
              <a:t>- Challenge: "Security will slow us down"</a:t>
            </a:r>
          </a:p>
          <a:p>
            <a:r>
              <a:t>- Resolution:</a:t>
            </a:r>
          </a:p>
          <a:p>
            <a:r>
              <a:t>  - Demonstrated &lt;8 min scan times</a:t>
            </a:r>
          </a:p>
          <a:p>
            <a:r>
              <a:t>  - Security champion advocacy</a:t>
            </a:r>
          </a:p>
          <a:p>
            <a:r>
              <a:t>  - Clear remediation guidance</a:t>
            </a:r>
          </a:p>
          <a:p>
            <a:r>
              <a:t>  - Celebrated security wins</a:t>
            </a:r>
          </a:p>
          <a:p>
            <a:r>
              <a:t>- Result: 4.5/5.0 developer satisfaction</a:t>
            </a:r>
          </a:p>
          <a:p/>
          <a:p>
            <a:r>
              <a:t>**Recommendations for Future Enhancement:**</a:t>
            </a:r>
          </a:p>
          <a:p/>
          <a:p>
            <a:r>
              <a:t>*1. Add C/C++ Language Scanning:*</a:t>
            </a:r>
          </a:p>
          <a:p>
            <a:r>
              <a:t>- Identified 15 C/C++ repositories during assessment</a:t>
            </a:r>
          </a:p>
          <a:p>
            <a:r>
              <a:t>- CodeQL supports C/C++ with strong detection</a:t>
            </a:r>
          </a:p>
          <a:p>
            <a:r>
              <a:t>- Estimated effort: 4-6 weeks</a:t>
            </a:r>
          </a:p>
          <a:p>
            <a:r>
              <a:t>- Investment: ~$15,000 professional services</a:t>
            </a:r>
          </a:p>
          <a:p/>
          <a:p>
            <a:r>
              <a:t>*2. Implement Custom Secret Patterns:*</a:t>
            </a:r>
          </a:p>
          <a:p>
            <a:r>
              <a:t>- Current: Partner patterns + 5 custom patterns</a:t>
            </a:r>
          </a:p>
          <a:p>
            <a:r>
              <a:t>- Opportunity: Add 10+ proprietary patterns</a:t>
            </a:r>
          </a:p>
          <a:p>
            <a:r>
              <a:t>- Coverage increase: 20% more secrets detected</a:t>
            </a:r>
          </a:p>
          <a:p>
            <a:r>
              <a:t>- Estimated effort: 2-3 weeks</a:t>
            </a:r>
          </a:p>
          <a:p/>
          <a:p>
            <a:r>
              <a:t>*3. Enable GitHub Copilot Security Features:*</a:t>
            </a:r>
          </a:p>
          <a:p>
            <a:r>
              <a:t>- Real-time security suggestions in IDE</a:t>
            </a:r>
          </a:p>
          <a:p>
            <a:r>
              <a:t>- AI-powered vulnerability detection</a:t>
            </a:r>
          </a:p>
          <a:p>
            <a:r>
              <a:t>- Enhanced developer experience</a:t>
            </a:r>
          </a:p>
          <a:p>
            <a:r>
              <a:t>- Requires GitHub Copilot Enterprise license</a:t>
            </a:r>
          </a:p>
          <a:p/>
          <a:p>
            <a:r>
              <a:t>*4. Plan Quarterly Accuracy Reviews:*</a:t>
            </a:r>
          </a:p>
          <a:p>
            <a:r>
              <a:t>- Review detection metrics quarterly</a:t>
            </a:r>
          </a:p>
          <a:p>
            <a:r>
              <a:t>- Tune CodeQL queries based on trends</a:t>
            </a:r>
          </a:p>
          <a:p>
            <a:r>
              <a:t>- Update custom patterns as needed</a:t>
            </a:r>
          </a:p>
          <a:p>
            <a:r>
              <a:t>- Maintain 95%+ detection target</a:t>
            </a:r>
          </a:p>
          <a:p/>
          <a:p>
            <a:r>
              <a:t>**Not Recommended at This Time:**</a:t>
            </a:r>
          </a:p>
          <a:p>
            <a:r>
              <a:t>- Self-hosted CodeQL runners (GitHub-hosted sufficient)</a:t>
            </a:r>
          </a:p>
          <a:p>
            <a:r>
              <a:t>- Third-party SAST tools (GHAS coverage complete)</a:t>
            </a:r>
          </a:p>
          <a:p>
            <a:r>
              <a:t>- Custom ML models (CodeQL detection excellent)</a:t>
            </a:r>
          </a:p>
          <a:p/>
          <a:p>
            <a:r>
              <a:t>*Transition:*</a:t>
            </a:r>
          </a:p>
          <a:p>
            <a:r>
              <a:t>"Let me walk you through how we're transitioning support to your team..."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*Support Transition - Complete Details:*</a:t>
            </a:r>
          </a:p>
          <a:p/>
          <a:p>
            <a:r>
              <a:t>**Hypercare Period Summary (30 Days Post-Go-Live):**</a:t>
            </a:r>
          </a:p>
          <a:p/>
          <a:p>
            <a:r>
              <a:t>*Daily Activities Completed:*</a:t>
            </a:r>
          </a:p>
          <a:p>
            <a:r>
              <a:t>- Morning health check calls (9am) - first 2 weeks</a:t>
            </a:r>
          </a:p>
          <a:p>
            <a:r>
              <a:t>- GitHub Security Overview dashboard review</a:t>
            </a:r>
          </a:p>
          <a:p>
            <a:r>
              <a:t>- SIEM alert volume monitoring</a:t>
            </a:r>
          </a:p>
          <a:p>
            <a:r>
              <a:t>- Developer feedback collection</a:t>
            </a:r>
          </a:p>
          <a:p>
            <a:r>
              <a:t>- Detection accuracy spot checks</a:t>
            </a:r>
          </a:p>
          <a:p/>
          <a:p>
            <a:r>
              <a:t>*Issues Resolved During Hypercare:*</a:t>
            </a:r>
          </a:p>
          <a:p/>
          <a:p>
            <a:r>
              <a:t>Issue #1 (P3) - Day 5:</a:t>
            </a:r>
          </a:p>
          <a:p>
            <a:r>
              <a:t>- Problem: CodeQL scan timeout on large monorepo</a:t>
            </a:r>
          </a:p>
          <a:p>
            <a:r>
              <a:t>- Root cause: 200K+ LOC repository exceeding default timeout</a:t>
            </a:r>
          </a:p>
          <a:p>
            <a:r>
              <a:t>- Resolution: Increased timeout to 60 minutes for specific repo</a:t>
            </a:r>
          </a:p>
          <a:p>
            <a:r>
              <a:t>- Prevention: Added repository size check to workflow</a:t>
            </a:r>
          </a:p>
          <a:p/>
          <a:p>
            <a:r>
              <a:t>Issue #2 (P3) - Day 12:</a:t>
            </a:r>
          </a:p>
          <a:p>
            <a:r>
              <a:t>- Problem: False positive spike on Python type hints</a:t>
            </a:r>
          </a:p>
          <a:p>
            <a:r>
              <a:t>- Root cause: New CodeQL version flagging safe patterns</a:t>
            </a:r>
          </a:p>
          <a:p>
            <a:r>
              <a:t>- Resolution: Added dismiss rule for type hint patterns</a:t>
            </a:r>
          </a:p>
          <a:p>
            <a:r>
              <a:t>- Impact: 3% false positive reduction</a:t>
            </a:r>
          </a:p>
          <a:p/>
          <a:p>
            <a:r>
              <a:t>Issue #3 (P3) - Day 18:</a:t>
            </a:r>
          </a:p>
          <a:p>
            <a:r>
              <a:t>- Problem: SIEM webhook duplicate events</a:t>
            </a:r>
          </a:p>
          <a:p>
            <a:r>
              <a:t>- Root cause: Retry logic sending duplicates</a:t>
            </a:r>
          </a:p>
          <a:p>
            <a:r>
              <a:t>- Resolution: Added idempotency check in webhook</a:t>
            </a:r>
          </a:p>
          <a:p>
            <a:r>
              <a:t>- Result: Clean event stream to SOC</a:t>
            </a:r>
          </a:p>
          <a:p/>
          <a:p>
            <a:r>
              <a:t>*Knowledge Transfer Sessions Delivered:*</a:t>
            </a:r>
          </a:p>
          <a:p/>
          <a:p>
            <a:r>
              <a:t>| Session | Date | Attendees | Duration | Recording |</a:t>
            </a:r>
          </a:p>
          <a:p>
            <a:r>
              <a:t>|---------|------|-----------|----------|-----------|</a:t>
            </a:r>
          </a:p>
          <a:p>
            <a:r>
              <a:t>| Admin Deep Dive | Week 23 | 5 admins | 3 hours | Yes |</a:t>
            </a:r>
          </a:p>
          <a:p>
            <a:r>
              <a:t>| Alert Triage Workshop | Week 23 | 8 security | 2 hours | Yes |</a:t>
            </a:r>
          </a:p>
          <a:p>
            <a:r>
              <a:t>| CodeQL Query Development | Week 24 | 4 developers | 3 hours | Yes |</a:t>
            </a:r>
          </a:p>
          <a:p>
            <a:r>
              <a:t>| Security Champion Certification | Week 24 | 12 champions | 4 hours | Yes |</a:t>
            </a:r>
          </a:p>
          <a:p>
            <a:r>
              <a:t>| Executive Dashboard | Week 25 | 3 managers | 30 min | Yes |</a:t>
            </a:r>
          </a:p>
          <a:p/>
          <a:p>
            <a:r>
              <a:t>*Runbook Validation:*</a:t>
            </a:r>
          </a:p>
          <a:p>
            <a:r>
              <a:t>- All 10 runbook procedures tested by security team</a:t>
            </a:r>
          </a:p>
          <a:p>
            <a:r>
              <a:t>- Signed off by [Security Lead] on [Date]</a:t>
            </a:r>
          </a:p>
          <a:p>
            <a:r>
              <a:t>- Procedures validated:</a:t>
            </a:r>
          </a:p>
          <a:p>
            <a:r>
              <a:t>  1. Daily health check</a:t>
            </a:r>
          </a:p>
          <a:p>
            <a:r>
              <a:t>  2. Critical vulnerability triage</a:t>
            </a:r>
          </a:p>
          <a:p>
            <a:r>
              <a:t>  3. False positive handling</a:t>
            </a:r>
          </a:p>
          <a:p>
            <a:r>
              <a:t>  4. Secret leak response</a:t>
            </a:r>
          </a:p>
          <a:p>
            <a:r>
              <a:t>  5. CodeQL query tuning</a:t>
            </a:r>
          </a:p>
          <a:p>
            <a:r>
              <a:t>  6. SIEM alert investigation</a:t>
            </a:r>
          </a:p>
          <a:p>
            <a:r>
              <a:t>  7. Developer escalation</a:t>
            </a:r>
          </a:p>
          <a:p>
            <a:r>
              <a:t>  8. Compliance reporting</a:t>
            </a:r>
          </a:p>
          <a:p>
            <a:r>
              <a:t>  9. Access management</a:t>
            </a:r>
          </a:p>
          <a:p>
            <a:r>
              <a:t>  10. Emergency contacts</a:t>
            </a:r>
          </a:p>
          <a:p/>
          <a:p>
            <a:r>
              <a:t>**Steady State Support Model:**</a:t>
            </a:r>
          </a:p>
          <a:p/>
          <a:p>
            <a:r>
              <a:t>*What Security Team Handles (L1/L2):*</a:t>
            </a:r>
          </a:p>
          <a:p>
            <a:r>
              <a:t>- Daily Security Overview dashboard review</a:t>
            </a:r>
          </a:p>
          <a:p>
            <a:r>
              <a:t>- Alert triage and assignment</a:t>
            </a:r>
          </a:p>
          <a:p>
            <a:r>
              <a:t>- Developer support and guidance</a:t>
            </a:r>
          </a:p>
          <a:p>
            <a:r>
              <a:t>- False positive management</a:t>
            </a:r>
          </a:p>
          <a:p>
            <a:r>
              <a:t>- Monthly metrics reporting</a:t>
            </a:r>
          </a:p>
          <a:p>
            <a:r>
              <a:t>- Quarterly accuracy reviews</a:t>
            </a:r>
          </a:p>
          <a:p/>
          <a:p>
            <a:r>
              <a:t>*When to Escalate to Vendor (L3):*</a:t>
            </a:r>
          </a:p>
          <a:p>
            <a:r>
              <a:t>- Detection accuracy below 93%</a:t>
            </a:r>
          </a:p>
          <a:p>
            <a:r>
              <a:t>- CodeQL query development needed</a:t>
            </a:r>
          </a:p>
          <a:p>
            <a:r>
              <a:t>- Platform configuration changes</a:t>
            </a:r>
          </a:p>
          <a:p>
            <a:r>
              <a:t>- GitHub service issues</a:t>
            </a:r>
          </a:p>
          <a:p>
            <a:r>
              <a:t>- License scaling needs</a:t>
            </a:r>
          </a:p>
          <a:p/>
          <a:p>
            <a:r>
              <a:t>**Monthly Operational Tasks:**</a:t>
            </a:r>
          </a:p>
          <a:p>
            <a:r>
              <a:t>- Week 1: Review detection metrics, accuracy trends</a:t>
            </a:r>
          </a:p>
          <a:p>
            <a:r>
              <a:t>- Week 2: False positive analysis and tuning</a:t>
            </a:r>
          </a:p>
          <a:p>
            <a:r>
              <a:t>- Week 3: Developer feedback collection</a:t>
            </a:r>
          </a:p>
          <a:p>
            <a:r>
              <a:t>- Week 4: Security metrics report generation</a:t>
            </a:r>
          </a:p>
          <a:p/>
          <a:p>
            <a:r>
              <a:t>**Quarterly Tasks:**</a:t>
            </a:r>
          </a:p>
          <a:p>
            <a:r>
              <a:t>- Detection accuracy validation</a:t>
            </a:r>
          </a:p>
          <a:p>
            <a:r>
              <a:t>- CodeQL query optimization</a:t>
            </a:r>
          </a:p>
          <a:p>
            <a:r>
              <a:t>- Security policy review</a:t>
            </a:r>
          </a:p>
          <a:p>
            <a:r>
              <a:t>- Developer satisfaction survey</a:t>
            </a:r>
          </a:p>
          <a:p/>
          <a:p>
            <a:r>
              <a:t>**Support Contact Information:**</a:t>
            </a:r>
          </a:p>
          <a:p/>
          <a:p>
            <a:r>
              <a:t>| Role | Name | Email | Phone | Availability |</a:t>
            </a:r>
          </a:p>
          <a:p>
            <a:r>
              <a:t>|------|------|-------|-------|--------------|</a:t>
            </a:r>
          </a:p>
          <a:p>
            <a:r>
              <a:t>| Security Lead | [Name] | [email] | [phone] | Business hours |</a:t>
            </a:r>
          </a:p>
          <a:p>
            <a:r>
              <a:t>| Security Champion Lead | [Name] | [email] | [phone] | Business hours |</a:t>
            </a:r>
          </a:p>
          <a:p>
            <a:r>
              <a:t>| On-Call (emergency) | Security Duty | [email] | [phone] | 24/7 |</a:t>
            </a:r>
          </a:p>
          <a:p>
            <a:r>
              <a:t>| Vendor Support (optional) | Support Team | support@vendor.com | 555-xxx-xxxx | Per contract |</a:t>
            </a:r>
          </a:p>
          <a:p/>
          <a:p>
            <a:r>
              <a:t>**Optional Managed Services:**</a:t>
            </a:r>
          </a:p>
          <a:p>
            <a:r>
              <a:t>- Available for ongoing vendor support</a:t>
            </a:r>
          </a:p>
          <a:p>
            <a:r>
              <a:t>- Scope: 24/7 monitoring, proactive tuning, quarterly reviews</a:t>
            </a:r>
          </a:p>
          <a:p>
            <a:r>
              <a:t>- Separate contract required</a:t>
            </a:r>
          </a:p>
          <a:p>
            <a:r>
              <a:t>- Recommended for: Adding new languages, scaling to 500+ developers</a:t>
            </a:r>
          </a:p>
          <a:p/>
          <a:p>
            <a:r>
              <a:t>*Transition:*</a:t>
            </a:r>
          </a:p>
          <a:p>
            <a:r>
              <a:t>"Let me acknowledge the team that made this possible and outline next steps..."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*Acknowledgments - Recognize Key Contributors:*</a:t>
            </a:r>
          </a:p>
          <a:p/>
          <a:p>
            <a:r>
              <a:t>**Security Team Recognition:**</a:t>
            </a:r>
          </a:p>
          <a:p/>
          <a:p>
            <a:r>
              <a:t>*Security Lead - [Name]:*</a:t>
            </a:r>
          </a:p>
          <a:p>
            <a:r>
              <a:t>- Championed GHAS adoption from discovery through go-live</a:t>
            </a:r>
          </a:p>
          <a:p>
            <a:r>
              <a:t>- Defined security policies and enforcement rules</a:t>
            </a:r>
          </a:p>
          <a:p>
            <a:r>
              <a:t>- Led CodeQL query development and tuning</a:t>
            </a:r>
          </a:p>
          <a:p>
            <a:r>
              <a:t>- Key decision: Push protection day 1 enablement</a:t>
            </a:r>
          </a:p>
          <a:p/>
          <a:p>
            <a:r>
              <a:t>*Security Operations - [Name]:*</a:t>
            </a:r>
          </a:p>
          <a:p>
            <a:r>
              <a:t>- SIEM integration design and implementation</a:t>
            </a:r>
          </a:p>
          <a:p>
            <a:r>
              <a:t>- Alert triage workflow definition</a:t>
            </a:r>
          </a:p>
          <a:p>
            <a:r>
              <a:t>- Runbook creation and validation</a:t>
            </a:r>
          </a:p>
          <a:p>
            <a:r>
              <a:t>- Hypercare support leadership</a:t>
            </a:r>
          </a:p>
          <a:p/>
          <a:p>
            <a:r>
              <a:t>*Security Champions (12 across 8 teams):*</a:t>
            </a:r>
          </a:p>
          <a:p>
            <a:r>
              <a:t>- First-line support for developers</a:t>
            </a:r>
          </a:p>
          <a:p>
            <a:r>
              <a:t>- Feedback collection and relay</a:t>
            </a:r>
          </a:p>
          <a:p>
            <a:r>
              <a:t>- Adoption advocacy within teams</a:t>
            </a:r>
          </a:p>
          <a:p>
            <a:r>
              <a:t>- 80% of questions handled at L1</a:t>
            </a:r>
          </a:p>
          <a:p/>
          <a:p>
            <a:r>
              <a:t>**Development Team Recognition:**</a:t>
            </a:r>
          </a:p>
          <a:p/>
          <a:p>
            <a:r>
              <a:t>*Development Leadership:*</a:t>
            </a:r>
          </a:p>
          <a:p>
            <a:r>
              <a:t>- Supported security-first culture shift</a:t>
            </a:r>
          </a:p>
          <a:p>
            <a:r>
              <a:t>- Allocated time for developer training</a:t>
            </a:r>
          </a:p>
          <a:p>
            <a:r>
              <a:t>- Celebrated security wins with teams</a:t>
            </a:r>
          </a:p>
          <a:p/>
          <a:p>
            <a:r>
              <a:t>*8 Development Teams (100 developers):*</a:t>
            </a:r>
          </a:p>
          <a:p>
            <a:r>
              <a:t>- Embraced security scanning in workflows</a:t>
            </a:r>
          </a:p>
          <a:p>
            <a:r>
              <a:t>- Provided critical feedback during pilot</a:t>
            </a:r>
          </a:p>
          <a:p>
            <a:r>
              <a:t>- Achieved 95% training completion</a:t>
            </a:r>
          </a:p>
          <a:p>
            <a:r>
              <a:t>- 4.5/5.0 satisfaction rating</a:t>
            </a:r>
          </a:p>
          <a:p/>
          <a:p>
            <a:r>
              <a:t>**Executive Recognition:**</a:t>
            </a:r>
          </a:p>
          <a:p/>
          <a:p>
            <a:r>
              <a:t>*Executive Sponsor - [Name]:*</a:t>
            </a:r>
          </a:p>
          <a:p>
            <a:r>
              <a:t>- Secured budget and organizational support</a:t>
            </a:r>
          </a:p>
          <a:p>
            <a:r>
              <a:t>- Removed blockers when escalated</a:t>
            </a:r>
          </a:p>
          <a:p>
            <a:r>
              <a:t>- Championed DevSecOps transformation</a:t>
            </a:r>
          </a:p>
          <a:p/>
          <a:p>
            <a:r>
              <a:t>*CISO - [Name]:*</a:t>
            </a:r>
          </a:p>
          <a:p>
            <a:r>
              <a:t>- Strategic direction for application security</a:t>
            </a:r>
          </a:p>
          <a:p>
            <a:r>
              <a:t>- Compliance requirement alignment</a:t>
            </a:r>
          </a:p>
          <a:p>
            <a:r>
              <a:t>- Board-level reporting support</a:t>
            </a:r>
          </a:p>
          <a:p/>
          <a:p>
            <a:r>
              <a:t>**Immediate Next Steps (This Week):**</a:t>
            </a:r>
          </a:p>
          <a:p/>
          <a:p>
            <a:r>
              <a:t>| Task | Owner | Due Date |</a:t>
            </a:r>
          </a:p>
          <a:p>
            <a:r>
              <a:t>|------|-------|----------|</a:t>
            </a:r>
          </a:p>
          <a:p>
            <a:r>
              <a:t>| Final documentation handover | PM | [Date] |</a:t>
            </a:r>
          </a:p>
          <a:p>
            <a:r>
              <a:t>| Archive project artifacts | PM | [Date] |</a:t>
            </a:r>
          </a:p>
          <a:p>
            <a:r>
              <a:t>| Close project tracking | PM | [Date] |</a:t>
            </a:r>
          </a:p>
          <a:p>
            <a:r>
              <a:t>| Update security asset inventory | Security Lead | [Date] |</a:t>
            </a:r>
          </a:p>
          <a:p>
            <a:r>
              <a:t>| Confirm support contacts | Security Lead | [Date] |</a:t>
            </a:r>
          </a:p>
          <a:p/>
          <a:p>
            <a:r>
              <a:t>**30-Day Next Steps:**</a:t>
            </a:r>
          </a:p>
          <a:p/>
          <a:p>
            <a:r>
              <a:t>| Task | Owner | Due Date |</a:t>
            </a:r>
          </a:p>
          <a:p>
            <a:r>
              <a:t>|------|-------|----------|</a:t>
            </a:r>
          </a:p>
          <a:p>
            <a:r>
              <a:t>| First monthly security metrics | Security Lead | [Date+30] |</a:t>
            </a:r>
          </a:p>
          <a:p>
            <a:r>
              <a:t>| Detection accuracy review | Security Operations | [Date+30] |</a:t>
            </a:r>
          </a:p>
          <a:p>
            <a:r>
              <a:t>| Developer satisfaction survey | PM | [Date+30] |</a:t>
            </a:r>
          </a:p>
          <a:p>
            <a:r>
              <a:t>| Identify Phase 2 candidates | Security Lead | [Date+30] |</a:t>
            </a:r>
          </a:p>
          <a:p/>
          <a:p>
            <a:r>
              <a:t>**Quarterly Planning (Next Quarter):**</a:t>
            </a:r>
          </a:p>
          <a:p>
            <a:r>
              <a:t>- Phase 2 planning workshop</a:t>
            </a:r>
          </a:p>
          <a:p>
            <a:r>
              <a:t>- C/C++ language prioritization</a:t>
            </a:r>
          </a:p>
          <a:p>
            <a:r>
              <a:t>- Custom secret pattern roadmap</a:t>
            </a:r>
          </a:p>
          <a:p>
            <a:r>
              <a:t>- Resource planning for expansion</a:t>
            </a:r>
          </a:p>
          <a:p/>
          <a:p>
            <a:r>
              <a:t>**Phase 2 Enhancement Candidates:**</a:t>
            </a:r>
          </a:p>
          <a:p/>
          <a:p>
            <a:r>
              <a:t>| Enhancement | Effort | Est. Investment | Priority |</a:t>
            </a:r>
          </a:p>
          <a:p>
            <a:r>
              <a:t>|-------------|--------|-----------------|----------|</a:t>
            </a:r>
          </a:p>
          <a:p>
            <a:r>
              <a:t>| C/C++ Language Scanning | 4-6 weeks | $15,000 | High |</a:t>
            </a:r>
          </a:p>
          <a:p>
            <a:r>
              <a:t>| Additional Custom Patterns | 2-3 weeks | $8,000 | Medium |</a:t>
            </a:r>
          </a:p>
          <a:p>
            <a:r>
              <a:t>| GitHub Copilot Security | 2 weeks | License cost | Medium |</a:t>
            </a:r>
          </a:p>
          <a:p>
            <a:r>
              <a:t>| Advanced Analytics Dashboard | 3 weeks | $12,000 | Low |</a:t>
            </a:r>
          </a:p>
          <a:p/>
          <a:p>
            <a:r>
              <a:t>Recommendation: Start with C/C++ language scanning (covers remaining codebases)</a:t>
            </a:r>
          </a:p>
          <a:p/>
          <a:p>
            <a:r>
              <a:t>*Transition:*</a:t>
            </a:r>
          </a:p>
          <a:p>
            <a:r>
              <a:t>"Thank you for your partnership on this project. Let me open the floor for questions..."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*Closing and Q&amp;A Preparation:*</a:t>
            </a:r>
          </a:p>
          <a:p/>
          <a:p>
            <a:r>
              <a:t>**Closing Statement:**</a:t>
            </a:r>
          </a:p>
          <a:p>
            <a:r>
              <a:t>"Thank you for your partnership throughout this project. We've successfully transformed application security from a bottleneck into an enabler, integrating automated vulnerability detection directly into developer workflows.</a:t>
            </a:r>
          </a:p>
          <a:p/>
          <a:p>
            <a:r>
              <a:t>The solution is exceeding our detection targets, the security champions are trained and engaged, and you're already seeing measurable risk reduction.</a:t>
            </a:r>
          </a:p>
          <a:p/>
          <a:p>
            <a:r>
              <a:t>I want to open the floor for questions. We have [time] remaining."</a:t>
            </a:r>
          </a:p>
          <a:p/>
          <a:p>
            <a:r>
              <a:t>**Anticipated Questions and Prepared Answers:**</a:t>
            </a:r>
          </a:p>
          <a:p/>
          <a:p>
            <a:r>
              <a:t>*Q: What happens if detection accuracy drops?*</a:t>
            </a:r>
          </a:p>
          <a:p>
            <a:r>
              <a:t>A: We have accuracy monitoring in place. If detection drops below 93%, the runbook has investigation procedures. Common causes are new code patterns or CodeQL version changes. Security operations can tune queries, or escalate to vendor support for assistance.</a:t>
            </a:r>
          </a:p>
          <a:p/>
          <a:p>
            <a:r>
              <a:t>*Q: Can we add new programming languages ourselves?*</a:t>
            </a:r>
          </a:p>
          <a:p>
            <a:r>
              <a:t>A: Adding languages requires: (1) CodeQL support verification, (2) Repository analysis, (3) Workflow configuration, (4) Accuracy validation. This is typically a 4-6 week effort. Budget $15K per language.</a:t>
            </a:r>
          </a:p>
          <a:p/>
          <a:p>
            <a:r>
              <a:t>*Q: What are the ongoing GitHub costs?*</a:t>
            </a:r>
          </a:p>
          <a:p>
            <a:r>
              <a:t>A: Current run rate is approximately $35,000/month:</a:t>
            </a:r>
          </a:p>
          <a:p>
            <a:r>
              <a:t>- GitHub Enterprise Cloud: $17,500/month (100 users)</a:t>
            </a:r>
          </a:p>
          <a:p>
            <a:r>
              <a:t>- GitHub Advanced Security: $16,800/month (80 committers)</a:t>
            </a:r>
          </a:p>
          <a:p>
            <a:r>
              <a:t>- GitHub Actions: $975/month (usage-based)</a:t>
            </a:r>
          </a:p>
          <a:p>
            <a:r>
              <a:t>Costs scale with active committer count.</a:t>
            </a:r>
          </a:p>
          <a:p/>
          <a:p>
            <a:r>
              <a:t>*Q: How do we handle a surge in false positives?*</a:t>
            </a:r>
          </a:p>
          <a:p>
            <a:r>
              <a:t>A: The runbook covers false positive handling. First, categorize the pattern. Then, create dismiss rules for known safe patterns or tune CodeQL queries. Security champions can escalate persistent issues.</a:t>
            </a:r>
          </a:p>
          <a:p/>
          <a:p>
            <a:r>
              <a:t>*Q: What if a security champion leaves?*</a:t>
            </a:r>
          </a:p>
          <a:p>
            <a:r>
              <a:t>A: All knowledge is documented in training materials. Each team has a backup champion. Cross-training ensures continuity. We recommend maintaining 1-2 champions per team.</a:t>
            </a:r>
          </a:p>
          <a:p/>
          <a:p>
            <a:r>
              <a:t>*Q: Is the scanning data secure?*</a:t>
            </a:r>
          </a:p>
          <a:p>
            <a:r>
              <a:t>A: Yes. Code scanning happens in GitHub's SOC 2 certified infrastructure. No code leaves GitHub. Results are stored in GitHub Security tab with RBAC controls. Audit logs track all access.</a:t>
            </a:r>
          </a:p>
          <a:p/>
          <a:p>
            <a:r>
              <a:t>*Q: What's the disaster recovery plan?*</a:t>
            </a:r>
          </a:p>
          <a:p>
            <a:r>
              <a:t>A: GitHub Enterprise Cloud has 99.9% SLA. All configurations are documented. Custom CodeQL queries are version-controlled. SIEM integration can be reconfigured from documentation. Recovery time: &lt;4 hours.</a:t>
            </a:r>
          </a:p>
          <a:p/>
          <a:p>
            <a:r>
              <a:t>*Q: Can this integrate with our new [tool]?*</a:t>
            </a:r>
          </a:p>
          <a:p>
            <a:r>
              <a:t>A: GitHub supports extensive integrations via webhooks and REST APIs. New integrations typically take 2-3 weeks. Happy to scope a specific integration request.</a:t>
            </a:r>
          </a:p>
          <a:p/>
          <a:p>
            <a:r>
              <a:t>*Q: When should we start Phase 2?*</a:t>
            </a:r>
          </a:p>
          <a:p>
            <a:r>
              <a:t>A: I recommend waiting 60-90 days to:</a:t>
            </a:r>
          </a:p>
          <a:p>
            <a:r>
              <a:t>1. Establish stable operational patterns</a:t>
            </a:r>
          </a:p>
          <a:p>
            <a:r>
              <a:t>2. Gather detection accuracy trends</a:t>
            </a:r>
          </a:p>
          <a:p>
            <a:r>
              <a:t>3. Build security team confidence</a:t>
            </a:r>
          </a:p>
          <a:p>
            <a:r>
              <a:t>4. Identify optimization opportunities</a:t>
            </a:r>
          </a:p>
          <a:p>
            <a:r>
              <a:t>Then we can do a Phase 2 planning workshop.</a:t>
            </a:r>
          </a:p>
          <a:p/>
          <a:p>
            <a:r>
              <a:t>**Demo Offer:**</a:t>
            </a:r>
          </a:p>
          <a:p>
            <a:r>
              <a:t>"Would anyone like to see a live CodeQL scan or push protection demo? I can show you the developer experience from commit to merge."</a:t>
            </a:r>
          </a:p>
          <a:p/>
          <a:p>
            <a:r>
              <a:t>**Follow-Up Commitments:**</a:t>
            </a:r>
          </a:p>
          <a:p>
            <a:r>
              <a:t>- [ ] Send final presentation deck to all attendees</a:t>
            </a:r>
          </a:p>
          <a:p>
            <a:r>
              <a:t>- [ ] Distribute project summary one-pager for executives</a:t>
            </a:r>
          </a:p>
          <a:p>
            <a:r>
              <a:t>- [ ] Schedule 30-day security metrics review meeting</a:t>
            </a:r>
          </a:p>
          <a:p>
            <a:r>
              <a:t>- [ ] Send Phase 2 enhancement options document</a:t>
            </a:r>
          </a:p>
          <a:p>
            <a:r>
              <a:t>- [ ] Provide managed services contract options (if requested)</a:t>
            </a:r>
          </a:p>
          <a:p/>
          <a:p>
            <a:r>
              <a:t>**Final Closing:**</a:t>
            </a:r>
          </a:p>
          <a:p>
            <a:r>
              <a:t>"Thank you again for your trust in our team. This project demonstrates the power of shifting security left and integrating it directly into developer workflows. We look forward to continuing this partnership in Phase 2 and beyond.</a:t>
            </a:r>
          </a:p>
          <a:p/>
          <a:p>
            <a:r>
              <a:t>Please don't hesitate to reach out to me or [Account Manager] if any questions come up. Have a great [rest of your day/afternoon]."</a:t>
            </a:r>
          </a:p>
          <a:p/>
          <a:p>
            <a:r>
              <a:t>**After the Meeting:**</a:t>
            </a:r>
          </a:p>
          <a:p>
            <a:r>
              <a:t>- Send thank you email within 24 hours</a:t>
            </a:r>
          </a:p>
          <a:p>
            <a:r>
              <a:t>- Attach presentation and summary document</a:t>
            </a:r>
          </a:p>
          <a:p>
            <a:r>
              <a:t>- Include recording link if recorded</a:t>
            </a:r>
          </a:p>
          <a:p>
            <a:r>
              <a:t>- Confirm next meeting date</a:t>
            </a:r>
          </a:p>
          <a:p>
            <a:r>
              <a:t>- Copy all stakeholders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31079"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721470" y="678433"/>
            <a:ext cx="4228856"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Project Closeout</a:t>
            </a:r>
          </a:p>
        </p:txBody>
      </p:sp>
      <p:sp>
        <p:nvSpPr>
          <p:cNvPr id="5" name="Text Placeholder 4"/>
          <p:cNvSpPr>
            <a:spLocks noGrp="1"/>
          </p:cNvSpPr>
          <p:nvPr>
            <p:ph type="body" idx="14" sz="quarter"/>
          </p:nvPr>
        </p:nvSpPr>
        <p:spPr/>
        <p:txBody>
          <a:bodyPr/>
          <a:lstStyle/>
          <a:p>
            <a:r>
              <a:t>GitHub Advanced Security</a:t>
            </a:r>
          </a:p>
        </p:txBody>
      </p:sp>
      <p:sp>
        <p:nvSpPr>
          <p:cNvPr id="6" name="Text Placeholder 5"/>
          <p:cNvSpPr>
            <a:spLocks noGrp="1"/>
          </p:cNvSpPr>
          <p:nvPr>
            <p:ph type="body" idx="15" sz="quarter"/>
          </p:nvPr>
        </p:nvSpPr>
        <p:spPr/>
        <p:txBody>
          <a:bodyPr/>
          <a:lstStyle/>
          <a:p>
            <a:r>
              <a:t>Project Manager | November 28,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Executive Summary</a:t>
            </a:r>
          </a:p>
        </p:txBody>
      </p:sp>
      <p:sp>
        <p:nvSpPr>
          <p:cNvPr id="4" name="Text Placeholder 3"/>
          <p:cNvSpPr>
            <a:spLocks noGrp="1"/>
          </p:cNvSpPr>
          <p:nvPr>
            <p:ph type="body" idx="14" sz="quarter"/>
          </p:nvPr>
        </p:nvSpPr>
        <p:spPr/>
        <p:txBody>
          <a:bodyPr/>
          <a:lstStyle/>
          <a:p>
            <a:pPr/>
            <a:r>
              <a:rPr b="1"/>
              <a:t>Project Duration:</a:t>
            </a:r>
            <a:r>
              <a:t> 6 months, on schedule</a:t>
            </a:r>
          </a:p>
          <a:p>
            <a:pPr/>
            <a:r>
              <a:rPr b="1"/>
              <a:t>Budget:</a:t>
            </a:r>
            <a:r>
              <a:t> $588,000 Year 1 delivered on budget</a:t>
            </a:r>
          </a:p>
          <a:p>
            <a:pPr/>
            <a:r>
              <a:rPr b="1"/>
              <a:t>Go-Live Date:</a:t>
            </a:r>
            <a:r>
              <a:t> Week 22 as planned</a:t>
            </a:r>
          </a:p>
          <a:p>
            <a:pPr/>
            <a:r>
              <a:rPr b="1"/>
              <a:t>Quality:</a:t>
            </a:r>
            <a:r>
              <a:t> Zero critical defects at launch</a:t>
            </a:r>
          </a:p>
          <a:p>
            <a:pPr/>
            <a:r>
              <a:rPr b="1"/>
              <a:t>Detection Rate:</a:t>
            </a:r>
            <a:r>
              <a:t> 96.2% vulnerabilities caught (target: 95%)</a:t>
            </a:r>
          </a:p>
          <a:p>
            <a:pPr/>
            <a:r>
              <a:rPr b="1"/>
              <a:t>Secret Leaks:</a:t>
            </a:r>
            <a:r>
              <a:t> Zero credential exposures post-deployment</a:t>
            </a:r>
          </a:p>
          <a:p>
            <a:pPr/>
            <a:r>
              <a:rPr b="1"/>
              <a:t>ROI Status:</a:t>
            </a:r>
            <a:r>
              <a:t> On track for 10-month payback</a:t>
            </a:r>
          </a:p>
        </p:txBody>
      </p:sp>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Architecture</a:t>
            </a:r>
          </a:p>
        </p:txBody>
      </p:sp>
      <p:sp>
        <p:nvSpPr>
          <p:cNvPr id="5" name="Text Placeholder 4"/>
          <p:cNvSpPr>
            <a:spLocks noGrp="1"/>
          </p:cNvSpPr>
          <p:nvPr>
            <p:ph type="body" idx="16" sz="quarter"/>
          </p:nvPr>
        </p:nvSpPr>
        <p:spPr/>
        <p:txBody>
          <a:bodyPr/>
          <a:lstStyle/>
          <a:p>
            <a:pPr/>
            <a:r>
              <a:rPr b="1"/>
              <a:t>Security Scanning</a:t>
            </a:r>
          </a:p>
          <a:p>
            <a:pPr lvl="1"/>
            <a:r>
              <a:t>CodeQL SAST for 5 languages</a:t>
            </a:r>
          </a:p>
          <a:p>
            <a:pPr lvl="1"/>
            <a:r>
              <a:t>Secret scanning with push protection</a:t>
            </a:r>
          </a:p>
          <a:p>
            <a:pPr lvl="1"/>
            <a:r>
              <a:t>Dependabot vulnerability alerts</a:t>
            </a:r>
          </a:p>
          <a:p>
            <a:pPr/>
            <a:r>
              <a:rPr b="1"/>
              <a:t>Platform Integration</a:t>
            </a:r>
          </a:p>
          <a:p>
            <a:pPr lvl="1"/>
            <a:r>
              <a:t>GitHub Actions CI/CD workflows</a:t>
            </a:r>
          </a:p>
          <a:p>
            <a:pPr lvl="1"/>
            <a:r>
              <a:t>SIEM integration (Splunk/Sentinel)</a:t>
            </a:r>
          </a:p>
          <a:p>
            <a:pPr lvl="1"/>
            <a:r>
              <a:t>Issue tracking (JIRA/ServiceNow)</a:t>
            </a:r>
          </a:p>
          <a:p>
            <a:pPr/>
            <a:r>
              <a:rPr b="1"/>
              <a:t>Governance</a:t>
            </a:r>
          </a:p>
          <a:p>
            <a:pPr lvl="1"/>
            <a:r>
              <a:t>Security policies enforcement</a:t>
            </a:r>
          </a:p>
          <a:p>
            <a:pPr lvl="1"/>
            <a:r>
              <a:t>Pull request protection rules</a:t>
            </a:r>
          </a:p>
          <a:p>
            <a:pPr lvl="1"/>
            <a:r>
              <a:t>Audit logging and compliance</a:t>
            </a:r>
          </a:p>
        </p:txBody>
      </p:sp>
      <p:sp>
        <p:nvSpPr>
          <p:cNvPr id="6" name="Text Placeholder 5"/>
          <p:cNvSpPr>
            <a:spLocks noGrp="1"/>
          </p:cNvSpPr>
          <p:nvPr>
            <p:ph type="body" idx="17" sz="quarter"/>
          </p:nvPr>
        </p:nvSpPr>
        <p:spPr/>
        <p:txBody>
          <a:bodyPr/>
          <a:lstStyle/>
          <a:p>
            <a:pPr algn="r">
              <a:buNone/>
            </a:pPr>
            <a:r>
              <a:rPr sz="1100">
                <a:solidFill>
                  <a:srgbClr val="CC0000"/>
                </a:solidFill>
              </a:rPr>
              <a:t>GitHub Advanced Security</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4"/>
          <a:stretch>
            <a:fillRect/>
          </a:stretch>
        </p:blipFill>
        <p:spPr>
          <a:xfrm>
            <a:off x="313592" y="4536078"/>
            <a:ext cx="2130670"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Deliverables Inventory</a:t>
            </a:r>
          </a:p>
        </p:txBody>
      </p:sp>
      <p:graphicFrame>
        <p:nvGraphicFramePr>
          <p:cNvPr id="4" name="Table Placeholder 3"/>
          <p:cNvGraphicFramePr>
            <a:graphicFrameLocks noGrp="1"/>
          </p:cNvGraphicFramePr>
          <p:nvPr>
            <p:ph type="tbl" idx="14" sz="quarter"/>
          </p:nvPr>
        </p:nvGraphicFramePr>
        <p:xfrm>
          <a:off x="256855" y="677011"/>
          <a:ext cx="8710931" cy="3337560"/>
        </p:xfrm>
        <a:graphic>
          <a:graphicData uri="http://schemas.openxmlformats.org/drawingml/2006/table">
            <a:tbl>
              <a:tblPr firstRow="1" bandRow="1">
                <a:tableStyleId>{5C22544A-7EE6-4342-B048-85BDC9FD1C3A}</a:tableStyleId>
              </a:tblPr>
              <a:tblGrid>
                <a:gridCol w="2613279"/>
                <a:gridCol w="3919919"/>
                <a:gridCol w="2177733"/>
              </a:tblGrid>
              <a:tr h="370840">
                <a:tc>
                  <a:txBody>
                    <a:bodyPr/>
                    <a:lstStyle/>
                    <a:p>
                      <a:r>
                        <a:rPr sz="1400">
                          <a:solidFill>
                            <a:srgbClr val="FFFFFF"/>
                          </a:solidFill>
                        </a:rPr>
                        <a:t>Deliverable</a:t>
                      </a:r>
                    </a:p>
                  </a:txBody>
                  <a:tcPr>
                    <a:solidFill>
                      <a:srgbClr val="A01C02"/>
                    </a:solidFill>
                  </a:tcPr>
                </a:tc>
                <a:tc>
                  <a:txBody>
                    <a:bodyPr/>
                    <a:lstStyle/>
                    <a:p>
                      <a:r>
                        <a:rPr sz="1400">
                          <a:solidFill>
                            <a:srgbClr val="FFFFFF"/>
                          </a:solidFill>
                        </a:rPr>
                        <a:t>Purpose</a:t>
                      </a:r>
                    </a:p>
                  </a:txBody>
                  <a:tcPr>
                    <a:solidFill>
                      <a:srgbClr val="A01C02"/>
                    </a:solidFill>
                  </a:tcPr>
                </a:tc>
                <a:tc>
                  <a:txBody>
                    <a:bodyPr/>
                    <a:lstStyle/>
                    <a:p>
                      <a:r>
                        <a:rPr sz="1400">
                          <a:solidFill>
                            <a:srgbClr val="FFFFFF"/>
                          </a:solidFill>
                        </a:rPr>
                        <a:t>Location</a:t>
                      </a:r>
                    </a:p>
                  </a:txBody>
                  <a:tcPr>
                    <a:solidFill>
                      <a:srgbClr val="A01C02"/>
                    </a:solidFill>
                  </a:tcPr>
                </a:tc>
              </a:tr>
              <a:tr h="370840">
                <a:tc>
                  <a:txBody>
                    <a:bodyPr/>
                    <a:lstStyle/>
                    <a:p>
                      <a:r>
                        <a:rPr b="1" sz="1100"/>
                        <a:t>Solution Architecture</a:t>
                      </a:r>
                    </a:p>
                  </a:txBody>
                  <a:tcPr>
                    <a:solidFill>
                      <a:srgbClr val="E7E6E6"/>
                    </a:solidFill>
                  </a:tcPr>
                </a:tc>
                <a:tc>
                  <a:txBody>
                    <a:bodyPr/>
                    <a:lstStyle/>
                    <a:p>
                      <a:r>
                        <a:rPr sz="1100"/>
                        <a:t>GHAS design, CodeQL configuration, integration specs</a:t>
                      </a:r>
                    </a:p>
                  </a:txBody>
                  <a:tcPr>
                    <a:solidFill>
                      <a:srgbClr val="E7E6E6"/>
                    </a:solidFill>
                  </a:tcPr>
                </a:tc>
                <a:tc>
                  <a:txBody>
                    <a:bodyPr/>
                    <a:lstStyle/>
                    <a:p>
                      <a:r>
                        <a:rPr sz="1100"/>
                        <a:t>`/delivery/detailed-design.docx`</a:t>
                      </a:r>
                    </a:p>
                  </a:txBody>
                  <a:tcPr>
                    <a:solidFill>
                      <a:srgbClr val="E7E6E6"/>
                    </a:solidFill>
                  </a:tcPr>
                </a:tc>
              </a:tr>
              <a:tr h="370840">
                <a:tc>
                  <a:txBody>
                    <a:bodyPr/>
                    <a:lstStyle/>
                    <a:p>
                      <a:r>
                        <a:rPr b="1" sz="1100"/>
                        <a:t>Implementation Guide</a:t>
                      </a:r>
                    </a:p>
                  </a:txBody>
                  <a:tcPr>
                    <a:solidFill>
                      <a:srgbClr val="E7E6E6"/>
                    </a:solidFill>
                  </a:tcPr>
                </a:tc>
                <a:tc>
                  <a:txBody>
                    <a:bodyPr/>
                    <a:lstStyle/>
                    <a:p>
                      <a:r>
                        <a:rPr sz="1100"/>
                        <a:t>Step-by-step deployment with GitHub Actions</a:t>
                      </a:r>
                    </a:p>
                  </a:txBody>
                  <a:tcPr>
                    <a:solidFill>
                      <a:srgbClr val="E7E6E6"/>
                    </a:solidFill>
                  </a:tcPr>
                </a:tc>
                <a:tc>
                  <a:txBody>
                    <a:bodyPr/>
                    <a:lstStyle/>
                    <a:p>
                      <a:r>
                        <a:rPr sz="1100"/>
                        <a:t>`/delivery/implementation-guide.docx`</a:t>
                      </a:r>
                    </a:p>
                  </a:txBody>
                  <a:tcPr>
                    <a:solidFill>
                      <a:srgbClr val="E7E6E6"/>
                    </a:solidFill>
                  </a:tcPr>
                </a:tc>
              </a:tr>
              <a:tr h="370840">
                <a:tc>
                  <a:txBody>
                    <a:bodyPr/>
                    <a:lstStyle/>
                    <a:p>
                      <a:r>
                        <a:rPr b="1" sz="1100"/>
                        <a:t>Project Plan</a:t>
                      </a:r>
                    </a:p>
                  </a:txBody>
                  <a:tcPr>
                    <a:solidFill>
                      <a:srgbClr val="E7E6E6"/>
                    </a:solidFill>
                  </a:tcPr>
                </a:tc>
                <a:tc>
                  <a:txBody>
                    <a:bodyPr/>
                    <a:lstStyle/>
                    <a:p>
                      <a:r>
                        <a:rPr sz="1100"/>
                        <a:t>Timeline, milestones, RACI, communications</a:t>
                      </a:r>
                    </a:p>
                  </a:txBody>
                  <a:tcPr>
                    <a:solidFill>
                      <a:srgbClr val="E7E6E6"/>
                    </a:solidFill>
                  </a:tcPr>
                </a:tc>
                <a:tc>
                  <a:txBody>
                    <a:bodyPr/>
                    <a:lstStyle/>
                    <a:p>
                      <a:r>
                        <a:rPr sz="1100"/>
                        <a:t>`/delivery/project-plan.xlsx`</a:t>
                      </a:r>
                    </a:p>
                  </a:txBody>
                  <a:tcPr>
                    <a:solidFill>
                      <a:srgbClr val="E7E6E6"/>
                    </a:solidFill>
                  </a:tcPr>
                </a:tc>
              </a:tr>
              <a:tr h="370840">
                <a:tc>
                  <a:txBody>
                    <a:bodyPr/>
                    <a:lstStyle/>
                    <a:p>
                      <a:r>
                        <a:rPr b="1" sz="1100"/>
                        <a:t>Test Plan &amp; Results</a:t>
                      </a:r>
                    </a:p>
                  </a:txBody>
                  <a:tcPr>
                    <a:solidFill>
                      <a:srgbClr val="E7E6E6"/>
                    </a:solidFill>
                  </a:tcPr>
                </a:tc>
                <a:tc>
                  <a:txBody>
                    <a:bodyPr/>
                    <a:lstStyle/>
                    <a:p>
                      <a:r>
                        <a:rPr sz="1100"/>
                        <a:t>Detection accuracy validation, UAT results</a:t>
                      </a:r>
                    </a:p>
                  </a:txBody>
                  <a:tcPr>
                    <a:solidFill>
                      <a:srgbClr val="E7E6E6"/>
                    </a:solidFill>
                  </a:tcPr>
                </a:tc>
                <a:tc>
                  <a:txBody>
                    <a:bodyPr/>
                    <a:lstStyle/>
                    <a:p>
                      <a:r>
                        <a:rPr sz="1100"/>
                        <a:t>`/delivery/test-plan.xlsx`</a:t>
                      </a:r>
                    </a:p>
                  </a:txBody>
                  <a:tcPr>
                    <a:solidFill>
                      <a:srgbClr val="E7E6E6"/>
                    </a:solidFill>
                  </a:tcPr>
                </a:tc>
              </a:tr>
              <a:tr h="370840">
                <a:tc>
                  <a:txBody>
                    <a:bodyPr/>
                    <a:lstStyle/>
                    <a:p>
                      <a:r>
                        <a:rPr b="1" sz="1100"/>
                        <a:t>Custom CodeQL Queries</a:t>
                      </a:r>
                    </a:p>
                  </a:txBody>
                  <a:tcPr>
                    <a:solidFill>
                      <a:srgbClr val="E7E6E6"/>
                    </a:solidFill>
                  </a:tcPr>
                </a:tc>
                <a:tc>
                  <a:txBody>
                    <a:bodyPr/>
                    <a:lstStyle/>
                    <a:p>
                      <a:r>
                        <a:rPr sz="1100"/>
                        <a:t>15 organization-specific security rules</a:t>
                      </a:r>
                    </a:p>
                  </a:txBody>
                  <a:tcPr>
                    <a:solidFill>
                      <a:srgbClr val="E7E6E6"/>
                    </a:solidFill>
                  </a:tcPr>
                </a:tc>
                <a:tc>
                  <a:txBody>
                    <a:bodyPr/>
                    <a:lstStyle/>
                    <a:p>
                      <a:r>
                        <a:rPr sz="1100"/>
                        <a:t>`/delivery/scripts/codeql/`</a:t>
                      </a:r>
                    </a:p>
                  </a:txBody>
                  <a:tcPr>
                    <a:solidFill>
                      <a:srgbClr val="E7E6E6"/>
                    </a:solidFill>
                  </a:tcPr>
                </a:tc>
              </a:tr>
              <a:tr h="370840">
                <a:tc>
                  <a:txBody>
                    <a:bodyPr/>
                    <a:lstStyle/>
                    <a:p>
                      <a:r>
                        <a:rPr b="1" sz="1100"/>
                        <a:t>Operations Runbook</a:t>
                      </a:r>
                    </a:p>
                  </a:txBody>
                  <a:tcPr>
                    <a:solidFill>
                      <a:srgbClr val="E7E6E6"/>
                    </a:solidFill>
                  </a:tcPr>
                </a:tc>
                <a:tc>
                  <a:txBody>
                    <a:bodyPr/>
                    <a:lstStyle/>
                    <a:p>
                      <a:r>
                        <a:rPr sz="1100"/>
                        <a:t>Alert triage, false positive handling</a:t>
                      </a:r>
                    </a:p>
                  </a:txBody>
                  <a:tcPr>
                    <a:solidFill>
                      <a:srgbClr val="E7E6E6"/>
                    </a:solidFill>
                  </a:tcPr>
                </a:tc>
                <a:tc>
                  <a:txBody>
                    <a:bodyPr/>
                    <a:lstStyle/>
                    <a:p>
                      <a:r>
                        <a:rPr sz="1100"/>
                        <a:t>`/delivery/docs/runbook.md`</a:t>
                      </a:r>
                    </a:p>
                  </a:txBody>
                  <a:tcPr>
                    <a:solidFill>
                      <a:srgbClr val="E7E6E6"/>
                    </a:solidFill>
                  </a:tcPr>
                </a:tc>
              </a:tr>
              <a:tr h="370840">
                <a:tc>
                  <a:txBody>
                    <a:bodyPr/>
                    <a:lstStyle/>
                    <a:p>
                      <a:r>
                        <a:rPr b="1" sz="1100"/>
                        <a:t>Training Materials</a:t>
                      </a:r>
                    </a:p>
                  </a:txBody>
                  <a:tcPr>
                    <a:solidFill>
                      <a:srgbClr val="E7E6E6"/>
                    </a:solidFill>
                  </a:tcPr>
                </a:tc>
                <a:tc>
                  <a:txBody>
                    <a:bodyPr/>
                    <a:lstStyle/>
                    <a:p>
                      <a:r>
                        <a:rPr sz="1100"/>
                        <a:t>Security champion guides, developer training</a:t>
                      </a:r>
                    </a:p>
                  </a:txBody>
                  <a:tcPr>
                    <a:solidFill>
                      <a:srgbClr val="E7E6E6"/>
                    </a:solidFill>
                  </a:tcPr>
                </a:tc>
                <a:tc>
                  <a:txBody>
                    <a:bodyPr/>
                    <a:lstStyle/>
                    <a:p>
                      <a:r>
                        <a:rPr sz="1100"/>
                        <a:t>`/delivery/training/`</a:t>
                      </a:r>
                    </a:p>
                  </a:txBody>
                  <a:tcPr>
                    <a:solidFill>
                      <a:srgbClr val="E7E6E6"/>
                    </a:solidFill>
                  </a:tcPr>
                </a:tc>
              </a:tr>
              <a:tr h="370840">
                <a:tc>
                  <a:txBody>
                    <a:bodyPr/>
                    <a:lstStyle/>
                    <a:p>
                      <a:r>
                        <a:rPr b="1" sz="1100"/>
                        <a:t>SIEM Integration Config</a:t>
                      </a:r>
                    </a:p>
                  </a:txBody>
                  <a:tcPr>
                    <a:solidFill>
                      <a:srgbClr val="E7E6E6"/>
                    </a:solidFill>
                  </a:tcPr>
                </a:tc>
                <a:tc>
                  <a:txBody>
                    <a:bodyPr/>
                    <a:lstStyle/>
                    <a:p>
                      <a:r>
                        <a:rPr sz="1100"/>
                        <a:t>Splunk/Sentinel webhook configuration</a:t>
                      </a:r>
                    </a:p>
                  </a:txBody>
                  <a:tcPr>
                    <a:solidFill>
                      <a:srgbClr val="E7E6E6"/>
                    </a:solidFill>
                  </a:tcPr>
                </a:tc>
                <a:tc>
                  <a:txBody>
                    <a:bodyPr/>
                    <a:lstStyle/>
                    <a:p>
                      <a:r>
                        <a:rPr sz="1100"/>
                        <a:t>`/delivery/scripts/integrations/`</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Quality &amp; Performance</a:t>
            </a:r>
          </a:p>
        </p:txBody>
      </p:sp>
      <p:sp>
        <p:nvSpPr>
          <p:cNvPr id="4" name="Text Placeholder 3"/>
          <p:cNvSpPr>
            <a:spLocks noGrp="1"/>
          </p:cNvSpPr>
          <p:nvPr>
            <p:ph type="body" idx="16" sz="quarter"/>
          </p:nvPr>
        </p:nvSpPr>
        <p:spPr/>
        <p:txBody>
          <a:bodyPr/>
          <a:lstStyle/>
          <a:p>
            <a:pPr/>
            <a:r>
              <a:rPr b="1"/>
              <a:t>Detection Metrics</a:t>
            </a:r>
          </a:p>
          <a:p>
            <a:pPr lvl="1"/>
            <a:r>
              <a:t>Overall Detection: 96.2% (target: 95%)</a:t>
            </a:r>
          </a:p>
          <a:p>
            <a:pPr lvl="1"/>
            <a:r>
              <a:t>JavaScript/TypeScript: 97.1%</a:t>
            </a:r>
          </a:p>
          <a:p>
            <a:pPr lvl="1"/>
            <a:r>
              <a:t>Python: 96.8%</a:t>
            </a:r>
          </a:p>
          <a:p>
            <a:pPr lvl="1"/>
            <a:r>
              <a:t>Java: 95.4%</a:t>
            </a:r>
          </a:p>
          <a:p>
            <a:pPr lvl="1"/>
            <a:r>
              <a:t>False Positive Rate: 8% (target: &lt;10%)</a:t>
            </a:r>
          </a:p>
        </p:txBody>
      </p:sp>
      <p:sp>
        <p:nvSpPr>
          <p:cNvPr id="5" name="Text Placeholder 4"/>
          <p:cNvSpPr>
            <a:spLocks noGrp="1"/>
          </p:cNvSpPr>
          <p:nvPr>
            <p:ph type="body" idx="17" sz="quarter"/>
          </p:nvPr>
        </p:nvSpPr>
        <p:spPr/>
        <p:txBody>
          <a:bodyPr/>
          <a:lstStyle/>
          <a:p>
            <a:pPr/>
            <a:r>
              <a:rPr b="1"/>
              <a:t>Performance Metrics</a:t>
            </a:r>
          </a:p>
          <a:p>
            <a:pPr lvl="1"/>
            <a:r>
              <a:t>PR Scan Duration: 8 min (target: &lt;15 min)</a:t>
            </a:r>
          </a:p>
          <a:p>
            <a:pPr lvl="1"/>
            <a:r>
              <a:t>Push Protection Latency: &lt;2 sec</a:t>
            </a:r>
          </a:p>
          <a:p>
            <a:pPr lvl="1"/>
            <a:r>
              <a:t>Secret Blocking Rate: 100%</a:t>
            </a:r>
          </a:p>
          <a:p>
            <a:pPr lvl="1"/>
            <a:r>
              <a:t>SIEM Alert Latency: &lt;30 sec</a:t>
            </a:r>
          </a:p>
          <a:p>
            <a:pPr lvl="1"/>
            <a:r>
              <a:t>Repository Coverage: 200/200 (100%)</a:t>
            </a:r>
          </a:p>
        </p:txBody>
      </p:sp>
      <p:sp>
        <p:nvSpPr>
          <p:cNvPr id="6" name="Text Placeholder 5"/>
          <p:cNvSpPr>
            <a:spLocks noGrp="1"/>
          </p:cNvSpPr>
          <p:nvPr>
            <p:ph type="body" idx="15" sz="quarter"/>
          </p:nvPr>
        </p:nvSpPr>
        <p:spPr/>
        <p:txBody>
          <a:bodyPr/>
          <a:lstStyle/>
          <a:p>
            <a:pPr algn="r">
              <a:buNone/>
            </a:pPr>
            <a:r>
              <a:rPr sz="1100">
                <a:solidFill>
                  <a:srgbClr val="CC0000"/>
                </a:solidFill>
              </a:rPr>
              <a:t>GitHub Advanced Security</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Benefits Realized</a:t>
            </a:r>
          </a:p>
        </p:txBody>
      </p:sp>
      <p:graphicFrame>
        <p:nvGraphicFramePr>
          <p:cNvPr id="4" name="Table Placeholder 3"/>
          <p:cNvGraphicFramePr>
            <a:graphicFrameLocks noGrp="1"/>
          </p:cNvGraphicFramePr>
          <p:nvPr>
            <p:ph type="tbl" idx="14" sz="quarter"/>
          </p:nvPr>
        </p:nvGraphicFramePr>
        <p:xfrm>
          <a:off x="256855" y="677011"/>
          <a:ext cx="8710930" cy="2595880"/>
        </p:xfrm>
        <a:graphic>
          <a:graphicData uri="http://schemas.openxmlformats.org/drawingml/2006/table">
            <a:tbl>
              <a:tblPr firstRow="1" bandRow="1">
                <a:tableStyleId>{5C22544A-7EE6-4342-B048-85BDC9FD1C3A}</a:tableStyleId>
              </a:tblPr>
              <a:tblGrid>
                <a:gridCol w="2613279"/>
                <a:gridCol w="1742186"/>
                <a:gridCol w="1742186"/>
                <a:gridCol w="2613279"/>
              </a:tblGrid>
              <a:tr h="370840">
                <a:tc>
                  <a:txBody>
                    <a:bodyPr/>
                    <a:lstStyle/>
                    <a:p>
                      <a:r>
                        <a:rPr sz="1400">
                          <a:solidFill>
                            <a:srgbClr val="FFFFFF"/>
                          </a:solidFill>
                        </a:rPr>
                        <a:t>Benefit Category</a:t>
                      </a:r>
                    </a:p>
                  </a:txBody>
                  <a:tcPr>
                    <a:solidFill>
                      <a:srgbClr val="A01C02"/>
                    </a:solidFill>
                  </a:tcPr>
                </a:tc>
                <a:tc>
                  <a:txBody>
                    <a:bodyPr/>
                    <a:lstStyle/>
                    <a:p>
                      <a:r>
                        <a:rPr sz="1400">
                          <a:solidFill>
                            <a:srgbClr val="FFFFFF"/>
                          </a:solidFill>
                        </a:rPr>
                        <a:t>SOW Target</a:t>
                      </a:r>
                    </a:p>
                  </a:txBody>
                  <a:tcPr>
                    <a:solidFill>
                      <a:srgbClr val="A01C02"/>
                    </a:solidFill>
                  </a:tcPr>
                </a:tc>
                <a:tc>
                  <a:txBody>
                    <a:bodyPr/>
                    <a:lstStyle/>
                    <a:p>
                      <a:r>
                        <a:rPr sz="1400">
                          <a:solidFill>
                            <a:srgbClr val="FFFFFF"/>
                          </a:solidFill>
                        </a:rPr>
                        <a:t>Achieved</a:t>
                      </a:r>
                    </a:p>
                  </a:txBody>
                  <a:tcPr>
                    <a:solidFill>
                      <a:srgbClr val="A01C02"/>
                    </a:solidFill>
                  </a:tcPr>
                </a:tc>
                <a:tc>
                  <a:txBody>
                    <a:bodyPr/>
                    <a:lstStyle/>
                    <a:p>
                      <a:r>
                        <a:rPr sz="1400">
                          <a:solidFill>
                            <a:srgbClr val="FFFFFF"/>
                          </a:solidFill>
                        </a:rPr>
                        <a:t>Business Impact</a:t>
                      </a:r>
                    </a:p>
                  </a:txBody>
                  <a:tcPr>
                    <a:solidFill>
                      <a:srgbClr val="A01C02"/>
                    </a:solidFill>
                  </a:tcPr>
                </a:tc>
              </a:tr>
              <a:tr h="370840">
                <a:tc>
                  <a:txBody>
                    <a:bodyPr/>
                    <a:lstStyle/>
                    <a:p>
                      <a:r>
                        <a:rPr b="1" sz="1100"/>
                        <a:t>Detection Rate</a:t>
                      </a:r>
                    </a:p>
                  </a:txBody>
                  <a:tcPr>
                    <a:solidFill>
                      <a:srgbClr val="E7E6E6"/>
                    </a:solidFill>
                  </a:tcPr>
                </a:tc>
                <a:tc>
                  <a:txBody>
                    <a:bodyPr/>
                    <a:lstStyle/>
                    <a:p>
                      <a:r>
                        <a:rPr sz="1100"/>
                        <a:t>95%+ pre-merge</a:t>
                      </a:r>
                    </a:p>
                  </a:txBody>
                  <a:tcPr>
                    <a:solidFill>
                      <a:srgbClr val="E7E6E6"/>
                    </a:solidFill>
                  </a:tcPr>
                </a:tc>
                <a:tc>
                  <a:txBody>
                    <a:bodyPr/>
                    <a:lstStyle/>
                    <a:p>
                      <a:r>
                        <a:rPr sz="1100"/>
                        <a:t>96.2%</a:t>
                      </a:r>
                    </a:p>
                  </a:txBody>
                  <a:tcPr>
                    <a:solidFill>
                      <a:srgbClr val="E7E6E6"/>
                    </a:solidFill>
                  </a:tcPr>
                </a:tc>
                <a:tc>
                  <a:txBody>
                    <a:bodyPr/>
                    <a:lstStyle/>
                    <a:p>
                      <a:r>
                        <a:rPr sz="1100"/>
                        <a:t>Vulnerabilities caught before production</a:t>
                      </a:r>
                    </a:p>
                  </a:txBody>
                  <a:tcPr>
                    <a:solidFill>
                      <a:srgbClr val="E7E6E6"/>
                    </a:solidFill>
                  </a:tcPr>
                </a:tc>
              </a:tr>
              <a:tr h="370840">
                <a:tc>
                  <a:txBody>
                    <a:bodyPr/>
                    <a:lstStyle/>
                    <a:p>
                      <a:r>
                        <a:rPr b="1" sz="1100"/>
                        <a:t>Secret Protection</a:t>
                      </a:r>
                    </a:p>
                  </a:txBody>
                  <a:tcPr>
                    <a:solidFill>
                      <a:srgbClr val="E7E6E6"/>
                    </a:solidFill>
                  </a:tcPr>
                </a:tc>
                <a:tc>
                  <a:txBody>
                    <a:bodyPr/>
                    <a:lstStyle/>
                    <a:p>
                      <a:r>
                        <a:rPr sz="1100"/>
                        <a:t>Zero leaks</a:t>
                      </a:r>
                    </a:p>
                  </a:txBody>
                  <a:tcPr>
                    <a:solidFill>
                      <a:srgbClr val="E7E6E6"/>
                    </a:solidFill>
                  </a:tcPr>
                </a:tc>
                <a:tc>
                  <a:txBody>
                    <a:bodyPr/>
                    <a:lstStyle/>
                    <a:p>
                      <a:r>
                        <a:rPr sz="1100"/>
                        <a:t>0 leaks</a:t>
                      </a:r>
                    </a:p>
                  </a:txBody>
                  <a:tcPr>
                    <a:solidFill>
                      <a:srgbClr val="E7E6E6"/>
                    </a:solidFill>
                  </a:tcPr>
                </a:tc>
                <a:tc>
                  <a:txBody>
                    <a:bodyPr/>
                    <a:lstStyle/>
                    <a:p>
                      <a:r>
                        <a:rPr sz="1100"/>
                        <a:t>847 credentials blocked in 30 days</a:t>
                      </a:r>
                    </a:p>
                  </a:txBody>
                  <a:tcPr>
                    <a:solidFill>
                      <a:srgbClr val="E7E6E6"/>
                    </a:solidFill>
                  </a:tcPr>
                </a:tc>
              </a:tr>
              <a:tr h="370840">
                <a:tc>
                  <a:txBody>
                    <a:bodyPr/>
                    <a:lstStyle/>
                    <a:p>
                      <a:r>
                        <a:rPr b="1" sz="1100"/>
                        <a:t>Security Debt</a:t>
                      </a:r>
                    </a:p>
                  </a:txBody>
                  <a:tcPr>
                    <a:solidFill>
                      <a:srgbClr val="E7E6E6"/>
                    </a:solidFill>
                  </a:tcPr>
                </a:tc>
                <a:tc>
                  <a:txBody>
                    <a:bodyPr/>
                    <a:lstStyle/>
                    <a:p>
                      <a:r>
                        <a:rPr sz="1100"/>
                        <a:t>70% reduction</a:t>
                      </a:r>
                    </a:p>
                  </a:txBody>
                  <a:tcPr>
                    <a:solidFill>
                      <a:srgbClr val="E7E6E6"/>
                    </a:solidFill>
                  </a:tcPr>
                </a:tc>
                <a:tc>
                  <a:txBody>
                    <a:bodyPr/>
                    <a:lstStyle/>
                    <a:p>
                      <a:r>
                        <a:rPr sz="1100"/>
                        <a:t>65% Y1</a:t>
                      </a:r>
                    </a:p>
                  </a:txBody>
                  <a:tcPr>
                    <a:solidFill>
                      <a:srgbClr val="E7E6E6"/>
                    </a:solidFill>
                  </a:tcPr>
                </a:tc>
                <a:tc>
                  <a:txBody>
                    <a:bodyPr/>
                    <a:lstStyle/>
                    <a:p>
                      <a:r>
                        <a:rPr sz="1100"/>
                        <a:t>$500K+ incident cost avoidance</a:t>
                      </a:r>
                    </a:p>
                  </a:txBody>
                  <a:tcPr>
                    <a:solidFill>
                      <a:srgbClr val="E7E6E6"/>
                    </a:solidFill>
                  </a:tcPr>
                </a:tc>
              </a:tr>
              <a:tr h="370840">
                <a:tc>
                  <a:txBody>
                    <a:bodyPr/>
                    <a:lstStyle/>
                    <a:p>
                      <a:r>
                        <a:rPr b="1" sz="1100"/>
                        <a:t>Manual Review</a:t>
                      </a:r>
                    </a:p>
                  </a:txBody>
                  <a:tcPr>
                    <a:solidFill>
                      <a:srgbClr val="E7E6E6"/>
                    </a:solidFill>
                  </a:tcPr>
                </a:tc>
                <a:tc>
                  <a:txBody>
                    <a:bodyPr/>
                    <a:lstStyle/>
                    <a:p>
                      <a:r>
                        <a:rPr sz="1100"/>
                        <a:t>Reduce effort</a:t>
                      </a:r>
                    </a:p>
                  </a:txBody>
                  <a:tcPr>
                    <a:solidFill>
                      <a:srgbClr val="E7E6E6"/>
                    </a:solidFill>
                  </a:tcPr>
                </a:tc>
                <a:tc>
                  <a:txBody>
                    <a:bodyPr/>
                    <a:lstStyle/>
                    <a:p>
                      <a:r>
                        <a:rPr sz="1100"/>
                        <a:t>2 FTEs saved</a:t>
                      </a:r>
                    </a:p>
                  </a:txBody>
                  <a:tcPr>
                    <a:solidFill>
                      <a:srgbClr val="E7E6E6"/>
                    </a:solidFill>
                  </a:tcPr>
                </a:tc>
                <a:tc>
                  <a:txBody>
                    <a:bodyPr/>
                    <a:lstStyle/>
                    <a:p>
                      <a:r>
                        <a:rPr sz="1100"/>
                        <a:t>Team on higher-value security work</a:t>
                      </a:r>
                    </a:p>
                  </a:txBody>
                  <a:tcPr>
                    <a:solidFill>
                      <a:srgbClr val="E7E6E6"/>
                    </a:solidFill>
                  </a:tcPr>
                </a:tc>
              </a:tr>
              <a:tr h="370840">
                <a:tc>
                  <a:txBody>
                    <a:bodyPr/>
                    <a:lstStyle/>
                    <a:p>
                      <a:r>
                        <a:rPr b="1" sz="1100"/>
                        <a:t>Compliance</a:t>
                      </a:r>
                    </a:p>
                  </a:txBody>
                  <a:tcPr>
                    <a:solidFill>
                      <a:srgbClr val="E7E6E6"/>
                    </a:solidFill>
                  </a:tcPr>
                </a:tc>
                <a:tc>
                  <a:txBody>
                    <a:bodyPr/>
                    <a:lstStyle/>
                    <a:p>
                      <a:r>
                        <a:rPr sz="1100"/>
                        <a:t>SOC 2 ready</a:t>
                      </a:r>
                    </a:p>
                  </a:txBody>
                  <a:tcPr>
                    <a:solidFill>
                      <a:srgbClr val="E7E6E6"/>
                    </a:solidFill>
                  </a:tcPr>
                </a:tc>
                <a:tc>
                  <a:txBody>
                    <a:bodyPr/>
                    <a:lstStyle/>
                    <a:p>
                      <a:r>
                        <a:rPr sz="1100"/>
                        <a:t>Full audit trail</a:t>
                      </a:r>
                    </a:p>
                  </a:txBody>
                  <a:tcPr>
                    <a:solidFill>
                      <a:srgbClr val="E7E6E6"/>
                    </a:solidFill>
                  </a:tcPr>
                </a:tc>
                <a:tc>
                  <a:txBody>
                    <a:bodyPr/>
                    <a:lstStyle/>
                    <a:p>
                      <a:r>
                        <a:rPr sz="1100"/>
                        <a:t>Automated evidence collection</a:t>
                      </a:r>
                    </a:p>
                  </a:txBody>
                  <a:tcPr>
                    <a:solidFill>
                      <a:srgbClr val="E7E6E6"/>
                    </a:solidFill>
                  </a:tcPr>
                </a:tc>
              </a:tr>
              <a:tr h="370840">
                <a:tc>
                  <a:txBody>
                    <a:bodyPr/>
                    <a:lstStyle/>
                    <a:p>
                      <a:r>
                        <a:rPr b="1" sz="1100"/>
                        <a:t>Developer Velocity</a:t>
                      </a:r>
                    </a:p>
                  </a:txBody>
                  <a:tcPr>
                    <a:solidFill>
                      <a:srgbClr val="E7E6E6"/>
                    </a:solidFill>
                  </a:tcPr>
                </a:tc>
                <a:tc>
                  <a:txBody>
                    <a:bodyPr/>
                    <a:lstStyle/>
                    <a:p>
                      <a:r>
                        <a:rPr sz="1100"/>
                        <a:t>Minimal impact</a:t>
                      </a:r>
                    </a:p>
                  </a:txBody>
                  <a:tcPr>
                    <a:solidFill>
                      <a:srgbClr val="E7E6E6"/>
                    </a:solidFill>
                  </a:tcPr>
                </a:tc>
                <a:tc>
                  <a:txBody>
                    <a:bodyPr/>
                    <a:lstStyle/>
                    <a:p>
                      <a:r>
                        <a:rPr sz="1100"/>
                        <a:t>&lt;8 min scans</a:t>
                      </a:r>
                    </a:p>
                  </a:txBody>
                  <a:tcPr>
                    <a:solidFill>
                      <a:srgbClr val="E7E6E6"/>
                    </a:solidFill>
                  </a:tcPr>
                </a:tc>
                <a:tc>
                  <a:txBody>
                    <a:bodyPr/>
                    <a:lstStyle/>
                    <a:p>
                      <a:r>
                        <a:rPr sz="1100"/>
                        <a:t>No workflow disruption</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Lessons Learned &amp; Recommendations</a:t>
            </a:r>
          </a:p>
        </p:txBody>
      </p:sp>
      <p:sp>
        <p:nvSpPr>
          <p:cNvPr id="4" name="Text Placeholder 3"/>
          <p:cNvSpPr>
            <a:spLocks noGrp="1"/>
          </p:cNvSpPr>
          <p:nvPr>
            <p:ph type="body" idx="16" sz="quarter"/>
          </p:nvPr>
        </p:nvSpPr>
        <p:spPr/>
        <p:txBody>
          <a:bodyPr/>
          <a:lstStyle/>
          <a:p>
            <a:pPr/>
            <a:r>
              <a:rPr b="1"/>
              <a:t>What Worked Well</a:t>
            </a:r>
          </a:p>
          <a:p>
            <a:pPr lvl="1"/>
            <a:r>
              <a:t>Pilot-validate-expand rollout strategy</a:t>
            </a:r>
          </a:p>
          <a:p>
            <a:pPr lvl="1"/>
            <a:r>
              <a:t>Security champion program engagement</a:t>
            </a:r>
          </a:p>
          <a:p>
            <a:pPr lvl="1"/>
            <a:r>
              <a:t>Push protection immediate enablement</a:t>
            </a:r>
          </a:p>
          <a:p>
            <a:pPr lvl="1"/>
            <a:r>
              <a:t>Weekly developer feedback sessions</a:t>
            </a:r>
          </a:p>
          <a:p>
            <a:pPr lvl="1"/>
            <a:r>
              <a:t>Custom CodeQL query development</a:t>
            </a:r>
          </a:p>
          <a:p>
            <a:pPr/>
            <a:r>
              <a:rPr b="1"/>
              <a:t>Challenges Overcome</a:t>
            </a:r>
          </a:p>
          <a:p>
            <a:pPr lvl="1"/>
            <a:r>
              <a:t>False positive tuning for Java</a:t>
            </a:r>
          </a:p>
          <a:p>
            <a:pPr lvl="1"/>
            <a:r>
              <a:t>Legacy repository scanning</a:t>
            </a:r>
          </a:p>
          <a:p>
            <a:pPr lvl="1"/>
            <a:r>
              <a:t>SIEM webhook configuration</a:t>
            </a:r>
          </a:p>
          <a:p>
            <a:pPr lvl="1"/>
            <a:r>
              <a:t>Developer adoption concerns</a:t>
            </a:r>
          </a:p>
          <a:p>
            <a:pPr lvl="1"/>
            <a:r>
              <a:t>CI/CD workflow integration</a:t>
            </a:r>
          </a:p>
        </p:txBody>
      </p:sp>
      <p:sp>
        <p:nvSpPr>
          <p:cNvPr id="5" name="Text Placeholder 4"/>
          <p:cNvSpPr>
            <a:spLocks noGrp="1"/>
          </p:cNvSpPr>
          <p:nvPr>
            <p:ph type="body" idx="17" sz="quarter"/>
          </p:nvPr>
        </p:nvSpPr>
        <p:spPr/>
        <p:txBody>
          <a:bodyPr/>
          <a:lstStyle/>
          <a:p>
            <a:pPr/>
            <a:r>
              <a:rPr b="1"/>
              <a:t>Recommendations</a:t>
            </a:r>
          </a:p>
          <a:p>
            <a:pPr lvl="1"/>
            <a:r>
              <a:t>Add C/C++ language scanning</a:t>
            </a:r>
          </a:p>
          <a:p>
            <a:pPr lvl="1"/>
            <a:r>
              <a:t>Implement custom secret patterns</a:t>
            </a:r>
          </a:p>
          <a:p>
            <a:pPr lvl="1"/>
            <a:r>
              <a:t>Enable GitHub Copilot security</a:t>
            </a:r>
          </a:p>
          <a:p>
            <a:pPr lvl="1"/>
            <a:r>
              <a:t>Plan quarterly accuracy reviews</a:t>
            </a:r>
          </a:p>
          <a:p>
            <a:pPr lvl="1"/>
            <a:r>
              <a:t>Consider managed services tier</a:t>
            </a:r>
          </a:p>
        </p:txBody>
      </p:sp>
      <p:sp>
        <p:nvSpPr>
          <p:cNvPr id="6" name="Text Placeholder 5"/>
          <p:cNvSpPr>
            <a:spLocks noGrp="1"/>
          </p:cNvSpPr>
          <p:nvPr>
            <p:ph type="body" idx="15" sz="quarter"/>
          </p:nvPr>
        </p:nvSpPr>
        <p:spPr/>
        <p:txBody>
          <a:bodyPr/>
          <a:lstStyle/>
          <a:p>
            <a:pPr algn="r">
              <a:buNone/>
            </a:pPr>
            <a:r>
              <a:rPr sz="1100">
                <a:solidFill>
                  <a:srgbClr val="CC0000"/>
                </a:solidFill>
              </a:rPr>
              <a:t>GitHub Advanced Security</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Support Transition</a:t>
            </a:r>
          </a:p>
        </p:txBody>
      </p:sp>
      <p:sp>
        <p:nvSpPr>
          <p:cNvPr id="4" name="Text Placeholder 3"/>
          <p:cNvSpPr>
            <a:spLocks noGrp="1"/>
          </p:cNvSpPr>
          <p:nvPr>
            <p:ph type="body" idx="16" sz="quarter"/>
          </p:nvPr>
        </p:nvSpPr>
        <p:spPr/>
        <p:txBody>
          <a:bodyPr/>
          <a:lstStyle/>
          <a:p>
            <a:pPr/>
            <a:r>
              <a:rPr b="1"/>
              <a:t>Hypercare Complete (30 days)</a:t>
            </a:r>
          </a:p>
          <a:p>
            <a:pPr lvl="1"/>
            <a:r>
              <a:t>Daily health checks completed</a:t>
            </a:r>
          </a:p>
          <a:p>
            <a:pPr lvl="1"/>
            <a:r>
              <a:t>3 P3 issues resolved</a:t>
            </a:r>
          </a:p>
          <a:p>
            <a:pPr lvl="1"/>
            <a:r>
              <a:t>Knowledge transfer sessions done</a:t>
            </a:r>
          </a:p>
          <a:p>
            <a:pPr lvl="1"/>
            <a:r>
              <a:t>Security champion certified</a:t>
            </a:r>
          </a:p>
          <a:p>
            <a:pPr lvl="1"/>
            <a:r>
              <a:t>All runbook procedures validated</a:t>
            </a:r>
          </a:p>
          <a:p>
            <a:pPr/>
            <a:r>
              <a:rPr b="1"/>
              <a:t>Steady State Support</a:t>
            </a:r>
          </a:p>
          <a:p>
            <a:pPr lvl="1"/>
            <a:r>
              <a:t>Business hours monitoring</a:t>
            </a:r>
          </a:p>
          <a:p>
            <a:pPr lvl="1"/>
            <a:r>
              <a:t>Weekly accuracy reviews</a:t>
            </a:r>
          </a:p>
          <a:p>
            <a:pPr lvl="1"/>
            <a:r>
              <a:t>Monthly security metrics</a:t>
            </a:r>
          </a:p>
          <a:p>
            <a:pPr lvl="1"/>
            <a:r>
              <a:t>Quarterly CodeQL tuning</a:t>
            </a:r>
          </a:p>
          <a:p>
            <a:pPr lvl="1"/>
            <a:r>
              <a:t>Automated alerting active</a:t>
            </a:r>
          </a:p>
        </p:txBody>
      </p:sp>
      <p:sp>
        <p:nvSpPr>
          <p:cNvPr id="5" name="Text Placeholder 4"/>
          <p:cNvSpPr>
            <a:spLocks noGrp="1"/>
          </p:cNvSpPr>
          <p:nvPr>
            <p:ph type="body" idx="17" sz="quarter"/>
          </p:nvPr>
        </p:nvSpPr>
        <p:spPr/>
        <p:txBody>
          <a:bodyPr/>
          <a:lstStyle/>
          <a:p>
            <a:pPr/>
            <a:r>
              <a:rPr b="1"/>
              <a:t>Escalation Path</a:t>
            </a:r>
          </a:p>
          <a:p>
            <a:pPr lvl="1"/>
            <a:r>
              <a:t>L1: Security Champions</a:t>
            </a:r>
          </a:p>
          <a:p>
            <a:pPr lvl="1"/>
            <a:r>
              <a:t>L2: Security Operations Team</a:t>
            </a:r>
          </a:p>
          <a:p>
            <a:pPr lvl="1"/>
            <a:r>
              <a:t>L3: Vendor Support (optional)</a:t>
            </a:r>
          </a:p>
          <a:p>
            <a:pPr lvl="1"/>
            <a:r>
              <a:t>Emergency: On-call rotation</a:t>
            </a:r>
          </a:p>
          <a:p>
            <a:pPr lvl="1"/>
            <a:r>
              <a:t>Executive: Account Manager</a:t>
            </a:r>
          </a:p>
        </p:txBody>
      </p:sp>
      <p:sp>
        <p:nvSpPr>
          <p:cNvPr id="6" name="Text Placeholder 5"/>
          <p:cNvSpPr>
            <a:spLocks noGrp="1"/>
          </p:cNvSpPr>
          <p:nvPr>
            <p:ph type="body" idx="15" sz="quarter"/>
          </p:nvPr>
        </p:nvSpPr>
        <p:spPr/>
        <p:txBody>
          <a:bodyPr/>
          <a:lstStyle/>
          <a:p>
            <a:pPr algn="r">
              <a:buNone/>
            </a:pPr>
            <a:r>
              <a:rPr sz="1100">
                <a:solidFill>
                  <a:srgbClr val="CC0000"/>
                </a:solidFill>
              </a:rPr>
              <a:t>GitHub Advanced Security</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Acknowledgments &amp; Next Steps</a:t>
            </a:r>
          </a:p>
        </p:txBody>
      </p:sp>
      <p:sp>
        <p:nvSpPr>
          <p:cNvPr id="4" name="Text Placeholder 3"/>
          <p:cNvSpPr>
            <a:spLocks noGrp="1"/>
          </p:cNvSpPr>
          <p:nvPr>
            <p:ph type="body" idx="14" sz="quarter"/>
          </p:nvPr>
        </p:nvSpPr>
        <p:spPr/>
        <p:txBody>
          <a:bodyPr/>
          <a:lstStyle/>
          <a:p>
            <a:pPr/>
            <a:r>
              <a:rPr b="1"/>
              <a:t>Security Team:</a:t>
            </a:r>
            <a:r>
              <a:t> Security architects, engineers, and champions</a:t>
            </a:r>
          </a:p>
          <a:p>
            <a:pPr/>
            <a:r>
              <a:rPr b="1"/>
              <a:t>Development Teams:</a:t>
            </a:r>
            <a:r>
              <a:t> 100 developers across 8 teams embracing DevSecOps</a:t>
            </a:r>
          </a:p>
          <a:p>
            <a:pPr/>
            <a:r>
              <a:rPr b="1"/>
              <a:t>Special Recognition:</a:t>
            </a:r>
            <a:r>
              <a:t> Security champions for driving 95% adoption</a:t>
            </a:r>
          </a:p>
          <a:p>
            <a:pPr/>
            <a:r>
              <a:rPr b="1"/>
              <a:t>This Week:</a:t>
            </a:r>
            <a:r>
              <a:t> Final documentation handover, archive project artifacts</a:t>
            </a:r>
          </a:p>
          <a:p>
            <a:pPr/>
            <a:r>
              <a:rPr b="1"/>
              <a:t>Next 30 Days:</a:t>
            </a:r>
            <a:r>
              <a:t> Monthly security metrics review, accuracy monitoring</a:t>
            </a:r>
          </a:p>
          <a:p>
            <a:pPr/>
            <a:r>
              <a:rPr b="1"/>
              <a:t>Next Quarter:</a:t>
            </a:r>
            <a:r>
              <a:t> Phase 2 planning for C/C++ and additional patterns</a:t>
            </a:r>
          </a:p>
        </p:txBody>
      </p:sp>
      <p:sp>
        <p:nvSpPr>
          <p:cNvPr id="5" name="Text Placeholder 4"/>
          <p:cNvSpPr>
            <a:spLocks noGrp="1"/>
          </p:cNvSpPr>
          <p:nvPr>
            <p:ph type="body" idx="15" sz="quarter"/>
          </p:nvPr>
        </p:nvSpPr>
        <p:spPr/>
        <p:txBody>
          <a:bodyPr/>
          <a:lstStyle/>
          <a:p>
            <a:pPr algn="r">
              <a:buNone/>
            </a:pPr>
            <a:r>
              <a:rPr sz="1100">
                <a:solidFill>
                  <a:srgbClr val="CC0000"/>
                </a:solidFill>
              </a:rPr>
              <a:t>GitHub Advanced Security</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3"/>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4"/>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5"/>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441</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86</cp:revision>
  <dcterms:created xsi:type="dcterms:W3CDTF">2025-11-01T21:16:10Z</dcterms:created>
  <dcterms:modified xsi:type="dcterms:W3CDTF">2025-11-27T20:15:42Z</dcterms:modified>
</cp:coreProperties>
</file>